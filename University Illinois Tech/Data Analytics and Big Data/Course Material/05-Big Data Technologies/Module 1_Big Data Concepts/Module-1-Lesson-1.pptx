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5"/>
  </p:notesMasterIdLst>
  <p:sldIdLst>
    <p:sldId id="256" r:id="rId5"/>
    <p:sldId id="272" r:id="rId6"/>
    <p:sldId id="273" r:id="rId7"/>
    <p:sldId id="276" r:id="rId8"/>
    <p:sldId id="278" r:id="rId9"/>
    <p:sldId id="512" r:id="rId10"/>
    <p:sldId id="514" r:id="rId11"/>
    <p:sldId id="588" r:id="rId12"/>
    <p:sldId id="592" r:id="rId13"/>
    <p:sldId id="567" r:id="rId14"/>
  </p:sldIdLst>
  <p:sldSz cx="18288000" cy="10287000"/>
  <p:notesSz cx="6858000" cy="9144000"/>
  <p:custDataLst>
    <p:tags r:id="rId16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6900"/>
    <a:srgbClr val="C47808"/>
    <a:srgbClr val="3F4F6C"/>
    <a:srgbClr val="969696"/>
    <a:srgbClr val="E98D0A"/>
    <a:srgbClr val="C50724"/>
    <a:srgbClr val="0070C0"/>
    <a:srgbClr val="1770C0"/>
    <a:srgbClr val="BD0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735B3-67CE-E957-3C40-392685569AF1}" v="40" dt="2024-07-03T17:55:25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49"/>
    <p:restoredTop sz="94044"/>
  </p:normalViewPr>
  <p:slideViewPr>
    <p:cSldViewPr snapToGrid="0" snapToObjects="1">
      <p:cViewPr varScale="1">
        <p:scale>
          <a:sx n="51" d="100"/>
          <a:sy n="51" d="100"/>
        </p:scale>
        <p:origin x="110" y="67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0CC91B5A-7344-516B-B203-2158A181A90A}"/>
    <pc:docChg chg="modSld">
      <pc:chgData name="Allison Mulshine" userId="S::allison.mulshine@collegiseducation.com::5f656d52-c555-4e5e-9a5b-18226766ffe3" providerId="AD" clId="Web-{0CC91B5A-7344-516B-B203-2158A181A90A}" dt="2024-06-19T16:21:05.909" v="6"/>
      <pc:docMkLst>
        <pc:docMk/>
      </pc:docMkLst>
      <pc:sldChg chg="addSp modSp">
        <pc:chgData name="Allison Mulshine" userId="S::allison.mulshine@collegiseducation.com::5f656d52-c555-4e5e-9a5b-18226766ffe3" providerId="AD" clId="Web-{0CC91B5A-7344-516B-B203-2158A181A90A}" dt="2024-06-19T16:19:11.530" v="2"/>
        <pc:sldMkLst>
          <pc:docMk/>
          <pc:sldMk cId="3767663071" sldId="512"/>
        </pc:sldMkLst>
        <pc:grpChg chg="add mod">
          <ac:chgData name="Allison Mulshine" userId="S::allison.mulshine@collegiseducation.com::5f656d52-c555-4e5e-9a5b-18226766ffe3" providerId="AD" clId="Web-{0CC91B5A-7344-516B-B203-2158A181A90A}" dt="2024-06-19T16:19:11.530" v="2"/>
          <ac:grpSpMkLst>
            <pc:docMk/>
            <pc:sldMk cId="3767663071" sldId="512"/>
            <ac:grpSpMk id="39" creationId="{646DE3F5-5352-E611-9ABF-06A0754AE4A5}"/>
          </ac:grpSpMkLst>
        </pc:grpChg>
      </pc:sldChg>
      <pc:sldChg chg="addSp modSp">
        <pc:chgData name="Allison Mulshine" userId="S::allison.mulshine@collegiseducation.com::5f656d52-c555-4e5e-9a5b-18226766ffe3" providerId="AD" clId="Web-{0CC91B5A-7344-516B-B203-2158A181A90A}" dt="2024-06-19T16:20:29.580" v="4"/>
        <pc:sldMkLst>
          <pc:docMk/>
          <pc:sldMk cId="1832185341" sldId="514"/>
        </pc:sldMkLst>
        <pc:grpChg chg="add mod">
          <ac:chgData name="Allison Mulshine" userId="S::allison.mulshine@collegiseducation.com::5f656d52-c555-4e5e-9a5b-18226766ffe3" providerId="AD" clId="Web-{0CC91B5A-7344-516B-B203-2158A181A90A}" dt="2024-06-19T16:20:29.580" v="4"/>
          <ac:grpSpMkLst>
            <pc:docMk/>
            <pc:sldMk cId="1832185341" sldId="514"/>
            <ac:grpSpMk id="43" creationId="{1118D89E-BF2E-7166-779D-A1E1030B1C5C}"/>
          </ac:grpSpMkLst>
        </pc:grpChg>
      </pc:sldChg>
      <pc:sldChg chg="addSp modSp">
        <pc:chgData name="Allison Mulshine" userId="S::allison.mulshine@collegiseducation.com::5f656d52-c555-4e5e-9a5b-18226766ffe3" providerId="AD" clId="Web-{0CC91B5A-7344-516B-B203-2158A181A90A}" dt="2024-06-19T16:21:05.909" v="6"/>
        <pc:sldMkLst>
          <pc:docMk/>
          <pc:sldMk cId="1335468116" sldId="588"/>
        </pc:sldMkLst>
        <pc:grpChg chg="add mod">
          <ac:chgData name="Allison Mulshine" userId="S::allison.mulshine@collegiseducation.com::5f656d52-c555-4e5e-9a5b-18226766ffe3" providerId="AD" clId="Web-{0CC91B5A-7344-516B-B203-2158A181A90A}" dt="2024-06-19T16:21:05.909" v="6"/>
          <ac:grpSpMkLst>
            <pc:docMk/>
            <pc:sldMk cId="1335468116" sldId="588"/>
            <ac:grpSpMk id="24" creationId="{91E6574E-C18C-D2EC-465D-654BB34A3FC3}"/>
          </ac:grpSpMkLst>
        </pc:grpChg>
      </pc:sldChg>
    </pc:docChg>
  </pc:docChgLst>
  <pc:docChgLst>
    <pc:chgData name="Allison Mulshine" userId="S::allison.mulshine@collegiseducation.com::5f656d52-c555-4e5e-9a5b-18226766ffe3" providerId="AD" clId="Web-{EC8FE215-876A-D181-F47C-84E81D83C786}"/>
    <pc:docChg chg="modSld">
      <pc:chgData name="Allison Mulshine" userId="S::allison.mulshine@collegiseducation.com::5f656d52-c555-4e5e-9a5b-18226766ffe3" providerId="AD" clId="Web-{EC8FE215-876A-D181-F47C-84E81D83C786}" dt="2024-06-19T14:33:42.160" v="3"/>
      <pc:docMkLst>
        <pc:docMk/>
      </pc:docMkLst>
      <pc:sldChg chg="modSp">
        <pc:chgData name="Allison Mulshine" userId="S::allison.mulshine@collegiseducation.com::5f656d52-c555-4e5e-9a5b-18226766ffe3" providerId="AD" clId="Web-{EC8FE215-876A-D181-F47C-84E81D83C786}" dt="2024-06-19T14:33:42.160" v="3"/>
        <pc:sldMkLst>
          <pc:docMk/>
          <pc:sldMk cId="1643975723" sldId="272"/>
        </pc:sldMkLst>
        <pc:picChg chg="mod">
          <ac:chgData name="Allison Mulshine" userId="S::allison.mulshine@collegiseducation.com::5f656d52-c555-4e5e-9a5b-18226766ffe3" providerId="AD" clId="Web-{EC8FE215-876A-D181-F47C-84E81D83C786}" dt="2024-06-19T14:33:42.160" v="3"/>
          <ac:picMkLst>
            <pc:docMk/>
            <pc:sldMk cId="1643975723" sldId="272"/>
            <ac:picMk id="1026" creationId="{1AC75BFF-3BBE-B892-6508-45487EACC5CF}"/>
          </ac:picMkLst>
        </pc:picChg>
      </pc:sldChg>
    </pc:docChg>
  </pc:docChgLst>
  <pc:docChgLst>
    <pc:chgData name="Allison Mulshine" userId="S::allison.mulshine@collegiseducation.com::5f656d52-c555-4e5e-9a5b-18226766ffe3" providerId="AD" clId="Web-{448735B3-67CE-E957-3C40-392685569AF1}"/>
    <pc:docChg chg="modSld">
      <pc:chgData name="Allison Mulshine" userId="S::allison.mulshine@collegiseducation.com::5f656d52-c555-4e5e-9a5b-18226766ffe3" providerId="AD" clId="Web-{448735B3-67CE-E957-3C40-392685569AF1}" dt="2024-07-03T17:55:25.519" v="38"/>
      <pc:docMkLst>
        <pc:docMk/>
      </pc:docMkLst>
      <pc:sldChg chg="addSp delSp modSp">
        <pc:chgData name="Allison Mulshine" userId="S::allison.mulshine@collegiseducation.com::5f656d52-c555-4e5e-9a5b-18226766ffe3" providerId="AD" clId="Web-{448735B3-67CE-E957-3C40-392685569AF1}" dt="2024-07-03T17:54:19.923" v="34"/>
        <pc:sldMkLst>
          <pc:docMk/>
          <pc:sldMk cId="3767663071" sldId="512"/>
        </pc:sldMkLst>
        <pc:spChg chg="add del mod">
          <ac:chgData name="Allison Mulshine" userId="S::allison.mulshine@collegiseducation.com::5f656d52-c555-4e5e-9a5b-18226766ffe3" providerId="AD" clId="Web-{448735B3-67CE-E957-3C40-392685569AF1}" dt="2024-07-03T17:53:47.265" v="28"/>
          <ac:spMkLst>
            <pc:docMk/>
            <pc:sldMk cId="3767663071" sldId="512"/>
            <ac:spMk id="96" creationId="{7733FE9E-4DFF-E5E6-756E-63C223A60547}"/>
          </ac:spMkLst>
        </pc:spChg>
        <pc:grpChg chg="add del mod">
          <ac:chgData name="Allison Mulshine" userId="S::allison.mulshine@collegiseducation.com::5f656d52-c555-4e5e-9a5b-18226766ffe3" providerId="AD" clId="Web-{448735B3-67CE-E957-3C40-392685569AF1}" dt="2024-07-03T17:52:47.888" v="16"/>
          <ac:grpSpMkLst>
            <pc:docMk/>
            <pc:sldMk cId="3767663071" sldId="512"/>
            <ac:grpSpMk id="39" creationId="{646DE3F5-5352-E611-9ABF-06A0754AE4A5}"/>
          </ac:grpSpMkLst>
        </pc:grpChg>
        <pc:picChg chg="add del mod">
          <ac:chgData name="Allison Mulshine" userId="S::allison.mulshine@collegiseducation.com::5f656d52-c555-4e5e-9a5b-18226766ffe3" providerId="AD" clId="Web-{448735B3-67CE-E957-3C40-392685569AF1}" dt="2024-07-03T17:51:43.511" v="13"/>
          <ac:picMkLst>
            <pc:docMk/>
            <pc:sldMk cId="3767663071" sldId="512"/>
            <ac:picMk id="67" creationId="{F1EF0D29-B11F-B71A-83C8-E542B20A8DE6}"/>
          </ac:picMkLst>
        </pc:picChg>
        <pc:picChg chg="add mod modCrop">
          <ac:chgData name="Allison Mulshine" userId="S::allison.mulshine@collegiseducation.com::5f656d52-c555-4e5e-9a5b-18226766ffe3" providerId="AD" clId="Web-{448735B3-67CE-E957-3C40-392685569AF1}" dt="2024-07-03T17:54:19.923" v="34"/>
          <ac:picMkLst>
            <pc:docMk/>
            <pc:sldMk cId="3767663071" sldId="512"/>
            <ac:picMk id="95" creationId="{C883EDEA-EEFF-545C-EB34-C052E4473532}"/>
          </ac:picMkLst>
        </pc:picChg>
      </pc:sldChg>
      <pc:sldChg chg="addSp delSp">
        <pc:chgData name="Allison Mulshine" userId="S::allison.mulshine@collegiseducation.com::5f656d52-c555-4e5e-9a5b-18226766ffe3" providerId="AD" clId="Web-{448735B3-67CE-E957-3C40-392685569AF1}" dt="2024-07-03T17:54:58.690" v="36"/>
        <pc:sldMkLst>
          <pc:docMk/>
          <pc:sldMk cId="1832185341" sldId="514"/>
        </pc:sldMkLst>
        <pc:grpChg chg="del">
          <ac:chgData name="Allison Mulshine" userId="S::allison.mulshine@collegiseducation.com::5f656d52-c555-4e5e-9a5b-18226766ffe3" providerId="AD" clId="Web-{448735B3-67CE-E957-3C40-392685569AF1}" dt="2024-07-03T17:54:57.940" v="35"/>
          <ac:grpSpMkLst>
            <pc:docMk/>
            <pc:sldMk cId="1832185341" sldId="514"/>
            <ac:grpSpMk id="43" creationId="{1118D89E-BF2E-7166-779D-A1E1030B1C5C}"/>
          </ac:grpSpMkLst>
        </pc:grpChg>
        <pc:picChg chg="add">
          <ac:chgData name="Allison Mulshine" userId="S::allison.mulshine@collegiseducation.com::5f656d52-c555-4e5e-9a5b-18226766ffe3" providerId="AD" clId="Web-{448735B3-67CE-E957-3C40-392685569AF1}" dt="2024-07-03T17:54:58.690" v="36"/>
          <ac:picMkLst>
            <pc:docMk/>
            <pc:sldMk cId="1832185341" sldId="514"/>
            <ac:picMk id="26" creationId="{AED9A78A-2631-24E3-112B-07FD70F89FD0}"/>
          </ac:picMkLst>
        </pc:picChg>
      </pc:sldChg>
      <pc:sldChg chg="addSp delSp">
        <pc:chgData name="Allison Mulshine" userId="S::allison.mulshine@collegiseducation.com::5f656d52-c555-4e5e-9a5b-18226766ffe3" providerId="AD" clId="Web-{448735B3-67CE-E957-3C40-392685569AF1}" dt="2024-07-03T17:55:25.519" v="38"/>
        <pc:sldMkLst>
          <pc:docMk/>
          <pc:sldMk cId="1335468116" sldId="588"/>
        </pc:sldMkLst>
        <pc:grpChg chg="del">
          <ac:chgData name="Allison Mulshine" userId="S::allison.mulshine@collegiseducation.com::5f656d52-c555-4e5e-9a5b-18226766ffe3" providerId="AD" clId="Web-{448735B3-67CE-E957-3C40-392685569AF1}" dt="2024-07-03T17:55:24.706" v="37"/>
          <ac:grpSpMkLst>
            <pc:docMk/>
            <pc:sldMk cId="1335468116" sldId="588"/>
            <ac:grpSpMk id="24" creationId="{91E6574E-C18C-D2EC-465D-654BB34A3FC3}"/>
          </ac:grpSpMkLst>
        </pc:grpChg>
        <pc:picChg chg="add">
          <ac:chgData name="Allison Mulshine" userId="S::allison.mulshine@collegiseducation.com::5f656d52-c555-4e5e-9a5b-18226766ffe3" providerId="AD" clId="Web-{448735B3-67CE-E957-3C40-392685569AF1}" dt="2024-07-03T17:55:25.519" v="38"/>
          <ac:picMkLst>
            <pc:docMk/>
            <pc:sldMk cId="1335468116" sldId="588"/>
            <ac:picMk id="26" creationId="{3E04C6D5-1D56-5D6F-5AD6-7CB6517357A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EC45-F84F-F98E-D312-D3BA2A7CC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1: Lesson 1</a:t>
            </a:r>
            <a:br>
              <a:rPr lang="en-US" dirty="0"/>
            </a:br>
            <a:r>
              <a:rPr lang="en-US" sz="5400" dirty="0"/>
              <a:t>From Data to Value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5519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2"/>
                </a:solidFill>
              </a:rPr>
              <a:t>Facts or numbers</a:t>
            </a:r>
            <a:r>
              <a:rPr lang="en-US" sz="3200" dirty="0">
                <a:solidFill>
                  <a:schemeClr val="bg2"/>
                </a:solidFill>
              </a:rPr>
              <a:t>, collected to be examined and considered and used to </a:t>
            </a:r>
            <a:r>
              <a:rPr lang="en-US" sz="3600" b="1" dirty="0">
                <a:solidFill>
                  <a:schemeClr val="bg2"/>
                </a:solidFill>
              </a:rPr>
              <a:t>help decision-making</a:t>
            </a:r>
            <a:endParaRPr lang="en-US" sz="3200" b="1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Information in an electronic form that </a:t>
            </a:r>
            <a:r>
              <a:rPr lang="en-US" sz="3600" b="1" dirty="0">
                <a:solidFill>
                  <a:schemeClr val="tx1"/>
                </a:solidFill>
              </a:rPr>
              <a:t>can be stored and used by a computer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6F5B3-6D69-D2DA-1860-5D89C591CA75}"/>
              </a:ext>
            </a:extLst>
          </p:cNvPr>
          <p:cNvSpPr txBox="1"/>
          <p:nvPr/>
        </p:nvSpPr>
        <p:spPr>
          <a:xfrm>
            <a:off x="218660" y="9541565"/>
            <a:ext cx="987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02124"/>
                </a:solidFill>
                <a:latin typeface="Roboto" panose="02000000000000000000" pitchFamily="2" charset="0"/>
              </a:rPr>
              <a:t>[Source: https://dictionary.cambridge.org/us/dictionary/english/data]</a:t>
            </a:r>
            <a:endParaRPr lang="en-US" sz="18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026" name="Picture 2" descr="The image shows a comparison between a data table and its corresponding schema in a database context.&#10;&#10;On the left side:&#10;&#10;There is a table labeled &quot;Data&quot; with three columns: id, username, and enabled.&#10;The table has two rows:&#10;The first row contains the values: 1, Harry, and true.&#10;The second row contains the values: 2, Ginny, and false.&#10;On the right side:&#10;&#10;There is a schema labeled &quot;Schema&quot; representing the structure of the &quot;users&quot; table.&#10;The schema defines three columns:&#10;user_id: an integer and the primary key (PK).&#10;username: a varchar with a length of 25 characters.&#10;enabled: a boolean.&#10;A red dashed arrow points from the data table to the schema, indicating that the data conforms to the specified schema structure.">
            <a:extLst>
              <a:ext uri="{FF2B5EF4-FFF2-40B4-BE49-F238E27FC236}">
                <a16:creationId xmlns:a16="http://schemas.microsoft.com/office/drawing/2014/main" id="{1AC75BFF-3BBE-B892-6508-45487EACC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62"/>
          <a:stretch/>
        </p:blipFill>
        <p:spPr bwMode="auto">
          <a:xfrm>
            <a:off x="3232150" y="5619750"/>
            <a:ext cx="99187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14D7D6-A53A-C481-A0C7-494BAD5EE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7258050" y="7562850"/>
            <a:ext cx="1752600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97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Value of Data?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4000" dirty="0">
                <a:solidFill>
                  <a:schemeClr val="bg2"/>
                </a:solidFill>
              </a:rPr>
              <a:t>Data is the new oil </a:t>
            </a:r>
          </a:p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– Clive Humby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6F5B3-6D69-D2DA-1860-5D89C591CA75}"/>
              </a:ext>
            </a:extLst>
          </p:cNvPr>
          <p:cNvSpPr txBox="1"/>
          <p:nvPr/>
        </p:nvSpPr>
        <p:spPr>
          <a:xfrm>
            <a:off x="218660" y="9541565"/>
            <a:ext cx="987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02124"/>
                </a:solidFill>
                <a:latin typeface="Roboto" panose="02000000000000000000" pitchFamily="2" charset="0"/>
              </a:rPr>
              <a:t>[Source: https://dictionary.cambridge.org/us/dictionary/english/data]</a:t>
            </a:r>
            <a:endParaRPr lang="en-US" sz="18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30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Value of Data?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0" y="2324100"/>
            <a:ext cx="84201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test hypotheses and theories</a:t>
            </a:r>
            <a:endParaRPr lang="en-US" sz="28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895725"/>
            <a:ext cx="8420100" cy="13144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identify patterns and trends</a:t>
            </a:r>
            <a:endParaRPr lang="en-US" sz="28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5467350"/>
            <a:ext cx="8420100" cy="13144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make predictions</a:t>
            </a:r>
            <a:endParaRPr lang="en-US" sz="28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7038975"/>
            <a:ext cx="8420100" cy="13144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Compare and contrast different groups or populations and their choices</a:t>
            </a:r>
            <a:endParaRPr lang="en-US" sz="28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35C0A0-C6C6-7FC8-9ACA-C013E697F7DB}"/>
              </a:ext>
            </a:extLst>
          </p:cNvPr>
          <p:cNvSpPr/>
          <p:nvPr/>
        </p:nvSpPr>
        <p:spPr>
          <a:xfrm>
            <a:off x="9867900" y="2324100"/>
            <a:ext cx="8420100" cy="13144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evaluate interventions</a:t>
            </a:r>
            <a:endParaRPr lang="en-US" sz="28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21B0E-EFB3-4D78-ABA7-3F5E546C9DF9}"/>
              </a:ext>
            </a:extLst>
          </p:cNvPr>
          <p:cNvSpPr/>
          <p:nvPr/>
        </p:nvSpPr>
        <p:spPr>
          <a:xfrm>
            <a:off x="9867900" y="3895725"/>
            <a:ext cx="8420100" cy="13144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inform policy and practice</a:t>
            </a:r>
            <a:endParaRPr lang="en-US" sz="28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F81FAD-7358-1AE8-DEEA-5304B1ECA956}"/>
              </a:ext>
            </a:extLst>
          </p:cNvPr>
          <p:cNvSpPr/>
          <p:nvPr/>
        </p:nvSpPr>
        <p:spPr>
          <a:xfrm>
            <a:off x="9867900" y="5467350"/>
            <a:ext cx="8420100" cy="13144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communicate findings</a:t>
            </a:r>
            <a:r>
              <a:rPr lang="en-US" sz="20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73BC69-5374-6D64-DA2A-84985CBB3DDA}"/>
              </a:ext>
            </a:extLst>
          </p:cNvPr>
          <p:cNvSpPr/>
          <p:nvPr/>
        </p:nvSpPr>
        <p:spPr>
          <a:xfrm>
            <a:off x="9867900" y="7038975"/>
            <a:ext cx="84201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enhance business</a:t>
            </a:r>
            <a:endParaRPr lang="en-US" sz="28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79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Data’s Value Challenging to Obtain?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Like oil, data is valuable, but if unrefined it cannot really be 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Oil has to be changed into gas, plastic, chemicals, etc. to create a valuable entity that drives profitable activity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So too, must data be broken down and analyzed for it to have value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6F5B3-6D69-D2DA-1860-5D89C591CA75}"/>
              </a:ext>
            </a:extLst>
          </p:cNvPr>
          <p:cNvSpPr txBox="1"/>
          <p:nvPr/>
        </p:nvSpPr>
        <p:spPr>
          <a:xfrm>
            <a:off x="218660" y="9541565"/>
            <a:ext cx="987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02124"/>
                </a:solidFill>
                <a:latin typeface="Roboto" panose="02000000000000000000" pitchFamily="2" charset="0"/>
              </a:rPr>
              <a:t>[Source: https://ana.blogs.com/maestros/2006/11/data_is_the_new.html]</a:t>
            </a:r>
            <a:endParaRPr lang="en-US" sz="18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0" dirty="0">
                <a:solidFill>
                  <a:schemeClr val="bg2"/>
                </a:solidFill>
                <a:effectLst/>
              </a:rPr>
              <a:t>Such data includes both useful and irrelevant or redundant information and must be processed to be meaningful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448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A5B53-3A65-E324-FBDC-24216E95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Process Data into Value?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0C3A9-A1E7-E061-5683-FC7E25DF1F73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b="0" i="0" dirty="0">
                <a:solidFill>
                  <a:schemeClr val="bg2"/>
                </a:solidFill>
                <a:effectLst/>
              </a:rPr>
              <a:t>Data science is an approach that combines practices from mathematics, statistics, artificial intelligence, and computer engineering to analyze data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ADD93-BD93-FC1A-2A03-4F55EBA5F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B88B3-353A-586B-B622-B477AA335D05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A</a:t>
            </a:r>
            <a:r>
              <a:rPr lang="en-US" sz="3200" b="0" i="0" dirty="0">
                <a:solidFill>
                  <a:schemeClr val="tx1"/>
                </a:solidFill>
                <a:effectLst/>
              </a:rPr>
              <a:t> data science pipeline is a repeatable set of phases, stages or steps that are used to refine raw data into meaningful insights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16AF53-E55E-B068-C217-8E1CDFF51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pic>
        <p:nvPicPr>
          <p:cNvPr id="95" name="Picture 94" descr="The image shows a flowchart diagram depicting the stages of a data science process. The stages are represented as boxes connected by arrows indicating the flow from one stage to the next. The stages are as follows: &#10;&#10;1. **Business Understanding**: This is the initial stage where the business objectives and requirements are defined. &#10;&#10;2. **Data Collection**: In this stage, relevant data is gathered from various sources. &#10;&#10;3. **Data Preparation**: The collected data is then processed and cleaned to be ready for analysis. &#10;&#10;4. **Data Exploration**: This involves analyzing the data to discover patterns and insights. &#10;&#10;5. **Model Building**: Based on the exploration, models are built to predict or classify data. &#10;&#10;6. **Deployment and Communication**: The final stage involves deploying the models and communicating the results to stakeholders. &#10;&#10;Below these stages, a red bar labeled &quot;Data Storage&quot; is shown, with arrows pointing from &quot;Data Collection,&quot; &quot;Data Preparation,&quot; &quot;Data Exploration,&quot; and &quot;Model Building&quot; stages, indicating that data is stored throughout these stages. ">
            <a:extLst>
              <a:ext uri="{FF2B5EF4-FFF2-40B4-BE49-F238E27FC236}">
                <a16:creationId xmlns:a16="http://schemas.microsoft.com/office/drawing/2014/main" id="{C883EDEA-EEFF-545C-EB34-C052E44735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42" b="3067"/>
          <a:stretch/>
        </p:blipFill>
        <p:spPr>
          <a:xfrm>
            <a:off x="1524001" y="5840556"/>
            <a:ext cx="14658126" cy="33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6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A5B53-3A65-E324-FBDC-24216E95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Process Data into Value?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0C3A9-A1E7-E061-5683-FC7E25DF1F73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i="0" dirty="0">
                <a:solidFill>
                  <a:schemeClr val="bg2"/>
                </a:solidFill>
                <a:effectLst/>
              </a:rPr>
              <a:t>The value of a data science pipeline lies in its ability to systematically extract insights from data  leading to informed decision-making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ADD93-BD93-FC1A-2A03-4F55EBA5F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B88B3-353A-586B-B622-B477AA335D05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 d</a:t>
            </a:r>
            <a:r>
              <a:rPr lang="en-US" sz="3200" b="0" i="0" dirty="0">
                <a:solidFill>
                  <a:schemeClr val="tx1"/>
                </a:solidFill>
                <a:effectLst/>
              </a:rPr>
              <a:t>ata science pipeline is iterative, and stages may overlap or be revisited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0" i="0" dirty="0">
                <a:solidFill>
                  <a:schemeClr val="tx1"/>
                </a:solidFill>
                <a:effectLst/>
              </a:rPr>
              <a:t>to allow for agility in data processing and analysis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16AF53-E55E-B068-C217-8E1CDFF51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pic>
        <p:nvPicPr>
          <p:cNvPr id="26" name="Picture 25" descr="The image shows a flowchart diagram depicting the stages of a data science process. The stages are represented as boxes connected by arrows indicating the flow from one stage to the next. The stages are as follows: &#10;&#10;1. **Business Understanding**: This is the initial stage where the business objectives and requirements are defined. &#10;&#10;2. **Data Collection**: In this stage, relevant data is gathered from various sources. &#10;&#10;3. **Data Preparation**: The collected data is then processed and cleaned to be ready for analysis. &#10;&#10;4. **Data Exploration**: This involves analyzing the data to discover patterns and insights. &#10;&#10;5. **Model Building**: Based on the exploration, models are built to predict or classify data. &#10;&#10;6. **Deployment and Communication**: The final stage involves deploying the models and communicating the results to stakeholders. &#10;&#10;Below these stages, a red bar labeled &quot;Data Storage&quot; is shown, with arrows pointing from &quot;Data Collection,&quot; &quot;Data Preparation,&quot; &quot;Data Exploration,&quot; and &quot;Model Building&quot; stages, indicating that data is stored throughout these stages. ">
            <a:extLst>
              <a:ext uri="{FF2B5EF4-FFF2-40B4-BE49-F238E27FC236}">
                <a16:creationId xmlns:a16="http://schemas.microsoft.com/office/drawing/2014/main" id="{AED9A78A-2631-24E3-112B-07FD70F89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42" b="3067"/>
          <a:stretch/>
        </p:blipFill>
        <p:spPr>
          <a:xfrm>
            <a:off x="1524001" y="5840556"/>
            <a:ext cx="14658126" cy="33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85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A5B53-3A65-E324-FBDC-24216E95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Process Data into Value?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BFB4C5-755F-1494-A0B3-B044FC7E1758}"/>
              </a:ext>
            </a:extLst>
          </p:cNvPr>
          <p:cNvSpPr/>
          <p:nvPr/>
        </p:nvSpPr>
        <p:spPr>
          <a:xfrm>
            <a:off x="1232453" y="1893570"/>
            <a:ext cx="6528816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600" b="1" i="0" dirty="0">
                <a:solidFill>
                  <a:schemeClr val="bg2"/>
                </a:solidFill>
                <a:effectLst/>
              </a:rPr>
              <a:t>Business Understanding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Involves</a:t>
            </a:r>
            <a:r>
              <a:rPr lang="en-US" sz="1600" b="0" i="0" dirty="0">
                <a:solidFill>
                  <a:schemeClr val="bg2"/>
                </a:solidFill>
                <a:effectLst/>
              </a:rPr>
              <a:t> understanding the business goals of the data science project and identifying specific questions that the project is trying to answer.</a:t>
            </a:r>
            <a:endParaRPr lang="en-US" altLang="en-US" sz="1600" b="1" dirty="0">
              <a:solidFill>
                <a:schemeClr val="bg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4BC7A7-FAB8-E1D0-045D-56C917076E96}"/>
              </a:ext>
            </a:extLst>
          </p:cNvPr>
          <p:cNvSpPr/>
          <p:nvPr/>
        </p:nvSpPr>
        <p:spPr>
          <a:xfrm>
            <a:off x="1232453" y="3190875"/>
            <a:ext cx="652881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Data Collection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G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ather relevant data to supporting the business goals from various sources. This may include, APIs, external datasets, and more.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2FDB24-7778-6DB4-5744-5CC2EDBBE0E3}"/>
              </a:ext>
            </a:extLst>
          </p:cNvPr>
          <p:cNvSpPr/>
          <p:nvPr/>
        </p:nvSpPr>
        <p:spPr>
          <a:xfrm>
            <a:off x="1232453" y="4457700"/>
            <a:ext cx="6528816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600" b="1" dirty="0">
                <a:solidFill>
                  <a:schemeClr val="tx1"/>
                </a:solidFill>
              </a:rPr>
              <a:t>Data Preparation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Clean and transform the data by h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andling missing values, dealing with outliers, standardizing data formats, and performing feature engineering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A75343-9169-B1BE-CDD8-B36DEC98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189357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C335A5-AA81-5F34-698E-03CB44132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19087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4F1949-DA6E-9F39-AF29-56E7D21B4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45770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1600" dirty="0">
              <a:solidFill>
                <a:schemeClr val="bg2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1453403-8173-7C99-1CCA-23783BD098DD}"/>
              </a:ext>
            </a:extLst>
          </p:cNvPr>
          <p:cNvSpPr/>
          <p:nvPr/>
        </p:nvSpPr>
        <p:spPr>
          <a:xfrm>
            <a:off x="11759184" y="1893570"/>
            <a:ext cx="6528816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600" b="1" i="0" dirty="0">
                <a:solidFill>
                  <a:schemeClr val="bg2"/>
                </a:solidFill>
                <a:effectLst/>
              </a:rPr>
              <a:t>Data Exploration</a:t>
            </a:r>
          </a:p>
          <a:p>
            <a:pPr marL="0" indent="0" algn="ctr">
              <a:buNone/>
            </a:pPr>
            <a:r>
              <a:rPr lang="en-US" sz="1600" i="0" dirty="0">
                <a:solidFill>
                  <a:schemeClr val="bg2"/>
                </a:solidFill>
                <a:effectLst/>
              </a:rPr>
              <a:t>To gain an basic understanding of the data (including patterns and correlations) using variety of visualization tools and statistical method</a:t>
            </a:r>
            <a:endParaRPr lang="en-US" altLang="en-US" sz="1600" dirty="0">
              <a:solidFill>
                <a:schemeClr val="bg2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5E8B6E1-3F46-6917-4EC5-8975E4CEB68E}"/>
              </a:ext>
            </a:extLst>
          </p:cNvPr>
          <p:cNvSpPr/>
          <p:nvPr/>
        </p:nvSpPr>
        <p:spPr>
          <a:xfrm>
            <a:off x="11759184" y="3190875"/>
            <a:ext cx="652881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Model Building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Build and evaluate analytical models which capture insights to make predictions about or otherwise assess new data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4DA53B6-E320-D593-5CE3-B5A353AC89B2}"/>
              </a:ext>
            </a:extLst>
          </p:cNvPr>
          <p:cNvSpPr/>
          <p:nvPr/>
        </p:nvSpPr>
        <p:spPr>
          <a:xfrm>
            <a:off x="11759184" y="4457700"/>
            <a:ext cx="6528816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600" b="1" dirty="0">
                <a:solidFill>
                  <a:schemeClr val="tx1"/>
                </a:solidFill>
              </a:rPr>
              <a:t>Deployment and Communication</a:t>
            </a:r>
          </a:p>
          <a:p>
            <a:pPr algn="ctr"/>
            <a:r>
              <a:rPr lang="en-US" altLang="en-US" sz="1600" dirty="0">
                <a:solidFill>
                  <a:schemeClr val="tx1"/>
                </a:solidFill>
              </a:rPr>
              <a:t>Deploy a model into production and share the results and insights derived form data analysis with stakeholders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6E32FAC-DA32-646B-7BC5-513B764D1441}"/>
              </a:ext>
            </a:extLst>
          </p:cNvPr>
          <p:cNvSpPr/>
          <p:nvPr/>
        </p:nvSpPr>
        <p:spPr>
          <a:xfrm>
            <a:off x="10526730" y="189357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F7D12AB-892C-EB65-6EA4-5F70F505213D}"/>
              </a:ext>
            </a:extLst>
          </p:cNvPr>
          <p:cNvSpPr/>
          <p:nvPr/>
        </p:nvSpPr>
        <p:spPr>
          <a:xfrm>
            <a:off x="10526730" y="319087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AFAAF51-28EF-5574-8A18-EF6AF0B525AB}"/>
              </a:ext>
            </a:extLst>
          </p:cNvPr>
          <p:cNvSpPr/>
          <p:nvPr/>
        </p:nvSpPr>
        <p:spPr>
          <a:xfrm>
            <a:off x="10526731" y="445770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1600" dirty="0">
              <a:solidFill>
                <a:schemeClr val="bg2"/>
              </a:solidFill>
            </a:endParaRPr>
          </a:p>
        </p:txBody>
      </p:sp>
      <p:pic>
        <p:nvPicPr>
          <p:cNvPr id="26" name="Picture 25" descr="The image shows a flowchart diagram depicting the stages of a data science process. The stages are represented as boxes connected by arrows indicating the flow from one stage to the next. The stages are as follows: &#10;&#10;1. **Business Understanding**: This is the initial stage where the business objectives and requirements are defined. &#10;&#10;2. **Data Collection**: In this stage, relevant data is gathered from various sources. &#10;&#10;3. **Data Preparation**: The collected data is then processed and cleaned to be ready for analysis. &#10;&#10;4. **Data Exploration**: This involves analyzing the data to discover patterns and insights. &#10;&#10;5. **Model Building**: Based on the exploration, models are built to predict or classify data. &#10;&#10;6. **Deployment and Communication**: The final stage involves deploying the models and communicating the results to stakeholders. &#10;&#10;Below these stages, a red bar labeled &quot;Data Storage&quot; is shown, with arrows pointing from &quot;Data Collection,&quot; &quot;Data Preparation,&quot; &quot;Data Exploration,&quot; and &quot;Model Building&quot; stages, indicating that data is stored throughout these stages. ">
            <a:extLst>
              <a:ext uri="{FF2B5EF4-FFF2-40B4-BE49-F238E27FC236}">
                <a16:creationId xmlns:a16="http://schemas.microsoft.com/office/drawing/2014/main" id="{3E04C6D5-1D56-5D6F-5AD6-7CB6517357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42" b="3067"/>
          <a:stretch/>
        </p:blipFill>
        <p:spPr>
          <a:xfrm>
            <a:off x="1524001" y="5840556"/>
            <a:ext cx="14658126" cy="33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6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A5B53-3A65-E324-FBDC-24216E95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Challenges to this Process?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0C3A9-A1E7-E061-5683-FC7E25DF1F73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i="0" dirty="0">
                <a:solidFill>
                  <a:schemeClr val="bg2"/>
                </a:solidFill>
                <a:effectLst/>
              </a:rPr>
              <a:t> The traditional data science process has showcased the value of deriving insights from data to drive business decisions and improve outcomes.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ADD93-BD93-FC1A-2A03-4F55EBA5FBF1}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B88B3-353A-586B-B622-B477AA335D05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Success stories in various industries have highlighted how data analysis can lead to better strategies, cost savings, and revenue generation.</a:t>
            </a:r>
            <a:endParaRPr lang="en-US" sz="2400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16AF53-E55E-B068-C217-8E1CDFF511EE}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183C98-05B8-FC45-FC9D-872221B0EB60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As companies recognize the potential value of data, they have expanded their data collection efforts, resulting in the generation of vast amounts of data, contributing to the big data phenomenon</a:t>
            </a:r>
            <a:endParaRPr lang="en-US" sz="2400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AC96DF-DA34-A55D-5CE2-2F8BB2BF8555}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BE4FAA-1A05-A7E0-407A-D405D7AFCDD2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This growth in data is enabled by a number of factors, including the widespread adoption of the internet, the rise of e-commerce and e-health, the popularity of social media, and the increasing use of sensors and devices to collect data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BF24769-0AC1-7872-2CD0-CFD5CC273B15}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6465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Data Science Process</a:t>
            </a:r>
            <a:br>
              <a:rPr lang="en-US" dirty="0"/>
            </a:br>
            <a:r>
              <a:rPr lang="en-US" sz="4000" dirty="0"/>
              <a:t>For Handling Larger Datasets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Scalability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Timeliness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Data Use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The traditional data science process is not well-suited for scaling up to handle large datasets. This is because it often involves loading an entire dataset into memory and performing complex computations on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Processing big data in a traditional way can result in performance bottlenecks. For example, running data analysis on a single machine can lead to slow processing times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traditional data science process is designed for batch processing of data. This means that it is not well-suited for real-time data analysis, which is increasingly important in today's data-driven world.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dirty="0">
                <a:solidFill>
                  <a:schemeClr val="bg2"/>
                </a:solidFill>
                <a:effectLst/>
              </a:rPr>
              <a:t>Traditional data science techniques may rely on data sampling and data reduction to make large datasets manageable. </a:t>
            </a:r>
            <a:r>
              <a:rPr lang="en-US" sz="2000" dirty="0">
                <a:solidFill>
                  <a:schemeClr val="bg2"/>
                </a:solidFill>
              </a:rPr>
              <a:t>While this can speed up processing, it introduces the risk of losing valuable information.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41AAE-90DD-30A6-A9B4-8198A5CD83A0}"/>
              </a:ext>
            </a:extLst>
          </p:cNvPr>
          <p:cNvSpPr/>
          <p:nvPr/>
        </p:nvSpPr>
        <p:spPr>
          <a:xfrm>
            <a:off x="16214" y="7074641"/>
            <a:ext cx="445008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06BA78-B778-C7B9-D84F-6119BD8CAFBC}"/>
              </a:ext>
            </a:extLst>
          </p:cNvPr>
          <p:cNvSpPr/>
          <p:nvPr/>
        </p:nvSpPr>
        <p:spPr>
          <a:xfrm>
            <a:off x="808694" y="7074641"/>
            <a:ext cx="3657600" cy="1042416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Cost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4E9B69-8B38-86C0-837F-B26D9C5DD71F}"/>
              </a:ext>
            </a:extLst>
          </p:cNvPr>
          <p:cNvSpPr/>
          <p:nvPr/>
        </p:nvSpPr>
        <p:spPr>
          <a:xfrm>
            <a:off x="4557733" y="7074641"/>
            <a:ext cx="1200912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dirty="0">
                <a:solidFill>
                  <a:schemeClr val="bg2"/>
                </a:solidFill>
                <a:effectLst/>
              </a:rPr>
              <a:t>Storing and managing big data can be prohibitively expensive in the traditional data science process. Traditional databases and storage solutions may not be cost-effective for handling large volumes of data. 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74543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E60D1E43-7390-45C0-8A98-92F78B335B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51602</TotalTime>
  <Words>851</Words>
  <Application>Microsoft Office PowerPoint</Application>
  <PresentationFormat>Custom</PresentationFormat>
  <Paragraphs>80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Breeze</vt:lpstr>
      <vt:lpstr>Module 1: Lesson 1 From Data to Value</vt:lpstr>
      <vt:lpstr>What is Data?</vt:lpstr>
      <vt:lpstr>What is the Value of Data?</vt:lpstr>
      <vt:lpstr>What is the Value of Data?</vt:lpstr>
      <vt:lpstr>Why is Data’s Value Challenging to Obtain?</vt:lpstr>
      <vt:lpstr>How Do We Process Data into Value?</vt:lpstr>
      <vt:lpstr>How Do We Process Data into Value?</vt:lpstr>
      <vt:lpstr>How Do We Process Data into Value?</vt:lpstr>
      <vt:lpstr>What are Challenges to this Process?</vt:lpstr>
      <vt:lpstr>Limitations of the Data Science Process For Handling Larger Datasets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Judy Tseng</cp:lastModifiedBy>
  <cp:revision>153</cp:revision>
  <cp:lastPrinted>2023-10-30T23:31:26Z</cp:lastPrinted>
  <dcterms:created xsi:type="dcterms:W3CDTF">2019-02-13T16:04:21Z</dcterms:created>
  <dcterms:modified xsi:type="dcterms:W3CDTF">2024-07-03T17:55:28Z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134609DC-757B-4695-A976-9416ED9C10C5</vt:lpwstr>
  </property>
  <property fmtid="{D5CDD505-2E9C-101B-9397-08002B2CF9AE}" pid="4" name="ArticulatePath">
    <vt:lpwstr>Module 1 v1 11092023</vt:lpwstr>
  </property>
  <property fmtid="{D5CDD505-2E9C-101B-9397-08002B2CF9AE}" pid="5" name="MediaServiceImageTags">
    <vt:lpwstr/>
  </property>
</Properties>
</file>