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4"/>
  </p:notesMasterIdLst>
  <p:sldIdLst>
    <p:sldId id="757" r:id="rId5"/>
    <p:sldId id="508" r:id="rId6"/>
    <p:sldId id="762" r:id="rId7"/>
    <p:sldId id="705" r:id="rId8"/>
    <p:sldId id="768" r:id="rId9"/>
    <p:sldId id="691" r:id="rId10"/>
    <p:sldId id="697" r:id="rId11"/>
    <p:sldId id="573" r:id="rId12"/>
    <p:sldId id="667" r:id="rId13"/>
    <p:sldId id="672" r:id="rId14"/>
    <p:sldId id="692" r:id="rId15"/>
    <p:sldId id="693" r:id="rId16"/>
    <p:sldId id="694" r:id="rId17"/>
    <p:sldId id="695" r:id="rId18"/>
    <p:sldId id="575" r:id="rId19"/>
    <p:sldId id="671" r:id="rId20"/>
    <p:sldId id="700" r:id="rId21"/>
    <p:sldId id="709" r:id="rId22"/>
    <p:sldId id="701" r:id="rId23"/>
  </p:sldIdLst>
  <p:sldSz cx="18288000" cy="10287000"/>
  <p:notesSz cx="6858000" cy="9144000"/>
  <p:custDataLst>
    <p:tags r:id="rId25"/>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C7C7C"/>
    <a:srgbClr val="DFDFDF"/>
    <a:srgbClr val="FFA858"/>
    <a:srgbClr val="3F4F6C"/>
    <a:srgbClr val="C50724"/>
    <a:srgbClr val="0070C0"/>
    <a:srgbClr val="BD051B"/>
    <a:srgbClr val="969696"/>
    <a:srgbClr val="E98D0A"/>
    <a:srgbClr val="177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86"/>
    <p:restoredTop sz="91693"/>
  </p:normalViewPr>
  <p:slideViewPr>
    <p:cSldViewPr snapToGrid="0" snapToObjects="1">
      <p:cViewPr varScale="1">
        <p:scale>
          <a:sx n="59" d="100"/>
          <a:sy n="59" d="100"/>
        </p:scale>
        <p:origin x="384" y="58"/>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dirty="0">
              <a:solidFill>
                <a:schemeClr val="tx1"/>
              </a:solidFill>
              <a:cs typeface="Arial"/>
            </a:rPr>
            <a:t>Object (Blob) Store</a:t>
          </a:r>
          <a:endParaRPr lang="en-US" sz="2800" dirty="0"/>
        </a:p>
      </dgm:t>
    </dgm:pt>
    <dgm:pt modelId="{4E7FF56D-46AD-054E-9A98-96B3BA155886}" type="parTrans" cxnId="{D3B5A944-F001-C443-B5F2-2B9F33291B32}">
      <dgm:prSet/>
      <dgm:spPr/>
      <dgm:t>
        <a:bodyPr/>
        <a:lstStyle/>
        <a:p>
          <a:endParaRPr lang="en-US" sz="3600"/>
        </a:p>
      </dgm:t>
    </dgm:pt>
    <dgm:pt modelId="{705E8EE7-BF08-CB4D-BD5C-3C2188954C5C}" type="sibTrans" cxnId="{D3B5A944-F001-C443-B5F2-2B9F33291B32}">
      <dgm:prSet/>
      <dgm:spPr/>
      <dgm:t>
        <a:bodyPr/>
        <a:lstStyle/>
        <a:p>
          <a:endParaRPr lang="en-US" sz="3600"/>
        </a:p>
      </dgm:t>
    </dgm:pt>
    <dgm:pt modelId="{442D5A58-C0BA-F144-900D-CD068CAEACC5}">
      <dgm:prSet phldrT="[Text]" custT="1"/>
      <dgm:spPr/>
      <dgm:t>
        <a:bodyPr/>
        <a:lstStyle/>
        <a:p>
          <a:pPr>
            <a:lnSpc>
              <a:spcPct val="100000"/>
            </a:lnSpc>
          </a:pPr>
          <a:r>
            <a:rPr lang="en-US" sz="2800" dirty="0">
              <a:solidFill>
                <a:srgbClr val="374151"/>
              </a:solidFill>
              <a:ea typeface="+mn-lt"/>
              <a:cs typeface="+mn-lt"/>
            </a:rPr>
            <a:t>A cloud storage service that efficiently manages vast amounts of data as individual objects (blobs of bytes) identified by unique keys or identifiers</a:t>
          </a:r>
          <a:endParaRPr lang="en-US" sz="2800" dirty="0"/>
        </a:p>
      </dgm:t>
    </dgm:pt>
    <dgm:pt modelId="{CF020809-46CC-9A4C-A8EB-3476998DDE96}" type="sibTrans" cxnId="{1DE38344-B831-4744-90C2-4EADFF394BD8}">
      <dgm:prSet/>
      <dgm:spPr/>
      <dgm:t>
        <a:bodyPr/>
        <a:lstStyle/>
        <a:p>
          <a:endParaRPr lang="en-US" sz="3600"/>
        </a:p>
      </dgm:t>
    </dgm:pt>
    <dgm:pt modelId="{6D408390-93DB-2146-8370-A33797121294}" type="parTrans" cxnId="{1DE38344-B831-4744-90C2-4EADFF394BD8}">
      <dgm:prSet/>
      <dgm:spPr/>
      <dgm:t>
        <a:bodyPr/>
        <a:lstStyle/>
        <a:p>
          <a:endParaRPr lang="en-US" sz="3600"/>
        </a:p>
      </dgm:t>
    </dgm:pt>
    <dgm:pt modelId="{115F7D96-A3EF-2846-B835-63F34DBB95AF}">
      <dgm:prSet phldrT="[Text]" custT="1"/>
      <dgm:spPr/>
      <dgm:t>
        <a:bodyPr/>
        <a:lstStyle/>
        <a:p>
          <a:pPr>
            <a:lnSpc>
              <a:spcPct val="100000"/>
            </a:lnSpc>
            <a:defRPr b="1"/>
          </a:pPr>
          <a:r>
            <a:rPr lang="en-US" sz="2800" dirty="0">
              <a:solidFill>
                <a:schemeClr val="tx1"/>
              </a:solidFill>
              <a:cs typeface="Arial"/>
            </a:rPr>
            <a:t>Distributed File System</a:t>
          </a:r>
          <a:endParaRPr lang="en-US" sz="2800" dirty="0"/>
        </a:p>
      </dgm:t>
    </dgm:pt>
    <dgm:pt modelId="{8904A24B-91D6-D046-A910-7C149A2C7BA8}" type="sibTrans" cxnId="{62DFFD0E-98E5-A249-88B6-3BDEDDF5AB56}">
      <dgm:prSet/>
      <dgm:spPr/>
      <dgm:t>
        <a:bodyPr/>
        <a:lstStyle/>
        <a:p>
          <a:endParaRPr lang="en-US" sz="3600"/>
        </a:p>
      </dgm:t>
    </dgm:pt>
    <dgm:pt modelId="{C4C03E97-7C04-A340-9B66-1F3D898C4382}" type="parTrans" cxnId="{62DFFD0E-98E5-A249-88B6-3BDEDDF5AB56}">
      <dgm:prSet/>
      <dgm:spPr/>
      <dgm:t>
        <a:bodyPr/>
        <a:lstStyle/>
        <a:p>
          <a:endParaRPr lang="en-US" sz="3600"/>
        </a:p>
      </dgm:t>
    </dgm:pt>
    <dgm:pt modelId="{68AFE436-68E0-F348-BCF1-93CA71CE5BFF}">
      <dgm:prSet phldrT="[Text]" custT="1"/>
      <dgm:spPr/>
      <dgm:t>
        <a:bodyPr/>
        <a:lstStyle/>
        <a:p>
          <a:pPr>
            <a:lnSpc>
              <a:spcPct val="100000"/>
            </a:lnSpc>
          </a:pPr>
          <a:r>
            <a:rPr lang="en-US" sz="2800" dirty="0">
              <a:solidFill>
                <a:srgbClr val="292934"/>
              </a:solidFill>
              <a:cs typeface="Arial"/>
            </a:rPr>
            <a:t>Software that allows multiple independent storage systems to be combined into a single larger virtual storage system allowing files larger than any individual storage system to be spread across the cluster</a:t>
          </a:r>
          <a:endParaRPr lang="en-US" sz="2800" dirty="0"/>
        </a:p>
      </dgm:t>
    </dgm:pt>
    <dgm:pt modelId="{A3608276-B38D-FE45-BCEB-29DE35B13234}" type="sibTrans" cxnId="{B37041DA-4BB1-984B-9041-AAD983B43E70}">
      <dgm:prSet/>
      <dgm:spPr/>
      <dgm:t>
        <a:bodyPr/>
        <a:lstStyle/>
        <a:p>
          <a:endParaRPr lang="en-US" sz="3600"/>
        </a:p>
      </dgm:t>
    </dgm:pt>
    <dgm:pt modelId="{1FBEFBA1-4192-DF42-B6EB-A3997C4E28B0}" type="parTrans" cxnId="{B37041DA-4BB1-984B-9041-AAD983B43E70}">
      <dgm:prSet/>
      <dgm:spPr/>
      <dgm:t>
        <a:bodyPr/>
        <a:lstStyle/>
        <a:p>
          <a:endParaRPr lang="en-US" sz="3600"/>
        </a:p>
      </dgm:t>
    </dgm:pt>
    <dgm:pt modelId="{2AD1ABFC-E0F5-BC4D-BE1B-386FF830E336}">
      <dgm:prSet phldrT="[Text]" custT="1"/>
      <dgm:spPr/>
      <dgm:t>
        <a:bodyPr/>
        <a:lstStyle/>
        <a:p>
          <a:pPr>
            <a:lnSpc>
              <a:spcPct val="100000"/>
            </a:lnSpc>
            <a:defRPr b="1"/>
          </a:pPr>
          <a:r>
            <a:rPr lang="en-US" sz="2800" dirty="0">
              <a:solidFill>
                <a:schemeClr val="tx1"/>
              </a:solidFill>
              <a:cs typeface="Arial"/>
            </a:rPr>
            <a:t>Data Lakes</a:t>
          </a:r>
          <a:endParaRPr lang="en-US" sz="2800" dirty="0"/>
        </a:p>
      </dgm:t>
    </dgm:pt>
    <dgm:pt modelId="{753B4962-FB12-1244-A406-B9DB3DBF1F65}" type="sibTrans" cxnId="{9AE2F9BD-BA4F-AB4A-89EC-5A072847CB47}">
      <dgm:prSet/>
      <dgm:spPr/>
      <dgm:t>
        <a:bodyPr/>
        <a:lstStyle/>
        <a:p>
          <a:endParaRPr lang="en-US" sz="3600"/>
        </a:p>
      </dgm:t>
    </dgm:pt>
    <dgm:pt modelId="{0CDCC5C5-6C70-3440-BC3B-B1F9BFCF9347}" type="parTrans" cxnId="{9AE2F9BD-BA4F-AB4A-89EC-5A072847CB47}">
      <dgm:prSet/>
      <dgm:spPr/>
      <dgm:t>
        <a:bodyPr/>
        <a:lstStyle/>
        <a:p>
          <a:endParaRPr lang="en-US" sz="3600"/>
        </a:p>
      </dgm:t>
    </dgm:pt>
    <dgm:pt modelId="{C614FF16-69A4-7345-A585-D3CE9FD2E064}">
      <dgm:prSet phldrT="[Text]" custT="1"/>
      <dgm:spPr/>
      <dgm:t>
        <a:bodyPr/>
        <a:lstStyle/>
        <a:p>
          <a:pPr>
            <a:lnSpc>
              <a:spcPct val="100000"/>
            </a:lnSpc>
          </a:pPr>
          <a:r>
            <a:rPr lang="en-US" sz="2800" dirty="0">
              <a:solidFill>
                <a:srgbClr val="333333"/>
              </a:solidFill>
              <a:ea typeface="+mn-lt"/>
              <a:cs typeface="+mn-lt"/>
            </a:rPr>
            <a:t>A centralized repository (object store, distributed file system or “NewSQL” database) that allows storage of data at any scale, integrated with analytic tools enabling insight generation</a:t>
          </a:r>
          <a:endParaRPr lang="en-US" sz="2800" dirty="0"/>
        </a:p>
      </dgm:t>
    </dgm:pt>
    <dgm:pt modelId="{E8E4B79C-9EBC-1A4C-9577-3E1ECA8240C5}" type="sibTrans" cxnId="{DDA11D67-8E0F-3847-9D66-7768417B9B5A}">
      <dgm:prSet/>
      <dgm:spPr/>
      <dgm:t>
        <a:bodyPr/>
        <a:lstStyle/>
        <a:p>
          <a:endParaRPr lang="en-US" sz="3600"/>
        </a:p>
      </dgm:t>
    </dgm:pt>
    <dgm:pt modelId="{964883DC-E71D-CF49-AEE7-10D75BD9F5CD}" type="parTrans" cxnId="{DDA11D67-8E0F-3847-9D66-7768417B9B5A}">
      <dgm:prSet/>
      <dgm:spPr/>
      <dgm:t>
        <a:bodyPr/>
        <a:lstStyle/>
        <a:p>
          <a:endParaRPr lang="en-US" sz="3600"/>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3"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6">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6">
        <dgm:presLayoutVars/>
      </dgm:prSet>
      <dgm:spPr/>
    </dgm:pt>
    <dgm:pt modelId="{E498811C-808C-435A-95EB-9D224CF52F01}" type="pres">
      <dgm:prSet presAssocID="{705E8EE7-BF08-CB4D-BD5C-3C2188954C5C}" presName="sibTrans" presStyleCnt="0"/>
      <dgm:spPr/>
    </dgm:pt>
    <dgm:pt modelId="{2DA928AB-63CA-476E-9590-F71A63129A4F}" type="pres">
      <dgm:prSet presAssocID="{115F7D96-A3EF-2846-B835-63F34DBB95AF}" presName="compNode" presStyleCnt="0"/>
      <dgm:spPr/>
    </dgm:pt>
    <dgm:pt modelId="{B659D329-FFCB-4A99-9159-9545CCFD1864}" type="pres">
      <dgm:prSet presAssocID="{115F7D96-A3EF-2846-B835-63F34DBB95AF}" presName="iconRect" presStyleLbl="node1" presStyleIdx="1" presStyleCnt="3"/>
      <dgm:spPr>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hat"/>
        </a:ext>
      </dgm:extLst>
    </dgm:pt>
    <dgm:pt modelId="{7AC829E4-3597-4D5D-A451-4211F5528A3B}" type="pres">
      <dgm:prSet presAssocID="{115F7D96-A3EF-2846-B835-63F34DBB95AF}" presName="iconSpace" presStyleCnt="0"/>
      <dgm:spPr/>
    </dgm:pt>
    <dgm:pt modelId="{2F6EFE1B-9CAA-475C-BE46-7AB33E0E0233}" type="pres">
      <dgm:prSet presAssocID="{115F7D96-A3EF-2846-B835-63F34DBB95AF}" presName="parTx" presStyleLbl="revTx" presStyleIdx="2" presStyleCnt="6">
        <dgm:presLayoutVars>
          <dgm:chMax val="0"/>
          <dgm:chPref val="0"/>
        </dgm:presLayoutVars>
      </dgm:prSet>
      <dgm:spPr/>
    </dgm:pt>
    <dgm:pt modelId="{CEFA69B0-E3C1-4A80-B17A-E8897609B570}" type="pres">
      <dgm:prSet presAssocID="{115F7D96-A3EF-2846-B835-63F34DBB95AF}" presName="txSpace" presStyleCnt="0"/>
      <dgm:spPr/>
    </dgm:pt>
    <dgm:pt modelId="{7F4A702B-11E4-4211-A9B6-CAF76DE9963E}" type="pres">
      <dgm:prSet presAssocID="{115F7D96-A3EF-2846-B835-63F34DBB95AF}" presName="desTx" presStyleLbl="revTx" presStyleIdx="3" presStyleCnt="6">
        <dgm:presLayoutVars/>
      </dgm:prSet>
      <dgm:spPr/>
    </dgm:pt>
    <dgm:pt modelId="{71A4AE05-E956-421B-8F79-2FA0766F0D49}" type="pres">
      <dgm:prSet presAssocID="{8904A24B-91D6-D046-A910-7C149A2C7BA8}" presName="sibTrans" presStyleCnt="0"/>
      <dgm:spPr/>
    </dgm:pt>
    <dgm:pt modelId="{8AE20949-93A6-4596-B28C-7582693FC50C}" type="pres">
      <dgm:prSet presAssocID="{2AD1ABFC-E0F5-BC4D-BE1B-386FF830E336}" presName="compNode" presStyleCnt="0"/>
      <dgm:spPr/>
    </dgm:pt>
    <dgm:pt modelId="{24A53ECD-764D-4FF8-9153-CE9D4FBA6DB1}" type="pres">
      <dgm:prSet presAssocID="{2AD1ABFC-E0F5-BC4D-BE1B-386FF830E336}" presName="iconRect" presStyleLbl="node1" presStyleIdx="2" presStyleCnt="3"/>
      <dgm:spPr>
        <a:blipFill dpi="0" rotWithShape="1">
          <a:blip xmlns:r="http://schemas.openxmlformats.org/officeDocument/2006/relationships" r:embed="rId5">
            <a:alphaModFix amt="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mera"/>
        </a:ext>
      </dgm:extLst>
    </dgm:pt>
    <dgm:pt modelId="{AF2092C4-E23D-452B-A583-573F232CB51D}" type="pres">
      <dgm:prSet presAssocID="{2AD1ABFC-E0F5-BC4D-BE1B-386FF830E336}" presName="iconSpace" presStyleCnt="0"/>
      <dgm:spPr/>
    </dgm:pt>
    <dgm:pt modelId="{5D88F1DD-3536-4BA5-BD1D-077D0CA87FCA}" type="pres">
      <dgm:prSet presAssocID="{2AD1ABFC-E0F5-BC4D-BE1B-386FF830E336}" presName="parTx" presStyleLbl="revTx" presStyleIdx="4" presStyleCnt="6">
        <dgm:presLayoutVars>
          <dgm:chMax val="0"/>
          <dgm:chPref val="0"/>
        </dgm:presLayoutVars>
      </dgm:prSet>
      <dgm:spPr/>
    </dgm:pt>
    <dgm:pt modelId="{3AAF35B6-29A1-422E-B3E2-06FE3917C557}" type="pres">
      <dgm:prSet presAssocID="{2AD1ABFC-E0F5-BC4D-BE1B-386FF830E336}" presName="txSpace" presStyleCnt="0"/>
      <dgm:spPr/>
    </dgm:pt>
    <dgm:pt modelId="{18BB71A3-CB54-4F25-B66C-791E75BDECA1}" type="pres">
      <dgm:prSet presAssocID="{2AD1ABFC-E0F5-BC4D-BE1B-386FF830E336}" presName="desTx" presStyleLbl="revTx" presStyleIdx="5" presStyleCnt="6">
        <dgm:presLayoutVars/>
      </dgm:prSet>
      <dgm:spPr/>
    </dgm:pt>
  </dgm:ptLst>
  <dgm:cxnLst>
    <dgm:cxn modelId="{62DFFD0E-98E5-A249-88B6-3BDEDDF5AB56}" srcId="{F0D0BB63-F3DB-7A4D-9E9E-D3BCBD2E7EB3}" destId="{115F7D96-A3EF-2846-B835-63F34DBB95AF}" srcOrd="1" destOrd="0" parTransId="{C4C03E97-7C04-A340-9B66-1F3D898C4382}" sibTransId="{8904A24B-91D6-D046-A910-7C149A2C7BA8}"/>
    <dgm:cxn modelId="{47BA6325-1C45-41E7-84BF-06DA9C642BBB}" type="presOf" srcId="{115F7D96-A3EF-2846-B835-63F34DBB95AF}" destId="{2F6EFE1B-9CAA-475C-BE46-7AB33E0E0233}" srcOrd="0" destOrd="0" presId="urn:microsoft.com/office/officeart/2018/5/layout/CenteredIconLabelDescriptionList"/>
    <dgm:cxn modelId="{A223745C-024B-4BB6-8489-B64E0CE9C5B3}" type="presOf" srcId="{A38895C2-01F9-6245-91B5-24143C38A9C7}" destId="{A3F5AACB-4941-4375-9257-3C08269C058D}" srcOrd="0" destOrd="0" presId="urn:microsoft.com/office/officeart/2018/5/layout/CenteredIconLabelDescriptionList"/>
    <dgm:cxn modelId="{1DE38344-B831-4744-90C2-4EADFF394BD8}" srcId="{A38895C2-01F9-6245-91B5-24143C38A9C7}" destId="{442D5A58-C0BA-F144-900D-CD068CAEACC5}" srcOrd="0" destOrd="0" parTransId="{6D408390-93DB-2146-8370-A33797121294}" sibTransId="{CF020809-46CC-9A4C-A8EB-3476998DDE96}"/>
    <dgm:cxn modelId="{D3B5A944-F001-C443-B5F2-2B9F33291B32}" srcId="{F0D0BB63-F3DB-7A4D-9E9E-D3BCBD2E7EB3}" destId="{A38895C2-01F9-6245-91B5-24143C38A9C7}" srcOrd="0" destOrd="0" parTransId="{4E7FF56D-46AD-054E-9A98-96B3BA155886}" sibTransId="{705E8EE7-BF08-CB4D-BD5C-3C2188954C5C}"/>
    <dgm:cxn modelId="{DDA11D67-8E0F-3847-9D66-7768417B9B5A}" srcId="{2AD1ABFC-E0F5-BC4D-BE1B-386FF830E336}" destId="{C614FF16-69A4-7345-A585-D3CE9FD2E064}" srcOrd="0" destOrd="0" parTransId="{964883DC-E71D-CF49-AEE7-10D75BD9F5CD}" sibTransId="{E8E4B79C-9EBC-1A4C-9577-3E1ECA8240C5}"/>
    <dgm:cxn modelId="{63D5C358-F98A-492D-8528-12CA4FC1EACC}" type="presOf" srcId="{F0D0BB63-F3DB-7A4D-9E9E-D3BCBD2E7EB3}" destId="{DA14DB78-971D-423E-ABBC-4C0BFC9A4508}" srcOrd="0" destOrd="0" presId="urn:microsoft.com/office/officeart/2018/5/layout/CenteredIconLabelDescriptionList"/>
    <dgm:cxn modelId="{4CE7E580-E0AF-4DD4-B883-A88D25A34486}" type="presOf" srcId="{2AD1ABFC-E0F5-BC4D-BE1B-386FF830E336}" destId="{5D88F1DD-3536-4BA5-BD1D-077D0CA87FCA}" srcOrd="0" destOrd="0" presId="urn:microsoft.com/office/officeart/2018/5/layout/CenteredIconLabelDescriptionList"/>
    <dgm:cxn modelId="{2F721CAB-57AF-4EDA-81DE-B3FA7830F5CA}" type="presOf" srcId="{68AFE436-68E0-F348-BCF1-93CA71CE5BFF}" destId="{7F4A702B-11E4-4211-A9B6-CAF76DE9963E}" srcOrd="0" destOrd="0" presId="urn:microsoft.com/office/officeart/2018/5/layout/CenteredIconLabelDescriptionList"/>
    <dgm:cxn modelId="{678886B1-9772-4B78-B9B0-EF28932942F1}" type="presOf" srcId="{442D5A58-C0BA-F144-900D-CD068CAEACC5}" destId="{FE93FDF4-82DA-45FA-9A1E-C612D39D3B6A}" srcOrd="0" destOrd="0" presId="urn:microsoft.com/office/officeart/2018/5/layout/CenteredIconLabelDescriptionList"/>
    <dgm:cxn modelId="{9AE2F9BD-BA4F-AB4A-89EC-5A072847CB47}" srcId="{F0D0BB63-F3DB-7A4D-9E9E-D3BCBD2E7EB3}" destId="{2AD1ABFC-E0F5-BC4D-BE1B-386FF830E336}" srcOrd="2" destOrd="0" parTransId="{0CDCC5C5-6C70-3440-BC3B-B1F9BFCF9347}" sibTransId="{753B4962-FB12-1244-A406-B9DB3DBF1F65}"/>
    <dgm:cxn modelId="{B37041DA-4BB1-984B-9041-AAD983B43E70}" srcId="{115F7D96-A3EF-2846-B835-63F34DBB95AF}" destId="{68AFE436-68E0-F348-BCF1-93CA71CE5BFF}" srcOrd="0" destOrd="0" parTransId="{1FBEFBA1-4192-DF42-B6EB-A3997C4E28B0}" sibTransId="{A3608276-B38D-FE45-BCEB-29DE35B13234}"/>
    <dgm:cxn modelId="{FD5FEDDF-4D0C-41BD-B3D5-13E29876E269}" type="presOf" srcId="{C614FF16-69A4-7345-A585-D3CE9FD2E064}" destId="{18BB71A3-CB54-4F25-B66C-791E75BDECA1}" srcOrd="0" destOrd="0" presId="urn:microsoft.com/office/officeart/2018/5/layout/CenteredIconLabelDescriptionList"/>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14E0CDBC-4332-4B5A-9E75-B8331E647B7F}" type="presParOf" srcId="{DA14DB78-971D-423E-ABBC-4C0BFC9A4508}" destId="{2DA928AB-63CA-476E-9590-F71A63129A4F}" srcOrd="2" destOrd="0" presId="urn:microsoft.com/office/officeart/2018/5/layout/CenteredIconLabelDescriptionList"/>
    <dgm:cxn modelId="{A9126A6D-8E03-432C-8DC3-C89F70A133EE}" type="presParOf" srcId="{2DA928AB-63CA-476E-9590-F71A63129A4F}" destId="{B659D329-FFCB-4A99-9159-9545CCFD1864}" srcOrd="0" destOrd="0" presId="urn:microsoft.com/office/officeart/2018/5/layout/CenteredIconLabelDescriptionList"/>
    <dgm:cxn modelId="{546FA4D3-19D6-4AC8-927E-773C08C3C665}" type="presParOf" srcId="{2DA928AB-63CA-476E-9590-F71A63129A4F}" destId="{7AC829E4-3597-4D5D-A451-4211F5528A3B}" srcOrd="1" destOrd="0" presId="urn:microsoft.com/office/officeart/2018/5/layout/CenteredIconLabelDescriptionList"/>
    <dgm:cxn modelId="{6512493F-6C73-4D55-97E3-0F5F55EF79FC}" type="presParOf" srcId="{2DA928AB-63CA-476E-9590-F71A63129A4F}" destId="{2F6EFE1B-9CAA-475C-BE46-7AB33E0E0233}" srcOrd="2" destOrd="0" presId="urn:microsoft.com/office/officeart/2018/5/layout/CenteredIconLabelDescriptionList"/>
    <dgm:cxn modelId="{77DD6E0B-E0C6-4A67-88C5-299CDBF61997}" type="presParOf" srcId="{2DA928AB-63CA-476E-9590-F71A63129A4F}" destId="{CEFA69B0-E3C1-4A80-B17A-E8897609B570}" srcOrd="3" destOrd="0" presId="urn:microsoft.com/office/officeart/2018/5/layout/CenteredIconLabelDescriptionList"/>
    <dgm:cxn modelId="{3962A81A-D98E-4F6B-90D0-485BD69937AD}" type="presParOf" srcId="{2DA928AB-63CA-476E-9590-F71A63129A4F}" destId="{7F4A702B-11E4-4211-A9B6-CAF76DE9963E}" srcOrd="4" destOrd="0" presId="urn:microsoft.com/office/officeart/2018/5/layout/CenteredIconLabelDescriptionList"/>
    <dgm:cxn modelId="{C32BC598-59D2-4E85-AE3D-95282A472606}" type="presParOf" srcId="{DA14DB78-971D-423E-ABBC-4C0BFC9A4508}" destId="{71A4AE05-E956-421B-8F79-2FA0766F0D49}" srcOrd="3" destOrd="0" presId="urn:microsoft.com/office/officeart/2018/5/layout/CenteredIconLabelDescriptionList"/>
    <dgm:cxn modelId="{1CD6B924-43E0-4AB0-9BA7-A8D232200097}" type="presParOf" srcId="{DA14DB78-971D-423E-ABBC-4C0BFC9A4508}" destId="{8AE20949-93A6-4596-B28C-7582693FC50C}" srcOrd="4" destOrd="0" presId="urn:microsoft.com/office/officeart/2018/5/layout/CenteredIconLabelDescriptionList"/>
    <dgm:cxn modelId="{AE590B55-22FD-4BCF-B759-7693BF63E726}" type="presParOf" srcId="{8AE20949-93A6-4596-B28C-7582693FC50C}" destId="{24A53ECD-764D-4FF8-9153-CE9D4FBA6DB1}" srcOrd="0" destOrd="0" presId="urn:microsoft.com/office/officeart/2018/5/layout/CenteredIconLabelDescriptionList"/>
    <dgm:cxn modelId="{6E0CFC99-570C-4326-84D4-7E38D5D91ECA}" type="presParOf" srcId="{8AE20949-93A6-4596-B28C-7582693FC50C}" destId="{AF2092C4-E23D-452B-A583-573F232CB51D}" srcOrd="1" destOrd="0" presId="urn:microsoft.com/office/officeart/2018/5/layout/CenteredIconLabelDescriptionList"/>
    <dgm:cxn modelId="{7001E932-2647-4C58-ADB7-90C3A9268FA3}" type="presParOf" srcId="{8AE20949-93A6-4596-B28C-7582693FC50C}" destId="{5D88F1DD-3536-4BA5-BD1D-077D0CA87FCA}" srcOrd="2" destOrd="0" presId="urn:microsoft.com/office/officeart/2018/5/layout/CenteredIconLabelDescriptionList"/>
    <dgm:cxn modelId="{597C8964-B7DB-4BE7-87EE-B1CBA8F64F8D}" type="presParOf" srcId="{8AE20949-93A6-4596-B28C-7582693FC50C}" destId="{3AAF35B6-29A1-422E-B3E2-06FE3917C557}" srcOrd="3" destOrd="0" presId="urn:microsoft.com/office/officeart/2018/5/layout/CenteredIconLabelDescriptionList"/>
    <dgm:cxn modelId="{80F1E940-E370-45F3-8485-B36045180487}" type="presParOf" srcId="{8AE20949-93A6-4596-B28C-7582693FC50C}" destId="{18BB71A3-CB54-4F25-B66C-791E75BDECA1}"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0D0BB63-F3DB-7A4D-9E9E-D3BCBD2E7EB3}"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A38895C2-01F9-6245-91B5-24143C38A9C7}">
      <dgm:prSet phldrT="[Text]" custT="1"/>
      <dgm:spPr/>
      <dgm:t>
        <a:bodyPr/>
        <a:lstStyle/>
        <a:p>
          <a:pPr>
            <a:lnSpc>
              <a:spcPct val="100000"/>
            </a:lnSpc>
            <a:defRPr b="1"/>
          </a:pPr>
          <a:r>
            <a:rPr lang="en-US" sz="2800" dirty="0">
              <a:latin typeface="+mn-lt"/>
            </a:rPr>
            <a:t>NoSQL Database</a:t>
          </a:r>
        </a:p>
      </dgm:t>
    </dgm:pt>
    <dgm:pt modelId="{4E7FF56D-46AD-054E-9A98-96B3BA155886}" type="parTrans" cxnId="{D3B5A944-F001-C443-B5F2-2B9F33291B32}">
      <dgm:prSet/>
      <dgm:spPr/>
      <dgm:t>
        <a:bodyPr/>
        <a:lstStyle/>
        <a:p>
          <a:endParaRPr lang="en-US" sz="3600">
            <a:latin typeface="+mn-lt"/>
          </a:endParaRPr>
        </a:p>
      </dgm:t>
    </dgm:pt>
    <dgm:pt modelId="{705E8EE7-BF08-CB4D-BD5C-3C2188954C5C}" type="sibTrans" cxnId="{D3B5A944-F001-C443-B5F2-2B9F33291B32}">
      <dgm:prSet/>
      <dgm:spPr/>
      <dgm:t>
        <a:bodyPr/>
        <a:lstStyle/>
        <a:p>
          <a:endParaRPr lang="en-US" sz="3600">
            <a:latin typeface="+mn-lt"/>
          </a:endParaRPr>
        </a:p>
      </dgm:t>
    </dgm:pt>
    <dgm:pt modelId="{442D5A58-C0BA-F144-900D-CD068CAEACC5}">
      <dgm:prSet phldrT="[Text]" custT="1"/>
      <dgm:spPr/>
      <dgm:t>
        <a:bodyPr/>
        <a:lstStyle/>
        <a:p>
          <a:pPr>
            <a:lnSpc>
              <a:spcPct val="100000"/>
            </a:lnSpc>
          </a:pPr>
          <a:r>
            <a:rPr lang="en-US" sz="2800" dirty="0">
              <a:latin typeface="+mn-lt"/>
              <a:cs typeface="Arial"/>
            </a:rPr>
            <a:t>A database designed for the storage and retrieval of large volumes of data by executing across multiple compute and storage nodes</a:t>
          </a:r>
          <a:endParaRPr lang="en-US" sz="2800" dirty="0">
            <a:latin typeface="+mn-lt"/>
          </a:endParaRPr>
        </a:p>
      </dgm:t>
    </dgm:pt>
    <dgm:pt modelId="{CF020809-46CC-9A4C-A8EB-3476998DDE96}" type="sibTrans" cxnId="{1DE38344-B831-4744-90C2-4EADFF394BD8}">
      <dgm:prSet/>
      <dgm:spPr/>
      <dgm:t>
        <a:bodyPr/>
        <a:lstStyle/>
        <a:p>
          <a:endParaRPr lang="en-US" sz="3600">
            <a:latin typeface="+mn-lt"/>
          </a:endParaRPr>
        </a:p>
      </dgm:t>
    </dgm:pt>
    <dgm:pt modelId="{6D408390-93DB-2146-8370-A33797121294}" type="parTrans" cxnId="{1DE38344-B831-4744-90C2-4EADFF394BD8}">
      <dgm:prSet/>
      <dgm:spPr/>
      <dgm:t>
        <a:bodyPr/>
        <a:lstStyle/>
        <a:p>
          <a:endParaRPr lang="en-US" sz="3600">
            <a:latin typeface="+mn-lt"/>
          </a:endParaRPr>
        </a:p>
      </dgm:t>
    </dgm:pt>
    <dgm:pt modelId="{115F7D96-A3EF-2846-B835-63F34DBB95AF}">
      <dgm:prSet phldrT="[Text]" custT="1"/>
      <dgm:spPr/>
      <dgm:t>
        <a:bodyPr/>
        <a:lstStyle/>
        <a:p>
          <a:pPr>
            <a:lnSpc>
              <a:spcPct val="100000"/>
            </a:lnSpc>
            <a:defRPr b="1"/>
          </a:pPr>
          <a:r>
            <a:rPr lang="en-US" sz="2800" dirty="0">
              <a:latin typeface="+mn-lt"/>
            </a:rPr>
            <a:t>“NewSQL” Database</a:t>
          </a:r>
        </a:p>
      </dgm:t>
    </dgm:pt>
    <dgm:pt modelId="{8904A24B-91D6-D046-A910-7C149A2C7BA8}" type="sibTrans" cxnId="{62DFFD0E-98E5-A249-88B6-3BDEDDF5AB56}">
      <dgm:prSet/>
      <dgm:spPr/>
      <dgm:t>
        <a:bodyPr/>
        <a:lstStyle/>
        <a:p>
          <a:endParaRPr lang="en-US" sz="3600">
            <a:latin typeface="+mn-lt"/>
          </a:endParaRPr>
        </a:p>
      </dgm:t>
    </dgm:pt>
    <dgm:pt modelId="{C4C03E97-7C04-A340-9B66-1F3D898C4382}" type="parTrans" cxnId="{62DFFD0E-98E5-A249-88B6-3BDEDDF5AB56}">
      <dgm:prSet/>
      <dgm:spPr/>
      <dgm:t>
        <a:bodyPr/>
        <a:lstStyle/>
        <a:p>
          <a:endParaRPr lang="en-US" sz="3600">
            <a:latin typeface="+mn-lt"/>
          </a:endParaRPr>
        </a:p>
      </dgm:t>
    </dgm:pt>
    <dgm:pt modelId="{68AFE436-68E0-F348-BCF1-93CA71CE5BFF}">
      <dgm:prSet phldrT="[Text]" custT="1"/>
      <dgm:spPr/>
      <dgm:t>
        <a:bodyPr/>
        <a:lstStyle/>
        <a:p>
          <a:pPr>
            <a:lnSpc>
              <a:spcPct val="100000"/>
            </a:lnSpc>
          </a:pPr>
          <a:r>
            <a:rPr lang="en-US" sz="2800" b="0" i="0" dirty="0">
              <a:solidFill>
                <a:srgbClr val="1F1F1F"/>
              </a:solidFill>
              <a:effectLst/>
              <a:latin typeface="+mn-lt"/>
            </a:rPr>
            <a:t>A database that combines the scalability and flexibility of NoSQL databases with the full SQL compliance of relational databases</a:t>
          </a:r>
          <a:endParaRPr lang="en-US" sz="2800" dirty="0">
            <a:latin typeface="+mn-lt"/>
          </a:endParaRPr>
        </a:p>
      </dgm:t>
    </dgm:pt>
    <dgm:pt modelId="{A3608276-B38D-FE45-BCEB-29DE35B13234}" type="sibTrans" cxnId="{B37041DA-4BB1-984B-9041-AAD983B43E70}">
      <dgm:prSet/>
      <dgm:spPr/>
      <dgm:t>
        <a:bodyPr/>
        <a:lstStyle/>
        <a:p>
          <a:endParaRPr lang="en-US" sz="3600">
            <a:latin typeface="+mn-lt"/>
          </a:endParaRPr>
        </a:p>
      </dgm:t>
    </dgm:pt>
    <dgm:pt modelId="{1FBEFBA1-4192-DF42-B6EB-A3997C4E28B0}" type="parTrans" cxnId="{B37041DA-4BB1-984B-9041-AAD983B43E70}">
      <dgm:prSet/>
      <dgm:spPr/>
      <dgm:t>
        <a:bodyPr/>
        <a:lstStyle/>
        <a:p>
          <a:endParaRPr lang="en-US" sz="3600">
            <a:latin typeface="+mn-lt"/>
          </a:endParaRPr>
        </a:p>
      </dgm:t>
    </dgm:pt>
    <dgm:pt modelId="{2AD1ABFC-E0F5-BC4D-BE1B-386FF830E336}">
      <dgm:prSet phldrT="[Text]" custT="1"/>
      <dgm:spPr/>
      <dgm:t>
        <a:bodyPr/>
        <a:lstStyle/>
        <a:p>
          <a:pPr>
            <a:lnSpc>
              <a:spcPct val="100000"/>
            </a:lnSpc>
            <a:defRPr b="1"/>
          </a:pPr>
          <a:r>
            <a:rPr lang="en-US" sz="2800" dirty="0">
              <a:latin typeface="+mn-lt"/>
            </a:rPr>
            <a:t>Data Lakehouse</a:t>
          </a:r>
        </a:p>
      </dgm:t>
    </dgm:pt>
    <dgm:pt modelId="{753B4962-FB12-1244-A406-B9DB3DBF1F65}" type="sibTrans" cxnId="{9AE2F9BD-BA4F-AB4A-89EC-5A072847CB47}">
      <dgm:prSet/>
      <dgm:spPr/>
      <dgm:t>
        <a:bodyPr/>
        <a:lstStyle/>
        <a:p>
          <a:endParaRPr lang="en-US" sz="3600">
            <a:latin typeface="+mn-lt"/>
          </a:endParaRPr>
        </a:p>
      </dgm:t>
    </dgm:pt>
    <dgm:pt modelId="{0CDCC5C5-6C70-3440-BC3B-B1F9BFCF9347}" type="parTrans" cxnId="{9AE2F9BD-BA4F-AB4A-89EC-5A072847CB47}">
      <dgm:prSet/>
      <dgm:spPr/>
      <dgm:t>
        <a:bodyPr/>
        <a:lstStyle/>
        <a:p>
          <a:endParaRPr lang="en-US" sz="3600">
            <a:latin typeface="+mn-lt"/>
          </a:endParaRPr>
        </a:p>
      </dgm:t>
    </dgm:pt>
    <dgm:pt modelId="{C614FF16-69A4-7345-A585-D3CE9FD2E064}">
      <dgm:prSet phldrT="[Text]" custT="1"/>
      <dgm:spPr/>
      <dgm:t>
        <a:bodyPr/>
        <a:lstStyle/>
        <a:p>
          <a:pPr>
            <a:lnSpc>
              <a:spcPct val="100000"/>
            </a:lnSpc>
          </a:pPr>
          <a:r>
            <a:rPr lang="en-US" sz="2800" b="0" i="0" dirty="0">
              <a:solidFill>
                <a:srgbClr val="1F1F1F"/>
              </a:solidFill>
              <a:effectLst/>
              <a:latin typeface="+mn-lt"/>
            </a:rPr>
            <a:t>Hybrid data storage architecture that combines the flexibility and scalability of a data lake with the performance and governance of a SQL data warehouse.</a:t>
          </a:r>
          <a:endParaRPr lang="en-US" sz="2800" dirty="0">
            <a:latin typeface="+mn-lt"/>
          </a:endParaRPr>
        </a:p>
      </dgm:t>
    </dgm:pt>
    <dgm:pt modelId="{E8E4B79C-9EBC-1A4C-9577-3E1ECA8240C5}" type="sibTrans" cxnId="{DDA11D67-8E0F-3847-9D66-7768417B9B5A}">
      <dgm:prSet/>
      <dgm:spPr/>
      <dgm:t>
        <a:bodyPr/>
        <a:lstStyle/>
        <a:p>
          <a:endParaRPr lang="en-US" sz="3600">
            <a:latin typeface="+mn-lt"/>
          </a:endParaRPr>
        </a:p>
      </dgm:t>
    </dgm:pt>
    <dgm:pt modelId="{964883DC-E71D-CF49-AEE7-10D75BD9F5CD}" type="parTrans" cxnId="{DDA11D67-8E0F-3847-9D66-7768417B9B5A}">
      <dgm:prSet/>
      <dgm:spPr/>
      <dgm:t>
        <a:bodyPr/>
        <a:lstStyle/>
        <a:p>
          <a:endParaRPr lang="en-US" sz="3600">
            <a:latin typeface="+mn-lt"/>
          </a:endParaRPr>
        </a:p>
      </dgm:t>
    </dgm:pt>
    <dgm:pt modelId="{5CE85B51-B740-4940-B54C-E865B8CF3B5B}">
      <dgm:prSet custT="1"/>
      <dgm:spPr/>
      <dgm:t>
        <a:bodyPr/>
        <a:lstStyle/>
        <a:p>
          <a:pPr>
            <a:lnSpc>
              <a:spcPct val="100000"/>
            </a:lnSpc>
          </a:pPr>
          <a:r>
            <a:rPr lang="en-US" sz="2800" dirty="0">
              <a:latin typeface="+mn-lt"/>
              <a:cs typeface="Arial"/>
            </a:rPr>
            <a:t>Usually supports only a subset of the SQL query language compatible with high performance (excluding joins or similar operations</a:t>
          </a:r>
          <a:endParaRPr lang="en-US" sz="2800" dirty="0">
            <a:latin typeface="+mn-lt"/>
          </a:endParaRPr>
        </a:p>
      </dgm:t>
    </dgm:pt>
    <dgm:pt modelId="{EBC9FBAB-B506-EC44-95A5-3D92FBC5AFDB}" type="parTrans" cxnId="{81A9FA76-8464-174A-A3DE-5DB264D8A740}">
      <dgm:prSet/>
      <dgm:spPr/>
      <dgm:t>
        <a:bodyPr/>
        <a:lstStyle/>
        <a:p>
          <a:endParaRPr lang="en-US" sz="2000">
            <a:latin typeface="+mn-lt"/>
          </a:endParaRPr>
        </a:p>
      </dgm:t>
    </dgm:pt>
    <dgm:pt modelId="{27E25DF8-EF37-5949-9B1D-6E8D7AD2E08A}" type="sibTrans" cxnId="{81A9FA76-8464-174A-A3DE-5DB264D8A740}">
      <dgm:prSet/>
      <dgm:spPr/>
      <dgm:t>
        <a:bodyPr/>
        <a:lstStyle/>
        <a:p>
          <a:endParaRPr lang="en-US" sz="2000">
            <a:latin typeface="+mn-lt"/>
          </a:endParaRPr>
        </a:p>
      </dgm:t>
    </dgm:pt>
    <dgm:pt modelId="{DA14DB78-971D-423E-ABBC-4C0BFC9A4508}" type="pres">
      <dgm:prSet presAssocID="{F0D0BB63-F3DB-7A4D-9E9E-D3BCBD2E7EB3}" presName="root" presStyleCnt="0">
        <dgm:presLayoutVars>
          <dgm:dir/>
          <dgm:resizeHandles val="exact"/>
        </dgm:presLayoutVars>
      </dgm:prSet>
      <dgm:spPr/>
    </dgm:pt>
    <dgm:pt modelId="{D1EA3809-354C-42AA-B040-8B295724B5DA}" type="pres">
      <dgm:prSet presAssocID="{A38895C2-01F9-6245-91B5-24143C38A9C7}" presName="compNode" presStyleCnt="0"/>
      <dgm:spPr/>
    </dgm:pt>
    <dgm:pt modelId="{9AD6AE34-E008-4F80-8A65-14EF5C53FC2D}" type="pres">
      <dgm:prSet presAssocID="{A38895C2-01F9-6245-91B5-24143C38A9C7}" presName="iconRect" presStyleLbl="node1" presStyleIdx="0" presStyleCnt="3" custFlipHor="1" custScaleX="9200" custScaleY="4313" custLinFactY="-100000" custLinFactNeighborY="-190106"/>
      <dgm:spPr>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ug under Magnifying Glass"/>
        </a:ext>
      </dgm:extLst>
    </dgm:pt>
    <dgm:pt modelId="{89D15706-1ACF-4311-A552-57407E4CF56A}" type="pres">
      <dgm:prSet presAssocID="{A38895C2-01F9-6245-91B5-24143C38A9C7}" presName="iconSpace" presStyleCnt="0"/>
      <dgm:spPr/>
    </dgm:pt>
    <dgm:pt modelId="{A3F5AACB-4941-4375-9257-3C08269C058D}" type="pres">
      <dgm:prSet presAssocID="{A38895C2-01F9-6245-91B5-24143C38A9C7}" presName="parTx" presStyleLbl="revTx" presStyleIdx="0" presStyleCnt="6">
        <dgm:presLayoutVars>
          <dgm:chMax val="0"/>
          <dgm:chPref val="0"/>
        </dgm:presLayoutVars>
      </dgm:prSet>
      <dgm:spPr/>
    </dgm:pt>
    <dgm:pt modelId="{724F3C0A-F258-4B19-BFF0-3970C1C1C86F}" type="pres">
      <dgm:prSet presAssocID="{A38895C2-01F9-6245-91B5-24143C38A9C7}" presName="txSpace" presStyleCnt="0"/>
      <dgm:spPr/>
    </dgm:pt>
    <dgm:pt modelId="{FE93FDF4-82DA-45FA-9A1E-C612D39D3B6A}" type="pres">
      <dgm:prSet presAssocID="{A38895C2-01F9-6245-91B5-24143C38A9C7}" presName="desTx" presStyleLbl="revTx" presStyleIdx="1" presStyleCnt="6">
        <dgm:presLayoutVars/>
      </dgm:prSet>
      <dgm:spPr/>
    </dgm:pt>
    <dgm:pt modelId="{E498811C-808C-435A-95EB-9D224CF52F01}" type="pres">
      <dgm:prSet presAssocID="{705E8EE7-BF08-CB4D-BD5C-3C2188954C5C}" presName="sibTrans" presStyleCnt="0"/>
      <dgm:spPr/>
    </dgm:pt>
    <dgm:pt modelId="{2DA928AB-63CA-476E-9590-F71A63129A4F}" type="pres">
      <dgm:prSet presAssocID="{115F7D96-A3EF-2846-B835-63F34DBB95AF}" presName="compNode" presStyleCnt="0"/>
      <dgm:spPr/>
    </dgm:pt>
    <dgm:pt modelId="{B659D329-FFCB-4A99-9159-9545CCFD1864}" type="pres">
      <dgm:prSet presAssocID="{115F7D96-A3EF-2846-B835-63F34DBB95AF}" presName="iconRect" presStyleLbl="node1" presStyleIdx="1" presStyleCnt="3"/>
      <dgm:spPr>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Chat"/>
        </a:ext>
      </dgm:extLst>
    </dgm:pt>
    <dgm:pt modelId="{7AC829E4-3597-4D5D-A451-4211F5528A3B}" type="pres">
      <dgm:prSet presAssocID="{115F7D96-A3EF-2846-B835-63F34DBB95AF}" presName="iconSpace" presStyleCnt="0"/>
      <dgm:spPr/>
    </dgm:pt>
    <dgm:pt modelId="{2F6EFE1B-9CAA-475C-BE46-7AB33E0E0233}" type="pres">
      <dgm:prSet presAssocID="{115F7D96-A3EF-2846-B835-63F34DBB95AF}" presName="parTx" presStyleLbl="revTx" presStyleIdx="2" presStyleCnt="6">
        <dgm:presLayoutVars>
          <dgm:chMax val="0"/>
          <dgm:chPref val="0"/>
        </dgm:presLayoutVars>
      </dgm:prSet>
      <dgm:spPr/>
    </dgm:pt>
    <dgm:pt modelId="{CEFA69B0-E3C1-4A80-B17A-E8897609B570}" type="pres">
      <dgm:prSet presAssocID="{115F7D96-A3EF-2846-B835-63F34DBB95AF}" presName="txSpace" presStyleCnt="0"/>
      <dgm:spPr/>
    </dgm:pt>
    <dgm:pt modelId="{7F4A702B-11E4-4211-A9B6-CAF76DE9963E}" type="pres">
      <dgm:prSet presAssocID="{115F7D96-A3EF-2846-B835-63F34DBB95AF}" presName="desTx" presStyleLbl="revTx" presStyleIdx="3" presStyleCnt="6">
        <dgm:presLayoutVars/>
      </dgm:prSet>
      <dgm:spPr/>
    </dgm:pt>
    <dgm:pt modelId="{71A4AE05-E956-421B-8F79-2FA0766F0D49}" type="pres">
      <dgm:prSet presAssocID="{8904A24B-91D6-D046-A910-7C149A2C7BA8}" presName="sibTrans" presStyleCnt="0"/>
      <dgm:spPr/>
    </dgm:pt>
    <dgm:pt modelId="{8AE20949-93A6-4596-B28C-7582693FC50C}" type="pres">
      <dgm:prSet presAssocID="{2AD1ABFC-E0F5-BC4D-BE1B-386FF830E336}" presName="compNode" presStyleCnt="0"/>
      <dgm:spPr/>
    </dgm:pt>
    <dgm:pt modelId="{24A53ECD-764D-4FF8-9153-CE9D4FBA6DB1}" type="pres">
      <dgm:prSet presAssocID="{2AD1ABFC-E0F5-BC4D-BE1B-386FF830E336}" presName="iconRect" presStyleLbl="node1" presStyleIdx="2" presStyleCnt="3"/>
      <dgm:spPr>
        <a:blipFill dpi="0" rotWithShape="1">
          <a:blip xmlns:r="http://schemas.openxmlformats.org/officeDocument/2006/relationships" r:embed="rId5">
            <a:alphaModFix amt="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Camera"/>
        </a:ext>
      </dgm:extLst>
    </dgm:pt>
    <dgm:pt modelId="{AF2092C4-E23D-452B-A583-573F232CB51D}" type="pres">
      <dgm:prSet presAssocID="{2AD1ABFC-E0F5-BC4D-BE1B-386FF830E336}" presName="iconSpace" presStyleCnt="0"/>
      <dgm:spPr/>
    </dgm:pt>
    <dgm:pt modelId="{5D88F1DD-3536-4BA5-BD1D-077D0CA87FCA}" type="pres">
      <dgm:prSet presAssocID="{2AD1ABFC-E0F5-BC4D-BE1B-386FF830E336}" presName="parTx" presStyleLbl="revTx" presStyleIdx="4" presStyleCnt="6">
        <dgm:presLayoutVars>
          <dgm:chMax val="0"/>
          <dgm:chPref val="0"/>
        </dgm:presLayoutVars>
      </dgm:prSet>
      <dgm:spPr/>
    </dgm:pt>
    <dgm:pt modelId="{3AAF35B6-29A1-422E-B3E2-06FE3917C557}" type="pres">
      <dgm:prSet presAssocID="{2AD1ABFC-E0F5-BC4D-BE1B-386FF830E336}" presName="txSpace" presStyleCnt="0"/>
      <dgm:spPr/>
    </dgm:pt>
    <dgm:pt modelId="{18BB71A3-CB54-4F25-B66C-791E75BDECA1}" type="pres">
      <dgm:prSet presAssocID="{2AD1ABFC-E0F5-BC4D-BE1B-386FF830E336}" presName="desTx" presStyleLbl="revTx" presStyleIdx="5" presStyleCnt="6">
        <dgm:presLayoutVars/>
      </dgm:prSet>
      <dgm:spPr/>
    </dgm:pt>
  </dgm:ptLst>
  <dgm:cxnLst>
    <dgm:cxn modelId="{62DFFD0E-98E5-A249-88B6-3BDEDDF5AB56}" srcId="{F0D0BB63-F3DB-7A4D-9E9E-D3BCBD2E7EB3}" destId="{115F7D96-A3EF-2846-B835-63F34DBB95AF}" srcOrd="1" destOrd="0" parTransId="{C4C03E97-7C04-A340-9B66-1F3D898C4382}" sibTransId="{8904A24B-91D6-D046-A910-7C149A2C7BA8}"/>
    <dgm:cxn modelId="{47BA6325-1C45-41E7-84BF-06DA9C642BBB}" type="presOf" srcId="{115F7D96-A3EF-2846-B835-63F34DBB95AF}" destId="{2F6EFE1B-9CAA-475C-BE46-7AB33E0E0233}" srcOrd="0" destOrd="0" presId="urn:microsoft.com/office/officeart/2018/5/layout/CenteredIconLabelDescriptionList"/>
    <dgm:cxn modelId="{A223745C-024B-4BB6-8489-B64E0CE9C5B3}" type="presOf" srcId="{A38895C2-01F9-6245-91B5-24143C38A9C7}" destId="{A3F5AACB-4941-4375-9257-3C08269C058D}" srcOrd="0" destOrd="0" presId="urn:microsoft.com/office/officeart/2018/5/layout/CenteredIconLabelDescriptionList"/>
    <dgm:cxn modelId="{1DE38344-B831-4744-90C2-4EADFF394BD8}" srcId="{A38895C2-01F9-6245-91B5-24143C38A9C7}" destId="{442D5A58-C0BA-F144-900D-CD068CAEACC5}" srcOrd="0" destOrd="0" parTransId="{6D408390-93DB-2146-8370-A33797121294}" sibTransId="{CF020809-46CC-9A4C-A8EB-3476998DDE96}"/>
    <dgm:cxn modelId="{D3B5A944-F001-C443-B5F2-2B9F33291B32}" srcId="{F0D0BB63-F3DB-7A4D-9E9E-D3BCBD2E7EB3}" destId="{A38895C2-01F9-6245-91B5-24143C38A9C7}" srcOrd="0" destOrd="0" parTransId="{4E7FF56D-46AD-054E-9A98-96B3BA155886}" sibTransId="{705E8EE7-BF08-CB4D-BD5C-3C2188954C5C}"/>
    <dgm:cxn modelId="{DDA11D67-8E0F-3847-9D66-7768417B9B5A}" srcId="{2AD1ABFC-E0F5-BC4D-BE1B-386FF830E336}" destId="{C614FF16-69A4-7345-A585-D3CE9FD2E064}" srcOrd="0" destOrd="0" parTransId="{964883DC-E71D-CF49-AEE7-10D75BD9F5CD}" sibTransId="{E8E4B79C-9EBC-1A4C-9577-3E1ECA8240C5}"/>
    <dgm:cxn modelId="{81A9FA76-8464-174A-A3DE-5DB264D8A740}" srcId="{A38895C2-01F9-6245-91B5-24143C38A9C7}" destId="{5CE85B51-B740-4940-B54C-E865B8CF3B5B}" srcOrd="1" destOrd="0" parTransId="{EBC9FBAB-B506-EC44-95A5-3D92FBC5AFDB}" sibTransId="{27E25DF8-EF37-5949-9B1D-6E8D7AD2E08A}"/>
    <dgm:cxn modelId="{63D5C358-F98A-492D-8528-12CA4FC1EACC}" type="presOf" srcId="{F0D0BB63-F3DB-7A4D-9E9E-D3BCBD2E7EB3}" destId="{DA14DB78-971D-423E-ABBC-4C0BFC9A4508}" srcOrd="0" destOrd="0" presId="urn:microsoft.com/office/officeart/2018/5/layout/CenteredIconLabelDescriptionList"/>
    <dgm:cxn modelId="{84850B7F-5EA7-7C40-A840-F6BF86FC3846}" type="presOf" srcId="{5CE85B51-B740-4940-B54C-E865B8CF3B5B}" destId="{FE93FDF4-82DA-45FA-9A1E-C612D39D3B6A}" srcOrd="0" destOrd="1" presId="urn:microsoft.com/office/officeart/2018/5/layout/CenteredIconLabelDescriptionList"/>
    <dgm:cxn modelId="{4CE7E580-E0AF-4DD4-B883-A88D25A34486}" type="presOf" srcId="{2AD1ABFC-E0F5-BC4D-BE1B-386FF830E336}" destId="{5D88F1DD-3536-4BA5-BD1D-077D0CA87FCA}" srcOrd="0" destOrd="0" presId="urn:microsoft.com/office/officeart/2018/5/layout/CenteredIconLabelDescriptionList"/>
    <dgm:cxn modelId="{2F721CAB-57AF-4EDA-81DE-B3FA7830F5CA}" type="presOf" srcId="{68AFE436-68E0-F348-BCF1-93CA71CE5BFF}" destId="{7F4A702B-11E4-4211-A9B6-CAF76DE9963E}" srcOrd="0" destOrd="0" presId="urn:microsoft.com/office/officeart/2018/5/layout/CenteredIconLabelDescriptionList"/>
    <dgm:cxn modelId="{678886B1-9772-4B78-B9B0-EF28932942F1}" type="presOf" srcId="{442D5A58-C0BA-F144-900D-CD068CAEACC5}" destId="{FE93FDF4-82DA-45FA-9A1E-C612D39D3B6A}" srcOrd="0" destOrd="0" presId="urn:microsoft.com/office/officeart/2018/5/layout/CenteredIconLabelDescriptionList"/>
    <dgm:cxn modelId="{9AE2F9BD-BA4F-AB4A-89EC-5A072847CB47}" srcId="{F0D0BB63-F3DB-7A4D-9E9E-D3BCBD2E7EB3}" destId="{2AD1ABFC-E0F5-BC4D-BE1B-386FF830E336}" srcOrd="2" destOrd="0" parTransId="{0CDCC5C5-6C70-3440-BC3B-B1F9BFCF9347}" sibTransId="{753B4962-FB12-1244-A406-B9DB3DBF1F65}"/>
    <dgm:cxn modelId="{B37041DA-4BB1-984B-9041-AAD983B43E70}" srcId="{115F7D96-A3EF-2846-B835-63F34DBB95AF}" destId="{68AFE436-68E0-F348-BCF1-93CA71CE5BFF}" srcOrd="0" destOrd="0" parTransId="{1FBEFBA1-4192-DF42-B6EB-A3997C4E28B0}" sibTransId="{A3608276-B38D-FE45-BCEB-29DE35B13234}"/>
    <dgm:cxn modelId="{FD5FEDDF-4D0C-41BD-B3D5-13E29876E269}" type="presOf" srcId="{C614FF16-69A4-7345-A585-D3CE9FD2E064}" destId="{18BB71A3-CB54-4F25-B66C-791E75BDECA1}" srcOrd="0" destOrd="0" presId="urn:microsoft.com/office/officeart/2018/5/layout/CenteredIconLabelDescriptionList"/>
    <dgm:cxn modelId="{B5542B11-3024-4A82-8846-89E2189AA203}" type="presParOf" srcId="{DA14DB78-971D-423E-ABBC-4C0BFC9A4508}" destId="{D1EA3809-354C-42AA-B040-8B295724B5DA}" srcOrd="0" destOrd="0" presId="urn:microsoft.com/office/officeart/2018/5/layout/CenteredIconLabelDescriptionList"/>
    <dgm:cxn modelId="{D8751ED9-B8E9-40E0-9EAD-F9082BCEB719}" type="presParOf" srcId="{D1EA3809-354C-42AA-B040-8B295724B5DA}" destId="{9AD6AE34-E008-4F80-8A65-14EF5C53FC2D}" srcOrd="0" destOrd="0" presId="urn:microsoft.com/office/officeart/2018/5/layout/CenteredIconLabelDescriptionList"/>
    <dgm:cxn modelId="{396F3037-A9F6-4C68-8B8C-8D7A3C0893BD}" type="presParOf" srcId="{D1EA3809-354C-42AA-B040-8B295724B5DA}" destId="{89D15706-1ACF-4311-A552-57407E4CF56A}" srcOrd="1" destOrd="0" presId="urn:microsoft.com/office/officeart/2018/5/layout/CenteredIconLabelDescriptionList"/>
    <dgm:cxn modelId="{79DE9D17-58A0-43AB-82C8-E16ECD55F502}" type="presParOf" srcId="{D1EA3809-354C-42AA-B040-8B295724B5DA}" destId="{A3F5AACB-4941-4375-9257-3C08269C058D}" srcOrd="2" destOrd="0" presId="urn:microsoft.com/office/officeart/2018/5/layout/CenteredIconLabelDescriptionList"/>
    <dgm:cxn modelId="{9B50341E-FA5F-4E9C-B18E-D96D54ABF79A}" type="presParOf" srcId="{D1EA3809-354C-42AA-B040-8B295724B5DA}" destId="{724F3C0A-F258-4B19-BFF0-3970C1C1C86F}" srcOrd="3" destOrd="0" presId="urn:microsoft.com/office/officeart/2018/5/layout/CenteredIconLabelDescriptionList"/>
    <dgm:cxn modelId="{57AB5D18-33B5-480C-B20E-52B586E1F249}" type="presParOf" srcId="{D1EA3809-354C-42AA-B040-8B295724B5DA}" destId="{FE93FDF4-82DA-45FA-9A1E-C612D39D3B6A}" srcOrd="4" destOrd="0" presId="urn:microsoft.com/office/officeart/2018/5/layout/CenteredIconLabelDescriptionList"/>
    <dgm:cxn modelId="{C1216ACB-3135-4684-A1C5-A4D57FAD19DA}" type="presParOf" srcId="{DA14DB78-971D-423E-ABBC-4C0BFC9A4508}" destId="{E498811C-808C-435A-95EB-9D224CF52F01}" srcOrd="1" destOrd="0" presId="urn:microsoft.com/office/officeart/2018/5/layout/CenteredIconLabelDescriptionList"/>
    <dgm:cxn modelId="{14E0CDBC-4332-4B5A-9E75-B8331E647B7F}" type="presParOf" srcId="{DA14DB78-971D-423E-ABBC-4C0BFC9A4508}" destId="{2DA928AB-63CA-476E-9590-F71A63129A4F}" srcOrd="2" destOrd="0" presId="urn:microsoft.com/office/officeart/2018/5/layout/CenteredIconLabelDescriptionList"/>
    <dgm:cxn modelId="{A9126A6D-8E03-432C-8DC3-C89F70A133EE}" type="presParOf" srcId="{2DA928AB-63CA-476E-9590-F71A63129A4F}" destId="{B659D329-FFCB-4A99-9159-9545CCFD1864}" srcOrd="0" destOrd="0" presId="urn:microsoft.com/office/officeart/2018/5/layout/CenteredIconLabelDescriptionList"/>
    <dgm:cxn modelId="{546FA4D3-19D6-4AC8-927E-773C08C3C665}" type="presParOf" srcId="{2DA928AB-63CA-476E-9590-F71A63129A4F}" destId="{7AC829E4-3597-4D5D-A451-4211F5528A3B}" srcOrd="1" destOrd="0" presId="urn:microsoft.com/office/officeart/2018/5/layout/CenteredIconLabelDescriptionList"/>
    <dgm:cxn modelId="{6512493F-6C73-4D55-97E3-0F5F55EF79FC}" type="presParOf" srcId="{2DA928AB-63CA-476E-9590-F71A63129A4F}" destId="{2F6EFE1B-9CAA-475C-BE46-7AB33E0E0233}" srcOrd="2" destOrd="0" presId="urn:microsoft.com/office/officeart/2018/5/layout/CenteredIconLabelDescriptionList"/>
    <dgm:cxn modelId="{77DD6E0B-E0C6-4A67-88C5-299CDBF61997}" type="presParOf" srcId="{2DA928AB-63CA-476E-9590-F71A63129A4F}" destId="{CEFA69B0-E3C1-4A80-B17A-E8897609B570}" srcOrd="3" destOrd="0" presId="urn:microsoft.com/office/officeart/2018/5/layout/CenteredIconLabelDescriptionList"/>
    <dgm:cxn modelId="{3962A81A-D98E-4F6B-90D0-485BD69937AD}" type="presParOf" srcId="{2DA928AB-63CA-476E-9590-F71A63129A4F}" destId="{7F4A702B-11E4-4211-A9B6-CAF76DE9963E}" srcOrd="4" destOrd="0" presId="urn:microsoft.com/office/officeart/2018/5/layout/CenteredIconLabelDescriptionList"/>
    <dgm:cxn modelId="{C32BC598-59D2-4E85-AE3D-95282A472606}" type="presParOf" srcId="{DA14DB78-971D-423E-ABBC-4C0BFC9A4508}" destId="{71A4AE05-E956-421B-8F79-2FA0766F0D49}" srcOrd="3" destOrd="0" presId="urn:microsoft.com/office/officeart/2018/5/layout/CenteredIconLabelDescriptionList"/>
    <dgm:cxn modelId="{1CD6B924-43E0-4AB0-9BA7-A8D232200097}" type="presParOf" srcId="{DA14DB78-971D-423E-ABBC-4C0BFC9A4508}" destId="{8AE20949-93A6-4596-B28C-7582693FC50C}" srcOrd="4" destOrd="0" presId="urn:microsoft.com/office/officeart/2018/5/layout/CenteredIconLabelDescriptionList"/>
    <dgm:cxn modelId="{AE590B55-22FD-4BCF-B759-7693BF63E726}" type="presParOf" srcId="{8AE20949-93A6-4596-B28C-7582693FC50C}" destId="{24A53ECD-764D-4FF8-9153-CE9D4FBA6DB1}" srcOrd="0" destOrd="0" presId="urn:microsoft.com/office/officeart/2018/5/layout/CenteredIconLabelDescriptionList"/>
    <dgm:cxn modelId="{6E0CFC99-570C-4326-84D4-7E38D5D91ECA}" type="presParOf" srcId="{8AE20949-93A6-4596-B28C-7582693FC50C}" destId="{AF2092C4-E23D-452B-A583-573F232CB51D}" srcOrd="1" destOrd="0" presId="urn:microsoft.com/office/officeart/2018/5/layout/CenteredIconLabelDescriptionList"/>
    <dgm:cxn modelId="{7001E932-2647-4C58-ADB7-90C3A9268FA3}" type="presParOf" srcId="{8AE20949-93A6-4596-B28C-7582693FC50C}" destId="{5D88F1DD-3536-4BA5-BD1D-077D0CA87FCA}" srcOrd="2" destOrd="0" presId="urn:microsoft.com/office/officeart/2018/5/layout/CenteredIconLabelDescriptionList"/>
    <dgm:cxn modelId="{597C8964-B7DB-4BE7-87EE-B1CBA8F64F8D}" type="presParOf" srcId="{8AE20949-93A6-4596-B28C-7582693FC50C}" destId="{3AAF35B6-29A1-422E-B3E2-06FE3917C557}" srcOrd="3" destOrd="0" presId="urn:microsoft.com/office/officeart/2018/5/layout/CenteredIconLabelDescriptionList"/>
    <dgm:cxn modelId="{80F1E940-E370-45F3-8485-B36045180487}" type="presParOf" srcId="{8AE20949-93A6-4596-B28C-7582693FC50C}" destId="{18BB71A3-CB54-4F25-B66C-791E75BDECA1}" srcOrd="4" destOrd="0" presId="urn:microsoft.com/office/officeart/2018/5/layout/CenteredIconLabelDescriptionList"/>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37F941B-6187-074C-8E14-B97FB6212233}" type="doc">
      <dgm:prSet loTypeId="urn:microsoft.com/office/officeart/2005/8/layout/hierarchy5" loCatId="" qsTypeId="urn:microsoft.com/office/officeart/2005/8/quickstyle/simple1" qsCatId="simple" csTypeId="urn:microsoft.com/office/officeart/2005/8/colors/accent1_2" csCatId="accent1" phldr="1"/>
      <dgm:spPr/>
      <dgm:t>
        <a:bodyPr/>
        <a:lstStyle/>
        <a:p>
          <a:endParaRPr lang="en-US"/>
        </a:p>
      </dgm:t>
    </dgm:pt>
    <dgm:pt modelId="{854F00D9-E8FB-C845-A85C-C4B8334E40DE}">
      <dgm:prSet phldrT="[Text]"/>
      <dgm:spPr/>
      <dgm:t>
        <a:bodyPr/>
        <a:lstStyle/>
        <a:p>
          <a:r>
            <a:rPr lang="en-US" dirty="0">
              <a:solidFill>
                <a:schemeClr val="bg2"/>
              </a:solidFill>
            </a:rPr>
            <a:t>/</a:t>
          </a:r>
        </a:p>
      </dgm:t>
    </dgm:pt>
    <dgm:pt modelId="{2470D934-BCED-DB45-BC6B-AB7BEC794468}" type="parTrans" cxnId="{4EC54C12-5926-ED49-B1B5-6B09A1E21FFA}">
      <dgm:prSet/>
      <dgm:spPr/>
      <dgm:t>
        <a:bodyPr/>
        <a:lstStyle/>
        <a:p>
          <a:endParaRPr lang="en-US">
            <a:solidFill>
              <a:schemeClr val="bg2"/>
            </a:solidFill>
          </a:endParaRPr>
        </a:p>
      </dgm:t>
    </dgm:pt>
    <dgm:pt modelId="{7EF81485-6556-3D4A-8D94-23D7EE00D227}" type="sibTrans" cxnId="{4EC54C12-5926-ED49-B1B5-6B09A1E21FFA}">
      <dgm:prSet/>
      <dgm:spPr/>
      <dgm:t>
        <a:bodyPr/>
        <a:lstStyle/>
        <a:p>
          <a:endParaRPr lang="en-US">
            <a:solidFill>
              <a:schemeClr val="bg2"/>
            </a:solidFill>
          </a:endParaRPr>
        </a:p>
      </dgm:t>
    </dgm:pt>
    <dgm:pt modelId="{B19F4A01-6B3B-A142-B2D0-A3C1966C6682}">
      <dgm:prSet phldrT="[Text]"/>
      <dgm:spPr/>
      <dgm:t>
        <a:bodyPr/>
        <a:lstStyle/>
        <a:p>
          <a:r>
            <a:rPr lang="en-US" dirty="0">
              <a:solidFill>
                <a:schemeClr val="bg2"/>
              </a:solidFill>
            </a:rPr>
            <a:t>apps</a:t>
          </a:r>
        </a:p>
      </dgm:t>
    </dgm:pt>
    <dgm:pt modelId="{C518B053-E595-5444-A960-7442782A9E45}" type="parTrans" cxnId="{0D68F239-C2B6-D344-85CF-DA1CE8F0027E}">
      <dgm:prSet/>
      <dgm:spPr/>
      <dgm:t>
        <a:bodyPr/>
        <a:lstStyle/>
        <a:p>
          <a:endParaRPr lang="en-US" dirty="0">
            <a:solidFill>
              <a:schemeClr val="bg2"/>
            </a:solidFill>
          </a:endParaRPr>
        </a:p>
      </dgm:t>
    </dgm:pt>
    <dgm:pt modelId="{2D86A080-08B1-9D45-96D8-877B896541B2}" type="sibTrans" cxnId="{0D68F239-C2B6-D344-85CF-DA1CE8F0027E}">
      <dgm:prSet/>
      <dgm:spPr/>
      <dgm:t>
        <a:bodyPr/>
        <a:lstStyle/>
        <a:p>
          <a:endParaRPr lang="en-US">
            <a:solidFill>
              <a:schemeClr val="bg2"/>
            </a:solidFill>
          </a:endParaRPr>
        </a:p>
      </dgm:t>
    </dgm:pt>
    <dgm:pt modelId="{81C05D77-9D68-1B44-896C-4D040B2ACCB4}">
      <dgm:prSet phldrT="[Text]"/>
      <dgm:spPr/>
      <dgm:t>
        <a:bodyPr/>
        <a:lstStyle/>
        <a:p>
          <a:r>
            <a:rPr lang="en-US" dirty="0">
              <a:solidFill>
                <a:schemeClr val="bg2"/>
              </a:solidFill>
            </a:rPr>
            <a:t>temp</a:t>
          </a:r>
        </a:p>
      </dgm:t>
    </dgm:pt>
    <dgm:pt modelId="{8F60958C-16DB-7F45-B4F1-A90F82CCA89C}" type="parTrans" cxnId="{D5F7ED00-148B-D043-8785-8A3BE7EF2810}">
      <dgm:prSet/>
      <dgm:spPr/>
      <dgm:t>
        <a:bodyPr/>
        <a:lstStyle/>
        <a:p>
          <a:endParaRPr lang="en-US" dirty="0">
            <a:solidFill>
              <a:schemeClr val="bg2"/>
            </a:solidFill>
          </a:endParaRPr>
        </a:p>
      </dgm:t>
    </dgm:pt>
    <dgm:pt modelId="{C1AB21E7-BECA-0F4B-ADB9-5ECA9A82141A}" type="sibTrans" cxnId="{D5F7ED00-148B-D043-8785-8A3BE7EF2810}">
      <dgm:prSet/>
      <dgm:spPr/>
      <dgm:t>
        <a:bodyPr/>
        <a:lstStyle/>
        <a:p>
          <a:endParaRPr lang="en-US">
            <a:solidFill>
              <a:schemeClr val="bg2"/>
            </a:solidFill>
          </a:endParaRPr>
        </a:p>
      </dgm:t>
    </dgm:pt>
    <dgm:pt modelId="{29BAE597-6D10-6343-A5C2-5BE612E66F97}">
      <dgm:prSet phldrT="[Text]"/>
      <dgm:spPr/>
      <dgm:t>
        <a:bodyPr/>
        <a:lstStyle/>
        <a:p>
          <a:r>
            <a:rPr lang="en-US" dirty="0">
              <a:solidFill>
                <a:schemeClr val="bg2"/>
              </a:solidFill>
            </a:rPr>
            <a:t>user</a:t>
          </a:r>
        </a:p>
      </dgm:t>
    </dgm:pt>
    <dgm:pt modelId="{30F27768-BC00-E243-89C7-CEF3AE12D58D}" type="parTrans" cxnId="{0CC78553-A3FE-8248-9F71-3AC5E70DDD81}">
      <dgm:prSet/>
      <dgm:spPr/>
      <dgm:t>
        <a:bodyPr/>
        <a:lstStyle/>
        <a:p>
          <a:endParaRPr lang="en-US" dirty="0">
            <a:solidFill>
              <a:schemeClr val="bg2"/>
            </a:solidFill>
          </a:endParaRPr>
        </a:p>
      </dgm:t>
    </dgm:pt>
    <dgm:pt modelId="{C35D82B5-ABD6-8F4B-958D-3DF6C5FFCACF}" type="sibTrans" cxnId="{0CC78553-A3FE-8248-9F71-3AC5E70DDD81}">
      <dgm:prSet/>
      <dgm:spPr/>
      <dgm:t>
        <a:bodyPr/>
        <a:lstStyle/>
        <a:p>
          <a:endParaRPr lang="en-US">
            <a:solidFill>
              <a:schemeClr val="bg2"/>
            </a:solidFill>
          </a:endParaRPr>
        </a:p>
      </dgm:t>
    </dgm:pt>
    <dgm:pt modelId="{F034CF5D-77B8-C946-BF64-DACFE9C277FA}">
      <dgm:prSet phldrT="[Text]"/>
      <dgm:spPr/>
      <dgm:t>
        <a:bodyPr/>
        <a:lstStyle/>
        <a:p>
          <a:r>
            <a:rPr lang="en-US" dirty="0">
              <a:solidFill>
                <a:schemeClr val="bg2"/>
              </a:solidFill>
            </a:rPr>
            <a:t>var</a:t>
          </a:r>
        </a:p>
      </dgm:t>
    </dgm:pt>
    <dgm:pt modelId="{954E11A6-EFD1-F744-9E4F-5E7000E74F88}" type="parTrans" cxnId="{5EB23479-CDB7-374C-B35A-0CE4FD797805}">
      <dgm:prSet/>
      <dgm:spPr/>
      <dgm:t>
        <a:bodyPr/>
        <a:lstStyle/>
        <a:p>
          <a:endParaRPr lang="en-US" dirty="0"/>
        </a:p>
      </dgm:t>
    </dgm:pt>
    <dgm:pt modelId="{F5E3637B-838E-4747-92E4-2E86E6BB58B9}" type="sibTrans" cxnId="{5EB23479-CDB7-374C-B35A-0CE4FD797805}">
      <dgm:prSet/>
      <dgm:spPr/>
      <dgm:t>
        <a:bodyPr/>
        <a:lstStyle/>
        <a:p>
          <a:endParaRPr lang="en-US"/>
        </a:p>
      </dgm:t>
    </dgm:pt>
    <dgm:pt modelId="{6A4E6D3A-9C78-E947-BCF4-14D8042E9478}">
      <dgm:prSet phldrT="[Text]"/>
      <dgm:spPr/>
      <dgm:t>
        <a:bodyPr/>
        <a:lstStyle/>
        <a:p>
          <a:r>
            <a:rPr lang="en-US" dirty="0">
              <a:solidFill>
                <a:schemeClr val="bg2"/>
              </a:solidFill>
            </a:rPr>
            <a:t>hadoop</a:t>
          </a:r>
        </a:p>
      </dgm:t>
    </dgm:pt>
    <dgm:pt modelId="{5CCE36F2-C407-6948-9E57-B732504EC033}" type="parTrans" cxnId="{F52F1E2B-E2BB-7E4D-81F5-D2EAF94515D1}">
      <dgm:prSet/>
      <dgm:spPr/>
      <dgm:t>
        <a:bodyPr/>
        <a:lstStyle/>
        <a:p>
          <a:endParaRPr lang="en-US" dirty="0"/>
        </a:p>
      </dgm:t>
    </dgm:pt>
    <dgm:pt modelId="{F336A949-BAE5-6A48-B140-007D85B5E2EF}" type="sibTrans" cxnId="{F52F1E2B-E2BB-7E4D-81F5-D2EAF94515D1}">
      <dgm:prSet/>
      <dgm:spPr/>
      <dgm:t>
        <a:bodyPr/>
        <a:lstStyle/>
        <a:p>
          <a:endParaRPr lang="en-US"/>
        </a:p>
      </dgm:t>
    </dgm:pt>
    <dgm:pt modelId="{0B512AF8-EC9C-D44C-89D3-565E4668E7AE}">
      <dgm:prSet phldrT="[Text]"/>
      <dgm:spPr/>
      <dgm:t>
        <a:bodyPr/>
        <a:lstStyle/>
        <a:p>
          <a:r>
            <a:rPr lang="en-US" dirty="0">
              <a:solidFill>
                <a:schemeClr val="bg2"/>
              </a:solidFill>
            </a:rPr>
            <a:t>history</a:t>
          </a:r>
        </a:p>
      </dgm:t>
    </dgm:pt>
    <dgm:pt modelId="{F18E9075-1A39-4A44-8D65-F7EC69ACA619}" type="parTrans" cxnId="{924E9D66-19F2-8A4A-AC56-4CFD0E40AA59}">
      <dgm:prSet/>
      <dgm:spPr/>
      <dgm:t>
        <a:bodyPr/>
        <a:lstStyle/>
        <a:p>
          <a:endParaRPr lang="en-US" dirty="0"/>
        </a:p>
      </dgm:t>
    </dgm:pt>
    <dgm:pt modelId="{FFB24820-C6C8-BB44-8E07-F21787147035}" type="sibTrans" cxnId="{924E9D66-19F2-8A4A-AC56-4CFD0E40AA59}">
      <dgm:prSet/>
      <dgm:spPr/>
      <dgm:t>
        <a:bodyPr/>
        <a:lstStyle/>
        <a:p>
          <a:endParaRPr lang="en-US"/>
        </a:p>
      </dgm:t>
    </dgm:pt>
    <dgm:pt modelId="{214A89A2-73B8-5449-85C2-590E090F5702}">
      <dgm:prSet phldrT="[Text]"/>
      <dgm:spPr/>
      <dgm:t>
        <a:bodyPr/>
        <a:lstStyle/>
        <a:p>
          <a:r>
            <a:rPr lang="en-US" dirty="0">
              <a:solidFill>
                <a:schemeClr val="bg2"/>
              </a:solidFill>
            </a:rPr>
            <a:t>hive</a:t>
          </a:r>
        </a:p>
      </dgm:t>
    </dgm:pt>
    <dgm:pt modelId="{4B8FAAA1-EDDD-5D4B-AD8F-39B5C9032F7D}" type="parTrans" cxnId="{86E1256F-3D35-FE44-88D6-6CDFBA19EE50}">
      <dgm:prSet/>
      <dgm:spPr/>
      <dgm:t>
        <a:bodyPr/>
        <a:lstStyle/>
        <a:p>
          <a:endParaRPr lang="en-US" dirty="0"/>
        </a:p>
      </dgm:t>
    </dgm:pt>
    <dgm:pt modelId="{1596D14D-1BF1-BE44-9FC7-745AB9EE89A7}" type="sibTrans" cxnId="{86E1256F-3D35-FE44-88D6-6CDFBA19EE50}">
      <dgm:prSet/>
      <dgm:spPr/>
      <dgm:t>
        <a:bodyPr/>
        <a:lstStyle/>
        <a:p>
          <a:endParaRPr lang="en-US"/>
        </a:p>
      </dgm:t>
    </dgm:pt>
    <dgm:pt modelId="{1F511147-EC5C-5646-8460-0D28884386D4}">
      <dgm:prSet phldrT="[Text]"/>
      <dgm:spPr/>
      <dgm:t>
        <a:bodyPr/>
        <a:lstStyle/>
        <a:p>
          <a:r>
            <a:rPr lang="en-US" dirty="0">
              <a:solidFill>
                <a:schemeClr val="bg2"/>
              </a:solidFill>
            </a:rPr>
            <a:t>root</a:t>
          </a:r>
        </a:p>
      </dgm:t>
    </dgm:pt>
    <dgm:pt modelId="{EB289ED2-CA30-9340-98C5-B61EA51877C6}" type="parTrans" cxnId="{AC6B1F52-BDF3-704F-A2AA-8F0322D3B785}">
      <dgm:prSet/>
      <dgm:spPr/>
      <dgm:t>
        <a:bodyPr/>
        <a:lstStyle/>
        <a:p>
          <a:endParaRPr lang="en-US" dirty="0"/>
        </a:p>
      </dgm:t>
    </dgm:pt>
    <dgm:pt modelId="{423E6400-802B-6246-80B6-31D2CCAB7FF0}" type="sibTrans" cxnId="{AC6B1F52-BDF3-704F-A2AA-8F0322D3B785}">
      <dgm:prSet/>
      <dgm:spPr/>
      <dgm:t>
        <a:bodyPr/>
        <a:lstStyle/>
        <a:p>
          <a:endParaRPr lang="en-US"/>
        </a:p>
      </dgm:t>
    </dgm:pt>
    <dgm:pt modelId="{B65EE5CA-AEDB-724F-A1D0-92FBBBA6A6A1}">
      <dgm:prSet phldrT="[Text]"/>
      <dgm:spPr/>
      <dgm:t>
        <a:bodyPr/>
        <a:lstStyle/>
        <a:p>
          <a:r>
            <a:rPr lang="en-US" dirty="0">
              <a:solidFill>
                <a:schemeClr val="bg2"/>
              </a:solidFill>
            </a:rPr>
            <a:t>spark</a:t>
          </a:r>
        </a:p>
      </dgm:t>
    </dgm:pt>
    <dgm:pt modelId="{C4ECAE0B-2F54-0B4B-8A34-B7F6B27DEF02}" type="parTrans" cxnId="{01CE25AA-02E5-B048-86D0-D709D84B2009}">
      <dgm:prSet/>
      <dgm:spPr/>
      <dgm:t>
        <a:bodyPr/>
        <a:lstStyle/>
        <a:p>
          <a:endParaRPr lang="en-US" dirty="0"/>
        </a:p>
      </dgm:t>
    </dgm:pt>
    <dgm:pt modelId="{DF75CC19-8B9B-7243-B8A6-0B2D4295BCD7}" type="sibTrans" cxnId="{01CE25AA-02E5-B048-86D0-D709D84B2009}">
      <dgm:prSet/>
      <dgm:spPr/>
      <dgm:t>
        <a:bodyPr/>
        <a:lstStyle/>
        <a:p>
          <a:endParaRPr lang="en-US"/>
        </a:p>
      </dgm:t>
    </dgm:pt>
    <dgm:pt modelId="{90DCC298-4D70-8C43-8507-3F053412D674}">
      <dgm:prSet phldrT="[Text]"/>
      <dgm:spPr/>
      <dgm:t>
        <a:bodyPr/>
        <a:lstStyle/>
        <a:p>
          <a:r>
            <a:rPr lang="en-US" dirty="0">
              <a:solidFill>
                <a:schemeClr val="bg2"/>
              </a:solidFill>
            </a:rPr>
            <a:t>warehouse</a:t>
          </a:r>
        </a:p>
      </dgm:t>
    </dgm:pt>
    <dgm:pt modelId="{1A9B0F09-4BFD-834C-9CD5-61273078EFAB}" type="parTrans" cxnId="{B048B45B-D60F-8943-A226-361773D25351}">
      <dgm:prSet/>
      <dgm:spPr/>
      <dgm:t>
        <a:bodyPr/>
        <a:lstStyle/>
        <a:p>
          <a:endParaRPr lang="en-US" dirty="0"/>
        </a:p>
      </dgm:t>
    </dgm:pt>
    <dgm:pt modelId="{E7512538-D4A0-E940-B8B7-40FCD1C628A6}" type="sibTrans" cxnId="{B048B45B-D60F-8943-A226-361773D25351}">
      <dgm:prSet/>
      <dgm:spPr/>
      <dgm:t>
        <a:bodyPr/>
        <a:lstStyle/>
        <a:p>
          <a:endParaRPr lang="en-US"/>
        </a:p>
      </dgm:t>
    </dgm:pt>
    <dgm:pt modelId="{0D395FB1-6B3E-EA41-8102-FD33F887E18D}" type="pres">
      <dgm:prSet presAssocID="{537F941B-6187-074C-8E14-B97FB6212233}" presName="mainComposite" presStyleCnt="0">
        <dgm:presLayoutVars>
          <dgm:chPref val="1"/>
          <dgm:dir/>
          <dgm:animOne val="branch"/>
          <dgm:animLvl val="lvl"/>
          <dgm:resizeHandles val="exact"/>
        </dgm:presLayoutVars>
      </dgm:prSet>
      <dgm:spPr/>
    </dgm:pt>
    <dgm:pt modelId="{A2D37EBB-FAC1-2B49-84F8-B63D37D2C34E}" type="pres">
      <dgm:prSet presAssocID="{537F941B-6187-074C-8E14-B97FB6212233}" presName="hierFlow" presStyleCnt="0"/>
      <dgm:spPr/>
    </dgm:pt>
    <dgm:pt modelId="{8D23161D-F6DF-F143-B639-B0E4C3E73C51}" type="pres">
      <dgm:prSet presAssocID="{537F941B-6187-074C-8E14-B97FB6212233}" presName="hierChild1" presStyleCnt="0">
        <dgm:presLayoutVars>
          <dgm:chPref val="1"/>
          <dgm:animOne val="branch"/>
          <dgm:animLvl val="lvl"/>
        </dgm:presLayoutVars>
      </dgm:prSet>
      <dgm:spPr/>
    </dgm:pt>
    <dgm:pt modelId="{11453A06-F6BB-CF4C-823B-B3A85C643E54}" type="pres">
      <dgm:prSet presAssocID="{854F00D9-E8FB-C845-A85C-C4B8334E40DE}" presName="Name17" presStyleCnt="0"/>
      <dgm:spPr/>
    </dgm:pt>
    <dgm:pt modelId="{5AF2D83A-9B9E-A144-B69F-720D4D8639FF}" type="pres">
      <dgm:prSet presAssocID="{854F00D9-E8FB-C845-A85C-C4B8334E40DE}" presName="level1Shape" presStyleLbl="node0" presStyleIdx="0" presStyleCnt="1">
        <dgm:presLayoutVars>
          <dgm:chPref val="3"/>
        </dgm:presLayoutVars>
      </dgm:prSet>
      <dgm:spPr/>
    </dgm:pt>
    <dgm:pt modelId="{FEC5ECD8-BEBC-B44E-A9EC-81ADCCFBE153}" type="pres">
      <dgm:prSet presAssocID="{854F00D9-E8FB-C845-A85C-C4B8334E40DE}" presName="hierChild2" presStyleCnt="0"/>
      <dgm:spPr/>
    </dgm:pt>
    <dgm:pt modelId="{63C1154C-7B22-444F-A9AD-FD0D4A97DA6C}" type="pres">
      <dgm:prSet presAssocID="{C518B053-E595-5444-A960-7442782A9E45}" presName="Name25" presStyleLbl="parChTrans1D2" presStyleIdx="0" presStyleCnt="4"/>
      <dgm:spPr/>
    </dgm:pt>
    <dgm:pt modelId="{84025138-6BC2-6B48-BAFE-BF7454F9631F}" type="pres">
      <dgm:prSet presAssocID="{C518B053-E595-5444-A960-7442782A9E45}" presName="connTx" presStyleLbl="parChTrans1D2" presStyleIdx="0" presStyleCnt="4"/>
      <dgm:spPr/>
    </dgm:pt>
    <dgm:pt modelId="{FC8F1896-693B-7D49-A067-785AE28A001F}" type="pres">
      <dgm:prSet presAssocID="{B19F4A01-6B3B-A142-B2D0-A3C1966C6682}" presName="Name30" presStyleCnt="0"/>
      <dgm:spPr/>
    </dgm:pt>
    <dgm:pt modelId="{7198F873-F655-B34D-A215-38CA229FCD93}" type="pres">
      <dgm:prSet presAssocID="{B19F4A01-6B3B-A142-B2D0-A3C1966C6682}" presName="level2Shape" presStyleLbl="node2" presStyleIdx="0" presStyleCnt="4"/>
      <dgm:spPr/>
    </dgm:pt>
    <dgm:pt modelId="{374A20C2-755B-8E4C-AFB9-0FA02DE00435}" type="pres">
      <dgm:prSet presAssocID="{B19F4A01-6B3B-A142-B2D0-A3C1966C6682}" presName="hierChild3" presStyleCnt="0"/>
      <dgm:spPr/>
    </dgm:pt>
    <dgm:pt modelId="{6753E782-ADC4-D141-8252-48217A9763DE}" type="pres">
      <dgm:prSet presAssocID="{8F60958C-16DB-7F45-B4F1-A90F82CCA89C}" presName="Name25" presStyleLbl="parChTrans1D2" presStyleIdx="1" presStyleCnt="4"/>
      <dgm:spPr/>
    </dgm:pt>
    <dgm:pt modelId="{2C78381E-EA84-2B46-A115-3223F0A0D948}" type="pres">
      <dgm:prSet presAssocID="{8F60958C-16DB-7F45-B4F1-A90F82CCA89C}" presName="connTx" presStyleLbl="parChTrans1D2" presStyleIdx="1" presStyleCnt="4"/>
      <dgm:spPr/>
    </dgm:pt>
    <dgm:pt modelId="{39D6789B-7A62-FC4B-8E40-E14F3E7207B2}" type="pres">
      <dgm:prSet presAssocID="{81C05D77-9D68-1B44-896C-4D040B2ACCB4}" presName="Name30" presStyleCnt="0"/>
      <dgm:spPr/>
    </dgm:pt>
    <dgm:pt modelId="{6E021ECC-CCC9-224A-8141-C6E763011F0A}" type="pres">
      <dgm:prSet presAssocID="{81C05D77-9D68-1B44-896C-4D040B2ACCB4}" presName="level2Shape" presStyleLbl="node2" presStyleIdx="1" presStyleCnt="4" custLinFactNeighborY="-24283"/>
      <dgm:spPr/>
    </dgm:pt>
    <dgm:pt modelId="{90E98C36-05C9-034A-A93B-E99AA99285C5}" type="pres">
      <dgm:prSet presAssocID="{81C05D77-9D68-1B44-896C-4D040B2ACCB4}" presName="hierChild3" presStyleCnt="0"/>
      <dgm:spPr/>
    </dgm:pt>
    <dgm:pt modelId="{C09840A5-8C64-2349-A7A7-B7A1D499DC4C}" type="pres">
      <dgm:prSet presAssocID="{30F27768-BC00-E243-89C7-CEF3AE12D58D}" presName="Name25" presStyleLbl="parChTrans1D2" presStyleIdx="2" presStyleCnt="4"/>
      <dgm:spPr/>
    </dgm:pt>
    <dgm:pt modelId="{91DB78A6-48A5-2C44-8887-B77A32561CE0}" type="pres">
      <dgm:prSet presAssocID="{30F27768-BC00-E243-89C7-CEF3AE12D58D}" presName="connTx" presStyleLbl="parChTrans1D2" presStyleIdx="2" presStyleCnt="4"/>
      <dgm:spPr/>
    </dgm:pt>
    <dgm:pt modelId="{32A2D350-5CD6-F748-A4AC-12A94040C632}" type="pres">
      <dgm:prSet presAssocID="{29BAE597-6D10-6343-A5C2-5BE612E66F97}" presName="Name30" presStyleCnt="0"/>
      <dgm:spPr/>
    </dgm:pt>
    <dgm:pt modelId="{760CE323-931C-7542-B8C5-3E81B590E30B}" type="pres">
      <dgm:prSet presAssocID="{29BAE597-6D10-6343-A5C2-5BE612E66F97}" presName="level2Shape" presStyleLbl="node2" presStyleIdx="2" presStyleCnt="4"/>
      <dgm:spPr/>
    </dgm:pt>
    <dgm:pt modelId="{3A8BAE87-440A-9742-8F51-902A6ECDE45E}" type="pres">
      <dgm:prSet presAssocID="{29BAE597-6D10-6343-A5C2-5BE612E66F97}" presName="hierChild3" presStyleCnt="0"/>
      <dgm:spPr/>
    </dgm:pt>
    <dgm:pt modelId="{B69FBCC4-1CC1-954A-9D82-360713356CBE}" type="pres">
      <dgm:prSet presAssocID="{5CCE36F2-C407-6948-9E57-B732504EC033}" presName="Name25" presStyleLbl="parChTrans1D3" presStyleIdx="0" presStyleCnt="5"/>
      <dgm:spPr/>
    </dgm:pt>
    <dgm:pt modelId="{976979F2-3FA3-6447-B0FC-626E651C3205}" type="pres">
      <dgm:prSet presAssocID="{5CCE36F2-C407-6948-9E57-B732504EC033}" presName="connTx" presStyleLbl="parChTrans1D3" presStyleIdx="0" presStyleCnt="5"/>
      <dgm:spPr/>
    </dgm:pt>
    <dgm:pt modelId="{66AD2F99-D8E7-D648-A468-B1B8501C08DB}" type="pres">
      <dgm:prSet presAssocID="{6A4E6D3A-9C78-E947-BCF4-14D8042E9478}" presName="Name30" presStyleCnt="0"/>
      <dgm:spPr/>
    </dgm:pt>
    <dgm:pt modelId="{DABF0FCD-6729-A143-B82F-A5D12ECC9F51}" type="pres">
      <dgm:prSet presAssocID="{6A4E6D3A-9C78-E947-BCF4-14D8042E9478}" presName="level2Shape" presStyleLbl="node3" presStyleIdx="0" presStyleCnt="5"/>
      <dgm:spPr/>
    </dgm:pt>
    <dgm:pt modelId="{3FAA7F29-CFE8-1547-9379-9A9110136278}" type="pres">
      <dgm:prSet presAssocID="{6A4E6D3A-9C78-E947-BCF4-14D8042E9478}" presName="hierChild3" presStyleCnt="0"/>
      <dgm:spPr/>
    </dgm:pt>
    <dgm:pt modelId="{F5A68C13-67D1-C64E-AAAF-83E8C2A47077}" type="pres">
      <dgm:prSet presAssocID="{1A9B0F09-4BFD-834C-9CD5-61273078EFAB}" presName="Name25" presStyleLbl="parChTrans1D4" presStyleIdx="0" presStyleCnt="1"/>
      <dgm:spPr/>
    </dgm:pt>
    <dgm:pt modelId="{B25D116F-B1B8-5747-88B6-A0BC26DA143A}" type="pres">
      <dgm:prSet presAssocID="{1A9B0F09-4BFD-834C-9CD5-61273078EFAB}" presName="connTx" presStyleLbl="parChTrans1D4" presStyleIdx="0" presStyleCnt="1"/>
      <dgm:spPr/>
    </dgm:pt>
    <dgm:pt modelId="{01BBA985-CF50-3746-BC0D-97823CB692D1}" type="pres">
      <dgm:prSet presAssocID="{90DCC298-4D70-8C43-8507-3F053412D674}" presName="Name30" presStyleCnt="0"/>
      <dgm:spPr/>
    </dgm:pt>
    <dgm:pt modelId="{0DAB3ABD-240B-6C4E-8A53-0E6894BC0D68}" type="pres">
      <dgm:prSet presAssocID="{90DCC298-4D70-8C43-8507-3F053412D674}" presName="level2Shape" presStyleLbl="node4" presStyleIdx="0" presStyleCnt="1"/>
      <dgm:spPr/>
    </dgm:pt>
    <dgm:pt modelId="{E10A5A09-98BD-D54E-810F-D6E7DF4C96DE}" type="pres">
      <dgm:prSet presAssocID="{90DCC298-4D70-8C43-8507-3F053412D674}" presName="hierChild3" presStyleCnt="0"/>
      <dgm:spPr/>
    </dgm:pt>
    <dgm:pt modelId="{A3C4B81E-F243-C94A-AB23-12F266DE38F2}" type="pres">
      <dgm:prSet presAssocID="{F18E9075-1A39-4A44-8D65-F7EC69ACA619}" presName="Name25" presStyleLbl="parChTrans1D3" presStyleIdx="1" presStyleCnt="5"/>
      <dgm:spPr/>
    </dgm:pt>
    <dgm:pt modelId="{6FAF25F8-B5D4-E540-961C-D44E6CDE532A}" type="pres">
      <dgm:prSet presAssocID="{F18E9075-1A39-4A44-8D65-F7EC69ACA619}" presName="connTx" presStyleLbl="parChTrans1D3" presStyleIdx="1" presStyleCnt="5"/>
      <dgm:spPr/>
    </dgm:pt>
    <dgm:pt modelId="{3CEBB8E7-BD54-5745-A2E5-09CD79D764F1}" type="pres">
      <dgm:prSet presAssocID="{0B512AF8-EC9C-D44C-89D3-565E4668E7AE}" presName="Name30" presStyleCnt="0"/>
      <dgm:spPr/>
    </dgm:pt>
    <dgm:pt modelId="{009FC0DF-42F3-5942-9D14-80517F919B3D}" type="pres">
      <dgm:prSet presAssocID="{0B512AF8-EC9C-D44C-89D3-565E4668E7AE}" presName="level2Shape" presStyleLbl="node3" presStyleIdx="1" presStyleCnt="5"/>
      <dgm:spPr/>
    </dgm:pt>
    <dgm:pt modelId="{C6AAB0EB-F7E0-E741-8171-8049F42608F0}" type="pres">
      <dgm:prSet presAssocID="{0B512AF8-EC9C-D44C-89D3-565E4668E7AE}" presName="hierChild3" presStyleCnt="0"/>
      <dgm:spPr/>
    </dgm:pt>
    <dgm:pt modelId="{902C3960-FB4A-F344-9395-02713B31C68D}" type="pres">
      <dgm:prSet presAssocID="{4B8FAAA1-EDDD-5D4B-AD8F-39B5C9032F7D}" presName="Name25" presStyleLbl="parChTrans1D3" presStyleIdx="2" presStyleCnt="5"/>
      <dgm:spPr/>
    </dgm:pt>
    <dgm:pt modelId="{C8680B06-7B83-E349-A61B-F9A932032F20}" type="pres">
      <dgm:prSet presAssocID="{4B8FAAA1-EDDD-5D4B-AD8F-39B5C9032F7D}" presName="connTx" presStyleLbl="parChTrans1D3" presStyleIdx="2" presStyleCnt="5"/>
      <dgm:spPr/>
    </dgm:pt>
    <dgm:pt modelId="{193DB8C3-73C6-A749-871C-0E044BB17860}" type="pres">
      <dgm:prSet presAssocID="{214A89A2-73B8-5449-85C2-590E090F5702}" presName="Name30" presStyleCnt="0"/>
      <dgm:spPr/>
    </dgm:pt>
    <dgm:pt modelId="{DAA0FE56-FF5E-B245-8777-FC1DF41B4BC3}" type="pres">
      <dgm:prSet presAssocID="{214A89A2-73B8-5449-85C2-590E090F5702}" presName="level2Shape" presStyleLbl="node3" presStyleIdx="2" presStyleCnt="5"/>
      <dgm:spPr/>
    </dgm:pt>
    <dgm:pt modelId="{E0AFB516-C301-DA47-85B0-CAAA4F6BADEA}" type="pres">
      <dgm:prSet presAssocID="{214A89A2-73B8-5449-85C2-590E090F5702}" presName="hierChild3" presStyleCnt="0"/>
      <dgm:spPr/>
    </dgm:pt>
    <dgm:pt modelId="{703272CD-D4F5-8242-B4BE-FADFFF0B8071}" type="pres">
      <dgm:prSet presAssocID="{EB289ED2-CA30-9340-98C5-B61EA51877C6}" presName="Name25" presStyleLbl="parChTrans1D3" presStyleIdx="3" presStyleCnt="5"/>
      <dgm:spPr/>
    </dgm:pt>
    <dgm:pt modelId="{D4D64C02-827E-D141-8C66-40190C83247B}" type="pres">
      <dgm:prSet presAssocID="{EB289ED2-CA30-9340-98C5-B61EA51877C6}" presName="connTx" presStyleLbl="parChTrans1D3" presStyleIdx="3" presStyleCnt="5"/>
      <dgm:spPr/>
    </dgm:pt>
    <dgm:pt modelId="{4CBFF76F-7E88-774D-8013-8749E0178A4C}" type="pres">
      <dgm:prSet presAssocID="{1F511147-EC5C-5646-8460-0D28884386D4}" presName="Name30" presStyleCnt="0"/>
      <dgm:spPr/>
    </dgm:pt>
    <dgm:pt modelId="{B8CCFC0B-0911-9F4C-BD23-ABA87542E797}" type="pres">
      <dgm:prSet presAssocID="{1F511147-EC5C-5646-8460-0D28884386D4}" presName="level2Shape" presStyleLbl="node3" presStyleIdx="3" presStyleCnt="5"/>
      <dgm:spPr/>
    </dgm:pt>
    <dgm:pt modelId="{EF61F266-117A-5C44-9F24-722F2B12424C}" type="pres">
      <dgm:prSet presAssocID="{1F511147-EC5C-5646-8460-0D28884386D4}" presName="hierChild3" presStyleCnt="0"/>
      <dgm:spPr/>
    </dgm:pt>
    <dgm:pt modelId="{05BA1D23-2B69-214E-A37E-D88B8BD4CA36}" type="pres">
      <dgm:prSet presAssocID="{C4ECAE0B-2F54-0B4B-8A34-B7F6B27DEF02}" presName="Name25" presStyleLbl="parChTrans1D3" presStyleIdx="4" presStyleCnt="5"/>
      <dgm:spPr/>
    </dgm:pt>
    <dgm:pt modelId="{6CA0656B-76D3-AB4B-8B45-168B15A50696}" type="pres">
      <dgm:prSet presAssocID="{C4ECAE0B-2F54-0B4B-8A34-B7F6B27DEF02}" presName="connTx" presStyleLbl="parChTrans1D3" presStyleIdx="4" presStyleCnt="5"/>
      <dgm:spPr/>
    </dgm:pt>
    <dgm:pt modelId="{12DED92F-B78A-D64C-8C76-4E0657511E76}" type="pres">
      <dgm:prSet presAssocID="{B65EE5CA-AEDB-724F-A1D0-92FBBBA6A6A1}" presName="Name30" presStyleCnt="0"/>
      <dgm:spPr/>
    </dgm:pt>
    <dgm:pt modelId="{6A9E51C8-AF9E-774E-8ADB-D29810692F61}" type="pres">
      <dgm:prSet presAssocID="{B65EE5CA-AEDB-724F-A1D0-92FBBBA6A6A1}" presName="level2Shape" presStyleLbl="node3" presStyleIdx="4" presStyleCnt="5"/>
      <dgm:spPr/>
    </dgm:pt>
    <dgm:pt modelId="{2105F82A-B23A-B04A-84BD-82054C97C1F0}" type="pres">
      <dgm:prSet presAssocID="{B65EE5CA-AEDB-724F-A1D0-92FBBBA6A6A1}" presName="hierChild3" presStyleCnt="0"/>
      <dgm:spPr/>
    </dgm:pt>
    <dgm:pt modelId="{A3A7FF4A-9AF4-9C4F-BC1B-503E87DFAADA}" type="pres">
      <dgm:prSet presAssocID="{954E11A6-EFD1-F744-9E4F-5E7000E74F88}" presName="Name25" presStyleLbl="parChTrans1D2" presStyleIdx="3" presStyleCnt="4"/>
      <dgm:spPr/>
    </dgm:pt>
    <dgm:pt modelId="{7B818133-091C-234D-8C33-1F04AE0CB984}" type="pres">
      <dgm:prSet presAssocID="{954E11A6-EFD1-F744-9E4F-5E7000E74F88}" presName="connTx" presStyleLbl="parChTrans1D2" presStyleIdx="3" presStyleCnt="4"/>
      <dgm:spPr/>
    </dgm:pt>
    <dgm:pt modelId="{33173E45-6C54-F446-880E-47D52BDF7341}" type="pres">
      <dgm:prSet presAssocID="{F034CF5D-77B8-C946-BF64-DACFE9C277FA}" presName="Name30" presStyleCnt="0"/>
      <dgm:spPr/>
    </dgm:pt>
    <dgm:pt modelId="{339C4CA2-8CE1-B849-8CC6-B991A22A5730}" type="pres">
      <dgm:prSet presAssocID="{F034CF5D-77B8-C946-BF64-DACFE9C277FA}" presName="level2Shape" presStyleLbl="node2" presStyleIdx="3" presStyleCnt="4"/>
      <dgm:spPr/>
    </dgm:pt>
    <dgm:pt modelId="{7DE76D0E-2DD5-044E-BB3E-5DED6CA5A949}" type="pres">
      <dgm:prSet presAssocID="{F034CF5D-77B8-C946-BF64-DACFE9C277FA}" presName="hierChild3" presStyleCnt="0"/>
      <dgm:spPr/>
    </dgm:pt>
    <dgm:pt modelId="{B3905440-F9E6-E34A-A393-C615C50BA390}" type="pres">
      <dgm:prSet presAssocID="{537F941B-6187-074C-8E14-B97FB6212233}" presName="bgShapesFlow" presStyleCnt="0"/>
      <dgm:spPr/>
    </dgm:pt>
  </dgm:ptLst>
  <dgm:cxnLst>
    <dgm:cxn modelId="{D5F7ED00-148B-D043-8785-8A3BE7EF2810}" srcId="{854F00D9-E8FB-C845-A85C-C4B8334E40DE}" destId="{81C05D77-9D68-1B44-896C-4D040B2ACCB4}" srcOrd="1" destOrd="0" parTransId="{8F60958C-16DB-7F45-B4F1-A90F82CCA89C}" sibTransId="{C1AB21E7-BECA-0F4B-ADB9-5ECA9A82141A}"/>
    <dgm:cxn modelId="{C6C02F07-806D-9641-B333-1FF053951645}" type="presOf" srcId="{1F511147-EC5C-5646-8460-0D28884386D4}" destId="{B8CCFC0B-0911-9F4C-BD23-ABA87542E797}" srcOrd="0" destOrd="0" presId="urn:microsoft.com/office/officeart/2005/8/layout/hierarchy5"/>
    <dgm:cxn modelId="{4EC54C12-5926-ED49-B1B5-6B09A1E21FFA}" srcId="{537F941B-6187-074C-8E14-B97FB6212233}" destId="{854F00D9-E8FB-C845-A85C-C4B8334E40DE}" srcOrd="0" destOrd="0" parTransId="{2470D934-BCED-DB45-BC6B-AB7BEC794468}" sibTransId="{7EF81485-6556-3D4A-8D94-23D7EE00D227}"/>
    <dgm:cxn modelId="{5CB04F12-0FAB-2A4A-82F0-F7AA7D3E69A9}" type="presOf" srcId="{8F60958C-16DB-7F45-B4F1-A90F82CCA89C}" destId="{2C78381E-EA84-2B46-A115-3223F0A0D948}" srcOrd="1" destOrd="0" presId="urn:microsoft.com/office/officeart/2005/8/layout/hierarchy5"/>
    <dgm:cxn modelId="{C11AD215-5F8F-B54C-8B93-A4030097513A}" type="presOf" srcId="{C4ECAE0B-2F54-0B4B-8A34-B7F6B27DEF02}" destId="{05BA1D23-2B69-214E-A37E-D88B8BD4CA36}" srcOrd="0" destOrd="0" presId="urn:microsoft.com/office/officeart/2005/8/layout/hierarchy5"/>
    <dgm:cxn modelId="{96D0AE25-F683-6343-AA46-62D4CA604AA8}" type="presOf" srcId="{6A4E6D3A-9C78-E947-BCF4-14D8042E9478}" destId="{DABF0FCD-6729-A143-B82F-A5D12ECC9F51}" srcOrd="0" destOrd="0" presId="urn:microsoft.com/office/officeart/2005/8/layout/hierarchy5"/>
    <dgm:cxn modelId="{F52F1E2B-E2BB-7E4D-81F5-D2EAF94515D1}" srcId="{29BAE597-6D10-6343-A5C2-5BE612E66F97}" destId="{6A4E6D3A-9C78-E947-BCF4-14D8042E9478}" srcOrd="0" destOrd="0" parTransId="{5CCE36F2-C407-6948-9E57-B732504EC033}" sibTransId="{F336A949-BAE5-6A48-B140-007D85B5E2EF}"/>
    <dgm:cxn modelId="{61C0D82C-92C0-0244-B6FC-748E66F8FC9E}" type="presOf" srcId="{EB289ED2-CA30-9340-98C5-B61EA51877C6}" destId="{703272CD-D4F5-8242-B4BE-FADFFF0B8071}" srcOrd="0" destOrd="0" presId="urn:microsoft.com/office/officeart/2005/8/layout/hierarchy5"/>
    <dgm:cxn modelId="{0D68F239-C2B6-D344-85CF-DA1CE8F0027E}" srcId="{854F00D9-E8FB-C845-A85C-C4B8334E40DE}" destId="{B19F4A01-6B3B-A142-B2D0-A3C1966C6682}" srcOrd="0" destOrd="0" parTransId="{C518B053-E595-5444-A960-7442782A9E45}" sibTransId="{2D86A080-08B1-9D45-96D8-877B896541B2}"/>
    <dgm:cxn modelId="{0C477C5B-0056-0F4A-9816-D5410A574089}" type="presOf" srcId="{5CCE36F2-C407-6948-9E57-B732504EC033}" destId="{976979F2-3FA3-6447-B0FC-626E651C3205}" srcOrd="1" destOrd="0" presId="urn:microsoft.com/office/officeart/2005/8/layout/hierarchy5"/>
    <dgm:cxn modelId="{B048B45B-D60F-8943-A226-361773D25351}" srcId="{6A4E6D3A-9C78-E947-BCF4-14D8042E9478}" destId="{90DCC298-4D70-8C43-8507-3F053412D674}" srcOrd="0" destOrd="0" parTransId="{1A9B0F09-4BFD-834C-9CD5-61273078EFAB}" sibTransId="{E7512538-D4A0-E940-B8B7-40FCD1C628A6}"/>
    <dgm:cxn modelId="{4B4B195E-0DCB-8A49-A185-798719A2A8A7}" type="presOf" srcId="{8F60958C-16DB-7F45-B4F1-A90F82CCA89C}" destId="{6753E782-ADC4-D141-8252-48217A9763DE}" srcOrd="0" destOrd="0" presId="urn:microsoft.com/office/officeart/2005/8/layout/hierarchy5"/>
    <dgm:cxn modelId="{DCD27B44-1A0E-2048-AE00-C1D6C3B268DD}" type="presOf" srcId="{B65EE5CA-AEDB-724F-A1D0-92FBBBA6A6A1}" destId="{6A9E51C8-AF9E-774E-8ADB-D29810692F61}" srcOrd="0" destOrd="0" presId="urn:microsoft.com/office/officeart/2005/8/layout/hierarchy5"/>
    <dgm:cxn modelId="{3278CC44-DD77-7249-9104-A3E1A3290BA9}" type="presOf" srcId="{81C05D77-9D68-1B44-896C-4D040B2ACCB4}" destId="{6E021ECC-CCC9-224A-8141-C6E763011F0A}" srcOrd="0" destOrd="0" presId="urn:microsoft.com/office/officeart/2005/8/layout/hierarchy5"/>
    <dgm:cxn modelId="{0713CF44-2200-D54F-8C6B-B1EED88E4A52}" type="presOf" srcId="{F18E9075-1A39-4A44-8D65-F7EC69ACA619}" destId="{A3C4B81E-F243-C94A-AB23-12F266DE38F2}" srcOrd="0" destOrd="0" presId="urn:microsoft.com/office/officeart/2005/8/layout/hierarchy5"/>
    <dgm:cxn modelId="{924E9D66-19F2-8A4A-AC56-4CFD0E40AA59}" srcId="{29BAE597-6D10-6343-A5C2-5BE612E66F97}" destId="{0B512AF8-EC9C-D44C-89D3-565E4668E7AE}" srcOrd="1" destOrd="0" parTransId="{F18E9075-1A39-4A44-8D65-F7EC69ACA619}" sibTransId="{FFB24820-C6C8-BB44-8E07-F21787147035}"/>
    <dgm:cxn modelId="{4D289B4A-40B2-D24F-B822-1E3D10143616}" type="presOf" srcId="{537F941B-6187-074C-8E14-B97FB6212233}" destId="{0D395FB1-6B3E-EA41-8102-FD33F887E18D}" srcOrd="0" destOrd="0" presId="urn:microsoft.com/office/officeart/2005/8/layout/hierarchy5"/>
    <dgm:cxn modelId="{2874FE6B-661D-734D-B0F6-AB4A1C08982E}" type="presOf" srcId="{1A9B0F09-4BFD-834C-9CD5-61273078EFAB}" destId="{F5A68C13-67D1-C64E-AAAF-83E8C2A47077}" srcOrd="0" destOrd="0" presId="urn:microsoft.com/office/officeart/2005/8/layout/hierarchy5"/>
    <dgm:cxn modelId="{86E1256F-3D35-FE44-88D6-6CDFBA19EE50}" srcId="{29BAE597-6D10-6343-A5C2-5BE612E66F97}" destId="{214A89A2-73B8-5449-85C2-590E090F5702}" srcOrd="2" destOrd="0" parTransId="{4B8FAAA1-EDDD-5D4B-AD8F-39B5C9032F7D}" sibTransId="{1596D14D-1BF1-BE44-9FC7-745AB9EE89A7}"/>
    <dgm:cxn modelId="{AC6B1F52-BDF3-704F-A2AA-8F0322D3B785}" srcId="{29BAE597-6D10-6343-A5C2-5BE612E66F97}" destId="{1F511147-EC5C-5646-8460-0D28884386D4}" srcOrd="3" destOrd="0" parTransId="{EB289ED2-CA30-9340-98C5-B61EA51877C6}" sibTransId="{423E6400-802B-6246-80B6-31D2CCAB7FF0}"/>
    <dgm:cxn modelId="{C7F51073-C144-8C45-9703-A3A11269C69A}" type="presOf" srcId="{214A89A2-73B8-5449-85C2-590E090F5702}" destId="{DAA0FE56-FF5E-B245-8777-FC1DF41B4BC3}" srcOrd="0" destOrd="0" presId="urn:microsoft.com/office/officeart/2005/8/layout/hierarchy5"/>
    <dgm:cxn modelId="{0CC78553-A3FE-8248-9F71-3AC5E70DDD81}" srcId="{854F00D9-E8FB-C845-A85C-C4B8334E40DE}" destId="{29BAE597-6D10-6343-A5C2-5BE612E66F97}" srcOrd="2" destOrd="0" parTransId="{30F27768-BC00-E243-89C7-CEF3AE12D58D}" sibTransId="{C35D82B5-ABD6-8F4B-958D-3DF6C5FFCACF}"/>
    <dgm:cxn modelId="{5EB23479-CDB7-374C-B35A-0CE4FD797805}" srcId="{854F00D9-E8FB-C845-A85C-C4B8334E40DE}" destId="{F034CF5D-77B8-C946-BF64-DACFE9C277FA}" srcOrd="3" destOrd="0" parTransId="{954E11A6-EFD1-F744-9E4F-5E7000E74F88}" sibTransId="{F5E3637B-838E-4747-92E4-2E86E6BB58B9}"/>
    <dgm:cxn modelId="{2CBA325A-86DE-474C-9551-13BEE797B657}" type="presOf" srcId="{954E11A6-EFD1-F744-9E4F-5E7000E74F88}" destId="{7B818133-091C-234D-8C33-1F04AE0CB984}" srcOrd="1" destOrd="0" presId="urn:microsoft.com/office/officeart/2005/8/layout/hierarchy5"/>
    <dgm:cxn modelId="{9358B67D-17D4-2848-89AF-46880B54248A}" type="presOf" srcId="{954E11A6-EFD1-F744-9E4F-5E7000E74F88}" destId="{A3A7FF4A-9AF4-9C4F-BC1B-503E87DFAADA}" srcOrd="0" destOrd="0" presId="urn:microsoft.com/office/officeart/2005/8/layout/hierarchy5"/>
    <dgm:cxn modelId="{72E5EE83-54AB-0640-92CA-3A79ABE0FDAC}" type="presOf" srcId="{5CCE36F2-C407-6948-9E57-B732504EC033}" destId="{B69FBCC4-1CC1-954A-9D82-360713356CBE}" srcOrd="0" destOrd="0" presId="urn:microsoft.com/office/officeart/2005/8/layout/hierarchy5"/>
    <dgm:cxn modelId="{81FFB08F-9844-EE46-ACFA-EC150BA02A0F}" type="presOf" srcId="{B19F4A01-6B3B-A142-B2D0-A3C1966C6682}" destId="{7198F873-F655-B34D-A215-38CA229FCD93}" srcOrd="0" destOrd="0" presId="urn:microsoft.com/office/officeart/2005/8/layout/hierarchy5"/>
    <dgm:cxn modelId="{190184A7-9CFF-9A47-B76E-91B93A18F668}" type="presOf" srcId="{0B512AF8-EC9C-D44C-89D3-565E4668E7AE}" destId="{009FC0DF-42F3-5942-9D14-80517F919B3D}" srcOrd="0" destOrd="0" presId="urn:microsoft.com/office/officeart/2005/8/layout/hierarchy5"/>
    <dgm:cxn modelId="{01CE25AA-02E5-B048-86D0-D709D84B2009}" srcId="{29BAE597-6D10-6343-A5C2-5BE612E66F97}" destId="{B65EE5CA-AEDB-724F-A1D0-92FBBBA6A6A1}" srcOrd="4" destOrd="0" parTransId="{C4ECAE0B-2F54-0B4B-8A34-B7F6B27DEF02}" sibTransId="{DF75CC19-8B9B-7243-B8A6-0B2D4295BCD7}"/>
    <dgm:cxn modelId="{2A79D7AC-3936-464A-A112-C58583C376F1}" type="presOf" srcId="{F18E9075-1A39-4A44-8D65-F7EC69ACA619}" destId="{6FAF25F8-B5D4-E540-961C-D44E6CDE532A}" srcOrd="1" destOrd="0" presId="urn:microsoft.com/office/officeart/2005/8/layout/hierarchy5"/>
    <dgm:cxn modelId="{2F5073B0-52CC-FA44-A4CB-B5476E2B6966}" type="presOf" srcId="{854F00D9-E8FB-C845-A85C-C4B8334E40DE}" destId="{5AF2D83A-9B9E-A144-B69F-720D4D8639FF}" srcOrd="0" destOrd="0" presId="urn:microsoft.com/office/officeart/2005/8/layout/hierarchy5"/>
    <dgm:cxn modelId="{A1B4B7B1-DA5E-254B-A51E-97A7666A76F1}" type="presOf" srcId="{4B8FAAA1-EDDD-5D4B-AD8F-39B5C9032F7D}" destId="{C8680B06-7B83-E349-A61B-F9A932032F20}" srcOrd="1" destOrd="0" presId="urn:microsoft.com/office/officeart/2005/8/layout/hierarchy5"/>
    <dgm:cxn modelId="{B75B71B5-5B90-7444-860C-3FC334C0BDC1}" type="presOf" srcId="{4B8FAAA1-EDDD-5D4B-AD8F-39B5C9032F7D}" destId="{902C3960-FB4A-F344-9395-02713B31C68D}" srcOrd="0" destOrd="0" presId="urn:microsoft.com/office/officeart/2005/8/layout/hierarchy5"/>
    <dgm:cxn modelId="{2A959AB5-8210-5646-9D88-2CC9155FAC77}" type="presOf" srcId="{C518B053-E595-5444-A960-7442782A9E45}" destId="{84025138-6BC2-6B48-BAFE-BF7454F9631F}" srcOrd="1" destOrd="0" presId="urn:microsoft.com/office/officeart/2005/8/layout/hierarchy5"/>
    <dgm:cxn modelId="{C2461AD1-9C9D-3044-895A-9ABA2832160E}" type="presOf" srcId="{C4ECAE0B-2F54-0B4B-8A34-B7F6B27DEF02}" destId="{6CA0656B-76D3-AB4B-8B45-168B15A50696}" srcOrd="1" destOrd="0" presId="urn:microsoft.com/office/officeart/2005/8/layout/hierarchy5"/>
    <dgm:cxn modelId="{2B1D9ADA-6AD5-D141-B89E-A8FA4A34888A}" type="presOf" srcId="{30F27768-BC00-E243-89C7-CEF3AE12D58D}" destId="{91DB78A6-48A5-2C44-8887-B77A32561CE0}" srcOrd="1" destOrd="0" presId="urn:microsoft.com/office/officeart/2005/8/layout/hierarchy5"/>
    <dgm:cxn modelId="{FB0165DD-C571-1244-B9AA-D26DC141555B}" type="presOf" srcId="{EB289ED2-CA30-9340-98C5-B61EA51877C6}" destId="{D4D64C02-827E-D141-8C66-40190C83247B}" srcOrd="1" destOrd="0" presId="urn:microsoft.com/office/officeart/2005/8/layout/hierarchy5"/>
    <dgm:cxn modelId="{5DF577E3-6D56-664D-A79B-CD5D82B3EDB3}" type="presOf" srcId="{30F27768-BC00-E243-89C7-CEF3AE12D58D}" destId="{C09840A5-8C64-2349-A7A7-B7A1D499DC4C}" srcOrd="0" destOrd="0" presId="urn:microsoft.com/office/officeart/2005/8/layout/hierarchy5"/>
    <dgm:cxn modelId="{DD0AE1E5-EA21-9F43-AE0E-B80DF565E69F}" type="presOf" srcId="{1A9B0F09-4BFD-834C-9CD5-61273078EFAB}" destId="{B25D116F-B1B8-5747-88B6-A0BC26DA143A}" srcOrd="1" destOrd="0" presId="urn:microsoft.com/office/officeart/2005/8/layout/hierarchy5"/>
    <dgm:cxn modelId="{EDAE5AE8-1987-2E4D-A164-10C877CB57C1}" type="presOf" srcId="{90DCC298-4D70-8C43-8507-3F053412D674}" destId="{0DAB3ABD-240B-6C4E-8A53-0E6894BC0D68}" srcOrd="0" destOrd="0" presId="urn:microsoft.com/office/officeart/2005/8/layout/hierarchy5"/>
    <dgm:cxn modelId="{5A3584E8-78B4-C149-A15B-D6E8D6D31687}" type="presOf" srcId="{29BAE597-6D10-6343-A5C2-5BE612E66F97}" destId="{760CE323-931C-7542-B8C5-3E81B590E30B}" srcOrd="0" destOrd="0" presId="urn:microsoft.com/office/officeart/2005/8/layout/hierarchy5"/>
    <dgm:cxn modelId="{4AC9D1F4-F910-5745-A059-E3B58E767DDD}" type="presOf" srcId="{F034CF5D-77B8-C946-BF64-DACFE9C277FA}" destId="{339C4CA2-8CE1-B849-8CC6-B991A22A5730}" srcOrd="0" destOrd="0" presId="urn:microsoft.com/office/officeart/2005/8/layout/hierarchy5"/>
    <dgm:cxn modelId="{5104C8F9-0645-064E-83B3-977A92930F2F}" type="presOf" srcId="{C518B053-E595-5444-A960-7442782A9E45}" destId="{63C1154C-7B22-444F-A9AD-FD0D4A97DA6C}" srcOrd="0" destOrd="0" presId="urn:microsoft.com/office/officeart/2005/8/layout/hierarchy5"/>
    <dgm:cxn modelId="{54CDDDD7-37E0-4144-AC69-857EDEB210E8}" type="presParOf" srcId="{0D395FB1-6B3E-EA41-8102-FD33F887E18D}" destId="{A2D37EBB-FAC1-2B49-84F8-B63D37D2C34E}" srcOrd="0" destOrd="0" presId="urn:microsoft.com/office/officeart/2005/8/layout/hierarchy5"/>
    <dgm:cxn modelId="{185B0043-7A52-B349-97F1-23AB7A03B0AD}" type="presParOf" srcId="{A2D37EBB-FAC1-2B49-84F8-B63D37D2C34E}" destId="{8D23161D-F6DF-F143-B639-B0E4C3E73C51}" srcOrd="0" destOrd="0" presId="urn:microsoft.com/office/officeart/2005/8/layout/hierarchy5"/>
    <dgm:cxn modelId="{AB2AB503-88E8-7841-BB90-90884A604B51}" type="presParOf" srcId="{8D23161D-F6DF-F143-B639-B0E4C3E73C51}" destId="{11453A06-F6BB-CF4C-823B-B3A85C643E54}" srcOrd="0" destOrd="0" presId="urn:microsoft.com/office/officeart/2005/8/layout/hierarchy5"/>
    <dgm:cxn modelId="{16963C10-67D2-C746-B85E-8CBDE882D5ED}" type="presParOf" srcId="{11453A06-F6BB-CF4C-823B-B3A85C643E54}" destId="{5AF2D83A-9B9E-A144-B69F-720D4D8639FF}" srcOrd="0" destOrd="0" presId="urn:microsoft.com/office/officeart/2005/8/layout/hierarchy5"/>
    <dgm:cxn modelId="{491AEF3D-043A-4740-9CD3-C09CF17D9509}" type="presParOf" srcId="{11453A06-F6BB-CF4C-823B-B3A85C643E54}" destId="{FEC5ECD8-BEBC-B44E-A9EC-81ADCCFBE153}" srcOrd="1" destOrd="0" presId="urn:microsoft.com/office/officeart/2005/8/layout/hierarchy5"/>
    <dgm:cxn modelId="{810C20FB-E1C8-E341-9880-0C112E4C60C3}" type="presParOf" srcId="{FEC5ECD8-BEBC-B44E-A9EC-81ADCCFBE153}" destId="{63C1154C-7B22-444F-A9AD-FD0D4A97DA6C}" srcOrd="0" destOrd="0" presId="urn:microsoft.com/office/officeart/2005/8/layout/hierarchy5"/>
    <dgm:cxn modelId="{843F28A9-D0EE-4D41-ADCD-26F673066E84}" type="presParOf" srcId="{63C1154C-7B22-444F-A9AD-FD0D4A97DA6C}" destId="{84025138-6BC2-6B48-BAFE-BF7454F9631F}" srcOrd="0" destOrd="0" presId="urn:microsoft.com/office/officeart/2005/8/layout/hierarchy5"/>
    <dgm:cxn modelId="{1E61362F-DD04-9F47-AEB6-F3C1D88632FC}" type="presParOf" srcId="{FEC5ECD8-BEBC-B44E-A9EC-81ADCCFBE153}" destId="{FC8F1896-693B-7D49-A067-785AE28A001F}" srcOrd="1" destOrd="0" presId="urn:microsoft.com/office/officeart/2005/8/layout/hierarchy5"/>
    <dgm:cxn modelId="{9B4375FB-2660-0440-AC39-C86D86DFF486}" type="presParOf" srcId="{FC8F1896-693B-7D49-A067-785AE28A001F}" destId="{7198F873-F655-B34D-A215-38CA229FCD93}" srcOrd="0" destOrd="0" presId="urn:microsoft.com/office/officeart/2005/8/layout/hierarchy5"/>
    <dgm:cxn modelId="{F46B7514-2A01-7D41-8338-01A483C1B0A5}" type="presParOf" srcId="{FC8F1896-693B-7D49-A067-785AE28A001F}" destId="{374A20C2-755B-8E4C-AFB9-0FA02DE00435}" srcOrd="1" destOrd="0" presId="urn:microsoft.com/office/officeart/2005/8/layout/hierarchy5"/>
    <dgm:cxn modelId="{10C83DC1-D409-144B-9ACD-02499FEEB329}" type="presParOf" srcId="{FEC5ECD8-BEBC-B44E-A9EC-81ADCCFBE153}" destId="{6753E782-ADC4-D141-8252-48217A9763DE}" srcOrd="2" destOrd="0" presId="urn:microsoft.com/office/officeart/2005/8/layout/hierarchy5"/>
    <dgm:cxn modelId="{4D073FFE-B620-8645-A06B-8587860F258F}" type="presParOf" srcId="{6753E782-ADC4-D141-8252-48217A9763DE}" destId="{2C78381E-EA84-2B46-A115-3223F0A0D948}" srcOrd="0" destOrd="0" presId="urn:microsoft.com/office/officeart/2005/8/layout/hierarchy5"/>
    <dgm:cxn modelId="{93BCB07B-EDA3-994B-BD8E-8525A2540D27}" type="presParOf" srcId="{FEC5ECD8-BEBC-B44E-A9EC-81ADCCFBE153}" destId="{39D6789B-7A62-FC4B-8E40-E14F3E7207B2}" srcOrd="3" destOrd="0" presId="urn:microsoft.com/office/officeart/2005/8/layout/hierarchy5"/>
    <dgm:cxn modelId="{740FADF3-4617-C247-AF12-DEF7BBBFB575}" type="presParOf" srcId="{39D6789B-7A62-FC4B-8E40-E14F3E7207B2}" destId="{6E021ECC-CCC9-224A-8141-C6E763011F0A}" srcOrd="0" destOrd="0" presId="urn:microsoft.com/office/officeart/2005/8/layout/hierarchy5"/>
    <dgm:cxn modelId="{73053338-2673-1D41-8F93-EADE8B65357A}" type="presParOf" srcId="{39D6789B-7A62-FC4B-8E40-E14F3E7207B2}" destId="{90E98C36-05C9-034A-A93B-E99AA99285C5}" srcOrd="1" destOrd="0" presId="urn:microsoft.com/office/officeart/2005/8/layout/hierarchy5"/>
    <dgm:cxn modelId="{46336190-0336-7B49-BE93-158BFDEEF8FA}" type="presParOf" srcId="{FEC5ECD8-BEBC-B44E-A9EC-81ADCCFBE153}" destId="{C09840A5-8C64-2349-A7A7-B7A1D499DC4C}" srcOrd="4" destOrd="0" presId="urn:microsoft.com/office/officeart/2005/8/layout/hierarchy5"/>
    <dgm:cxn modelId="{6203A40B-E751-2840-B92C-4C1781F04EF0}" type="presParOf" srcId="{C09840A5-8C64-2349-A7A7-B7A1D499DC4C}" destId="{91DB78A6-48A5-2C44-8887-B77A32561CE0}" srcOrd="0" destOrd="0" presId="urn:microsoft.com/office/officeart/2005/8/layout/hierarchy5"/>
    <dgm:cxn modelId="{D7AAD6A5-B03B-5C4C-819A-58A8FD142991}" type="presParOf" srcId="{FEC5ECD8-BEBC-B44E-A9EC-81ADCCFBE153}" destId="{32A2D350-5CD6-F748-A4AC-12A94040C632}" srcOrd="5" destOrd="0" presId="urn:microsoft.com/office/officeart/2005/8/layout/hierarchy5"/>
    <dgm:cxn modelId="{03AD0608-3818-1F44-B583-3FECB4078F0E}" type="presParOf" srcId="{32A2D350-5CD6-F748-A4AC-12A94040C632}" destId="{760CE323-931C-7542-B8C5-3E81B590E30B}" srcOrd="0" destOrd="0" presId="urn:microsoft.com/office/officeart/2005/8/layout/hierarchy5"/>
    <dgm:cxn modelId="{8D3BC3B1-48EE-254F-84DF-C6C760B21A17}" type="presParOf" srcId="{32A2D350-5CD6-F748-A4AC-12A94040C632}" destId="{3A8BAE87-440A-9742-8F51-902A6ECDE45E}" srcOrd="1" destOrd="0" presId="urn:microsoft.com/office/officeart/2005/8/layout/hierarchy5"/>
    <dgm:cxn modelId="{5FC5950C-8698-4140-91DD-FDC58849140C}" type="presParOf" srcId="{3A8BAE87-440A-9742-8F51-902A6ECDE45E}" destId="{B69FBCC4-1CC1-954A-9D82-360713356CBE}" srcOrd="0" destOrd="0" presId="urn:microsoft.com/office/officeart/2005/8/layout/hierarchy5"/>
    <dgm:cxn modelId="{FC6F71AD-626A-9249-98E7-39DD14A49AEC}" type="presParOf" srcId="{B69FBCC4-1CC1-954A-9D82-360713356CBE}" destId="{976979F2-3FA3-6447-B0FC-626E651C3205}" srcOrd="0" destOrd="0" presId="urn:microsoft.com/office/officeart/2005/8/layout/hierarchy5"/>
    <dgm:cxn modelId="{46A0885C-03FF-B146-B725-257038408AA9}" type="presParOf" srcId="{3A8BAE87-440A-9742-8F51-902A6ECDE45E}" destId="{66AD2F99-D8E7-D648-A468-B1B8501C08DB}" srcOrd="1" destOrd="0" presId="urn:microsoft.com/office/officeart/2005/8/layout/hierarchy5"/>
    <dgm:cxn modelId="{7FD1253F-7C02-CB42-8605-4C0A591158E0}" type="presParOf" srcId="{66AD2F99-D8E7-D648-A468-B1B8501C08DB}" destId="{DABF0FCD-6729-A143-B82F-A5D12ECC9F51}" srcOrd="0" destOrd="0" presId="urn:microsoft.com/office/officeart/2005/8/layout/hierarchy5"/>
    <dgm:cxn modelId="{AACDFD54-9953-2044-BAB8-56345164610E}" type="presParOf" srcId="{66AD2F99-D8E7-D648-A468-B1B8501C08DB}" destId="{3FAA7F29-CFE8-1547-9379-9A9110136278}" srcOrd="1" destOrd="0" presId="urn:microsoft.com/office/officeart/2005/8/layout/hierarchy5"/>
    <dgm:cxn modelId="{5B2A5251-B85E-3445-BCF0-EAB51D519C3E}" type="presParOf" srcId="{3FAA7F29-CFE8-1547-9379-9A9110136278}" destId="{F5A68C13-67D1-C64E-AAAF-83E8C2A47077}" srcOrd="0" destOrd="0" presId="urn:microsoft.com/office/officeart/2005/8/layout/hierarchy5"/>
    <dgm:cxn modelId="{D134C57B-B54A-4D4D-A9E6-0A884A224DDF}" type="presParOf" srcId="{F5A68C13-67D1-C64E-AAAF-83E8C2A47077}" destId="{B25D116F-B1B8-5747-88B6-A0BC26DA143A}" srcOrd="0" destOrd="0" presId="urn:microsoft.com/office/officeart/2005/8/layout/hierarchy5"/>
    <dgm:cxn modelId="{8C4013A5-088B-FB4F-9F94-892577CBFF33}" type="presParOf" srcId="{3FAA7F29-CFE8-1547-9379-9A9110136278}" destId="{01BBA985-CF50-3746-BC0D-97823CB692D1}" srcOrd="1" destOrd="0" presId="urn:microsoft.com/office/officeart/2005/8/layout/hierarchy5"/>
    <dgm:cxn modelId="{0859D986-9C5E-BF48-8196-8D8C664C156B}" type="presParOf" srcId="{01BBA985-CF50-3746-BC0D-97823CB692D1}" destId="{0DAB3ABD-240B-6C4E-8A53-0E6894BC0D68}" srcOrd="0" destOrd="0" presId="urn:microsoft.com/office/officeart/2005/8/layout/hierarchy5"/>
    <dgm:cxn modelId="{DDF78B68-7C40-6248-BA3F-2491A71999B8}" type="presParOf" srcId="{01BBA985-CF50-3746-BC0D-97823CB692D1}" destId="{E10A5A09-98BD-D54E-810F-D6E7DF4C96DE}" srcOrd="1" destOrd="0" presId="urn:microsoft.com/office/officeart/2005/8/layout/hierarchy5"/>
    <dgm:cxn modelId="{0B21EFE6-ADCC-ED41-94B1-C5BAEEBDC2AA}" type="presParOf" srcId="{3A8BAE87-440A-9742-8F51-902A6ECDE45E}" destId="{A3C4B81E-F243-C94A-AB23-12F266DE38F2}" srcOrd="2" destOrd="0" presId="urn:microsoft.com/office/officeart/2005/8/layout/hierarchy5"/>
    <dgm:cxn modelId="{E6A7244A-BD25-8643-94B1-13CB5A309F05}" type="presParOf" srcId="{A3C4B81E-F243-C94A-AB23-12F266DE38F2}" destId="{6FAF25F8-B5D4-E540-961C-D44E6CDE532A}" srcOrd="0" destOrd="0" presId="urn:microsoft.com/office/officeart/2005/8/layout/hierarchy5"/>
    <dgm:cxn modelId="{EA67B2F9-38AA-0E47-B414-F9E7A324A973}" type="presParOf" srcId="{3A8BAE87-440A-9742-8F51-902A6ECDE45E}" destId="{3CEBB8E7-BD54-5745-A2E5-09CD79D764F1}" srcOrd="3" destOrd="0" presId="urn:microsoft.com/office/officeart/2005/8/layout/hierarchy5"/>
    <dgm:cxn modelId="{4C8430B5-1962-7948-83CD-A4323CB9EEE6}" type="presParOf" srcId="{3CEBB8E7-BD54-5745-A2E5-09CD79D764F1}" destId="{009FC0DF-42F3-5942-9D14-80517F919B3D}" srcOrd="0" destOrd="0" presId="urn:microsoft.com/office/officeart/2005/8/layout/hierarchy5"/>
    <dgm:cxn modelId="{A678F30C-0461-2445-B18A-32E39C9D6F1F}" type="presParOf" srcId="{3CEBB8E7-BD54-5745-A2E5-09CD79D764F1}" destId="{C6AAB0EB-F7E0-E741-8171-8049F42608F0}" srcOrd="1" destOrd="0" presId="urn:microsoft.com/office/officeart/2005/8/layout/hierarchy5"/>
    <dgm:cxn modelId="{1861B13A-A850-EA49-B7C3-3E17FA146BBD}" type="presParOf" srcId="{3A8BAE87-440A-9742-8F51-902A6ECDE45E}" destId="{902C3960-FB4A-F344-9395-02713B31C68D}" srcOrd="4" destOrd="0" presId="urn:microsoft.com/office/officeart/2005/8/layout/hierarchy5"/>
    <dgm:cxn modelId="{A88D4446-5091-5642-AE87-A152D19FF07E}" type="presParOf" srcId="{902C3960-FB4A-F344-9395-02713B31C68D}" destId="{C8680B06-7B83-E349-A61B-F9A932032F20}" srcOrd="0" destOrd="0" presId="urn:microsoft.com/office/officeart/2005/8/layout/hierarchy5"/>
    <dgm:cxn modelId="{3E17AD1D-0973-884C-84BB-0B0E54BBC94D}" type="presParOf" srcId="{3A8BAE87-440A-9742-8F51-902A6ECDE45E}" destId="{193DB8C3-73C6-A749-871C-0E044BB17860}" srcOrd="5" destOrd="0" presId="urn:microsoft.com/office/officeart/2005/8/layout/hierarchy5"/>
    <dgm:cxn modelId="{DFBC00AC-9FE8-1745-A916-F6A6215A8192}" type="presParOf" srcId="{193DB8C3-73C6-A749-871C-0E044BB17860}" destId="{DAA0FE56-FF5E-B245-8777-FC1DF41B4BC3}" srcOrd="0" destOrd="0" presId="urn:microsoft.com/office/officeart/2005/8/layout/hierarchy5"/>
    <dgm:cxn modelId="{CE5D6CF9-58B8-3E49-B455-EA6B871B9471}" type="presParOf" srcId="{193DB8C3-73C6-A749-871C-0E044BB17860}" destId="{E0AFB516-C301-DA47-85B0-CAAA4F6BADEA}" srcOrd="1" destOrd="0" presId="urn:microsoft.com/office/officeart/2005/8/layout/hierarchy5"/>
    <dgm:cxn modelId="{0E2F251C-222B-3A41-84A1-711EBB1E592A}" type="presParOf" srcId="{3A8BAE87-440A-9742-8F51-902A6ECDE45E}" destId="{703272CD-D4F5-8242-B4BE-FADFFF0B8071}" srcOrd="6" destOrd="0" presId="urn:microsoft.com/office/officeart/2005/8/layout/hierarchy5"/>
    <dgm:cxn modelId="{D41F0BB5-B16B-3842-AE17-72C57351BBE8}" type="presParOf" srcId="{703272CD-D4F5-8242-B4BE-FADFFF0B8071}" destId="{D4D64C02-827E-D141-8C66-40190C83247B}" srcOrd="0" destOrd="0" presId="urn:microsoft.com/office/officeart/2005/8/layout/hierarchy5"/>
    <dgm:cxn modelId="{1D294006-B866-C742-8214-0044F96DBDCC}" type="presParOf" srcId="{3A8BAE87-440A-9742-8F51-902A6ECDE45E}" destId="{4CBFF76F-7E88-774D-8013-8749E0178A4C}" srcOrd="7" destOrd="0" presId="urn:microsoft.com/office/officeart/2005/8/layout/hierarchy5"/>
    <dgm:cxn modelId="{03DFEC3C-B5BF-5E41-A086-A80184C8DFBB}" type="presParOf" srcId="{4CBFF76F-7E88-774D-8013-8749E0178A4C}" destId="{B8CCFC0B-0911-9F4C-BD23-ABA87542E797}" srcOrd="0" destOrd="0" presId="urn:microsoft.com/office/officeart/2005/8/layout/hierarchy5"/>
    <dgm:cxn modelId="{E10A603F-033A-E547-9F4D-C098B78A2047}" type="presParOf" srcId="{4CBFF76F-7E88-774D-8013-8749E0178A4C}" destId="{EF61F266-117A-5C44-9F24-722F2B12424C}" srcOrd="1" destOrd="0" presId="urn:microsoft.com/office/officeart/2005/8/layout/hierarchy5"/>
    <dgm:cxn modelId="{73F35AB9-6E67-B440-92FD-5D39E10A77DA}" type="presParOf" srcId="{3A8BAE87-440A-9742-8F51-902A6ECDE45E}" destId="{05BA1D23-2B69-214E-A37E-D88B8BD4CA36}" srcOrd="8" destOrd="0" presId="urn:microsoft.com/office/officeart/2005/8/layout/hierarchy5"/>
    <dgm:cxn modelId="{7E93711C-06C8-C24A-AD36-85DA20EADA1B}" type="presParOf" srcId="{05BA1D23-2B69-214E-A37E-D88B8BD4CA36}" destId="{6CA0656B-76D3-AB4B-8B45-168B15A50696}" srcOrd="0" destOrd="0" presId="urn:microsoft.com/office/officeart/2005/8/layout/hierarchy5"/>
    <dgm:cxn modelId="{9615C81A-2E1F-A84C-8BC9-3C6885A1A15C}" type="presParOf" srcId="{3A8BAE87-440A-9742-8F51-902A6ECDE45E}" destId="{12DED92F-B78A-D64C-8C76-4E0657511E76}" srcOrd="9" destOrd="0" presId="urn:microsoft.com/office/officeart/2005/8/layout/hierarchy5"/>
    <dgm:cxn modelId="{BA4E2E79-250A-C64A-A17F-12C00DBEDCD5}" type="presParOf" srcId="{12DED92F-B78A-D64C-8C76-4E0657511E76}" destId="{6A9E51C8-AF9E-774E-8ADB-D29810692F61}" srcOrd="0" destOrd="0" presId="urn:microsoft.com/office/officeart/2005/8/layout/hierarchy5"/>
    <dgm:cxn modelId="{F8EF8312-F236-B84F-BF48-4D9B5DEA477A}" type="presParOf" srcId="{12DED92F-B78A-D64C-8C76-4E0657511E76}" destId="{2105F82A-B23A-B04A-84BD-82054C97C1F0}" srcOrd="1" destOrd="0" presId="urn:microsoft.com/office/officeart/2005/8/layout/hierarchy5"/>
    <dgm:cxn modelId="{05E302FF-ACCD-FC42-BCF2-FE2A2B50ABD0}" type="presParOf" srcId="{FEC5ECD8-BEBC-B44E-A9EC-81ADCCFBE153}" destId="{A3A7FF4A-9AF4-9C4F-BC1B-503E87DFAADA}" srcOrd="6" destOrd="0" presId="urn:microsoft.com/office/officeart/2005/8/layout/hierarchy5"/>
    <dgm:cxn modelId="{B250D81C-AAC2-2D47-9729-C2B067347A1D}" type="presParOf" srcId="{A3A7FF4A-9AF4-9C4F-BC1B-503E87DFAADA}" destId="{7B818133-091C-234D-8C33-1F04AE0CB984}" srcOrd="0" destOrd="0" presId="urn:microsoft.com/office/officeart/2005/8/layout/hierarchy5"/>
    <dgm:cxn modelId="{B0EB4B1F-7A3E-2244-9F91-AD231E9E3FF9}" type="presParOf" srcId="{FEC5ECD8-BEBC-B44E-A9EC-81ADCCFBE153}" destId="{33173E45-6C54-F446-880E-47D52BDF7341}" srcOrd="7" destOrd="0" presId="urn:microsoft.com/office/officeart/2005/8/layout/hierarchy5"/>
    <dgm:cxn modelId="{500E3CB5-6082-3346-A7C2-E626BD64AE94}" type="presParOf" srcId="{33173E45-6C54-F446-880E-47D52BDF7341}" destId="{339C4CA2-8CE1-B849-8CC6-B991A22A5730}" srcOrd="0" destOrd="0" presId="urn:microsoft.com/office/officeart/2005/8/layout/hierarchy5"/>
    <dgm:cxn modelId="{439E4DF0-59F6-274B-9B89-15744E67EA4E}" type="presParOf" srcId="{33173E45-6C54-F446-880E-47D52BDF7341}" destId="{7DE76D0E-2DD5-044E-BB3E-5DED6CA5A949}" srcOrd="1" destOrd="0" presId="urn:microsoft.com/office/officeart/2005/8/layout/hierarchy5"/>
    <dgm:cxn modelId="{432DE67F-2D61-F64F-B26E-ABE1B36F262C}" type="presParOf" srcId="{0D395FB1-6B3E-EA41-8102-FD33F887E18D}" destId="{B3905440-F9E6-E34A-A393-C615C50BA390}" srcOrd="1" destOrd="0" presId="urn:microsoft.com/office/officeart/2005/8/layout/hierarchy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2716798" y="1230305"/>
          <a:ext cx="12797" cy="2812"/>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563197" y="172416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solidFill>
                <a:schemeClr val="tx1"/>
              </a:solidFill>
              <a:cs typeface="Arial"/>
            </a:rPr>
            <a:t>Object (Blob) Store</a:t>
          </a:r>
          <a:endParaRPr lang="en-US" sz="2800" kern="1200" dirty="0"/>
        </a:p>
      </dsp:txBody>
      <dsp:txXfrm>
        <a:off x="563197" y="1724161"/>
        <a:ext cx="4320000" cy="648000"/>
      </dsp:txXfrm>
    </dsp:sp>
    <dsp:sp modelId="{FE93FDF4-82DA-45FA-9A1E-C612D39D3B6A}">
      <dsp:nvSpPr>
        <dsp:cNvPr id="0" name=""/>
        <dsp:cNvSpPr/>
      </dsp:nvSpPr>
      <dsp:spPr>
        <a:xfrm>
          <a:off x="563197" y="2498049"/>
          <a:ext cx="4320000" cy="3737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kern="1200" dirty="0">
              <a:solidFill>
                <a:srgbClr val="374151"/>
              </a:solidFill>
              <a:ea typeface="+mn-lt"/>
              <a:cs typeface="+mn-lt"/>
            </a:rPr>
            <a:t>A cloud storage service that efficiently manages vast amounts of data as individual objects (blobs of bytes) identified by unique keys or identifiers</a:t>
          </a:r>
          <a:endParaRPr lang="en-US" sz="2800" kern="1200" dirty="0"/>
        </a:p>
      </dsp:txBody>
      <dsp:txXfrm>
        <a:off x="563197" y="2498049"/>
        <a:ext cx="4320000" cy="3737825"/>
      </dsp:txXfrm>
    </dsp:sp>
    <dsp:sp modelId="{B659D329-FFCB-4A99-9159-9545CCFD1864}">
      <dsp:nvSpPr>
        <dsp:cNvPr id="0" name=""/>
        <dsp:cNvSpPr/>
      </dsp:nvSpPr>
      <dsp:spPr>
        <a:xfrm>
          <a:off x="7729645" y="1403891"/>
          <a:ext cx="139104" cy="65212"/>
        </a:xfrm>
        <a:prstGeom prst="rect">
          <a:avLst/>
        </a:prstGeom>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2F6EFE1B-9CAA-475C-BE46-7AB33E0E0233}">
      <dsp:nvSpPr>
        <dsp:cNvPr id="0" name=""/>
        <dsp:cNvSpPr/>
      </dsp:nvSpPr>
      <dsp:spPr>
        <a:xfrm>
          <a:off x="5639197" y="173976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solidFill>
                <a:schemeClr val="tx1"/>
              </a:solidFill>
              <a:cs typeface="Arial"/>
            </a:rPr>
            <a:t>Distributed File System</a:t>
          </a:r>
          <a:endParaRPr lang="en-US" sz="2800" kern="1200" dirty="0"/>
        </a:p>
      </dsp:txBody>
      <dsp:txXfrm>
        <a:off x="5639197" y="1739761"/>
        <a:ext cx="4320000" cy="648000"/>
      </dsp:txXfrm>
    </dsp:sp>
    <dsp:sp modelId="{7F4A702B-11E4-4211-A9B6-CAF76DE9963E}">
      <dsp:nvSpPr>
        <dsp:cNvPr id="0" name=""/>
        <dsp:cNvSpPr/>
      </dsp:nvSpPr>
      <dsp:spPr>
        <a:xfrm>
          <a:off x="5639197" y="2513649"/>
          <a:ext cx="4320000" cy="3737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kern="1200" dirty="0">
              <a:solidFill>
                <a:srgbClr val="292934"/>
              </a:solidFill>
              <a:cs typeface="Arial"/>
            </a:rPr>
            <a:t>Software that allows multiple independent storage systems to be combined into a single larger virtual storage system allowing files larger than any individual storage system to be spread across the cluster</a:t>
          </a:r>
          <a:endParaRPr lang="en-US" sz="2800" kern="1200" dirty="0"/>
        </a:p>
      </dsp:txBody>
      <dsp:txXfrm>
        <a:off x="5639197" y="2513649"/>
        <a:ext cx="4320000" cy="3737825"/>
      </dsp:txXfrm>
    </dsp:sp>
    <dsp:sp modelId="{24A53ECD-764D-4FF8-9153-CE9D4FBA6DB1}">
      <dsp:nvSpPr>
        <dsp:cNvPr id="0" name=""/>
        <dsp:cNvSpPr/>
      </dsp:nvSpPr>
      <dsp:spPr>
        <a:xfrm>
          <a:off x="12805645" y="1403891"/>
          <a:ext cx="139104" cy="65212"/>
        </a:xfrm>
        <a:prstGeom prst="rect">
          <a:avLst/>
        </a:prstGeom>
        <a:blipFill dpi="0" rotWithShape="1">
          <a:blip xmlns:r="http://schemas.openxmlformats.org/officeDocument/2006/relationships" r:embed="rId5">
            <a:alphaModFix amt="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5D88F1DD-3536-4BA5-BD1D-077D0CA87FCA}">
      <dsp:nvSpPr>
        <dsp:cNvPr id="0" name=""/>
        <dsp:cNvSpPr/>
      </dsp:nvSpPr>
      <dsp:spPr>
        <a:xfrm>
          <a:off x="10715197" y="1739761"/>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solidFill>
                <a:schemeClr val="tx1"/>
              </a:solidFill>
              <a:cs typeface="Arial"/>
            </a:rPr>
            <a:t>Data Lakes</a:t>
          </a:r>
          <a:endParaRPr lang="en-US" sz="2800" kern="1200" dirty="0"/>
        </a:p>
      </dsp:txBody>
      <dsp:txXfrm>
        <a:off x="10715197" y="1739761"/>
        <a:ext cx="4320000" cy="648000"/>
      </dsp:txXfrm>
    </dsp:sp>
    <dsp:sp modelId="{18BB71A3-CB54-4F25-B66C-791E75BDECA1}">
      <dsp:nvSpPr>
        <dsp:cNvPr id="0" name=""/>
        <dsp:cNvSpPr/>
      </dsp:nvSpPr>
      <dsp:spPr>
        <a:xfrm>
          <a:off x="10715197" y="2513649"/>
          <a:ext cx="4320000" cy="37378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kern="1200" dirty="0">
              <a:solidFill>
                <a:srgbClr val="333333"/>
              </a:solidFill>
              <a:ea typeface="+mn-lt"/>
              <a:cs typeface="+mn-lt"/>
            </a:rPr>
            <a:t>A centralized repository (object store, distributed file system or “NewSQL” database) that allows storage of data at any scale, integrated with analytic tools enabling insight generation</a:t>
          </a:r>
          <a:endParaRPr lang="en-US" sz="2800" kern="1200" dirty="0"/>
        </a:p>
      </dsp:txBody>
      <dsp:txXfrm>
        <a:off x="10715197" y="2513649"/>
        <a:ext cx="4320000" cy="37378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D6AE34-E008-4F80-8A65-14EF5C53FC2D}">
      <dsp:nvSpPr>
        <dsp:cNvPr id="0" name=""/>
        <dsp:cNvSpPr/>
      </dsp:nvSpPr>
      <dsp:spPr>
        <a:xfrm flipH="1">
          <a:off x="2726713" y="743786"/>
          <a:ext cx="12785" cy="2809"/>
        </a:xfrm>
        <a:prstGeom prst="rect">
          <a:avLst/>
        </a:prstGeom>
        <a:blipFill dpi="0" rotWithShape="1">
          <a:blip xmlns:r="http://schemas.openxmlformats.org/officeDocument/2006/relationships" r:embed="rId1">
            <a:alphaModFix amt="0"/>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A3F5AACB-4941-4375-9257-3C08269C058D}">
      <dsp:nvSpPr>
        <dsp:cNvPr id="0" name=""/>
        <dsp:cNvSpPr/>
      </dsp:nvSpPr>
      <dsp:spPr>
        <a:xfrm>
          <a:off x="577322" y="1198314"/>
          <a:ext cx="4311566"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latin typeface="+mn-lt"/>
            </a:rPr>
            <a:t>NoSQL Database</a:t>
          </a:r>
        </a:p>
      </dsp:txBody>
      <dsp:txXfrm>
        <a:off x="577322" y="1198314"/>
        <a:ext cx="4311566" cy="646734"/>
      </dsp:txXfrm>
    </dsp:sp>
    <dsp:sp modelId="{FE93FDF4-82DA-45FA-9A1E-C612D39D3B6A}">
      <dsp:nvSpPr>
        <dsp:cNvPr id="0" name=""/>
        <dsp:cNvSpPr/>
      </dsp:nvSpPr>
      <dsp:spPr>
        <a:xfrm>
          <a:off x="577322" y="1952746"/>
          <a:ext cx="4311566" cy="2913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kern="1200" dirty="0">
              <a:latin typeface="+mn-lt"/>
              <a:cs typeface="Arial"/>
            </a:rPr>
            <a:t>A database designed for the storage and retrieval of large volumes of data by executing across multiple compute and storage nodes</a:t>
          </a:r>
          <a:endParaRPr lang="en-US" sz="2800" kern="1200" dirty="0">
            <a:latin typeface="+mn-lt"/>
          </a:endParaRPr>
        </a:p>
        <a:p>
          <a:pPr marL="0" lvl="0" indent="0" algn="ctr" defTabSz="1244600">
            <a:lnSpc>
              <a:spcPct val="100000"/>
            </a:lnSpc>
            <a:spcBef>
              <a:spcPct val="0"/>
            </a:spcBef>
            <a:spcAft>
              <a:spcPct val="35000"/>
            </a:spcAft>
            <a:buNone/>
          </a:pPr>
          <a:r>
            <a:rPr lang="en-US" sz="2800" kern="1200" dirty="0">
              <a:latin typeface="+mn-lt"/>
              <a:cs typeface="Arial"/>
            </a:rPr>
            <a:t>Usually supports only a subset of the SQL query language compatible with high performance (excluding joins or similar operations</a:t>
          </a:r>
          <a:endParaRPr lang="en-US" sz="2800" kern="1200" dirty="0">
            <a:latin typeface="+mn-lt"/>
          </a:endParaRPr>
        </a:p>
      </dsp:txBody>
      <dsp:txXfrm>
        <a:off x="577322" y="1952746"/>
        <a:ext cx="4311566" cy="2913286"/>
      </dsp:txXfrm>
    </dsp:sp>
    <dsp:sp modelId="{B659D329-FFCB-4A99-9159-9545CCFD1864}">
      <dsp:nvSpPr>
        <dsp:cNvPr id="0" name=""/>
        <dsp:cNvSpPr/>
      </dsp:nvSpPr>
      <dsp:spPr>
        <a:xfrm>
          <a:off x="7729712" y="917202"/>
          <a:ext cx="138968" cy="65148"/>
        </a:xfrm>
        <a:prstGeom prst="rect">
          <a:avLst/>
        </a:prstGeom>
        <a:blipFill dpi="0" rotWithShape="1">
          <a:blip xmlns:r="http://schemas.openxmlformats.org/officeDocument/2006/relationships" r:embed="rId3">
            <a:alphaModFix amt="0"/>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2F6EFE1B-9CAA-475C-BE46-7AB33E0E0233}">
      <dsp:nvSpPr>
        <dsp:cNvPr id="0" name=""/>
        <dsp:cNvSpPr/>
      </dsp:nvSpPr>
      <dsp:spPr>
        <a:xfrm>
          <a:off x="5643413" y="1213899"/>
          <a:ext cx="4311566"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latin typeface="+mn-lt"/>
            </a:rPr>
            <a:t>“NewSQL” Database</a:t>
          </a:r>
        </a:p>
      </dsp:txBody>
      <dsp:txXfrm>
        <a:off x="5643413" y="1213899"/>
        <a:ext cx="4311566" cy="646734"/>
      </dsp:txXfrm>
    </dsp:sp>
    <dsp:sp modelId="{7F4A702B-11E4-4211-A9B6-CAF76DE9963E}">
      <dsp:nvSpPr>
        <dsp:cNvPr id="0" name=""/>
        <dsp:cNvSpPr/>
      </dsp:nvSpPr>
      <dsp:spPr>
        <a:xfrm>
          <a:off x="5643413" y="1968331"/>
          <a:ext cx="4311566" cy="2913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b="0" i="0" kern="1200" dirty="0">
              <a:solidFill>
                <a:srgbClr val="1F1F1F"/>
              </a:solidFill>
              <a:effectLst/>
              <a:latin typeface="+mn-lt"/>
            </a:rPr>
            <a:t>A database that combines the scalability and flexibility of NoSQL databases with the full SQL compliance of relational databases</a:t>
          </a:r>
          <a:endParaRPr lang="en-US" sz="2800" kern="1200" dirty="0">
            <a:latin typeface="+mn-lt"/>
          </a:endParaRPr>
        </a:p>
      </dsp:txBody>
      <dsp:txXfrm>
        <a:off x="5643413" y="1968331"/>
        <a:ext cx="4311566" cy="2913286"/>
      </dsp:txXfrm>
    </dsp:sp>
    <dsp:sp modelId="{24A53ECD-764D-4FF8-9153-CE9D4FBA6DB1}">
      <dsp:nvSpPr>
        <dsp:cNvPr id="0" name=""/>
        <dsp:cNvSpPr/>
      </dsp:nvSpPr>
      <dsp:spPr>
        <a:xfrm>
          <a:off x="12795803" y="917202"/>
          <a:ext cx="138968" cy="65148"/>
        </a:xfrm>
        <a:prstGeom prst="rect">
          <a:avLst/>
        </a:prstGeom>
        <a:blipFill dpi="0" rotWithShape="1">
          <a:blip xmlns:r="http://schemas.openxmlformats.org/officeDocument/2006/relationships" r:embed="rId5">
            <a:alphaModFix amt="0"/>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25400" cap="flat" cmpd="dbl" algn="ctr">
          <a:noFill/>
          <a:prstDash val="solid"/>
        </a:ln>
        <a:effectLst/>
      </dsp:spPr>
      <dsp:style>
        <a:lnRef idx="2">
          <a:scrgbClr r="0" g="0" b="0"/>
        </a:lnRef>
        <a:fillRef idx="1">
          <a:scrgbClr r="0" g="0" b="0"/>
        </a:fillRef>
        <a:effectRef idx="0">
          <a:scrgbClr r="0" g="0" b="0"/>
        </a:effectRef>
        <a:fontRef idx="minor">
          <a:schemeClr val="lt1"/>
        </a:fontRef>
      </dsp:style>
    </dsp:sp>
    <dsp:sp modelId="{5D88F1DD-3536-4BA5-BD1D-077D0CA87FCA}">
      <dsp:nvSpPr>
        <dsp:cNvPr id="0" name=""/>
        <dsp:cNvSpPr/>
      </dsp:nvSpPr>
      <dsp:spPr>
        <a:xfrm>
          <a:off x="10709504" y="1213899"/>
          <a:ext cx="4311566" cy="6467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en-US" sz="2800" kern="1200" dirty="0">
              <a:latin typeface="+mn-lt"/>
            </a:rPr>
            <a:t>Data Lakehouse</a:t>
          </a:r>
        </a:p>
      </dsp:txBody>
      <dsp:txXfrm>
        <a:off x="10709504" y="1213899"/>
        <a:ext cx="4311566" cy="646734"/>
      </dsp:txXfrm>
    </dsp:sp>
    <dsp:sp modelId="{18BB71A3-CB54-4F25-B66C-791E75BDECA1}">
      <dsp:nvSpPr>
        <dsp:cNvPr id="0" name=""/>
        <dsp:cNvSpPr/>
      </dsp:nvSpPr>
      <dsp:spPr>
        <a:xfrm>
          <a:off x="10709504" y="1968331"/>
          <a:ext cx="4311566" cy="291328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pPr>
          <a:r>
            <a:rPr lang="en-US" sz="2800" b="0" i="0" kern="1200" dirty="0">
              <a:solidFill>
                <a:srgbClr val="1F1F1F"/>
              </a:solidFill>
              <a:effectLst/>
              <a:latin typeface="+mn-lt"/>
            </a:rPr>
            <a:t>Hybrid data storage architecture that combines the flexibility and scalability of a data lake with the performance and governance of a SQL data warehouse.</a:t>
          </a:r>
          <a:endParaRPr lang="en-US" sz="2800" kern="1200" dirty="0">
            <a:latin typeface="+mn-lt"/>
          </a:endParaRPr>
        </a:p>
      </dsp:txBody>
      <dsp:txXfrm>
        <a:off x="10709504" y="1968331"/>
        <a:ext cx="4311566" cy="291328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AF2D83A-9B9E-A144-B69F-720D4D8639FF}">
      <dsp:nvSpPr>
        <dsp:cNvPr id="0" name=""/>
        <dsp:cNvSpPr/>
      </dsp:nvSpPr>
      <dsp:spPr>
        <a:xfrm>
          <a:off x="3414" y="3205385"/>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a:t>
          </a:r>
        </a:p>
      </dsp:txBody>
      <dsp:txXfrm>
        <a:off x="26807" y="3228778"/>
        <a:ext cx="1550635" cy="751924"/>
      </dsp:txXfrm>
    </dsp:sp>
    <dsp:sp modelId="{63C1154C-7B22-444F-A9AD-FD0D4A97DA6C}">
      <dsp:nvSpPr>
        <dsp:cNvPr id="0" name=""/>
        <dsp:cNvSpPr/>
      </dsp:nvSpPr>
      <dsp:spPr>
        <a:xfrm rot="17692822">
          <a:off x="1160954" y="2907009"/>
          <a:ext cx="1518732" cy="17687"/>
        </a:xfrm>
        <a:custGeom>
          <a:avLst/>
          <a:gdLst/>
          <a:ahLst/>
          <a:cxnLst/>
          <a:rect l="0" t="0" r="0" b="0"/>
          <a:pathLst>
            <a:path>
              <a:moveTo>
                <a:pt x="0" y="8843"/>
              </a:moveTo>
              <a:lnTo>
                <a:pt x="1518732" y="8843"/>
              </a:lnTo>
            </a:path>
          </a:pathLst>
        </a:custGeom>
        <a:noFill/>
        <a:ln w="25400" cap="flat" cmpd="dbl"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882352" y="2877884"/>
        <a:ext cx="75936" cy="75936"/>
      </dsp:txXfrm>
    </dsp:sp>
    <dsp:sp modelId="{7198F873-F655-B34D-A215-38CA229FCD93}">
      <dsp:nvSpPr>
        <dsp:cNvPr id="0" name=""/>
        <dsp:cNvSpPr/>
      </dsp:nvSpPr>
      <dsp:spPr>
        <a:xfrm>
          <a:off x="2239804" y="1827609"/>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apps</a:t>
          </a:r>
        </a:p>
      </dsp:txBody>
      <dsp:txXfrm>
        <a:off x="2263197" y="1851002"/>
        <a:ext cx="1550635" cy="751924"/>
      </dsp:txXfrm>
    </dsp:sp>
    <dsp:sp modelId="{6753E782-ADC4-D141-8252-48217A9763DE}">
      <dsp:nvSpPr>
        <dsp:cNvPr id="0" name=""/>
        <dsp:cNvSpPr/>
      </dsp:nvSpPr>
      <dsp:spPr>
        <a:xfrm rot="18862114">
          <a:off x="1463438" y="3269292"/>
          <a:ext cx="913763" cy="17687"/>
        </a:xfrm>
        <a:custGeom>
          <a:avLst/>
          <a:gdLst/>
          <a:ahLst/>
          <a:cxnLst/>
          <a:rect l="0" t="0" r="0" b="0"/>
          <a:pathLst>
            <a:path>
              <a:moveTo>
                <a:pt x="0" y="8843"/>
              </a:moveTo>
              <a:lnTo>
                <a:pt x="913763" y="8843"/>
              </a:lnTo>
            </a:path>
          </a:pathLst>
        </a:custGeom>
        <a:noFill/>
        <a:ln w="25400" cap="flat" cmpd="dbl"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897476" y="3255292"/>
        <a:ext cx="45688" cy="45688"/>
      </dsp:txXfrm>
    </dsp:sp>
    <dsp:sp modelId="{6E021ECC-CCC9-224A-8141-C6E763011F0A}">
      <dsp:nvSpPr>
        <dsp:cNvPr id="0" name=""/>
        <dsp:cNvSpPr/>
      </dsp:nvSpPr>
      <dsp:spPr>
        <a:xfrm>
          <a:off x="2239804" y="2552175"/>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temp</a:t>
          </a:r>
        </a:p>
      </dsp:txBody>
      <dsp:txXfrm>
        <a:off x="2263197" y="2575568"/>
        <a:ext cx="1550635" cy="751924"/>
      </dsp:txXfrm>
    </dsp:sp>
    <dsp:sp modelId="{C09840A5-8C64-2349-A7A7-B7A1D499DC4C}">
      <dsp:nvSpPr>
        <dsp:cNvPr id="0" name=""/>
        <dsp:cNvSpPr/>
      </dsp:nvSpPr>
      <dsp:spPr>
        <a:xfrm rot="2142401">
          <a:off x="1526874" y="3825526"/>
          <a:ext cx="786892" cy="17687"/>
        </a:xfrm>
        <a:custGeom>
          <a:avLst/>
          <a:gdLst/>
          <a:ahLst/>
          <a:cxnLst/>
          <a:rect l="0" t="0" r="0" b="0"/>
          <a:pathLst>
            <a:path>
              <a:moveTo>
                <a:pt x="0" y="8843"/>
              </a:moveTo>
              <a:lnTo>
                <a:pt x="786892" y="8843"/>
              </a:lnTo>
            </a:path>
          </a:pathLst>
        </a:custGeom>
        <a:noFill/>
        <a:ln w="25400" cap="flat" cmpd="dbl"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solidFill>
              <a:schemeClr val="bg2"/>
            </a:solidFill>
          </a:endParaRPr>
        </a:p>
      </dsp:txBody>
      <dsp:txXfrm>
        <a:off x="1900648" y="3814698"/>
        <a:ext cx="39344" cy="39344"/>
      </dsp:txXfrm>
    </dsp:sp>
    <dsp:sp modelId="{760CE323-931C-7542-B8C5-3E81B590E30B}">
      <dsp:nvSpPr>
        <dsp:cNvPr id="0" name=""/>
        <dsp:cNvSpPr/>
      </dsp:nvSpPr>
      <dsp:spPr>
        <a:xfrm>
          <a:off x="2239804" y="3664644"/>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user</a:t>
          </a:r>
        </a:p>
      </dsp:txBody>
      <dsp:txXfrm>
        <a:off x="2263197" y="3688037"/>
        <a:ext cx="1550635" cy="751924"/>
      </dsp:txXfrm>
    </dsp:sp>
    <dsp:sp modelId="{B69FBCC4-1CC1-954A-9D82-360713356CBE}">
      <dsp:nvSpPr>
        <dsp:cNvPr id="0" name=""/>
        <dsp:cNvSpPr/>
      </dsp:nvSpPr>
      <dsp:spPr>
        <a:xfrm rot="17350740">
          <a:off x="3184216" y="3136638"/>
          <a:ext cx="1944988" cy="17687"/>
        </a:xfrm>
        <a:custGeom>
          <a:avLst/>
          <a:gdLst/>
          <a:ahLst/>
          <a:cxnLst/>
          <a:rect l="0" t="0" r="0" b="0"/>
          <a:pathLst>
            <a:path>
              <a:moveTo>
                <a:pt x="0" y="8843"/>
              </a:moveTo>
              <a:lnTo>
                <a:pt x="1944988" y="8843"/>
              </a:lnTo>
            </a:path>
          </a:pathLst>
        </a:custGeom>
        <a:noFill/>
        <a:ln w="25400" cap="flat" cmpd="dbl"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dirty="0"/>
        </a:p>
      </dsp:txBody>
      <dsp:txXfrm>
        <a:off x="4108086" y="3096857"/>
        <a:ext cx="97249" cy="97249"/>
      </dsp:txXfrm>
    </dsp:sp>
    <dsp:sp modelId="{DABF0FCD-6729-A143-B82F-A5D12ECC9F51}">
      <dsp:nvSpPr>
        <dsp:cNvPr id="0" name=""/>
        <dsp:cNvSpPr/>
      </dsp:nvSpPr>
      <dsp:spPr>
        <a:xfrm>
          <a:off x="4476195" y="1827609"/>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hadoop</a:t>
          </a:r>
        </a:p>
      </dsp:txBody>
      <dsp:txXfrm>
        <a:off x="4499588" y="1851002"/>
        <a:ext cx="1550635" cy="751924"/>
      </dsp:txXfrm>
    </dsp:sp>
    <dsp:sp modelId="{F5A68C13-67D1-C64E-AAAF-83E8C2A47077}">
      <dsp:nvSpPr>
        <dsp:cNvPr id="0" name=""/>
        <dsp:cNvSpPr/>
      </dsp:nvSpPr>
      <dsp:spPr>
        <a:xfrm>
          <a:off x="6073617" y="2218120"/>
          <a:ext cx="638968" cy="17687"/>
        </a:xfrm>
        <a:custGeom>
          <a:avLst/>
          <a:gdLst/>
          <a:ahLst/>
          <a:cxnLst/>
          <a:rect l="0" t="0" r="0" b="0"/>
          <a:pathLst>
            <a:path>
              <a:moveTo>
                <a:pt x="0" y="8843"/>
              </a:moveTo>
              <a:lnTo>
                <a:pt x="638968" y="8843"/>
              </a:lnTo>
            </a:path>
          </a:pathLst>
        </a:custGeom>
        <a:noFill/>
        <a:ln w="25400" cap="flat" cmpd="dbl"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6377127" y="2210990"/>
        <a:ext cx="31948" cy="31948"/>
      </dsp:txXfrm>
    </dsp:sp>
    <dsp:sp modelId="{0DAB3ABD-240B-6C4E-8A53-0E6894BC0D68}">
      <dsp:nvSpPr>
        <dsp:cNvPr id="0" name=""/>
        <dsp:cNvSpPr/>
      </dsp:nvSpPr>
      <dsp:spPr>
        <a:xfrm>
          <a:off x="6712586" y="1827609"/>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warehouse</a:t>
          </a:r>
        </a:p>
      </dsp:txBody>
      <dsp:txXfrm>
        <a:off x="6735979" y="1851002"/>
        <a:ext cx="1550635" cy="751924"/>
      </dsp:txXfrm>
    </dsp:sp>
    <dsp:sp modelId="{A3C4B81E-F243-C94A-AB23-12F266DE38F2}">
      <dsp:nvSpPr>
        <dsp:cNvPr id="0" name=""/>
        <dsp:cNvSpPr/>
      </dsp:nvSpPr>
      <dsp:spPr>
        <a:xfrm rot="18289469">
          <a:off x="3597256" y="3595897"/>
          <a:ext cx="1118908" cy="17687"/>
        </a:xfrm>
        <a:custGeom>
          <a:avLst/>
          <a:gdLst/>
          <a:ahLst/>
          <a:cxnLst/>
          <a:rect l="0" t="0" r="0" b="0"/>
          <a:pathLst>
            <a:path>
              <a:moveTo>
                <a:pt x="0" y="8843"/>
              </a:moveTo>
              <a:lnTo>
                <a:pt x="1118908" y="8843"/>
              </a:lnTo>
            </a:path>
          </a:pathLst>
        </a:custGeom>
        <a:noFill/>
        <a:ln w="25400" cap="flat" cmpd="dbl"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128738" y="3576768"/>
        <a:ext cx="55945" cy="55945"/>
      </dsp:txXfrm>
    </dsp:sp>
    <dsp:sp modelId="{009FC0DF-42F3-5942-9D14-80517F919B3D}">
      <dsp:nvSpPr>
        <dsp:cNvPr id="0" name=""/>
        <dsp:cNvSpPr/>
      </dsp:nvSpPr>
      <dsp:spPr>
        <a:xfrm>
          <a:off x="4476195" y="2746126"/>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history</a:t>
          </a:r>
        </a:p>
      </dsp:txBody>
      <dsp:txXfrm>
        <a:off x="4499588" y="2769519"/>
        <a:ext cx="1550635" cy="751924"/>
      </dsp:txXfrm>
    </dsp:sp>
    <dsp:sp modelId="{902C3960-FB4A-F344-9395-02713B31C68D}">
      <dsp:nvSpPr>
        <dsp:cNvPr id="0" name=""/>
        <dsp:cNvSpPr/>
      </dsp:nvSpPr>
      <dsp:spPr>
        <a:xfrm>
          <a:off x="3837226" y="4055156"/>
          <a:ext cx="638968" cy="17687"/>
        </a:xfrm>
        <a:custGeom>
          <a:avLst/>
          <a:gdLst/>
          <a:ahLst/>
          <a:cxnLst/>
          <a:rect l="0" t="0" r="0" b="0"/>
          <a:pathLst>
            <a:path>
              <a:moveTo>
                <a:pt x="0" y="8843"/>
              </a:moveTo>
              <a:lnTo>
                <a:pt x="638968" y="8843"/>
              </a:lnTo>
            </a:path>
          </a:pathLst>
        </a:custGeom>
        <a:noFill/>
        <a:ln w="25400" cap="flat" cmpd="dbl"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140736" y="4048025"/>
        <a:ext cx="31948" cy="31948"/>
      </dsp:txXfrm>
    </dsp:sp>
    <dsp:sp modelId="{DAA0FE56-FF5E-B245-8777-FC1DF41B4BC3}">
      <dsp:nvSpPr>
        <dsp:cNvPr id="0" name=""/>
        <dsp:cNvSpPr/>
      </dsp:nvSpPr>
      <dsp:spPr>
        <a:xfrm>
          <a:off x="4476195" y="3664644"/>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hive</a:t>
          </a:r>
        </a:p>
      </dsp:txBody>
      <dsp:txXfrm>
        <a:off x="4499588" y="3688037"/>
        <a:ext cx="1550635" cy="751924"/>
      </dsp:txXfrm>
    </dsp:sp>
    <dsp:sp modelId="{703272CD-D4F5-8242-B4BE-FADFFF0B8071}">
      <dsp:nvSpPr>
        <dsp:cNvPr id="0" name=""/>
        <dsp:cNvSpPr/>
      </dsp:nvSpPr>
      <dsp:spPr>
        <a:xfrm rot="3310531">
          <a:off x="3597256" y="4514414"/>
          <a:ext cx="1118908" cy="17687"/>
        </a:xfrm>
        <a:custGeom>
          <a:avLst/>
          <a:gdLst/>
          <a:ahLst/>
          <a:cxnLst/>
          <a:rect l="0" t="0" r="0" b="0"/>
          <a:pathLst>
            <a:path>
              <a:moveTo>
                <a:pt x="0" y="8843"/>
              </a:moveTo>
              <a:lnTo>
                <a:pt x="1118908" y="8843"/>
              </a:lnTo>
            </a:path>
          </a:pathLst>
        </a:custGeom>
        <a:noFill/>
        <a:ln w="25400" cap="flat" cmpd="dbl"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4128738" y="4495286"/>
        <a:ext cx="55945" cy="55945"/>
      </dsp:txXfrm>
    </dsp:sp>
    <dsp:sp modelId="{B8CCFC0B-0911-9F4C-BD23-ABA87542E797}">
      <dsp:nvSpPr>
        <dsp:cNvPr id="0" name=""/>
        <dsp:cNvSpPr/>
      </dsp:nvSpPr>
      <dsp:spPr>
        <a:xfrm>
          <a:off x="4476195" y="4583162"/>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root</a:t>
          </a:r>
        </a:p>
      </dsp:txBody>
      <dsp:txXfrm>
        <a:off x="4499588" y="4606555"/>
        <a:ext cx="1550635" cy="751924"/>
      </dsp:txXfrm>
    </dsp:sp>
    <dsp:sp modelId="{05BA1D23-2B69-214E-A37E-D88B8BD4CA36}">
      <dsp:nvSpPr>
        <dsp:cNvPr id="0" name=""/>
        <dsp:cNvSpPr/>
      </dsp:nvSpPr>
      <dsp:spPr>
        <a:xfrm rot="4249260">
          <a:off x="3184216" y="4973673"/>
          <a:ext cx="1944988" cy="17687"/>
        </a:xfrm>
        <a:custGeom>
          <a:avLst/>
          <a:gdLst/>
          <a:ahLst/>
          <a:cxnLst/>
          <a:rect l="0" t="0" r="0" b="0"/>
          <a:pathLst>
            <a:path>
              <a:moveTo>
                <a:pt x="0" y="8843"/>
              </a:moveTo>
              <a:lnTo>
                <a:pt x="1944988" y="8843"/>
              </a:lnTo>
            </a:path>
          </a:pathLst>
        </a:custGeom>
        <a:noFill/>
        <a:ln w="25400" cap="flat" cmpd="dbl"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dirty="0"/>
        </a:p>
      </dsp:txBody>
      <dsp:txXfrm>
        <a:off x="4108086" y="4933892"/>
        <a:ext cx="97249" cy="97249"/>
      </dsp:txXfrm>
    </dsp:sp>
    <dsp:sp modelId="{6A9E51C8-AF9E-774E-8ADB-D29810692F61}">
      <dsp:nvSpPr>
        <dsp:cNvPr id="0" name=""/>
        <dsp:cNvSpPr/>
      </dsp:nvSpPr>
      <dsp:spPr>
        <a:xfrm>
          <a:off x="4476195" y="5501679"/>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spark</a:t>
          </a:r>
        </a:p>
      </dsp:txBody>
      <dsp:txXfrm>
        <a:off x="4499588" y="5525072"/>
        <a:ext cx="1550635" cy="751924"/>
      </dsp:txXfrm>
    </dsp:sp>
    <dsp:sp modelId="{A3A7FF4A-9AF4-9C4F-BC1B-503E87DFAADA}">
      <dsp:nvSpPr>
        <dsp:cNvPr id="0" name=""/>
        <dsp:cNvSpPr/>
      </dsp:nvSpPr>
      <dsp:spPr>
        <a:xfrm rot="3907178">
          <a:off x="1160954" y="4284785"/>
          <a:ext cx="1518732" cy="17687"/>
        </a:xfrm>
        <a:custGeom>
          <a:avLst/>
          <a:gdLst/>
          <a:ahLst/>
          <a:cxnLst/>
          <a:rect l="0" t="0" r="0" b="0"/>
          <a:pathLst>
            <a:path>
              <a:moveTo>
                <a:pt x="0" y="8843"/>
              </a:moveTo>
              <a:lnTo>
                <a:pt x="1518732" y="8843"/>
              </a:lnTo>
            </a:path>
          </a:pathLst>
        </a:custGeom>
        <a:noFill/>
        <a:ln w="25400" cap="flat" cmpd="dbl"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dirty="0"/>
        </a:p>
      </dsp:txBody>
      <dsp:txXfrm>
        <a:off x="1882352" y="4255661"/>
        <a:ext cx="75936" cy="75936"/>
      </dsp:txXfrm>
    </dsp:sp>
    <dsp:sp modelId="{339C4CA2-8CE1-B849-8CC6-B991A22A5730}">
      <dsp:nvSpPr>
        <dsp:cNvPr id="0" name=""/>
        <dsp:cNvSpPr/>
      </dsp:nvSpPr>
      <dsp:spPr>
        <a:xfrm>
          <a:off x="2239804" y="4583162"/>
          <a:ext cx="1597421" cy="798710"/>
        </a:xfrm>
        <a:prstGeom prst="roundRect">
          <a:avLst>
            <a:gd name="adj" fmla="val 10000"/>
          </a:avLst>
        </a:prstGeom>
        <a:solidFill>
          <a:schemeClr val="accent1">
            <a:hueOff val="0"/>
            <a:satOff val="0"/>
            <a:lumOff val="0"/>
            <a:alphaOff val="0"/>
          </a:schemeClr>
        </a:solidFill>
        <a:ln w="25400" cap="flat" cmpd="dbl"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2"/>
              </a:solidFill>
            </a:rPr>
            <a:t>var</a:t>
          </a:r>
        </a:p>
      </dsp:txBody>
      <dsp:txXfrm>
        <a:off x="2263197" y="4606555"/>
        <a:ext cx="1550635" cy="751924"/>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5">
  <dgm:title val=""/>
  <dgm:desc val=""/>
  <dgm:catLst>
    <dgm:cat type="hierarchy" pri="6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resOf/>
    <dgm:shape xmlns:r="http://schemas.openxmlformats.org/officeDocument/2006/relationships" r:blip="">
      <dgm:adjLst/>
    </dgm:shape>
    <dgm:choose name="Name0">
      <dgm:if name="Name1" axis="ch" ptType="node" func="cnt" op="gte" val="2">
        <dgm:choose name="Name2">
          <dgm:if name="Name3" func="var" arg="dir" op="equ" val="norm">
            <dgm:constrLst>
              <dgm:constr type="l" for="ch" forName="hierFlow"/>
              <dgm:constr type="t" for="ch" forName="hierFlow" refType="h" fact="0.3"/>
              <dgm:constr type="r" for="ch" forName="hierFlow" refType="w" fact="0.98"/>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if>
          <dgm:else name="Name4">
            <dgm:constrLst>
              <dgm:constr type="l" for="ch" forName="hierFlow" refType="w" fact="0.02"/>
              <dgm:constr type="t" for="ch" forName="hierFlow" refType="h" fact="0.3"/>
              <dgm:constr type="r" for="ch" forName="hierFlow" refType="w"/>
              <dgm:constr type="b" for="ch" forName="hierFlow" refType="h" fact="0.96"/>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h" for="des" forName="level1Shape" refType="h"/>
          <dgm:constr type="w" for="des" forName="level1Shape" refType="h" refFor="des" refForName="level1Shape" fact="2"/>
          <dgm:constr type="w" for="des" forName="level2Shape" refType="w" refFor="des" refForName="level1Shape" op="equ"/>
          <dgm:constr type="h" for="des" forName="level2Shape" refType="h" refFor="des" refForName="level1Shape" op="equ"/>
          <dgm:constr type="sp" for="des" refType="w" refFor="des" refForName="level1Shape" op="equ" fact="0.4"/>
          <dgm:constr type="sibSp" for="des" forName="hierChild1" refType="h" refFor="des" refForName="level1Shape" op="equ" fact="0.15"/>
          <dgm:constr type="sibSp" for="des" forName="hierChild2" refType="sibSp" refFor="des" refForName="hierChild1" op="equ"/>
          <dgm:constr type="sibSp" for="des" forName="hierChild3" refType="sibSp" refFor="des" refForName="hierChild1" op="equ"/>
          <dgm:constr type="userA" for="des" refType="w" refFor="des" refForName="level1Shape" op="equ"/>
          <dgm:constr type="userB" for="des" refType="sp" refFor="des" op="equ"/>
          <dgm:constr type="w" for="des" forName="firstBuf" refType="w" refFor="des" refForName="level1Shape" fact="0.1"/>
        </dgm:constrLst>
      </dgm:else>
    </dgm:choose>
    <dgm:ruleLst/>
    <dgm:layoutNode name="hierFlow">
      <dgm:choose name="Name6">
        <dgm:if name="Name7" func="var" arg="dir" op="equ" val="norm">
          <dgm:alg type="lin">
            <dgm:param type="linDir" val="fromL"/>
            <dgm:param type="nodeVertAlign" val="mid"/>
            <dgm:param type="vertAlign" val="mid"/>
            <dgm:param type="nodeHorzAlign" val="l"/>
            <dgm:param type="horzAlign" val="l"/>
            <dgm:param type="fallback" val="2D"/>
          </dgm:alg>
        </dgm:if>
        <dgm:else name="Name8">
          <dgm:alg type="lin">
            <dgm:param type="linDir" val="fromR"/>
            <dgm:param type="nodeVertAlign" val="mid"/>
            <dgm:param type="vertAlign" val="mid"/>
            <dgm:param type="nodeHorzAlign" val="r"/>
            <dgm:param type="horzAlign" val="r"/>
            <dgm:param type="fallback" val="2D"/>
          </dgm:alg>
        </dgm:else>
      </dgm:choose>
      <dgm:shape xmlns:r="http://schemas.openxmlformats.org/officeDocument/2006/relationships" r:blip="">
        <dgm:adjLst/>
      </dgm:shape>
      <dgm:presOf/>
      <dgm:constrLst>
        <dgm:constr type="primFontSz" for="des" ptType="node" op="equ" val="65"/>
        <dgm:constr type="primFontSz" for="des" forName="connTx" op="equ" val="55"/>
        <dgm:constr type="primFontSz" for="des" forName="connTx" refType="primFontSz" refFor="des" refPtType="node" op="lte" fact="0.8"/>
      </dgm:constrLst>
      <dgm:ruleLst/>
      <dgm:choose name="Name9">
        <dgm:if name="Name10" axis="ch" ptType="node" func="cnt" op="gte" val="2">
          <dgm:layoutNode name="firstBuf">
            <dgm:alg type="sp"/>
            <dgm:shape xmlns:r="http://schemas.openxmlformats.org/officeDocument/2006/relationships" r:blip="">
              <dgm:adjLst/>
            </dgm:shape>
            <dgm:presOf/>
            <dgm:constrLst/>
            <dgm:ruleLst/>
          </dgm:layoutNode>
        </dgm:if>
        <dgm:else name="Name11"/>
      </dgm:choose>
      <dgm:layoutNode name="hierChild1">
        <dgm:varLst>
          <dgm:chPref val="1"/>
          <dgm:animOne val="branch"/>
          <dgm:animLvl val="lvl"/>
        </dgm:varLst>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constrLst/>
        <dgm:ruleLst/>
        <dgm:forEach name="Name15" axis="ch" cnt="3">
          <dgm:forEach name="Name16" axis="self" ptType="node">
            <dgm:layoutNode name="Name17">
              <dgm:choose name="Name18">
                <dgm:if name="Name19" func="var" arg="dir" op="equ" val="norm">
                  <dgm:alg type="hierRoot">
                    <dgm:param type="hierAlign" val="lCtrCh"/>
                  </dgm:alg>
                </dgm:if>
                <dgm:else name="Name20">
                  <dgm:alg type="hierRoot">
                    <dgm:param type="hierAlign" val="rCtrCh"/>
                  </dgm:alg>
                </dgm:else>
              </dgm:choose>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2">
                <dgm:choose name="Name21">
                  <dgm:if name="Name22" func="var" arg="dir" op="equ" val="norm">
                    <dgm:alg type="hierChild">
                      <dgm:param type="linDir" val="fromT"/>
                      <dgm:param type="chAlign" val="l"/>
                    </dgm:alg>
                  </dgm:if>
                  <dgm:else name="Name23">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24" axis="self" ptType="parTrans" cnt="1">
                    <dgm:layoutNode name="Name25">
                      <dgm:choose name="Name26">
                        <dgm:if name="Name27" func="var" arg="dir" op="equ" val="norm">
                          <dgm:alg type="conn">
                            <dgm:param type="dim" val="1D"/>
                            <dgm:param type="begPts" val="midR"/>
                            <dgm:param type="endPts" val="midL"/>
                            <dgm:param type="endSty" val="noArr"/>
                          </dgm:alg>
                        </dgm:if>
                        <dgm:else name="Name28">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29" axis="self" ptType="node">
                    <dgm:layoutNode name="Name30">
                      <dgm:choose name="Name31">
                        <dgm:if name="Name32" func="var" arg="dir" op="equ" val="norm">
                          <dgm:alg type="hierRoot">
                            <dgm:param type="hierAlign" val="lCtrCh"/>
                          </dgm:alg>
                        </dgm:if>
                        <dgm:else name="Name33">
                          <dgm:alg type="hierRoot">
                            <dgm:param type="hierAlign" val="rCtrCh"/>
                          </dgm:alg>
                        </dgm:else>
                      </dgm:choose>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hierChild3">
                        <dgm:choose name="Name34">
                          <dgm:if name="Name35" func="var" arg="dir" op="equ" val="norm">
                            <dgm:alg type="hierChild">
                              <dgm:param type="linDir" val="fromT"/>
                              <dgm:param type="chAlign" val="l"/>
                            </dgm:alg>
                          </dgm:if>
                          <dgm:else name="Name36">
                            <dgm:alg type="hierChild">
                              <dgm:param type="linDir" val="fromT"/>
                              <dgm:param type="chAlign" val="r"/>
                            </dgm:alg>
                          </dgm:else>
                        </dgm:choose>
                        <dgm:shape xmlns:r="http://schemas.openxmlformats.org/officeDocument/2006/relationships" r:blip="">
                          <dgm:adjLst/>
                        </dgm:shape>
                        <dgm:presOf/>
                        <dgm:constrLst/>
                        <dgm:ruleLst/>
                        <dgm:forEach name="Name37" ref="repeat"/>
                      </dgm:layoutNode>
                    </dgm:layoutNode>
                  </dgm:forEach>
                </dgm:forEach>
              </dgm:layoutNode>
            </dgm:layoutNode>
          </dgm:forEach>
        </dgm:forEach>
      </dgm:layoutNode>
    </dgm:layoutNode>
    <dgm:layoutNode name="bgShapesFlow">
      <dgm:choose name="Name38">
        <dgm:if name="Name39" func="var" arg="dir" op="equ" val="norm">
          <dgm:alg type="lin">
            <dgm:param type="linDir" val="fromL"/>
            <dgm:param type="nodeVertAlign" val="mid"/>
            <dgm:param type="vertAlign" val="mid"/>
            <dgm:param type="nodeHorzAlign" val="l"/>
            <dgm:param type="horzAlign" val="l"/>
          </dgm:alg>
        </dgm:if>
        <dgm:else name="Name40">
          <dgm:alg type="lin">
            <dgm:param type="linDir" val="fromR"/>
            <dgm:param type="nodeVertAlign" val="mid"/>
            <dgm:param type="vertAlign" val="mid"/>
            <dgm:param type="nodeHorzAlign" val="r"/>
            <dgm:param type="horzAlign" val="r"/>
          </dgm:alg>
        </dgm:else>
      </dgm:choose>
      <dgm:shape xmlns:r="http://schemas.openxmlformats.org/officeDocument/2006/relationships" r:blip="">
        <dgm:adjLst/>
      </dgm:shape>
      <dgm:presOf/>
      <dgm:constrLst>
        <dgm:constr type="w" for="ch" forName="rectComp" refType="w"/>
        <dgm:constr type="h" for="ch" forName="rectComp" refType="h"/>
        <dgm:constr type="h" for="des" forName="bgRect" refType="h"/>
        <dgm:constr type="primFontSz" for="des" forName="bgRectTx" op="equ" val="65"/>
      </dgm:constrLst>
      <dgm:ruleLst/>
      <dgm:forEach name="Name41" axis="ch" ptType="node" st="2">
        <dgm:layoutNode name="rectComp">
          <dgm:alg type="composite"/>
          <dgm:shape xmlns:r="http://schemas.openxmlformats.org/officeDocument/2006/relationships" r:blip="">
            <dgm:adjLst/>
          </dgm:shape>
          <dgm:presOf/>
          <dgm:constrLst>
            <dgm:constr type="userA"/>
            <dgm:constr type="l" for="ch" forName="bgRect"/>
            <dgm:constr type="t" for="ch" forName="bgRect"/>
            <dgm:constr type="w" for="ch" forName="bgRect" refType="userA" fact="1.2"/>
            <dgm:constr type="l" for="ch" forName="bgRectTx"/>
            <dgm:constr type="t" for="ch" forName="bgRectTx"/>
            <dgm:constr type="h" for="ch" forName="bgRectTx" refType="h" refFor="ch" refForName="bgRect" fact="0.3"/>
            <dgm:constr type="w" for="ch" forName="bgRectTx" refType="w" refFor="ch" refForName="bgRect" op="equ"/>
          </dgm:constrLst>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shape xmlns:r="http://schemas.openxmlformats.org/officeDocument/2006/relationships" type="rect" r:blip="" zOrderOff="-999" hideGeom="1">
              <dgm:adjLst/>
            </dgm:shape>
            <dgm:presOf axis="desOrSelf" ptType="node"/>
            <dgm:constrLst/>
            <dgm:ruleLst>
              <dgm:rule type="primFontSz" val="5" fact="NaN" max="NaN"/>
            </dgm:ruleLst>
          </dgm:layoutNode>
        </dgm:layoutNode>
        <dgm:choose name="Name42">
          <dgm:if name="Name43" axis="self" ptType="node" func="revPos" op="gte" val="2">
            <dgm:layoutNode name="spComp">
              <dgm:alg type="composite"/>
              <dgm:shape xmlns:r="http://schemas.openxmlformats.org/officeDocument/2006/relationships" r:blip="">
                <dgm:adjLst/>
              </dgm:shape>
              <dgm:presOf/>
              <dgm:constrLst>
                <dgm:constr type="userA"/>
                <dgm:constr type="userB"/>
                <dgm:constr type="l" for="ch" forName="hSp"/>
                <dgm:constr type="t" for="ch" forName="hSp"/>
                <dgm:constr type="w" for="ch" forName="hSp" refType="userB"/>
                <dgm:constr type="wOff" for="ch" forName="hSp" refType="userA" fact="-0.2"/>
              </dgm:constrLst>
              <dgm:ruleLst/>
              <dgm:layoutNode name="hSp">
                <dgm:alg type="sp"/>
                <dgm:shape xmlns:r="http://schemas.openxmlformats.org/officeDocument/2006/relationships" r:blip="">
                  <dgm:adjLst/>
                </dgm:shape>
                <dgm:presOf/>
                <dgm:constrLst/>
                <dgm:ruleLst/>
              </dgm:layoutNode>
            </dgm:layoutNode>
          </dgm:if>
          <dgm:else name="Name44"/>
        </dgm:choos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D919ED-7EBC-0349-92FD-49744747E976}" type="datetimeFigureOut">
              <a:rPr lang="en-US" smtClean="0"/>
              <a:t>8/29/2024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71147B-6250-B74A-893B-83F308D48EF2}" type="slidenum">
              <a:rPr lang="en-US" smtClean="0"/>
              <a:t>‹#›</a:t>
            </a:fld>
            <a:endParaRPr lang="en-US" dirty="0"/>
          </a:p>
        </p:txBody>
      </p:sp>
    </p:spTree>
    <p:extLst>
      <p:ext uri="{BB962C8B-B14F-4D97-AF65-F5344CB8AC3E}">
        <p14:creationId xmlns:p14="http://schemas.microsoft.com/office/powerpoint/2010/main" val="221214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8</a:t>
            </a:fld>
            <a:endParaRPr lang="en-US" dirty="0"/>
          </a:p>
        </p:txBody>
      </p:sp>
    </p:spTree>
    <p:extLst>
      <p:ext uri="{BB962C8B-B14F-4D97-AF65-F5344CB8AC3E}">
        <p14:creationId xmlns:p14="http://schemas.microsoft.com/office/powerpoint/2010/main" val="1741024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0438F4-F50F-CB45-854D-6A1A628F6287}" type="slidenum">
              <a:rPr lang="en-US" smtClean="0"/>
              <a:t>17</a:t>
            </a:fld>
            <a:endParaRPr lang="en-US" dirty="0"/>
          </a:p>
        </p:txBody>
      </p:sp>
    </p:spTree>
    <p:extLst>
      <p:ext uri="{BB962C8B-B14F-4D97-AF65-F5344CB8AC3E}">
        <p14:creationId xmlns:p14="http://schemas.microsoft.com/office/powerpoint/2010/main" val="1470878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70438F4-F50F-CB45-854D-6A1A628F6287}" type="slidenum">
              <a:rPr lang="en-US" smtClean="0"/>
              <a:t>18</a:t>
            </a:fld>
            <a:endParaRPr lang="en-US" dirty="0"/>
          </a:p>
        </p:txBody>
      </p:sp>
    </p:spTree>
    <p:extLst>
      <p:ext uri="{BB962C8B-B14F-4D97-AF65-F5344CB8AC3E}">
        <p14:creationId xmlns:p14="http://schemas.microsoft.com/office/powerpoint/2010/main" val="31713861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71147B-6250-B74A-893B-83F308D48EF2}" type="slidenum">
              <a:rPr lang="en-US" smtClean="0"/>
              <a:t>19</a:t>
            </a:fld>
            <a:endParaRPr lang="en-US" dirty="0"/>
          </a:p>
        </p:txBody>
      </p:sp>
    </p:spTree>
    <p:extLst>
      <p:ext uri="{BB962C8B-B14F-4D97-AF65-F5344CB8AC3E}">
        <p14:creationId xmlns:p14="http://schemas.microsoft.com/office/powerpoint/2010/main" val="5679507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dirty="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A536A5-2511-45D9-8AD9-23F11C951D17}" type="datetime1">
              <a:rPr lang="en-US" smtClean="0"/>
              <a:t>8/29/2024</a:t>
            </a:fld>
            <a:endParaRPr lang="en-US" dirty="0"/>
          </a:p>
        </p:txBody>
      </p:sp>
      <p:sp>
        <p:nvSpPr>
          <p:cNvPr id="4" name="Footer Placeholder 3"/>
          <p:cNvSpPr>
            <a:spLocks noGrp="1"/>
          </p:cNvSpPr>
          <p:nvPr>
            <p:ph type="ftr" sz="quarter" idx="11"/>
          </p:nvPr>
        </p:nvSpPr>
        <p:spPr/>
        <p:txBody>
          <a:bodyPr/>
          <a:lstStyle/>
          <a:p>
            <a:r>
              <a:rPr lang="sk-SK" dirty="0"/>
              <a:t>CSP554</a:t>
            </a:r>
            <a:r>
              <a:rPr lang="en-US" dirty="0"/>
              <a:t> Module 02a</a:t>
            </a:r>
          </a:p>
        </p:txBody>
      </p:sp>
      <p:sp>
        <p:nvSpPr>
          <p:cNvPr id="5" name="Slide Number Placeholder 4"/>
          <p:cNvSpPr>
            <a:spLocks noGrp="1"/>
          </p:cNvSpPr>
          <p:nvPr>
            <p:ph type="sldNum" sz="quarter" idx="12"/>
          </p:nvPr>
        </p:nvSpPr>
        <p:spPr/>
        <p:txBody>
          <a:bodyPr/>
          <a:lstStyle/>
          <a:p>
            <a:fld id="{9AA7C465-8597-4488-B68C-958448427716}" type="slidenum">
              <a:rPr lang="en-US" smtClean="0"/>
              <a:t>‹#›</a:t>
            </a:fld>
            <a:endParaRPr lang="en-US" dirty="0"/>
          </a:p>
        </p:txBody>
      </p:sp>
    </p:spTree>
    <p:extLst>
      <p:ext uri="{BB962C8B-B14F-4D97-AF65-F5344CB8AC3E}">
        <p14:creationId xmlns:p14="http://schemas.microsoft.com/office/powerpoint/2010/main" val="15931390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6"/>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7">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 id="2147483677" r:id="rId4"/>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4.xml"/><Relationship Id="rId5" Type="http://schemas.openxmlformats.org/officeDocument/2006/relationships/image" Target="../media/image12.emf"/><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124E-2AFD-8B0F-2A0E-4F4FC4AEE7C8}"/>
              </a:ext>
            </a:extLst>
          </p:cNvPr>
          <p:cNvSpPr>
            <a:spLocks noGrp="1"/>
          </p:cNvSpPr>
          <p:nvPr>
            <p:ph type="ctrTitle"/>
          </p:nvPr>
        </p:nvSpPr>
        <p:spPr/>
        <p:txBody>
          <a:bodyPr/>
          <a:lstStyle/>
          <a:p>
            <a:r>
              <a:rPr lang="en-US" dirty="0"/>
              <a:t>Module 2: Lesson 2</a:t>
            </a:r>
            <a:br>
              <a:rPr lang="en-US" dirty="0"/>
            </a:br>
            <a:r>
              <a:rPr lang="en-US" sz="5400" dirty="0"/>
              <a:t>Hadoop Distributed File System Overview</a:t>
            </a:r>
            <a:endParaRPr lang="en-US" dirty="0"/>
          </a:p>
        </p:txBody>
      </p:sp>
    </p:spTree>
    <p:custDataLst>
      <p:tags r:id="rId1"/>
    </p:custDataLst>
    <p:extLst>
      <p:ext uri="{BB962C8B-B14F-4D97-AF65-F5344CB8AC3E}">
        <p14:creationId xmlns:p14="http://schemas.microsoft.com/office/powerpoint/2010/main" val="524981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8E51E15-C1E7-0857-4D9F-01D7E8F0D419}"/>
              </a:ext>
            </a:extLst>
          </p:cNvPr>
          <p:cNvSpPr>
            <a:spLocks noGrp="1"/>
          </p:cNvSpPr>
          <p:nvPr>
            <p:ph type="title"/>
          </p:nvPr>
        </p:nvSpPr>
        <p:spPr/>
        <p:txBody>
          <a:bodyPr>
            <a:normAutofit fontScale="90000"/>
          </a:bodyPr>
          <a:lstStyle/>
          <a:p>
            <a:r>
              <a:rPr lang="en-US" dirty="0"/>
              <a:t>Big Data: Where Do We Store It?</a:t>
            </a:r>
            <a:br>
              <a:rPr lang="en-US" dirty="0"/>
            </a:br>
            <a:r>
              <a:rPr lang="en-US" sz="4650" dirty="0"/>
              <a:t>Our Ability to Store Data Physically is Improving</a:t>
            </a:r>
            <a:endParaRPr lang="en-US" dirty="0"/>
          </a:p>
        </p:txBody>
      </p:sp>
      <p:sp>
        <p:nvSpPr>
          <p:cNvPr id="6" name="Content Placeholder 5">
            <a:extLst>
              <a:ext uri="{FF2B5EF4-FFF2-40B4-BE49-F238E27FC236}">
                <a16:creationId xmlns:a16="http://schemas.microsoft.com/office/drawing/2014/main" id="{D48C88DE-B786-F56C-1DD5-A6920FADD3CF}"/>
              </a:ext>
            </a:extLst>
          </p:cNvPr>
          <p:cNvSpPr>
            <a:spLocks noGrp="1"/>
          </p:cNvSpPr>
          <p:nvPr>
            <p:ph idx="1"/>
          </p:nvPr>
        </p:nvSpPr>
        <p:spPr>
          <a:xfrm>
            <a:off x="2084989" y="2384319"/>
            <a:ext cx="13830300" cy="1485902"/>
          </a:xfrm>
        </p:spPr>
        <p:txBody>
          <a:bodyPr>
            <a:normAutofit fontScale="62500" lnSpcReduction="20000"/>
          </a:bodyPr>
          <a:lstStyle/>
          <a:p>
            <a:pPr marL="0" indent="0" algn="ctr">
              <a:buNone/>
            </a:pPr>
            <a:endParaRPr lang="en-US" b="0" i="0" dirty="0">
              <a:solidFill>
                <a:srgbClr val="000000"/>
              </a:solidFill>
              <a:effectLst/>
              <a:latin typeface="bitter"/>
            </a:endParaRPr>
          </a:p>
          <a:p>
            <a:pPr marL="0" indent="0" algn="ctr">
              <a:buNone/>
            </a:pPr>
            <a:r>
              <a:rPr lang="en-US" sz="5100" b="0" i="0" dirty="0">
                <a:solidFill>
                  <a:srgbClr val="000000"/>
                </a:solidFill>
                <a:effectLst/>
                <a:latin typeface="bitter"/>
              </a:rPr>
              <a:t>Western Digital HDD capacity hits 28TB as Seagate looks to 30TB and beyond</a:t>
            </a:r>
          </a:p>
          <a:p>
            <a:endParaRPr lang="en-US" dirty="0"/>
          </a:p>
        </p:txBody>
      </p:sp>
      <p:pic>
        <p:nvPicPr>
          <p:cNvPr id="1026" name="Picture 2" descr="Western Digital is gearing up to sample its first 28TB HDDs to customers, around a year after announcing its first 26TB drives.">
            <a:extLst>
              <a:ext uri="{FF2B5EF4-FFF2-40B4-BE49-F238E27FC236}">
                <a16:creationId xmlns:a16="http://schemas.microsoft.com/office/drawing/2014/main" id="{55F1188A-627D-EEE4-AE5B-C5E64EA88A9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814" b="14696"/>
          <a:stretch/>
        </p:blipFill>
        <p:spPr bwMode="auto">
          <a:xfrm>
            <a:off x="3397469" y="4473033"/>
            <a:ext cx="11430000" cy="37030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8866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fontScale="90000"/>
          </a:bodyPr>
          <a:lstStyle/>
          <a:p>
            <a:r>
              <a:rPr lang="en-US" dirty="0"/>
              <a:t>Big Data: Where to Store It?</a:t>
            </a:r>
            <a:br>
              <a:rPr lang="en-US" dirty="0"/>
            </a:br>
            <a:r>
              <a:rPr lang="en-US" sz="4650" dirty="0"/>
              <a:t>But How do We Organize Big Data For Effective Use?</a:t>
            </a:r>
            <a:endParaRPr lang="en-US" dirty="0"/>
          </a:p>
        </p:txBody>
      </p:sp>
      <p:sp>
        <p:nvSpPr>
          <p:cNvPr id="4" name="Footer Placeholder 3">
            <a:extLst>
              <a:ext uri="{FF2B5EF4-FFF2-40B4-BE49-F238E27FC236}">
                <a16:creationId xmlns:a16="http://schemas.microsoft.com/office/drawing/2014/main" id="{4C20FECF-B966-6A64-072C-C24A324F8E5C}"/>
              </a:ext>
            </a:extLst>
          </p:cNvPr>
          <p:cNvSpPr>
            <a:spLocks noGrp="1"/>
          </p:cNvSpPr>
          <p:nvPr>
            <p:ph type="ftr" sz="quarter" idx="11"/>
          </p:nvPr>
        </p:nvSpPr>
        <p:spPr>
          <a:xfrm>
            <a:off x="3429000" y="18288"/>
            <a:ext cx="4114800" cy="329184"/>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Big Data Technologies - Module 01a</a:t>
            </a:r>
          </a:p>
        </p:txBody>
      </p:sp>
      <p:sp>
        <p:nvSpPr>
          <p:cNvPr id="5" name="Slide Number Placeholder 4">
            <a:extLst>
              <a:ext uri="{FF2B5EF4-FFF2-40B4-BE49-F238E27FC236}">
                <a16:creationId xmlns:a16="http://schemas.microsoft.com/office/drawing/2014/main" id="{12F4C9CE-0775-9EC1-486F-C1EAEB53C117}"/>
              </a:ext>
            </a:extLst>
          </p:cNvPr>
          <p:cNvSpPr>
            <a:spLocks noGrp="1"/>
          </p:cNvSpPr>
          <p:nvPr>
            <p:ph type="sldNum" sz="quarter" idx="12"/>
          </p:nvPr>
        </p:nvSpPr>
        <p:spPr>
          <a:xfrm>
            <a:off x="7620000" y="18288"/>
            <a:ext cx="1066800" cy="329184"/>
          </a:xfrm>
          <a:prstGeom prst="rect">
            <a:avLst/>
          </a:prstGeom>
        </p:spPr>
        <p:txBody>
          <a:bodyPr vert="horz" lIns="91440" tIns="45720" rIns="91440" bIns="45720" rtlCol="0" anchor="ctr"/>
          <a:lstStyle>
            <a:defPPr>
              <a:defRPr lang="en-US"/>
            </a:defPPr>
            <a:lvl1pPr marL="0" algn="l" defTabSz="914400" rtl="0" eaLnBrk="1" latinLnBrk="0" hangingPunct="1">
              <a:defRPr sz="1400" b="1"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89303E2-24A7-45FB-8F9B-C98A0FA0F4CA}" type="slidenum">
              <a:rPr lang="en-US" smtClean="0"/>
              <a:pPr/>
              <a:t>3</a:t>
            </a:fld>
            <a:endParaRPr lang="en-US" dirty="0"/>
          </a:p>
        </p:txBody>
      </p:sp>
      <p:graphicFrame>
        <p:nvGraphicFramePr>
          <p:cNvPr id="16" name="Content Placeholder 6">
            <a:extLst>
              <a:ext uri="{FF2B5EF4-FFF2-40B4-BE49-F238E27FC236}">
                <a16:creationId xmlns:a16="http://schemas.microsoft.com/office/drawing/2014/main" id="{618E5F47-9438-9B29-F507-C8B333BB838C}"/>
              </a:ext>
            </a:extLst>
          </p:cNvPr>
          <p:cNvGraphicFramePr>
            <a:graphicFrameLocks noGrp="1"/>
          </p:cNvGraphicFramePr>
          <p:nvPr>
            <p:ph idx="1"/>
          </p:nvPr>
        </p:nvGraphicFramePr>
        <p:xfrm>
          <a:off x="1098550" y="1709351"/>
          <a:ext cx="15598394" cy="765536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4273110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285664-0D67-95B0-79C7-11B7CA4B0FED}"/>
              </a:ext>
            </a:extLst>
          </p:cNvPr>
          <p:cNvSpPr>
            <a:spLocks noGrp="1"/>
          </p:cNvSpPr>
          <p:nvPr>
            <p:ph type="title"/>
          </p:nvPr>
        </p:nvSpPr>
        <p:spPr/>
        <p:txBody>
          <a:bodyPr>
            <a:normAutofit fontScale="90000"/>
          </a:bodyPr>
          <a:lstStyle/>
          <a:p>
            <a:r>
              <a:rPr lang="en-US" dirty="0"/>
              <a:t>Big Data: Where to Store It?</a:t>
            </a:r>
            <a:br>
              <a:rPr lang="en-US" dirty="0"/>
            </a:br>
            <a:r>
              <a:rPr lang="en-US" sz="4650" dirty="0"/>
              <a:t>But How do We Organize Big Data For Effective Use?</a:t>
            </a:r>
            <a:endParaRPr lang="en-US" dirty="0"/>
          </a:p>
        </p:txBody>
      </p:sp>
      <p:graphicFrame>
        <p:nvGraphicFramePr>
          <p:cNvPr id="16" name="Content Placeholder 6">
            <a:extLst>
              <a:ext uri="{FF2B5EF4-FFF2-40B4-BE49-F238E27FC236}">
                <a16:creationId xmlns:a16="http://schemas.microsoft.com/office/drawing/2014/main" id="{618E5F47-9438-9B29-F507-C8B333BB838C}"/>
              </a:ext>
            </a:extLst>
          </p:cNvPr>
          <p:cNvGraphicFramePr>
            <a:graphicFrameLocks noGrp="1"/>
          </p:cNvGraphicFramePr>
          <p:nvPr>
            <p:ph idx="1"/>
            <p:extLst>
              <p:ext uri="{D42A27DB-BD31-4B8C-83A1-F6EECF244321}">
                <p14:modId xmlns:p14="http://schemas.microsoft.com/office/powerpoint/2010/main" val="1368616780"/>
              </p:ext>
            </p:extLst>
          </p:nvPr>
        </p:nvGraphicFramePr>
        <p:xfrm>
          <a:off x="1098550" y="1772413"/>
          <a:ext cx="15598394" cy="57988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721540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Distributed File Systems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800" dirty="0">
                <a:solidFill>
                  <a:schemeClr val="bg2"/>
                </a:solidFill>
                <a:effectLst/>
                <a:ea typeface="Calibri" panose="020F0502020204030204" pitchFamily="34" charset="0"/>
                <a:cs typeface="Times New Roman" panose="02020603050405020304" pitchFamily="18" charset="0"/>
              </a:rPr>
              <a:t>When a dataset outgrows the storage capacity of a single physical machine or storage device…</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800" dirty="0">
                <a:solidFill>
                  <a:schemeClr val="tx1"/>
                </a:solidFill>
              </a:rPr>
              <a:t>It becomes necessary to partition storage across a number of separate machines or devices</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algn="ctr">
              <a:spcBef>
                <a:spcPts val="0"/>
              </a:spcBef>
              <a:spcAft>
                <a:spcPts val="0"/>
              </a:spcAft>
            </a:pPr>
            <a:r>
              <a:rPr lang="en-US" sz="2800" dirty="0">
                <a:solidFill>
                  <a:schemeClr val="tx1"/>
                </a:solidFill>
                <a:effectLst/>
                <a:ea typeface="Calibri" panose="020F0502020204030204" pitchFamily="34" charset="0"/>
                <a:cs typeface="Times New Roman" panose="02020603050405020304" pitchFamily="18" charset="0"/>
              </a:rPr>
              <a:t>File systems that manage storage across a cluster of machines are called distributed file systems</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8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8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8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800" dirty="0">
                <a:solidFill>
                  <a:schemeClr val="bg2"/>
                </a:solidFill>
              </a:rPr>
              <a:t>Distributed file systems are more complex (subject to more failure modes) than centralized ones</a:t>
            </a:r>
            <a:endParaRPr lang="en-US" sz="2800" dirty="0">
              <a:solidFill>
                <a:schemeClr val="bg2"/>
              </a:solidFill>
              <a:effectLst/>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So the file system must tolerate node, storage and other failures without suffering data loss</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dirty="0"/>
          </a:p>
        </p:txBody>
      </p:sp>
    </p:spTree>
    <p:extLst>
      <p:ext uri="{BB962C8B-B14F-4D97-AF65-F5344CB8AC3E}">
        <p14:creationId xmlns:p14="http://schemas.microsoft.com/office/powerpoint/2010/main" val="1453799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Hadoop Distributed File System</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00787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ffectLst/>
                <a:ea typeface="Calibri" panose="020F0502020204030204" pitchFamily="34" charset="0"/>
                <a:cs typeface="Times New Roman" panose="02020603050405020304" pitchFamily="18" charset="0"/>
              </a:rPr>
              <a:t>Hadoop comes with a standard distributed file system</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1718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Hadoop Distributed File System (HDFS)</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434340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2400" b="0" i="0" dirty="0">
                <a:solidFill>
                  <a:schemeClr val="tx1"/>
                </a:solidFill>
                <a:effectLst/>
              </a:rPr>
              <a:t>Provide fault tolerant and scalable data storage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00787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19087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434340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5487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Optimized for analysis of large and sometimes growing datasets of mostly unchanging records</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5487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663130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rPr>
              <a:t>Designed to work seamlessly with the MapReduce programming model </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663130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5" name="Rectangle 14">
            <a:extLst>
              <a:ext uri="{FF2B5EF4-FFF2-40B4-BE49-F238E27FC236}">
                <a16:creationId xmlns:a16="http://schemas.microsoft.com/office/drawing/2014/main" id="{30BD2D3F-28AF-9256-511F-A2568BF818A0}"/>
              </a:ext>
            </a:extLst>
          </p:cNvPr>
          <p:cNvSpPr/>
          <p:nvPr/>
        </p:nvSpPr>
        <p:spPr>
          <a:xfrm>
            <a:off x="1262933" y="7812405"/>
            <a:ext cx="13716000" cy="1038225"/>
          </a:xfrm>
          <a:prstGeom prst="rect">
            <a:avLst/>
          </a:prstGeom>
          <a:solidFill>
            <a:schemeClr val="bg1">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tx1"/>
                </a:solidFill>
              </a:rPr>
              <a:t>Data can only be written once and cannot be overwritten or modified (Write Once Read Many), ensuring data integrity and consistency, although new data can be appended to an existing file (Append Only)</a:t>
            </a:r>
          </a:p>
        </p:txBody>
      </p:sp>
      <p:sp>
        <p:nvSpPr>
          <p:cNvPr id="16" name="Rectangle 15">
            <a:extLst>
              <a:ext uri="{FF2B5EF4-FFF2-40B4-BE49-F238E27FC236}">
                <a16:creationId xmlns:a16="http://schemas.microsoft.com/office/drawing/2014/main" id="{92B27C95-1C15-7732-200C-C5832823F635}"/>
              </a:ext>
              <a:ext uri="{C183D7F6-B498-43B3-948B-1728B52AA6E4}">
                <adec:decorative xmlns:adec="http://schemas.microsoft.com/office/drawing/2017/decorative" val="1"/>
              </a:ext>
            </a:extLst>
          </p:cNvPr>
          <p:cNvSpPr/>
          <p:nvPr/>
        </p:nvSpPr>
        <p:spPr>
          <a:xfrm>
            <a:off x="30479" y="7812405"/>
            <a:ext cx="1234440" cy="1038225"/>
          </a:xfrm>
          <a:prstGeom prst="rect">
            <a:avLst/>
          </a:prstGeom>
          <a:solidFill>
            <a:schemeClr val="bg1">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7" name="TextBox 16">
            <a:extLst>
              <a:ext uri="{FF2B5EF4-FFF2-40B4-BE49-F238E27FC236}">
                <a16:creationId xmlns:a16="http://schemas.microsoft.com/office/drawing/2014/main" id="{6B3E95CC-A821-8171-FBC3-BE8F2D97960D}"/>
              </a:ext>
              <a:ext uri="{C183D7F6-B498-43B3-948B-1728B52AA6E4}">
                <adec:decorative xmlns:adec="http://schemas.microsoft.com/office/drawing/2017/decorative" val="1"/>
              </a:ext>
            </a:extLst>
          </p:cNvPr>
          <p:cNvSpPr txBox="1"/>
          <p:nvPr/>
        </p:nvSpPr>
        <p:spPr>
          <a:xfrm>
            <a:off x="49529" y="7812405"/>
            <a:ext cx="184731" cy="461665"/>
          </a:xfrm>
          <a:prstGeom prst="rect">
            <a:avLst/>
          </a:prstGeom>
          <a:solidFill>
            <a:schemeClr val="bg1">
              <a:lumMod val="60000"/>
              <a:lumOff val="40000"/>
            </a:schemeClr>
          </a:solidFill>
        </p:spPr>
        <p:txBody>
          <a:bodyPr wrap="none" rtlCol="0">
            <a:spAutoFit/>
          </a:bodyPr>
          <a:lstStyle/>
          <a:p>
            <a:endParaRPr lang="en-US" sz="2400" dirty="0"/>
          </a:p>
        </p:txBody>
      </p:sp>
    </p:spTree>
    <p:extLst>
      <p:ext uri="{BB962C8B-B14F-4D97-AF65-F5344CB8AC3E}">
        <p14:creationId xmlns:p14="http://schemas.microsoft.com/office/powerpoint/2010/main" val="23137228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dirty="0"/>
              <a:t>Hadoop Distributed File System</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7181297"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HDFS supports a traditional hierarchical file organization similar to most other file systems such as for Linux, MacOS or Windows</a:t>
            </a:r>
          </a:p>
        </p:txBody>
      </p:sp>
      <p:sp>
        <p:nvSpPr>
          <p:cNvPr id="5" name="Rectangle 4">
            <a:extLst>
              <a:ext uri="{FF2B5EF4-FFF2-40B4-BE49-F238E27FC236}">
                <a16:creationId xmlns:a16="http://schemas.microsoft.com/office/drawing/2014/main" id="{3ED4DE36-52C0-CB95-BACC-337A00B1A90C}"/>
              </a:ext>
            </a:extLst>
          </p:cNvPr>
          <p:cNvSpPr/>
          <p:nvPr/>
        </p:nvSpPr>
        <p:spPr>
          <a:xfrm>
            <a:off x="1232454" y="3743325"/>
            <a:ext cx="7181296"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000" dirty="0">
                <a:solidFill>
                  <a:schemeClr val="tx1"/>
                </a:solidFill>
              </a:rPr>
              <a:t>An application (or user) can create directories and then store files inside these directories or an application can create a child directory inside a parent directory and store files there</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7181297"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2000" b="0" i="0" dirty="0">
                <a:solidFill>
                  <a:schemeClr val="tx1"/>
                </a:solidFill>
                <a:effectLst/>
              </a:rPr>
              <a:t>Read, write and execute security permissions can be associate with each file or directory</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0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000" dirty="0">
              <a:solidFill>
                <a:schemeClr val="bg2"/>
              </a:solidFill>
            </a:endParaRPr>
          </a:p>
        </p:txBody>
      </p:sp>
      <p:sp>
        <p:nvSpPr>
          <p:cNvPr id="3" name="Rectangle 2">
            <a:extLst>
              <a:ext uri="{FF2B5EF4-FFF2-40B4-BE49-F238E27FC236}">
                <a16:creationId xmlns:a16="http://schemas.microsoft.com/office/drawing/2014/main" id="{F0198E06-907F-EDB8-3165-65181847C7FE}"/>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0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82297"/>
            <a:ext cx="7181297"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An application (or user) can create, remove, rename or move files from one HDFS directory to another.</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0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7181297"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And special operations exist for exchanging files between HDFS and a local (Linux, Windows or MacOS) filesystem </a:t>
            </a: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000" dirty="0"/>
          </a:p>
        </p:txBody>
      </p:sp>
      <p:sp>
        <p:nvSpPr>
          <p:cNvPr id="18" name="TextBox 17">
            <a:extLst>
              <a:ext uri="{FF2B5EF4-FFF2-40B4-BE49-F238E27FC236}">
                <a16:creationId xmlns:a16="http://schemas.microsoft.com/office/drawing/2014/main" id="{3C54AD30-4B89-0FE5-1FF1-D11F4052DCA5}"/>
              </a:ext>
            </a:extLst>
          </p:cNvPr>
          <p:cNvSpPr txBox="1"/>
          <p:nvPr/>
        </p:nvSpPr>
        <p:spPr>
          <a:xfrm>
            <a:off x="9140826" y="2402372"/>
            <a:ext cx="8441025" cy="1200329"/>
          </a:xfrm>
          <a:prstGeom prst="rect">
            <a:avLst/>
          </a:prstGeom>
          <a:solidFill>
            <a:schemeClr val="bg2">
              <a:lumMod val="90000"/>
            </a:schemeClr>
          </a:solidFill>
        </p:spPr>
        <p:txBody>
          <a:bodyPr wrap="square" rtlCol="0">
            <a:spAutoFit/>
          </a:bodyPr>
          <a:lstStyle/>
          <a:p>
            <a:pPr algn="ctr"/>
            <a:r>
              <a:rPr lang="en-US" sz="2400" i="1" dirty="0"/>
              <a:t>Part of the default AWS Elastic Map Reduce (Hadoop) HDFS </a:t>
            </a:r>
          </a:p>
          <a:p>
            <a:pPr algn="ctr"/>
            <a:r>
              <a:rPr lang="en-US" sz="2400" i="1" dirty="0"/>
              <a:t>directory hierarchy. Note the root direct is called “/” as it is for the MacOS and Linux directory hierarchies.</a:t>
            </a:r>
          </a:p>
        </p:txBody>
      </p:sp>
      <p:graphicFrame>
        <p:nvGraphicFramePr>
          <p:cNvPr id="19" name="Diagram 18">
            <a:extLst>
              <a:ext uri="{FF2B5EF4-FFF2-40B4-BE49-F238E27FC236}">
                <a16:creationId xmlns:a16="http://schemas.microsoft.com/office/drawing/2014/main" id="{9C1110CA-5E57-C28E-10E3-E0CFE3E8B005}"/>
              </a:ext>
            </a:extLst>
          </p:cNvPr>
          <p:cNvGraphicFramePr/>
          <p:nvPr>
            <p:extLst>
              <p:ext uri="{D42A27DB-BD31-4B8C-83A1-F6EECF244321}">
                <p14:modId xmlns:p14="http://schemas.microsoft.com/office/powerpoint/2010/main" val="2699620262"/>
              </p:ext>
            </p:extLst>
          </p:nvPr>
        </p:nvGraphicFramePr>
        <p:xfrm>
          <a:off x="9204627" y="2605032"/>
          <a:ext cx="8313422" cy="812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45533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Rectangle 71">
            <a:extLst>
              <a:ext uri="{FF2B5EF4-FFF2-40B4-BE49-F238E27FC236}">
                <a16:creationId xmlns:a16="http://schemas.microsoft.com/office/drawing/2014/main" id="{75B89B4A-4E76-206A-F4E8-46C0474DA3E0}"/>
              </a:ext>
            </a:extLst>
          </p:cNvPr>
          <p:cNvSpPr/>
          <p:nvPr/>
        </p:nvSpPr>
        <p:spPr>
          <a:xfrm>
            <a:off x="13511520" y="2901938"/>
            <a:ext cx="4166879" cy="2954893"/>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71" name="Rectangle 70">
            <a:extLst>
              <a:ext uri="{FF2B5EF4-FFF2-40B4-BE49-F238E27FC236}">
                <a16:creationId xmlns:a16="http://schemas.microsoft.com/office/drawing/2014/main" id="{27D23519-176A-4FFA-9798-38DFD78C4A3D}"/>
              </a:ext>
            </a:extLst>
          </p:cNvPr>
          <p:cNvSpPr/>
          <p:nvPr/>
        </p:nvSpPr>
        <p:spPr>
          <a:xfrm>
            <a:off x="9383994" y="5360431"/>
            <a:ext cx="8313456" cy="3293661"/>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2" name="Title 1">
            <a:extLst>
              <a:ext uri="{FF2B5EF4-FFF2-40B4-BE49-F238E27FC236}">
                <a16:creationId xmlns:a16="http://schemas.microsoft.com/office/drawing/2014/main" id="{5035A2AF-1EEB-F9A7-8954-4B5F4F7D5096}"/>
              </a:ext>
            </a:extLst>
          </p:cNvPr>
          <p:cNvSpPr>
            <a:spLocks noGrp="1"/>
          </p:cNvSpPr>
          <p:nvPr>
            <p:ph type="title"/>
          </p:nvPr>
        </p:nvSpPr>
        <p:spPr/>
        <p:txBody>
          <a:bodyPr/>
          <a:lstStyle/>
          <a:p>
            <a:r>
              <a:rPr lang="en-US" sz="4800" dirty="0"/>
              <a:t>Mapping the Generic Distributed File System to HDFS</a:t>
            </a:r>
          </a:p>
        </p:txBody>
      </p:sp>
      <p:sp>
        <p:nvSpPr>
          <p:cNvPr id="4" name="Rectangle 3">
            <a:extLst>
              <a:ext uri="{FF2B5EF4-FFF2-40B4-BE49-F238E27FC236}">
                <a16:creationId xmlns:a16="http://schemas.microsoft.com/office/drawing/2014/main" id="{FD658AC0-37A1-FCE4-966B-AEBCF4F7D98C}"/>
              </a:ext>
            </a:extLst>
          </p:cNvPr>
          <p:cNvSpPr/>
          <p:nvPr/>
        </p:nvSpPr>
        <p:spPr>
          <a:xfrm>
            <a:off x="0" y="2324100"/>
            <a:ext cx="352425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dirty="0">
                <a:solidFill>
                  <a:srgbClr val="FFFF00"/>
                </a:solidFill>
              </a:rPr>
              <a:t>Generic Distributed File System </a:t>
            </a:r>
          </a:p>
        </p:txBody>
      </p:sp>
      <p:sp>
        <p:nvSpPr>
          <p:cNvPr id="5" name="Rectangle 4">
            <a:extLst>
              <a:ext uri="{FF2B5EF4-FFF2-40B4-BE49-F238E27FC236}">
                <a16:creationId xmlns:a16="http://schemas.microsoft.com/office/drawing/2014/main" id="{AFC64A9E-92DC-E1F9-7988-22DCE18F2F50}"/>
              </a:ext>
            </a:extLst>
          </p:cNvPr>
          <p:cNvSpPr/>
          <p:nvPr/>
        </p:nvSpPr>
        <p:spPr>
          <a:xfrm>
            <a:off x="0" y="3895725"/>
            <a:ext cx="352425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Chunks</a:t>
            </a:r>
          </a:p>
        </p:txBody>
      </p:sp>
      <p:sp>
        <p:nvSpPr>
          <p:cNvPr id="6" name="Rectangle 5">
            <a:extLst>
              <a:ext uri="{FF2B5EF4-FFF2-40B4-BE49-F238E27FC236}">
                <a16:creationId xmlns:a16="http://schemas.microsoft.com/office/drawing/2014/main" id="{53767511-4343-89FB-12DD-77B0E6E6347A}"/>
              </a:ext>
            </a:extLst>
          </p:cNvPr>
          <p:cNvSpPr/>
          <p:nvPr/>
        </p:nvSpPr>
        <p:spPr>
          <a:xfrm>
            <a:off x="0" y="5467350"/>
            <a:ext cx="352425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Metadata Node(s)</a:t>
            </a:r>
          </a:p>
        </p:txBody>
      </p:sp>
      <p:sp>
        <p:nvSpPr>
          <p:cNvPr id="7" name="Rectangle 6">
            <a:extLst>
              <a:ext uri="{FF2B5EF4-FFF2-40B4-BE49-F238E27FC236}">
                <a16:creationId xmlns:a16="http://schemas.microsoft.com/office/drawing/2014/main" id="{7AF0B397-3BE5-373B-E5A9-13A4106B7DBC}"/>
              </a:ext>
            </a:extLst>
          </p:cNvPr>
          <p:cNvSpPr/>
          <p:nvPr/>
        </p:nvSpPr>
        <p:spPr>
          <a:xfrm>
            <a:off x="0" y="7038975"/>
            <a:ext cx="352425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dirty="0">
                <a:solidFill>
                  <a:schemeClr val="bg2"/>
                </a:solidFill>
              </a:rPr>
              <a:t>Data Node(s)</a:t>
            </a:r>
          </a:p>
        </p:txBody>
      </p:sp>
      <p:sp>
        <p:nvSpPr>
          <p:cNvPr id="3" name="Rectangle 2">
            <a:extLst>
              <a:ext uri="{FF2B5EF4-FFF2-40B4-BE49-F238E27FC236}">
                <a16:creationId xmlns:a16="http://schemas.microsoft.com/office/drawing/2014/main" id="{1A35C0A0-C6C6-7FC8-9ACA-C013E697F7DB}"/>
              </a:ext>
            </a:extLst>
          </p:cNvPr>
          <p:cNvSpPr/>
          <p:nvPr/>
        </p:nvSpPr>
        <p:spPr>
          <a:xfrm>
            <a:off x="4889500" y="2343150"/>
            <a:ext cx="352425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800" b="1" dirty="0">
                <a:solidFill>
                  <a:srgbClr val="FFFF00"/>
                </a:solidFill>
              </a:rPr>
              <a:t>Hadoop Distributed File System</a:t>
            </a:r>
          </a:p>
        </p:txBody>
      </p:sp>
      <p:sp>
        <p:nvSpPr>
          <p:cNvPr id="8" name="Rectangle 7">
            <a:extLst>
              <a:ext uri="{FF2B5EF4-FFF2-40B4-BE49-F238E27FC236}">
                <a16:creationId xmlns:a16="http://schemas.microsoft.com/office/drawing/2014/main" id="{84821B0E-EFB3-4D78-ABA7-3F5E546C9DF9}"/>
              </a:ext>
            </a:extLst>
          </p:cNvPr>
          <p:cNvSpPr/>
          <p:nvPr/>
        </p:nvSpPr>
        <p:spPr>
          <a:xfrm>
            <a:off x="4889500" y="3895725"/>
            <a:ext cx="352425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800" dirty="0">
                <a:solidFill>
                  <a:schemeClr val="tx1"/>
                </a:solidFill>
              </a:rPr>
              <a:t>Blocks</a:t>
            </a:r>
          </a:p>
        </p:txBody>
      </p:sp>
      <p:sp>
        <p:nvSpPr>
          <p:cNvPr id="9" name="Rectangle 8">
            <a:extLst>
              <a:ext uri="{FF2B5EF4-FFF2-40B4-BE49-F238E27FC236}">
                <a16:creationId xmlns:a16="http://schemas.microsoft.com/office/drawing/2014/main" id="{3EF81FAD-7358-1AE8-DEEA-5304B1ECA956}"/>
              </a:ext>
            </a:extLst>
          </p:cNvPr>
          <p:cNvSpPr/>
          <p:nvPr/>
        </p:nvSpPr>
        <p:spPr>
          <a:xfrm>
            <a:off x="4889500" y="5467350"/>
            <a:ext cx="352425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800" dirty="0">
                <a:solidFill>
                  <a:schemeClr val="tx1"/>
                </a:solidFill>
              </a:rPr>
              <a:t>NameNode(s)</a:t>
            </a:r>
          </a:p>
        </p:txBody>
      </p:sp>
      <p:sp>
        <p:nvSpPr>
          <p:cNvPr id="10" name="Rectangle 9">
            <a:extLst>
              <a:ext uri="{FF2B5EF4-FFF2-40B4-BE49-F238E27FC236}">
                <a16:creationId xmlns:a16="http://schemas.microsoft.com/office/drawing/2014/main" id="{8173BC69-5374-6D64-DA2A-84985CBB3DDA}"/>
              </a:ext>
            </a:extLst>
          </p:cNvPr>
          <p:cNvSpPr/>
          <p:nvPr/>
        </p:nvSpPr>
        <p:spPr>
          <a:xfrm>
            <a:off x="4889500" y="7038975"/>
            <a:ext cx="352425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dirty="0">
                <a:solidFill>
                  <a:schemeClr val="bg2"/>
                </a:solidFill>
              </a:rPr>
              <a:t>DataNode(s)</a:t>
            </a:r>
          </a:p>
        </p:txBody>
      </p:sp>
      <p:sp>
        <p:nvSpPr>
          <p:cNvPr id="11" name="Right Arrow 10">
            <a:extLst>
              <a:ext uri="{FF2B5EF4-FFF2-40B4-BE49-F238E27FC236}">
                <a16:creationId xmlns:a16="http://schemas.microsoft.com/office/drawing/2014/main" id="{F813736B-2005-430E-DB87-7B6247CD14D4}"/>
              </a:ext>
              <a:ext uri="{C183D7F6-B498-43B3-948B-1728B52AA6E4}">
                <adec:decorative xmlns:adec="http://schemas.microsoft.com/office/drawing/2017/decorative" val="1"/>
              </a:ext>
            </a:extLst>
          </p:cNvPr>
          <p:cNvSpPr/>
          <p:nvPr/>
        </p:nvSpPr>
        <p:spPr>
          <a:xfrm>
            <a:off x="3888685" y="4388126"/>
            <a:ext cx="548640" cy="4572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2"/>
              </a:solidFill>
            </a:endParaRPr>
          </a:p>
        </p:txBody>
      </p:sp>
      <p:sp>
        <p:nvSpPr>
          <p:cNvPr id="12" name="Right Arrow 11">
            <a:extLst>
              <a:ext uri="{FF2B5EF4-FFF2-40B4-BE49-F238E27FC236}">
                <a16:creationId xmlns:a16="http://schemas.microsoft.com/office/drawing/2014/main" id="{255FF3DC-E42D-02B3-8467-33966DEDBB8F}"/>
              </a:ext>
              <a:ext uri="{C183D7F6-B498-43B3-948B-1728B52AA6E4}">
                <adec:decorative xmlns:adec="http://schemas.microsoft.com/office/drawing/2017/decorative" val="1"/>
              </a:ext>
            </a:extLst>
          </p:cNvPr>
          <p:cNvSpPr/>
          <p:nvPr/>
        </p:nvSpPr>
        <p:spPr>
          <a:xfrm>
            <a:off x="3928441" y="6010275"/>
            <a:ext cx="548640" cy="4572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2"/>
              </a:solidFill>
            </a:endParaRPr>
          </a:p>
        </p:txBody>
      </p:sp>
      <p:sp>
        <p:nvSpPr>
          <p:cNvPr id="13" name="Right Arrow 12">
            <a:extLst>
              <a:ext uri="{FF2B5EF4-FFF2-40B4-BE49-F238E27FC236}">
                <a16:creationId xmlns:a16="http://schemas.microsoft.com/office/drawing/2014/main" id="{DE3DAA14-96FB-8CA3-4C38-5C9F2ADF2094}"/>
              </a:ext>
              <a:ext uri="{C183D7F6-B498-43B3-948B-1728B52AA6E4}">
                <adec:decorative xmlns:adec="http://schemas.microsoft.com/office/drawing/2017/decorative" val="1"/>
              </a:ext>
            </a:extLst>
          </p:cNvPr>
          <p:cNvSpPr/>
          <p:nvPr/>
        </p:nvSpPr>
        <p:spPr>
          <a:xfrm>
            <a:off x="3925267" y="7535103"/>
            <a:ext cx="548640" cy="4572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schemeClr val="bg2"/>
              </a:solidFill>
            </a:endParaRPr>
          </a:p>
        </p:txBody>
      </p:sp>
      <p:sp>
        <p:nvSpPr>
          <p:cNvPr id="50" name="Rectangle 49">
            <a:extLst>
              <a:ext uri="{FF2B5EF4-FFF2-40B4-BE49-F238E27FC236}">
                <a16:creationId xmlns:a16="http://schemas.microsoft.com/office/drawing/2014/main" id="{3EA1C6DD-DE8C-8FA8-47D0-BB65A6EFDCF9}"/>
              </a:ext>
            </a:extLst>
          </p:cNvPr>
          <p:cNvSpPr/>
          <p:nvPr/>
        </p:nvSpPr>
        <p:spPr>
          <a:xfrm>
            <a:off x="1007745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1" name="Oval 50">
            <a:extLst>
              <a:ext uri="{FF2B5EF4-FFF2-40B4-BE49-F238E27FC236}">
                <a16:creationId xmlns:a16="http://schemas.microsoft.com/office/drawing/2014/main" id="{0AB31576-4AF6-D74B-958B-749507E1AA57}"/>
              </a:ext>
            </a:extLst>
          </p:cNvPr>
          <p:cNvSpPr/>
          <p:nvPr/>
        </p:nvSpPr>
        <p:spPr>
          <a:xfrm>
            <a:off x="1024572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52" name="Rectangle 51">
            <a:extLst>
              <a:ext uri="{FF2B5EF4-FFF2-40B4-BE49-F238E27FC236}">
                <a16:creationId xmlns:a16="http://schemas.microsoft.com/office/drawing/2014/main" id="{5E12C962-0ABD-E51E-71AA-D342B7521290}"/>
              </a:ext>
            </a:extLst>
          </p:cNvPr>
          <p:cNvSpPr/>
          <p:nvPr/>
        </p:nvSpPr>
        <p:spPr>
          <a:xfrm>
            <a:off x="12588875"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E44B10D5-7264-F0AC-EE73-6FEF2BF25505}"/>
              </a:ext>
            </a:extLst>
          </p:cNvPr>
          <p:cNvSpPr/>
          <p:nvPr/>
        </p:nvSpPr>
        <p:spPr>
          <a:xfrm>
            <a:off x="12757152"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54" name="Rectangle 53">
            <a:extLst>
              <a:ext uri="{FF2B5EF4-FFF2-40B4-BE49-F238E27FC236}">
                <a16:creationId xmlns:a16="http://schemas.microsoft.com/office/drawing/2014/main" id="{DF405018-3ECC-732A-0409-D0D384133F29}"/>
              </a:ext>
            </a:extLst>
          </p:cNvPr>
          <p:cNvSpPr/>
          <p:nvPr/>
        </p:nvSpPr>
        <p:spPr>
          <a:xfrm>
            <a:off x="1510030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5" name="Oval 54">
            <a:extLst>
              <a:ext uri="{FF2B5EF4-FFF2-40B4-BE49-F238E27FC236}">
                <a16:creationId xmlns:a16="http://schemas.microsoft.com/office/drawing/2014/main" id="{1F0D4692-C56A-0277-BC61-C4D3D8E33CB2}"/>
              </a:ext>
            </a:extLst>
          </p:cNvPr>
          <p:cNvSpPr/>
          <p:nvPr/>
        </p:nvSpPr>
        <p:spPr>
          <a:xfrm>
            <a:off x="1526857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66" name="TextBox 65">
            <a:extLst>
              <a:ext uri="{FF2B5EF4-FFF2-40B4-BE49-F238E27FC236}">
                <a16:creationId xmlns:a16="http://schemas.microsoft.com/office/drawing/2014/main" id="{61425685-93DE-EBAC-6DFB-0B94289410C6}"/>
              </a:ext>
            </a:extLst>
          </p:cNvPr>
          <p:cNvSpPr txBox="1"/>
          <p:nvPr/>
        </p:nvSpPr>
        <p:spPr>
          <a:xfrm>
            <a:off x="10515363" y="6654284"/>
            <a:ext cx="1223412" cy="369332"/>
          </a:xfrm>
          <a:prstGeom prst="rect">
            <a:avLst/>
          </a:prstGeom>
          <a:noFill/>
        </p:spPr>
        <p:txBody>
          <a:bodyPr wrap="none" rtlCol="0">
            <a:spAutoFit/>
          </a:bodyPr>
          <a:lstStyle/>
          <a:p>
            <a:r>
              <a:rPr lang="en-US" dirty="0">
                <a:solidFill>
                  <a:schemeClr val="bg2"/>
                </a:solidFill>
              </a:rPr>
              <a:t>DataNode</a:t>
            </a:r>
          </a:p>
        </p:txBody>
      </p:sp>
      <p:sp>
        <p:nvSpPr>
          <p:cNvPr id="67" name="TextBox 66">
            <a:extLst>
              <a:ext uri="{FF2B5EF4-FFF2-40B4-BE49-F238E27FC236}">
                <a16:creationId xmlns:a16="http://schemas.microsoft.com/office/drawing/2014/main" id="{B183266D-2109-A021-50FE-418EA8413357}"/>
              </a:ext>
            </a:extLst>
          </p:cNvPr>
          <p:cNvSpPr txBox="1"/>
          <p:nvPr/>
        </p:nvSpPr>
        <p:spPr>
          <a:xfrm>
            <a:off x="13056670" y="6648450"/>
            <a:ext cx="1223412" cy="369332"/>
          </a:xfrm>
          <a:prstGeom prst="rect">
            <a:avLst/>
          </a:prstGeom>
          <a:noFill/>
        </p:spPr>
        <p:txBody>
          <a:bodyPr wrap="none" rtlCol="0">
            <a:spAutoFit/>
          </a:bodyPr>
          <a:lstStyle/>
          <a:p>
            <a:r>
              <a:rPr lang="en-US" dirty="0">
                <a:solidFill>
                  <a:schemeClr val="bg2"/>
                </a:solidFill>
              </a:rPr>
              <a:t>DataNode</a:t>
            </a:r>
          </a:p>
        </p:txBody>
      </p:sp>
      <p:sp>
        <p:nvSpPr>
          <p:cNvPr id="68" name="TextBox 67">
            <a:extLst>
              <a:ext uri="{FF2B5EF4-FFF2-40B4-BE49-F238E27FC236}">
                <a16:creationId xmlns:a16="http://schemas.microsoft.com/office/drawing/2014/main" id="{1663C205-B9AD-21A4-3136-52CB0F18491E}"/>
              </a:ext>
            </a:extLst>
          </p:cNvPr>
          <p:cNvSpPr txBox="1"/>
          <p:nvPr/>
        </p:nvSpPr>
        <p:spPr>
          <a:xfrm>
            <a:off x="15529995" y="6629400"/>
            <a:ext cx="1223412" cy="369332"/>
          </a:xfrm>
          <a:prstGeom prst="rect">
            <a:avLst/>
          </a:prstGeom>
          <a:noFill/>
        </p:spPr>
        <p:txBody>
          <a:bodyPr wrap="none" rtlCol="0">
            <a:spAutoFit/>
          </a:bodyPr>
          <a:lstStyle/>
          <a:p>
            <a:r>
              <a:rPr lang="en-US" dirty="0">
                <a:solidFill>
                  <a:schemeClr val="bg2"/>
                </a:solidFill>
              </a:rPr>
              <a:t>DataNode</a:t>
            </a:r>
          </a:p>
        </p:txBody>
      </p:sp>
      <p:sp>
        <p:nvSpPr>
          <p:cNvPr id="76" name="Rectangle 75">
            <a:extLst>
              <a:ext uri="{FF2B5EF4-FFF2-40B4-BE49-F238E27FC236}">
                <a16:creationId xmlns:a16="http://schemas.microsoft.com/office/drawing/2014/main" id="{079A0B73-77EF-50D7-CC6C-2659E6A57B91}"/>
              </a:ext>
            </a:extLst>
          </p:cNvPr>
          <p:cNvSpPr>
            <a:spLocks/>
          </p:cNvSpPr>
          <p:nvPr/>
        </p:nvSpPr>
        <p:spPr>
          <a:xfrm>
            <a:off x="10530804"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77" name="Rectangle 76">
            <a:extLst>
              <a:ext uri="{FF2B5EF4-FFF2-40B4-BE49-F238E27FC236}">
                <a16:creationId xmlns:a16="http://schemas.microsoft.com/office/drawing/2014/main" id="{2FC361C4-A11C-C1F9-83E8-B512DEEA87DF}"/>
              </a:ext>
            </a:extLst>
          </p:cNvPr>
          <p:cNvSpPr>
            <a:spLocks/>
          </p:cNvSpPr>
          <p:nvPr/>
        </p:nvSpPr>
        <p:spPr>
          <a:xfrm>
            <a:off x="10956190"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78" name="Rectangle 77">
            <a:extLst>
              <a:ext uri="{FF2B5EF4-FFF2-40B4-BE49-F238E27FC236}">
                <a16:creationId xmlns:a16="http://schemas.microsoft.com/office/drawing/2014/main" id="{751B5B91-E48D-D28F-509B-51F6DC330662}"/>
              </a:ext>
            </a:extLst>
          </p:cNvPr>
          <p:cNvSpPr>
            <a:spLocks/>
          </p:cNvSpPr>
          <p:nvPr/>
        </p:nvSpPr>
        <p:spPr>
          <a:xfrm>
            <a:off x="11381576"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79" name="Rectangle 78">
            <a:extLst>
              <a:ext uri="{FF2B5EF4-FFF2-40B4-BE49-F238E27FC236}">
                <a16:creationId xmlns:a16="http://schemas.microsoft.com/office/drawing/2014/main" id="{AB1733F8-7541-771C-D18A-D4C1BBC2E339}"/>
              </a:ext>
            </a:extLst>
          </p:cNvPr>
          <p:cNvSpPr>
            <a:spLocks/>
          </p:cNvSpPr>
          <p:nvPr/>
        </p:nvSpPr>
        <p:spPr>
          <a:xfrm>
            <a:off x="1308613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80" name="Rectangle 79">
            <a:extLst>
              <a:ext uri="{FF2B5EF4-FFF2-40B4-BE49-F238E27FC236}">
                <a16:creationId xmlns:a16="http://schemas.microsoft.com/office/drawing/2014/main" id="{FD287D46-8E49-9D76-6C16-BF4268C240E8}"/>
              </a:ext>
            </a:extLst>
          </p:cNvPr>
          <p:cNvSpPr>
            <a:spLocks/>
          </p:cNvSpPr>
          <p:nvPr/>
        </p:nvSpPr>
        <p:spPr>
          <a:xfrm>
            <a:off x="1351152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81" name="Rectangle 80">
            <a:extLst>
              <a:ext uri="{FF2B5EF4-FFF2-40B4-BE49-F238E27FC236}">
                <a16:creationId xmlns:a16="http://schemas.microsoft.com/office/drawing/2014/main" id="{A66D1B75-B0D6-6C1A-3882-ECC136A0BE14}"/>
              </a:ext>
            </a:extLst>
          </p:cNvPr>
          <p:cNvSpPr>
            <a:spLocks/>
          </p:cNvSpPr>
          <p:nvPr/>
        </p:nvSpPr>
        <p:spPr>
          <a:xfrm>
            <a:off x="1393690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82" name="Rectangle 81">
            <a:extLst>
              <a:ext uri="{FF2B5EF4-FFF2-40B4-BE49-F238E27FC236}">
                <a16:creationId xmlns:a16="http://schemas.microsoft.com/office/drawing/2014/main" id="{0CCA300C-3F81-B348-E16A-BA7466D13216}"/>
              </a:ext>
            </a:extLst>
          </p:cNvPr>
          <p:cNvSpPr>
            <a:spLocks/>
          </p:cNvSpPr>
          <p:nvPr/>
        </p:nvSpPr>
        <p:spPr>
          <a:xfrm>
            <a:off x="1554105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83" name="Rectangle 82">
            <a:extLst>
              <a:ext uri="{FF2B5EF4-FFF2-40B4-BE49-F238E27FC236}">
                <a16:creationId xmlns:a16="http://schemas.microsoft.com/office/drawing/2014/main" id="{1696234F-A362-0FA9-9C69-A49AAF2D4F40}"/>
              </a:ext>
            </a:extLst>
          </p:cNvPr>
          <p:cNvSpPr>
            <a:spLocks/>
          </p:cNvSpPr>
          <p:nvPr/>
        </p:nvSpPr>
        <p:spPr>
          <a:xfrm>
            <a:off x="1596644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84" name="Rectangle 83">
            <a:extLst>
              <a:ext uri="{FF2B5EF4-FFF2-40B4-BE49-F238E27FC236}">
                <a16:creationId xmlns:a16="http://schemas.microsoft.com/office/drawing/2014/main" id="{4BA16D39-1292-1354-56AF-8DE00ED402B3}"/>
              </a:ext>
            </a:extLst>
          </p:cNvPr>
          <p:cNvSpPr>
            <a:spLocks/>
          </p:cNvSpPr>
          <p:nvPr/>
        </p:nvSpPr>
        <p:spPr>
          <a:xfrm>
            <a:off x="1639182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86" name="Rectangle 85">
            <a:extLst>
              <a:ext uri="{FF2B5EF4-FFF2-40B4-BE49-F238E27FC236}">
                <a16:creationId xmlns:a16="http://schemas.microsoft.com/office/drawing/2014/main" id="{52B55B1F-60AE-EE11-B2FF-1EDC1A928127}"/>
              </a:ext>
            </a:extLst>
          </p:cNvPr>
          <p:cNvSpPr/>
          <p:nvPr/>
        </p:nvSpPr>
        <p:spPr>
          <a:xfrm>
            <a:off x="9124950" y="25431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7" name="Oval 86">
            <a:extLst>
              <a:ext uri="{FF2B5EF4-FFF2-40B4-BE49-F238E27FC236}">
                <a16:creationId xmlns:a16="http://schemas.microsoft.com/office/drawing/2014/main" id="{93B9B93E-CBDC-DF1E-8B32-1AFEB83FB6BC}"/>
              </a:ext>
            </a:extLst>
          </p:cNvPr>
          <p:cNvSpPr/>
          <p:nvPr/>
        </p:nvSpPr>
        <p:spPr>
          <a:xfrm>
            <a:off x="9293227" y="33242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88" name="TextBox 87">
            <a:extLst>
              <a:ext uri="{FF2B5EF4-FFF2-40B4-BE49-F238E27FC236}">
                <a16:creationId xmlns:a16="http://schemas.microsoft.com/office/drawing/2014/main" id="{CB8CB52F-F681-C559-C854-AE7F76C9A377}"/>
              </a:ext>
            </a:extLst>
          </p:cNvPr>
          <p:cNvSpPr txBox="1"/>
          <p:nvPr/>
        </p:nvSpPr>
        <p:spPr>
          <a:xfrm>
            <a:off x="9448563" y="3396734"/>
            <a:ext cx="1467068" cy="369332"/>
          </a:xfrm>
          <a:prstGeom prst="rect">
            <a:avLst/>
          </a:prstGeom>
          <a:noFill/>
        </p:spPr>
        <p:txBody>
          <a:bodyPr wrap="none" rtlCol="0">
            <a:spAutoFit/>
          </a:bodyPr>
          <a:lstStyle/>
          <a:p>
            <a:r>
              <a:rPr lang="en-US" dirty="0">
                <a:solidFill>
                  <a:schemeClr val="bg2"/>
                </a:solidFill>
              </a:rPr>
              <a:t>HDFS Client</a:t>
            </a:r>
          </a:p>
        </p:txBody>
      </p:sp>
      <p:sp>
        <p:nvSpPr>
          <p:cNvPr id="92" name="Oval 91">
            <a:extLst>
              <a:ext uri="{FF2B5EF4-FFF2-40B4-BE49-F238E27FC236}">
                <a16:creationId xmlns:a16="http://schemas.microsoft.com/office/drawing/2014/main" id="{36BF4423-0E93-623B-9C5F-2E5F1A1281CC}"/>
              </a:ext>
            </a:extLst>
          </p:cNvPr>
          <p:cNvSpPr/>
          <p:nvPr/>
        </p:nvSpPr>
        <p:spPr>
          <a:xfrm>
            <a:off x="9293227" y="2676525"/>
            <a:ext cx="1746248" cy="47625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93" name="TextBox 92">
            <a:extLst>
              <a:ext uri="{FF2B5EF4-FFF2-40B4-BE49-F238E27FC236}">
                <a16:creationId xmlns:a16="http://schemas.microsoft.com/office/drawing/2014/main" id="{DA788E09-03BE-4B33-9A40-4FC528399620}"/>
              </a:ext>
            </a:extLst>
          </p:cNvPr>
          <p:cNvSpPr txBox="1"/>
          <p:nvPr/>
        </p:nvSpPr>
        <p:spPr>
          <a:xfrm>
            <a:off x="9829563" y="2749034"/>
            <a:ext cx="595035" cy="369332"/>
          </a:xfrm>
          <a:prstGeom prst="rect">
            <a:avLst/>
          </a:prstGeom>
          <a:noFill/>
        </p:spPr>
        <p:txBody>
          <a:bodyPr wrap="none" rtlCol="0">
            <a:spAutoFit/>
          </a:bodyPr>
          <a:lstStyle/>
          <a:p>
            <a:r>
              <a:rPr lang="en-US" dirty="0"/>
              <a:t>App</a:t>
            </a:r>
          </a:p>
        </p:txBody>
      </p:sp>
      <p:sp>
        <p:nvSpPr>
          <p:cNvPr id="95" name="TextBox 94">
            <a:extLst>
              <a:ext uri="{FF2B5EF4-FFF2-40B4-BE49-F238E27FC236}">
                <a16:creationId xmlns:a16="http://schemas.microsoft.com/office/drawing/2014/main" id="{2A644054-4C54-68E5-AFA5-C73D1E434341}"/>
              </a:ext>
            </a:extLst>
          </p:cNvPr>
          <p:cNvSpPr txBox="1"/>
          <p:nvPr/>
        </p:nvSpPr>
        <p:spPr>
          <a:xfrm>
            <a:off x="15696168" y="2927836"/>
            <a:ext cx="1903085" cy="646331"/>
          </a:xfrm>
          <a:prstGeom prst="rect">
            <a:avLst/>
          </a:prstGeom>
          <a:noFill/>
        </p:spPr>
        <p:txBody>
          <a:bodyPr wrap="none" rtlCol="0">
            <a:spAutoFit/>
          </a:bodyPr>
          <a:lstStyle/>
          <a:p>
            <a:r>
              <a:rPr lang="en-US" b="1" dirty="0">
                <a:solidFill>
                  <a:schemeClr val="bg2"/>
                </a:solidFill>
              </a:rPr>
              <a:t>Hadoop Cluster</a:t>
            </a:r>
          </a:p>
          <a:p>
            <a:pPr algn="ctr"/>
            <a:r>
              <a:rPr lang="en-US" b="1" dirty="0">
                <a:solidFill>
                  <a:schemeClr val="bg2"/>
                </a:solidFill>
              </a:rPr>
              <a:t>(HDFS View)</a:t>
            </a:r>
          </a:p>
        </p:txBody>
      </p:sp>
      <p:sp>
        <p:nvSpPr>
          <p:cNvPr id="97" name="TextBox 96">
            <a:extLst>
              <a:ext uri="{FF2B5EF4-FFF2-40B4-BE49-F238E27FC236}">
                <a16:creationId xmlns:a16="http://schemas.microsoft.com/office/drawing/2014/main" id="{95B0AB92-B989-E22B-9A63-5E38DECD5FFE}"/>
              </a:ext>
            </a:extLst>
          </p:cNvPr>
          <p:cNvSpPr txBox="1"/>
          <p:nvPr/>
        </p:nvSpPr>
        <p:spPr>
          <a:xfrm>
            <a:off x="10702798" y="7473434"/>
            <a:ext cx="787395" cy="338554"/>
          </a:xfrm>
          <a:prstGeom prst="rect">
            <a:avLst/>
          </a:prstGeom>
          <a:noFill/>
        </p:spPr>
        <p:txBody>
          <a:bodyPr wrap="none" rtlCol="0">
            <a:spAutoFit/>
          </a:bodyPr>
          <a:lstStyle/>
          <a:p>
            <a:pPr algn="ctr"/>
            <a:r>
              <a:rPr lang="en-US" sz="1600" dirty="0"/>
              <a:t>Blocks</a:t>
            </a:r>
          </a:p>
        </p:txBody>
      </p:sp>
      <p:sp>
        <p:nvSpPr>
          <p:cNvPr id="99" name="TextBox 98">
            <a:extLst>
              <a:ext uri="{FF2B5EF4-FFF2-40B4-BE49-F238E27FC236}">
                <a16:creationId xmlns:a16="http://schemas.microsoft.com/office/drawing/2014/main" id="{BF6853D0-5D4C-3E55-1DEE-066682658FC7}"/>
              </a:ext>
            </a:extLst>
          </p:cNvPr>
          <p:cNvSpPr txBox="1"/>
          <p:nvPr/>
        </p:nvSpPr>
        <p:spPr>
          <a:xfrm>
            <a:off x="13225712" y="7473434"/>
            <a:ext cx="787395" cy="338554"/>
          </a:xfrm>
          <a:prstGeom prst="rect">
            <a:avLst/>
          </a:prstGeom>
          <a:noFill/>
        </p:spPr>
        <p:txBody>
          <a:bodyPr wrap="none" rtlCol="0">
            <a:spAutoFit/>
          </a:bodyPr>
          <a:lstStyle/>
          <a:p>
            <a:pPr algn="ctr"/>
            <a:r>
              <a:rPr lang="en-US" sz="1600" dirty="0"/>
              <a:t>Blocks</a:t>
            </a:r>
          </a:p>
        </p:txBody>
      </p:sp>
      <p:sp>
        <p:nvSpPr>
          <p:cNvPr id="100" name="TextBox 99">
            <a:extLst>
              <a:ext uri="{FF2B5EF4-FFF2-40B4-BE49-F238E27FC236}">
                <a16:creationId xmlns:a16="http://schemas.microsoft.com/office/drawing/2014/main" id="{E0151188-D007-CDD2-7556-740987AA1770}"/>
              </a:ext>
            </a:extLst>
          </p:cNvPr>
          <p:cNvSpPr txBox="1"/>
          <p:nvPr/>
        </p:nvSpPr>
        <p:spPr>
          <a:xfrm>
            <a:off x="15702212" y="7473434"/>
            <a:ext cx="787395" cy="338554"/>
          </a:xfrm>
          <a:prstGeom prst="rect">
            <a:avLst/>
          </a:prstGeom>
          <a:noFill/>
        </p:spPr>
        <p:txBody>
          <a:bodyPr wrap="none" rtlCol="0">
            <a:spAutoFit/>
          </a:bodyPr>
          <a:lstStyle/>
          <a:p>
            <a:pPr algn="ctr"/>
            <a:r>
              <a:rPr lang="en-US" sz="1600" dirty="0"/>
              <a:t>Blocks</a:t>
            </a:r>
          </a:p>
        </p:txBody>
      </p:sp>
      <p:sp>
        <p:nvSpPr>
          <p:cNvPr id="123" name="Rectangle 122">
            <a:extLst>
              <a:ext uri="{FF2B5EF4-FFF2-40B4-BE49-F238E27FC236}">
                <a16:creationId xmlns:a16="http://schemas.microsoft.com/office/drawing/2014/main" id="{EB2F729F-54EA-2F90-1872-56E410FC5B38}"/>
              </a:ext>
            </a:extLst>
          </p:cNvPr>
          <p:cNvSpPr/>
          <p:nvPr/>
        </p:nvSpPr>
        <p:spPr>
          <a:xfrm>
            <a:off x="13374772" y="5542893"/>
            <a:ext cx="3843481"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Heartbeats, Block Reports, Block Mgmt.</a:t>
            </a:r>
          </a:p>
        </p:txBody>
      </p:sp>
      <p:sp>
        <p:nvSpPr>
          <p:cNvPr id="124" name="Rectangle 123">
            <a:extLst>
              <a:ext uri="{FF2B5EF4-FFF2-40B4-BE49-F238E27FC236}">
                <a16:creationId xmlns:a16="http://schemas.microsoft.com/office/drawing/2014/main" id="{731A900C-D31D-ABD6-4F98-CAEFDF9F686D}"/>
              </a:ext>
            </a:extLst>
          </p:cNvPr>
          <p:cNvSpPr/>
          <p:nvPr/>
        </p:nvSpPr>
        <p:spPr>
          <a:xfrm>
            <a:off x="8932721" y="4510060"/>
            <a:ext cx="246888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Read and Write Blocks</a:t>
            </a:r>
          </a:p>
        </p:txBody>
      </p:sp>
      <p:sp>
        <p:nvSpPr>
          <p:cNvPr id="125" name="Rectangle 124">
            <a:extLst>
              <a:ext uri="{FF2B5EF4-FFF2-40B4-BE49-F238E27FC236}">
                <a16:creationId xmlns:a16="http://schemas.microsoft.com/office/drawing/2014/main" id="{50C791EA-E563-1A39-4704-DD703A33FE2F}"/>
              </a:ext>
            </a:extLst>
          </p:cNvPr>
          <p:cNvSpPr/>
          <p:nvPr/>
        </p:nvSpPr>
        <p:spPr>
          <a:xfrm>
            <a:off x="11469995" y="3193255"/>
            <a:ext cx="1828800" cy="40695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Obtain Metadata</a:t>
            </a:r>
          </a:p>
        </p:txBody>
      </p:sp>
      <p:cxnSp>
        <p:nvCxnSpPr>
          <p:cNvPr id="127" name="Curved Connector 126">
            <a:extLst>
              <a:ext uri="{FF2B5EF4-FFF2-40B4-BE49-F238E27FC236}">
                <a16:creationId xmlns:a16="http://schemas.microsoft.com/office/drawing/2014/main" id="{D4995DD3-13D7-16FC-477D-9778A5A41EE8}"/>
              </a:ext>
            </a:extLst>
          </p:cNvPr>
          <p:cNvCxnSpPr>
            <a:stCxn id="87" idx="6"/>
            <a:endCxn id="125" idx="0"/>
          </p:cNvCxnSpPr>
          <p:nvPr/>
        </p:nvCxnSpPr>
        <p:spPr>
          <a:xfrm flipV="1">
            <a:off x="11039475" y="3193255"/>
            <a:ext cx="1344920" cy="369095"/>
          </a:xfrm>
          <a:prstGeom prst="curvedConnector4">
            <a:avLst>
              <a:gd name="adj1" fmla="val 16005"/>
              <a:gd name="adj2" fmla="val 161935"/>
            </a:avLst>
          </a:prstGeom>
        </p:spPr>
        <p:style>
          <a:lnRef idx="2">
            <a:schemeClr val="accent1"/>
          </a:lnRef>
          <a:fillRef idx="0">
            <a:schemeClr val="accent1"/>
          </a:fillRef>
          <a:effectRef idx="1">
            <a:schemeClr val="accent1"/>
          </a:effectRef>
          <a:fontRef idx="minor">
            <a:schemeClr val="tx1"/>
          </a:fontRef>
        </p:style>
      </p:cxnSp>
      <p:cxnSp>
        <p:nvCxnSpPr>
          <p:cNvPr id="128" name="Curved Connector 127">
            <a:extLst>
              <a:ext uri="{FF2B5EF4-FFF2-40B4-BE49-F238E27FC236}">
                <a16:creationId xmlns:a16="http://schemas.microsoft.com/office/drawing/2014/main" id="{82AC2EDE-C361-7707-EB5A-AD92C566883A}"/>
              </a:ext>
            </a:extLst>
          </p:cNvPr>
          <p:cNvCxnSpPr>
            <a:cxnSpLocks/>
            <a:stCxn id="125" idx="2"/>
            <a:endCxn id="61" idx="2"/>
          </p:cNvCxnSpPr>
          <p:nvPr/>
        </p:nvCxnSpPr>
        <p:spPr>
          <a:xfrm rot="16200000" flipH="1">
            <a:off x="12968794" y="3015813"/>
            <a:ext cx="559683" cy="1728481"/>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131" name="Curved Connector 130">
            <a:extLst>
              <a:ext uri="{FF2B5EF4-FFF2-40B4-BE49-F238E27FC236}">
                <a16:creationId xmlns:a16="http://schemas.microsoft.com/office/drawing/2014/main" id="{78383F23-9892-CE2E-BD8B-5BDB8F09C76D}"/>
              </a:ext>
            </a:extLst>
          </p:cNvPr>
          <p:cNvCxnSpPr>
            <a:cxnSpLocks/>
            <a:stCxn id="87" idx="4"/>
            <a:endCxn id="124" idx="0"/>
          </p:cNvCxnSpPr>
          <p:nvPr/>
        </p:nvCxnSpPr>
        <p:spPr>
          <a:xfrm rot="16200000" flipH="1">
            <a:off x="9811964" y="4154862"/>
            <a:ext cx="709585" cy="81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37" name="Curved Connector 136">
            <a:extLst>
              <a:ext uri="{FF2B5EF4-FFF2-40B4-BE49-F238E27FC236}">
                <a16:creationId xmlns:a16="http://schemas.microsoft.com/office/drawing/2014/main" id="{E1BFDB3B-F878-A65C-E774-172D8DED189C}"/>
              </a:ext>
            </a:extLst>
          </p:cNvPr>
          <p:cNvCxnSpPr>
            <a:cxnSpLocks/>
            <a:stCxn id="50" idx="0"/>
            <a:endCxn id="124" idx="2"/>
          </p:cNvCxnSpPr>
          <p:nvPr/>
        </p:nvCxnSpPr>
        <p:spPr>
          <a:xfrm rot="16200000" flipV="1">
            <a:off x="9886828" y="5197352"/>
            <a:ext cx="1512357" cy="95169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47" name="Curved Connector 146">
            <a:extLst>
              <a:ext uri="{FF2B5EF4-FFF2-40B4-BE49-F238E27FC236}">
                <a16:creationId xmlns:a16="http://schemas.microsoft.com/office/drawing/2014/main" id="{0C5D0972-A20F-E883-4111-8A810C87798E}"/>
              </a:ext>
            </a:extLst>
          </p:cNvPr>
          <p:cNvCxnSpPr>
            <a:cxnSpLocks/>
            <a:stCxn id="50" idx="0"/>
            <a:endCxn id="123" idx="2"/>
          </p:cNvCxnSpPr>
          <p:nvPr/>
        </p:nvCxnSpPr>
        <p:spPr>
          <a:xfrm rot="5400000" flipH="1" flipV="1">
            <a:off x="12967920" y="4100782"/>
            <a:ext cx="479524" cy="4177662"/>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51" name="Curved Connector 150">
            <a:extLst>
              <a:ext uri="{FF2B5EF4-FFF2-40B4-BE49-F238E27FC236}">
                <a16:creationId xmlns:a16="http://schemas.microsoft.com/office/drawing/2014/main" id="{34BAE252-5B5C-71DD-3629-CBB1A43899F9}"/>
              </a:ext>
            </a:extLst>
          </p:cNvPr>
          <p:cNvCxnSpPr>
            <a:cxnSpLocks/>
            <a:stCxn id="52" idx="0"/>
            <a:endCxn id="123" idx="2"/>
          </p:cNvCxnSpPr>
          <p:nvPr/>
        </p:nvCxnSpPr>
        <p:spPr>
          <a:xfrm rot="5400000" flipH="1" flipV="1">
            <a:off x="14223632" y="5356495"/>
            <a:ext cx="479524" cy="1666237"/>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54" name="Curved Connector 153">
            <a:extLst>
              <a:ext uri="{FF2B5EF4-FFF2-40B4-BE49-F238E27FC236}">
                <a16:creationId xmlns:a16="http://schemas.microsoft.com/office/drawing/2014/main" id="{DDDDAEE7-59ED-4A4F-A4DD-67B7B774DE23}"/>
              </a:ext>
            </a:extLst>
          </p:cNvPr>
          <p:cNvCxnSpPr>
            <a:cxnSpLocks/>
            <a:stCxn id="54" idx="0"/>
            <a:endCxn id="123" idx="2"/>
          </p:cNvCxnSpPr>
          <p:nvPr/>
        </p:nvCxnSpPr>
        <p:spPr>
          <a:xfrm rot="16200000" flipV="1">
            <a:off x="15479345" y="5767019"/>
            <a:ext cx="479524" cy="845188"/>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57" name="Curved Connector 156">
            <a:extLst>
              <a:ext uri="{FF2B5EF4-FFF2-40B4-BE49-F238E27FC236}">
                <a16:creationId xmlns:a16="http://schemas.microsoft.com/office/drawing/2014/main" id="{7843D6B6-2460-B8F2-8FCC-5EF356B0608D}"/>
              </a:ext>
            </a:extLst>
          </p:cNvPr>
          <p:cNvCxnSpPr>
            <a:cxnSpLocks/>
            <a:stCxn id="123" idx="0"/>
            <a:endCxn id="60" idx="2"/>
          </p:cNvCxnSpPr>
          <p:nvPr/>
        </p:nvCxnSpPr>
        <p:spPr>
          <a:xfrm rot="16200000" flipV="1">
            <a:off x="14950235" y="5196614"/>
            <a:ext cx="382044" cy="310513"/>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164" name="Rectangle 163">
            <a:extLst>
              <a:ext uri="{FF2B5EF4-FFF2-40B4-BE49-F238E27FC236}">
                <a16:creationId xmlns:a16="http://schemas.microsoft.com/office/drawing/2014/main" id="{BF531712-61DD-BC2B-B54D-11B576220FC0}"/>
              </a:ext>
            </a:extLst>
          </p:cNvPr>
          <p:cNvSpPr/>
          <p:nvPr/>
        </p:nvSpPr>
        <p:spPr>
          <a:xfrm>
            <a:off x="12708256" y="8087770"/>
            <a:ext cx="192024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Block Replication</a:t>
            </a:r>
          </a:p>
        </p:txBody>
      </p:sp>
      <p:cxnSp>
        <p:nvCxnSpPr>
          <p:cNvPr id="165" name="Curved Connector 164">
            <a:extLst>
              <a:ext uri="{FF2B5EF4-FFF2-40B4-BE49-F238E27FC236}">
                <a16:creationId xmlns:a16="http://schemas.microsoft.com/office/drawing/2014/main" id="{83056A6B-CC5E-4944-2078-EF82664F72E6}"/>
              </a:ext>
            </a:extLst>
          </p:cNvPr>
          <p:cNvCxnSpPr>
            <a:cxnSpLocks/>
            <a:stCxn id="164" idx="1"/>
            <a:endCxn id="50" idx="2"/>
          </p:cNvCxnSpPr>
          <p:nvPr/>
        </p:nvCxnSpPr>
        <p:spPr>
          <a:xfrm rot="10800000">
            <a:off x="11118852" y="7839903"/>
            <a:ext cx="1589405" cy="451346"/>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168" name="Curved Connector 167">
            <a:extLst>
              <a:ext uri="{FF2B5EF4-FFF2-40B4-BE49-F238E27FC236}">
                <a16:creationId xmlns:a16="http://schemas.microsoft.com/office/drawing/2014/main" id="{E4856E2D-3E03-F6CA-9256-BE48CD29ED7D}"/>
              </a:ext>
            </a:extLst>
          </p:cNvPr>
          <p:cNvCxnSpPr>
            <a:cxnSpLocks/>
            <a:stCxn id="54" idx="2"/>
            <a:endCxn id="164" idx="3"/>
          </p:cNvCxnSpPr>
          <p:nvPr/>
        </p:nvCxnSpPr>
        <p:spPr>
          <a:xfrm rot="5400000">
            <a:off x="15159426" y="7308974"/>
            <a:ext cx="451346" cy="1513205"/>
          </a:xfrm>
          <a:prstGeom prst="curvedConnector2">
            <a:avLst/>
          </a:prstGeom>
        </p:spPr>
        <p:style>
          <a:lnRef idx="2">
            <a:schemeClr val="accent1"/>
          </a:lnRef>
          <a:fillRef idx="0">
            <a:schemeClr val="accent1"/>
          </a:fillRef>
          <a:effectRef idx="1">
            <a:schemeClr val="accent1"/>
          </a:effectRef>
          <a:fontRef idx="minor">
            <a:schemeClr val="tx1"/>
          </a:fontRef>
        </p:style>
      </p:cxnSp>
      <p:grpSp>
        <p:nvGrpSpPr>
          <p:cNvPr id="196" name="Group 195">
            <a:extLst>
              <a:ext uri="{FF2B5EF4-FFF2-40B4-BE49-F238E27FC236}">
                <a16:creationId xmlns:a16="http://schemas.microsoft.com/office/drawing/2014/main" id="{7E5135A7-5B2C-773B-EB05-AD323B510BFB}"/>
              </a:ext>
            </a:extLst>
          </p:cNvPr>
          <p:cNvGrpSpPr/>
          <p:nvPr/>
        </p:nvGrpSpPr>
        <p:grpSpPr>
          <a:xfrm>
            <a:off x="15239364" y="3878648"/>
            <a:ext cx="2082802" cy="1410528"/>
            <a:chOff x="14096999" y="3902721"/>
            <a:chExt cx="2082802" cy="1410528"/>
          </a:xfrm>
        </p:grpSpPr>
        <p:sp>
          <p:nvSpPr>
            <p:cNvPr id="191" name="Rectangle 190">
              <a:extLst>
                <a:ext uri="{FF2B5EF4-FFF2-40B4-BE49-F238E27FC236}">
                  <a16:creationId xmlns:a16="http://schemas.microsoft.com/office/drawing/2014/main" id="{D6CEC06B-8FD4-FDC7-5F39-06A835EA5EB5}"/>
                </a:ext>
              </a:extLst>
            </p:cNvPr>
            <p:cNvSpPr/>
            <p:nvPr/>
          </p:nvSpPr>
          <p:spPr>
            <a:xfrm>
              <a:off x="14096999" y="39027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2" name="Oval 191">
              <a:extLst>
                <a:ext uri="{FF2B5EF4-FFF2-40B4-BE49-F238E27FC236}">
                  <a16:creationId xmlns:a16="http://schemas.microsoft.com/office/drawing/2014/main" id="{B7B00328-CC15-28D7-C679-1BA9DB72A9A3}"/>
                </a:ext>
              </a:extLst>
            </p:cNvPr>
            <p:cNvSpPr/>
            <p:nvPr/>
          </p:nvSpPr>
          <p:spPr>
            <a:xfrm>
              <a:off x="14265276" y="40741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193" name="TextBox 192">
              <a:extLst>
                <a:ext uri="{FF2B5EF4-FFF2-40B4-BE49-F238E27FC236}">
                  <a16:creationId xmlns:a16="http://schemas.microsoft.com/office/drawing/2014/main" id="{8E9F36B9-4589-152F-FC68-B763680C8C92}"/>
                </a:ext>
              </a:extLst>
            </p:cNvPr>
            <p:cNvSpPr txBox="1"/>
            <p:nvPr/>
          </p:nvSpPr>
          <p:spPr>
            <a:xfrm>
              <a:off x="14462574" y="4127630"/>
              <a:ext cx="1351652" cy="369332"/>
            </a:xfrm>
            <a:prstGeom prst="rect">
              <a:avLst/>
            </a:prstGeom>
            <a:noFill/>
          </p:spPr>
          <p:txBody>
            <a:bodyPr wrap="square" rtlCol="0">
              <a:spAutoFit/>
            </a:bodyPr>
            <a:lstStyle/>
            <a:p>
              <a:r>
                <a:rPr lang="en-US" dirty="0">
                  <a:solidFill>
                    <a:schemeClr val="bg2"/>
                  </a:solidFill>
                </a:rPr>
                <a:t>NameNode</a:t>
              </a:r>
            </a:p>
          </p:txBody>
        </p:sp>
        <p:sp>
          <p:nvSpPr>
            <p:cNvPr id="194" name="Rectangle 193">
              <a:extLst>
                <a:ext uri="{FF2B5EF4-FFF2-40B4-BE49-F238E27FC236}">
                  <a16:creationId xmlns:a16="http://schemas.microsoft.com/office/drawing/2014/main" id="{564F8C93-C627-FDDB-DB2B-07D36ADB20E5}"/>
                </a:ext>
              </a:extLst>
            </p:cNvPr>
            <p:cNvSpPr>
              <a:spLocks/>
            </p:cNvSpPr>
            <p:nvPr/>
          </p:nvSpPr>
          <p:spPr>
            <a:xfrm>
              <a:off x="14494330" y="47895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195" name="TextBox 194">
              <a:extLst>
                <a:ext uri="{FF2B5EF4-FFF2-40B4-BE49-F238E27FC236}">
                  <a16:creationId xmlns:a16="http://schemas.microsoft.com/office/drawing/2014/main" id="{B391A5C2-51B3-B5F1-F837-4AFB5E38EB10}"/>
                </a:ext>
              </a:extLst>
            </p:cNvPr>
            <p:cNvSpPr txBox="1"/>
            <p:nvPr/>
          </p:nvSpPr>
          <p:spPr>
            <a:xfrm>
              <a:off x="14557377" y="4785981"/>
              <a:ext cx="1146468" cy="369332"/>
            </a:xfrm>
            <a:prstGeom prst="rect">
              <a:avLst/>
            </a:prstGeom>
            <a:noFill/>
          </p:spPr>
          <p:txBody>
            <a:bodyPr wrap="square" rtlCol="0">
              <a:spAutoFit/>
            </a:bodyPr>
            <a:lstStyle/>
            <a:p>
              <a:r>
                <a:rPr lang="en-US" dirty="0">
                  <a:solidFill>
                    <a:schemeClr val="bg2"/>
                  </a:solidFill>
                </a:rPr>
                <a:t>Metadata</a:t>
              </a:r>
            </a:p>
          </p:txBody>
        </p:sp>
      </p:grpSp>
      <p:cxnSp>
        <p:nvCxnSpPr>
          <p:cNvPr id="171" name="Curved Connector 170">
            <a:extLst>
              <a:ext uri="{FF2B5EF4-FFF2-40B4-BE49-F238E27FC236}">
                <a16:creationId xmlns:a16="http://schemas.microsoft.com/office/drawing/2014/main" id="{9F4F5E6B-D689-087C-BB64-7A1C5A2926A1}"/>
              </a:ext>
            </a:extLst>
          </p:cNvPr>
          <p:cNvCxnSpPr>
            <a:cxnSpLocks/>
            <a:stCxn id="164" idx="0"/>
          </p:cNvCxnSpPr>
          <p:nvPr/>
        </p:nvCxnSpPr>
        <p:spPr>
          <a:xfrm rot="16200000" flipV="1">
            <a:off x="13543772" y="7963166"/>
            <a:ext cx="200243" cy="48966"/>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174" name="Curved Connector 173">
            <a:extLst>
              <a:ext uri="{FF2B5EF4-FFF2-40B4-BE49-F238E27FC236}">
                <a16:creationId xmlns:a16="http://schemas.microsoft.com/office/drawing/2014/main" id="{D785B54D-B3F6-675F-01CD-82A83461C148}"/>
              </a:ext>
            </a:extLst>
          </p:cNvPr>
          <p:cNvCxnSpPr>
            <a:cxnSpLocks/>
            <a:stCxn id="52" idx="0"/>
            <a:endCxn id="124" idx="2"/>
          </p:cNvCxnSpPr>
          <p:nvPr/>
        </p:nvCxnSpPr>
        <p:spPr>
          <a:xfrm rot="16200000" flipV="1">
            <a:off x="11142541" y="3941639"/>
            <a:ext cx="1512357" cy="3463115"/>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60" name="Rectangle 59">
            <a:extLst>
              <a:ext uri="{FF2B5EF4-FFF2-40B4-BE49-F238E27FC236}">
                <a16:creationId xmlns:a16="http://schemas.microsoft.com/office/drawing/2014/main" id="{B1C42AED-19C1-3C09-B246-2943EEAD834D}"/>
              </a:ext>
            </a:extLst>
          </p:cNvPr>
          <p:cNvSpPr/>
          <p:nvPr/>
        </p:nvSpPr>
        <p:spPr>
          <a:xfrm>
            <a:off x="13944599" y="37503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14913044-A215-1764-0080-04454336CF70}"/>
              </a:ext>
            </a:extLst>
          </p:cNvPr>
          <p:cNvSpPr/>
          <p:nvPr/>
        </p:nvSpPr>
        <p:spPr>
          <a:xfrm>
            <a:off x="14112876" y="39217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2" name="TextBox 61">
            <a:extLst>
              <a:ext uri="{FF2B5EF4-FFF2-40B4-BE49-F238E27FC236}">
                <a16:creationId xmlns:a16="http://schemas.microsoft.com/office/drawing/2014/main" id="{15F92096-772E-C442-4BDC-D545305906AD}"/>
              </a:ext>
            </a:extLst>
          </p:cNvPr>
          <p:cNvSpPr txBox="1"/>
          <p:nvPr/>
        </p:nvSpPr>
        <p:spPr>
          <a:xfrm>
            <a:off x="14310174" y="3975230"/>
            <a:ext cx="1351652" cy="369332"/>
          </a:xfrm>
          <a:prstGeom prst="rect">
            <a:avLst/>
          </a:prstGeom>
          <a:noFill/>
        </p:spPr>
        <p:txBody>
          <a:bodyPr wrap="square" rtlCol="0">
            <a:spAutoFit/>
          </a:bodyPr>
          <a:lstStyle/>
          <a:p>
            <a:r>
              <a:rPr lang="en-US" dirty="0">
                <a:solidFill>
                  <a:schemeClr val="bg2"/>
                </a:solidFill>
              </a:rPr>
              <a:t>NameNode</a:t>
            </a:r>
          </a:p>
        </p:txBody>
      </p:sp>
      <p:sp>
        <p:nvSpPr>
          <p:cNvPr id="75" name="Rectangle 74">
            <a:extLst>
              <a:ext uri="{FF2B5EF4-FFF2-40B4-BE49-F238E27FC236}">
                <a16:creationId xmlns:a16="http://schemas.microsoft.com/office/drawing/2014/main" id="{1E56531E-5A8A-33DF-9E4C-28E9D7BFBE3D}"/>
              </a:ext>
            </a:extLst>
          </p:cNvPr>
          <p:cNvSpPr>
            <a:spLocks/>
          </p:cNvSpPr>
          <p:nvPr/>
        </p:nvSpPr>
        <p:spPr>
          <a:xfrm>
            <a:off x="14341930" y="46371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85" name="TextBox 84">
            <a:extLst>
              <a:ext uri="{FF2B5EF4-FFF2-40B4-BE49-F238E27FC236}">
                <a16:creationId xmlns:a16="http://schemas.microsoft.com/office/drawing/2014/main" id="{DA2D1379-6008-7C5B-B63A-084B5E559AB4}"/>
              </a:ext>
            </a:extLst>
          </p:cNvPr>
          <p:cNvSpPr txBox="1"/>
          <p:nvPr/>
        </p:nvSpPr>
        <p:spPr>
          <a:xfrm>
            <a:off x="14404977" y="4633581"/>
            <a:ext cx="1146468" cy="369332"/>
          </a:xfrm>
          <a:prstGeom prst="rect">
            <a:avLst/>
          </a:prstGeom>
          <a:noFill/>
        </p:spPr>
        <p:txBody>
          <a:bodyPr wrap="square" rtlCol="0">
            <a:spAutoFit/>
          </a:bodyPr>
          <a:lstStyle/>
          <a:p>
            <a:r>
              <a:rPr lang="en-US" dirty="0">
                <a:solidFill>
                  <a:schemeClr val="bg2"/>
                </a:solidFill>
              </a:rPr>
              <a:t>Metadata</a:t>
            </a:r>
          </a:p>
        </p:txBody>
      </p:sp>
    </p:spTree>
    <p:extLst>
      <p:ext uri="{BB962C8B-B14F-4D97-AF65-F5344CB8AC3E}">
        <p14:creationId xmlns:p14="http://schemas.microsoft.com/office/powerpoint/2010/main" val="3935362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5000" dirty="0"/>
              <a:t>Hadoop Distributed File System Architecture</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718129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200" dirty="0">
                <a:solidFill>
                  <a:schemeClr val="bg2"/>
                </a:solidFill>
              </a:rPr>
              <a:t>An HDFS cluster has nodes executing one of two types of software daemons, NameNode(s) and DataNode(s), operating in a primary/worker pattern</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718129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200" dirty="0">
                <a:solidFill>
                  <a:schemeClr val="tx1"/>
                </a:solidFill>
              </a:rPr>
              <a:t>Files</a:t>
            </a:r>
            <a:r>
              <a:rPr lang="en-US" sz="2200" b="0" i="0" dirty="0">
                <a:solidFill>
                  <a:schemeClr val="tx1"/>
                </a:solidFill>
                <a:effectLst/>
              </a:rPr>
              <a:t> in HDFS is divided into fixed-size blocks, typically 128MB in size</a:t>
            </a:r>
            <a:r>
              <a:rPr lang="en-US" sz="2200" dirty="0">
                <a:solidFill>
                  <a:schemeClr val="tx1"/>
                </a:solidFill>
              </a:rPr>
              <a:t> </a:t>
            </a:r>
            <a:r>
              <a:rPr lang="en-US" sz="2200" b="0" i="0" dirty="0">
                <a:solidFill>
                  <a:schemeClr val="tx1"/>
                </a:solidFill>
                <a:effectLst/>
              </a:rPr>
              <a:t>distributed across the cluster's nodes for efficient storage and parallel processing</a:t>
            </a:r>
            <a:endParaRPr lang="en-US" altLang="en-US" sz="2200" b="1" dirty="0">
              <a:solidFill>
                <a:schemeClr val="tx1"/>
              </a:solidFill>
            </a:endParaRP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718129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b="0" i="0" dirty="0">
                <a:solidFill>
                  <a:schemeClr val="tx1"/>
                </a:solidFill>
                <a:effectLst/>
              </a:rPr>
              <a:t>To ensure file availability and reliability, HDFS replicates file data blocks across multiple nodes</a:t>
            </a:r>
            <a:r>
              <a:rPr lang="en-US" sz="2200" dirty="0">
                <a:solidFill>
                  <a:schemeClr val="tx1"/>
                </a:solidFill>
              </a:rPr>
              <a:t>, and associates a checksum with each block</a:t>
            </a:r>
            <a:endParaRPr lang="en-US" sz="2200" b="0" i="0" dirty="0">
              <a:solidFill>
                <a:schemeClr val="tx1"/>
              </a:solidFill>
              <a:effectLst/>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2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2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2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718129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0" i="0" dirty="0">
                <a:solidFill>
                  <a:schemeClr val="bg2"/>
                </a:solidFill>
                <a:effectLst/>
              </a:rPr>
              <a:t>This replication strategy enables HDFS to continue operating even if some </a:t>
            </a:r>
            <a:r>
              <a:rPr lang="en-US" sz="2200" dirty="0">
                <a:solidFill>
                  <a:schemeClr val="bg2"/>
                </a:solidFill>
              </a:rPr>
              <a:t>n</a:t>
            </a:r>
            <a:r>
              <a:rPr lang="en-US" sz="2200" b="0" i="0" dirty="0">
                <a:solidFill>
                  <a:schemeClr val="bg2"/>
                </a:solidFill>
                <a:effectLst/>
              </a:rPr>
              <a:t>odes fail, preventing data loss and maintaining system resilience.</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sp>
        <p:nvSpPr>
          <p:cNvPr id="16" name="Rectangle 15">
            <a:extLst>
              <a:ext uri="{FF2B5EF4-FFF2-40B4-BE49-F238E27FC236}">
                <a16:creationId xmlns:a16="http://schemas.microsoft.com/office/drawing/2014/main" id="{D104CA66-D17B-DC60-173A-6A450CC630C2}"/>
              </a:ext>
            </a:extLst>
          </p:cNvPr>
          <p:cNvSpPr/>
          <p:nvPr/>
        </p:nvSpPr>
        <p:spPr>
          <a:xfrm>
            <a:off x="13511520" y="2901938"/>
            <a:ext cx="4166879" cy="2954893"/>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7" name="Rectangle 16">
            <a:extLst>
              <a:ext uri="{FF2B5EF4-FFF2-40B4-BE49-F238E27FC236}">
                <a16:creationId xmlns:a16="http://schemas.microsoft.com/office/drawing/2014/main" id="{06A6B0E7-8FF0-C5E2-D269-8A4B7AB86E11}"/>
              </a:ext>
            </a:extLst>
          </p:cNvPr>
          <p:cNvSpPr/>
          <p:nvPr/>
        </p:nvSpPr>
        <p:spPr>
          <a:xfrm>
            <a:off x="9383994" y="5360431"/>
            <a:ext cx="8313456" cy="3293661"/>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8" name="Rectangle 17">
            <a:extLst>
              <a:ext uri="{FF2B5EF4-FFF2-40B4-BE49-F238E27FC236}">
                <a16:creationId xmlns:a16="http://schemas.microsoft.com/office/drawing/2014/main" id="{F00F91E6-AE51-6035-29C4-5F60D98E0973}"/>
              </a:ext>
            </a:extLst>
          </p:cNvPr>
          <p:cNvSpPr/>
          <p:nvPr/>
        </p:nvSpPr>
        <p:spPr>
          <a:xfrm>
            <a:off x="1007745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4F9469C-134F-A1C1-3741-42EBF87D7906}"/>
              </a:ext>
            </a:extLst>
          </p:cNvPr>
          <p:cNvSpPr/>
          <p:nvPr/>
        </p:nvSpPr>
        <p:spPr>
          <a:xfrm>
            <a:off x="1024572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0" name="Rectangle 19">
            <a:extLst>
              <a:ext uri="{FF2B5EF4-FFF2-40B4-BE49-F238E27FC236}">
                <a16:creationId xmlns:a16="http://schemas.microsoft.com/office/drawing/2014/main" id="{568DB1AC-1D42-7DE0-ED35-E0A18E8213A9}"/>
              </a:ext>
            </a:extLst>
          </p:cNvPr>
          <p:cNvSpPr/>
          <p:nvPr/>
        </p:nvSpPr>
        <p:spPr>
          <a:xfrm>
            <a:off x="12588875"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ABDB35E5-7321-7455-65A6-247168A6B467}"/>
              </a:ext>
            </a:extLst>
          </p:cNvPr>
          <p:cNvSpPr/>
          <p:nvPr/>
        </p:nvSpPr>
        <p:spPr>
          <a:xfrm>
            <a:off x="12757152"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2" name="Rectangle 21">
            <a:extLst>
              <a:ext uri="{FF2B5EF4-FFF2-40B4-BE49-F238E27FC236}">
                <a16:creationId xmlns:a16="http://schemas.microsoft.com/office/drawing/2014/main" id="{81DBEC0F-09A7-8031-62FE-811D57EDEFAB}"/>
              </a:ext>
            </a:extLst>
          </p:cNvPr>
          <p:cNvSpPr/>
          <p:nvPr/>
        </p:nvSpPr>
        <p:spPr>
          <a:xfrm>
            <a:off x="1510030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7912321-0D8F-7DC2-ECE9-A1865757136C}"/>
              </a:ext>
            </a:extLst>
          </p:cNvPr>
          <p:cNvSpPr/>
          <p:nvPr/>
        </p:nvSpPr>
        <p:spPr>
          <a:xfrm>
            <a:off x="1526857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4" name="TextBox 23">
            <a:extLst>
              <a:ext uri="{FF2B5EF4-FFF2-40B4-BE49-F238E27FC236}">
                <a16:creationId xmlns:a16="http://schemas.microsoft.com/office/drawing/2014/main" id="{63C1DEE5-23C1-E3AC-F158-90B26B01F53B}"/>
              </a:ext>
            </a:extLst>
          </p:cNvPr>
          <p:cNvSpPr txBox="1"/>
          <p:nvPr/>
        </p:nvSpPr>
        <p:spPr>
          <a:xfrm>
            <a:off x="10515363" y="6654284"/>
            <a:ext cx="1223412" cy="369332"/>
          </a:xfrm>
          <a:prstGeom prst="rect">
            <a:avLst/>
          </a:prstGeom>
          <a:noFill/>
        </p:spPr>
        <p:txBody>
          <a:bodyPr wrap="none" rtlCol="0">
            <a:spAutoFit/>
          </a:bodyPr>
          <a:lstStyle/>
          <a:p>
            <a:r>
              <a:rPr lang="en-US" dirty="0">
                <a:solidFill>
                  <a:schemeClr val="bg2"/>
                </a:solidFill>
              </a:rPr>
              <a:t>DataNode</a:t>
            </a:r>
          </a:p>
        </p:txBody>
      </p:sp>
      <p:sp>
        <p:nvSpPr>
          <p:cNvPr id="25" name="TextBox 24">
            <a:extLst>
              <a:ext uri="{FF2B5EF4-FFF2-40B4-BE49-F238E27FC236}">
                <a16:creationId xmlns:a16="http://schemas.microsoft.com/office/drawing/2014/main" id="{EDDA36AC-5C7E-41FF-2016-F520E224AFC2}"/>
              </a:ext>
            </a:extLst>
          </p:cNvPr>
          <p:cNvSpPr txBox="1"/>
          <p:nvPr/>
        </p:nvSpPr>
        <p:spPr>
          <a:xfrm>
            <a:off x="13056670" y="6648450"/>
            <a:ext cx="1223412" cy="369332"/>
          </a:xfrm>
          <a:prstGeom prst="rect">
            <a:avLst/>
          </a:prstGeom>
          <a:noFill/>
        </p:spPr>
        <p:txBody>
          <a:bodyPr wrap="none" rtlCol="0">
            <a:spAutoFit/>
          </a:bodyPr>
          <a:lstStyle/>
          <a:p>
            <a:r>
              <a:rPr lang="en-US" dirty="0">
                <a:solidFill>
                  <a:schemeClr val="bg2"/>
                </a:solidFill>
              </a:rPr>
              <a:t>DataNode</a:t>
            </a:r>
          </a:p>
        </p:txBody>
      </p:sp>
      <p:sp>
        <p:nvSpPr>
          <p:cNvPr id="26" name="TextBox 25">
            <a:extLst>
              <a:ext uri="{FF2B5EF4-FFF2-40B4-BE49-F238E27FC236}">
                <a16:creationId xmlns:a16="http://schemas.microsoft.com/office/drawing/2014/main" id="{9A8BFE4C-B04C-2696-742F-8D534F8BC722}"/>
              </a:ext>
            </a:extLst>
          </p:cNvPr>
          <p:cNvSpPr txBox="1"/>
          <p:nvPr/>
        </p:nvSpPr>
        <p:spPr>
          <a:xfrm>
            <a:off x="15529995" y="6629400"/>
            <a:ext cx="1223412" cy="369332"/>
          </a:xfrm>
          <a:prstGeom prst="rect">
            <a:avLst/>
          </a:prstGeom>
          <a:noFill/>
        </p:spPr>
        <p:txBody>
          <a:bodyPr wrap="none" rtlCol="0">
            <a:spAutoFit/>
          </a:bodyPr>
          <a:lstStyle/>
          <a:p>
            <a:r>
              <a:rPr lang="en-US" dirty="0">
                <a:solidFill>
                  <a:schemeClr val="bg2"/>
                </a:solidFill>
              </a:rPr>
              <a:t>DataNode</a:t>
            </a:r>
          </a:p>
        </p:txBody>
      </p:sp>
      <p:sp>
        <p:nvSpPr>
          <p:cNvPr id="27" name="Rectangle 26">
            <a:extLst>
              <a:ext uri="{FF2B5EF4-FFF2-40B4-BE49-F238E27FC236}">
                <a16:creationId xmlns:a16="http://schemas.microsoft.com/office/drawing/2014/main" id="{C6EA5CB7-E903-7070-0F77-EF4E2A7D5C18}"/>
              </a:ext>
            </a:extLst>
          </p:cNvPr>
          <p:cNvSpPr>
            <a:spLocks/>
          </p:cNvSpPr>
          <p:nvPr/>
        </p:nvSpPr>
        <p:spPr>
          <a:xfrm>
            <a:off x="10530804"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28" name="Rectangle 27">
            <a:extLst>
              <a:ext uri="{FF2B5EF4-FFF2-40B4-BE49-F238E27FC236}">
                <a16:creationId xmlns:a16="http://schemas.microsoft.com/office/drawing/2014/main" id="{694C82D1-7A4E-F935-371C-DCF44F2221A1}"/>
              </a:ext>
            </a:extLst>
          </p:cNvPr>
          <p:cNvSpPr>
            <a:spLocks/>
          </p:cNvSpPr>
          <p:nvPr/>
        </p:nvSpPr>
        <p:spPr>
          <a:xfrm>
            <a:off x="10956190"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29" name="Rectangle 28">
            <a:extLst>
              <a:ext uri="{FF2B5EF4-FFF2-40B4-BE49-F238E27FC236}">
                <a16:creationId xmlns:a16="http://schemas.microsoft.com/office/drawing/2014/main" id="{0B76A44A-1585-DAD6-F5D7-EFBE90041DDB}"/>
              </a:ext>
            </a:extLst>
          </p:cNvPr>
          <p:cNvSpPr>
            <a:spLocks/>
          </p:cNvSpPr>
          <p:nvPr/>
        </p:nvSpPr>
        <p:spPr>
          <a:xfrm>
            <a:off x="11381576"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0" name="Rectangle 29">
            <a:extLst>
              <a:ext uri="{FF2B5EF4-FFF2-40B4-BE49-F238E27FC236}">
                <a16:creationId xmlns:a16="http://schemas.microsoft.com/office/drawing/2014/main" id="{6FC11EEB-AC63-5A44-252C-D2E4CAEAC0B9}"/>
              </a:ext>
            </a:extLst>
          </p:cNvPr>
          <p:cNvSpPr>
            <a:spLocks/>
          </p:cNvSpPr>
          <p:nvPr/>
        </p:nvSpPr>
        <p:spPr>
          <a:xfrm>
            <a:off x="1308613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1" name="Rectangle 30">
            <a:extLst>
              <a:ext uri="{FF2B5EF4-FFF2-40B4-BE49-F238E27FC236}">
                <a16:creationId xmlns:a16="http://schemas.microsoft.com/office/drawing/2014/main" id="{58F6D1ED-B109-19EE-F279-35728D07176D}"/>
              </a:ext>
            </a:extLst>
          </p:cNvPr>
          <p:cNvSpPr>
            <a:spLocks/>
          </p:cNvSpPr>
          <p:nvPr/>
        </p:nvSpPr>
        <p:spPr>
          <a:xfrm>
            <a:off x="1351152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2" name="Rectangle 31">
            <a:extLst>
              <a:ext uri="{FF2B5EF4-FFF2-40B4-BE49-F238E27FC236}">
                <a16:creationId xmlns:a16="http://schemas.microsoft.com/office/drawing/2014/main" id="{2286A54B-B23D-0912-E36D-7BBAC0AB34B9}"/>
              </a:ext>
            </a:extLst>
          </p:cNvPr>
          <p:cNvSpPr>
            <a:spLocks/>
          </p:cNvSpPr>
          <p:nvPr/>
        </p:nvSpPr>
        <p:spPr>
          <a:xfrm>
            <a:off x="1393690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3" name="Rectangle 32">
            <a:extLst>
              <a:ext uri="{FF2B5EF4-FFF2-40B4-BE49-F238E27FC236}">
                <a16:creationId xmlns:a16="http://schemas.microsoft.com/office/drawing/2014/main" id="{EBE88B38-A90F-C15C-0A2F-E1F0B7EA269D}"/>
              </a:ext>
            </a:extLst>
          </p:cNvPr>
          <p:cNvSpPr>
            <a:spLocks/>
          </p:cNvSpPr>
          <p:nvPr/>
        </p:nvSpPr>
        <p:spPr>
          <a:xfrm>
            <a:off x="1554105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4" name="Rectangle 33">
            <a:extLst>
              <a:ext uri="{FF2B5EF4-FFF2-40B4-BE49-F238E27FC236}">
                <a16:creationId xmlns:a16="http://schemas.microsoft.com/office/drawing/2014/main" id="{BE84BB05-75AA-7DBD-AF57-309DB7FCC6C9}"/>
              </a:ext>
            </a:extLst>
          </p:cNvPr>
          <p:cNvSpPr>
            <a:spLocks/>
          </p:cNvSpPr>
          <p:nvPr/>
        </p:nvSpPr>
        <p:spPr>
          <a:xfrm>
            <a:off x="1596644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5" name="Rectangle 34">
            <a:extLst>
              <a:ext uri="{FF2B5EF4-FFF2-40B4-BE49-F238E27FC236}">
                <a16:creationId xmlns:a16="http://schemas.microsoft.com/office/drawing/2014/main" id="{7C98DBDD-593E-6C2E-BB0B-A42E968FEA6C}"/>
              </a:ext>
            </a:extLst>
          </p:cNvPr>
          <p:cNvSpPr>
            <a:spLocks/>
          </p:cNvSpPr>
          <p:nvPr/>
        </p:nvSpPr>
        <p:spPr>
          <a:xfrm>
            <a:off x="1639182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6" name="Rectangle 35">
            <a:extLst>
              <a:ext uri="{FF2B5EF4-FFF2-40B4-BE49-F238E27FC236}">
                <a16:creationId xmlns:a16="http://schemas.microsoft.com/office/drawing/2014/main" id="{9D410F0A-62A3-8A8A-C020-1F766311B321}"/>
              </a:ext>
            </a:extLst>
          </p:cNvPr>
          <p:cNvSpPr/>
          <p:nvPr/>
        </p:nvSpPr>
        <p:spPr>
          <a:xfrm>
            <a:off x="9124950" y="25431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4A7B71AB-BB92-C0C0-2BDC-4B3D9304C2FF}"/>
              </a:ext>
            </a:extLst>
          </p:cNvPr>
          <p:cNvSpPr/>
          <p:nvPr/>
        </p:nvSpPr>
        <p:spPr>
          <a:xfrm>
            <a:off x="9293227" y="33242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38" name="TextBox 37">
            <a:extLst>
              <a:ext uri="{FF2B5EF4-FFF2-40B4-BE49-F238E27FC236}">
                <a16:creationId xmlns:a16="http://schemas.microsoft.com/office/drawing/2014/main" id="{E435E95E-A75D-4CD7-5F06-DB692B231C3E}"/>
              </a:ext>
            </a:extLst>
          </p:cNvPr>
          <p:cNvSpPr txBox="1"/>
          <p:nvPr/>
        </p:nvSpPr>
        <p:spPr>
          <a:xfrm>
            <a:off x="9448563" y="3396734"/>
            <a:ext cx="1467068" cy="369332"/>
          </a:xfrm>
          <a:prstGeom prst="rect">
            <a:avLst/>
          </a:prstGeom>
          <a:noFill/>
        </p:spPr>
        <p:txBody>
          <a:bodyPr wrap="none" rtlCol="0">
            <a:spAutoFit/>
          </a:bodyPr>
          <a:lstStyle/>
          <a:p>
            <a:r>
              <a:rPr lang="en-US" dirty="0">
                <a:solidFill>
                  <a:schemeClr val="bg2"/>
                </a:solidFill>
              </a:rPr>
              <a:t>HDFS Client</a:t>
            </a:r>
          </a:p>
        </p:txBody>
      </p:sp>
      <p:sp>
        <p:nvSpPr>
          <p:cNvPr id="39" name="Oval 38">
            <a:extLst>
              <a:ext uri="{FF2B5EF4-FFF2-40B4-BE49-F238E27FC236}">
                <a16:creationId xmlns:a16="http://schemas.microsoft.com/office/drawing/2014/main" id="{9F4DA78D-1AAD-C00D-E20A-D3764AABBB80}"/>
              </a:ext>
            </a:extLst>
          </p:cNvPr>
          <p:cNvSpPr/>
          <p:nvPr/>
        </p:nvSpPr>
        <p:spPr>
          <a:xfrm>
            <a:off x="9293227" y="2676525"/>
            <a:ext cx="1746248" cy="47625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40" name="TextBox 39">
            <a:extLst>
              <a:ext uri="{FF2B5EF4-FFF2-40B4-BE49-F238E27FC236}">
                <a16:creationId xmlns:a16="http://schemas.microsoft.com/office/drawing/2014/main" id="{36A49A1D-F345-9FFE-18D1-F5DDC6DFEE69}"/>
              </a:ext>
            </a:extLst>
          </p:cNvPr>
          <p:cNvSpPr txBox="1"/>
          <p:nvPr/>
        </p:nvSpPr>
        <p:spPr>
          <a:xfrm>
            <a:off x="9829563" y="2749034"/>
            <a:ext cx="595035" cy="369332"/>
          </a:xfrm>
          <a:prstGeom prst="rect">
            <a:avLst/>
          </a:prstGeom>
          <a:noFill/>
        </p:spPr>
        <p:txBody>
          <a:bodyPr wrap="none" rtlCol="0">
            <a:spAutoFit/>
          </a:bodyPr>
          <a:lstStyle/>
          <a:p>
            <a:r>
              <a:rPr lang="en-US" dirty="0"/>
              <a:t>App</a:t>
            </a:r>
          </a:p>
        </p:txBody>
      </p:sp>
      <p:sp>
        <p:nvSpPr>
          <p:cNvPr id="41" name="TextBox 40">
            <a:extLst>
              <a:ext uri="{FF2B5EF4-FFF2-40B4-BE49-F238E27FC236}">
                <a16:creationId xmlns:a16="http://schemas.microsoft.com/office/drawing/2014/main" id="{3D4427C0-B8C1-09BC-648E-699016546F1C}"/>
              </a:ext>
            </a:extLst>
          </p:cNvPr>
          <p:cNvSpPr txBox="1"/>
          <p:nvPr/>
        </p:nvSpPr>
        <p:spPr>
          <a:xfrm>
            <a:off x="15696168" y="2927836"/>
            <a:ext cx="1903085" cy="646331"/>
          </a:xfrm>
          <a:prstGeom prst="rect">
            <a:avLst/>
          </a:prstGeom>
          <a:noFill/>
        </p:spPr>
        <p:txBody>
          <a:bodyPr wrap="none" rtlCol="0">
            <a:spAutoFit/>
          </a:bodyPr>
          <a:lstStyle/>
          <a:p>
            <a:r>
              <a:rPr lang="en-US" b="1" dirty="0">
                <a:solidFill>
                  <a:schemeClr val="bg2"/>
                </a:solidFill>
              </a:rPr>
              <a:t>Hadoop Cluster</a:t>
            </a:r>
          </a:p>
          <a:p>
            <a:pPr algn="ctr"/>
            <a:r>
              <a:rPr lang="en-US" b="1" dirty="0">
                <a:solidFill>
                  <a:schemeClr val="bg2"/>
                </a:solidFill>
              </a:rPr>
              <a:t>(HDFS View)</a:t>
            </a:r>
          </a:p>
        </p:txBody>
      </p:sp>
      <p:sp>
        <p:nvSpPr>
          <p:cNvPr id="42" name="TextBox 41">
            <a:extLst>
              <a:ext uri="{FF2B5EF4-FFF2-40B4-BE49-F238E27FC236}">
                <a16:creationId xmlns:a16="http://schemas.microsoft.com/office/drawing/2014/main" id="{7C17F030-2F21-EDCE-89D3-B665EB6D1153}"/>
              </a:ext>
            </a:extLst>
          </p:cNvPr>
          <p:cNvSpPr txBox="1"/>
          <p:nvPr/>
        </p:nvSpPr>
        <p:spPr>
          <a:xfrm>
            <a:off x="10702798" y="7473434"/>
            <a:ext cx="787395" cy="338554"/>
          </a:xfrm>
          <a:prstGeom prst="rect">
            <a:avLst/>
          </a:prstGeom>
          <a:noFill/>
        </p:spPr>
        <p:txBody>
          <a:bodyPr wrap="none" rtlCol="0">
            <a:spAutoFit/>
          </a:bodyPr>
          <a:lstStyle/>
          <a:p>
            <a:pPr algn="ctr"/>
            <a:r>
              <a:rPr lang="en-US" sz="1600" dirty="0"/>
              <a:t>Blocks</a:t>
            </a:r>
          </a:p>
        </p:txBody>
      </p:sp>
      <p:sp>
        <p:nvSpPr>
          <p:cNvPr id="43" name="TextBox 42">
            <a:extLst>
              <a:ext uri="{FF2B5EF4-FFF2-40B4-BE49-F238E27FC236}">
                <a16:creationId xmlns:a16="http://schemas.microsoft.com/office/drawing/2014/main" id="{C00366A2-3D6E-9517-2F85-FA54B7D3FE79}"/>
              </a:ext>
            </a:extLst>
          </p:cNvPr>
          <p:cNvSpPr txBox="1"/>
          <p:nvPr/>
        </p:nvSpPr>
        <p:spPr>
          <a:xfrm>
            <a:off x="13225712" y="7473434"/>
            <a:ext cx="787395" cy="338554"/>
          </a:xfrm>
          <a:prstGeom prst="rect">
            <a:avLst/>
          </a:prstGeom>
          <a:noFill/>
        </p:spPr>
        <p:txBody>
          <a:bodyPr wrap="none" rtlCol="0">
            <a:spAutoFit/>
          </a:bodyPr>
          <a:lstStyle/>
          <a:p>
            <a:pPr algn="ctr"/>
            <a:r>
              <a:rPr lang="en-US" sz="1600" dirty="0"/>
              <a:t>Blocks</a:t>
            </a:r>
          </a:p>
        </p:txBody>
      </p:sp>
      <p:sp>
        <p:nvSpPr>
          <p:cNvPr id="44" name="TextBox 43">
            <a:extLst>
              <a:ext uri="{FF2B5EF4-FFF2-40B4-BE49-F238E27FC236}">
                <a16:creationId xmlns:a16="http://schemas.microsoft.com/office/drawing/2014/main" id="{1819A159-1C60-7B4A-396D-AFEAA76E4804}"/>
              </a:ext>
            </a:extLst>
          </p:cNvPr>
          <p:cNvSpPr txBox="1"/>
          <p:nvPr/>
        </p:nvSpPr>
        <p:spPr>
          <a:xfrm>
            <a:off x="15702212" y="7473434"/>
            <a:ext cx="787395" cy="338554"/>
          </a:xfrm>
          <a:prstGeom prst="rect">
            <a:avLst/>
          </a:prstGeom>
          <a:noFill/>
        </p:spPr>
        <p:txBody>
          <a:bodyPr wrap="none" rtlCol="0">
            <a:spAutoFit/>
          </a:bodyPr>
          <a:lstStyle/>
          <a:p>
            <a:pPr algn="ctr"/>
            <a:r>
              <a:rPr lang="en-US" sz="1600" dirty="0"/>
              <a:t>Blocks</a:t>
            </a:r>
          </a:p>
        </p:txBody>
      </p:sp>
      <p:sp>
        <p:nvSpPr>
          <p:cNvPr id="45" name="Rectangle 44">
            <a:extLst>
              <a:ext uri="{FF2B5EF4-FFF2-40B4-BE49-F238E27FC236}">
                <a16:creationId xmlns:a16="http://schemas.microsoft.com/office/drawing/2014/main" id="{A25088DB-29B2-4B62-78B4-F138090C3240}"/>
              </a:ext>
            </a:extLst>
          </p:cNvPr>
          <p:cNvSpPr/>
          <p:nvPr/>
        </p:nvSpPr>
        <p:spPr>
          <a:xfrm>
            <a:off x="13374772" y="5542893"/>
            <a:ext cx="3843481"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Heartbeats, Block Reports, Block Mgmt.</a:t>
            </a:r>
          </a:p>
        </p:txBody>
      </p:sp>
      <p:sp>
        <p:nvSpPr>
          <p:cNvPr id="46" name="Rectangle 45">
            <a:extLst>
              <a:ext uri="{FF2B5EF4-FFF2-40B4-BE49-F238E27FC236}">
                <a16:creationId xmlns:a16="http://schemas.microsoft.com/office/drawing/2014/main" id="{A2E8BE83-2851-E18B-EA8E-500AC76F4F45}"/>
              </a:ext>
            </a:extLst>
          </p:cNvPr>
          <p:cNvSpPr/>
          <p:nvPr/>
        </p:nvSpPr>
        <p:spPr>
          <a:xfrm>
            <a:off x="8932721" y="4510060"/>
            <a:ext cx="246888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Read and Write Blocks</a:t>
            </a:r>
          </a:p>
        </p:txBody>
      </p:sp>
      <p:sp>
        <p:nvSpPr>
          <p:cNvPr id="47" name="Rectangle 46">
            <a:extLst>
              <a:ext uri="{FF2B5EF4-FFF2-40B4-BE49-F238E27FC236}">
                <a16:creationId xmlns:a16="http://schemas.microsoft.com/office/drawing/2014/main" id="{DA019830-246E-6033-42AC-8F2F8EDED326}"/>
              </a:ext>
            </a:extLst>
          </p:cNvPr>
          <p:cNvSpPr/>
          <p:nvPr/>
        </p:nvSpPr>
        <p:spPr>
          <a:xfrm>
            <a:off x="11469995" y="3193255"/>
            <a:ext cx="1828800" cy="40695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Obtain Metadata</a:t>
            </a:r>
          </a:p>
        </p:txBody>
      </p:sp>
      <p:cxnSp>
        <p:nvCxnSpPr>
          <p:cNvPr id="48" name="Curved Connector 47">
            <a:extLst>
              <a:ext uri="{FF2B5EF4-FFF2-40B4-BE49-F238E27FC236}">
                <a16:creationId xmlns:a16="http://schemas.microsoft.com/office/drawing/2014/main" id="{10F79754-2974-3813-9E60-A40E00866465}"/>
              </a:ext>
            </a:extLst>
          </p:cNvPr>
          <p:cNvCxnSpPr>
            <a:stCxn id="37" idx="6"/>
            <a:endCxn id="47" idx="0"/>
          </p:cNvCxnSpPr>
          <p:nvPr/>
        </p:nvCxnSpPr>
        <p:spPr>
          <a:xfrm flipV="1">
            <a:off x="11039475" y="3193255"/>
            <a:ext cx="1344920" cy="369095"/>
          </a:xfrm>
          <a:prstGeom prst="curvedConnector4">
            <a:avLst>
              <a:gd name="adj1" fmla="val 16005"/>
              <a:gd name="adj2" fmla="val 161935"/>
            </a:avLst>
          </a:prstGeom>
        </p:spPr>
        <p:style>
          <a:lnRef idx="2">
            <a:schemeClr val="accent1"/>
          </a:lnRef>
          <a:fillRef idx="0">
            <a:schemeClr val="accent1"/>
          </a:fillRef>
          <a:effectRef idx="1">
            <a:schemeClr val="accent1"/>
          </a:effectRef>
          <a:fontRef idx="minor">
            <a:schemeClr val="tx1"/>
          </a:fontRef>
        </p:style>
      </p:cxnSp>
      <p:cxnSp>
        <p:nvCxnSpPr>
          <p:cNvPr id="49" name="Curved Connector 48">
            <a:extLst>
              <a:ext uri="{FF2B5EF4-FFF2-40B4-BE49-F238E27FC236}">
                <a16:creationId xmlns:a16="http://schemas.microsoft.com/office/drawing/2014/main" id="{D1676827-E406-AD9E-55E3-C9C2F98C2E31}"/>
              </a:ext>
            </a:extLst>
          </p:cNvPr>
          <p:cNvCxnSpPr>
            <a:cxnSpLocks/>
            <a:stCxn id="47" idx="2"/>
            <a:endCxn id="68" idx="2"/>
          </p:cNvCxnSpPr>
          <p:nvPr/>
        </p:nvCxnSpPr>
        <p:spPr>
          <a:xfrm rot="16200000" flipH="1">
            <a:off x="12968794" y="3015813"/>
            <a:ext cx="559683" cy="1728481"/>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0" name="Curved Connector 49">
            <a:extLst>
              <a:ext uri="{FF2B5EF4-FFF2-40B4-BE49-F238E27FC236}">
                <a16:creationId xmlns:a16="http://schemas.microsoft.com/office/drawing/2014/main" id="{64616CFF-D5AC-7F7D-BAD5-C4F211B9A909}"/>
              </a:ext>
            </a:extLst>
          </p:cNvPr>
          <p:cNvCxnSpPr>
            <a:cxnSpLocks/>
            <a:stCxn id="37" idx="4"/>
            <a:endCxn id="46" idx="0"/>
          </p:cNvCxnSpPr>
          <p:nvPr/>
        </p:nvCxnSpPr>
        <p:spPr>
          <a:xfrm rot="16200000" flipH="1">
            <a:off x="9811964" y="4154862"/>
            <a:ext cx="709585" cy="81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A40C17B7-6E90-99C7-EFB8-0C51CC15A938}"/>
              </a:ext>
            </a:extLst>
          </p:cNvPr>
          <p:cNvCxnSpPr>
            <a:cxnSpLocks/>
            <a:stCxn id="18" idx="0"/>
            <a:endCxn id="46" idx="2"/>
          </p:cNvCxnSpPr>
          <p:nvPr/>
        </p:nvCxnSpPr>
        <p:spPr>
          <a:xfrm rot="16200000" flipV="1">
            <a:off x="9886828" y="5197352"/>
            <a:ext cx="1512357" cy="95169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2" name="Curved Connector 51">
            <a:extLst>
              <a:ext uri="{FF2B5EF4-FFF2-40B4-BE49-F238E27FC236}">
                <a16:creationId xmlns:a16="http://schemas.microsoft.com/office/drawing/2014/main" id="{4CE948B0-6AF7-EBF0-CDD9-D6E283F99077}"/>
              </a:ext>
            </a:extLst>
          </p:cNvPr>
          <p:cNvCxnSpPr>
            <a:cxnSpLocks/>
            <a:stCxn id="18" idx="0"/>
            <a:endCxn id="45" idx="2"/>
          </p:cNvCxnSpPr>
          <p:nvPr/>
        </p:nvCxnSpPr>
        <p:spPr>
          <a:xfrm rot="5400000" flipH="1" flipV="1">
            <a:off x="12967920" y="4100782"/>
            <a:ext cx="479524" cy="4177662"/>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urved Connector 52">
            <a:extLst>
              <a:ext uri="{FF2B5EF4-FFF2-40B4-BE49-F238E27FC236}">
                <a16:creationId xmlns:a16="http://schemas.microsoft.com/office/drawing/2014/main" id="{5A315E2F-5DA1-DC1D-017D-278354DBBD79}"/>
              </a:ext>
            </a:extLst>
          </p:cNvPr>
          <p:cNvCxnSpPr>
            <a:cxnSpLocks/>
            <a:stCxn id="20" idx="0"/>
            <a:endCxn id="45" idx="2"/>
          </p:cNvCxnSpPr>
          <p:nvPr/>
        </p:nvCxnSpPr>
        <p:spPr>
          <a:xfrm rot="5400000" flipH="1" flipV="1">
            <a:off x="14223632" y="5356495"/>
            <a:ext cx="479524" cy="1666237"/>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4" name="Curved Connector 53">
            <a:extLst>
              <a:ext uri="{FF2B5EF4-FFF2-40B4-BE49-F238E27FC236}">
                <a16:creationId xmlns:a16="http://schemas.microsoft.com/office/drawing/2014/main" id="{63820AE7-CEC9-9CAF-BEF3-CCAA76C197B2}"/>
              </a:ext>
            </a:extLst>
          </p:cNvPr>
          <p:cNvCxnSpPr>
            <a:cxnSpLocks/>
            <a:stCxn id="22" idx="0"/>
            <a:endCxn id="45" idx="2"/>
          </p:cNvCxnSpPr>
          <p:nvPr/>
        </p:nvCxnSpPr>
        <p:spPr>
          <a:xfrm rot="16200000" flipV="1">
            <a:off x="15479345" y="5767019"/>
            <a:ext cx="479524" cy="845188"/>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7CA38732-11B8-3588-5E36-FD0B90CBF729}"/>
              </a:ext>
            </a:extLst>
          </p:cNvPr>
          <p:cNvCxnSpPr>
            <a:cxnSpLocks/>
            <a:stCxn id="45" idx="0"/>
            <a:endCxn id="67" idx="2"/>
          </p:cNvCxnSpPr>
          <p:nvPr/>
        </p:nvCxnSpPr>
        <p:spPr>
          <a:xfrm rot="16200000" flipV="1">
            <a:off x="14950235" y="5196614"/>
            <a:ext cx="382044" cy="310513"/>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D7E2C613-F7F5-B744-2E13-327CEFE14003}"/>
              </a:ext>
            </a:extLst>
          </p:cNvPr>
          <p:cNvSpPr/>
          <p:nvPr/>
        </p:nvSpPr>
        <p:spPr>
          <a:xfrm>
            <a:off x="12708256" y="8087770"/>
            <a:ext cx="192024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Block Replication</a:t>
            </a:r>
          </a:p>
        </p:txBody>
      </p:sp>
      <p:cxnSp>
        <p:nvCxnSpPr>
          <p:cNvPr id="57" name="Curved Connector 56">
            <a:extLst>
              <a:ext uri="{FF2B5EF4-FFF2-40B4-BE49-F238E27FC236}">
                <a16:creationId xmlns:a16="http://schemas.microsoft.com/office/drawing/2014/main" id="{73D170BB-286B-2631-B188-59F8A70572B1}"/>
              </a:ext>
            </a:extLst>
          </p:cNvPr>
          <p:cNvCxnSpPr>
            <a:cxnSpLocks/>
            <a:stCxn id="56" idx="1"/>
            <a:endCxn id="18" idx="2"/>
          </p:cNvCxnSpPr>
          <p:nvPr/>
        </p:nvCxnSpPr>
        <p:spPr>
          <a:xfrm rot="10800000">
            <a:off x="11118852" y="7839903"/>
            <a:ext cx="1589405" cy="451346"/>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8" name="Curved Connector 57">
            <a:extLst>
              <a:ext uri="{FF2B5EF4-FFF2-40B4-BE49-F238E27FC236}">
                <a16:creationId xmlns:a16="http://schemas.microsoft.com/office/drawing/2014/main" id="{F3898964-A489-AD46-3631-EF5428ABB917}"/>
              </a:ext>
            </a:extLst>
          </p:cNvPr>
          <p:cNvCxnSpPr>
            <a:cxnSpLocks/>
            <a:stCxn id="22" idx="2"/>
            <a:endCxn id="56" idx="3"/>
          </p:cNvCxnSpPr>
          <p:nvPr/>
        </p:nvCxnSpPr>
        <p:spPr>
          <a:xfrm rot="5400000">
            <a:off x="15159426" y="7308974"/>
            <a:ext cx="451346" cy="1513205"/>
          </a:xfrm>
          <a:prstGeom prst="curvedConnector2">
            <a:avLst/>
          </a:prstGeom>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CEC9F1C1-682B-7558-859D-186AC27617CA}"/>
              </a:ext>
            </a:extLst>
          </p:cNvPr>
          <p:cNvGrpSpPr/>
          <p:nvPr/>
        </p:nvGrpSpPr>
        <p:grpSpPr>
          <a:xfrm>
            <a:off x="15239364" y="3878648"/>
            <a:ext cx="2082802" cy="1410528"/>
            <a:chOff x="14096999" y="3902721"/>
            <a:chExt cx="2082802" cy="1410528"/>
          </a:xfrm>
        </p:grpSpPr>
        <p:sp>
          <p:nvSpPr>
            <p:cNvPr id="60" name="Rectangle 59">
              <a:extLst>
                <a:ext uri="{FF2B5EF4-FFF2-40B4-BE49-F238E27FC236}">
                  <a16:creationId xmlns:a16="http://schemas.microsoft.com/office/drawing/2014/main" id="{7CBE8A17-607B-14F1-7DDA-9C24ED23B130}"/>
                </a:ext>
              </a:extLst>
            </p:cNvPr>
            <p:cNvSpPr/>
            <p:nvPr/>
          </p:nvSpPr>
          <p:spPr>
            <a:xfrm>
              <a:off x="14096999" y="39027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C49FF804-FD99-4CEA-7480-07B31B8B4762}"/>
                </a:ext>
              </a:extLst>
            </p:cNvPr>
            <p:cNvSpPr/>
            <p:nvPr/>
          </p:nvSpPr>
          <p:spPr>
            <a:xfrm>
              <a:off x="14265276" y="40741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2" name="TextBox 61">
              <a:extLst>
                <a:ext uri="{FF2B5EF4-FFF2-40B4-BE49-F238E27FC236}">
                  <a16:creationId xmlns:a16="http://schemas.microsoft.com/office/drawing/2014/main" id="{6441CD28-BE65-17B6-68CF-E3D99A8E8556}"/>
                </a:ext>
              </a:extLst>
            </p:cNvPr>
            <p:cNvSpPr txBox="1"/>
            <p:nvPr/>
          </p:nvSpPr>
          <p:spPr>
            <a:xfrm>
              <a:off x="14462574" y="4127630"/>
              <a:ext cx="1351652" cy="369332"/>
            </a:xfrm>
            <a:prstGeom prst="rect">
              <a:avLst/>
            </a:prstGeom>
            <a:noFill/>
          </p:spPr>
          <p:txBody>
            <a:bodyPr wrap="square" rtlCol="0">
              <a:spAutoFit/>
            </a:bodyPr>
            <a:lstStyle/>
            <a:p>
              <a:r>
                <a:rPr lang="en-US" dirty="0">
                  <a:solidFill>
                    <a:schemeClr val="bg2"/>
                  </a:solidFill>
                </a:rPr>
                <a:t>NameNode</a:t>
              </a:r>
            </a:p>
          </p:txBody>
        </p:sp>
        <p:sp>
          <p:nvSpPr>
            <p:cNvPr id="63" name="Rectangle 62">
              <a:extLst>
                <a:ext uri="{FF2B5EF4-FFF2-40B4-BE49-F238E27FC236}">
                  <a16:creationId xmlns:a16="http://schemas.microsoft.com/office/drawing/2014/main" id="{F42190F8-4C80-3883-BC4B-27CAC5744DF6}"/>
                </a:ext>
              </a:extLst>
            </p:cNvPr>
            <p:cNvSpPr>
              <a:spLocks/>
            </p:cNvSpPr>
            <p:nvPr/>
          </p:nvSpPr>
          <p:spPr>
            <a:xfrm>
              <a:off x="14494330" y="47895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64" name="TextBox 63">
              <a:extLst>
                <a:ext uri="{FF2B5EF4-FFF2-40B4-BE49-F238E27FC236}">
                  <a16:creationId xmlns:a16="http://schemas.microsoft.com/office/drawing/2014/main" id="{626027B7-F37F-A955-5855-253D39AFE77D}"/>
                </a:ext>
              </a:extLst>
            </p:cNvPr>
            <p:cNvSpPr txBox="1"/>
            <p:nvPr/>
          </p:nvSpPr>
          <p:spPr>
            <a:xfrm>
              <a:off x="14557377" y="4785981"/>
              <a:ext cx="1146468" cy="369332"/>
            </a:xfrm>
            <a:prstGeom prst="rect">
              <a:avLst/>
            </a:prstGeom>
            <a:noFill/>
          </p:spPr>
          <p:txBody>
            <a:bodyPr wrap="square" rtlCol="0">
              <a:spAutoFit/>
            </a:bodyPr>
            <a:lstStyle/>
            <a:p>
              <a:r>
                <a:rPr lang="en-US" dirty="0">
                  <a:solidFill>
                    <a:schemeClr val="bg2"/>
                  </a:solidFill>
                </a:rPr>
                <a:t>Metadata</a:t>
              </a:r>
            </a:p>
          </p:txBody>
        </p:sp>
      </p:grpSp>
      <p:cxnSp>
        <p:nvCxnSpPr>
          <p:cNvPr id="65" name="Curved Connector 64">
            <a:extLst>
              <a:ext uri="{FF2B5EF4-FFF2-40B4-BE49-F238E27FC236}">
                <a16:creationId xmlns:a16="http://schemas.microsoft.com/office/drawing/2014/main" id="{E029389A-9268-25F7-71DF-ACAB59693A80}"/>
              </a:ext>
            </a:extLst>
          </p:cNvPr>
          <p:cNvCxnSpPr>
            <a:cxnSpLocks/>
            <a:stCxn id="56" idx="0"/>
          </p:cNvCxnSpPr>
          <p:nvPr/>
        </p:nvCxnSpPr>
        <p:spPr>
          <a:xfrm rot="16200000" flipV="1">
            <a:off x="13543772" y="7963166"/>
            <a:ext cx="200243" cy="48966"/>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6" name="Curved Connector 65">
            <a:extLst>
              <a:ext uri="{FF2B5EF4-FFF2-40B4-BE49-F238E27FC236}">
                <a16:creationId xmlns:a16="http://schemas.microsoft.com/office/drawing/2014/main" id="{B543A99A-5F72-4F0E-14D6-2BC2927B2028}"/>
              </a:ext>
            </a:extLst>
          </p:cNvPr>
          <p:cNvCxnSpPr>
            <a:cxnSpLocks/>
            <a:stCxn id="20" idx="0"/>
            <a:endCxn id="46" idx="2"/>
          </p:cNvCxnSpPr>
          <p:nvPr/>
        </p:nvCxnSpPr>
        <p:spPr>
          <a:xfrm rot="16200000" flipV="1">
            <a:off x="11142541" y="3941639"/>
            <a:ext cx="1512357" cy="3463115"/>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10AE3BC3-003A-DBAA-4217-DE192889EA56}"/>
              </a:ext>
            </a:extLst>
          </p:cNvPr>
          <p:cNvSpPr/>
          <p:nvPr/>
        </p:nvSpPr>
        <p:spPr>
          <a:xfrm>
            <a:off x="13944599" y="37503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DDF6E07-C1A3-D6C3-FD7F-82BD7D61D337}"/>
              </a:ext>
            </a:extLst>
          </p:cNvPr>
          <p:cNvSpPr/>
          <p:nvPr/>
        </p:nvSpPr>
        <p:spPr>
          <a:xfrm>
            <a:off x="14112876" y="39217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9" name="TextBox 68">
            <a:extLst>
              <a:ext uri="{FF2B5EF4-FFF2-40B4-BE49-F238E27FC236}">
                <a16:creationId xmlns:a16="http://schemas.microsoft.com/office/drawing/2014/main" id="{9E34809A-7F71-D6F7-10DE-7465E05B5D25}"/>
              </a:ext>
            </a:extLst>
          </p:cNvPr>
          <p:cNvSpPr txBox="1"/>
          <p:nvPr/>
        </p:nvSpPr>
        <p:spPr>
          <a:xfrm>
            <a:off x="14310174" y="3975230"/>
            <a:ext cx="1351652" cy="369332"/>
          </a:xfrm>
          <a:prstGeom prst="rect">
            <a:avLst/>
          </a:prstGeom>
          <a:noFill/>
        </p:spPr>
        <p:txBody>
          <a:bodyPr wrap="square" rtlCol="0">
            <a:spAutoFit/>
          </a:bodyPr>
          <a:lstStyle/>
          <a:p>
            <a:r>
              <a:rPr lang="en-US" dirty="0">
                <a:solidFill>
                  <a:schemeClr val="bg2"/>
                </a:solidFill>
              </a:rPr>
              <a:t>NameNode</a:t>
            </a:r>
          </a:p>
        </p:txBody>
      </p:sp>
      <p:sp>
        <p:nvSpPr>
          <p:cNvPr id="70" name="Rectangle 69">
            <a:extLst>
              <a:ext uri="{FF2B5EF4-FFF2-40B4-BE49-F238E27FC236}">
                <a16:creationId xmlns:a16="http://schemas.microsoft.com/office/drawing/2014/main" id="{E52176E2-342B-18A1-96BA-C74AF3E5635D}"/>
              </a:ext>
            </a:extLst>
          </p:cNvPr>
          <p:cNvSpPr>
            <a:spLocks/>
          </p:cNvSpPr>
          <p:nvPr/>
        </p:nvSpPr>
        <p:spPr>
          <a:xfrm>
            <a:off x="14341930" y="46371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71" name="TextBox 70">
            <a:extLst>
              <a:ext uri="{FF2B5EF4-FFF2-40B4-BE49-F238E27FC236}">
                <a16:creationId xmlns:a16="http://schemas.microsoft.com/office/drawing/2014/main" id="{FBA8F60C-3529-075E-6ECE-2F4192FB8C9E}"/>
              </a:ext>
            </a:extLst>
          </p:cNvPr>
          <p:cNvSpPr txBox="1"/>
          <p:nvPr/>
        </p:nvSpPr>
        <p:spPr>
          <a:xfrm>
            <a:off x="14404977" y="4633581"/>
            <a:ext cx="1146468" cy="369332"/>
          </a:xfrm>
          <a:prstGeom prst="rect">
            <a:avLst/>
          </a:prstGeom>
          <a:noFill/>
        </p:spPr>
        <p:txBody>
          <a:bodyPr wrap="square" rtlCol="0">
            <a:spAutoFit/>
          </a:bodyPr>
          <a:lstStyle/>
          <a:p>
            <a:r>
              <a:rPr lang="en-US" dirty="0">
                <a:solidFill>
                  <a:schemeClr val="bg2"/>
                </a:solidFill>
              </a:rPr>
              <a:t>Metadata</a:t>
            </a:r>
          </a:p>
        </p:txBody>
      </p:sp>
    </p:spTree>
    <p:extLst>
      <p:ext uri="{BB962C8B-B14F-4D97-AF65-F5344CB8AC3E}">
        <p14:creationId xmlns:p14="http://schemas.microsoft.com/office/powerpoint/2010/main" val="695427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2EEBC-8C09-34B7-FD37-2748EAC58B59}"/>
              </a:ext>
            </a:extLst>
          </p:cNvPr>
          <p:cNvSpPr>
            <a:spLocks noGrp="1"/>
          </p:cNvSpPr>
          <p:nvPr>
            <p:ph type="title"/>
          </p:nvPr>
        </p:nvSpPr>
        <p:spPr/>
        <p:txBody>
          <a:bodyPr/>
          <a:lstStyle/>
          <a:p>
            <a:r>
              <a:rPr lang="en-US" dirty="0"/>
              <a:t>Hadoop Distributed File System Benefits</a:t>
            </a:r>
          </a:p>
        </p:txBody>
      </p:sp>
      <p:sp>
        <p:nvSpPr>
          <p:cNvPr id="3" name="Rectangle 2">
            <a:extLst>
              <a:ext uri="{FF2B5EF4-FFF2-40B4-BE49-F238E27FC236}">
                <a16:creationId xmlns:a16="http://schemas.microsoft.com/office/drawing/2014/main" id="{D7699E39-D285-9520-4BEC-36806AD02665}"/>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altLang="en-US" sz="2200" b="1" dirty="0">
                <a:solidFill>
                  <a:schemeClr val="bg2"/>
                </a:solidFill>
              </a:rPr>
              <a:t>Stores Large Files:</a:t>
            </a:r>
          </a:p>
          <a:p>
            <a:pPr marL="0" indent="0" algn="ctr">
              <a:buNone/>
            </a:pPr>
            <a:r>
              <a:rPr lang="en-US" altLang="en-US" sz="2200" dirty="0">
                <a:solidFill>
                  <a:schemeClr val="bg2"/>
                </a:solidFill>
              </a:rPr>
              <a:t>Millions of files of gigabytes, terabytes, or petabytes in size</a:t>
            </a:r>
          </a:p>
        </p:txBody>
      </p:sp>
      <p:sp>
        <p:nvSpPr>
          <p:cNvPr id="4" name="Rectangle 3">
            <a:extLst>
              <a:ext uri="{FF2B5EF4-FFF2-40B4-BE49-F238E27FC236}">
                <a16:creationId xmlns:a16="http://schemas.microsoft.com/office/drawing/2014/main" id="{335FF290-067E-E5DD-FD87-C78F5E3B57AA}"/>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en-US" sz="2200" b="1" dirty="0">
                <a:solidFill>
                  <a:schemeClr val="tx1"/>
                </a:solidFill>
              </a:rPr>
              <a:t>Economic Storage</a:t>
            </a:r>
            <a:r>
              <a:rPr lang="en-US" altLang="en-US" sz="2200" dirty="0">
                <a:solidFill>
                  <a:schemeClr val="tx1"/>
                </a:solidFill>
              </a:rPr>
              <a:t>:</a:t>
            </a:r>
          </a:p>
          <a:p>
            <a:pPr algn="ctr"/>
            <a:r>
              <a:rPr lang="en-US" altLang="en-US" sz="2000" dirty="0">
                <a:solidFill>
                  <a:schemeClr val="tx1"/>
                </a:solidFill>
              </a:rPr>
              <a:t>Using commodity hardware or virtual machines instead of expensive, high-end equipment, HDFS can reduce the cost of data storage</a:t>
            </a:r>
          </a:p>
        </p:txBody>
      </p:sp>
      <p:sp>
        <p:nvSpPr>
          <p:cNvPr id="5" name="Rectangle 4">
            <a:extLst>
              <a:ext uri="{FF2B5EF4-FFF2-40B4-BE49-F238E27FC236}">
                <a16:creationId xmlns:a16="http://schemas.microsoft.com/office/drawing/2014/main" id="{FEC0661C-9B7A-A3B9-B526-694CD9F1B51A}"/>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b="1" i="0" dirty="0">
                <a:solidFill>
                  <a:schemeClr val="tx1"/>
                </a:solidFill>
                <a:effectLst/>
              </a:rPr>
              <a:t>High Throughput Data Access: </a:t>
            </a:r>
          </a:p>
          <a:p>
            <a:pPr algn="ctr"/>
            <a:r>
              <a:rPr lang="en-US" sz="2200" b="0" i="0" dirty="0">
                <a:solidFill>
                  <a:schemeClr val="tx1"/>
                </a:solidFill>
                <a:effectLst/>
              </a:rPr>
              <a:t>HDFS is designed to provide high throughput data access, enabling it to handle large data transfers efficiently</a:t>
            </a:r>
            <a:endParaRPr lang="en-US" sz="2200" dirty="0">
              <a:solidFill>
                <a:schemeClr val="tx1"/>
              </a:solidFill>
            </a:endParaRPr>
          </a:p>
        </p:txBody>
      </p:sp>
      <p:sp>
        <p:nvSpPr>
          <p:cNvPr id="6" name="Rectangle 5">
            <a:extLst>
              <a:ext uri="{FF2B5EF4-FFF2-40B4-BE49-F238E27FC236}">
                <a16:creationId xmlns:a16="http://schemas.microsoft.com/office/drawing/2014/main" id="{134C0414-B3A7-CADD-C859-1115789657AE}"/>
              </a:ext>
            </a:extLst>
          </p:cNvPr>
          <p:cNvSpPr/>
          <p:nvPr/>
        </p:nvSpPr>
        <p:spPr>
          <a:xfrm>
            <a:off x="0" y="7038975"/>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1" dirty="0">
                <a:solidFill>
                  <a:schemeClr val="bg2"/>
                </a:solidFill>
              </a:rPr>
              <a:t>Scalability: </a:t>
            </a:r>
          </a:p>
          <a:p>
            <a:pPr algn="ctr"/>
            <a:r>
              <a:rPr lang="en-US" sz="2200" dirty="0">
                <a:solidFill>
                  <a:schemeClr val="bg2"/>
                </a:solidFill>
              </a:rPr>
              <a:t>The distributed architecture of HDFS allows adding more storage capable nodes to the cluster as data volumes increase</a:t>
            </a:r>
          </a:p>
        </p:txBody>
      </p:sp>
      <p:sp>
        <p:nvSpPr>
          <p:cNvPr id="7" name="Rectangle 6">
            <a:extLst>
              <a:ext uri="{FF2B5EF4-FFF2-40B4-BE49-F238E27FC236}">
                <a16:creationId xmlns:a16="http://schemas.microsoft.com/office/drawing/2014/main" id="{2B9F8373-2CB8-7683-63D4-7E7ED2D9AAF9}"/>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b="1" dirty="0">
                <a:solidFill>
                  <a:schemeClr val="bg2"/>
                </a:solidFill>
              </a:rPr>
              <a:t>Integration with Hadoop Ecosystem: </a:t>
            </a:r>
          </a:p>
          <a:p>
            <a:pPr algn="ctr"/>
            <a:r>
              <a:rPr lang="en-US" sz="2200" dirty="0">
                <a:solidFill>
                  <a:schemeClr val="bg2"/>
                </a:solidFill>
              </a:rPr>
              <a:t>HDFS integrates with other components of the Hadoop ecosystem, such as MapReduce, Hive, and Spark</a:t>
            </a:r>
          </a:p>
        </p:txBody>
      </p:sp>
      <p:sp>
        <p:nvSpPr>
          <p:cNvPr id="8" name="Rectangle 7">
            <a:extLst>
              <a:ext uri="{FF2B5EF4-FFF2-40B4-BE49-F238E27FC236}">
                <a16:creationId xmlns:a16="http://schemas.microsoft.com/office/drawing/2014/main" id="{AB7648FB-F119-5865-3528-44374B7DB67F}"/>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b="1" i="0" dirty="0">
                <a:solidFill>
                  <a:schemeClr val="tx1"/>
                </a:solidFill>
                <a:effectLst/>
              </a:rPr>
              <a:t>Data Locality: </a:t>
            </a:r>
          </a:p>
          <a:p>
            <a:pPr algn="ctr"/>
            <a:r>
              <a:rPr lang="en-US" sz="2200" b="0" i="0" dirty="0">
                <a:solidFill>
                  <a:schemeClr val="tx1"/>
                </a:solidFill>
                <a:effectLst/>
              </a:rPr>
              <a:t>To reduce the amount of network traffic, HDFS tries to satisfy a read request from a replica that is closest to the reader</a:t>
            </a:r>
            <a:endParaRPr lang="en-US" sz="2200" dirty="0">
              <a:solidFill>
                <a:schemeClr val="tx1"/>
              </a:solidFill>
            </a:endParaRPr>
          </a:p>
        </p:txBody>
      </p:sp>
      <p:sp>
        <p:nvSpPr>
          <p:cNvPr id="9" name="Rectangle 8">
            <a:extLst>
              <a:ext uri="{FF2B5EF4-FFF2-40B4-BE49-F238E27FC236}">
                <a16:creationId xmlns:a16="http://schemas.microsoft.com/office/drawing/2014/main" id="{535BE5F6-E5F2-3BBF-EA06-F192FB569C1F}"/>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200" b="1" dirty="0">
                <a:solidFill>
                  <a:schemeClr val="tx1"/>
                </a:solidFill>
              </a:rPr>
              <a:t>Fault Tolerance: </a:t>
            </a:r>
          </a:p>
          <a:p>
            <a:pPr algn="ctr"/>
            <a:r>
              <a:rPr lang="en-US" sz="2200" dirty="0">
                <a:solidFill>
                  <a:schemeClr val="tx1"/>
                </a:solidFill>
              </a:rPr>
              <a:t>HDFS is designed to continue operating without disruption even when some nodes or storage media fail or some data is corrupted</a:t>
            </a:r>
          </a:p>
        </p:txBody>
      </p:sp>
    </p:spTree>
    <p:extLst>
      <p:ext uri="{BB962C8B-B14F-4D97-AF65-F5344CB8AC3E}">
        <p14:creationId xmlns:p14="http://schemas.microsoft.com/office/powerpoint/2010/main" val="4032124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2EEBC-8C09-34B7-FD37-2748EAC58B59}"/>
              </a:ext>
            </a:extLst>
          </p:cNvPr>
          <p:cNvSpPr>
            <a:spLocks noGrp="1"/>
          </p:cNvSpPr>
          <p:nvPr>
            <p:ph type="title"/>
          </p:nvPr>
        </p:nvSpPr>
        <p:spPr/>
        <p:txBody>
          <a:bodyPr/>
          <a:lstStyle/>
          <a:p>
            <a:r>
              <a:rPr lang="en-US" dirty="0"/>
              <a:t>Hadoop Distributed File System Limitations</a:t>
            </a:r>
          </a:p>
        </p:txBody>
      </p:sp>
      <p:sp>
        <p:nvSpPr>
          <p:cNvPr id="3" name="Rectangle 2">
            <a:extLst>
              <a:ext uri="{FF2B5EF4-FFF2-40B4-BE49-F238E27FC236}">
                <a16:creationId xmlns:a16="http://schemas.microsoft.com/office/drawing/2014/main" id="{D7699E39-D285-9520-4BEC-36806AD02665}"/>
              </a:ext>
            </a:extLst>
          </p:cNvPr>
          <p:cNvSpPr/>
          <p:nvPr/>
        </p:nvSpPr>
        <p:spPr>
          <a:xfrm>
            <a:off x="0" y="2324100"/>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r>
              <a:rPr lang="en-US" sz="2000" b="1" i="0" dirty="0">
                <a:solidFill>
                  <a:schemeClr val="bg2"/>
                </a:solidFill>
                <a:effectLst/>
              </a:rPr>
              <a:t>Inefficiency for Small Files:</a:t>
            </a:r>
          </a:p>
          <a:p>
            <a:pPr marL="0" indent="0" algn="ctr">
              <a:buNone/>
            </a:pPr>
            <a:r>
              <a:rPr lang="en-US" sz="2000" b="0" i="0" dirty="0">
                <a:solidFill>
                  <a:schemeClr val="bg2"/>
                </a:solidFill>
                <a:effectLst/>
              </a:rPr>
              <a:t>HDFS overhead, including metadata storage and block management, becomes significant for small files, leading to performance degradation</a:t>
            </a:r>
            <a:endParaRPr lang="en-US" altLang="en-US" sz="2000" dirty="0">
              <a:solidFill>
                <a:schemeClr val="bg2"/>
              </a:solidFill>
            </a:endParaRPr>
          </a:p>
        </p:txBody>
      </p:sp>
      <p:sp>
        <p:nvSpPr>
          <p:cNvPr id="4" name="Rectangle 3">
            <a:extLst>
              <a:ext uri="{FF2B5EF4-FFF2-40B4-BE49-F238E27FC236}">
                <a16:creationId xmlns:a16="http://schemas.microsoft.com/office/drawing/2014/main" id="{335FF290-067E-E5DD-FD87-C78F5E3B57AA}"/>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b="1" i="0" dirty="0">
                <a:solidFill>
                  <a:schemeClr val="tx1"/>
                </a:solidFill>
                <a:effectLst/>
              </a:rPr>
              <a:t>Inadequacy for Low-Latency Applications:</a:t>
            </a:r>
          </a:p>
          <a:p>
            <a:pPr marL="0" indent="0" algn="ctr">
              <a:buNone/>
            </a:pPr>
            <a:r>
              <a:rPr lang="en-US" altLang="en-US" sz="2000" dirty="0">
                <a:solidFill>
                  <a:schemeClr val="tx1"/>
                </a:solidFill>
              </a:rPr>
              <a:t>Applications requiring low latency (&lt;10ms) access to data will not work well due to Namenode overhead to obtain file metadata</a:t>
            </a:r>
          </a:p>
        </p:txBody>
      </p:sp>
      <p:sp>
        <p:nvSpPr>
          <p:cNvPr id="5" name="Rectangle 4">
            <a:extLst>
              <a:ext uri="{FF2B5EF4-FFF2-40B4-BE49-F238E27FC236}">
                <a16:creationId xmlns:a16="http://schemas.microsoft.com/office/drawing/2014/main" id="{FEC0661C-9B7A-A3B9-B526-694CD9F1B51A}"/>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000" b="1" i="0" dirty="0">
                <a:solidFill>
                  <a:schemeClr val="tx1"/>
                </a:solidFill>
                <a:effectLst/>
                <a:latin typeface="Google Sans"/>
              </a:rPr>
              <a:t>Lack of Real-Time Data Processing Capabilities:</a:t>
            </a:r>
          </a:p>
          <a:p>
            <a:pPr algn="ctr"/>
            <a:r>
              <a:rPr lang="en-US" sz="2000" b="0" i="0" dirty="0">
                <a:solidFill>
                  <a:schemeClr val="tx1"/>
                </a:solidFill>
                <a:effectLst/>
                <a:latin typeface="Google Sans"/>
              </a:rPr>
              <a:t>HDFS is not designed for real-time data processing, where data is ingested, processed, and analyzed as it arrives.</a:t>
            </a:r>
            <a:endParaRPr lang="en-US" sz="2000" dirty="0">
              <a:solidFill>
                <a:schemeClr val="tx1"/>
              </a:solidFill>
            </a:endParaRPr>
          </a:p>
        </p:txBody>
      </p:sp>
      <p:sp>
        <p:nvSpPr>
          <p:cNvPr id="7" name="Rectangle 6">
            <a:extLst>
              <a:ext uri="{FF2B5EF4-FFF2-40B4-BE49-F238E27FC236}">
                <a16:creationId xmlns:a16="http://schemas.microsoft.com/office/drawing/2014/main" id="{2B9F8373-2CB8-7683-63D4-7E7ED2D9AAF9}"/>
              </a:ext>
            </a:extLst>
          </p:cNvPr>
          <p:cNvSpPr/>
          <p:nvPr/>
        </p:nvSpPr>
        <p:spPr>
          <a:xfrm>
            <a:off x="9867900" y="2324100"/>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000" b="1" dirty="0">
                <a:solidFill>
                  <a:schemeClr val="bg2"/>
                </a:solidFill>
                <a:effectLst/>
                <a:ea typeface="Calibri" panose="020F0502020204030204" pitchFamily="34" charset="0"/>
                <a:cs typeface="Times New Roman" panose="02020603050405020304" pitchFamily="18" charset="0"/>
              </a:rPr>
              <a:t>Limits on Total Number of Files:</a:t>
            </a:r>
            <a:r>
              <a:rPr lang="en-US" altLang="en-US" sz="2000" b="1" dirty="0">
                <a:solidFill>
                  <a:schemeClr val="bg2"/>
                </a:solidFill>
              </a:rPr>
              <a:t>:</a:t>
            </a:r>
          </a:p>
          <a:p>
            <a:pPr marL="0" indent="0" algn="ctr">
              <a:buNone/>
            </a:pPr>
            <a:r>
              <a:rPr lang="en-US" sz="2000" b="0" i="0" dirty="0">
                <a:solidFill>
                  <a:schemeClr val="bg2"/>
                </a:solidFill>
                <a:effectLst/>
              </a:rPr>
              <a:t>File system metadata is stored in memory and not distributed across nodes and this puts an upper bound on the total number of files about which information can be stored</a:t>
            </a:r>
          </a:p>
        </p:txBody>
      </p:sp>
      <p:sp>
        <p:nvSpPr>
          <p:cNvPr id="8" name="Rectangle 7">
            <a:extLst>
              <a:ext uri="{FF2B5EF4-FFF2-40B4-BE49-F238E27FC236}">
                <a16:creationId xmlns:a16="http://schemas.microsoft.com/office/drawing/2014/main" id="{AB7648FB-F119-5865-3528-44374B7DB67F}"/>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altLang="en-US" sz="2000" b="1" dirty="0">
                <a:solidFill>
                  <a:schemeClr val="tx1"/>
                </a:solidFill>
              </a:rPr>
              <a:t>Transactional Interactions:</a:t>
            </a:r>
          </a:p>
          <a:p>
            <a:pPr algn="ctr"/>
            <a:r>
              <a:rPr lang="en-US" altLang="en-US" sz="2000" dirty="0">
                <a:solidFill>
                  <a:schemeClr val="tx1"/>
                </a:solidFill>
              </a:rPr>
              <a:t>Single writer per file</a:t>
            </a:r>
          </a:p>
          <a:p>
            <a:pPr algn="ctr"/>
            <a:r>
              <a:rPr lang="en-US" altLang="en-US" sz="2000" dirty="0">
                <a:solidFill>
                  <a:schemeClr val="tx1"/>
                </a:solidFill>
              </a:rPr>
              <a:t>No updates allowed to already written data</a:t>
            </a:r>
          </a:p>
        </p:txBody>
      </p:sp>
      <p:sp>
        <p:nvSpPr>
          <p:cNvPr id="9" name="Rectangle 8">
            <a:extLst>
              <a:ext uri="{FF2B5EF4-FFF2-40B4-BE49-F238E27FC236}">
                <a16:creationId xmlns:a16="http://schemas.microsoft.com/office/drawing/2014/main" id="{535BE5F6-E5F2-3BBF-EA06-F192FB569C1F}"/>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000" b="1" i="0" dirty="0">
                <a:solidFill>
                  <a:schemeClr val="tx1"/>
                </a:solidFill>
                <a:effectLst/>
                <a:latin typeface="Google Sans"/>
              </a:rPr>
              <a:t>Complexity in Managing Large Clusters:</a:t>
            </a:r>
          </a:p>
          <a:p>
            <a:pPr algn="ctr"/>
            <a:r>
              <a:rPr lang="en-US" sz="2000" b="0" i="0" dirty="0">
                <a:solidFill>
                  <a:schemeClr val="tx1"/>
                </a:solidFill>
                <a:effectLst/>
                <a:latin typeface="Google Sans"/>
              </a:rPr>
              <a:t>Managing large HDFS clusters can be challenging due to resource utilization monitoring, node failure detection, and data integrity across numerous nodes</a:t>
            </a:r>
            <a:r>
              <a:rPr lang="en-US" sz="2000" b="0" i="0" dirty="0">
                <a:solidFill>
                  <a:srgbClr val="1F1F1F"/>
                </a:solidFill>
                <a:effectLst/>
                <a:latin typeface="Google Sans"/>
              </a:rPr>
              <a:t>.</a:t>
            </a:r>
            <a:endParaRPr lang="en-US" sz="2000" dirty="0">
              <a:solidFill>
                <a:schemeClr val="bg2"/>
              </a:solidFill>
            </a:endParaRPr>
          </a:p>
        </p:txBody>
      </p:sp>
    </p:spTree>
    <p:extLst>
      <p:ext uri="{BB962C8B-B14F-4D97-AF65-F5344CB8AC3E}">
        <p14:creationId xmlns:p14="http://schemas.microsoft.com/office/powerpoint/2010/main" val="3586852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5400" dirty="0"/>
              <a:t>Hadoop Distributed File System </a:t>
            </a:r>
            <a:r>
              <a:rPr lang="en-US" sz="5000" dirty="0"/>
              <a:t>NameNode(s)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718129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Cluster node(s) which execute the NameNode daemon that manages the filesystem namespace</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718129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effectLst/>
              </a:rPr>
              <a:t>Maintain the file system directory tree, file system access permissions and file system block location data</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718129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Keeps metadata in memory for fast access and also stores the metadata on disk for reliability</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718129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Tracks the health of the DataNode(s) and will not refer to any request to inactive DataNode(s)</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6" name="Rectangle 15">
            <a:extLst>
              <a:ext uri="{FF2B5EF4-FFF2-40B4-BE49-F238E27FC236}">
                <a16:creationId xmlns:a16="http://schemas.microsoft.com/office/drawing/2014/main" id="{D104CA66-D17B-DC60-173A-6A450CC630C2}"/>
              </a:ext>
            </a:extLst>
          </p:cNvPr>
          <p:cNvSpPr/>
          <p:nvPr/>
        </p:nvSpPr>
        <p:spPr>
          <a:xfrm>
            <a:off x="13511520" y="2463788"/>
            <a:ext cx="4166879" cy="2954893"/>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7" name="Rectangle 16">
            <a:extLst>
              <a:ext uri="{FF2B5EF4-FFF2-40B4-BE49-F238E27FC236}">
                <a16:creationId xmlns:a16="http://schemas.microsoft.com/office/drawing/2014/main" id="{06A6B0E7-8FF0-C5E2-D269-8A4B7AB86E11}"/>
              </a:ext>
            </a:extLst>
          </p:cNvPr>
          <p:cNvSpPr/>
          <p:nvPr/>
        </p:nvSpPr>
        <p:spPr>
          <a:xfrm>
            <a:off x="9383994" y="4922281"/>
            <a:ext cx="8313456" cy="3293661"/>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8" name="Rectangle 17">
            <a:extLst>
              <a:ext uri="{FF2B5EF4-FFF2-40B4-BE49-F238E27FC236}">
                <a16:creationId xmlns:a16="http://schemas.microsoft.com/office/drawing/2014/main" id="{F00F91E6-AE51-6035-29C4-5F60D98E0973}"/>
              </a:ext>
            </a:extLst>
          </p:cNvPr>
          <p:cNvSpPr/>
          <p:nvPr/>
        </p:nvSpPr>
        <p:spPr>
          <a:xfrm>
            <a:off x="10077450" y="599122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4F9469C-134F-A1C1-3741-42EBF87D7906}"/>
              </a:ext>
            </a:extLst>
          </p:cNvPr>
          <p:cNvSpPr/>
          <p:nvPr/>
        </p:nvSpPr>
        <p:spPr>
          <a:xfrm>
            <a:off x="10245727" y="616267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0" name="Rectangle 19">
            <a:extLst>
              <a:ext uri="{FF2B5EF4-FFF2-40B4-BE49-F238E27FC236}">
                <a16:creationId xmlns:a16="http://schemas.microsoft.com/office/drawing/2014/main" id="{568DB1AC-1D42-7DE0-ED35-E0A18E8213A9}"/>
              </a:ext>
            </a:extLst>
          </p:cNvPr>
          <p:cNvSpPr/>
          <p:nvPr/>
        </p:nvSpPr>
        <p:spPr>
          <a:xfrm>
            <a:off x="12588875" y="599122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ABDB35E5-7321-7455-65A6-247168A6B467}"/>
              </a:ext>
            </a:extLst>
          </p:cNvPr>
          <p:cNvSpPr/>
          <p:nvPr/>
        </p:nvSpPr>
        <p:spPr>
          <a:xfrm>
            <a:off x="12757152" y="616267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2" name="Rectangle 21">
            <a:extLst>
              <a:ext uri="{FF2B5EF4-FFF2-40B4-BE49-F238E27FC236}">
                <a16:creationId xmlns:a16="http://schemas.microsoft.com/office/drawing/2014/main" id="{81DBEC0F-09A7-8031-62FE-811D57EDEFAB}"/>
              </a:ext>
            </a:extLst>
          </p:cNvPr>
          <p:cNvSpPr/>
          <p:nvPr/>
        </p:nvSpPr>
        <p:spPr>
          <a:xfrm>
            <a:off x="15100300" y="599122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7912321-0D8F-7DC2-ECE9-A1865757136C}"/>
              </a:ext>
            </a:extLst>
          </p:cNvPr>
          <p:cNvSpPr/>
          <p:nvPr/>
        </p:nvSpPr>
        <p:spPr>
          <a:xfrm>
            <a:off x="15268577" y="616267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4" name="TextBox 23">
            <a:extLst>
              <a:ext uri="{FF2B5EF4-FFF2-40B4-BE49-F238E27FC236}">
                <a16:creationId xmlns:a16="http://schemas.microsoft.com/office/drawing/2014/main" id="{63C1DEE5-23C1-E3AC-F158-90B26B01F53B}"/>
              </a:ext>
            </a:extLst>
          </p:cNvPr>
          <p:cNvSpPr txBox="1"/>
          <p:nvPr/>
        </p:nvSpPr>
        <p:spPr>
          <a:xfrm>
            <a:off x="10515363" y="6216134"/>
            <a:ext cx="1223412" cy="369332"/>
          </a:xfrm>
          <a:prstGeom prst="rect">
            <a:avLst/>
          </a:prstGeom>
          <a:noFill/>
        </p:spPr>
        <p:txBody>
          <a:bodyPr wrap="none" rtlCol="0">
            <a:spAutoFit/>
          </a:bodyPr>
          <a:lstStyle/>
          <a:p>
            <a:r>
              <a:rPr lang="en-US" dirty="0">
                <a:solidFill>
                  <a:schemeClr val="bg2"/>
                </a:solidFill>
              </a:rPr>
              <a:t>DataNode</a:t>
            </a:r>
          </a:p>
        </p:txBody>
      </p:sp>
      <p:sp>
        <p:nvSpPr>
          <p:cNvPr id="25" name="TextBox 24">
            <a:extLst>
              <a:ext uri="{FF2B5EF4-FFF2-40B4-BE49-F238E27FC236}">
                <a16:creationId xmlns:a16="http://schemas.microsoft.com/office/drawing/2014/main" id="{EDDA36AC-5C7E-41FF-2016-F520E224AFC2}"/>
              </a:ext>
            </a:extLst>
          </p:cNvPr>
          <p:cNvSpPr txBox="1"/>
          <p:nvPr/>
        </p:nvSpPr>
        <p:spPr>
          <a:xfrm>
            <a:off x="13056670" y="6210300"/>
            <a:ext cx="1223412" cy="369332"/>
          </a:xfrm>
          <a:prstGeom prst="rect">
            <a:avLst/>
          </a:prstGeom>
          <a:noFill/>
        </p:spPr>
        <p:txBody>
          <a:bodyPr wrap="none" rtlCol="0">
            <a:spAutoFit/>
          </a:bodyPr>
          <a:lstStyle/>
          <a:p>
            <a:r>
              <a:rPr lang="en-US" dirty="0">
                <a:solidFill>
                  <a:schemeClr val="bg2"/>
                </a:solidFill>
              </a:rPr>
              <a:t>DataNode</a:t>
            </a:r>
          </a:p>
        </p:txBody>
      </p:sp>
      <p:sp>
        <p:nvSpPr>
          <p:cNvPr id="26" name="TextBox 25">
            <a:extLst>
              <a:ext uri="{FF2B5EF4-FFF2-40B4-BE49-F238E27FC236}">
                <a16:creationId xmlns:a16="http://schemas.microsoft.com/office/drawing/2014/main" id="{9A8BFE4C-B04C-2696-742F-8D534F8BC722}"/>
              </a:ext>
            </a:extLst>
          </p:cNvPr>
          <p:cNvSpPr txBox="1"/>
          <p:nvPr/>
        </p:nvSpPr>
        <p:spPr>
          <a:xfrm>
            <a:off x="15529995" y="6191250"/>
            <a:ext cx="1223412" cy="369332"/>
          </a:xfrm>
          <a:prstGeom prst="rect">
            <a:avLst/>
          </a:prstGeom>
          <a:noFill/>
        </p:spPr>
        <p:txBody>
          <a:bodyPr wrap="none" rtlCol="0">
            <a:spAutoFit/>
          </a:bodyPr>
          <a:lstStyle/>
          <a:p>
            <a:r>
              <a:rPr lang="en-US" dirty="0">
                <a:solidFill>
                  <a:schemeClr val="bg2"/>
                </a:solidFill>
              </a:rPr>
              <a:t>DataNode</a:t>
            </a:r>
          </a:p>
        </p:txBody>
      </p:sp>
      <p:sp>
        <p:nvSpPr>
          <p:cNvPr id="27" name="Rectangle 26">
            <a:extLst>
              <a:ext uri="{FF2B5EF4-FFF2-40B4-BE49-F238E27FC236}">
                <a16:creationId xmlns:a16="http://schemas.microsoft.com/office/drawing/2014/main" id="{C6EA5CB7-E903-7070-0F77-EF4E2A7D5C18}"/>
              </a:ext>
            </a:extLst>
          </p:cNvPr>
          <p:cNvSpPr>
            <a:spLocks/>
          </p:cNvSpPr>
          <p:nvPr/>
        </p:nvSpPr>
        <p:spPr>
          <a:xfrm>
            <a:off x="10530804" y="681117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28" name="Rectangle 27">
            <a:extLst>
              <a:ext uri="{FF2B5EF4-FFF2-40B4-BE49-F238E27FC236}">
                <a16:creationId xmlns:a16="http://schemas.microsoft.com/office/drawing/2014/main" id="{694C82D1-7A4E-F935-371C-DCF44F2221A1}"/>
              </a:ext>
            </a:extLst>
          </p:cNvPr>
          <p:cNvSpPr>
            <a:spLocks/>
          </p:cNvSpPr>
          <p:nvPr/>
        </p:nvSpPr>
        <p:spPr>
          <a:xfrm>
            <a:off x="10956190" y="681117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29" name="Rectangle 28">
            <a:extLst>
              <a:ext uri="{FF2B5EF4-FFF2-40B4-BE49-F238E27FC236}">
                <a16:creationId xmlns:a16="http://schemas.microsoft.com/office/drawing/2014/main" id="{0B76A44A-1585-DAD6-F5D7-EFBE90041DDB}"/>
              </a:ext>
            </a:extLst>
          </p:cNvPr>
          <p:cNvSpPr>
            <a:spLocks/>
          </p:cNvSpPr>
          <p:nvPr/>
        </p:nvSpPr>
        <p:spPr>
          <a:xfrm>
            <a:off x="11381576" y="681117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0" name="Rectangle 29">
            <a:extLst>
              <a:ext uri="{FF2B5EF4-FFF2-40B4-BE49-F238E27FC236}">
                <a16:creationId xmlns:a16="http://schemas.microsoft.com/office/drawing/2014/main" id="{6FC11EEB-AC63-5A44-252C-D2E4CAEAC0B9}"/>
              </a:ext>
            </a:extLst>
          </p:cNvPr>
          <p:cNvSpPr>
            <a:spLocks/>
          </p:cNvSpPr>
          <p:nvPr/>
        </p:nvSpPr>
        <p:spPr>
          <a:xfrm>
            <a:off x="13086135" y="681117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1" name="Rectangle 30">
            <a:extLst>
              <a:ext uri="{FF2B5EF4-FFF2-40B4-BE49-F238E27FC236}">
                <a16:creationId xmlns:a16="http://schemas.microsoft.com/office/drawing/2014/main" id="{58F6D1ED-B109-19EE-F279-35728D07176D}"/>
              </a:ext>
            </a:extLst>
          </p:cNvPr>
          <p:cNvSpPr>
            <a:spLocks/>
          </p:cNvSpPr>
          <p:nvPr/>
        </p:nvSpPr>
        <p:spPr>
          <a:xfrm>
            <a:off x="13511521" y="681117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2" name="Rectangle 31">
            <a:extLst>
              <a:ext uri="{FF2B5EF4-FFF2-40B4-BE49-F238E27FC236}">
                <a16:creationId xmlns:a16="http://schemas.microsoft.com/office/drawing/2014/main" id="{2286A54B-B23D-0912-E36D-7BBAC0AB34B9}"/>
              </a:ext>
            </a:extLst>
          </p:cNvPr>
          <p:cNvSpPr>
            <a:spLocks/>
          </p:cNvSpPr>
          <p:nvPr/>
        </p:nvSpPr>
        <p:spPr>
          <a:xfrm>
            <a:off x="13936907" y="681117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3" name="Rectangle 32">
            <a:extLst>
              <a:ext uri="{FF2B5EF4-FFF2-40B4-BE49-F238E27FC236}">
                <a16:creationId xmlns:a16="http://schemas.microsoft.com/office/drawing/2014/main" id="{EBE88B38-A90F-C15C-0A2F-E1F0B7EA269D}"/>
              </a:ext>
            </a:extLst>
          </p:cNvPr>
          <p:cNvSpPr>
            <a:spLocks/>
          </p:cNvSpPr>
          <p:nvPr/>
        </p:nvSpPr>
        <p:spPr>
          <a:xfrm>
            <a:off x="15541055" y="681117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4" name="Rectangle 33">
            <a:extLst>
              <a:ext uri="{FF2B5EF4-FFF2-40B4-BE49-F238E27FC236}">
                <a16:creationId xmlns:a16="http://schemas.microsoft.com/office/drawing/2014/main" id="{BE84BB05-75AA-7DBD-AF57-309DB7FCC6C9}"/>
              </a:ext>
            </a:extLst>
          </p:cNvPr>
          <p:cNvSpPr>
            <a:spLocks/>
          </p:cNvSpPr>
          <p:nvPr/>
        </p:nvSpPr>
        <p:spPr>
          <a:xfrm>
            <a:off x="15966441" y="681117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5" name="Rectangle 34">
            <a:extLst>
              <a:ext uri="{FF2B5EF4-FFF2-40B4-BE49-F238E27FC236}">
                <a16:creationId xmlns:a16="http://schemas.microsoft.com/office/drawing/2014/main" id="{7C98DBDD-593E-6C2E-BB0B-A42E968FEA6C}"/>
              </a:ext>
            </a:extLst>
          </p:cNvPr>
          <p:cNvSpPr>
            <a:spLocks/>
          </p:cNvSpPr>
          <p:nvPr/>
        </p:nvSpPr>
        <p:spPr>
          <a:xfrm>
            <a:off x="16391827" y="681117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6" name="Rectangle 35">
            <a:extLst>
              <a:ext uri="{FF2B5EF4-FFF2-40B4-BE49-F238E27FC236}">
                <a16:creationId xmlns:a16="http://schemas.microsoft.com/office/drawing/2014/main" id="{9D410F0A-62A3-8A8A-C020-1F766311B321}"/>
              </a:ext>
            </a:extLst>
          </p:cNvPr>
          <p:cNvSpPr/>
          <p:nvPr/>
        </p:nvSpPr>
        <p:spPr>
          <a:xfrm>
            <a:off x="9124950" y="210502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4A7B71AB-BB92-C0C0-2BDC-4B3D9304C2FF}"/>
              </a:ext>
            </a:extLst>
          </p:cNvPr>
          <p:cNvSpPr/>
          <p:nvPr/>
        </p:nvSpPr>
        <p:spPr>
          <a:xfrm>
            <a:off x="9293227" y="288607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38" name="TextBox 37">
            <a:extLst>
              <a:ext uri="{FF2B5EF4-FFF2-40B4-BE49-F238E27FC236}">
                <a16:creationId xmlns:a16="http://schemas.microsoft.com/office/drawing/2014/main" id="{E435E95E-A75D-4CD7-5F06-DB692B231C3E}"/>
              </a:ext>
            </a:extLst>
          </p:cNvPr>
          <p:cNvSpPr txBox="1"/>
          <p:nvPr/>
        </p:nvSpPr>
        <p:spPr>
          <a:xfrm>
            <a:off x="9448563" y="2958584"/>
            <a:ext cx="1467068" cy="369332"/>
          </a:xfrm>
          <a:prstGeom prst="rect">
            <a:avLst/>
          </a:prstGeom>
          <a:noFill/>
        </p:spPr>
        <p:txBody>
          <a:bodyPr wrap="none" rtlCol="0">
            <a:spAutoFit/>
          </a:bodyPr>
          <a:lstStyle/>
          <a:p>
            <a:r>
              <a:rPr lang="en-US" dirty="0">
                <a:solidFill>
                  <a:schemeClr val="bg2"/>
                </a:solidFill>
              </a:rPr>
              <a:t>HDFS Client</a:t>
            </a:r>
          </a:p>
        </p:txBody>
      </p:sp>
      <p:sp>
        <p:nvSpPr>
          <p:cNvPr id="39" name="Oval 38">
            <a:extLst>
              <a:ext uri="{FF2B5EF4-FFF2-40B4-BE49-F238E27FC236}">
                <a16:creationId xmlns:a16="http://schemas.microsoft.com/office/drawing/2014/main" id="{9F4DA78D-1AAD-C00D-E20A-D3764AABBB80}"/>
              </a:ext>
            </a:extLst>
          </p:cNvPr>
          <p:cNvSpPr/>
          <p:nvPr/>
        </p:nvSpPr>
        <p:spPr>
          <a:xfrm>
            <a:off x="9293227" y="2238375"/>
            <a:ext cx="1746248" cy="47625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40" name="TextBox 39">
            <a:extLst>
              <a:ext uri="{FF2B5EF4-FFF2-40B4-BE49-F238E27FC236}">
                <a16:creationId xmlns:a16="http://schemas.microsoft.com/office/drawing/2014/main" id="{36A49A1D-F345-9FFE-18D1-F5DDC6DFEE69}"/>
              </a:ext>
            </a:extLst>
          </p:cNvPr>
          <p:cNvSpPr txBox="1"/>
          <p:nvPr/>
        </p:nvSpPr>
        <p:spPr>
          <a:xfrm>
            <a:off x="9829563" y="2310884"/>
            <a:ext cx="595035" cy="369332"/>
          </a:xfrm>
          <a:prstGeom prst="rect">
            <a:avLst/>
          </a:prstGeom>
          <a:noFill/>
        </p:spPr>
        <p:txBody>
          <a:bodyPr wrap="none" rtlCol="0">
            <a:spAutoFit/>
          </a:bodyPr>
          <a:lstStyle/>
          <a:p>
            <a:r>
              <a:rPr lang="en-US" dirty="0"/>
              <a:t>App</a:t>
            </a:r>
          </a:p>
        </p:txBody>
      </p:sp>
      <p:sp>
        <p:nvSpPr>
          <p:cNvPr id="42" name="TextBox 41">
            <a:extLst>
              <a:ext uri="{FF2B5EF4-FFF2-40B4-BE49-F238E27FC236}">
                <a16:creationId xmlns:a16="http://schemas.microsoft.com/office/drawing/2014/main" id="{7C17F030-2F21-EDCE-89D3-B665EB6D1153}"/>
              </a:ext>
            </a:extLst>
          </p:cNvPr>
          <p:cNvSpPr txBox="1"/>
          <p:nvPr/>
        </p:nvSpPr>
        <p:spPr>
          <a:xfrm>
            <a:off x="10702798" y="7035284"/>
            <a:ext cx="787395" cy="338554"/>
          </a:xfrm>
          <a:prstGeom prst="rect">
            <a:avLst/>
          </a:prstGeom>
          <a:noFill/>
        </p:spPr>
        <p:txBody>
          <a:bodyPr wrap="none" rtlCol="0">
            <a:spAutoFit/>
          </a:bodyPr>
          <a:lstStyle/>
          <a:p>
            <a:pPr algn="ctr"/>
            <a:r>
              <a:rPr lang="en-US" sz="1600" dirty="0"/>
              <a:t>Blocks</a:t>
            </a:r>
          </a:p>
        </p:txBody>
      </p:sp>
      <p:sp>
        <p:nvSpPr>
          <p:cNvPr id="43" name="TextBox 42">
            <a:extLst>
              <a:ext uri="{FF2B5EF4-FFF2-40B4-BE49-F238E27FC236}">
                <a16:creationId xmlns:a16="http://schemas.microsoft.com/office/drawing/2014/main" id="{C00366A2-3D6E-9517-2F85-FA54B7D3FE79}"/>
              </a:ext>
            </a:extLst>
          </p:cNvPr>
          <p:cNvSpPr txBox="1"/>
          <p:nvPr/>
        </p:nvSpPr>
        <p:spPr>
          <a:xfrm>
            <a:off x="13225712" y="7035284"/>
            <a:ext cx="787395" cy="338554"/>
          </a:xfrm>
          <a:prstGeom prst="rect">
            <a:avLst/>
          </a:prstGeom>
          <a:noFill/>
        </p:spPr>
        <p:txBody>
          <a:bodyPr wrap="none" rtlCol="0">
            <a:spAutoFit/>
          </a:bodyPr>
          <a:lstStyle/>
          <a:p>
            <a:pPr algn="ctr"/>
            <a:r>
              <a:rPr lang="en-US" sz="1600" dirty="0"/>
              <a:t>Blocks</a:t>
            </a:r>
          </a:p>
        </p:txBody>
      </p:sp>
      <p:sp>
        <p:nvSpPr>
          <p:cNvPr id="44" name="TextBox 43">
            <a:extLst>
              <a:ext uri="{FF2B5EF4-FFF2-40B4-BE49-F238E27FC236}">
                <a16:creationId xmlns:a16="http://schemas.microsoft.com/office/drawing/2014/main" id="{1819A159-1C60-7B4A-396D-AFEAA76E4804}"/>
              </a:ext>
            </a:extLst>
          </p:cNvPr>
          <p:cNvSpPr txBox="1"/>
          <p:nvPr/>
        </p:nvSpPr>
        <p:spPr>
          <a:xfrm>
            <a:off x="15702212" y="7035284"/>
            <a:ext cx="787395" cy="338554"/>
          </a:xfrm>
          <a:prstGeom prst="rect">
            <a:avLst/>
          </a:prstGeom>
          <a:noFill/>
        </p:spPr>
        <p:txBody>
          <a:bodyPr wrap="none" rtlCol="0">
            <a:spAutoFit/>
          </a:bodyPr>
          <a:lstStyle/>
          <a:p>
            <a:pPr algn="ctr"/>
            <a:r>
              <a:rPr lang="en-US" sz="1600" dirty="0"/>
              <a:t>Blocks</a:t>
            </a:r>
          </a:p>
        </p:txBody>
      </p:sp>
      <p:sp>
        <p:nvSpPr>
          <p:cNvPr id="45" name="Rectangle 44">
            <a:extLst>
              <a:ext uri="{FF2B5EF4-FFF2-40B4-BE49-F238E27FC236}">
                <a16:creationId xmlns:a16="http://schemas.microsoft.com/office/drawing/2014/main" id="{A25088DB-29B2-4B62-78B4-F138090C3240}"/>
              </a:ext>
            </a:extLst>
          </p:cNvPr>
          <p:cNvSpPr/>
          <p:nvPr/>
        </p:nvSpPr>
        <p:spPr>
          <a:xfrm>
            <a:off x="13374772" y="5104743"/>
            <a:ext cx="3843481"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Heartbeats, Block Reports, Block Mgmt.</a:t>
            </a:r>
          </a:p>
        </p:txBody>
      </p:sp>
      <p:sp>
        <p:nvSpPr>
          <p:cNvPr id="46" name="Rectangle 45">
            <a:extLst>
              <a:ext uri="{FF2B5EF4-FFF2-40B4-BE49-F238E27FC236}">
                <a16:creationId xmlns:a16="http://schemas.microsoft.com/office/drawing/2014/main" id="{A2E8BE83-2851-E18B-EA8E-500AC76F4F45}"/>
              </a:ext>
            </a:extLst>
          </p:cNvPr>
          <p:cNvSpPr/>
          <p:nvPr/>
        </p:nvSpPr>
        <p:spPr>
          <a:xfrm>
            <a:off x="8932721" y="4071910"/>
            <a:ext cx="246888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Read and Write Blocks</a:t>
            </a:r>
          </a:p>
        </p:txBody>
      </p:sp>
      <p:sp>
        <p:nvSpPr>
          <p:cNvPr id="47" name="Rectangle 46">
            <a:extLst>
              <a:ext uri="{FF2B5EF4-FFF2-40B4-BE49-F238E27FC236}">
                <a16:creationId xmlns:a16="http://schemas.microsoft.com/office/drawing/2014/main" id="{DA019830-246E-6033-42AC-8F2F8EDED326}"/>
              </a:ext>
            </a:extLst>
          </p:cNvPr>
          <p:cNvSpPr/>
          <p:nvPr/>
        </p:nvSpPr>
        <p:spPr>
          <a:xfrm>
            <a:off x="11469995" y="2755105"/>
            <a:ext cx="1828800" cy="40695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Obtain Metadata</a:t>
            </a:r>
          </a:p>
        </p:txBody>
      </p:sp>
      <p:cxnSp>
        <p:nvCxnSpPr>
          <p:cNvPr id="48" name="Curved Connector 47">
            <a:extLst>
              <a:ext uri="{FF2B5EF4-FFF2-40B4-BE49-F238E27FC236}">
                <a16:creationId xmlns:a16="http://schemas.microsoft.com/office/drawing/2014/main" id="{10F79754-2974-3813-9E60-A40E00866465}"/>
              </a:ext>
            </a:extLst>
          </p:cNvPr>
          <p:cNvCxnSpPr>
            <a:stCxn id="37" idx="6"/>
            <a:endCxn id="47" idx="0"/>
          </p:cNvCxnSpPr>
          <p:nvPr/>
        </p:nvCxnSpPr>
        <p:spPr>
          <a:xfrm flipV="1">
            <a:off x="11039475" y="2755105"/>
            <a:ext cx="1344920" cy="369095"/>
          </a:xfrm>
          <a:prstGeom prst="curvedConnector4">
            <a:avLst>
              <a:gd name="adj1" fmla="val 16005"/>
              <a:gd name="adj2" fmla="val 161935"/>
            </a:avLst>
          </a:prstGeom>
        </p:spPr>
        <p:style>
          <a:lnRef idx="2">
            <a:schemeClr val="accent1"/>
          </a:lnRef>
          <a:fillRef idx="0">
            <a:schemeClr val="accent1"/>
          </a:fillRef>
          <a:effectRef idx="1">
            <a:schemeClr val="accent1"/>
          </a:effectRef>
          <a:fontRef idx="minor">
            <a:schemeClr val="tx1"/>
          </a:fontRef>
        </p:style>
      </p:cxnSp>
      <p:cxnSp>
        <p:nvCxnSpPr>
          <p:cNvPr id="49" name="Curved Connector 48">
            <a:extLst>
              <a:ext uri="{FF2B5EF4-FFF2-40B4-BE49-F238E27FC236}">
                <a16:creationId xmlns:a16="http://schemas.microsoft.com/office/drawing/2014/main" id="{D1676827-E406-AD9E-55E3-C9C2F98C2E31}"/>
              </a:ext>
            </a:extLst>
          </p:cNvPr>
          <p:cNvCxnSpPr>
            <a:cxnSpLocks/>
            <a:stCxn id="47" idx="2"/>
            <a:endCxn id="68" idx="2"/>
          </p:cNvCxnSpPr>
          <p:nvPr/>
        </p:nvCxnSpPr>
        <p:spPr>
          <a:xfrm rot="16200000" flipH="1">
            <a:off x="12968794" y="2577663"/>
            <a:ext cx="559683" cy="1728481"/>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0" name="Curved Connector 49">
            <a:extLst>
              <a:ext uri="{FF2B5EF4-FFF2-40B4-BE49-F238E27FC236}">
                <a16:creationId xmlns:a16="http://schemas.microsoft.com/office/drawing/2014/main" id="{64616CFF-D5AC-7F7D-BAD5-C4F211B9A909}"/>
              </a:ext>
            </a:extLst>
          </p:cNvPr>
          <p:cNvCxnSpPr>
            <a:cxnSpLocks/>
            <a:stCxn id="37" idx="4"/>
            <a:endCxn id="46" idx="0"/>
          </p:cNvCxnSpPr>
          <p:nvPr/>
        </p:nvCxnSpPr>
        <p:spPr>
          <a:xfrm rot="16200000" flipH="1">
            <a:off x="9811964" y="3716712"/>
            <a:ext cx="709585" cy="81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A40C17B7-6E90-99C7-EFB8-0C51CC15A938}"/>
              </a:ext>
            </a:extLst>
          </p:cNvPr>
          <p:cNvCxnSpPr>
            <a:cxnSpLocks/>
            <a:stCxn id="18" idx="0"/>
            <a:endCxn id="46" idx="2"/>
          </p:cNvCxnSpPr>
          <p:nvPr/>
        </p:nvCxnSpPr>
        <p:spPr>
          <a:xfrm rot="16200000" flipV="1">
            <a:off x="9886828" y="4759202"/>
            <a:ext cx="1512357" cy="95169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2" name="Curved Connector 51">
            <a:extLst>
              <a:ext uri="{FF2B5EF4-FFF2-40B4-BE49-F238E27FC236}">
                <a16:creationId xmlns:a16="http://schemas.microsoft.com/office/drawing/2014/main" id="{4CE948B0-6AF7-EBF0-CDD9-D6E283F99077}"/>
              </a:ext>
            </a:extLst>
          </p:cNvPr>
          <p:cNvCxnSpPr>
            <a:cxnSpLocks/>
            <a:stCxn id="18" idx="0"/>
            <a:endCxn id="45" idx="2"/>
          </p:cNvCxnSpPr>
          <p:nvPr/>
        </p:nvCxnSpPr>
        <p:spPr>
          <a:xfrm rot="5400000" flipH="1" flipV="1">
            <a:off x="12967920" y="3662632"/>
            <a:ext cx="479524" cy="4177662"/>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urved Connector 52">
            <a:extLst>
              <a:ext uri="{FF2B5EF4-FFF2-40B4-BE49-F238E27FC236}">
                <a16:creationId xmlns:a16="http://schemas.microsoft.com/office/drawing/2014/main" id="{5A315E2F-5DA1-DC1D-017D-278354DBBD79}"/>
              </a:ext>
            </a:extLst>
          </p:cNvPr>
          <p:cNvCxnSpPr>
            <a:cxnSpLocks/>
            <a:stCxn id="20" idx="0"/>
            <a:endCxn id="45" idx="2"/>
          </p:cNvCxnSpPr>
          <p:nvPr/>
        </p:nvCxnSpPr>
        <p:spPr>
          <a:xfrm rot="5400000" flipH="1" flipV="1">
            <a:off x="14223632" y="4918345"/>
            <a:ext cx="479524" cy="1666237"/>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4" name="Curved Connector 53">
            <a:extLst>
              <a:ext uri="{FF2B5EF4-FFF2-40B4-BE49-F238E27FC236}">
                <a16:creationId xmlns:a16="http://schemas.microsoft.com/office/drawing/2014/main" id="{63820AE7-CEC9-9CAF-BEF3-CCAA76C197B2}"/>
              </a:ext>
            </a:extLst>
          </p:cNvPr>
          <p:cNvCxnSpPr>
            <a:cxnSpLocks/>
            <a:stCxn id="22" idx="0"/>
            <a:endCxn id="45" idx="2"/>
          </p:cNvCxnSpPr>
          <p:nvPr/>
        </p:nvCxnSpPr>
        <p:spPr>
          <a:xfrm rot="16200000" flipV="1">
            <a:off x="15479345" y="5328869"/>
            <a:ext cx="479524" cy="845188"/>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7CA38732-11B8-3588-5E36-FD0B90CBF729}"/>
              </a:ext>
            </a:extLst>
          </p:cNvPr>
          <p:cNvCxnSpPr>
            <a:cxnSpLocks/>
            <a:stCxn id="45" idx="0"/>
            <a:endCxn id="67" idx="2"/>
          </p:cNvCxnSpPr>
          <p:nvPr/>
        </p:nvCxnSpPr>
        <p:spPr>
          <a:xfrm rot="16200000" flipV="1">
            <a:off x="14950235" y="4758464"/>
            <a:ext cx="382044" cy="310513"/>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D7E2C613-F7F5-B744-2E13-327CEFE14003}"/>
              </a:ext>
            </a:extLst>
          </p:cNvPr>
          <p:cNvSpPr/>
          <p:nvPr/>
        </p:nvSpPr>
        <p:spPr>
          <a:xfrm>
            <a:off x="12708256" y="7649620"/>
            <a:ext cx="192024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Block Replication</a:t>
            </a:r>
          </a:p>
        </p:txBody>
      </p:sp>
      <p:cxnSp>
        <p:nvCxnSpPr>
          <p:cNvPr id="57" name="Curved Connector 56">
            <a:extLst>
              <a:ext uri="{FF2B5EF4-FFF2-40B4-BE49-F238E27FC236}">
                <a16:creationId xmlns:a16="http://schemas.microsoft.com/office/drawing/2014/main" id="{73D170BB-286B-2631-B188-59F8A70572B1}"/>
              </a:ext>
            </a:extLst>
          </p:cNvPr>
          <p:cNvCxnSpPr>
            <a:cxnSpLocks/>
            <a:stCxn id="56" idx="1"/>
            <a:endCxn id="18" idx="2"/>
          </p:cNvCxnSpPr>
          <p:nvPr/>
        </p:nvCxnSpPr>
        <p:spPr>
          <a:xfrm rot="10800000">
            <a:off x="11118852" y="7401753"/>
            <a:ext cx="1589405" cy="451346"/>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8" name="Curved Connector 57">
            <a:extLst>
              <a:ext uri="{FF2B5EF4-FFF2-40B4-BE49-F238E27FC236}">
                <a16:creationId xmlns:a16="http://schemas.microsoft.com/office/drawing/2014/main" id="{F3898964-A489-AD46-3631-EF5428ABB917}"/>
              </a:ext>
            </a:extLst>
          </p:cNvPr>
          <p:cNvCxnSpPr>
            <a:cxnSpLocks/>
            <a:stCxn id="22" idx="2"/>
            <a:endCxn id="56" idx="3"/>
          </p:cNvCxnSpPr>
          <p:nvPr/>
        </p:nvCxnSpPr>
        <p:spPr>
          <a:xfrm rot="5400000">
            <a:off x="15159426" y="6870824"/>
            <a:ext cx="451346" cy="1513205"/>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65" name="Curved Connector 64">
            <a:extLst>
              <a:ext uri="{FF2B5EF4-FFF2-40B4-BE49-F238E27FC236}">
                <a16:creationId xmlns:a16="http://schemas.microsoft.com/office/drawing/2014/main" id="{E029389A-9268-25F7-71DF-ACAB59693A80}"/>
              </a:ext>
            </a:extLst>
          </p:cNvPr>
          <p:cNvCxnSpPr>
            <a:cxnSpLocks/>
            <a:stCxn id="56" idx="0"/>
          </p:cNvCxnSpPr>
          <p:nvPr/>
        </p:nvCxnSpPr>
        <p:spPr>
          <a:xfrm rot="16200000" flipV="1">
            <a:off x="13543772" y="7525016"/>
            <a:ext cx="200243" cy="48966"/>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6" name="Curved Connector 65">
            <a:extLst>
              <a:ext uri="{FF2B5EF4-FFF2-40B4-BE49-F238E27FC236}">
                <a16:creationId xmlns:a16="http://schemas.microsoft.com/office/drawing/2014/main" id="{B543A99A-5F72-4F0E-14D6-2BC2927B2028}"/>
              </a:ext>
            </a:extLst>
          </p:cNvPr>
          <p:cNvCxnSpPr>
            <a:cxnSpLocks/>
            <a:stCxn id="20" idx="0"/>
            <a:endCxn id="46" idx="2"/>
          </p:cNvCxnSpPr>
          <p:nvPr/>
        </p:nvCxnSpPr>
        <p:spPr>
          <a:xfrm rot="16200000" flipV="1">
            <a:off x="11142541" y="3503489"/>
            <a:ext cx="1512357" cy="3463115"/>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pic>
        <p:nvPicPr>
          <p:cNvPr id="12" name="Picture 11">
            <a:extLst>
              <a:ext uri="{FF2B5EF4-FFF2-40B4-BE49-F238E27FC236}">
                <a16:creationId xmlns:a16="http://schemas.microsoft.com/office/drawing/2014/main" id="{75BE1823-D0A5-664B-52CA-1EEDB5884656}"/>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9486644" y="5325305"/>
            <a:ext cx="7892387" cy="3616198"/>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41" name="TextBox 40">
            <a:extLst>
              <a:ext uri="{FF2B5EF4-FFF2-40B4-BE49-F238E27FC236}">
                <a16:creationId xmlns:a16="http://schemas.microsoft.com/office/drawing/2014/main" id="{3D4427C0-B8C1-09BC-648E-699016546F1C}"/>
              </a:ext>
            </a:extLst>
          </p:cNvPr>
          <p:cNvSpPr txBox="1"/>
          <p:nvPr/>
        </p:nvSpPr>
        <p:spPr>
          <a:xfrm>
            <a:off x="15696168" y="2489686"/>
            <a:ext cx="1903085" cy="646331"/>
          </a:xfrm>
          <a:prstGeom prst="rect">
            <a:avLst/>
          </a:prstGeom>
          <a:noFill/>
        </p:spPr>
        <p:txBody>
          <a:bodyPr wrap="none" rtlCol="0">
            <a:spAutoFit/>
          </a:bodyPr>
          <a:lstStyle/>
          <a:p>
            <a:r>
              <a:rPr lang="en-US" b="1" dirty="0">
                <a:solidFill>
                  <a:schemeClr val="bg2"/>
                </a:solidFill>
              </a:rPr>
              <a:t>Hadoop Cluster</a:t>
            </a:r>
          </a:p>
          <a:p>
            <a:pPr algn="ctr"/>
            <a:r>
              <a:rPr lang="en-US" b="1" dirty="0">
                <a:solidFill>
                  <a:schemeClr val="bg2"/>
                </a:solidFill>
              </a:rPr>
              <a:t>(HDFS View)</a:t>
            </a:r>
          </a:p>
        </p:txBody>
      </p:sp>
      <p:grpSp>
        <p:nvGrpSpPr>
          <p:cNvPr id="59" name="Group 58">
            <a:extLst>
              <a:ext uri="{FF2B5EF4-FFF2-40B4-BE49-F238E27FC236}">
                <a16:creationId xmlns:a16="http://schemas.microsoft.com/office/drawing/2014/main" id="{CEC9F1C1-682B-7558-859D-186AC27617CA}"/>
              </a:ext>
            </a:extLst>
          </p:cNvPr>
          <p:cNvGrpSpPr/>
          <p:nvPr/>
        </p:nvGrpSpPr>
        <p:grpSpPr>
          <a:xfrm>
            <a:off x="15239364" y="3440498"/>
            <a:ext cx="2082802" cy="1410528"/>
            <a:chOff x="14096999" y="3902721"/>
            <a:chExt cx="2082802" cy="1410528"/>
          </a:xfrm>
        </p:grpSpPr>
        <p:sp>
          <p:nvSpPr>
            <p:cNvPr id="60" name="Rectangle 59">
              <a:extLst>
                <a:ext uri="{FF2B5EF4-FFF2-40B4-BE49-F238E27FC236}">
                  <a16:creationId xmlns:a16="http://schemas.microsoft.com/office/drawing/2014/main" id="{7CBE8A17-607B-14F1-7DDA-9C24ED23B130}"/>
                </a:ext>
              </a:extLst>
            </p:cNvPr>
            <p:cNvSpPr/>
            <p:nvPr/>
          </p:nvSpPr>
          <p:spPr>
            <a:xfrm>
              <a:off x="14096999" y="39027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C49FF804-FD99-4CEA-7480-07B31B8B4762}"/>
                </a:ext>
              </a:extLst>
            </p:cNvPr>
            <p:cNvSpPr/>
            <p:nvPr/>
          </p:nvSpPr>
          <p:spPr>
            <a:xfrm>
              <a:off x="14265276" y="40741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2" name="TextBox 61">
              <a:extLst>
                <a:ext uri="{FF2B5EF4-FFF2-40B4-BE49-F238E27FC236}">
                  <a16:creationId xmlns:a16="http://schemas.microsoft.com/office/drawing/2014/main" id="{6441CD28-BE65-17B6-68CF-E3D99A8E8556}"/>
                </a:ext>
              </a:extLst>
            </p:cNvPr>
            <p:cNvSpPr txBox="1"/>
            <p:nvPr/>
          </p:nvSpPr>
          <p:spPr>
            <a:xfrm>
              <a:off x="14462574" y="4127630"/>
              <a:ext cx="1351652" cy="369332"/>
            </a:xfrm>
            <a:prstGeom prst="rect">
              <a:avLst/>
            </a:prstGeom>
            <a:noFill/>
          </p:spPr>
          <p:txBody>
            <a:bodyPr wrap="square" rtlCol="0">
              <a:spAutoFit/>
            </a:bodyPr>
            <a:lstStyle/>
            <a:p>
              <a:r>
                <a:rPr lang="en-US" dirty="0">
                  <a:solidFill>
                    <a:schemeClr val="bg2"/>
                  </a:solidFill>
                </a:rPr>
                <a:t>NameNode</a:t>
              </a:r>
            </a:p>
          </p:txBody>
        </p:sp>
        <p:sp>
          <p:nvSpPr>
            <p:cNvPr id="63" name="Rectangle 62">
              <a:extLst>
                <a:ext uri="{FF2B5EF4-FFF2-40B4-BE49-F238E27FC236}">
                  <a16:creationId xmlns:a16="http://schemas.microsoft.com/office/drawing/2014/main" id="{F42190F8-4C80-3883-BC4B-27CAC5744DF6}"/>
                </a:ext>
              </a:extLst>
            </p:cNvPr>
            <p:cNvSpPr>
              <a:spLocks/>
            </p:cNvSpPr>
            <p:nvPr/>
          </p:nvSpPr>
          <p:spPr>
            <a:xfrm>
              <a:off x="14494330" y="47895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64" name="TextBox 63">
              <a:extLst>
                <a:ext uri="{FF2B5EF4-FFF2-40B4-BE49-F238E27FC236}">
                  <a16:creationId xmlns:a16="http://schemas.microsoft.com/office/drawing/2014/main" id="{626027B7-F37F-A955-5855-253D39AFE77D}"/>
                </a:ext>
              </a:extLst>
            </p:cNvPr>
            <p:cNvSpPr txBox="1"/>
            <p:nvPr/>
          </p:nvSpPr>
          <p:spPr>
            <a:xfrm>
              <a:off x="14557377" y="4785981"/>
              <a:ext cx="1146468" cy="369332"/>
            </a:xfrm>
            <a:prstGeom prst="rect">
              <a:avLst/>
            </a:prstGeom>
            <a:noFill/>
          </p:spPr>
          <p:txBody>
            <a:bodyPr wrap="square" rtlCol="0">
              <a:spAutoFit/>
            </a:bodyPr>
            <a:lstStyle/>
            <a:p>
              <a:r>
                <a:rPr lang="en-US" dirty="0">
                  <a:solidFill>
                    <a:schemeClr val="bg2"/>
                  </a:solidFill>
                </a:rPr>
                <a:t>Metadata</a:t>
              </a:r>
            </a:p>
          </p:txBody>
        </p:sp>
      </p:grpSp>
      <p:sp>
        <p:nvSpPr>
          <p:cNvPr id="67" name="Rectangle 66">
            <a:extLst>
              <a:ext uri="{FF2B5EF4-FFF2-40B4-BE49-F238E27FC236}">
                <a16:creationId xmlns:a16="http://schemas.microsoft.com/office/drawing/2014/main" id="{10AE3BC3-003A-DBAA-4217-DE192889EA56}"/>
              </a:ext>
            </a:extLst>
          </p:cNvPr>
          <p:cNvSpPr/>
          <p:nvPr/>
        </p:nvSpPr>
        <p:spPr>
          <a:xfrm>
            <a:off x="13944599" y="331217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DDF6E07-C1A3-D6C3-FD7F-82BD7D61D337}"/>
              </a:ext>
            </a:extLst>
          </p:cNvPr>
          <p:cNvSpPr/>
          <p:nvPr/>
        </p:nvSpPr>
        <p:spPr>
          <a:xfrm>
            <a:off x="14112876" y="348362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9" name="TextBox 68">
            <a:extLst>
              <a:ext uri="{FF2B5EF4-FFF2-40B4-BE49-F238E27FC236}">
                <a16:creationId xmlns:a16="http://schemas.microsoft.com/office/drawing/2014/main" id="{9E34809A-7F71-D6F7-10DE-7465E05B5D25}"/>
              </a:ext>
            </a:extLst>
          </p:cNvPr>
          <p:cNvSpPr txBox="1"/>
          <p:nvPr/>
        </p:nvSpPr>
        <p:spPr>
          <a:xfrm>
            <a:off x="14310174" y="3537080"/>
            <a:ext cx="1351652" cy="369332"/>
          </a:xfrm>
          <a:prstGeom prst="rect">
            <a:avLst/>
          </a:prstGeom>
          <a:noFill/>
        </p:spPr>
        <p:txBody>
          <a:bodyPr wrap="square" rtlCol="0">
            <a:spAutoFit/>
          </a:bodyPr>
          <a:lstStyle/>
          <a:p>
            <a:r>
              <a:rPr lang="en-US" dirty="0">
                <a:solidFill>
                  <a:schemeClr val="bg2"/>
                </a:solidFill>
              </a:rPr>
              <a:t>NameNode</a:t>
            </a:r>
          </a:p>
        </p:txBody>
      </p:sp>
      <p:sp>
        <p:nvSpPr>
          <p:cNvPr id="70" name="Rectangle 69">
            <a:extLst>
              <a:ext uri="{FF2B5EF4-FFF2-40B4-BE49-F238E27FC236}">
                <a16:creationId xmlns:a16="http://schemas.microsoft.com/office/drawing/2014/main" id="{E52176E2-342B-18A1-96BA-C74AF3E5635D}"/>
              </a:ext>
            </a:extLst>
          </p:cNvPr>
          <p:cNvSpPr>
            <a:spLocks/>
          </p:cNvSpPr>
          <p:nvPr/>
        </p:nvSpPr>
        <p:spPr>
          <a:xfrm>
            <a:off x="14341930" y="419900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14" name="Triangle 13">
            <a:extLst>
              <a:ext uri="{FF2B5EF4-FFF2-40B4-BE49-F238E27FC236}">
                <a16:creationId xmlns:a16="http://schemas.microsoft.com/office/drawing/2014/main" id="{16C79872-D6FD-8513-DB70-E1B993252AD2}"/>
              </a:ext>
            </a:extLst>
          </p:cNvPr>
          <p:cNvSpPr/>
          <p:nvPr/>
        </p:nvSpPr>
        <p:spPr>
          <a:xfrm>
            <a:off x="9382007" y="4494423"/>
            <a:ext cx="8096430" cy="753974"/>
          </a:xfrm>
          <a:prstGeom prst="triangle">
            <a:avLst>
              <a:gd name="adj" fmla="val 69740"/>
            </a:avLst>
          </a:prstGeom>
          <a:solidFill>
            <a:schemeClr val="bg2">
              <a:lumMod val="9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1" name="TextBox 70">
            <a:extLst>
              <a:ext uri="{FF2B5EF4-FFF2-40B4-BE49-F238E27FC236}">
                <a16:creationId xmlns:a16="http://schemas.microsoft.com/office/drawing/2014/main" id="{FBA8F60C-3529-075E-6ECE-2F4192FB8C9E}"/>
              </a:ext>
            </a:extLst>
          </p:cNvPr>
          <p:cNvSpPr txBox="1"/>
          <p:nvPr/>
        </p:nvSpPr>
        <p:spPr>
          <a:xfrm>
            <a:off x="14404977" y="4195431"/>
            <a:ext cx="1146468" cy="369332"/>
          </a:xfrm>
          <a:prstGeom prst="rect">
            <a:avLst/>
          </a:prstGeom>
          <a:noFill/>
        </p:spPr>
        <p:txBody>
          <a:bodyPr wrap="square" rtlCol="0">
            <a:spAutoFit/>
          </a:bodyPr>
          <a:lstStyle/>
          <a:p>
            <a:r>
              <a:rPr lang="en-US" dirty="0">
                <a:solidFill>
                  <a:schemeClr val="bg2"/>
                </a:solidFill>
              </a:rPr>
              <a:t>Metadata</a:t>
            </a:r>
          </a:p>
        </p:txBody>
      </p:sp>
    </p:spTree>
    <p:extLst>
      <p:ext uri="{BB962C8B-B14F-4D97-AF65-F5344CB8AC3E}">
        <p14:creationId xmlns:p14="http://schemas.microsoft.com/office/powerpoint/2010/main" val="25300814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4800" dirty="0"/>
              <a:t>Hadoop Distributed File System </a:t>
            </a:r>
            <a:r>
              <a:rPr lang="en-US" sz="5000" dirty="0"/>
              <a:t>DataNode(s)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718129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Cluster node(s) which execute the DataNode daemon that stores and retrieves blocks at the request of an HDFS client or NameNodes(s)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718129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effectLst/>
              </a:rPr>
              <a:t>Blocks are stored as regular files on the local filesystem and e</a:t>
            </a:r>
            <a:r>
              <a:rPr lang="en-US" sz="2400" dirty="0">
                <a:solidFill>
                  <a:schemeClr val="tx1"/>
                </a:solidFill>
              </a:rPr>
              <a:t>ach DataNode reports back to the NameNode as to what blocks it is holding </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718129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0" i="0" dirty="0">
                <a:solidFill>
                  <a:schemeClr val="tx1"/>
                </a:solidFill>
                <a:effectLst/>
              </a:rPr>
              <a:t>Each DataNode sends a heartbeat message to the NameNode to indicate it is still alive</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718129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DataNode(s) work together with the NameNode(s) to replicate blocks</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6" name="Rectangle 15">
            <a:extLst>
              <a:ext uri="{FF2B5EF4-FFF2-40B4-BE49-F238E27FC236}">
                <a16:creationId xmlns:a16="http://schemas.microsoft.com/office/drawing/2014/main" id="{D104CA66-D17B-DC60-173A-6A450CC630C2}"/>
              </a:ext>
            </a:extLst>
          </p:cNvPr>
          <p:cNvSpPr/>
          <p:nvPr/>
        </p:nvSpPr>
        <p:spPr>
          <a:xfrm>
            <a:off x="13511520" y="2901938"/>
            <a:ext cx="4166879" cy="2954893"/>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7" name="Rectangle 16">
            <a:extLst>
              <a:ext uri="{FF2B5EF4-FFF2-40B4-BE49-F238E27FC236}">
                <a16:creationId xmlns:a16="http://schemas.microsoft.com/office/drawing/2014/main" id="{06A6B0E7-8FF0-C5E2-D269-8A4B7AB86E11}"/>
              </a:ext>
            </a:extLst>
          </p:cNvPr>
          <p:cNvSpPr/>
          <p:nvPr/>
        </p:nvSpPr>
        <p:spPr>
          <a:xfrm>
            <a:off x="9383994" y="5360431"/>
            <a:ext cx="8313456" cy="3293661"/>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8" name="Rectangle 17">
            <a:extLst>
              <a:ext uri="{FF2B5EF4-FFF2-40B4-BE49-F238E27FC236}">
                <a16:creationId xmlns:a16="http://schemas.microsoft.com/office/drawing/2014/main" id="{F00F91E6-AE51-6035-29C4-5F60D98E0973}"/>
              </a:ext>
            </a:extLst>
          </p:cNvPr>
          <p:cNvSpPr/>
          <p:nvPr/>
        </p:nvSpPr>
        <p:spPr>
          <a:xfrm>
            <a:off x="1007745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4F9469C-134F-A1C1-3741-42EBF87D7906}"/>
              </a:ext>
            </a:extLst>
          </p:cNvPr>
          <p:cNvSpPr/>
          <p:nvPr/>
        </p:nvSpPr>
        <p:spPr>
          <a:xfrm>
            <a:off x="1024572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0" name="Rectangle 19">
            <a:extLst>
              <a:ext uri="{FF2B5EF4-FFF2-40B4-BE49-F238E27FC236}">
                <a16:creationId xmlns:a16="http://schemas.microsoft.com/office/drawing/2014/main" id="{568DB1AC-1D42-7DE0-ED35-E0A18E8213A9}"/>
              </a:ext>
            </a:extLst>
          </p:cNvPr>
          <p:cNvSpPr/>
          <p:nvPr/>
        </p:nvSpPr>
        <p:spPr>
          <a:xfrm>
            <a:off x="12588875"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ABDB35E5-7321-7455-65A6-247168A6B467}"/>
              </a:ext>
            </a:extLst>
          </p:cNvPr>
          <p:cNvSpPr/>
          <p:nvPr/>
        </p:nvSpPr>
        <p:spPr>
          <a:xfrm>
            <a:off x="12757152"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2" name="Rectangle 21">
            <a:extLst>
              <a:ext uri="{FF2B5EF4-FFF2-40B4-BE49-F238E27FC236}">
                <a16:creationId xmlns:a16="http://schemas.microsoft.com/office/drawing/2014/main" id="{81DBEC0F-09A7-8031-62FE-811D57EDEFAB}"/>
              </a:ext>
            </a:extLst>
          </p:cNvPr>
          <p:cNvSpPr/>
          <p:nvPr/>
        </p:nvSpPr>
        <p:spPr>
          <a:xfrm>
            <a:off x="1510030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7912321-0D8F-7DC2-ECE9-A1865757136C}"/>
              </a:ext>
            </a:extLst>
          </p:cNvPr>
          <p:cNvSpPr/>
          <p:nvPr/>
        </p:nvSpPr>
        <p:spPr>
          <a:xfrm>
            <a:off x="1526857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4" name="TextBox 23">
            <a:extLst>
              <a:ext uri="{FF2B5EF4-FFF2-40B4-BE49-F238E27FC236}">
                <a16:creationId xmlns:a16="http://schemas.microsoft.com/office/drawing/2014/main" id="{63C1DEE5-23C1-E3AC-F158-90B26B01F53B}"/>
              </a:ext>
            </a:extLst>
          </p:cNvPr>
          <p:cNvSpPr txBox="1"/>
          <p:nvPr/>
        </p:nvSpPr>
        <p:spPr>
          <a:xfrm>
            <a:off x="10515363" y="6654284"/>
            <a:ext cx="1223412" cy="369332"/>
          </a:xfrm>
          <a:prstGeom prst="rect">
            <a:avLst/>
          </a:prstGeom>
          <a:noFill/>
        </p:spPr>
        <p:txBody>
          <a:bodyPr wrap="none" rtlCol="0">
            <a:spAutoFit/>
          </a:bodyPr>
          <a:lstStyle/>
          <a:p>
            <a:r>
              <a:rPr lang="en-US" dirty="0">
                <a:solidFill>
                  <a:schemeClr val="bg2"/>
                </a:solidFill>
              </a:rPr>
              <a:t>DataNode</a:t>
            </a:r>
          </a:p>
        </p:txBody>
      </p:sp>
      <p:sp>
        <p:nvSpPr>
          <p:cNvPr id="25" name="TextBox 24">
            <a:extLst>
              <a:ext uri="{FF2B5EF4-FFF2-40B4-BE49-F238E27FC236}">
                <a16:creationId xmlns:a16="http://schemas.microsoft.com/office/drawing/2014/main" id="{EDDA36AC-5C7E-41FF-2016-F520E224AFC2}"/>
              </a:ext>
            </a:extLst>
          </p:cNvPr>
          <p:cNvSpPr txBox="1"/>
          <p:nvPr/>
        </p:nvSpPr>
        <p:spPr>
          <a:xfrm>
            <a:off x="13056670" y="6648450"/>
            <a:ext cx="1223412" cy="369332"/>
          </a:xfrm>
          <a:prstGeom prst="rect">
            <a:avLst/>
          </a:prstGeom>
          <a:noFill/>
        </p:spPr>
        <p:txBody>
          <a:bodyPr wrap="none" rtlCol="0">
            <a:spAutoFit/>
          </a:bodyPr>
          <a:lstStyle/>
          <a:p>
            <a:r>
              <a:rPr lang="en-US" dirty="0">
                <a:solidFill>
                  <a:schemeClr val="bg2"/>
                </a:solidFill>
              </a:rPr>
              <a:t>DataNode</a:t>
            </a:r>
          </a:p>
        </p:txBody>
      </p:sp>
      <p:sp>
        <p:nvSpPr>
          <p:cNvPr id="26" name="TextBox 25">
            <a:extLst>
              <a:ext uri="{FF2B5EF4-FFF2-40B4-BE49-F238E27FC236}">
                <a16:creationId xmlns:a16="http://schemas.microsoft.com/office/drawing/2014/main" id="{9A8BFE4C-B04C-2696-742F-8D534F8BC722}"/>
              </a:ext>
            </a:extLst>
          </p:cNvPr>
          <p:cNvSpPr txBox="1"/>
          <p:nvPr/>
        </p:nvSpPr>
        <p:spPr>
          <a:xfrm>
            <a:off x="15529995" y="6629400"/>
            <a:ext cx="1223412" cy="369332"/>
          </a:xfrm>
          <a:prstGeom prst="rect">
            <a:avLst/>
          </a:prstGeom>
          <a:noFill/>
        </p:spPr>
        <p:txBody>
          <a:bodyPr wrap="none" rtlCol="0">
            <a:spAutoFit/>
          </a:bodyPr>
          <a:lstStyle/>
          <a:p>
            <a:r>
              <a:rPr lang="en-US" dirty="0">
                <a:solidFill>
                  <a:schemeClr val="bg2"/>
                </a:solidFill>
              </a:rPr>
              <a:t>DataNode</a:t>
            </a:r>
          </a:p>
        </p:txBody>
      </p:sp>
      <p:sp>
        <p:nvSpPr>
          <p:cNvPr id="27" name="Rectangle 26">
            <a:extLst>
              <a:ext uri="{FF2B5EF4-FFF2-40B4-BE49-F238E27FC236}">
                <a16:creationId xmlns:a16="http://schemas.microsoft.com/office/drawing/2014/main" id="{C6EA5CB7-E903-7070-0F77-EF4E2A7D5C18}"/>
              </a:ext>
            </a:extLst>
          </p:cNvPr>
          <p:cNvSpPr>
            <a:spLocks/>
          </p:cNvSpPr>
          <p:nvPr/>
        </p:nvSpPr>
        <p:spPr>
          <a:xfrm>
            <a:off x="10530804"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28" name="Rectangle 27">
            <a:extLst>
              <a:ext uri="{FF2B5EF4-FFF2-40B4-BE49-F238E27FC236}">
                <a16:creationId xmlns:a16="http://schemas.microsoft.com/office/drawing/2014/main" id="{694C82D1-7A4E-F935-371C-DCF44F2221A1}"/>
              </a:ext>
            </a:extLst>
          </p:cNvPr>
          <p:cNvSpPr>
            <a:spLocks/>
          </p:cNvSpPr>
          <p:nvPr/>
        </p:nvSpPr>
        <p:spPr>
          <a:xfrm>
            <a:off x="10956190"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29" name="Rectangle 28">
            <a:extLst>
              <a:ext uri="{FF2B5EF4-FFF2-40B4-BE49-F238E27FC236}">
                <a16:creationId xmlns:a16="http://schemas.microsoft.com/office/drawing/2014/main" id="{0B76A44A-1585-DAD6-F5D7-EFBE90041DDB}"/>
              </a:ext>
            </a:extLst>
          </p:cNvPr>
          <p:cNvSpPr>
            <a:spLocks/>
          </p:cNvSpPr>
          <p:nvPr/>
        </p:nvSpPr>
        <p:spPr>
          <a:xfrm>
            <a:off x="11381576"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0" name="Rectangle 29">
            <a:extLst>
              <a:ext uri="{FF2B5EF4-FFF2-40B4-BE49-F238E27FC236}">
                <a16:creationId xmlns:a16="http://schemas.microsoft.com/office/drawing/2014/main" id="{6FC11EEB-AC63-5A44-252C-D2E4CAEAC0B9}"/>
              </a:ext>
            </a:extLst>
          </p:cNvPr>
          <p:cNvSpPr>
            <a:spLocks/>
          </p:cNvSpPr>
          <p:nvPr/>
        </p:nvSpPr>
        <p:spPr>
          <a:xfrm>
            <a:off x="1308613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1" name="Rectangle 30">
            <a:extLst>
              <a:ext uri="{FF2B5EF4-FFF2-40B4-BE49-F238E27FC236}">
                <a16:creationId xmlns:a16="http://schemas.microsoft.com/office/drawing/2014/main" id="{58F6D1ED-B109-19EE-F279-35728D07176D}"/>
              </a:ext>
            </a:extLst>
          </p:cNvPr>
          <p:cNvSpPr>
            <a:spLocks/>
          </p:cNvSpPr>
          <p:nvPr/>
        </p:nvSpPr>
        <p:spPr>
          <a:xfrm>
            <a:off x="1351152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2" name="Rectangle 31">
            <a:extLst>
              <a:ext uri="{FF2B5EF4-FFF2-40B4-BE49-F238E27FC236}">
                <a16:creationId xmlns:a16="http://schemas.microsoft.com/office/drawing/2014/main" id="{2286A54B-B23D-0912-E36D-7BBAC0AB34B9}"/>
              </a:ext>
            </a:extLst>
          </p:cNvPr>
          <p:cNvSpPr>
            <a:spLocks/>
          </p:cNvSpPr>
          <p:nvPr/>
        </p:nvSpPr>
        <p:spPr>
          <a:xfrm>
            <a:off x="1393690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3" name="Rectangle 32">
            <a:extLst>
              <a:ext uri="{FF2B5EF4-FFF2-40B4-BE49-F238E27FC236}">
                <a16:creationId xmlns:a16="http://schemas.microsoft.com/office/drawing/2014/main" id="{EBE88B38-A90F-C15C-0A2F-E1F0B7EA269D}"/>
              </a:ext>
            </a:extLst>
          </p:cNvPr>
          <p:cNvSpPr>
            <a:spLocks/>
          </p:cNvSpPr>
          <p:nvPr/>
        </p:nvSpPr>
        <p:spPr>
          <a:xfrm>
            <a:off x="1554105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4" name="Rectangle 33">
            <a:extLst>
              <a:ext uri="{FF2B5EF4-FFF2-40B4-BE49-F238E27FC236}">
                <a16:creationId xmlns:a16="http://schemas.microsoft.com/office/drawing/2014/main" id="{BE84BB05-75AA-7DBD-AF57-309DB7FCC6C9}"/>
              </a:ext>
            </a:extLst>
          </p:cNvPr>
          <p:cNvSpPr>
            <a:spLocks/>
          </p:cNvSpPr>
          <p:nvPr/>
        </p:nvSpPr>
        <p:spPr>
          <a:xfrm>
            <a:off x="1596644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5" name="Rectangle 34">
            <a:extLst>
              <a:ext uri="{FF2B5EF4-FFF2-40B4-BE49-F238E27FC236}">
                <a16:creationId xmlns:a16="http://schemas.microsoft.com/office/drawing/2014/main" id="{7C98DBDD-593E-6C2E-BB0B-A42E968FEA6C}"/>
              </a:ext>
            </a:extLst>
          </p:cNvPr>
          <p:cNvSpPr>
            <a:spLocks/>
          </p:cNvSpPr>
          <p:nvPr/>
        </p:nvSpPr>
        <p:spPr>
          <a:xfrm>
            <a:off x="1639182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6" name="Rectangle 35">
            <a:extLst>
              <a:ext uri="{FF2B5EF4-FFF2-40B4-BE49-F238E27FC236}">
                <a16:creationId xmlns:a16="http://schemas.microsoft.com/office/drawing/2014/main" id="{9D410F0A-62A3-8A8A-C020-1F766311B321}"/>
              </a:ext>
            </a:extLst>
          </p:cNvPr>
          <p:cNvSpPr/>
          <p:nvPr/>
        </p:nvSpPr>
        <p:spPr>
          <a:xfrm>
            <a:off x="9124950" y="25431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4A7B71AB-BB92-C0C0-2BDC-4B3D9304C2FF}"/>
              </a:ext>
            </a:extLst>
          </p:cNvPr>
          <p:cNvSpPr/>
          <p:nvPr/>
        </p:nvSpPr>
        <p:spPr>
          <a:xfrm>
            <a:off x="9293227" y="33242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38" name="TextBox 37">
            <a:extLst>
              <a:ext uri="{FF2B5EF4-FFF2-40B4-BE49-F238E27FC236}">
                <a16:creationId xmlns:a16="http://schemas.microsoft.com/office/drawing/2014/main" id="{E435E95E-A75D-4CD7-5F06-DB692B231C3E}"/>
              </a:ext>
            </a:extLst>
          </p:cNvPr>
          <p:cNvSpPr txBox="1"/>
          <p:nvPr/>
        </p:nvSpPr>
        <p:spPr>
          <a:xfrm>
            <a:off x="9448563" y="3396734"/>
            <a:ext cx="1467068" cy="369332"/>
          </a:xfrm>
          <a:prstGeom prst="rect">
            <a:avLst/>
          </a:prstGeom>
          <a:noFill/>
        </p:spPr>
        <p:txBody>
          <a:bodyPr wrap="none" rtlCol="0">
            <a:spAutoFit/>
          </a:bodyPr>
          <a:lstStyle/>
          <a:p>
            <a:r>
              <a:rPr lang="en-US" dirty="0">
                <a:solidFill>
                  <a:schemeClr val="bg2"/>
                </a:solidFill>
              </a:rPr>
              <a:t>HDFS Client</a:t>
            </a:r>
          </a:p>
        </p:txBody>
      </p:sp>
      <p:sp>
        <p:nvSpPr>
          <p:cNvPr id="39" name="Oval 38">
            <a:extLst>
              <a:ext uri="{FF2B5EF4-FFF2-40B4-BE49-F238E27FC236}">
                <a16:creationId xmlns:a16="http://schemas.microsoft.com/office/drawing/2014/main" id="{9F4DA78D-1AAD-C00D-E20A-D3764AABBB80}"/>
              </a:ext>
            </a:extLst>
          </p:cNvPr>
          <p:cNvSpPr/>
          <p:nvPr/>
        </p:nvSpPr>
        <p:spPr>
          <a:xfrm>
            <a:off x="9293227" y="2676525"/>
            <a:ext cx="1746248" cy="47625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40" name="TextBox 39">
            <a:extLst>
              <a:ext uri="{FF2B5EF4-FFF2-40B4-BE49-F238E27FC236}">
                <a16:creationId xmlns:a16="http://schemas.microsoft.com/office/drawing/2014/main" id="{36A49A1D-F345-9FFE-18D1-F5DDC6DFEE69}"/>
              </a:ext>
            </a:extLst>
          </p:cNvPr>
          <p:cNvSpPr txBox="1"/>
          <p:nvPr/>
        </p:nvSpPr>
        <p:spPr>
          <a:xfrm>
            <a:off x="9829563" y="2749034"/>
            <a:ext cx="595035" cy="369332"/>
          </a:xfrm>
          <a:prstGeom prst="rect">
            <a:avLst/>
          </a:prstGeom>
          <a:noFill/>
        </p:spPr>
        <p:txBody>
          <a:bodyPr wrap="none" rtlCol="0">
            <a:spAutoFit/>
          </a:bodyPr>
          <a:lstStyle/>
          <a:p>
            <a:r>
              <a:rPr lang="en-US" dirty="0"/>
              <a:t>App</a:t>
            </a:r>
          </a:p>
        </p:txBody>
      </p:sp>
      <p:sp>
        <p:nvSpPr>
          <p:cNvPr id="41" name="TextBox 40">
            <a:extLst>
              <a:ext uri="{FF2B5EF4-FFF2-40B4-BE49-F238E27FC236}">
                <a16:creationId xmlns:a16="http://schemas.microsoft.com/office/drawing/2014/main" id="{3D4427C0-B8C1-09BC-648E-699016546F1C}"/>
              </a:ext>
            </a:extLst>
          </p:cNvPr>
          <p:cNvSpPr txBox="1"/>
          <p:nvPr/>
        </p:nvSpPr>
        <p:spPr>
          <a:xfrm>
            <a:off x="15696168" y="2927836"/>
            <a:ext cx="1903085" cy="646331"/>
          </a:xfrm>
          <a:prstGeom prst="rect">
            <a:avLst/>
          </a:prstGeom>
          <a:noFill/>
        </p:spPr>
        <p:txBody>
          <a:bodyPr wrap="none" rtlCol="0">
            <a:spAutoFit/>
          </a:bodyPr>
          <a:lstStyle/>
          <a:p>
            <a:r>
              <a:rPr lang="en-US" b="1" dirty="0">
                <a:solidFill>
                  <a:schemeClr val="bg2"/>
                </a:solidFill>
              </a:rPr>
              <a:t>Hadoop Cluster</a:t>
            </a:r>
          </a:p>
          <a:p>
            <a:pPr algn="ctr"/>
            <a:r>
              <a:rPr lang="en-US" b="1" dirty="0">
                <a:solidFill>
                  <a:schemeClr val="bg2"/>
                </a:solidFill>
              </a:rPr>
              <a:t>(HDFS View)</a:t>
            </a:r>
          </a:p>
        </p:txBody>
      </p:sp>
      <p:sp>
        <p:nvSpPr>
          <p:cNvPr id="42" name="TextBox 41">
            <a:extLst>
              <a:ext uri="{FF2B5EF4-FFF2-40B4-BE49-F238E27FC236}">
                <a16:creationId xmlns:a16="http://schemas.microsoft.com/office/drawing/2014/main" id="{7C17F030-2F21-EDCE-89D3-B665EB6D1153}"/>
              </a:ext>
            </a:extLst>
          </p:cNvPr>
          <p:cNvSpPr txBox="1"/>
          <p:nvPr/>
        </p:nvSpPr>
        <p:spPr>
          <a:xfrm>
            <a:off x="10702798" y="7473434"/>
            <a:ext cx="787395" cy="338554"/>
          </a:xfrm>
          <a:prstGeom prst="rect">
            <a:avLst/>
          </a:prstGeom>
          <a:noFill/>
        </p:spPr>
        <p:txBody>
          <a:bodyPr wrap="none" rtlCol="0">
            <a:spAutoFit/>
          </a:bodyPr>
          <a:lstStyle/>
          <a:p>
            <a:pPr algn="ctr"/>
            <a:r>
              <a:rPr lang="en-US" sz="1600" dirty="0"/>
              <a:t>Blocks</a:t>
            </a:r>
          </a:p>
        </p:txBody>
      </p:sp>
      <p:sp>
        <p:nvSpPr>
          <p:cNvPr id="43" name="TextBox 42">
            <a:extLst>
              <a:ext uri="{FF2B5EF4-FFF2-40B4-BE49-F238E27FC236}">
                <a16:creationId xmlns:a16="http://schemas.microsoft.com/office/drawing/2014/main" id="{C00366A2-3D6E-9517-2F85-FA54B7D3FE79}"/>
              </a:ext>
            </a:extLst>
          </p:cNvPr>
          <p:cNvSpPr txBox="1"/>
          <p:nvPr/>
        </p:nvSpPr>
        <p:spPr>
          <a:xfrm>
            <a:off x="13225712" y="7473434"/>
            <a:ext cx="787395" cy="338554"/>
          </a:xfrm>
          <a:prstGeom prst="rect">
            <a:avLst/>
          </a:prstGeom>
          <a:noFill/>
        </p:spPr>
        <p:txBody>
          <a:bodyPr wrap="none" rtlCol="0">
            <a:spAutoFit/>
          </a:bodyPr>
          <a:lstStyle/>
          <a:p>
            <a:pPr algn="ctr"/>
            <a:r>
              <a:rPr lang="en-US" sz="1600" dirty="0"/>
              <a:t>Blocks</a:t>
            </a:r>
          </a:p>
        </p:txBody>
      </p:sp>
      <p:sp>
        <p:nvSpPr>
          <p:cNvPr id="44" name="TextBox 43">
            <a:extLst>
              <a:ext uri="{FF2B5EF4-FFF2-40B4-BE49-F238E27FC236}">
                <a16:creationId xmlns:a16="http://schemas.microsoft.com/office/drawing/2014/main" id="{1819A159-1C60-7B4A-396D-AFEAA76E4804}"/>
              </a:ext>
            </a:extLst>
          </p:cNvPr>
          <p:cNvSpPr txBox="1"/>
          <p:nvPr/>
        </p:nvSpPr>
        <p:spPr>
          <a:xfrm>
            <a:off x="15702212" y="7473434"/>
            <a:ext cx="787395" cy="338554"/>
          </a:xfrm>
          <a:prstGeom prst="rect">
            <a:avLst/>
          </a:prstGeom>
          <a:noFill/>
        </p:spPr>
        <p:txBody>
          <a:bodyPr wrap="none" rtlCol="0">
            <a:spAutoFit/>
          </a:bodyPr>
          <a:lstStyle/>
          <a:p>
            <a:pPr algn="ctr"/>
            <a:r>
              <a:rPr lang="en-US" sz="1600" dirty="0"/>
              <a:t>Blocks</a:t>
            </a:r>
          </a:p>
        </p:txBody>
      </p:sp>
      <p:sp>
        <p:nvSpPr>
          <p:cNvPr id="45" name="Rectangle 44">
            <a:extLst>
              <a:ext uri="{FF2B5EF4-FFF2-40B4-BE49-F238E27FC236}">
                <a16:creationId xmlns:a16="http://schemas.microsoft.com/office/drawing/2014/main" id="{A25088DB-29B2-4B62-78B4-F138090C3240}"/>
              </a:ext>
            </a:extLst>
          </p:cNvPr>
          <p:cNvSpPr/>
          <p:nvPr/>
        </p:nvSpPr>
        <p:spPr>
          <a:xfrm>
            <a:off x="13374772" y="5542893"/>
            <a:ext cx="3843481"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Heartbeats, Block Reports, Block Mgmt.</a:t>
            </a:r>
          </a:p>
        </p:txBody>
      </p:sp>
      <p:sp>
        <p:nvSpPr>
          <p:cNvPr id="46" name="Rectangle 45">
            <a:extLst>
              <a:ext uri="{FF2B5EF4-FFF2-40B4-BE49-F238E27FC236}">
                <a16:creationId xmlns:a16="http://schemas.microsoft.com/office/drawing/2014/main" id="{A2E8BE83-2851-E18B-EA8E-500AC76F4F45}"/>
              </a:ext>
            </a:extLst>
          </p:cNvPr>
          <p:cNvSpPr/>
          <p:nvPr/>
        </p:nvSpPr>
        <p:spPr>
          <a:xfrm>
            <a:off x="8932721" y="4510060"/>
            <a:ext cx="246888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Read and Write Blocks</a:t>
            </a:r>
          </a:p>
        </p:txBody>
      </p:sp>
      <p:sp>
        <p:nvSpPr>
          <p:cNvPr id="47" name="Rectangle 46">
            <a:extLst>
              <a:ext uri="{FF2B5EF4-FFF2-40B4-BE49-F238E27FC236}">
                <a16:creationId xmlns:a16="http://schemas.microsoft.com/office/drawing/2014/main" id="{DA019830-246E-6033-42AC-8F2F8EDED326}"/>
              </a:ext>
            </a:extLst>
          </p:cNvPr>
          <p:cNvSpPr/>
          <p:nvPr/>
        </p:nvSpPr>
        <p:spPr>
          <a:xfrm>
            <a:off x="11469995" y="3193255"/>
            <a:ext cx="1828800" cy="40695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Obtain Metadata</a:t>
            </a:r>
          </a:p>
        </p:txBody>
      </p:sp>
      <p:cxnSp>
        <p:nvCxnSpPr>
          <p:cNvPr id="48" name="Curved Connector 47">
            <a:extLst>
              <a:ext uri="{FF2B5EF4-FFF2-40B4-BE49-F238E27FC236}">
                <a16:creationId xmlns:a16="http://schemas.microsoft.com/office/drawing/2014/main" id="{10F79754-2974-3813-9E60-A40E00866465}"/>
              </a:ext>
            </a:extLst>
          </p:cNvPr>
          <p:cNvCxnSpPr>
            <a:stCxn id="37" idx="6"/>
            <a:endCxn id="47" idx="0"/>
          </p:cNvCxnSpPr>
          <p:nvPr/>
        </p:nvCxnSpPr>
        <p:spPr>
          <a:xfrm flipV="1">
            <a:off x="11039475" y="3193255"/>
            <a:ext cx="1344920" cy="369095"/>
          </a:xfrm>
          <a:prstGeom prst="curvedConnector4">
            <a:avLst>
              <a:gd name="adj1" fmla="val 16005"/>
              <a:gd name="adj2" fmla="val 161935"/>
            </a:avLst>
          </a:prstGeom>
        </p:spPr>
        <p:style>
          <a:lnRef idx="2">
            <a:schemeClr val="accent1"/>
          </a:lnRef>
          <a:fillRef idx="0">
            <a:schemeClr val="accent1"/>
          </a:fillRef>
          <a:effectRef idx="1">
            <a:schemeClr val="accent1"/>
          </a:effectRef>
          <a:fontRef idx="minor">
            <a:schemeClr val="tx1"/>
          </a:fontRef>
        </p:style>
      </p:cxnSp>
      <p:cxnSp>
        <p:nvCxnSpPr>
          <p:cNvPr id="49" name="Curved Connector 48">
            <a:extLst>
              <a:ext uri="{FF2B5EF4-FFF2-40B4-BE49-F238E27FC236}">
                <a16:creationId xmlns:a16="http://schemas.microsoft.com/office/drawing/2014/main" id="{D1676827-E406-AD9E-55E3-C9C2F98C2E31}"/>
              </a:ext>
            </a:extLst>
          </p:cNvPr>
          <p:cNvCxnSpPr>
            <a:cxnSpLocks/>
            <a:stCxn id="47" idx="2"/>
            <a:endCxn id="68" idx="2"/>
          </p:cNvCxnSpPr>
          <p:nvPr/>
        </p:nvCxnSpPr>
        <p:spPr>
          <a:xfrm rot="16200000" flipH="1">
            <a:off x="12968794" y="3015813"/>
            <a:ext cx="559683" cy="1728481"/>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0" name="Curved Connector 49">
            <a:extLst>
              <a:ext uri="{FF2B5EF4-FFF2-40B4-BE49-F238E27FC236}">
                <a16:creationId xmlns:a16="http://schemas.microsoft.com/office/drawing/2014/main" id="{64616CFF-D5AC-7F7D-BAD5-C4F211B9A909}"/>
              </a:ext>
            </a:extLst>
          </p:cNvPr>
          <p:cNvCxnSpPr>
            <a:cxnSpLocks/>
            <a:stCxn id="37" idx="4"/>
            <a:endCxn id="46" idx="0"/>
          </p:cNvCxnSpPr>
          <p:nvPr/>
        </p:nvCxnSpPr>
        <p:spPr>
          <a:xfrm rot="16200000" flipH="1">
            <a:off x="9811964" y="4154862"/>
            <a:ext cx="709585" cy="81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A40C17B7-6E90-99C7-EFB8-0C51CC15A938}"/>
              </a:ext>
            </a:extLst>
          </p:cNvPr>
          <p:cNvCxnSpPr>
            <a:cxnSpLocks/>
            <a:stCxn id="18" idx="0"/>
            <a:endCxn id="46" idx="2"/>
          </p:cNvCxnSpPr>
          <p:nvPr/>
        </p:nvCxnSpPr>
        <p:spPr>
          <a:xfrm rot="16200000" flipV="1">
            <a:off x="9886828" y="5197352"/>
            <a:ext cx="1512357" cy="95169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2" name="Curved Connector 51">
            <a:extLst>
              <a:ext uri="{FF2B5EF4-FFF2-40B4-BE49-F238E27FC236}">
                <a16:creationId xmlns:a16="http://schemas.microsoft.com/office/drawing/2014/main" id="{4CE948B0-6AF7-EBF0-CDD9-D6E283F99077}"/>
              </a:ext>
            </a:extLst>
          </p:cNvPr>
          <p:cNvCxnSpPr>
            <a:cxnSpLocks/>
            <a:stCxn id="18" idx="0"/>
            <a:endCxn id="45" idx="2"/>
          </p:cNvCxnSpPr>
          <p:nvPr/>
        </p:nvCxnSpPr>
        <p:spPr>
          <a:xfrm rot="5400000" flipH="1" flipV="1">
            <a:off x="12967920" y="4100782"/>
            <a:ext cx="479524" cy="4177662"/>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urved Connector 52">
            <a:extLst>
              <a:ext uri="{FF2B5EF4-FFF2-40B4-BE49-F238E27FC236}">
                <a16:creationId xmlns:a16="http://schemas.microsoft.com/office/drawing/2014/main" id="{5A315E2F-5DA1-DC1D-017D-278354DBBD79}"/>
              </a:ext>
            </a:extLst>
          </p:cNvPr>
          <p:cNvCxnSpPr>
            <a:cxnSpLocks/>
            <a:stCxn id="20" idx="0"/>
            <a:endCxn id="45" idx="2"/>
          </p:cNvCxnSpPr>
          <p:nvPr/>
        </p:nvCxnSpPr>
        <p:spPr>
          <a:xfrm rot="5400000" flipH="1" flipV="1">
            <a:off x="14223632" y="5356495"/>
            <a:ext cx="479524" cy="1666237"/>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4" name="Curved Connector 53">
            <a:extLst>
              <a:ext uri="{FF2B5EF4-FFF2-40B4-BE49-F238E27FC236}">
                <a16:creationId xmlns:a16="http://schemas.microsoft.com/office/drawing/2014/main" id="{63820AE7-CEC9-9CAF-BEF3-CCAA76C197B2}"/>
              </a:ext>
            </a:extLst>
          </p:cNvPr>
          <p:cNvCxnSpPr>
            <a:cxnSpLocks/>
            <a:stCxn id="22" idx="0"/>
            <a:endCxn id="45" idx="2"/>
          </p:cNvCxnSpPr>
          <p:nvPr/>
        </p:nvCxnSpPr>
        <p:spPr>
          <a:xfrm rot="16200000" flipV="1">
            <a:off x="15479345" y="5767019"/>
            <a:ext cx="479524" cy="845188"/>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7CA38732-11B8-3588-5E36-FD0B90CBF729}"/>
              </a:ext>
            </a:extLst>
          </p:cNvPr>
          <p:cNvCxnSpPr>
            <a:cxnSpLocks/>
            <a:stCxn id="45" idx="0"/>
            <a:endCxn id="67" idx="2"/>
          </p:cNvCxnSpPr>
          <p:nvPr/>
        </p:nvCxnSpPr>
        <p:spPr>
          <a:xfrm rot="16200000" flipV="1">
            <a:off x="14950235" y="5196614"/>
            <a:ext cx="382044" cy="310513"/>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D7E2C613-F7F5-B744-2E13-327CEFE14003}"/>
              </a:ext>
            </a:extLst>
          </p:cNvPr>
          <p:cNvSpPr/>
          <p:nvPr/>
        </p:nvSpPr>
        <p:spPr>
          <a:xfrm>
            <a:off x="12708256" y="8087770"/>
            <a:ext cx="192024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Block Replication</a:t>
            </a:r>
          </a:p>
        </p:txBody>
      </p:sp>
      <p:cxnSp>
        <p:nvCxnSpPr>
          <p:cNvPr id="57" name="Curved Connector 56">
            <a:extLst>
              <a:ext uri="{FF2B5EF4-FFF2-40B4-BE49-F238E27FC236}">
                <a16:creationId xmlns:a16="http://schemas.microsoft.com/office/drawing/2014/main" id="{73D170BB-286B-2631-B188-59F8A70572B1}"/>
              </a:ext>
            </a:extLst>
          </p:cNvPr>
          <p:cNvCxnSpPr>
            <a:cxnSpLocks/>
            <a:stCxn id="56" idx="1"/>
            <a:endCxn id="18" idx="2"/>
          </p:cNvCxnSpPr>
          <p:nvPr/>
        </p:nvCxnSpPr>
        <p:spPr>
          <a:xfrm rot="10800000">
            <a:off x="11118852" y="7839903"/>
            <a:ext cx="1589405" cy="451346"/>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8" name="Curved Connector 57">
            <a:extLst>
              <a:ext uri="{FF2B5EF4-FFF2-40B4-BE49-F238E27FC236}">
                <a16:creationId xmlns:a16="http://schemas.microsoft.com/office/drawing/2014/main" id="{F3898964-A489-AD46-3631-EF5428ABB917}"/>
              </a:ext>
            </a:extLst>
          </p:cNvPr>
          <p:cNvCxnSpPr>
            <a:cxnSpLocks/>
            <a:stCxn id="22" idx="2"/>
            <a:endCxn id="56" idx="3"/>
          </p:cNvCxnSpPr>
          <p:nvPr/>
        </p:nvCxnSpPr>
        <p:spPr>
          <a:xfrm rot="5400000">
            <a:off x="15159426" y="7308974"/>
            <a:ext cx="451346" cy="1513205"/>
          </a:xfrm>
          <a:prstGeom prst="curvedConnector2">
            <a:avLst/>
          </a:prstGeom>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CEC9F1C1-682B-7558-859D-186AC27617CA}"/>
              </a:ext>
            </a:extLst>
          </p:cNvPr>
          <p:cNvGrpSpPr/>
          <p:nvPr/>
        </p:nvGrpSpPr>
        <p:grpSpPr>
          <a:xfrm>
            <a:off x="15239364" y="3878648"/>
            <a:ext cx="2082802" cy="1410528"/>
            <a:chOff x="14096999" y="3902721"/>
            <a:chExt cx="2082802" cy="1410528"/>
          </a:xfrm>
        </p:grpSpPr>
        <p:sp>
          <p:nvSpPr>
            <p:cNvPr id="60" name="Rectangle 59">
              <a:extLst>
                <a:ext uri="{FF2B5EF4-FFF2-40B4-BE49-F238E27FC236}">
                  <a16:creationId xmlns:a16="http://schemas.microsoft.com/office/drawing/2014/main" id="{7CBE8A17-607B-14F1-7DDA-9C24ED23B130}"/>
                </a:ext>
              </a:extLst>
            </p:cNvPr>
            <p:cNvSpPr/>
            <p:nvPr/>
          </p:nvSpPr>
          <p:spPr>
            <a:xfrm>
              <a:off x="14096999" y="39027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C49FF804-FD99-4CEA-7480-07B31B8B4762}"/>
                </a:ext>
              </a:extLst>
            </p:cNvPr>
            <p:cNvSpPr/>
            <p:nvPr/>
          </p:nvSpPr>
          <p:spPr>
            <a:xfrm>
              <a:off x="14265276" y="40741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2" name="TextBox 61">
              <a:extLst>
                <a:ext uri="{FF2B5EF4-FFF2-40B4-BE49-F238E27FC236}">
                  <a16:creationId xmlns:a16="http://schemas.microsoft.com/office/drawing/2014/main" id="{6441CD28-BE65-17B6-68CF-E3D99A8E8556}"/>
                </a:ext>
              </a:extLst>
            </p:cNvPr>
            <p:cNvSpPr txBox="1"/>
            <p:nvPr/>
          </p:nvSpPr>
          <p:spPr>
            <a:xfrm>
              <a:off x="14462574" y="4127630"/>
              <a:ext cx="1351652" cy="369332"/>
            </a:xfrm>
            <a:prstGeom prst="rect">
              <a:avLst/>
            </a:prstGeom>
            <a:noFill/>
          </p:spPr>
          <p:txBody>
            <a:bodyPr wrap="square" rtlCol="0">
              <a:spAutoFit/>
            </a:bodyPr>
            <a:lstStyle/>
            <a:p>
              <a:r>
                <a:rPr lang="en-US" dirty="0">
                  <a:solidFill>
                    <a:schemeClr val="bg2"/>
                  </a:solidFill>
                </a:rPr>
                <a:t>NameNode</a:t>
              </a:r>
            </a:p>
          </p:txBody>
        </p:sp>
        <p:sp>
          <p:nvSpPr>
            <p:cNvPr id="63" name="Rectangle 62">
              <a:extLst>
                <a:ext uri="{FF2B5EF4-FFF2-40B4-BE49-F238E27FC236}">
                  <a16:creationId xmlns:a16="http://schemas.microsoft.com/office/drawing/2014/main" id="{F42190F8-4C80-3883-BC4B-27CAC5744DF6}"/>
                </a:ext>
              </a:extLst>
            </p:cNvPr>
            <p:cNvSpPr>
              <a:spLocks/>
            </p:cNvSpPr>
            <p:nvPr/>
          </p:nvSpPr>
          <p:spPr>
            <a:xfrm>
              <a:off x="14494330" y="47895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64" name="TextBox 63">
              <a:extLst>
                <a:ext uri="{FF2B5EF4-FFF2-40B4-BE49-F238E27FC236}">
                  <a16:creationId xmlns:a16="http://schemas.microsoft.com/office/drawing/2014/main" id="{626027B7-F37F-A955-5855-253D39AFE77D}"/>
                </a:ext>
              </a:extLst>
            </p:cNvPr>
            <p:cNvSpPr txBox="1"/>
            <p:nvPr/>
          </p:nvSpPr>
          <p:spPr>
            <a:xfrm>
              <a:off x="14557377" y="4785981"/>
              <a:ext cx="1146468" cy="369332"/>
            </a:xfrm>
            <a:prstGeom prst="rect">
              <a:avLst/>
            </a:prstGeom>
            <a:noFill/>
          </p:spPr>
          <p:txBody>
            <a:bodyPr wrap="square" rtlCol="0">
              <a:spAutoFit/>
            </a:bodyPr>
            <a:lstStyle/>
            <a:p>
              <a:r>
                <a:rPr lang="en-US" dirty="0">
                  <a:solidFill>
                    <a:schemeClr val="bg2"/>
                  </a:solidFill>
                </a:rPr>
                <a:t>Metadata</a:t>
              </a:r>
            </a:p>
          </p:txBody>
        </p:sp>
      </p:grpSp>
      <p:cxnSp>
        <p:nvCxnSpPr>
          <p:cNvPr id="65" name="Curved Connector 64">
            <a:extLst>
              <a:ext uri="{FF2B5EF4-FFF2-40B4-BE49-F238E27FC236}">
                <a16:creationId xmlns:a16="http://schemas.microsoft.com/office/drawing/2014/main" id="{E029389A-9268-25F7-71DF-ACAB59693A80}"/>
              </a:ext>
            </a:extLst>
          </p:cNvPr>
          <p:cNvCxnSpPr>
            <a:cxnSpLocks/>
            <a:stCxn id="56" idx="0"/>
          </p:cNvCxnSpPr>
          <p:nvPr/>
        </p:nvCxnSpPr>
        <p:spPr>
          <a:xfrm rot="16200000" flipV="1">
            <a:off x="13543772" y="7963166"/>
            <a:ext cx="200243" cy="48966"/>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6" name="Curved Connector 65">
            <a:extLst>
              <a:ext uri="{FF2B5EF4-FFF2-40B4-BE49-F238E27FC236}">
                <a16:creationId xmlns:a16="http://schemas.microsoft.com/office/drawing/2014/main" id="{B543A99A-5F72-4F0E-14D6-2BC2927B2028}"/>
              </a:ext>
            </a:extLst>
          </p:cNvPr>
          <p:cNvCxnSpPr>
            <a:cxnSpLocks/>
            <a:stCxn id="20" idx="0"/>
            <a:endCxn id="46" idx="2"/>
          </p:cNvCxnSpPr>
          <p:nvPr/>
        </p:nvCxnSpPr>
        <p:spPr>
          <a:xfrm rot="16200000" flipV="1">
            <a:off x="11142541" y="3941639"/>
            <a:ext cx="1512357" cy="3463115"/>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10AE3BC3-003A-DBAA-4217-DE192889EA56}"/>
              </a:ext>
            </a:extLst>
          </p:cNvPr>
          <p:cNvSpPr/>
          <p:nvPr/>
        </p:nvSpPr>
        <p:spPr>
          <a:xfrm>
            <a:off x="13944599" y="37503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DDF6E07-C1A3-D6C3-FD7F-82BD7D61D337}"/>
              </a:ext>
            </a:extLst>
          </p:cNvPr>
          <p:cNvSpPr/>
          <p:nvPr/>
        </p:nvSpPr>
        <p:spPr>
          <a:xfrm>
            <a:off x="14112876" y="39217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9" name="TextBox 68">
            <a:extLst>
              <a:ext uri="{FF2B5EF4-FFF2-40B4-BE49-F238E27FC236}">
                <a16:creationId xmlns:a16="http://schemas.microsoft.com/office/drawing/2014/main" id="{9E34809A-7F71-D6F7-10DE-7465E05B5D25}"/>
              </a:ext>
            </a:extLst>
          </p:cNvPr>
          <p:cNvSpPr txBox="1"/>
          <p:nvPr/>
        </p:nvSpPr>
        <p:spPr>
          <a:xfrm>
            <a:off x="14310174" y="3975230"/>
            <a:ext cx="1351652" cy="369332"/>
          </a:xfrm>
          <a:prstGeom prst="rect">
            <a:avLst/>
          </a:prstGeom>
          <a:noFill/>
        </p:spPr>
        <p:txBody>
          <a:bodyPr wrap="square" rtlCol="0">
            <a:spAutoFit/>
          </a:bodyPr>
          <a:lstStyle/>
          <a:p>
            <a:r>
              <a:rPr lang="en-US" dirty="0">
                <a:solidFill>
                  <a:schemeClr val="bg2"/>
                </a:solidFill>
              </a:rPr>
              <a:t>NameNode</a:t>
            </a:r>
          </a:p>
        </p:txBody>
      </p:sp>
      <p:sp>
        <p:nvSpPr>
          <p:cNvPr id="70" name="Rectangle 69">
            <a:extLst>
              <a:ext uri="{FF2B5EF4-FFF2-40B4-BE49-F238E27FC236}">
                <a16:creationId xmlns:a16="http://schemas.microsoft.com/office/drawing/2014/main" id="{E52176E2-342B-18A1-96BA-C74AF3E5635D}"/>
              </a:ext>
            </a:extLst>
          </p:cNvPr>
          <p:cNvSpPr>
            <a:spLocks/>
          </p:cNvSpPr>
          <p:nvPr/>
        </p:nvSpPr>
        <p:spPr>
          <a:xfrm>
            <a:off x="14341930" y="46371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71" name="TextBox 70">
            <a:extLst>
              <a:ext uri="{FF2B5EF4-FFF2-40B4-BE49-F238E27FC236}">
                <a16:creationId xmlns:a16="http://schemas.microsoft.com/office/drawing/2014/main" id="{FBA8F60C-3529-075E-6ECE-2F4192FB8C9E}"/>
              </a:ext>
            </a:extLst>
          </p:cNvPr>
          <p:cNvSpPr txBox="1"/>
          <p:nvPr/>
        </p:nvSpPr>
        <p:spPr>
          <a:xfrm>
            <a:off x="14404977" y="4633581"/>
            <a:ext cx="1146468" cy="369332"/>
          </a:xfrm>
          <a:prstGeom prst="rect">
            <a:avLst/>
          </a:prstGeom>
          <a:noFill/>
        </p:spPr>
        <p:txBody>
          <a:bodyPr wrap="square" rtlCol="0">
            <a:spAutoFit/>
          </a:bodyPr>
          <a:lstStyle/>
          <a:p>
            <a:r>
              <a:rPr lang="en-US" dirty="0">
                <a:solidFill>
                  <a:schemeClr val="bg2"/>
                </a:solidFill>
              </a:rPr>
              <a:t>Metadata</a:t>
            </a:r>
          </a:p>
        </p:txBody>
      </p:sp>
    </p:spTree>
    <p:extLst>
      <p:ext uri="{BB962C8B-B14F-4D97-AF65-F5344CB8AC3E}">
        <p14:creationId xmlns:p14="http://schemas.microsoft.com/office/powerpoint/2010/main" val="535569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4800" dirty="0"/>
              <a:t>Hadoop Distributed File System </a:t>
            </a:r>
            <a:r>
              <a:rPr lang="en-US" sz="5000" dirty="0"/>
              <a:t>Client</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324100"/>
            <a:ext cx="718129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200" dirty="0">
                <a:solidFill>
                  <a:schemeClr val="bg2"/>
                </a:solidFill>
              </a:rPr>
              <a:t>Supports interaction with HDFS on behalf of an application by communicating with NameNode(s) and DataNode(s)</a:t>
            </a:r>
          </a:p>
        </p:txBody>
      </p:sp>
      <p:sp>
        <p:nvSpPr>
          <p:cNvPr id="5" name="Rectangle 4">
            <a:extLst>
              <a:ext uri="{FF2B5EF4-FFF2-40B4-BE49-F238E27FC236}">
                <a16:creationId xmlns:a16="http://schemas.microsoft.com/office/drawing/2014/main" id="{3ED4DE36-52C0-CB95-BACC-337A00B1A90C}"/>
              </a:ext>
            </a:extLst>
          </p:cNvPr>
          <p:cNvSpPr/>
          <p:nvPr/>
        </p:nvSpPr>
        <p:spPr>
          <a:xfrm>
            <a:off x="1232453" y="3895725"/>
            <a:ext cx="718129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200" dirty="0">
                <a:solidFill>
                  <a:schemeClr val="tx1"/>
                </a:solidFill>
              </a:rPr>
              <a:t>C</a:t>
            </a:r>
            <a:r>
              <a:rPr lang="en-US" sz="2200" dirty="0">
                <a:solidFill>
                  <a:schemeClr val="tx1"/>
                </a:solidFill>
                <a:effectLst/>
              </a:rPr>
              <a:t>ommunicates with the NameNode to obtain block (and DataNode) location information</a:t>
            </a:r>
            <a:endParaRPr lang="en-US" sz="2200" dirty="0">
              <a:solidFill>
                <a:schemeClr val="tx1"/>
              </a:solidFill>
            </a:endParaRPr>
          </a:p>
        </p:txBody>
      </p:sp>
      <p:sp>
        <p:nvSpPr>
          <p:cNvPr id="6" name="Rectangle 5">
            <a:extLst>
              <a:ext uri="{FF2B5EF4-FFF2-40B4-BE49-F238E27FC236}">
                <a16:creationId xmlns:a16="http://schemas.microsoft.com/office/drawing/2014/main" id="{D7AAFCEC-8CFD-2586-37E2-FB68E05134D6}"/>
              </a:ext>
            </a:extLst>
          </p:cNvPr>
          <p:cNvSpPr/>
          <p:nvPr/>
        </p:nvSpPr>
        <p:spPr>
          <a:xfrm>
            <a:off x="1232453" y="5467350"/>
            <a:ext cx="718129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200" b="0" i="0" dirty="0">
                <a:solidFill>
                  <a:schemeClr val="tx1"/>
                </a:solidFill>
                <a:effectLst/>
              </a:rPr>
              <a:t>Communicates with DataNode(s) to read and write block data</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2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2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2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7038975"/>
            <a:ext cx="718129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200" dirty="0">
                <a:solidFill>
                  <a:schemeClr val="bg2"/>
                </a:solidFill>
              </a:rPr>
              <a:t>I</a:t>
            </a:r>
            <a:r>
              <a:rPr lang="en-US" sz="2200" b="0" i="0" dirty="0">
                <a:solidFill>
                  <a:schemeClr val="bg2"/>
                </a:solidFill>
                <a:effectLst/>
              </a:rPr>
              <a:t>ncorporates error handling mechanisms to deal with node failures, data corruption, network disruptions, and other potential issues to maintain data availability and integrity</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200" dirty="0"/>
          </a:p>
        </p:txBody>
      </p:sp>
      <p:sp>
        <p:nvSpPr>
          <p:cNvPr id="16" name="Rectangle 15">
            <a:extLst>
              <a:ext uri="{FF2B5EF4-FFF2-40B4-BE49-F238E27FC236}">
                <a16:creationId xmlns:a16="http://schemas.microsoft.com/office/drawing/2014/main" id="{D104CA66-D17B-DC60-173A-6A450CC630C2}"/>
              </a:ext>
            </a:extLst>
          </p:cNvPr>
          <p:cNvSpPr/>
          <p:nvPr/>
        </p:nvSpPr>
        <p:spPr>
          <a:xfrm>
            <a:off x="13511520" y="2901938"/>
            <a:ext cx="4166879" cy="2954893"/>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7" name="Rectangle 16">
            <a:extLst>
              <a:ext uri="{FF2B5EF4-FFF2-40B4-BE49-F238E27FC236}">
                <a16:creationId xmlns:a16="http://schemas.microsoft.com/office/drawing/2014/main" id="{06A6B0E7-8FF0-C5E2-D269-8A4B7AB86E11}"/>
              </a:ext>
            </a:extLst>
          </p:cNvPr>
          <p:cNvSpPr/>
          <p:nvPr/>
        </p:nvSpPr>
        <p:spPr>
          <a:xfrm>
            <a:off x="9383994" y="5360431"/>
            <a:ext cx="8313456" cy="3293661"/>
          </a:xfrm>
          <a:prstGeom prst="rect">
            <a:avLst/>
          </a:prstGeom>
          <a:solidFill>
            <a:schemeClr val="accent6">
              <a:lumMod val="40000"/>
              <a:lumOff val="6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18" name="Rectangle 17">
            <a:extLst>
              <a:ext uri="{FF2B5EF4-FFF2-40B4-BE49-F238E27FC236}">
                <a16:creationId xmlns:a16="http://schemas.microsoft.com/office/drawing/2014/main" id="{F00F91E6-AE51-6035-29C4-5F60D98E0973}"/>
              </a:ext>
            </a:extLst>
          </p:cNvPr>
          <p:cNvSpPr/>
          <p:nvPr/>
        </p:nvSpPr>
        <p:spPr>
          <a:xfrm>
            <a:off x="1007745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14F9469C-134F-A1C1-3741-42EBF87D7906}"/>
              </a:ext>
            </a:extLst>
          </p:cNvPr>
          <p:cNvSpPr/>
          <p:nvPr/>
        </p:nvSpPr>
        <p:spPr>
          <a:xfrm>
            <a:off x="1024572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0" name="Rectangle 19">
            <a:extLst>
              <a:ext uri="{FF2B5EF4-FFF2-40B4-BE49-F238E27FC236}">
                <a16:creationId xmlns:a16="http://schemas.microsoft.com/office/drawing/2014/main" id="{568DB1AC-1D42-7DE0-ED35-E0A18E8213A9}"/>
              </a:ext>
            </a:extLst>
          </p:cNvPr>
          <p:cNvSpPr/>
          <p:nvPr/>
        </p:nvSpPr>
        <p:spPr>
          <a:xfrm>
            <a:off x="12588875"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Oval 20">
            <a:extLst>
              <a:ext uri="{FF2B5EF4-FFF2-40B4-BE49-F238E27FC236}">
                <a16:creationId xmlns:a16="http://schemas.microsoft.com/office/drawing/2014/main" id="{ABDB35E5-7321-7455-65A6-247168A6B467}"/>
              </a:ext>
            </a:extLst>
          </p:cNvPr>
          <p:cNvSpPr/>
          <p:nvPr/>
        </p:nvSpPr>
        <p:spPr>
          <a:xfrm>
            <a:off x="12757152"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2" name="Rectangle 21">
            <a:extLst>
              <a:ext uri="{FF2B5EF4-FFF2-40B4-BE49-F238E27FC236}">
                <a16:creationId xmlns:a16="http://schemas.microsoft.com/office/drawing/2014/main" id="{81DBEC0F-09A7-8031-62FE-811D57EDEFAB}"/>
              </a:ext>
            </a:extLst>
          </p:cNvPr>
          <p:cNvSpPr/>
          <p:nvPr/>
        </p:nvSpPr>
        <p:spPr>
          <a:xfrm>
            <a:off x="15100300" y="64293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3" name="Oval 22">
            <a:extLst>
              <a:ext uri="{FF2B5EF4-FFF2-40B4-BE49-F238E27FC236}">
                <a16:creationId xmlns:a16="http://schemas.microsoft.com/office/drawing/2014/main" id="{87912321-0D8F-7DC2-ECE9-A1865757136C}"/>
              </a:ext>
            </a:extLst>
          </p:cNvPr>
          <p:cNvSpPr/>
          <p:nvPr/>
        </p:nvSpPr>
        <p:spPr>
          <a:xfrm>
            <a:off x="15268577" y="66008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24" name="TextBox 23">
            <a:extLst>
              <a:ext uri="{FF2B5EF4-FFF2-40B4-BE49-F238E27FC236}">
                <a16:creationId xmlns:a16="http://schemas.microsoft.com/office/drawing/2014/main" id="{63C1DEE5-23C1-E3AC-F158-90B26B01F53B}"/>
              </a:ext>
            </a:extLst>
          </p:cNvPr>
          <p:cNvSpPr txBox="1"/>
          <p:nvPr/>
        </p:nvSpPr>
        <p:spPr>
          <a:xfrm>
            <a:off x="10515363" y="6654284"/>
            <a:ext cx="1223412" cy="369332"/>
          </a:xfrm>
          <a:prstGeom prst="rect">
            <a:avLst/>
          </a:prstGeom>
          <a:noFill/>
        </p:spPr>
        <p:txBody>
          <a:bodyPr wrap="none" rtlCol="0">
            <a:spAutoFit/>
          </a:bodyPr>
          <a:lstStyle/>
          <a:p>
            <a:r>
              <a:rPr lang="en-US" dirty="0">
                <a:solidFill>
                  <a:schemeClr val="bg2"/>
                </a:solidFill>
              </a:rPr>
              <a:t>DataNode</a:t>
            </a:r>
          </a:p>
        </p:txBody>
      </p:sp>
      <p:sp>
        <p:nvSpPr>
          <p:cNvPr id="25" name="TextBox 24">
            <a:extLst>
              <a:ext uri="{FF2B5EF4-FFF2-40B4-BE49-F238E27FC236}">
                <a16:creationId xmlns:a16="http://schemas.microsoft.com/office/drawing/2014/main" id="{EDDA36AC-5C7E-41FF-2016-F520E224AFC2}"/>
              </a:ext>
            </a:extLst>
          </p:cNvPr>
          <p:cNvSpPr txBox="1"/>
          <p:nvPr/>
        </p:nvSpPr>
        <p:spPr>
          <a:xfrm>
            <a:off x="13056670" y="6648450"/>
            <a:ext cx="1223412" cy="369332"/>
          </a:xfrm>
          <a:prstGeom prst="rect">
            <a:avLst/>
          </a:prstGeom>
          <a:noFill/>
        </p:spPr>
        <p:txBody>
          <a:bodyPr wrap="none" rtlCol="0">
            <a:spAutoFit/>
          </a:bodyPr>
          <a:lstStyle/>
          <a:p>
            <a:r>
              <a:rPr lang="en-US" dirty="0">
                <a:solidFill>
                  <a:schemeClr val="bg2"/>
                </a:solidFill>
              </a:rPr>
              <a:t>DataNode</a:t>
            </a:r>
          </a:p>
        </p:txBody>
      </p:sp>
      <p:sp>
        <p:nvSpPr>
          <p:cNvPr id="26" name="TextBox 25">
            <a:extLst>
              <a:ext uri="{FF2B5EF4-FFF2-40B4-BE49-F238E27FC236}">
                <a16:creationId xmlns:a16="http://schemas.microsoft.com/office/drawing/2014/main" id="{9A8BFE4C-B04C-2696-742F-8D534F8BC722}"/>
              </a:ext>
            </a:extLst>
          </p:cNvPr>
          <p:cNvSpPr txBox="1"/>
          <p:nvPr/>
        </p:nvSpPr>
        <p:spPr>
          <a:xfrm>
            <a:off x="15529995" y="6629400"/>
            <a:ext cx="1223412" cy="369332"/>
          </a:xfrm>
          <a:prstGeom prst="rect">
            <a:avLst/>
          </a:prstGeom>
          <a:noFill/>
        </p:spPr>
        <p:txBody>
          <a:bodyPr wrap="none" rtlCol="0">
            <a:spAutoFit/>
          </a:bodyPr>
          <a:lstStyle/>
          <a:p>
            <a:r>
              <a:rPr lang="en-US" dirty="0">
                <a:solidFill>
                  <a:schemeClr val="bg2"/>
                </a:solidFill>
              </a:rPr>
              <a:t>DataNode</a:t>
            </a:r>
          </a:p>
        </p:txBody>
      </p:sp>
      <p:sp>
        <p:nvSpPr>
          <p:cNvPr id="27" name="Rectangle 26">
            <a:extLst>
              <a:ext uri="{FF2B5EF4-FFF2-40B4-BE49-F238E27FC236}">
                <a16:creationId xmlns:a16="http://schemas.microsoft.com/office/drawing/2014/main" id="{C6EA5CB7-E903-7070-0F77-EF4E2A7D5C18}"/>
              </a:ext>
            </a:extLst>
          </p:cNvPr>
          <p:cNvSpPr>
            <a:spLocks/>
          </p:cNvSpPr>
          <p:nvPr/>
        </p:nvSpPr>
        <p:spPr>
          <a:xfrm>
            <a:off x="10530804"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28" name="Rectangle 27">
            <a:extLst>
              <a:ext uri="{FF2B5EF4-FFF2-40B4-BE49-F238E27FC236}">
                <a16:creationId xmlns:a16="http://schemas.microsoft.com/office/drawing/2014/main" id="{694C82D1-7A4E-F935-371C-DCF44F2221A1}"/>
              </a:ext>
            </a:extLst>
          </p:cNvPr>
          <p:cNvSpPr>
            <a:spLocks/>
          </p:cNvSpPr>
          <p:nvPr/>
        </p:nvSpPr>
        <p:spPr>
          <a:xfrm>
            <a:off x="10956190"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29" name="Rectangle 28">
            <a:extLst>
              <a:ext uri="{FF2B5EF4-FFF2-40B4-BE49-F238E27FC236}">
                <a16:creationId xmlns:a16="http://schemas.microsoft.com/office/drawing/2014/main" id="{0B76A44A-1585-DAD6-F5D7-EFBE90041DDB}"/>
              </a:ext>
            </a:extLst>
          </p:cNvPr>
          <p:cNvSpPr>
            <a:spLocks/>
          </p:cNvSpPr>
          <p:nvPr/>
        </p:nvSpPr>
        <p:spPr>
          <a:xfrm>
            <a:off x="11381576"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0" name="Rectangle 29">
            <a:extLst>
              <a:ext uri="{FF2B5EF4-FFF2-40B4-BE49-F238E27FC236}">
                <a16:creationId xmlns:a16="http://schemas.microsoft.com/office/drawing/2014/main" id="{6FC11EEB-AC63-5A44-252C-D2E4CAEAC0B9}"/>
              </a:ext>
            </a:extLst>
          </p:cNvPr>
          <p:cNvSpPr>
            <a:spLocks/>
          </p:cNvSpPr>
          <p:nvPr/>
        </p:nvSpPr>
        <p:spPr>
          <a:xfrm>
            <a:off x="1308613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1" name="Rectangle 30">
            <a:extLst>
              <a:ext uri="{FF2B5EF4-FFF2-40B4-BE49-F238E27FC236}">
                <a16:creationId xmlns:a16="http://schemas.microsoft.com/office/drawing/2014/main" id="{58F6D1ED-B109-19EE-F279-35728D07176D}"/>
              </a:ext>
            </a:extLst>
          </p:cNvPr>
          <p:cNvSpPr>
            <a:spLocks/>
          </p:cNvSpPr>
          <p:nvPr/>
        </p:nvSpPr>
        <p:spPr>
          <a:xfrm>
            <a:off x="1351152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2" name="Rectangle 31">
            <a:extLst>
              <a:ext uri="{FF2B5EF4-FFF2-40B4-BE49-F238E27FC236}">
                <a16:creationId xmlns:a16="http://schemas.microsoft.com/office/drawing/2014/main" id="{2286A54B-B23D-0912-E36D-7BBAC0AB34B9}"/>
              </a:ext>
            </a:extLst>
          </p:cNvPr>
          <p:cNvSpPr>
            <a:spLocks/>
          </p:cNvSpPr>
          <p:nvPr/>
        </p:nvSpPr>
        <p:spPr>
          <a:xfrm>
            <a:off x="1393690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3" name="Rectangle 32">
            <a:extLst>
              <a:ext uri="{FF2B5EF4-FFF2-40B4-BE49-F238E27FC236}">
                <a16:creationId xmlns:a16="http://schemas.microsoft.com/office/drawing/2014/main" id="{EBE88B38-A90F-C15C-0A2F-E1F0B7EA269D}"/>
              </a:ext>
            </a:extLst>
          </p:cNvPr>
          <p:cNvSpPr>
            <a:spLocks/>
          </p:cNvSpPr>
          <p:nvPr/>
        </p:nvSpPr>
        <p:spPr>
          <a:xfrm>
            <a:off x="15541055" y="7249328"/>
            <a:ext cx="274320" cy="22860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800" b="1" dirty="0">
              <a:solidFill>
                <a:srgbClr val="FFFF00"/>
              </a:solidFill>
            </a:endParaRPr>
          </a:p>
        </p:txBody>
      </p:sp>
      <p:sp>
        <p:nvSpPr>
          <p:cNvPr id="34" name="Rectangle 33">
            <a:extLst>
              <a:ext uri="{FF2B5EF4-FFF2-40B4-BE49-F238E27FC236}">
                <a16:creationId xmlns:a16="http://schemas.microsoft.com/office/drawing/2014/main" id="{BE84BB05-75AA-7DBD-AF57-309DB7FCC6C9}"/>
              </a:ext>
            </a:extLst>
          </p:cNvPr>
          <p:cNvSpPr>
            <a:spLocks/>
          </p:cNvSpPr>
          <p:nvPr/>
        </p:nvSpPr>
        <p:spPr>
          <a:xfrm>
            <a:off x="15966441" y="7249328"/>
            <a:ext cx="274320" cy="228600"/>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sz="2800" b="1" dirty="0">
              <a:solidFill>
                <a:srgbClr val="FFFF00"/>
              </a:solidFill>
            </a:endParaRPr>
          </a:p>
        </p:txBody>
      </p:sp>
      <p:sp>
        <p:nvSpPr>
          <p:cNvPr id="35" name="Rectangle 34">
            <a:extLst>
              <a:ext uri="{FF2B5EF4-FFF2-40B4-BE49-F238E27FC236}">
                <a16:creationId xmlns:a16="http://schemas.microsoft.com/office/drawing/2014/main" id="{7C98DBDD-593E-6C2E-BB0B-A42E968FEA6C}"/>
              </a:ext>
            </a:extLst>
          </p:cNvPr>
          <p:cNvSpPr>
            <a:spLocks/>
          </p:cNvSpPr>
          <p:nvPr/>
        </p:nvSpPr>
        <p:spPr>
          <a:xfrm>
            <a:off x="16391827" y="7249328"/>
            <a:ext cx="274320" cy="228600"/>
          </a:xfrm>
          <a:prstGeom prst="rect">
            <a:avLst/>
          </a:prstGeom>
          <a:solidFill>
            <a:srgbClr val="FFC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36" name="Rectangle 35">
            <a:extLst>
              <a:ext uri="{FF2B5EF4-FFF2-40B4-BE49-F238E27FC236}">
                <a16:creationId xmlns:a16="http://schemas.microsoft.com/office/drawing/2014/main" id="{9D410F0A-62A3-8A8A-C020-1F766311B321}"/>
              </a:ext>
            </a:extLst>
          </p:cNvPr>
          <p:cNvSpPr/>
          <p:nvPr/>
        </p:nvSpPr>
        <p:spPr>
          <a:xfrm>
            <a:off x="9124950" y="2543175"/>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7" name="Oval 36">
            <a:extLst>
              <a:ext uri="{FF2B5EF4-FFF2-40B4-BE49-F238E27FC236}">
                <a16:creationId xmlns:a16="http://schemas.microsoft.com/office/drawing/2014/main" id="{4A7B71AB-BB92-C0C0-2BDC-4B3D9304C2FF}"/>
              </a:ext>
            </a:extLst>
          </p:cNvPr>
          <p:cNvSpPr/>
          <p:nvPr/>
        </p:nvSpPr>
        <p:spPr>
          <a:xfrm>
            <a:off x="9293227" y="3324225"/>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38" name="TextBox 37">
            <a:extLst>
              <a:ext uri="{FF2B5EF4-FFF2-40B4-BE49-F238E27FC236}">
                <a16:creationId xmlns:a16="http://schemas.microsoft.com/office/drawing/2014/main" id="{E435E95E-A75D-4CD7-5F06-DB692B231C3E}"/>
              </a:ext>
            </a:extLst>
          </p:cNvPr>
          <p:cNvSpPr txBox="1"/>
          <p:nvPr/>
        </p:nvSpPr>
        <p:spPr>
          <a:xfrm>
            <a:off x="9448563" y="3396734"/>
            <a:ext cx="1467068" cy="369332"/>
          </a:xfrm>
          <a:prstGeom prst="rect">
            <a:avLst/>
          </a:prstGeom>
          <a:noFill/>
        </p:spPr>
        <p:txBody>
          <a:bodyPr wrap="none" rtlCol="0">
            <a:spAutoFit/>
          </a:bodyPr>
          <a:lstStyle/>
          <a:p>
            <a:r>
              <a:rPr lang="en-US" dirty="0">
                <a:solidFill>
                  <a:schemeClr val="bg2"/>
                </a:solidFill>
              </a:rPr>
              <a:t>HDFS Client</a:t>
            </a:r>
          </a:p>
        </p:txBody>
      </p:sp>
      <p:sp>
        <p:nvSpPr>
          <p:cNvPr id="39" name="Oval 38">
            <a:extLst>
              <a:ext uri="{FF2B5EF4-FFF2-40B4-BE49-F238E27FC236}">
                <a16:creationId xmlns:a16="http://schemas.microsoft.com/office/drawing/2014/main" id="{9F4DA78D-1AAD-C00D-E20A-D3764AABBB80}"/>
              </a:ext>
            </a:extLst>
          </p:cNvPr>
          <p:cNvSpPr/>
          <p:nvPr/>
        </p:nvSpPr>
        <p:spPr>
          <a:xfrm>
            <a:off x="9293227" y="2676525"/>
            <a:ext cx="1746248" cy="476250"/>
          </a:xfrm>
          <a:prstGeom prst="ellipse">
            <a:avLst/>
          </a:prstGeom>
          <a:solidFill>
            <a:srgbClr val="FFFF00"/>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b="1" dirty="0">
              <a:solidFill>
                <a:schemeClr val="bg2"/>
              </a:solidFill>
            </a:endParaRPr>
          </a:p>
        </p:txBody>
      </p:sp>
      <p:sp>
        <p:nvSpPr>
          <p:cNvPr id="40" name="TextBox 39">
            <a:extLst>
              <a:ext uri="{FF2B5EF4-FFF2-40B4-BE49-F238E27FC236}">
                <a16:creationId xmlns:a16="http://schemas.microsoft.com/office/drawing/2014/main" id="{36A49A1D-F345-9FFE-18D1-F5DDC6DFEE69}"/>
              </a:ext>
            </a:extLst>
          </p:cNvPr>
          <p:cNvSpPr txBox="1"/>
          <p:nvPr/>
        </p:nvSpPr>
        <p:spPr>
          <a:xfrm>
            <a:off x="9829563" y="2749034"/>
            <a:ext cx="595035" cy="369332"/>
          </a:xfrm>
          <a:prstGeom prst="rect">
            <a:avLst/>
          </a:prstGeom>
          <a:noFill/>
        </p:spPr>
        <p:txBody>
          <a:bodyPr wrap="none" rtlCol="0">
            <a:spAutoFit/>
          </a:bodyPr>
          <a:lstStyle/>
          <a:p>
            <a:r>
              <a:rPr lang="en-US" dirty="0"/>
              <a:t>App</a:t>
            </a:r>
          </a:p>
        </p:txBody>
      </p:sp>
      <p:sp>
        <p:nvSpPr>
          <p:cNvPr id="41" name="TextBox 40">
            <a:extLst>
              <a:ext uri="{FF2B5EF4-FFF2-40B4-BE49-F238E27FC236}">
                <a16:creationId xmlns:a16="http://schemas.microsoft.com/office/drawing/2014/main" id="{3D4427C0-B8C1-09BC-648E-699016546F1C}"/>
              </a:ext>
            </a:extLst>
          </p:cNvPr>
          <p:cNvSpPr txBox="1"/>
          <p:nvPr/>
        </p:nvSpPr>
        <p:spPr>
          <a:xfrm>
            <a:off x="15696168" y="2927836"/>
            <a:ext cx="1903085" cy="646331"/>
          </a:xfrm>
          <a:prstGeom prst="rect">
            <a:avLst/>
          </a:prstGeom>
          <a:noFill/>
        </p:spPr>
        <p:txBody>
          <a:bodyPr wrap="none" rtlCol="0">
            <a:spAutoFit/>
          </a:bodyPr>
          <a:lstStyle/>
          <a:p>
            <a:r>
              <a:rPr lang="en-US" b="1" dirty="0">
                <a:solidFill>
                  <a:schemeClr val="bg2"/>
                </a:solidFill>
              </a:rPr>
              <a:t>Hadoop Cluster</a:t>
            </a:r>
          </a:p>
          <a:p>
            <a:pPr algn="ctr"/>
            <a:r>
              <a:rPr lang="en-US" b="1" dirty="0">
                <a:solidFill>
                  <a:schemeClr val="bg2"/>
                </a:solidFill>
              </a:rPr>
              <a:t>(HDFS View)</a:t>
            </a:r>
          </a:p>
        </p:txBody>
      </p:sp>
      <p:sp>
        <p:nvSpPr>
          <p:cNvPr id="42" name="TextBox 41">
            <a:extLst>
              <a:ext uri="{FF2B5EF4-FFF2-40B4-BE49-F238E27FC236}">
                <a16:creationId xmlns:a16="http://schemas.microsoft.com/office/drawing/2014/main" id="{7C17F030-2F21-EDCE-89D3-B665EB6D1153}"/>
              </a:ext>
            </a:extLst>
          </p:cNvPr>
          <p:cNvSpPr txBox="1"/>
          <p:nvPr/>
        </p:nvSpPr>
        <p:spPr>
          <a:xfrm>
            <a:off x="10702798" y="7473434"/>
            <a:ext cx="787395" cy="338554"/>
          </a:xfrm>
          <a:prstGeom prst="rect">
            <a:avLst/>
          </a:prstGeom>
          <a:noFill/>
        </p:spPr>
        <p:txBody>
          <a:bodyPr wrap="none" rtlCol="0">
            <a:spAutoFit/>
          </a:bodyPr>
          <a:lstStyle/>
          <a:p>
            <a:pPr algn="ctr"/>
            <a:r>
              <a:rPr lang="en-US" sz="1600" dirty="0"/>
              <a:t>Blocks</a:t>
            </a:r>
          </a:p>
        </p:txBody>
      </p:sp>
      <p:sp>
        <p:nvSpPr>
          <p:cNvPr id="43" name="TextBox 42">
            <a:extLst>
              <a:ext uri="{FF2B5EF4-FFF2-40B4-BE49-F238E27FC236}">
                <a16:creationId xmlns:a16="http://schemas.microsoft.com/office/drawing/2014/main" id="{C00366A2-3D6E-9517-2F85-FA54B7D3FE79}"/>
              </a:ext>
            </a:extLst>
          </p:cNvPr>
          <p:cNvSpPr txBox="1"/>
          <p:nvPr/>
        </p:nvSpPr>
        <p:spPr>
          <a:xfrm>
            <a:off x="13225712" y="7473434"/>
            <a:ext cx="787395" cy="338554"/>
          </a:xfrm>
          <a:prstGeom prst="rect">
            <a:avLst/>
          </a:prstGeom>
          <a:noFill/>
        </p:spPr>
        <p:txBody>
          <a:bodyPr wrap="none" rtlCol="0">
            <a:spAutoFit/>
          </a:bodyPr>
          <a:lstStyle/>
          <a:p>
            <a:pPr algn="ctr"/>
            <a:r>
              <a:rPr lang="en-US" sz="1600" dirty="0"/>
              <a:t>Blocks</a:t>
            </a:r>
          </a:p>
        </p:txBody>
      </p:sp>
      <p:sp>
        <p:nvSpPr>
          <p:cNvPr id="44" name="TextBox 43">
            <a:extLst>
              <a:ext uri="{FF2B5EF4-FFF2-40B4-BE49-F238E27FC236}">
                <a16:creationId xmlns:a16="http://schemas.microsoft.com/office/drawing/2014/main" id="{1819A159-1C60-7B4A-396D-AFEAA76E4804}"/>
              </a:ext>
            </a:extLst>
          </p:cNvPr>
          <p:cNvSpPr txBox="1"/>
          <p:nvPr/>
        </p:nvSpPr>
        <p:spPr>
          <a:xfrm>
            <a:off x="15702212" y="7473434"/>
            <a:ext cx="787395" cy="338554"/>
          </a:xfrm>
          <a:prstGeom prst="rect">
            <a:avLst/>
          </a:prstGeom>
          <a:noFill/>
        </p:spPr>
        <p:txBody>
          <a:bodyPr wrap="none" rtlCol="0">
            <a:spAutoFit/>
          </a:bodyPr>
          <a:lstStyle/>
          <a:p>
            <a:pPr algn="ctr"/>
            <a:r>
              <a:rPr lang="en-US" sz="1600" dirty="0"/>
              <a:t>Blocks</a:t>
            </a:r>
          </a:p>
        </p:txBody>
      </p:sp>
      <p:sp>
        <p:nvSpPr>
          <p:cNvPr id="45" name="Rectangle 44">
            <a:extLst>
              <a:ext uri="{FF2B5EF4-FFF2-40B4-BE49-F238E27FC236}">
                <a16:creationId xmlns:a16="http://schemas.microsoft.com/office/drawing/2014/main" id="{A25088DB-29B2-4B62-78B4-F138090C3240}"/>
              </a:ext>
            </a:extLst>
          </p:cNvPr>
          <p:cNvSpPr/>
          <p:nvPr/>
        </p:nvSpPr>
        <p:spPr>
          <a:xfrm>
            <a:off x="13374772" y="5542893"/>
            <a:ext cx="3843481"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Heartbeats, Block Reports, Block Mgmt.</a:t>
            </a:r>
          </a:p>
        </p:txBody>
      </p:sp>
      <p:sp>
        <p:nvSpPr>
          <p:cNvPr id="46" name="Rectangle 45">
            <a:extLst>
              <a:ext uri="{FF2B5EF4-FFF2-40B4-BE49-F238E27FC236}">
                <a16:creationId xmlns:a16="http://schemas.microsoft.com/office/drawing/2014/main" id="{A2E8BE83-2851-E18B-EA8E-500AC76F4F45}"/>
              </a:ext>
            </a:extLst>
          </p:cNvPr>
          <p:cNvSpPr/>
          <p:nvPr/>
        </p:nvSpPr>
        <p:spPr>
          <a:xfrm>
            <a:off x="8932721" y="4510060"/>
            <a:ext cx="246888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Read and Write Blocks</a:t>
            </a:r>
          </a:p>
        </p:txBody>
      </p:sp>
      <p:sp>
        <p:nvSpPr>
          <p:cNvPr id="47" name="Rectangle 46">
            <a:extLst>
              <a:ext uri="{FF2B5EF4-FFF2-40B4-BE49-F238E27FC236}">
                <a16:creationId xmlns:a16="http://schemas.microsoft.com/office/drawing/2014/main" id="{DA019830-246E-6033-42AC-8F2F8EDED326}"/>
              </a:ext>
            </a:extLst>
          </p:cNvPr>
          <p:cNvSpPr/>
          <p:nvPr/>
        </p:nvSpPr>
        <p:spPr>
          <a:xfrm>
            <a:off x="11469995" y="3193255"/>
            <a:ext cx="1828800" cy="40695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Obtain Metadata</a:t>
            </a:r>
          </a:p>
        </p:txBody>
      </p:sp>
      <p:cxnSp>
        <p:nvCxnSpPr>
          <p:cNvPr id="48" name="Curved Connector 47">
            <a:extLst>
              <a:ext uri="{FF2B5EF4-FFF2-40B4-BE49-F238E27FC236}">
                <a16:creationId xmlns:a16="http://schemas.microsoft.com/office/drawing/2014/main" id="{10F79754-2974-3813-9E60-A40E00866465}"/>
              </a:ext>
            </a:extLst>
          </p:cNvPr>
          <p:cNvCxnSpPr>
            <a:stCxn id="37" idx="6"/>
            <a:endCxn id="47" idx="0"/>
          </p:cNvCxnSpPr>
          <p:nvPr/>
        </p:nvCxnSpPr>
        <p:spPr>
          <a:xfrm flipV="1">
            <a:off x="11039475" y="3193255"/>
            <a:ext cx="1344920" cy="369095"/>
          </a:xfrm>
          <a:prstGeom prst="curvedConnector4">
            <a:avLst>
              <a:gd name="adj1" fmla="val 16005"/>
              <a:gd name="adj2" fmla="val 161935"/>
            </a:avLst>
          </a:prstGeom>
        </p:spPr>
        <p:style>
          <a:lnRef idx="2">
            <a:schemeClr val="accent1"/>
          </a:lnRef>
          <a:fillRef idx="0">
            <a:schemeClr val="accent1"/>
          </a:fillRef>
          <a:effectRef idx="1">
            <a:schemeClr val="accent1"/>
          </a:effectRef>
          <a:fontRef idx="minor">
            <a:schemeClr val="tx1"/>
          </a:fontRef>
        </p:style>
      </p:cxnSp>
      <p:cxnSp>
        <p:nvCxnSpPr>
          <p:cNvPr id="49" name="Curved Connector 48">
            <a:extLst>
              <a:ext uri="{FF2B5EF4-FFF2-40B4-BE49-F238E27FC236}">
                <a16:creationId xmlns:a16="http://schemas.microsoft.com/office/drawing/2014/main" id="{D1676827-E406-AD9E-55E3-C9C2F98C2E31}"/>
              </a:ext>
            </a:extLst>
          </p:cNvPr>
          <p:cNvCxnSpPr>
            <a:cxnSpLocks/>
            <a:stCxn id="47" idx="2"/>
            <a:endCxn id="68" idx="2"/>
          </p:cNvCxnSpPr>
          <p:nvPr/>
        </p:nvCxnSpPr>
        <p:spPr>
          <a:xfrm rot="16200000" flipH="1">
            <a:off x="12968794" y="3015813"/>
            <a:ext cx="559683" cy="1728481"/>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0" name="Curved Connector 49">
            <a:extLst>
              <a:ext uri="{FF2B5EF4-FFF2-40B4-BE49-F238E27FC236}">
                <a16:creationId xmlns:a16="http://schemas.microsoft.com/office/drawing/2014/main" id="{64616CFF-D5AC-7F7D-BAD5-C4F211B9A909}"/>
              </a:ext>
            </a:extLst>
          </p:cNvPr>
          <p:cNvCxnSpPr>
            <a:cxnSpLocks/>
            <a:stCxn id="37" idx="4"/>
            <a:endCxn id="46" idx="0"/>
          </p:cNvCxnSpPr>
          <p:nvPr/>
        </p:nvCxnSpPr>
        <p:spPr>
          <a:xfrm rot="16200000" flipH="1">
            <a:off x="9811964" y="4154862"/>
            <a:ext cx="709585" cy="81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1" name="Curved Connector 50">
            <a:extLst>
              <a:ext uri="{FF2B5EF4-FFF2-40B4-BE49-F238E27FC236}">
                <a16:creationId xmlns:a16="http://schemas.microsoft.com/office/drawing/2014/main" id="{A40C17B7-6E90-99C7-EFB8-0C51CC15A938}"/>
              </a:ext>
            </a:extLst>
          </p:cNvPr>
          <p:cNvCxnSpPr>
            <a:cxnSpLocks/>
            <a:stCxn id="18" idx="0"/>
            <a:endCxn id="46" idx="2"/>
          </p:cNvCxnSpPr>
          <p:nvPr/>
        </p:nvCxnSpPr>
        <p:spPr>
          <a:xfrm rot="16200000" flipV="1">
            <a:off x="9886828" y="5197352"/>
            <a:ext cx="1512357" cy="951690"/>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2" name="Curved Connector 51">
            <a:extLst>
              <a:ext uri="{FF2B5EF4-FFF2-40B4-BE49-F238E27FC236}">
                <a16:creationId xmlns:a16="http://schemas.microsoft.com/office/drawing/2014/main" id="{4CE948B0-6AF7-EBF0-CDD9-D6E283F99077}"/>
              </a:ext>
            </a:extLst>
          </p:cNvPr>
          <p:cNvCxnSpPr>
            <a:cxnSpLocks/>
            <a:stCxn id="18" idx="0"/>
            <a:endCxn id="45" idx="2"/>
          </p:cNvCxnSpPr>
          <p:nvPr/>
        </p:nvCxnSpPr>
        <p:spPr>
          <a:xfrm rot="5400000" flipH="1" flipV="1">
            <a:off x="12967920" y="4100782"/>
            <a:ext cx="479524" cy="4177662"/>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3" name="Curved Connector 52">
            <a:extLst>
              <a:ext uri="{FF2B5EF4-FFF2-40B4-BE49-F238E27FC236}">
                <a16:creationId xmlns:a16="http://schemas.microsoft.com/office/drawing/2014/main" id="{5A315E2F-5DA1-DC1D-017D-278354DBBD79}"/>
              </a:ext>
            </a:extLst>
          </p:cNvPr>
          <p:cNvCxnSpPr>
            <a:cxnSpLocks/>
            <a:stCxn id="20" idx="0"/>
            <a:endCxn id="45" idx="2"/>
          </p:cNvCxnSpPr>
          <p:nvPr/>
        </p:nvCxnSpPr>
        <p:spPr>
          <a:xfrm rot="5400000" flipH="1" flipV="1">
            <a:off x="14223632" y="5356495"/>
            <a:ext cx="479524" cy="1666237"/>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4" name="Curved Connector 53">
            <a:extLst>
              <a:ext uri="{FF2B5EF4-FFF2-40B4-BE49-F238E27FC236}">
                <a16:creationId xmlns:a16="http://schemas.microsoft.com/office/drawing/2014/main" id="{63820AE7-CEC9-9CAF-BEF3-CCAA76C197B2}"/>
              </a:ext>
            </a:extLst>
          </p:cNvPr>
          <p:cNvCxnSpPr>
            <a:cxnSpLocks/>
            <a:stCxn id="22" idx="0"/>
            <a:endCxn id="45" idx="2"/>
          </p:cNvCxnSpPr>
          <p:nvPr/>
        </p:nvCxnSpPr>
        <p:spPr>
          <a:xfrm rot="16200000" flipV="1">
            <a:off x="15479345" y="5767019"/>
            <a:ext cx="479524" cy="845188"/>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55" name="Curved Connector 54">
            <a:extLst>
              <a:ext uri="{FF2B5EF4-FFF2-40B4-BE49-F238E27FC236}">
                <a16:creationId xmlns:a16="http://schemas.microsoft.com/office/drawing/2014/main" id="{7CA38732-11B8-3588-5E36-FD0B90CBF729}"/>
              </a:ext>
            </a:extLst>
          </p:cNvPr>
          <p:cNvCxnSpPr>
            <a:cxnSpLocks/>
            <a:stCxn id="45" idx="0"/>
            <a:endCxn id="67" idx="2"/>
          </p:cNvCxnSpPr>
          <p:nvPr/>
        </p:nvCxnSpPr>
        <p:spPr>
          <a:xfrm rot="16200000" flipV="1">
            <a:off x="14950235" y="5196614"/>
            <a:ext cx="382044" cy="310513"/>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56" name="Rectangle 55">
            <a:extLst>
              <a:ext uri="{FF2B5EF4-FFF2-40B4-BE49-F238E27FC236}">
                <a16:creationId xmlns:a16="http://schemas.microsoft.com/office/drawing/2014/main" id="{D7E2C613-F7F5-B744-2E13-327CEFE14003}"/>
              </a:ext>
            </a:extLst>
          </p:cNvPr>
          <p:cNvSpPr/>
          <p:nvPr/>
        </p:nvSpPr>
        <p:spPr>
          <a:xfrm>
            <a:off x="12708256" y="8087770"/>
            <a:ext cx="1920240" cy="406958"/>
          </a:xfrm>
          <a:prstGeom prst="rect">
            <a:avLst/>
          </a:prstGeom>
          <a:solidFill>
            <a:schemeClr val="accent2">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600" dirty="0"/>
              <a:t>Block Replication</a:t>
            </a:r>
          </a:p>
        </p:txBody>
      </p:sp>
      <p:cxnSp>
        <p:nvCxnSpPr>
          <p:cNvPr id="57" name="Curved Connector 56">
            <a:extLst>
              <a:ext uri="{FF2B5EF4-FFF2-40B4-BE49-F238E27FC236}">
                <a16:creationId xmlns:a16="http://schemas.microsoft.com/office/drawing/2014/main" id="{73D170BB-286B-2631-B188-59F8A70572B1}"/>
              </a:ext>
            </a:extLst>
          </p:cNvPr>
          <p:cNvCxnSpPr>
            <a:cxnSpLocks/>
            <a:stCxn id="56" idx="1"/>
            <a:endCxn id="18" idx="2"/>
          </p:cNvCxnSpPr>
          <p:nvPr/>
        </p:nvCxnSpPr>
        <p:spPr>
          <a:xfrm rot="10800000">
            <a:off x="11118852" y="7839903"/>
            <a:ext cx="1589405" cy="451346"/>
          </a:xfrm>
          <a:prstGeom prst="curvedConnector2">
            <a:avLst/>
          </a:prstGeom>
        </p:spPr>
        <p:style>
          <a:lnRef idx="2">
            <a:schemeClr val="accent1"/>
          </a:lnRef>
          <a:fillRef idx="0">
            <a:schemeClr val="accent1"/>
          </a:fillRef>
          <a:effectRef idx="1">
            <a:schemeClr val="accent1"/>
          </a:effectRef>
          <a:fontRef idx="minor">
            <a:schemeClr val="tx1"/>
          </a:fontRef>
        </p:style>
      </p:cxnSp>
      <p:cxnSp>
        <p:nvCxnSpPr>
          <p:cNvPr id="58" name="Curved Connector 57">
            <a:extLst>
              <a:ext uri="{FF2B5EF4-FFF2-40B4-BE49-F238E27FC236}">
                <a16:creationId xmlns:a16="http://schemas.microsoft.com/office/drawing/2014/main" id="{F3898964-A489-AD46-3631-EF5428ABB917}"/>
              </a:ext>
            </a:extLst>
          </p:cNvPr>
          <p:cNvCxnSpPr>
            <a:cxnSpLocks/>
            <a:stCxn id="22" idx="2"/>
            <a:endCxn id="56" idx="3"/>
          </p:cNvCxnSpPr>
          <p:nvPr/>
        </p:nvCxnSpPr>
        <p:spPr>
          <a:xfrm rot="5400000">
            <a:off x="15159426" y="7308974"/>
            <a:ext cx="451346" cy="1513205"/>
          </a:xfrm>
          <a:prstGeom prst="curvedConnector2">
            <a:avLst/>
          </a:prstGeom>
        </p:spPr>
        <p:style>
          <a:lnRef idx="2">
            <a:schemeClr val="accent1"/>
          </a:lnRef>
          <a:fillRef idx="0">
            <a:schemeClr val="accent1"/>
          </a:fillRef>
          <a:effectRef idx="1">
            <a:schemeClr val="accent1"/>
          </a:effectRef>
          <a:fontRef idx="minor">
            <a:schemeClr val="tx1"/>
          </a:fontRef>
        </p:style>
      </p:cxnSp>
      <p:grpSp>
        <p:nvGrpSpPr>
          <p:cNvPr id="59" name="Group 58">
            <a:extLst>
              <a:ext uri="{FF2B5EF4-FFF2-40B4-BE49-F238E27FC236}">
                <a16:creationId xmlns:a16="http://schemas.microsoft.com/office/drawing/2014/main" id="{CEC9F1C1-682B-7558-859D-186AC27617CA}"/>
              </a:ext>
            </a:extLst>
          </p:cNvPr>
          <p:cNvGrpSpPr/>
          <p:nvPr/>
        </p:nvGrpSpPr>
        <p:grpSpPr>
          <a:xfrm>
            <a:off x="15239364" y="3878648"/>
            <a:ext cx="2082802" cy="1410528"/>
            <a:chOff x="14096999" y="3902721"/>
            <a:chExt cx="2082802" cy="1410528"/>
          </a:xfrm>
        </p:grpSpPr>
        <p:sp>
          <p:nvSpPr>
            <p:cNvPr id="60" name="Rectangle 59">
              <a:extLst>
                <a:ext uri="{FF2B5EF4-FFF2-40B4-BE49-F238E27FC236}">
                  <a16:creationId xmlns:a16="http://schemas.microsoft.com/office/drawing/2014/main" id="{7CBE8A17-607B-14F1-7DDA-9C24ED23B130}"/>
                </a:ext>
              </a:extLst>
            </p:cNvPr>
            <p:cNvSpPr/>
            <p:nvPr/>
          </p:nvSpPr>
          <p:spPr>
            <a:xfrm>
              <a:off x="14096999" y="39027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1" name="Oval 60">
              <a:extLst>
                <a:ext uri="{FF2B5EF4-FFF2-40B4-BE49-F238E27FC236}">
                  <a16:creationId xmlns:a16="http://schemas.microsoft.com/office/drawing/2014/main" id="{C49FF804-FD99-4CEA-7480-07B31B8B4762}"/>
                </a:ext>
              </a:extLst>
            </p:cNvPr>
            <p:cNvSpPr/>
            <p:nvPr/>
          </p:nvSpPr>
          <p:spPr>
            <a:xfrm>
              <a:off x="14265276" y="40741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2" name="TextBox 61">
              <a:extLst>
                <a:ext uri="{FF2B5EF4-FFF2-40B4-BE49-F238E27FC236}">
                  <a16:creationId xmlns:a16="http://schemas.microsoft.com/office/drawing/2014/main" id="{6441CD28-BE65-17B6-68CF-E3D99A8E8556}"/>
                </a:ext>
              </a:extLst>
            </p:cNvPr>
            <p:cNvSpPr txBox="1"/>
            <p:nvPr/>
          </p:nvSpPr>
          <p:spPr>
            <a:xfrm>
              <a:off x="14462574" y="4127630"/>
              <a:ext cx="1351652" cy="369332"/>
            </a:xfrm>
            <a:prstGeom prst="rect">
              <a:avLst/>
            </a:prstGeom>
            <a:noFill/>
          </p:spPr>
          <p:txBody>
            <a:bodyPr wrap="square" rtlCol="0">
              <a:spAutoFit/>
            </a:bodyPr>
            <a:lstStyle/>
            <a:p>
              <a:r>
                <a:rPr lang="en-US" dirty="0">
                  <a:solidFill>
                    <a:schemeClr val="bg2"/>
                  </a:solidFill>
                </a:rPr>
                <a:t>NameNode</a:t>
              </a:r>
            </a:p>
          </p:txBody>
        </p:sp>
        <p:sp>
          <p:nvSpPr>
            <p:cNvPr id="63" name="Rectangle 62">
              <a:extLst>
                <a:ext uri="{FF2B5EF4-FFF2-40B4-BE49-F238E27FC236}">
                  <a16:creationId xmlns:a16="http://schemas.microsoft.com/office/drawing/2014/main" id="{F42190F8-4C80-3883-BC4B-27CAC5744DF6}"/>
                </a:ext>
              </a:extLst>
            </p:cNvPr>
            <p:cNvSpPr>
              <a:spLocks/>
            </p:cNvSpPr>
            <p:nvPr/>
          </p:nvSpPr>
          <p:spPr>
            <a:xfrm>
              <a:off x="14494330" y="47895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64" name="TextBox 63">
              <a:extLst>
                <a:ext uri="{FF2B5EF4-FFF2-40B4-BE49-F238E27FC236}">
                  <a16:creationId xmlns:a16="http://schemas.microsoft.com/office/drawing/2014/main" id="{626027B7-F37F-A955-5855-253D39AFE77D}"/>
                </a:ext>
              </a:extLst>
            </p:cNvPr>
            <p:cNvSpPr txBox="1"/>
            <p:nvPr/>
          </p:nvSpPr>
          <p:spPr>
            <a:xfrm>
              <a:off x="14557377" y="4785981"/>
              <a:ext cx="1146468" cy="369332"/>
            </a:xfrm>
            <a:prstGeom prst="rect">
              <a:avLst/>
            </a:prstGeom>
            <a:noFill/>
          </p:spPr>
          <p:txBody>
            <a:bodyPr wrap="square" rtlCol="0">
              <a:spAutoFit/>
            </a:bodyPr>
            <a:lstStyle/>
            <a:p>
              <a:r>
                <a:rPr lang="en-US" dirty="0">
                  <a:solidFill>
                    <a:schemeClr val="bg2"/>
                  </a:solidFill>
                </a:rPr>
                <a:t>Metadata</a:t>
              </a:r>
            </a:p>
          </p:txBody>
        </p:sp>
      </p:grpSp>
      <p:cxnSp>
        <p:nvCxnSpPr>
          <p:cNvPr id="65" name="Curved Connector 64">
            <a:extLst>
              <a:ext uri="{FF2B5EF4-FFF2-40B4-BE49-F238E27FC236}">
                <a16:creationId xmlns:a16="http://schemas.microsoft.com/office/drawing/2014/main" id="{E029389A-9268-25F7-71DF-ACAB59693A80}"/>
              </a:ext>
            </a:extLst>
          </p:cNvPr>
          <p:cNvCxnSpPr>
            <a:cxnSpLocks/>
            <a:stCxn id="56" idx="0"/>
          </p:cNvCxnSpPr>
          <p:nvPr/>
        </p:nvCxnSpPr>
        <p:spPr>
          <a:xfrm rot="16200000" flipV="1">
            <a:off x="13543772" y="7963166"/>
            <a:ext cx="200243" cy="48966"/>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cxnSp>
        <p:nvCxnSpPr>
          <p:cNvPr id="66" name="Curved Connector 65">
            <a:extLst>
              <a:ext uri="{FF2B5EF4-FFF2-40B4-BE49-F238E27FC236}">
                <a16:creationId xmlns:a16="http://schemas.microsoft.com/office/drawing/2014/main" id="{B543A99A-5F72-4F0E-14D6-2BC2927B2028}"/>
              </a:ext>
            </a:extLst>
          </p:cNvPr>
          <p:cNvCxnSpPr>
            <a:cxnSpLocks/>
            <a:stCxn id="20" idx="0"/>
            <a:endCxn id="46" idx="2"/>
          </p:cNvCxnSpPr>
          <p:nvPr/>
        </p:nvCxnSpPr>
        <p:spPr>
          <a:xfrm rot="16200000" flipV="1">
            <a:off x="11142541" y="3941639"/>
            <a:ext cx="1512357" cy="3463115"/>
          </a:xfrm>
          <a:prstGeom prst="curvedConnector3">
            <a:avLst>
              <a:gd name="adj1" fmla="val 50000"/>
            </a:avLst>
          </a:prstGeom>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10AE3BC3-003A-DBAA-4217-DE192889EA56}"/>
              </a:ext>
            </a:extLst>
          </p:cNvPr>
          <p:cNvSpPr/>
          <p:nvPr/>
        </p:nvSpPr>
        <p:spPr>
          <a:xfrm>
            <a:off x="13944599" y="3750321"/>
            <a:ext cx="2082802" cy="1410528"/>
          </a:xfrm>
          <a:prstGeom prst="rect">
            <a:avLst/>
          </a:prstGeom>
          <a:solidFill>
            <a:schemeClr val="accent3">
              <a:lumMod val="20000"/>
              <a:lumOff val="80000"/>
            </a:schemeClr>
          </a:solidFill>
          <a:ln>
            <a:solidFill>
              <a:schemeClr val="accent6">
                <a:lumMod val="40000"/>
                <a:lumOff val="6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8" name="Oval 67">
            <a:extLst>
              <a:ext uri="{FF2B5EF4-FFF2-40B4-BE49-F238E27FC236}">
                <a16:creationId xmlns:a16="http://schemas.microsoft.com/office/drawing/2014/main" id="{8DDF6E07-C1A3-D6C3-FD7F-82BD7D61D337}"/>
              </a:ext>
            </a:extLst>
          </p:cNvPr>
          <p:cNvSpPr/>
          <p:nvPr/>
        </p:nvSpPr>
        <p:spPr>
          <a:xfrm>
            <a:off x="14112876" y="3921771"/>
            <a:ext cx="1746248" cy="476250"/>
          </a:xfrm>
          <a:prstGeom prst="ellipse">
            <a:avLst/>
          </a:prstGeom>
          <a:solidFill>
            <a:schemeClr val="accent6">
              <a:lumMod val="40000"/>
              <a:lumOff val="6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b="1" dirty="0">
              <a:solidFill>
                <a:schemeClr val="bg2"/>
              </a:solidFill>
            </a:endParaRPr>
          </a:p>
        </p:txBody>
      </p:sp>
      <p:sp>
        <p:nvSpPr>
          <p:cNvPr id="69" name="TextBox 68">
            <a:extLst>
              <a:ext uri="{FF2B5EF4-FFF2-40B4-BE49-F238E27FC236}">
                <a16:creationId xmlns:a16="http://schemas.microsoft.com/office/drawing/2014/main" id="{9E34809A-7F71-D6F7-10DE-7465E05B5D25}"/>
              </a:ext>
            </a:extLst>
          </p:cNvPr>
          <p:cNvSpPr txBox="1"/>
          <p:nvPr/>
        </p:nvSpPr>
        <p:spPr>
          <a:xfrm>
            <a:off x="14310174" y="3975230"/>
            <a:ext cx="1351652" cy="369332"/>
          </a:xfrm>
          <a:prstGeom prst="rect">
            <a:avLst/>
          </a:prstGeom>
          <a:noFill/>
        </p:spPr>
        <p:txBody>
          <a:bodyPr wrap="square" rtlCol="0">
            <a:spAutoFit/>
          </a:bodyPr>
          <a:lstStyle/>
          <a:p>
            <a:r>
              <a:rPr lang="en-US" dirty="0">
                <a:solidFill>
                  <a:schemeClr val="bg2"/>
                </a:solidFill>
              </a:rPr>
              <a:t>NameNode</a:t>
            </a:r>
          </a:p>
        </p:txBody>
      </p:sp>
      <p:sp>
        <p:nvSpPr>
          <p:cNvPr id="70" name="Rectangle 69">
            <a:extLst>
              <a:ext uri="{FF2B5EF4-FFF2-40B4-BE49-F238E27FC236}">
                <a16:creationId xmlns:a16="http://schemas.microsoft.com/office/drawing/2014/main" id="{E52176E2-342B-18A1-96BA-C74AF3E5635D}"/>
              </a:ext>
            </a:extLst>
          </p:cNvPr>
          <p:cNvSpPr>
            <a:spLocks/>
          </p:cNvSpPr>
          <p:nvPr/>
        </p:nvSpPr>
        <p:spPr>
          <a:xfrm>
            <a:off x="14341930" y="4637153"/>
            <a:ext cx="1280160" cy="365760"/>
          </a:xfrm>
          <a:prstGeom prst="rect">
            <a:avLst/>
          </a:prstGeom>
          <a:solidFill>
            <a:srgbClr val="FF0000"/>
          </a:solidFill>
        </p:spPr>
        <p:style>
          <a:lnRef idx="3">
            <a:schemeClr val="lt1"/>
          </a:lnRef>
          <a:fillRef idx="1">
            <a:schemeClr val="accent3"/>
          </a:fillRef>
          <a:effectRef idx="1">
            <a:schemeClr val="accent3"/>
          </a:effectRef>
          <a:fontRef idx="minor">
            <a:schemeClr val="lt1"/>
          </a:fontRef>
        </p:style>
        <p:txBody>
          <a:bodyPr rtlCol="0" anchor="ctr"/>
          <a:lstStyle/>
          <a:p>
            <a:pPr algn="ctr"/>
            <a:endParaRPr lang="en-US" sz="2800" b="1" dirty="0">
              <a:solidFill>
                <a:srgbClr val="FFFF00"/>
              </a:solidFill>
            </a:endParaRPr>
          </a:p>
        </p:txBody>
      </p:sp>
      <p:sp>
        <p:nvSpPr>
          <p:cNvPr id="71" name="TextBox 70">
            <a:extLst>
              <a:ext uri="{FF2B5EF4-FFF2-40B4-BE49-F238E27FC236}">
                <a16:creationId xmlns:a16="http://schemas.microsoft.com/office/drawing/2014/main" id="{FBA8F60C-3529-075E-6ECE-2F4192FB8C9E}"/>
              </a:ext>
            </a:extLst>
          </p:cNvPr>
          <p:cNvSpPr txBox="1"/>
          <p:nvPr/>
        </p:nvSpPr>
        <p:spPr>
          <a:xfrm>
            <a:off x="14404977" y="4633581"/>
            <a:ext cx="1146468" cy="369332"/>
          </a:xfrm>
          <a:prstGeom prst="rect">
            <a:avLst/>
          </a:prstGeom>
          <a:noFill/>
        </p:spPr>
        <p:txBody>
          <a:bodyPr wrap="square" rtlCol="0">
            <a:spAutoFit/>
          </a:bodyPr>
          <a:lstStyle/>
          <a:p>
            <a:r>
              <a:rPr lang="en-US" dirty="0">
                <a:solidFill>
                  <a:schemeClr val="bg2"/>
                </a:solidFill>
              </a:rPr>
              <a:t>Metadata</a:t>
            </a:r>
          </a:p>
        </p:txBody>
      </p:sp>
    </p:spTree>
    <p:extLst>
      <p:ext uri="{BB962C8B-B14F-4D97-AF65-F5344CB8AC3E}">
        <p14:creationId xmlns:p14="http://schemas.microsoft.com/office/powerpoint/2010/main" val="2763398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6000" dirty="0"/>
              <a:t>Hadoop Distributed File System </a:t>
            </a:r>
            <a:r>
              <a:rPr lang="en-US" dirty="0"/>
              <a:t>Blocks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20"/>
            <a:ext cx="13716000"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ffectLst/>
                <a:ea typeface="Calibri" panose="020F0502020204030204" pitchFamily="34" charset="0"/>
                <a:cs typeface="Times New Roman" panose="02020603050405020304" pitchFamily="18" charset="0"/>
              </a:rPr>
              <a:t>HDFS stores files as one or more blocks, generally defaulting to 128Mb in size to minimize the cost of seeking to the block versus the time to read it from storage media</a:t>
            </a:r>
            <a:endParaRPr lang="en-US" altLang="en-US" sz="2400" b="1" dirty="0">
              <a:solidFill>
                <a:schemeClr val="bg2"/>
              </a:solidFill>
            </a:endParaRPr>
          </a:p>
        </p:txBody>
      </p:sp>
      <p:sp>
        <p:nvSpPr>
          <p:cNvPr id="5" name="Rectangle 4">
            <a:extLst>
              <a:ext uri="{FF2B5EF4-FFF2-40B4-BE49-F238E27FC236}">
                <a16:creationId xmlns:a16="http://schemas.microsoft.com/office/drawing/2014/main" id="{3ED4DE36-52C0-CB95-BACC-337A00B1A90C}"/>
              </a:ext>
            </a:extLst>
          </p:cNvPr>
          <p:cNvSpPr/>
          <p:nvPr/>
        </p:nvSpPr>
        <p:spPr>
          <a:xfrm>
            <a:off x="1232453" y="3743325"/>
            <a:ext cx="13715999"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400" dirty="0">
                <a:solidFill>
                  <a:schemeClr val="tx1"/>
                </a:solidFill>
              </a:rPr>
              <a:t>Rather than store the blocks of a file on one node the blocks are spread across nodes so HDFS can support files larger than the largest single disk available in the cluster</a:t>
            </a:r>
          </a:p>
        </p:txBody>
      </p:sp>
      <p:sp>
        <p:nvSpPr>
          <p:cNvPr id="6" name="Rectangle 5">
            <a:extLst>
              <a:ext uri="{FF2B5EF4-FFF2-40B4-BE49-F238E27FC236}">
                <a16:creationId xmlns:a16="http://schemas.microsoft.com/office/drawing/2014/main" id="{D7AAFCEC-8CFD-2586-37E2-FB68E05134D6}"/>
              </a:ext>
            </a:extLst>
          </p:cNvPr>
          <p:cNvSpPr/>
          <p:nvPr/>
        </p:nvSpPr>
        <p:spPr>
          <a:xfrm>
            <a:off x="1232453" y="5010150"/>
            <a:ext cx="1371600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marR="0" algn="ctr">
              <a:spcBef>
                <a:spcPts val="0"/>
              </a:spcBef>
              <a:spcAft>
                <a:spcPts val="0"/>
              </a:spcAft>
            </a:pPr>
            <a:r>
              <a:rPr lang="en-US" sz="2400" dirty="0">
                <a:solidFill>
                  <a:schemeClr val="tx1"/>
                </a:solidFill>
                <a:effectLst/>
                <a:ea typeface="Calibri" panose="020F0502020204030204" pitchFamily="34" charset="0"/>
                <a:cs typeface="Times New Roman" panose="02020603050405020304" pitchFamily="18" charset="0"/>
              </a:rPr>
              <a:t>And file blocks distributed across the cluster can also be read in parallel increasing total I/O throughput</a:t>
            </a: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20"/>
            <a:ext cx="1232454" cy="103822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9" name="Rectangle 8">
            <a:extLst>
              <a:ext uri="{FF2B5EF4-FFF2-40B4-BE49-F238E27FC236}">
                <a16:creationId xmlns:a16="http://schemas.microsoft.com/office/drawing/2014/main" id="{E4BC379E-337C-E555-73C1-C466E42489C1}"/>
              </a:ext>
              <a:ext uri="{C183D7F6-B498-43B3-948B-1728B52AA6E4}">
                <adec:decorative xmlns:adec="http://schemas.microsoft.com/office/drawing/2017/decorative" val="1"/>
              </a:ext>
            </a:extLst>
          </p:cNvPr>
          <p:cNvSpPr/>
          <p:nvPr/>
        </p:nvSpPr>
        <p:spPr>
          <a:xfrm>
            <a:off x="-1" y="3743325"/>
            <a:ext cx="1232454" cy="103822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400" dirty="0">
              <a:solidFill>
                <a:schemeClr val="bg2"/>
              </a:solidFill>
            </a:endParaRPr>
          </a:p>
        </p:txBody>
      </p:sp>
      <p:sp>
        <p:nvSpPr>
          <p:cNvPr id="3" name="Rectangle 2">
            <a:extLst>
              <a:ext uri="{FF2B5EF4-FFF2-40B4-BE49-F238E27FC236}">
                <a16:creationId xmlns:a16="http://schemas.microsoft.com/office/drawing/2014/main" id="{F0198E06-907F-EDB8-3165-65181847C7FE}"/>
              </a:ext>
              <a:ext uri="{C183D7F6-B498-43B3-948B-1728B52AA6E4}">
                <adec:decorative xmlns:adec="http://schemas.microsoft.com/office/drawing/2017/decorative" val="1"/>
              </a:ext>
            </a:extLst>
          </p:cNvPr>
          <p:cNvSpPr/>
          <p:nvPr/>
        </p:nvSpPr>
        <p:spPr>
          <a:xfrm>
            <a:off x="0" y="5010150"/>
            <a:ext cx="1234440" cy="103822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400" dirty="0">
              <a:solidFill>
                <a:schemeClr val="bg2"/>
              </a:solidFill>
            </a:endParaRPr>
          </a:p>
        </p:txBody>
      </p:sp>
      <p:sp>
        <p:nvSpPr>
          <p:cNvPr id="7" name="Rectangle 6">
            <a:extLst>
              <a:ext uri="{FF2B5EF4-FFF2-40B4-BE49-F238E27FC236}">
                <a16:creationId xmlns:a16="http://schemas.microsoft.com/office/drawing/2014/main" id="{DBBFD7CE-AB6F-124F-FD61-7AB8ADFC99E3}"/>
              </a:ext>
            </a:extLst>
          </p:cNvPr>
          <p:cNvSpPr/>
          <p:nvPr/>
        </p:nvSpPr>
        <p:spPr>
          <a:xfrm>
            <a:off x="1232453" y="6249640"/>
            <a:ext cx="1371600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spcBef>
                <a:spcPts val="0"/>
              </a:spcBef>
              <a:spcAft>
                <a:spcPts val="0"/>
              </a:spcAft>
            </a:pPr>
            <a:r>
              <a:rPr lang="en-US" sz="2400" dirty="0">
                <a:solidFill>
                  <a:schemeClr val="bg2"/>
                </a:solidFill>
                <a:effectLst/>
                <a:ea typeface="Calibri" panose="020F0502020204030204" pitchFamily="34" charset="0"/>
                <a:cs typeface="Times New Roman" panose="02020603050405020304" pitchFamily="18" charset="0"/>
              </a:rPr>
              <a:t>Normally a data node reads blocks from persistent storage but frequently accessed blocks may be cached explicitly in memory, for improved data access performance</a:t>
            </a:r>
          </a:p>
        </p:txBody>
      </p:sp>
      <p:sp>
        <p:nvSpPr>
          <p:cNvPr id="11" name="Rectangle 10">
            <a:extLst>
              <a:ext uri="{FF2B5EF4-FFF2-40B4-BE49-F238E27FC236}">
                <a16:creationId xmlns:a16="http://schemas.microsoft.com/office/drawing/2014/main" id="{77145B75-5BEF-663B-2CA4-F20ABD4D9041}"/>
              </a:ext>
              <a:ext uri="{C183D7F6-B498-43B3-948B-1728B52AA6E4}">
                <adec:decorative xmlns:adec="http://schemas.microsoft.com/office/drawing/2017/decorative" val="1"/>
              </a:ext>
            </a:extLst>
          </p:cNvPr>
          <p:cNvSpPr/>
          <p:nvPr/>
        </p:nvSpPr>
        <p:spPr>
          <a:xfrm>
            <a:off x="-1" y="6249640"/>
            <a:ext cx="1234440" cy="103822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
        <p:nvSpPr>
          <p:cNvPr id="13" name="Rectangle 12">
            <a:extLst>
              <a:ext uri="{FF2B5EF4-FFF2-40B4-BE49-F238E27FC236}">
                <a16:creationId xmlns:a16="http://schemas.microsoft.com/office/drawing/2014/main" id="{0C8781AD-82B3-30B5-7D07-45800FC20FCF}"/>
              </a:ext>
            </a:extLst>
          </p:cNvPr>
          <p:cNvSpPr/>
          <p:nvPr/>
        </p:nvSpPr>
        <p:spPr>
          <a:xfrm>
            <a:off x="1262933" y="7526655"/>
            <a:ext cx="1371600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dirty="0">
                <a:solidFill>
                  <a:schemeClr val="bg2"/>
                </a:solidFill>
              </a:rPr>
              <a:t>Each file block is usually duplicated twice for a total of three copies (default replication factor of 3). Replicated blocks are part of the mechanism allowing HDFS high availability and fault-tolerance</a:t>
            </a:r>
            <a:endParaRPr lang="en-US" sz="2400" b="0" i="0" dirty="0">
              <a:solidFill>
                <a:schemeClr val="bg2"/>
              </a:solidFill>
              <a:effectLst/>
            </a:endParaRPr>
          </a:p>
        </p:txBody>
      </p:sp>
      <p:sp>
        <p:nvSpPr>
          <p:cNvPr id="14" name="Rectangle 13">
            <a:extLst>
              <a:ext uri="{FF2B5EF4-FFF2-40B4-BE49-F238E27FC236}">
                <a16:creationId xmlns:a16="http://schemas.microsoft.com/office/drawing/2014/main" id="{F1AC3EB0-949C-4C3A-4E8D-AFEE364D835C}"/>
              </a:ext>
              <a:ext uri="{C183D7F6-B498-43B3-948B-1728B52AA6E4}">
                <adec:decorative xmlns:adec="http://schemas.microsoft.com/office/drawing/2017/decorative" val="1"/>
              </a:ext>
            </a:extLst>
          </p:cNvPr>
          <p:cNvSpPr/>
          <p:nvPr/>
        </p:nvSpPr>
        <p:spPr>
          <a:xfrm>
            <a:off x="30479" y="7526655"/>
            <a:ext cx="1234440" cy="103822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400" dirty="0"/>
          </a:p>
        </p:txBody>
      </p:sp>
    </p:spTree>
    <p:extLst>
      <p:ext uri="{BB962C8B-B14F-4D97-AF65-F5344CB8AC3E}">
        <p14:creationId xmlns:p14="http://schemas.microsoft.com/office/powerpoint/2010/main" val="15683424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4BA2E-D9CC-2C39-CC88-C18088FAB9A9}"/>
              </a:ext>
            </a:extLst>
          </p:cNvPr>
          <p:cNvSpPr>
            <a:spLocks noGrp="1"/>
          </p:cNvSpPr>
          <p:nvPr>
            <p:ph type="title"/>
          </p:nvPr>
        </p:nvSpPr>
        <p:spPr/>
        <p:txBody>
          <a:bodyPr/>
          <a:lstStyle/>
          <a:p>
            <a:r>
              <a:rPr lang="en-US" sz="6000" dirty="0"/>
              <a:t>Hadoop Distributed File System </a:t>
            </a:r>
            <a:r>
              <a:rPr lang="en-US" dirty="0"/>
              <a:t>Blocks</a:t>
            </a:r>
          </a:p>
        </p:txBody>
      </p:sp>
      <p:sp>
        <p:nvSpPr>
          <p:cNvPr id="4" name="Rectangle 3">
            <a:extLst>
              <a:ext uri="{FF2B5EF4-FFF2-40B4-BE49-F238E27FC236}">
                <a16:creationId xmlns:a16="http://schemas.microsoft.com/office/drawing/2014/main" id="{8AAFF48F-88D7-36EF-3D3C-89AD220846E7}"/>
              </a:ext>
            </a:extLst>
          </p:cNvPr>
          <p:cNvSpPr/>
          <p:nvPr/>
        </p:nvSpPr>
        <p:spPr>
          <a:xfrm>
            <a:off x="1232453" y="2446019"/>
            <a:ext cx="13716000" cy="13167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400" dirty="0">
                <a:solidFill>
                  <a:schemeClr val="bg2"/>
                </a:solidFill>
                <a:effectLst/>
                <a:ea typeface="Calibri" panose="020F0502020204030204" pitchFamily="34" charset="0"/>
                <a:cs typeface="Times New Roman" panose="02020603050405020304" pitchFamily="18" charset="0"/>
              </a:rPr>
              <a:t>Assume we are using replication to support of fault tolerance, where the total amount of storage in a Hadoop cluster is 90TB and that HDFS block size is 128MB, and the replication factor is 3</a:t>
            </a:r>
            <a:endParaRPr lang="en-US" altLang="en-US" sz="2400" b="1" dirty="0">
              <a:solidFill>
                <a:schemeClr val="bg2"/>
              </a:solidFill>
            </a:endParaRPr>
          </a:p>
        </p:txBody>
      </p:sp>
      <p:sp>
        <p:nvSpPr>
          <p:cNvPr id="8" name="Rectangle 7">
            <a:extLst>
              <a:ext uri="{FF2B5EF4-FFF2-40B4-BE49-F238E27FC236}">
                <a16:creationId xmlns:a16="http://schemas.microsoft.com/office/drawing/2014/main" id="{AE65C159-5C92-BCA3-41C6-866AA4775CF5}"/>
              </a:ext>
              <a:ext uri="{C183D7F6-B498-43B3-948B-1728B52AA6E4}">
                <adec:decorative xmlns:adec="http://schemas.microsoft.com/office/drawing/2017/decorative" val="1"/>
              </a:ext>
            </a:extLst>
          </p:cNvPr>
          <p:cNvSpPr/>
          <p:nvPr/>
        </p:nvSpPr>
        <p:spPr>
          <a:xfrm>
            <a:off x="-1" y="2446019"/>
            <a:ext cx="1316736" cy="13167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400" dirty="0">
              <a:solidFill>
                <a:schemeClr val="bg2"/>
              </a:solidFill>
            </a:endParaRPr>
          </a:p>
        </p:txBody>
      </p:sp>
      <p:sp>
        <p:nvSpPr>
          <p:cNvPr id="21" name="Rectangle 20">
            <a:extLst>
              <a:ext uri="{FF2B5EF4-FFF2-40B4-BE49-F238E27FC236}">
                <a16:creationId xmlns:a16="http://schemas.microsoft.com/office/drawing/2014/main" id="{54878D3D-10C4-BA30-D0A3-0089464A7492}"/>
              </a:ext>
            </a:extLst>
          </p:cNvPr>
          <p:cNvSpPr/>
          <p:nvPr/>
        </p:nvSpPr>
        <p:spPr>
          <a:xfrm>
            <a:off x="0" y="3895725"/>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algn="ctr">
              <a:spcBef>
                <a:spcPts val="0"/>
              </a:spcBef>
              <a:spcAft>
                <a:spcPts val="0"/>
              </a:spcAft>
            </a:pPr>
            <a:r>
              <a:rPr lang="en-US" sz="2400" dirty="0">
                <a:solidFill>
                  <a:schemeClr val="tx1"/>
                </a:solidFill>
                <a:effectLst/>
                <a:ea typeface="Calibri" panose="020F0502020204030204" pitchFamily="34" charset="0"/>
                <a:cs typeface="Times New Roman" panose="02020603050405020304" pitchFamily="18" charset="0"/>
              </a:rPr>
              <a:t>If we have a file which is 542MB in size, how many blocks </a:t>
            </a:r>
          </a:p>
          <a:p>
            <a:pPr marL="0" marR="0" algn="ctr">
              <a:spcBef>
                <a:spcPts val="0"/>
              </a:spcBef>
              <a:spcAft>
                <a:spcPts val="0"/>
              </a:spcAft>
            </a:pPr>
            <a:r>
              <a:rPr lang="en-US" sz="2400" dirty="0">
                <a:solidFill>
                  <a:schemeClr val="tx1"/>
                </a:solidFill>
                <a:effectLst/>
                <a:ea typeface="Calibri" panose="020F0502020204030204" pitchFamily="34" charset="0"/>
                <a:cs typeface="Times New Roman" panose="02020603050405020304" pitchFamily="18" charset="0"/>
              </a:rPr>
              <a:t>will exist in HDFS when the file is stored ?</a:t>
            </a:r>
          </a:p>
        </p:txBody>
      </p:sp>
      <p:sp>
        <p:nvSpPr>
          <p:cNvPr id="22" name="Rectangle 21">
            <a:extLst>
              <a:ext uri="{FF2B5EF4-FFF2-40B4-BE49-F238E27FC236}">
                <a16:creationId xmlns:a16="http://schemas.microsoft.com/office/drawing/2014/main" id="{63097FED-DD27-B917-61A4-66024F9D817F}"/>
              </a:ext>
            </a:extLst>
          </p:cNvPr>
          <p:cNvSpPr/>
          <p:nvPr/>
        </p:nvSpPr>
        <p:spPr>
          <a:xfrm>
            <a:off x="0" y="5467350"/>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What is the maximum total size of all files which can be</a:t>
            </a:r>
          </a:p>
          <a:p>
            <a:pPr algn="ctr"/>
            <a:r>
              <a:rPr lang="en-US" sz="2400" dirty="0">
                <a:solidFill>
                  <a:schemeClr val="tx1"/>
                </a:solidFill>
              </a:rPr>
              <a:t>stored into the cluster?</a:t>
            </a:r>
          </a:p>
        </p:txBody>
      </p:sp>
      <p:sp>
        <p:nvSpPr>
          <p:cNvPr id="23" name="Rectangle 22">
            <a:extLst>
              <a:ext uri="{FF2B5EF4-FFF2-40B4-BE49-F238E27FC236}">
                <a16:creationId xmlns:a16="http://schemas.microsoft.com/office/drawing/2014/main" id="{65937B5A-D3D5-04BB-7EEA-E5ACC544AFC8}"/>
              </a:ext>
            </a:extLst>
          </p:cNvPr>
          <p:cNvSpPr/>
          <p:nvPr/>
        </p:nvSpPr>
        <p:spPr>
          <a:xfrm>
            <a:off x="0" y="7038975"/>
            <a:ext cx="8420100" cy="1314450"/>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400" dirty="0">
                <a:solidFill>
                  <a:schemeClr val="bg2"/>
                </a:solidFill>
                <a:effectLst/>
                <a:ea typeface="Calibri" panose="020F0502020204030204" pitchFamily="34" charset="0"/>
                <a:cs typeface="Times New Roman" panose="02020603050405020304" pitchFamily="18" charset="0"/>
              </a:rPr>
              <a:t>If we want to store 10TB of additional files, how much storage would we need to add to the cluster?</a:t>
            </a:r>
          </a:p>
        </p:txBody>
      </p:sp>
      <p:sp>
        <p:nvSpPr>
          <p:cNvPr id="24" name="Rectangle 23">
            <a:extLst>
              <a:ext uri="{FF2B5EF4-FFF2-40B4-BE49-F238E27FC236}">
                <a16:creationId xmlns:a16="http://schemas.microsoft.com/office/drawing/2014/main" id="{021B66A4-8E0E-597A-2825-3D7752AEBAAD}"/>
              </a:ext>
            </a:extLst>
          </p:cNvPr>
          <p:cNvSpPr/>
          <p:nvPr/>
        </p:nvSpPr>
        <p:spPr>
          <a:xfrm>
            <a:off x="9867900" y="3895725"/>
            <a:ext cx="8420100" cy="1314450"/>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dirty="0">
                <a:solidFill>
                  <a:schemeClr val="tx1"/>
                </a:solidFill>
              </a:rPr>
              <a:t>Round-up ( 542MB file size / 128MB block size) = 4 blocks</a:t>
            </a:r>
          </a:p>
          <a:p>
            <a:pPr algn="ctr"/>
            <a:r>
              <a:rPr lang="en-US" sz="2400" dirty="0">
                <a:solidFill>
                  <a:schemeClr val="tx1"/>
                </a:solidFill>
              </a:rPr>
              <a:t>4 blocks * replication factor of 3 = 12 total blocks</a:t>
            </a:r>
          </a:p>
        </p:txBody>
      </p:sp>
      <p:sp>
        <p:nvSpPr>
          <p:cNvPr id="25" name="Rectangle 24">
            <a:extLst>
              <a:ext uri="{FF2B5EF4-FFF2-40B4-BE49-F238E27FC236}">
                <a16:creationId xmlns:a16="http://schemas.microsoft.com/office/drawing/2014/main" id="{E888B996-1467-D11D-662C-E355D0142CB9}"/>
              </a:ext>
            </a:extLst>
          </p:cNvPr>
          <p:cNvSpPr/>
          <p:nvPr/>
        </p:nvSpPr>
        <p:spPr>
          <a:xfrm>
            <a:off x="9867900" y="5467350"/>
            <a:ext cx="8420100" cy="131445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2400" dirty="0">
                <a:solidFill>
                  <a:schemeClr val="tx1"/>
                </a:solidFill>
              </a:rPr>
              <a:t>90TB total storage / replication factor of 3 </a:t>
            </a:r>
            <a:r>
              <a:rPr lang="en-US" sz="2400">
                <a:solidFill>
                  <a:schemeClr val="tx1"/>
                </a:solidFill>
              </a:rPr>
              <a:t>= 30TB</a:t>
            </a:r>
            <a:endParaRPr lang="en-US" sz="2400" dirty="0">
              <a:solidFill>
                <a:schemeClr val="tx1"/>
              </a:solidFill>
            </a:endParaRPr>
          </a:p>
        </p:txBody>
      </p:sp>
      <p:sp>
        <p:nvSpPr>
          <p:cNvPr id="26" name="Rectangle 25">
            <a:extLst>
              <a:ext uri="{FF2B5EF4-FFF2-40B4-BE49-F238E27FC236}">
                <a16:creationId xmlns:a16="http://schemas.microsoft.com/office/drawing/2014/main" id="{C6E40DDA-5ADB-7C5A-8EA0-F197502E64B1}"/>
              </a:ext>
            </a:extLst>
          </p:cNvPr>
          <p:cNvSpPr/>
          <p:nvPr/>
        </p:nvSpPr>
        <p:spPr>
          <a:xfrm>
            <a:off x="9867900" y="7038975"/>
            <a:ext cx="8420100"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10TB of total files * replication factor of 3 = 30TB</a:t>
            </a:r>
          </a:p>
        </p:txBody>
      </p:sp>
      <p:sp>
        <p:nvSpPr>
          <p:cNvPr id="27" name="Right Arrow 26">
            <a:extLst>
              <a:ext uri="{FF2B5EF4-FFF2-40B4-BE49-F238E27FC236}">
                <a16:creationId xmlns:a16="http://schemas.microsoft.com/office/drawing/2014/main" id="{59634A43-DC8B-4046-0C64-A46F72495970}"/>
              </a:ext>
              <a:ext uri="{C183D7F6-B498-43B3-948B-1728B52AA6E4}">
                <adec:decorative xmlns:adec="http://schemas.microsoft.com/office/drawing/2017/decorative" val="1"/>
              </a:ext>
            </a:extLst>
          </p:cNvPr>
          <p:cNvSpPr/>
          <p:nvPr/>
        </p:nvSpPr>
        <p:spPr>
          <a:xfrm>
            <a:off x="8763000" y="4438650"/>
            <a:ext cx="762000" cy="381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8" name="Right Arrow 27">
            <a:extLst>
              <a:ext uri="{FF2B5EF4-FFF2-40B4-BE49-F238E27FC236}">
                <a16:creationId xmlns:a16="http://schemas.microsoft.com/office/drawing/2014/main" id="{37B913B4-10BA-6F35-0C75-FF7524FEB234}"/>
              </a:ext>
              <a:ext uri="{C183D7F6-B498-43B3-948B-1728B52AA6E4}">
                <adec:decorative xmlns:adec="http://schemas.microsoft.com/office/drawing/2017/decorative" val="1"/>
              </a:ext>
            </a:extLst>
          </p:cNvPr>
          <p:cNvSpPr/>
          <p:nvPr/>
        </p:nvSpPr>
        <p:spPr>
          <a:xfrm>
            <a:off x="8763000" y="5984179"/>
            <a:ext cx="762000" cy="381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Right Arrow 28">
            <a:extLst>
              <a:ext uri="{FF2B5EF4-FFF2-40B4-BE49-F238E27FC236}">
                <a16:creationId xmlns:a16="http://schemas.microsoft.com/office/drawing/2014/main" id="{ABDA7988-8516-E7C5-52D2-EF00F12D23D6}"/>
              </a:ext>
              <a:ext uri="{C183D7F6-B498-43B3-948B-1728B52AA6E4}">
                <adec:decorative xmlns:adec="http://schemas.microsoft.com/office/drawing/2017/decorative" val="1"/>
              </a:ext>
            </a:extLst>
          </p:cNvPr>
          <p:cNvSpPr/>
          <p:nvPr/>
        </p:nvSpPr>
        <p:spPr>
          <a:xfrm>
            <a:off x="8763000" y="7529709"/>
            <a:ext cx="762000" cy="38100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515826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HDFS Read (Simplified)</a:t>
            </a:r>
          </a:p>
        </p:txBody>
      </p:sp>
      <p:sp>
        <p:nvSpPr>
          <p:cNvPr id="3" name="Rectangle 2">
            <a:extLst>
              <a:ext uri="{FF2B5EF4-FFF2-40B4-BE49-F238E27FC236}">
                <a16:creationId xmlns:a16="http://schemas.microsoft.com/office/drawing/2014/main" id="{E592A069-6543-22F5-2B10-2D18647317CE}"/>
              </a:ext>
            </a:extLst>
          </p:cNvPr>
          <p:cNvSpPr/>
          <p:nvPr/>
        </p:nvSpPr>
        <p:spPr>
          <a:xfrm>
            <a:off x="1232453" y="2324100"/>
            <a:ext cx="718129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Client connects to NameNode to read file data</a:t>
            </a:r>
          </a:p>
        </p:txBody>
      </p:sp>
      <p:sp>
        <p:nvSpPr>
          <p:cNvPr id="15" name="Rectangle 14">
            <a:extLst>
              <a:ext uri="{FF2B5EF4-FFF2-40B4-BE49-F238E27FC236}">
                <a16:creationId xmlns:a16="http://schemas.microsoft.com/office/drawing/2014/main" id="{EF8FC4BC-4CD1-2A7F-772F-EFC14023E3F5}"/>
              </a:ext>
            </a:extLst>
          </p:cNvPr>
          <p:cNvSpPr/>
          <p:nvPr/>
        </p:nvSpPr>
        <p:spPr>
          <a:xfrm>
            <a:off x="1232453" y="3895725"/>
            <a:ext cx="718129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400" dirty="0">
                <a:solidFill>
                  <a:schemeClr val="tx1"/>
                </a:solidFill>
              </a:rPr>
              <a:t>NameNode tells client where to find the data blocks</a:t>
            </a:r>
          </a:p>
        </p:txBody>
      </p:sp>
      <p:sp>
        <p:nvSpPr>
          <p:cNvPr id="17" name="Rectangle 16">
            <a:extLst>
              <a:ext uri="{FF2B5EF4-FFF2-40B4-BE49-F238E27FC236}">
                <a16:creationId xmlns:a16="http://schemas.microsoft.com/office/drawing/2014/main" id="{8001737A-68E9-5E65-35B0-AC0518D90566}"/>
              </a:ext>
            </a:extLst>
          </p:cNvPr>
          <p:cNvSpPr/>
          <p:nvPr/>
        </p:nvSpPr>
        <p:spPr>
          <a:xfrm>
            <a:off x="1232453" y="5467350"/>
            <a:ext cx="718129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0" i="0" dirty="0">
                <a:solidFill>
                  <a:schemeClr val="tx1"/>
                </a:solidFill>
                <a:effectLst/>
              </a:rPr>
              <a:t>Client reads blocks directly from DataNode(s)  (without going through NameNode)</a:t>
            </a:r>
          </a:p>
        </p:txBody>
      </p:sp>
      <p:sp>
        <p:nvSpPr>
          <p:cNvPr id="19" name="Rectangle 18">
            <a:extLst>
              <a:ext uri="{FF2B5EF4-FFF2-40B4-BE49-F238E27FC236}">
                <a16:creationId xmlns:a16="http://schemas.microsoft.com/office/drawing/2014/main" id="{BE15E513-77A8-CC5C-2DF4-0AA84709FED3}"/>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000" dirty="0">
              <a:solidFill>
                <a:schemeClr val="bg2"/>
              </a:solidFill>
            </a:endParaRPr>
          </a:p>
        </p:txBody>
      </p:sp>
      <p:sp>
        <p:nvSpPr>
          <p:cNvPr id="20" name="Rectangle 19">
            <a:extLst>
              <a:ext uri="{FF2B5EF4-FFF2-40B4-BE49-F238E27FC236}">
                <a16:creationId xmlns:a16="http://schemas.microsoft.com/office/drawing/2014/main" id="{FD04386C-70C2-5975-68C4-23A3E4CA7D27}"/>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000" dirty="0">
              <a:solidFill>
                <a:schemeClr val="bg2"/>
              </a:solidFill>
            </a:endParaRPr>
          </a:p>
        </p:txBody>
      </p:sp>
      <p:sp>
        <p:nvSpPr>
          <p:cNvPr id="23" name="Rectangle 22">
            <a:extLst>
              <a:ext uri="{FF2B5EF4-FFF2-40B4-BE49-F238E27FC236}">
                <a16:creationId xmlns:a16="http://schemas.microsoft.com/office/drawing/2014/main" id="{E983D0CF-1374-7350-0FA6-E2ACE3C6DD3A}"/>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000" dirty="0">
              <a:solidFill>
                <a:schemeClr val="bg2"/>
              </a:solidFill>
            </a:endParaRPr>
          </a:p>
        </p:txBody>
      </p:sp>
      <p:sp>
        <p:nvSpPr>
          <p:cNvPr id="27" name="Rectangle 26">
            <a:extLst>
              <a:ext uri="{FF2B5EF4-FFF2-40B4-BE49-F238E27FC236}">
                <a16:creationId xmlns:a16="http://schemas.microsoft.com/office/drawing/2014/main" id="{E1FBEBFA-8E2E-800E-3CA5-51EED504437B}"/>
              </a:ext>
            </a:extLst>
          </p:cNvPr>
          <p:cNvSpPr/>
          <p:nvPr/>
        </p:nvSpPr>
        <p:spPr>
          <a:xfrm>
            <a:off x="1232453" y="7038975"/>
            <a:ext cx="718129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In case of node failures, client connects to another node that serves the missing block</a:t>
            </a:r>
          </a:p>
        </p:txBody>
      </p:sp>
      <p:sp>
        <p:nvSpPr>
          <p:cNvPr id="28" name="Rectangle 27">
            <a:extLst>
              <a:ext uri="{FF2B5EF4-FFF2-40B4-BE49-F238E27FC236}">
                <a16:creationId xmlns:a16="http://schemas.microsoft.com/office/drawing/2014/main" id="{C0FE4135-5B32-796C-0ACF-D72C4E242486}"/>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000" dirty="0"/>
          </a:p>
        </p:txBody>
      </p:sp>
      <p:pic>
        <p:nvPicPr>
          <p:cNvPr id="30" name="Picture 29">
            <a:extLst>
              <a:ext uri="{FF2B5EF4-FFF2-40B4-BE49-F238E27FC236}">
                <a16:creationId xmlns:a16="http://schemas.microsoft.com/office/drawing/2014/main" id="{3EBF493B-DDC8-8B61-78F6-A13CD6ADA37A}"/>
              </a:ext>
            </a:extLst>
          </p:cNvPr>
          <p:cNvPicPr>
            <a:picLocks noChangeAspect="1"/>
          </p:cNvPicPr>
          <p:nvPr/>
        </p:nvPicPr>
        <p:blipFill>
          <a:blip r:embed="rId3"/>
          <a:stretch>
            <a:fillRect/>
          </a:stretch>
        </p:blipFill>
        <p:spPr>
          <a:xfrm>
            <a:off x="8742756" y="3336639"/>
            <a:ext cx="8954696" cy="3747071"/>
          </a:xfrm>
          <a:prstGeom prst="rect">
            <a:avLst/>
          </a:prstGeom>
        </p:spPr>
      </p:pic>
      <p:sp>
        <p:nvSpPr>
          <p:cNvPr id="31" name="TextBox 30">
            <a:extLst>
              <a:ext uri="{FF2B5EF4-FFF2-40B4-BE49-F238E27FC236}">
                <a16:creationId xmlns:a16="http://schemas.microsoft.com/office/drawing/2014/main" id="{7BF75D8D-1EAD-DABD-F8D0-C36D8CFDD6F7}"/>
              </a:ext>
            </a:extLst>
          </p:cNvPr>
          <p:cNvSpPr txBox="1"/>
          <p:nvPr/>
        </p:nvSpPr>
        <p:spPr>
          <a:xfrm>
            <a:off x="501650" y="2794000"/>
            <a:ext cx="327334" cy="461665"/>
          </a:xfrm>
          <a:prstGeom prst="rect">
            <a:avLst/>
          </a:prstGeom>
          <a:noFill/>
        </p:spPr>
        <p:txBody>
          <a:bodyPr wrap="square" rtlCol="0">
            <a:spAutoFit/>
          </a:bodyPr>
          <a:lstStyle/>
          <a:p>
            <a:r>
              <a:rPr lang="en-US" sz="2400" dirty="0">
                <a:solidFill>
                  <a:schemeClr val="bg2"/>
                </a:solidFill>
              </a:rPr>
              <a:t>1</a:t>
            </a:r>
          </a:p>
        </p:txBody>
      </p:sp>
      <p:sp>
        <p:nvSpPr>
          <p:cNvPr id="33" name="TextBox 32">
            <a:extLst>
              <a:ext uri="{FF2B5EF4-FFF2-40B4-BE49-F238E27FC236}">
                <a16:creationId xmlns:a16="http://schemas.microsoft.com/office/drawing/2014/main" id="{F8BE4F6E-61ED-A8C7-C0ED-ABFF3CAFCD76}"/>
              </a:ext>
            </a:extLst>
          </p:cNvPr>
          <p:cNvSpPr txBox="1"/>
          <p:nvPr/>
        </p:nvSpPr>
        <p:spPr>
          <a:xfrm>
            <a:off x="501650" y="4351867"/>
            <a:ext cx="327334" cy="461665"/>
          </a:xfrm>
          <a:prstGeom prst="rect">
            <a:avLst/>
          </a:prstGeom>
          <a:noFill/>
        </p:spPr>
        <p:txBody>
          <a:bodyPr wrap="square" rtlCol="0">
            <a:spAutoFit/>
          </a:bodyPr>
          <a:lstStyle/>
          <a:p>
            <a:r>
              <a:rPr lang="en-US" sz="2400" dirty="0"/>
              <a:t>2</a:t>
            </a:r>
          </a:p>
        </p:txBody>
      </p:sp>
      <p:sp>
        <p:nvSpPr>
          <p:cNvPr id="34" name="TextBox 33">
            <a:extLst>
              <a:ext uri="{FF2B5EF4-FFF2-40B4-BE49-F238E27FC236}">
                <a16:creationId xmlns:a16="http://schemas.microsoft.com/office/drawing/2014/main" id="{F1587FEF-14C7-A41B-6F38-80C88BD85104}"/>
              </a:ext>
            </a:extLst>
          </p:cNvPr>
          <p:cNvSpPr txBox="1"/>
          <p:nvPr/>
        </p:nvSpPr>
        <p:spPr>
          <a:xfrm>
            <a:off x="501650" y="5909734"/>
            <a:ext cx="327334" cy="461665"/>
          </a:xfrm>
          <a:prstGeom prst="rect">
            <a:avLst/>
          </a:prstGeom>
          <a:noFill/>
        </p:spPr>
        <p:txBody>
          <a:bodyPr wrap="square" rtlCol="0">
            <a:spAutoFit/>
          </a:bodyPr>
          <a:lstStyle/>
          <a:p>
            <a:r>
              <a:rPr lang="en-US" sz="2400" dirty="0"/>
              <a:t>3</a:t>
            </a:r>
          </a:p>
        </p:txBody>
      </p:sp>
      <p:sp>
        <p:nvSpPr>
          <p:cNvPr id="35" name="TextBox 34">
            <a:extLst>
              <a:ext uri="{FF2B5EF4-FFF2-40B4-BE49-F238E27FC236}">
                <a16:creationId xmlns:a16="http://schemas.microsoft.com/office/drawing/2014/main" id="{D712B205-32F7-0B46-9697-A168F3E1EBD7}"/>
              </a:ext>
            </a:extLst>
          </p:cNvPr>
          <p:cNvSpPr txBox="1"/>
          <p:nvPr/>
        </p:nvSpPr>
        <p:spPr>
          <a:xfrm>
            <a:off x="501650" y="7467600"/>
            <a:ext cx="327334" cy="461665"/>
          </a:xfrm>
          <a:prstGeom prst="rect">
            <a:avLst/>
          </a:prstGeom>
          <a:noFill/>
        </p:spPr>
        <p:txBody>
          <a:bodyPr wrap="square" rtlCol="0">
            <a:spAutoFit/>
          </a:bodyPr>
          <a:lstStyle/>
          <a:p>
            <a:r>
              <a:rPr lang="en-US" sz="2400" dirty="0">
                <a:solidFill>
                  <a:schemeClr val="bg2"/>
                </a:solidFill>
              </a:rPr>
              <a:t>4</a:t>
            </a:r>
          </a:p>
        </p:txBody>
      </p:sp>
    </p:spTree>
    <p:extLst>
      <p:ext uri="{BB962C8B-B14F-4D97-AF65-F5344CB8AC3E}">
        <p14:creationId xmlns:p14="http://schemas.microsoft.com/office/powerpoint/2010/main" val="2923037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HDFS Read (Simplified)</a:t>
            </a:r>
          </a:p>
        </p:txBody>
      </p:sp>
      <p:sp>
        <p:nvSpPr>
          <p:cNvPr id="3" name="Rectangle 2">
            <a:extLst>
              <a:ext uri="{FF2B5EF4-FFF2-40B4-BE49-F238E27FC236}">
                <a16:creationId xmlns:a16="http://schemas.microsoft.com/office/drawing/2014/main" id="{E592A069-6543-22F5-2B10-2D18647317CE}"/>
              </a:ext>
            </a:extLst>
          </p:cNvPr>
          <p:cNvSpPr/>
          <p:nvPr/>
        </p:nvSpPr>
        <p:spPr>
          <a:xfrm>
            <a:off x="1232453" y="2324100"/>
            <a:ext cx="7181297"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dirty="0">
                <a:solidFill>
                  <a:schemeClr val="bg2"/>
                </a:solidFill>
              </a:rPr>
              <a:t>Why does HDFS choose such a design for read? Why not ask client to read blocks through NameNode?</a:t>
            </a:r>
          </a:p>
        </p:txBody>
      </p:sp>
      <p:sp>
        <p:nvSpPr>
          <p:cNvPr id="15" name="Rectangle 14">
            <a:extLst>
              <a:ext uri="{FF2B5EF4-FFF2-40B4-BE49-F238E27FC236}">
                <a16:creationId xmlns:a16="http://schemas.microsoft.com/office/drawing/2014/main" id="{EF8FC4BC-4CD1-2A7F-772F-EFC14023E3F5}"/>
              </a:ext>
            </a:extLst>
          </p:cNvPr>
          <p:cNvSpPr/>
          <p:nvPr/>
        </p:nvSpPr>
        <p:spPr>
          <a:xfrm>
            <a:off x="1232453" y="3895725"/>
            <a:ext cx="7181297"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sz="2400" dirty="0">
                <a:solidFill>
                  <a:schemeClr val="tx1"/>
                </a:solidFill>
              </a:rPr>
              <a:t>Prevent NameNode from being the bottleneck of the cluster</a:t>
            </a:r>
          </a:p>
        </p:txBody>
      </p:sp>
      <p:sp>
        <p:nvSpPr>
          <p:cNvPr id="17" name="Rectangle 16">
            <a:extLst>
              <a:ext uri="{FF2B5EF4-FFF2-40B4-BE49-F238E27FC236}">
                <a16:creationId xmlns:a16="http://schemas.microsoft.com/office/drawing/2014/main" id="{8001737A-68E9-5E65-35B0-AC0518D90566}"/>
              </a:ext>
            </a:extLst>
          </p:cNvPr>
          <p:cNvSpPr/>
          <p:nvPr/>
        </p:nvSpPr>
        <p:spPr>
          <a:xfrm>
            <a:off x="1232453" y="5467350"/>
            <a:ext cx="7181297"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US" sz="2400" b="0" i="0" dirty="0">
                <a:solidFill>
                  <a:schemeClr val="tx1"/>
                </a:solidFill>
                <a:effectLst/>
              </a:rPr>
              <a:t>Allow HDFS to scale to large number of concurrent clients</a:t>
            </a:r>
          </a:p>
        </p:txBody>
      </p:sp>
      <p:sp>
        <p:nvSpPr>
          <p:cNvPr id="19" name="Rectangle 18">
            <a:extLst>
              <a:ext uri="{FF2B5EF4-FFF2-40B4-BE49-F238E27FC236}">
                <a16:creationId xmlns:a16="http://schemas.microsoft.com/office/drawing/2014/main" id="{BE15E513-77A8-CC5C-2DF4-0AA84709FED3}"/>
              </a:ext>
              <a:ext uri="{C183D7F6-B498-43B3-948B-1728B52AA6E4}">
                <adec:decorative xmlns:adec="http://schemas.microsoft.com/office/drawing/2017/decorative" val="1"/>
              </a:ext>
            </a:extLst>
          </p:cNvPr>
          <p:cNvSpPr/>
          <p:nvPr/>
        </p:nvSpPr>
        <p:spPr>
          <a:xfrm>
            <a:off x="-1" y="2324100"/>
            <a:ext cx="1232454" cy="13144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sz="2000" dirty="0">
              <a:solidFill>
                <a:schemeClr val="bg2"/>
              </a:solidFill>
            </a:endParaRPr>
          </a:p>
        </p:txBody>
      </p:sp>
      <p:sp>
        <p:nvSpPr>
          <p:cNvPr id="20" name="Rectangle 19">
            <a:extLst>
              <a:ext uri="{FF2B5EF4-FFF2-40B4-BE49-F238E27FC236}">
                <a16:creationId xmlns:a16="http://schemas.microsoft.com/office/drawing/2014/main" id="{FD04386C-70C2-5975-68C4-23A3E4CA7D27}"/>
              </a:ext>
              <a:ext uri="{C183D7F6-B498-43B3-948B-1728B52AA6E4}">
                <adec:decorative xmlns:adec="http://schemas.microsoft.com/office/drawing/2017/decorative" val="1"/>
              </a:ext>
            </a:extLst>
          </p:cNvPr>
          <p:cNvSpPr/>
          <p:nvPr/>
        </p:nvSpPr>
        <p:spPr>
          <a:xfrm>
            <a:off x="-1" y="3895725"/>
            <a:ext cx="1232454" cy="1314450"/>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sz="2000" dirty="0">
              <a:solidFill>
                <a:schemeClr val="bg2"/>
              </a:solidFill>
            </a:endParaRPr>
          </a:p>
        </p:txBody>
      </p:sp>
      <p:sp>
        <p:nvSpPr>
          <p:cNvPr id="23" name="Rectangle 22">
            <a:extLst>
              <a:ext uri="{FF2B5EF4-FFF2-40B4-BE49-F238E27FC236}">
                <a16:creationId xmlns:a16="http://schemas.microsoft.com/office/drawing/2014/main" id="{E983D0CF-1374-7350-0FA6-E2ACE3C6DD3A}"/>
              </a:ext>
              <a:ext uri="{C183D7F6-B498-43B3-948B-1728B52AA6E4}">
                <adec:decorative xmlns:adec="http://schemas.microsoft.com/office/drawing/2017/decorative" val="1"/>
              </a:ext>
            </a:extLst>
          </p:cNvPr>
          <p:cNvSpPr/>
          <p:nvPr/>
        </p:nvSpPr>
        <p:spPr>
          <a:xfrm>
            <a:off x="0" y="5467350"/>
            <a:ext cx="1234440" cy="1314450"/>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sz="2000" dirty="0">
              <a:solidFill>
                <a:schemeClr val="bg2"/>
              </a:solidFill>
            </a:endParaRPr>
          </a:p>
        </p:txBody>
      </p:sp>
      <p:sp>
        <p:nvSpPr>
          <p:cNvPr id="27" name="Rectangle 26">
            <a:extLst>
              <a:ext uri="{FF2B5EF4-FFF2-40B4-BE49-F238E27FC236}">
                <a16:creationId xmlns:a16="http://schemas.microsoft.com/office/drawing/2014/main" id="{E1FBEBFA-8E2E-800E-3CA5-51EED504437B}"/>
              </a:ext>
            </a:extLst>
          </p:cNvPr>
          <p:cNvSpPr/>
          <p:nvPr/>
        </p:nvSpPr>
        <p:spPr>
          <a:xfrm>
            <a:off x="1232453" y="7038975"/>
            <a:ext cx="7181297"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sz="2400" b="0" i="0" dirty="0">
                <a:solidFill>
                  <a:schemeClr val="bg2"/>
                </a:solidFill>
                <a:effectLst/>
              </a:rPr>
              <a:t>Spread the data traffic across the cluster</a:t>
            </a:r>
          </a:p>
        </p:txBody>
      </p:sp>
      <p:sp>
        <p:nvSpPr>
          <p:cNvPr id="28" name="Rectangle 27">
            <a:extLst>
              <a:ext uri="{FF2B5EF4-FFF2-40B4-BE49-F238E27FC236}">
                <a16:creationId xmlns:a16="http://schemas.microsoft.com/office/drawing/2014/main" id="{C0FE4135-5B32-796C-0ACF-D72C4E242486}"/>
              </a:ext>
              <a:ext uri="{C183D7F6-B498-43B3-948B-1728B52AA6E4}">
                <adec:decorative xmlns:adec="http://schemas.microsoft.com/office/drawing/2017/decorative" val="1"/>
              </a:ext>
            </a:extLst>
          </p:cNvPr>
          <p:cNvSpPr/>
          <p:nvPr/>
        </p:nvSpPr>
        <p:spPr>
          <a:xfrm>
            <a:off x="-1" y="7042120"/>
            <a:ext cx="1234440" cy="1314450"/>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sz="2000" dirty="0"/>
          </a:p>
        </p:txBody>
      </p:sp>
      <p:pic>
        <p:nvPicPr>
          <p:cNvPr id="30" name="Picture 29">
            <a:extLst>
              <a:ext uri="{FF2B5EF4-FFF2-40B4-BE49-F238E27FC236}">
                <a16:creationId xmlns:a16="http://schemas.microsoft.com/office/drawing/2014/main" id="{3EBF493B-DDC8-8B61-78F6-A13CD6ADA37A}"/>
              </a:ext>
            </a:extLst>
          </p:cNvPr>
          <p:cNvPicPr>
            <a:picLocks noChangeAspect="1"/>
          </p:cNvPicPr>
          <p:nvPr/>
        </p:nvPicPr>
        <p:blipFill>
          <a:blip r:embed="rId3"/>
          <a:stretch>
            <a:fillRect/>
          </a:stretch>
        </p:blipFill>
        <p:spPr>
          <a:xfrm>
            <a:off x="8742756" y="3336639"/>
            <a:ext cx="8954696" cy="3747071"/>
          </a:xfrm>
          <a:prstGeom prst="rect">
            <a:avLst/>
          </a:prstGeom>
        </p:spPr>
      </p:pic>
    </p:spTree>
    <p:extLst>
      <p:ext uri="{BB962C8B-B14F-4D97-AF65-F5344CB8AC3E}">
        <p14:creationId xmlns:p14="http://schemas.microsoft.com/office/powerpoint/2010/main" val="1871106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A2AF5-1FE1-5C4A-07CF-8B27A097BB8C}"/>
              </a:ext>
            </a:extLst>
          </p:cNvPr>
          <p:cNvSpPr>
            <a:spLocks noGrp="1"/>
          </p:cNvSpPr>
          <p:nvPr>
            <p:ph type="title"/>
          </p:nvPr>
        </p:nvSpPr>
        <p:spPr/>
        <p:txBody>
          <a:bodyPr/>
          <a:lstStyle/>
          <a:p>
            <a:r>
              <a:rPr lang="en-US" dirty="0"/>
              <a:t>HDFS Write (Simplified)</a:t>
            </a:r>
          </a:p>
        </p:txBody>
      </p:sp>
      <p:sp>
        <p:nvSpPr>
          <p:cNvPr id="3" name="Rectangle 2">
            <a:extLst>
              <a:ext uri="{FF2B5EF4-FFF2-40B4-BE49-F238E27FC236}">
                <a16:creationId xmlns:a16="http://schemas.microsoft.com/office/drawing/2014/main" id="{EA83BE09-539B-118B-2FBB-1C60F23655ED}"/>
              </a:ext>
            </a:extLst>
          </p:cNvPr>
          <p:cNvSpPr/>
          <p:nvPr/>
        </p:nvSpPr>
        <p:spPr>
          <a:xfrm>
            <a:off x="1232453" y="2446020"/>
            <a:ext cx="7187647" cy="8934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marR="0" algn="ctr">
              <a:spcBef>
                <a:spcPts val="0"/>
              </a:spcBef>
              <a:spcAft>
                <a:spcPts val="0"/>
              </a:spcAft>
            </a:pPr>
            <a:r>
              <a:rPr lang="en-US" sz="2000" dirty="0">
                <a:solidFill>
                  <a:schemeClr val="bg2"/>
                </a:solidFill>
                <a:effectLst/>
                <a:ea typeface="Calibri" panose="020F0502020204030204" pitchFamily="34" charset="0"/>
                <a:cs typeface="Times New Roman" panose="02020603050405020304" pitchFamily="18" charset="0"/>
              </a:rPr>
              <a:t>Client connects to the NameNode to create a file</a:t>
            </a:r>
          </a:p>
        </p:txBody>
      </p:sp>
      <p:sp>
        <p:nvSpPr>
          <p:cNvPr id="4" name="Rectangle 3">
            <a:extLst>
              <a:ext uri="{FF2B5EF4-FFF2-40B4-BE49-F238E27FC236}">
                <a16:creationId xmlns:a16="http://schemas.microsoft.com/office/drawing/2014/main" id="{C7BDBFA4-33D8-C1F4-F147-346596568DC2}"/>
              </a:ext>
            </a:extLst>
          </p:cNvPr>
          <p:cNvSpPr/>
          <p:nvPr/>
        </p:nvSpPr>
        <p:spPr>
          <a:xfrm>
            <a:off x="1232454" y="3463925"/>
            <a:ext cx="7187646" cy="89344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r>
              <a:rPr lang="en-US" altLang="en-US" sz="2000" dirty="0">
                <a:solidFill>
                  <a:schemeClr val="tx1"/>
                </a:solidFill>
              </a:rPr>
              <a:t>NameNode provides the client with a list of DataNodes to which to write file blocks</a:t>
            </a:r>
          </a:p>
        </p:txBody>
      </p:sp>
      <p:sp>
        <p:nvSpPr>
          <p:cNvPr id="5" name="Rectangle 4">
            <a:extLst>
              <a:ext uri="{FF2B5EF4-FFF2-40B4-BE49-F238E27FC236}">
                <a16:creationId xmlns:a16="http://schemas.microsoft.com/office/drawing/2014/main" id="{C6AA8B3A-EA2F-552E-64C6-780033BB3F38}"/>
              </a:ext>
            </a:extLst>
          </p:cNvPr>
          <p:cNvSpPr/>
          <p:nvPr/>
        </p:nvSpPr>
        <p:spPr>
          <a:xfrm>
            <a:off x="1232453" y="4489450"/>
            <a:ext cx="7187647" cy="89344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0" indent="0" algn="ctr">
              <a:buNone/>
            </a:pPr>
            <a:r>
              <a:rPr lang="en-US" sz="2000" b="0" i="0" dirty="0">
                <a:solidFill>
                  <a:schemeClr val="tx1"/>
                </a:solidFill>
                <a:effectLst/>
              </a:rPr>
              <a:t>Client writes a block directly to an initial DataNode which replicates the block onto other DataNodes</a:t>
            </a:r>
          </a:p>
        </p:txBody>
      </p:sp>
      <p:sp>
        <p:nvSpPr>
          <p:cNvPr id="6" name="Rectangle 5">
            <a:extLst>
              <a:ext uri="{FF2B5EF4-FFF2-40B4-BE49-F238E27FC236}">
                <a16:creationId xmlns:a16="http://schemas.microsoft.com/office/drawing/2014/main" id="{20C5F280-70F1-9E4A-A4A7-10A197A29E85}"/>
              </a:ext>
            </a:extLst>
          </p:cNvPr>
          <p:cNvSpPr/>
          <p:nvPr/>
        </p:nvSpPr>
        <p:spPr>
          <a:xfrm>
            <a:off x="-1" y="2446020"/>
            <a:ext cx="1232454" cy="89344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0" indent="0" algn="ctr">
              <a:buNone/>
            </a:pPr>
            <a:endParaRPr lang="en-US" dirty="0">
              <a:solidFill>
                <a:schemeClr val="bg2"/>
              </a:solidFill>
            </a:endParaRPr>
          </a:p>
        </p:txBody>
      </p:sp>
      <p:sp>
        <p:nvSpPr>
          <p:cNvPr id="7" name="Rectangle 6">
            <a:extLst>
              <a:ext uri="{FF2B5EF4-FFF2-40B4-BE49-F238E27FC236}">
                <a16:creationId xmlns:a16="http://schemas.microsoft.com/office/drawing/2014/main" id="{8E5FF5EC-CC93-10F5-5A89-B521C6E3DF5E}"/>
              </a:ext>
            </a:extLst>
          </p:cNvPr>
          <p:cNvSpPr/>
          <p:nvPr/>
        </p:nvSpPr>
        <p:spPr>
          <a:xfrm>
            <a:off x="-1" y="3463925"/>
            <a:ext cx="1232454" cy="893445"/>
          </a:xfrm>
          <a:prstGeom prst="rect">
            <a:avLst/>
          </a:prstGeom>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indent="0" algn="ctr">
              <a:buNone/>
            </a:pPr>
            <a:endParaRPr lang="en-US" dirty="0">
              <a:solidFill>
                <a:schemeClr val="bg2"/>
              </a:solidFill>
            </a:endParaRPr>
          </a:p>
        </p:txBody>
      </p:sp>
      <p:sp>
        <p:nvSpPr>
          <p:cNvPr id="8" name="Rectangle 7">
            <a:extLst>
              <a:ext uri="{FF2B5EF4-FFF2-40B4-BE49-F238E27FC236}">
                <a16:creationId xmlns:a16="http://schemas.microsoft.com/office/drawing/2014/main" id="{40A084D5-155E-1879-78C2-200250E71FBD}"/>
              </a:ext>
            </a:extLst>
          </p:cNvPr>
          <p:cNvSpPr/>
          <p:nvPr/>
        </p:nvSpPr>
        <p:spPr>
          <a:xfrm>
            <a:off x="0" y="4489450"/>
            <a:ext cx="1234440" cy="893445"/>
          </a:xfrm>
          <a:prstGeom prst="rect">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ltLang="en-US" dirty="0">
              <a:solidFill>
                <a:schemeClr val="bg2"/>
              </a:solidFill>
            </a:endParaRPr>
          </a:p>
        </p:txBody>
      </p:sp>
      <p:sp>
        <p:nvSpPr>
          <p:cNvPr id="9" name="Rectangle 8">
            <a:extLst>
              <a:ext uri="{FF2B5EF4-FFF2-40B4-BE49-F238E27FC236}">
                <a16:creationId xmlns:a16="http://schemas.microsoft.com/office/drawing/2014/main" id="{D88A26C3-ADB3-E810-5DB5-57F51E84E1D4}"/>
              </a:ext>
            </a:extLst>
          </p:cNvPr>
          <p:cNvSpPr/>
          <p:nvPr/>
        </p:nvSpPr>
        <p:spPr>
          <a:xfrm>
            <a:off x="1232453" y="5513040"/>
            <a:ext cx="7187647" cy="89344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Each DataNode propagates acknowledgement of receiving a block back to its sender</a:t>
            </a:r>
          </a:p>
        </p:txBody>
      </p:sp>
      <p:sp>
        <p:nvSpPr>
          <p:cNvPr id="10" name="Rectangle 9">
            <a:extLst>
              <a:ext uri="{FF2B5EF4-FFF2-40B4-BE49-F238E27FC236}">
                <a16:creationId xmlns:a16="http://schemas.microsoft.com/office/drawing/2014/main" id="{62DB2836-01B9-8E30-503C-0D9F8A7CAE33}"/>
              </a:ext>
            </a:extLst>
          </p:cNvPr>
          <p:cNvSpPr/>
          <p:nvPr/>
        </p:nvSpPr>
        <p:spPr>
          <a:xfrm>
            <a:off x="-1" y="5513040"/>
            <a:ext cx="1234440" cy="893445"/>
          </a:xfrm>
          <a:prstGeom prst="rect">
            <a:avLst/>
          </a:prstGeom>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0B519C0-7261-4F0F-7E53-676034A00B57}"/>
              </a:ext>
            </a:extLst>
          </p:cNvPr>
          <p:cNvSpPr/>
          <p:nvPr/>
        </p:nvSpPr>
        <p:spPr>
          <a:xfrm>
            <a:off x="1262933" y="6536055"/>
            <a:ext cx="7187647" cy="89344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bg2"/>
                </a:solidFill>
              </a:rPr>
              <a:t>And the initial DataNode propagates acknowledgement back to the client</a:t>
            </a:r>
          </a:p>
        </p:txBody>
      </p:sp>
      <p:sp>
        <p:nvSpPr>
          <p:cNvPr id="12" name="Rectangle 11">
            <a:extLst>
              <a:ext uri="{FF2B5EF4-FFF2-40B4-BE49-F238E27FC236}">
                <a16:creationId xmlns:a16="http://schemas.microsoft.com/office/drawing/2014/main" id="{13E49E6B-2BE9-C6BA-98A9-9237176418B9}"/>
              </a:ext>
            </a:extLst>
          </p:cNvPr>
          <p:cNvSpPr/>
          <p:nvPr/>
        </p:nvSpPr>
        <p:spPr>
          <a:xfrm>
            <a:off x="30479" y="6536055"/>
            <a:ext cx="1234440" cy="893445"/>
          </a:xfrm>
          <a:prstGeom prst="rect">
            <a:avLst/>
          </a:prstGeom>
          <a:solidFill>
            <a:srgbClr val="1770C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C09B19FA-F0B3-1AD2-EA47-4C836D592AE7}"/>
              </a:ext>
            </a:extLst>
          </p:cNvPr>
          <p:cNvSpPr/>
          <p:nvPr/>
        </p:nvSpPr>
        <p:spPr>
          <a:xfrm>
            <a:off x="1275633" y="7539355"/>
            <a:ext cx="7187647" cy="893445"/>
          </a:xfrm>
          <a:prstGeom prst="rect">
            <a:avLst/>
          </a:prstGeom>
          <a:solidFill>
            <a:schemeClr val="bg1">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marL="0" marR="0" algn="ctr">
              <a:spcBef>
                <a:spcPts val="0"/>
              </a:spcBef>
              <a:spcAft>
                <a:spcPts val="0"/>
              </a:spcAft>
            </a:pPr>
            <a:r>
              <a:rPr lang="en-US" sz="2000" dirty="0">
                <a:solidFill>
                  <a:schemeClr val="tx1"/>
                </a:solidFill>
              </a:rPr>
              <a:t>Repeats until the client finishes writing all file blocks at which point the client indicates write completion to the NameNode</a:t>
            </a:r>
          </a:p>
        </p:txBody>
      </p:sp>
      <p:sp>
        <p:nvSpPr>
          <p:cNvPr id="14" name="Rectangle 13">
            <a:extLst>
              <a:ext uri="{FF2B5EF4-FFF2-40B4-BE49-F238E27FC236}">
                <a16:creationId xmlns:a16="http://schemas.microsoft.com/office/drawing/2014/main" id="{CB0F46BB-F1A1-C6D4-7FAE-ED4982FD6E2A}"/>
              </a:ext>
            </a:extLst>
          </p:cNvPr>
          <p:cNvSpPr/>
          <p:nvPr/>
        </p:nvSpPr>
        <p:spPr>
          <a:xfrm>
            <a:off x="43179" y="7539355"/>
            <a:ext cx="1234440" cy="893445"/>
          </a:xfrm>
          <a:prstGeom prst="rect">
            <a:avLst/>
          </a:prstGeom>
          <a:solidFill>
            <a:schemeClr val="bg1">
              <a:lumMod val="60000"/>
              <a:lumOff val="40000"/>
            </a:schemeClr>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dirty="0"/>
          </a:p>
        </p:txBody>
      </p:sp>
      <p:pic>
        <p:nvPicPr>
          <p:cNvPr id="39" name="Picture 38">
            <a:extLst>
              <a:ext uri="{FF2B5EF4-FFF2-40B4-BE49-F238E27FC236}">
                <a16:creationId xmlns:a16="http://schemas.microsoft.com/office/drawing/2014/main" id="{8BD51EAA-715F-722A-2390-50DA16F8976A}"/>
              </a:ext>
            </a:extLst>
          </p:cNvPr>
          <p:cNvPicPr>
            <a:picLocks noChangeAspect="1"/>
          </p:cNvPicPr>
          <p:nvPr/>
        </p:nvPicPr>
        <p:blipFill>
          <a:blip r:embed="rId4"/>
          <a:stretch>
            <a:fillRect/>
          </a:stretch>
        </p:blipFill>
        <p:spPr>
          <a:xfrm>
            <a:off x="8814098" y="2928672"/>
            <a:ext cx="8369003" cy="5168735"/>
          </a:xfrm>
          <a:prstGeom prst="rect">
            <a:avLst/>
          </a:prstGeom>
        </p:spPr>
      </p:pic>
      <p:sp>
        <p:nvSpPr>
          <p:cNvPr id="41" name="TextBox 40">
            <a:extLst>
              <a:ext uri="{FF2B5EF4-FFF2-40B4-BE49-F238E27FC236}">
                <a16:creationId xmlns:a16="http://schemas.microsoft.com/office/drawing/2014/main" id="{AA834B4E-3F6B-CEAA-6DF2-E83DB014488C}"/>
              </a:ext>
            </a:extLst>
          </p:cNvPr>
          <p:cNvSpPr txBox="1"/>
          <p:nvPr/>
        </p:nvSpPr>
        <p:spPr>
          <a:xfrm>
            <a:off x="501650" y="2679700"/>
            <a:ext cx="327334" cy="461665"/>
          </a:xfrm>
          <a:prstGeom prst="rect">
            <a:avLst/>
          </a:prstGeom>
          <a:noFill/>
        </p:spPr>
        <p:txBody>
          <a:bodyPr wrap="square" rtlCol="0">
            <a:spAutoFit/>
          </a:bodyPr>
          <a:lstStyle/>
          <a:p>
            <a:r>
              <a:rPr lang="en-US" sz="2400" dirty="0">
                <a:solidFill>
                  <a:schemeClr val="bg2"/>
                </a:solidFill>
              </a:rPr>
              <a:t>1</a:t>
            </a:r>
          </a:p>
        </p:txBody>
      </p:sp>
      <p:sp>
        <p:nvSpPr>
          <p:cNvPr id="42" name="TextBox 41">
            <a:extLst>
              <a:ext uri="{FF2B5EF4-FFF2-40B4-BE49-F238E27FC236}">
                <a16:creationId xmlns:a16="http://schemas.microsoft.com/office/drawing/2014/main" id="{238FE439-BE10-0BEB-1322-89A36A7BCA0C}"/>
              </a:ext>
            </a:extLst>
          </p:cNvPr>
          <p:cNvSpPr txBox="1"/>
          <p:nvPr/>
        </p:nvSpPr>
        <p:spPr>
          <a:xfrm>
            <a:off x="501650" y="3695700"/>
            <a:ext cx="327334" cy="461665"/>
          </a:xfrm>
          <a:prstGeom prst="rect">
            <a:avLst/>
          </a:prstGeom>
          <a:noFill/>
        </p:spPr>
        <p:txBody>
          <a:bodyPr wrap="square" rtlCol="0">
            <a:spAutoFit/>
          </a:bodyPr>
          <a:lstStyle/>
          <a:p>
            <a:r>
              <a:rPr lang="en-US" sz="2400" dirty="0"/>
              <a:t>2</a:t>
            </a:r>
          </a:p>
        </p:txBody>
      </p:sp>
      <p:sp>
        <p:nvSpPr>
          <p:cNvPr id="43" name="TextBox 42">
            <a:extLst>
              <a:ext uri="{FF2B5EF4-FFF2-40B4-BE49-F238E27FC236}">
                <a16:creationId xmlns:a16="http://schemas.microsoft.com/office/drawing/2014/main" id="{3ED091CE-CBAE-E697-4FEE-AD4645E180B3}"/>
              </a:ext>
            </a:extLst>
          </p:cNvPr>
          <p:cNvSpPr txBox="1"/>
          <p:nvPr/>
        </p:nvSpPr>
        <p:spPr>
          <a:xfrm>
            <a:off x="501650" y="4711700"/>
            <a:ext cx="327334" cy="461665"/>
          </a:xfrm>
          <a:prstGeom prst="rect">
            <a:avLst/>
          </a:prstGeom>
          <a:noFill/>
        </p:spPr>
        <p:txBody>
          <a:bodyPr wrap="square" rtlCol="0">
            <a:spAutoFit/>
          </a:bodyPr>
          <a:lstStyle/>
          <a:p>
            <a:r>
              <a:rPr lang="en-US" sz="2400" dirty="0"/>
              <a:t>3</a:t>
            </a:r>
          </a:p>
        </p:txBody>
      </p:sp>
      <p:sp>
        <p:nvSpPr>
          <p:cNvPr id="44" name="TextBox 43">
            <a:extLst>
              <a:ext uri="{FF2B5EF4-FFF2-40B4-BE49-F238E27FC236}">
                <a16:creationId xmlns:a16="http://schemas.microsoft.com/office/drawing/2014/main" id="{2B0511A4-D30E-24B4-62FF-05016521E6A8}"/>
              </a:ext>
            </a:extLst>
          </p:cNvPr>
          <p:cNvSpPr txBox="1"/>
          <p:nvPr/>
        </p:nvSpPr>
        <p:spPr>
          <a:xfrm>
            <a:off x="501650" y="5727700"/>
            <a:ext cx="327334" cy="461665"/>
          </a:xfrm>
          <a:prstGeom prst="rect">
            <a:avLst/>
          </a:prstGeom>
          <a:noFill/>
        </p:spPr>
        <p:txBody>
          <a:bodyPr wrap="square" rtlCol="0">
            <a:spAutoFit/>
          </a:bodyPr>
          <a:lstStyle/>
          <a:p>
            <a:r>
              <a:rPr lang="en-US" sz="2400" dirty="0">
                <a:solidFill>
                  <a:schemeClr val="bg2"/>
                </a:solidFill>
              </a:rPr>
              <a:t>4</a:t>
            </a:r>
          </a:p>
        </p:txBody>
      </p:sp>
      <p:sp>
        <p:nvSpPr>
          <p:cNvPr id="45" name="TextBox 44">
            <a:extLst>
              <a:ext uri="{FF2B5EF4-FFF2-40B4-BE49-F238E27FC236}">
                <a16:creationId xmlns:a16="http://schemas.microsoft.com/office/drawing/2014/main" id="{7A09DEFC-C46D-ABB9-8D13-43420DEE63BD}"/>
              </a:ext>
            </a:extLst>
          </p:cNvPr>
          <p:cNvSpPr txBox="1"/>
          <p:nvPr/>
        </p:nvSpPr>
        <p:spPr>
          <a:xfrm>
            <a:off x="527050" y="6743700"/>
            <a:ext cx="327334" cy="461665"/>
          </a:xfrm>
          <a:prstGeom prst="rect">
            <a:avLst/>
          </a:prstGeom>
          <a:noFill/>
        </p:spPr>
        <p:txBody>
          <a:bodyPr wrap="square" rtlCol="0">
            <a:spAutoFit/>
          </a:bodyPr>
          <a:lstStyle/>
          <a:p>
            <a:r>
              <a:rPr lang="en-US" sz="2400" dirty="0">
                <a:solidFill>
                  <a:schemeClr val="bg2"/>
                </a:solidFill>
              </a:rPr>
              <a:t>5</a:t>
            </a:r>
          </a:p>
        </p:txBody>
      </p:sp>
      <p:sp>
        <p:nvSpPr>
          <p:cNvPr id="46" name="TextBox 45">
            <a:extLst>
              <a:ext uri="{FF2B5EF4-FFF2-40B4-BE49-F238E27FC236}">
                <a16:creationId xmlns:a16="http://schemas.microsoft.com/office/drawing/2014/main" id="{AAA1F019-3822-ED5C-2DFE-95F57CB7457C}"/>
              </a:ext>
            </a:extLst>
          </p:cNvPr>
          <p:cNvSpPr txBox="1"/>
          <p:nvPr/>
        </p:nvSpPr>
        <p:spPr>
          <a:xfrm>
            <a:off x="527050" y="7759700"/>
            <a:ext cx="327334" cy="461665"/>
          </a:xfrm>
          <a:prstGeom prst="rect">
            <a:avLst/>
          </a:prstGeom>
          <a:noFill/>
        </p:spPr>
        <p:txBody>
          <a:bodyPr wrap="square" rtlCol="0">
            <a:spAutoFit/>
          </a:bodyPr>
          <a:lstStyle/>
          <a:p>
            <a:r>
              <a:rPr lang="en-US" sz="2400" dirty="0"/>
              <a:t>6</a:t>
            </a:r>
          </a:p>
        </p:txBody>
      </p:sp>
      <p:pic>
        <p:nvPicPr>
          <p:cNvPr id="15" name="Picture 14">
            <a:extLst>
              <a:ext uri="{FF2B5EF4-FFF2-40B4-BE49-F238E27FC236}">
                <a16:creationId xmlns:a16="http://schemas.microsoft.com/office/drawing/2014/main" id="{2D43BD65-AAB7-56C6-2AC9-EBEFA11A182C}"/>
              </a:ext>
            </a:extLst>
          </p:cNvPr>
          <p:cNvPicPr>
            <a:picLocks noChangeAspect="1"/>
          </p:cNvPicPr>
          <p:nvPr/>
        </p:nvPicPr>
        <p:blipFill rotWithShape="1">
          <a:blip r:embed="rId5"/>
          <a:srcRect l="6107" t="58863" r="84558" b="28985"/>
          <a:stretch/>
        </p:blipFill>
        <p:spPr>
          <a:xfrm>
            <a:off x="8931818" y="5369832"/>
            <a:ext cx="1005840" cy="547822"/>
          </a:xfrm>
          <a:prstGeom prst="rect">
            <a:avLst/>
          </a:prstGeom>
        </p:spPr>
      </p:pic>
    </p:spTree>
    <p:custDataLst>
      <p:tags r:id="rId1"/>
    </p:custDataLst>
    <p:extLst>
      <p:ext uri="{BB962C8B-B14F-4D97-AF65-F5344CB8AC3E}">
        <p14:creationId xmlns:p14="http://schemas.microsoft.com/office/powerpoint/2010/main" val="22208771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1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1a54cd395f61cfc29bb41b0389d7858">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1db123aac500611cfff64836afef3716"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10F4300-9B36-41E3-AE0F-0187065C3B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BFA838ED-C12F-4A42-8E88-98BAC73D21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72700</TotalTime>
  <Words>1995</Words>
  <Application>Microsoft Office PowerPoint</Application>
  <PresentationFormat>Custom</PresentationFormat>
  <Paragraphs>249</Paragraphs>
  <Slides>19</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bitter</vt:lpstr>
      <vt:lpstr>Calibri</vt:lpstr>
      <vt:lpstr>Google Sans</vt:lpstr>
      <vt:lpstr>Wingdings 2</vt:lpstr>
      <vt:lpstr>Breeze</vt:lpstr>
      <vt:lpstr>Module 2: Lesson 2 Hadoop Distributed File System Overview</vt:lpstr>
      <vt:lpstr>Big Data: Where Do We Store It? Our Ability to Store Data Physically is Improving</vt:lpstr>
      <vt:lpstr>Big Data: Where to Store It? But How do We Organize Big Data For Effective Use?</vt:lpstr>
      <vt:lpstr>Big Data: Where to Store It? But How do We Organize Big Data For Effective Use?</vt:lpstr>
      <vt:lpstr>Distributed File Systems</vt:lpstr>
      <vt:lpstr>Hadoop Distributed File System</vt:lpstr>
      <vt:lpstr>Hadoop Distributed File System</vt:lpstr>
      <vt:lpstr>Mapping the Generic Distributed File System to HDFS</vt:lpstr>
      <vt:lpstr>Hadoop Distributed File System Architecture</vt:lpstr>
      <vt:lpstr>Hadoop Distributed File System Benefits</vt:lpstr>
      <vt:lpstr>Hadoop Distributed File System Limitations</vt:lpstr>
      <vt:lpstr>Hadoop Distributed File System NameNode(s)</vt:lpstr>
      <vt:lpstr>Hadoop Distributed File System DataNode(s)</vt:lpstr>
      <vt:lpstr>Hadoop Distributed File System Client</vt:lpstr>
      <vt:lpstr>Hadoop Distributed File System Blocks</vt:lpstr>
      <vt:lpstr>Hadoop Distributed File System Blocks</vt:lpstr>
      <vt:lpstr>HDFS Read (Simplified)</vt:lpstr>
      <vt:lpstr>HDFS Read (Simplified)</vt:lpstr>
      <vt:lpstr>HDFS Write (Simplified)</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Joseph Rosen</cp:lastModifiedBy>
  <cp:revision>207</cp:revision>
  <cp:lastPrinted>2023-11-27T20:09:56Z</cp:lastPrinted>
  <dcterms:created xsi:type="dcterms:W3CDTF">2019-02-13T16:04:21Z</dcterms:created>
  <dcterms:modified xsi:type="dcterms:W3CDTF">2024-08-30T01:19:49Z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ArticulateGUID">
    <vt:lpwstr>8F8BA748-16AD-4FA7-9811-21655B39E31B</vt:lpwstr>
  </property>
  <property fmtid="{D5CDD505-2E9C-101B-9397-08002B2CF9AE}" pid="4" name="ArticulatePath">
    <vt:lpwstr>Module 2 11302023</vt:lpwstr>
  </property>
</Properties>
</file>