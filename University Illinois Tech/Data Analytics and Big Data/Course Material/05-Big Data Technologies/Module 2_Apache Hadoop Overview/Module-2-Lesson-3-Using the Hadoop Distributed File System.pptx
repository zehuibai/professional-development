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9"/>
  </p:notesMasterIdLst>
  <p:sldIdLst>
    <p:sldId id="715" r:id="rId5"/>
    <p:sldId id="766" r:id="rId6"/>
    <p:sldId id="706" r:id="rId7"/>
    <p:sldId id="274" r:id="rId8"/>
    <p:sldId id="710" r:id="rId9"/>
    <p:sldId id="711" r:id="rId10"/>
    <p:sldId id="718" r:id="rId11"/>
    <p:sldId id="713" r:id="rId12"/>
    <p:sldId id="686" r:id="rId13"/>
    <p:sldId id="685" r:id="rId14"/>
    <p:sldId id="716" r:id="rId15"/>
    <p:sldId id="708" r:id="rId16"/>
    <p:sldId id="688" r:id="rId17"/>
    <p:sldId id="717" r:id="rId18"/>
  </p:sldIdLst>
  <p:sldSz cx="18288000" cy="10287000"/>
  <p:notesSz cx="6858000" cy="9144000"/>
  <p:custDataLst>
    <p:tags r:id="rId20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DFDFDF"/>
    <a:srgbClr val="FFA858"/>
    <a:srgbClr val="3F4F6C"/>
    <a:srgbClr val="C50724"/>
    <a:srgbClr val="0070C0"/>
    <a:srgbClr val="BD051B"/>
    <a:srgbClr val="969696"/>
    <a:srgbClr val="E98D0A"/>
    <a:srgbClr val="17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86"/>
    <p:restoredTop sz="91693"/>
  </p:normalViewPr>
  <p:slideViewPr>
    <p:cSldViewPr snapToGrid="0" snapToObjects="1">
      <p:cViewPr varScale="1">
        <p:scale>
          <a:sx n="68" d="100"/>
          <a:sy n="68" d="100"/>
        </p:scale>
        <p:origin x="792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5/21/2024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536A5-2511-45D9-8AD9-23F11C951D17}" type="datetime1">
              <a:rPr lang="en-US" smtClean="0"/>
              <a:t>5/21/2024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02a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13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2: Lesson 3</a:t>
            </a:r>
            <a:br>
              <a:rPr lang="en-US" dirty="0"/>
            </a:br>
            <a:r>
              <a:rPr lang="en-US" sz="5400" dirty="0"/>
              <a:t>Using the Hadoop Distributed File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91FBD-53BD-9EF0-6809-923367027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522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HDFS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A common task in Hadoop is interacting with its file system and Hadoop offers several ways to achieve that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Java API</a:t>
            </a:r>
            <a:endParaRPr lang="en-US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File System Shell (Command Line)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49" y="391477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Hadoop Tools and Services (MapReduce, Hive, Spark,  etc.)</a:t>
            </a:r>
            <a:endParaRPr lang="en-US" sz="28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7301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Shell (Command Line)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hadoop fs &lt;args&gt;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Operations are somewhat similar to what you might use to manipulate Linux files and directories: ls, mv, mkdir, chgrp, chown, cat, cp, 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tx1"/>
                </a:solidFill>
              </a:rPr>
              <a:t>Some specialized operations for moving data between the local (Linux, MacOS, Windows) file system and HDFS: get, 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Hadoop Tools and Services (MapReduce, Hive, Spark,  etc.)</a:t>
            </a:r>
            <a:endParaRPr lang="en-US" sz="28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3053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“hadoop fs” versus “hdfs dfs”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572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5467350"/>
            <a:ext cx="4541520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hadoop fs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5467350"/>
            <a:ext cx="3657600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hdfs dfs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663440" y="2324100"/>
            <a:ext cx="1200912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More “generic” command that allows you to interact with multiple file systems: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693920" y="3895725"/>
            <a:ext cx="12009120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Local files (Linux, MacOS, Windows, etc.)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AWS Simple Storage Service (S3) and other cloud object stores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HDFS (includes EMR, and other cloud hosted Hadoop systems)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693920" y="5467350"/>
            <a:ext cx="12009120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Command that is specific to the HDFS file system</a:t>
            </a:r>
          </a:p>
        </p:txBody>
      </p:sp>
    </p:spTree>
    <p:extLst>
      <p:ext uri="{BB962C8B-B14F-4D97-AF65-F5344CB8AC3E}">
        <p14:creationId xmlns:p14="http://schemas.microsoft.com/office/powerpoint/2010/main" val="34793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Multiple File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We casually say “the” Hadoop Distributed File System as if that was the only file system accessible via Hadoop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tx1"/>
                </a:solidFill>
                <a:effectLst/>
              </a:rPr>
              <a:t>But that is not correct at all. From Hadoop we can access the local file system, HDFS and many others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tx1"/>
                </a:solidFill>
                <a:effectLst/>
              </a:rPr>
              <a:t>It is more correct to say that Hadoop can interact with any file system for which it is provided a Java “driver” class which conforms to a particular interface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2"/>
                </a:solidFill>
                <a:effectLst/>
              </a:rPr>
              <a:t>The Java abstract class org.apache.hadoop.fs.FileSystem represents the client interface to a filesystem in Hadoop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5274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Multiple File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So if you provide a file path to Hadoop, for example, </a:t>
            </a:r>
            <a:r>
              <a:rPr lang="en-US" sz="2800" b="0" i="1" dirty="0">
                <a:solidFill>
                  <a:schemeClr val="bg2"/>
                </a:solidFill>
                <a:effectLst/>
              </a:rPr>
              <a:t>/user/myfiles/somedata.csv</a:t>
            </a:r>
            <a:r>
              <a:rPr lang="en-US" sz="2800" b="0" i="0" dirty="0">
                <a:solidFill>
                  <a:schemeClr val="bg2"/>
                </a:solidFill>
                <a:effectLst/>
              </a:rPr>
              <a:t>, how do Hadoop applications know which file system to access</a:t>
            </a:r>
            <a:r>
              <a:rPr lang="en-US" sz="2800" dirty="0">
                <a:solidFill>
                  <a:schemeClr val="bg2"/>
                </a:solidFill>
              </a:rPr>
              <a:t>?</a:t>
            </a:r>
            <a:endParaRPr lang="en-US" sz="28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tx1"/>
                </a:solidFill>
                <a:effectLst/>
              </a:rPr>
              <a:t>To indicate explicitly to Hadoop which file system to reference when provided with a file path, that path needs to be represented as a URI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tx1"/>
                </a:solidFill>
                <a:effectLst/>
              </a:rPr>
              <a:t>The URI format is scheme://authority/path. For HDFS the scheme is </a:t>
            </a:r>
            <a:r>
              <a:rPr lang="en-US" sz="2800" b="0" i="1" dirty="0">
                <a:solidFill>
                  <a:schemeClr val="tx1"/>
                </a:solidFill>
                <a:effectLst/>
              </a:rPr>
              <a:t>hdfs</a:t>
            </a:r>
            <a:r>
              <a:rPr lang="en-US" sz="2800" b="0" i="0" dirty="0">
                <a:solidFill>
                  <a:schemeClr val="tx1"/>
                </a:solidFill>
                <a:effectLst/>
              </a:rPr>
              <a:t>, and for the Local FS the scheme is </a:t>
            </a:r>
            <a:r>
              <a:rPr lang="en-US" sz="2800" b="0" i="1" dirty="0">
                <a:solidFill>
                  <a:schemeClr val="tx1"/>
                </a:solidFill>
                <a:effectLst/>
              </a:rPr>
              <a:t>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2"/>
                </a:solidFill>
                <a:effectLst/>
              </a:rPr>
              <a:t>When missing, the scheme://authority/ is taken from the fs.defaultFS Hadoop property in the cluster configuration file core-site.xml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33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Multiple File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7187648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b="0" i="0" dirty="0">
                <a:solidFill>
                  <a:schemeClr val="bg2"/>
                </a:solidFill>
                <a:effectLst/>
              </a:rPr>
              <a:t>Often the value of fs.default</a:t>
            </a:r>
            <a:r>
              <a:rPr lang="en-US" sz="2400" dirty="0">
                <a:solidFill>
                  <a:schemeClr val="bg2"/>
                </a:solidFill>
              </a:rPr>
              <a:t>FS begins with “hdfs://” which configures HDFS as the default file system</a:t>
            </a:r>
            <a:endParaRPr lang="en-US" sz="24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7187647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</a:rPr>
              <a:t>A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 URI like ‘/user/john/data/file’ is generally interpreted as a path on the local HDFS filesystem of the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7187648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tx1"/>
                </a:solidFill>
                <a:effectLst/>
              </a:rPr>
              <a:t>An HDFS file or directory such as /parent/child can be specified as hdfs:///parent/child or simply as /parent/child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7187648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However, if fs.defaultFS is configured as s3://, an unqualified URI will similarly point to the AWS Simple Storage Service (S3) object store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6981E-CC93-76EF-A873-2C3984F6FCF8}"/>
              </a:ext>
            </a:extLst>
          </p:cNvPr>
          <p:cNvSpPr txBox="1"/>
          <p:nvPr/>
        </p:nvSpPr>
        <p:spPr>
          <a:xfrm>
            <a:off x="8783783" y="4222449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&lt;property&gt;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&lt;name&gt;fs.defaultFS&lt;/name&gt;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&lt;value&gt;hdfs://ip-172-31-50-76.ec2.internal:8020&lt;/value&gt;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&lt;/property&gt;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E3637C-895E-821C-E4BA-9676AD4F0C05}"/>
              </a:ext>
            </a:extLst>
          </p:cNvPr>
          <p:cNvSpPr txBox="1"/>
          <p:nvPr/>
        </p:nvSpPr>
        <p:spPr>
          <a:xfrm>
            <a:off x="9140826" y="2402372"/>
            <a:ext cx="8441025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Part of the default AWS Elastic Map Reduce (Hadoop) core-site.xml file indicating the default scheme</a:t>
            </a:r>
          </a:p>
        </p:txBody>
      </p:sp>
    </p:spTree>
    <p:extLst>
      <p:ext uri="{BB962C8B-B14F-4D97-AF65-F5344CB8AC3E}">
        <p14:creationId xmlns:p14="http://schemas.microsoft.com/office/powerpoint/2010/main" val="421543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Multiple File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For HDFS a fully-qualified URI to the file, has the form hdfs://host[:port]/path-to-file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For Azure HDInsight, you can access data in Azure Storage. The syntax is as follows: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wasb://&lt;containername&gt;@&lt;accountname&gt;.blob.core.windows.net/&lt;path&gt;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2"/>
                </a:solidFill>
                <a:effectLst/>
              </a:rPr>
              <a:t>For accounts that </a:t>
            </a:r>
            <a:r>
              <a:rPr lang="en-US" sz="2800" dirty="0">
                <a:solidFill>
                  <a:schemeClr val="bg2"/>
                </a:solidFill>
              </a:rPr>
              <a:t>use </a:t>
            </a:r>
            <a:r>
              <a:rPr lang="en-US" sz="2800" b="0" i="0" dirty="0">
                <a:solidFill>
                  <a:schemeClr val="bg2"/>
                </a:solidFill>
                <a:effectLst/>
              </a:rPr>
              <a:t>Azure Data Lake Storage Gen2, the syntax is as follows:</a:t>
            </a:r>
          </a:p>
          <a:p>
            <a:pPr algn="ctr"/>
            <a:r>
              <a:rPr lang="en-US" sz="2800" b="0" i="0" dirty="0">
                <a:solidFill>
                  <a:schemeClr val="bg2"/>
                </a:solidFill>
                <a:effectLst/>
              </a:rPr>
              <a:t>abfs://&lt;containername&gt;@&lt;accountname&gt;.dfs.core.windows.net/&lt;file.path&gt;/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2"/>
                </a:solidFill>
                <a:effectLst/>
              </a:rPr>
              <a:t>For accounts that use AWS Simple Storage Service the syntax is as follows:</a:t>
            </a:r>
          </a:p>
          <a:p>
            <a:pPr algn="ctr"/>
            <a:r>
              <a:rPr lang="en-US" sz="2800" dirty="0">
                <a:solidFill>
                  <a:schemeClr val="bg2"/>
                </a:solidFill>
              </a:rPr>
              <a:t>s3://bucket-name/path-to-object</a:t>
            </a:r>
            <a:endParaRPr lang="en-US" sz="2800" b="0" i="0" dirty="0">
              <a:solidFill>
                <a:schemeClr val="bg2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2022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647F-134F-1107-E113-AD9CE2D7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F865-9A12-7FAD-F8D6-58C3AF6CD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The following conventions are used for parameters </a:t>
            </a:r>
          </a:p>
          <a:p>
            <a:pPr lvl="1"/>
            <a:r>
              <a:rPr lang="en-US" sz="3200" i="1" dirty="0"/>
              <a:t>italics</a:t>
            </a:r>
            <a:r>
              <a:rPr lang="en-US" sz="3200" dirty="0"/>
              <a:t> denote variables to be filled out by the user</a:t>
            </a:r>
          </a:p>
          <a:p>
            <a:pPr lvl="1"/>
            <a:r>
              <a:rPr lang="en-US" sz="3200" dirty="0"/>
              <a:t>“path” means any file or directory name</a:t>
            </a:r>
          </a:p>
          <a:p>
            <a:pPr lvl="1"/>
            <a:r>
              <a:rPr lang="en-US" sz="3200" dirty="0"/>
              <a:t>“path. . . ” means one or more file or directory names</a:t>
            </a:r>
          </a:p>
          <a:p>
            <a:pPr lvl="1"/>
            <a:r>
              <a:rPr lang="en-US" sz="3200" dirty="0"/>
              <a:t>“file” means any filename</a:t>
            </a:r>
          </a:p>
          <a:p>
            <a:pPr lvl="1"/>
            <a:r>
              <a:rPr lang="en-US" sz="3200" dirty="0"/>
              <a:t>“src” and “dest” are path names</a:t>
            </a:r>
          </a:p>
          <a:p>
            <a:pPr lvl="1"/>
            <a:r>
              <a:rPr lang="en-US" sz="3200" dirty="0"/>
              <a:t>“localSrc” and “localDest” are paths as above, but on the local file system. All other file and path names refer to objects inside an HDFS compatible file system</a:t>
            </a:r>
          </a:p>
          <a:p>
            <a:r>
              <a:rPr lang="en-US" sz="3200" dirty="0"/>
              <a:t>We assume that the default scheme prefix is hdfs://</a:t>
            </a:r>
          </a:p>
          <a:p>
            <a:pPr lvl="1"/>
            <a:r>
              <a:rPr lang="en-US" sz="2800" dirty="0"/>
              <a:t>So HDFS is the default file system referenced by src and dest path names</a:t>
            </a:r>
          </a:p>
          <a:p>
            <a:pPr lvl="1"/>
            <a:r>
              <a:rPr lang="en-US" sz="2800" dirty="0"/>
              <a:t>And fs.defaultFS = hdfs:// as a property in the cluster configuration file core-site.xml</a:t>
            </a:r>
          </a:p>
        </p:txBody>
      </p:sp>
    </p:spTree>
    <p:extLst>
      <p:ext uri="{BB962C8B-B14F-4D97-AF65-F5344CB8AC3E}">
        <p14:creationId xmlns:p14="http://schemas.microsoft.com/office/powerpoint/2010/main" val="253284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HDFS Commands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1" y="2324100"/>
            <a:ext cx="629920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-1" y="3895725"/>
            <a:ext cx="6299201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-1" y="5467350"/>
            <a:ext cx="6299201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317500" y="2324100"/>
            <a:ext cx="5745957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  <a:effectLst/>
              </a:rPr>
              <a:t>-mkdir </a:t>
            </a:r>
            <a:r>
              <a:rPr lang="en-US" sz="2400" b="1" i="1" dirty="0">
                <a:solidFill>
                  <a:schemeClr val="bg2"/>
                </a:solidFill>
                <a:effectLst/>
              </a:rPr>
              <a:t>path…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Take path URI’s as arguments and create directories</a:t>
            </a:r>
            <a:r>
              <a:rPr lang="en-US" sz="2400" dirty="0">
                <a:solidFill>
                  <a:schemeClr val="bg2"/>
                </a:solidFill>
                <a:effectLst/>
              </a:rPr>
              <a:t>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386078" y="3895725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-rmdir </a:t>
            </a:r>
            <a:r>
              <a:rPr lang="en-US" sz="2400" i="1" dirty="0">
                <a:solidFill>
                  <a:schemeClr val="tx1"/>
                </a:solidFill>
              </a:rPr>
              <a:t>path…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Take path URI’s as arguments and delete (empty) directories</a:t>
            </a:r>
            <a:r>
              <a:rPr lang="en-US" sz="2400" dirty="0">
                <a:solidFill>
                  <a:schemeClr val="tx1"/>
                </a:solidFill>
                <a:effectLst/>
              </a:rPr>
              <a:t>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347978" y="5467350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-ls </a:t>
            </a:r>
            <a:r>
              <a:rPr lang="en-US" sz="2400" i="1" dirty="0">
                <a:solidFill>
                  <a:schemeClr val="tx1"/>
                </a:solidFill>
              </a:rPr>
              <a:t>path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effectLst/>
              </a:rPr>
              <a:t>Lists the contents of the directory specified by path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6383021" y="2324100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hadoop fs -</a:t>
            </a:r>
            <a:r>
              <a:rPr lang="en-US" sz="2400" dirty="0" err="1">
                <a:solidFill>
                  <a:schemeClr val="bg2"/>
                </a:solidFill>
              </a:rPr>
              <a:t>mkdir</a:t>
            </a:r>
            <a:r>
              <a:rPr lang="en-US" sz="2400" dirty="0">
                <a:solidFill>
                  <a:schemeClr val="bg2"/>
                </a:solidFill>
              </a:rPr>
              <a:t> /user/hadoop/dir1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hadoop fs – /user/hadoop/dir1 /user/hadoop/dir2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hadoop fs -</a:t>
            </a:r>
            <a:r>
              <a:rPr lang="en-US" sz="2400" dirty="0" err="1">
                <a:solidFill>
                  <a:schemeClr val="bg2"/>
                </a:solidFill>
              </a:rPr>
              <a:t>mkdir</a:t>
            </a:r>
            <a:r>
              <a:rPr lang="en-US" sz="2400" dirty="0">
                <a:solidFill>
                  <a:schemeClr val="bg2"/>
                </a:solidFill>
              </a:rPr>
              <a:t> s3://bucket/datasets/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6413501" y="3895725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hadoop fs -rmdir /user/hadoop/emptydir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6413501" y="5467350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u="none" strike="noStrike" dirty="0">
                <a:solidFill>
                  <a:schemeClr val="tx1"/>
                </a:solidFill>
                <a:effectLst/>
              </a:rPr>
              <a:t>hadoop fs -ls /user/hadoop/file1</a:t>
            </a:r>
          </a:p>
          <a:p>
            <a:pPr algn="ctr"/>
            <a:r>
              <a:rPr lang="en-US" sz="2400" b="0" i="0" u="none" strike="noStrike" dirty="0">
                <a:solidFill>
                  <a:schemeClr val="tx1"/>
                </a:solidFill>
                <a:effectLst/>
              </a:rPr>
              <a:t>hadoop fs -ls /user/hadoop</a:t>
            </a:r>
          </a:p>
        </p:txBody>
      </p:sp>
    </p:spTree>
    <p:extLst>
      <p:ext uri="{BB962C8B-B14F-4D97-AF65-F5344CB8AC3E}">
        <p14:creationId xmlns:p14="http://schemas.microsoft.com/office/powerpoint/2010/main" val="14737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E9ED-1A85-EDD7-B2E8-A7AB5991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“hadoop fs –ls /”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C0894-290B-D567-522D-BAB67C95F7B7}"/>
              </a:ext>
            </a:extLst>
          </p:cNvPr>
          <p:cNvSpPr txBox="1"/>
          <p:nvPr/>
        </p:nvSpPr>
        <p:spPr>
          <a:xfrm>
            <a:off x="2022763" y="2309613"/>
            <a:ext cx="148555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Found 5 items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drwxr-xr-x   - hdfs   hdfsadmingroup          0 2023-11-20 15:14 /apps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-rw-r--r--   2 hadoop hdfsadmingroup       5329 2023-11-20 15:27 /core-site.xml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drwxrwxrwt   - hdfs   hdfsadmingroup          0 2023-11-20 15:19 /tmp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drwxr-xr-x   - hdfs   hdfsadmingroup          0 2023-11-20 15:14 /user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drwxr-xr-x   - hdfs   hdfsadmingroup          0 2023-11-20 15:14 /var</a:t>
            </a:r>
            <a:endParaRPr lang="en-US" sz="2400" dirty="0">
              <a:effectLst/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DA3FC-5824-C773-A713-BB435FABC301}"/>
              </a:ext>
            </a:extLst>
          </p:cNvPr>
          <p:cNvSpPr/>
          <p:nvPr/>
        </p:nvSpPr>
        <p:spPr>
          <a:xfrm>
            <a:off x="1260162" y="5067297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i="0" dirty="0">
                <a:solidFill>
                  <a:schemeClr val="bg2"/>
                </a:solidFill>
                <a:effectLst/>
              </a:rPr>
              <a:t>For a directory ls returns the following:</a:t>
            </a:r>
          </a:p>
          <a:p>
            <a:pPr marL="0" indent="0" algn="ctr">
              <a:buNone/>
            </a:pPr>
            <a:r>
              <a:rPr lang="en-US" sz="2800" b="0" i="1" dirty="0">
                <a:solidFill>
                  <a:schemeClr val="bg2"/>
                </a:solidFill>
                <a:effectLst/>
              </a:rPr>
              <a:t>permissions userid groupid modification_date modification_time dirname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2DA6F-81B5-A274-D3DF-0FC64E1E8BEC}"/>
              </a:ext>
            </a:extLst>
          </p:cNvPr>
          <p:cNvSpPr/>
          <p:nvPr/>
        </p:nvSpPr>
        <p:spPr>
          <a:xfrm>
            <a:off x="1260162" y="6638922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0" dirty="0">
                <a:solidFill>
                  <a:schemeClr val="tx1"/>
                </a:solidFill>
                <a:effectLst/>
              </a:rPr>
              <a:t>For a file ls returns the following: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chemeClr val="tx1"/>
                </a:solidFill>
              </a:rPr>
              <a:t>permissions </a:t>
            </a:r>
            <a:r>
              <a:rPr lang="en-US" sz="2800" i="1" dirty="0">
                <a:solidFill>
                  <a:srgbClr val="FFFF00"/>
                </a:solidFill>
              </a:rPr>
              <a:t>number_of_replicas </a:t>
            </a:r>
            <a:r>
              <a:rPr lang="en-US" sz="2800" i="1" dirty="0">
                <a:solidFill>
                  <a:schemeClr val="tx1"/>
                </a:solidFill>
              </a:rPr>
              <a:t>userid groupid filesize modification_date modification_time filename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AD9E15-34D7-8987-4E90-D19EAB4BF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08" y="5067297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8FF035-C2A1-96DE-5886-3C32B5337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08" y="6638922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7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HDFS Commands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1" y="2324100"/>
            <a:ext cx="629920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-1" y="3895725"/>
            <a:ext cx="6299201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-1" y="5467350"/>
            <a:ext cx="6299201" cy="13144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-1" y="7038975"/>
            <a:ext cx="6299201" cy="13144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317500" y="2324100"/>
            <a:ext cx="5745957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/>
                </a:solidFill>
                <a:effectLst/>
              </a:rPr>
              <a:t>-</a:t>
            </a:r>
            <a:r>
              <a:rPr lang="en-US" sz="2000" b="1" dirty="0">
                <a:solidFill>
                  <a:schemeClr val="bg2"/>
                </a:solidFill>
              </a:rPr>
              <a:t>put </a:t>
            </a:r>
            <a:r>
              <a:rPr lang="en-US" sz="2000" b="1" i="1" dirty="0">
                <a:solidFill>
                  <a:schemeClr val="bg2"/>
                </a:solidFill>
              </a:rPr>
              <a:t>localSrc… dest</a:t>
            </a:r>
            <a:endParaRPr lang="en-US" sz="2000" b="1" i="1" dirty="0">
              <a:solidFill>
                <a:schemeClr val="bg2"/>
              </a:solidFill>
              <a:effectLst/>
            </a:endParaRPr>
          </a:p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Copies files or directories from the local file system identified by localSrc to dest 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386078" y="3895725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-get </a:t>
            </a:r>
            <a:r>
              <a:rPr lang="en-US" sz="2000" i="1" dirty="0">
                <a:solidFill>
                  <a:schemeClr val="tx1"/>
                </a:solidFill>
              </a:rPr>
              <a:t>src localDest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effectLst/>
              </a:rPr>
              <a:t>Copies the file or directory identified by src to the local file system path identified by localDest.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347978" y="5467350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-cp </a:t>
            </a:r>
            <a:r>
              <a:rPr lang="en-US" sz="2000" i="1" dirty="0">
                <a:solidFill>
                  <a:schemeClr val="tx1"/>
                </a:solidFill>
              </a:rPr>
              <a:t>src… dest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effectLst/>
              </a:rPr>
              <a:t>Copies the files identified by src to dest. A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llows multiple sources as well in which case the destination needs to be a directory.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373378" y="7038975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-mv </a:t>
            </a:r>
            <a:r>
              <a:rPr lang="en-US" sz="2000" i="1" dirty="0">
                <a:solidFill>
                  <a:schemeClr val="bg2"/>
                </a:solidFill>
              </a:rPr>
              <a:t>src… dest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Moves the files identified by src to dest. A</a:t>
            </a:r>
            <a:r>
              <a:rPr lang="en-US" sz="2000" b="0" i="0" u="none" strike="noStrike" dirty="0">
                <a:solidFill>
                  <a:schemeClr val="bg2"/>
                </a:solidFill>
                <a:effectLst/>
              </a:rPr>
              <a:t>llows multiple sources as well in which case the destination needs to be a directory.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6383021" y="2324100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–put localfile /user/hadoop/hadoopfile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–put localfile s3://somebucket/someobject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–put localdir /user/Hadoop/hadoopdir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–put localfile1 localfile2 /user/Hadoop/hadoopdir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6413501" y="3895725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hadoop fs -get /user/hadoop/file localfile</a:t>
            </a:r>
          </a:p>
          <a:p>
            <a:pPr algn="ctr"/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hadoop fs -get /user/hadoop/</a:t>
            </a:r>
            <a:r>
              <a:rPr lang="en-US" sz="2000" dirty="0">
                <a:solidFill>
                  <a:schemeClr val="tx1"/>
                </a:solidFill>
              </a:rPr>
              <a:t>dir1 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localdir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hadoop fs -get wasb://yourcontainer@youraccount.blob.core.windows.net/hello.txt /examples</a:t>
            </a:r>
            <a:endParaRPr lang="en-US" sz="2000" b="0" i="0" u="none" strike="noStrike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6413501" y="5467350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hadoop fs -cp /user/hadoop/file1 /user/hadoop/file2</a:t>
            </a:r>
          </a:p>
          <a:p>
            <a:pPr algn="ctr"/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hadoop fs -cp /user/hadoop/file1 /user/hadoop/file2 /user/hadoop/dir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6413501" y="7038975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u="none" strike="noStrike" dirty="0">
                <a:solidFill>
                  <a:schemeClr val="bg2"/>
                </a:solidFill>
                <a:effectLst/>
              </a:rPr>
              <a:t>hadoop fs -mv /user/hadoop/file1 /user/hadoop/file2</a:t>
            </a:r>
          </a:p>
          <a:p>
            <a:pPr algn="ctr"/>
            <a:r>
              <a:rPr lang="en-US" sz="2000" b="0" i="0" u="none" strike="noStrike" dirty="0">
                <a:solidFill>
                  <a:schemeClr val="bg2"/>
                </a:solidFill>
                <a:effectLst/>
              </a:rPr>
              <a:t>hadoop fs -mv /user/hadoop/file1 /user/hadoop/file2 /user/hadoop/dir</a:t>
            </a:r>
          </a:p>
        </p:txBody>
      </p:sp>
    </p:spTree>
    <p:extLst>
      <p:ext uri="{BB962C8B-B14F-4D97-AF65-F5344CB8AC3E}">
        <p14:creationId xmlns:p14="http://schemas.microsoft.com/office/powerpoint/2010/main" val="1393060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Commands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1" y="2324100"/>
            <a:ext cx="6299201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-1" y="3895725"/>
            <a:ext cx="6299201" cy="13144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317500" y="2324100"/>
            <a:ext cx="5745957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/>
                </a:solidFill>
                <a:effectLst/>
              </a:rPr>
              <a:t>-rm </a:t>
            </a:r>
            <a:r>
              <a:rPr lang="en-US" sz="2000" b="1" i="1" dirty="0">
                <a:solidFill>
                  <a:schemeClr val="bg2"/>
                </a:solidFill>
                <a:effectLst/>
              </a:rPr>
              <a:t>path…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  <a:effectLst/>
              </a:rPr>
              <a:t>Deletes the file or empty directory identified by path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386078" y="3895725"/>
            <a:ext cx="5744405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-cat </a:t>
            </a:r>
            <a:r>
              <a:rPr lang="en-US" sz="2000" i="1" dirty="0">
                <a:solidFill>
                  <a:schemeClr val="tx1"/>
                </a:solidFill>
              </a:rPr>
              <a:t>filename…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effectLst/>
              </a:rPr>
              <a:t>Displays the contents of filename on stdout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6383021" y="2324100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–rm localfile /user/hadoop/hadoopfile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–rm localfile s3://somebucket/someobject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–rm localdir /user/hadoop/emptydir</a:t>
            </a:r>
          </a:p>
          <a:p>
            <a:pPr algn="ctr"/>
            <a:r>
              <a:rPr lang="en-US" sz="2000" dirty="0">
                <a:solidFill>
                  <a:schemeClr val="bg2"/>
                </a:solidFill>
              </a:rPr>
              <a:t>hadoop fs –rm /user/hadoop/lhadoopfile  /user/hadoop/emptydir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6413501" y="3895725"/>
            <a:ext cx="10133560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hadoop fs -cat /user/hadoop/file1 /user/hadoop/file2</a:t>
            </a:r>
          </a:p>
        </p:txBody>
      </p:sp>
    </p:spTree>
    <p:extLst>
      <p:ext uri="{BB962C8B-B14F-4D97-AF65-F5344CB8AC3E}">
        <p14:creationId xmlns:p14="http://schemas.microsoft.com/office/powerpoint/2010/main" val="3317957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Key Ideas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b="0" i="0" dirty="0">
                <a:solidFill>
                  <a:schemeClr val="bg2"/>
                </a:solidFill>
                <a:effectLst/>
              </a:rPr>
              <a:t>Write Once, Read Many times (WORM)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Divide files into big blocks and distribute across the cluster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tx1"/>
                </a:solidFill>
                <a:effectLst/>
              </a:rPr>
              <a:t>Store multiple replicas of each block for reliability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0" i="0" dirty="0">
                <a:solidFill>
                  <a:schemeClr val="bg2"/>
                </a:solidFill>
                <a:effectLst/>
              </a:rPr>
              <a:t>Programs can ask "where do the pieces of my file live?”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5248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D814FB37-7A2E-4776-A94A-9F3990FF39A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72434</TotalTime>
  <Words>1433</Words>
  <Application>Microsoft Office PowerPoint</Application>
  <PresentationFormat>Custom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</vt:lpstr>
      <vt:lpstr>Wingdings 2</vt:lpstr>
      <vt:lpstr>Breeze</vt:lpstr>
      <vt:lpstr>Module 2: Lesson 3 Using the Hadoop Distributed File System</vt:lpstr>
      <vt:lpstr>Accessing HDFS</vt:lpstr>
      <vt:lpstr>File System Shell (Command Line)</vt:lpstr>
      <vt:lpstr>“hadoop fs” versus “hdfs dfs”</vt:lpstr>
      <vt:lpstr>Accessing Multiple File Systems</vt:lpstr>
      <vt:lpstr>Accessing Multiple File Systems</vt:lpstr>
      <vt:lpstr>Accessing Multiple File Systems</vt:lpstr>
      <vt:lpstr>Accessing Multiple File Systems</vt:lpstr>
      <vt:lpstr>HDFS Commands</vt:lpstr>
      <vt:lpstr>Common HDFS Commands</vt:lpstr>
      <vt:lpstr>“hadoop fs –ls /” Example</vt:lpstr>
      <vt:lpstr>Common HDFS Commands</vt:lpstr>
      <vt:lpstr>HDFS Commands</vt:lpstr>
      <vt:lpstr>HDFS Key Ideas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207</cp:revision>
  <cp:lastPrinted>2023-11-27T20:09:56Z</cp:lastPrinted>
  <dcterms:created xsi:type="dcterms:W3CDTF">2019-02-13T16:04:21Z</dcterms:created>
  <dcterms:modified xsi:type="dcterms:W3CDTF">2024-05-21T16:49:43Z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70DBCD30-F1B8-4B99-9476-133C4FF24475</vt:lpwstr>
  </property>
  <property fmtid="{D5CDD505-2E9C-101B-9397-08002B2CF9AE}" pid="4" name="ArticulatePath">
    <vt:lpwstr>Module 2 11302023</vt:lpwstr>
  </property>
</Properties>
</file>