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32"/>
  </p:notesMasterIdLst>
  <p:sldIdLst>
    <p:sldId id="880" r:id="rId5"/>
    <p:sldId id="911" r:id="rId6"/>
    <p:sldId id="881" r:id="rId7"/>
    <p:sldId id="885" r:id="rId8"/>
    <p:sldId id="849" r:id="rId9"/>
    <p:sldId id="850" r:id="rId10"/>
    <p:sldId id="886" r:id="rId11"/>
    <p:sldId id="887" r:id="rId12"/>
    <p:sldId id="830" r:id="rId13"/>
    <p:sldId id="835" r:id="rId14"/>
    <p:sldId id="832" r:id="rId15"/>
    <p:sldId id="452" r:id="rId16"/>
    <p:sldId id="837" r:id="rId17"/>
    <p:sldId id="453" r:id="rId18"/>
    <p:sldId id="454" r:id="rId19"/>
    <p:sldId id="460" r:id="rId20"/>
    <p:sldId id="461" r:id="rId21"/>
    <p:sldId id="918" r:id="rId22"/>
    <p:sldId id="331" r:id="rId23"/>
    <p:sldId id="344" r:id="rId24"/>
    <p:sldId id="773" r:id="rId25"/>
    <p:sldId id="920" r:id="rId26"/>
    <p:sldId id="912" r:id="rId27"/>
    <p:sldId id="913" r:id="rId28"/>
    <p:sldId id="914" r:id="rId29"/>
    <p:sldId id="915" r:id="rId30"/>
    <p:sldId id="489" r:id="rId31"/>
  </p:sldIdLst>
  <p:sldSz cx="18288000" cy="10287000"/>
  <p:notesSz cx="6858000" cy="9144000"/>
  <p:custDataLst>
    <p:tags r:id="rId33"/>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A9A9A"/>
    <a:srgbClr val="878787"/>
    <a:srgbClr val="999999"/>
    <a:srgbClr val="F94C67"/>
    <a:srgbClr val="1770C0"/>
    <a:srgbClr val="E98D0A"/>
    <a:srgbClr val="3E4F6C"/>
    <a:srgbClr val="969696"/>
    <a:srgbClr val="3F4F6C"/>
    <a:srgbClr val="C507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07638C-357E-D894-3ED1-6140355F201C}" v="8" dt="2024-07-09T18:38:31.5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69"/>
    <p:restoredTop sz="94044"/>
  </p:normalViewPr>
  <p:slideViewPr>
    <p:cSldViewPr snapToGrid="0" snapToObjects="1">
      <p:cViewPr varScale="1">
        <p:scale>
          <a:sx n="70" d="100"/>
          <a:sy n="70" d="100"/>
        </p:scale>
        <p:origin x="666" y="90"/>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gs" Target="tags/tag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ison Mulshine" userId="S::allison.mulshine@collegiseducation.com::5f656d52-c555-4e5e-9a5b-18226766ffe3" providerId="AD" clId="Web-{6607638C-357E-D894-3ED1-6140355F201C}"/>
    <pc:docChg chg="modSld">
      <pc:chgData name="Allison Mulshine" userId="S::allison.mulshine@collegiseducation.com::5f656d52-c555-4e5e-9a5b-18226766ffe3" providerId="AD" clId="Web-{6607638C-357E-D894-3ED1-6140355F201C}" dt="2024-07-09T18:38:31.559" v="6" actId="14100"/>
      <pc:docMkLst>
        <pc:docMk/>
      </pc:docMkLst>
      <pc:sldChg chg="modSp">
        <pc:chgData name="Allison Mulshine" userId="S::allison.mulshine@collegiseducation.com::5f656d52-c555-4e5e-9a5b-18226766ffe3" providerId="AD" clId="Web-{6607638C-357E-D894-3ED1-6140355F201C}" dt="2024-07-09T18:37:07.589" v="0" actId="1076"/>
        <pc:sldMkLst>
          <pc:docMk/>
          <pc:sldMk cId="1424540703" sldId="913"/>
        </pc:sldMkLst>
        <pc:spChg chg="mod">
          <ac:chgData name="Allison Mulshine" userId="S::allison.mulshine@collegiseducation.com::5f656d52-c555-4e5e-9a5b-18226766ffe3" providerId="AD" clId="Web-{6607638C-357E-D894-3ED1-6140355F201C}" dt="2024-07-09T18:37:07.589" v="0" actId="1076"/>
          <ac:spMkLst>
            <pc:docMk/>
            <pc:sldMk cId="1424540703" sldId="913"/>
            <ac:spMk id="11" creationId="{6D6EF54A-E47D-CC5D-D909-2FE76FA55512}"/>
          </ac:spMkLst>
        </pc:spChg>
      </pc:sldChg>
      <pc:sldChg chg="addSp delSp modSp">
        <pc:chgData name="Allison Mulshine" userId="S::allison.mulshine@collegiseducation.com::5f656d52-c555-4e5e-9a5b-18226766ffe3" providerId="AD" clId="Web-{6607638C-357E-D894-3ED1-6140355F201C}" dt="2024-07-09T18:38:31.559" v="6" actId="14100"/>
        <pc:sldMkLst>
          <pc:docMk/>
          <pc:sldMk cId="3851588401" sldId="914"/>
        </pc:sldMkLst>
        <pc:grpChg chg="del">
          <ac:chgData name="Allison Mulshine" userId="S::allison.mulshine@collegiseducation.com::5f656d52-c555-4e5e-9a5b-18226766ffe3" providerId="AD" clId="Web-{6607638C-357E-D894-3ED1-6140355F201C}" dt="2024-07-09T18:38:22.996" v="4"/>
          <ac:grpSpMkLst>
            <pc:docMk/>
            <pc:sldMk cId="3851588401" sldId="914"/>
            <ac:grpSpMk id="7" creationId="{8B3B98C4-84BF-9631-C057-42F684896174}"/>
          </ac:grpSpMkLst>
        </pc:grpChg>
        <pc:picChg chg="add mod">
          <ac:chgData name="Allison Mulshine" userId="S::allison.mulshine@collegiseducation.com::5f656d52-c555-4e5e-9a5b-18226766ffe3" providerId="AD" clId="Web-{6607638C-357E-D894-3ED1-6140355F201C}" dt="2024-07-09T18:38:31.559" v="6" actId="14100"/>
          <ac:picMkLst>
            <pc:docMk/>
            <pc:sldMk cId="3851588401" sldId="914"/>
            <ac:picMk id="9" creationId="{A1BFE638-5BFE-2A4E-9A3D-E959EBC59AB0}"/>
          </ac:picMkLst>
        </pc:picChg>
      </pc:sldChg>
    </pc:docChg>
  </pc:docChgLst>
  <pc:docChgLst>
    <pc:chgData name="Allison Mulshine" userId="S::allison.mulshine@collegiseducation.com::5f656d52-c555-4e5e-9a5b-18226766ffe3" providerId="AD" clId="Web-{DC58D621-3C86-1656-7FA4-7EAE8B806C18}"/>
    <pc:docChg chg="modSld">
      <pc:chgData name="Allison Mulshine" userId="S::allison.mulshine@collegiseducation.com::5f656d52-c555-4e5e-9a5b-18226766ffe3" providerId="AD" clId="Web-{DC58D621-3C86-1656-7FA4-7EAE8B806C18}" dt="2024-06-20T19:20:22.424" v="10"/>
      <pc:docMkLst>
        <pc:docMk/>
      </pc:docMkLst>
      <pc:sldChg chg="modSp">
        <pc:chgData name="Allison Mulshine" userId="S::allison.mulshine@collegiseducation.com::5f656d52-c555-4e5e-9a5b-18226766ffe3" providerId="AD" clId="Web-{DC58D621-3C86-1656-7FA4-7EAE8B806C18}" dt="2024-06-20T19:20:22.424" v="10"/>
        <pc:sldMkLst>
          <pc:docMk/>
          <pc:sldMk cId="2763812289" sldId="489"/>
        </pc:sldMkLst>
        <pc:spChg chg="mod">
          <ac:chgData name="Allison Mulshine" userId="S::allison.mulshine@collegiseducation.com::5f656d52-c555-4e5e-9a5b-18226766ffe3" providerId="AD" clId="Web-{DC58D621-3C86-1656-7FA4-7EAE8B806C18}" dt="2024-06-20T19:20:22.424" v="10"/>
          <ac:spMkLst>
            <pc:docMk/>
            <pc:sldMk cId="2763812289" sldId="489"/>
            <ac:spMk id="5" creationId="{00000000-0000-0000-0000-000000000000}"/>
          </ac:spMkLst>
        </pc:spChg>
      </pc:sldChg>
      <pc:sldChg chg="modSp">
        <pc:chgData name="Allison Mulshine" userId="S::allison.mulshine@collegiseducation.com::5f656d52-c555-4e5e-9a5b-18226766ffe3" providerId="AD" clId="Web-{DC58D621-3C86-1656-7FA4-7EAE8B806C18}" dt="2024-06-20T19:15:35.116" v="0"/>
        <pc:sldMkLst>
          <pc:docMk/>
          <pc:sldMk cId="4004928788" sldId="850"/>
        </pc:sldMkLst>
        <pc:picChg chg="mod">
          <ac:chgData name="Allison Mulshine" userId="S::allison.mulshine@collegiseducation.com::5f656d52-c555-4e5e-9a5b-18226766ffe3" providerId="AD" clId="Web-{DC58D621-3C86-1656-7FA4-7EAE8B806C18}" dt="2024-06-20T19:15:35.116" v="0"/>
          <ac:picMkLst>
            <pc:docMk/>
            <pc:sldMk cId="4004928788" sldId="850"/>
            <ac:picMk id="4" creationId="{642E0AB8-4856-04F6-B7B5-B16C76D1041A}"/>
          </ac:picMkLst>
        </pc:picChg>
      </pc:sldChg>
      <pc:sldChg chg="modSp">
        <pc:chgData name="Allison Mulshine" userId="S::allison.mulshine@collegiseducation.com::5f656d52-c555-4e5e-9a5b-18226766ffe3" providerId="AD" clId="Web-{DC58D621-3C86-1656-7FA4-7EAE8B806C18}" dt="2024-06-20T19:17:29.761" v="6"/>
        <pc:sldMkLst>
          <pc:docMk/>
          <pc:sldMk cId="1424540703" sldId="913"/>
        </pc:sldMkLst>
        <pc:spChg chg="mod">
          <ac:chgData name="Allison Mulshine" userId="S::allison.mulshine@collegiseducation.com::5f656d52-c555-4e5e-9a5b-18226766ffe3" providerId="AD" clId="Web-{DC58D621-3C86-1656-7FA4-7EAE8B806C18}" dt="2024-06-20T19:17:29.761" v="6"/>
          <ac:spMkLst>
            <pc:docMk/>
            <pc:sldMk cId="1424540703" sldId="913"/>
            <ac:spMk id="11" creationId="{6D6EF54A-E47D-CC5D-D909-2FE76FA55512}"/>
          </ac:spMkLst>
        </pc:spChg>
      </pc:sldChg>
      <pc:sldChg chg="addSp modSp">
        <pc:chgData name="Allison Mulshine" userId="S::allison.mulshine@collegiseducation.com::5f656d52-c555-4e5e-9a5b-18226766ffe3" providerId="AD" clId="Web-{DC58D621-3C86-1656-7FA4-7EAE8B806C18}" dt="2024-06-20T19:18:28.107" v="8"/>
        <pc:sldMkLst>
          <pc:docMk/>
          <pc:sldMk cId="3851588401" sldId="914"/>
        </pc:sldMkLst>
        <pc:grpChg chg="add mod">
          <ac:chgData name="Allison Mulshine" userId="S::allison.mulshine@collegiseducation.com::5f656d52-c555-4e5e-9a5b-18226766ffe3" providerId="AD" clId="Web-{DC58D621-3C86-1656-7FA4-7EAE8B806C18}" dt="2024-06-20T19:18:28.107" v="8"/>
          <ac:grpSpMkLst>
            <pc:docMk/>
            <pc:sldMk cId="3851588401" sldId="914"/>
            <ac:grpSpMk id="7" creationId="{8B3B98C4-84BF-9631-C057-42F684896174}"/>
          </ac:grpSpMkLst>
        </pc:grpChg>
      </pc:sldChg>
      <pc:sldChg chg="modSp">
        <pc:chgData name="Allison Mulshine" userId="S::allison.mulshine@collegiseducation.com::5f656d52-c555-4e5e-9a5b-18226766ffe3" providerId="AD" clId="Web-{DC58D621-3C86-1656-7FA4-7EAE8B806C18}" dt="2024-06-20T19:19:28.922" v="9"/>
        <pc:sldMkLst>
          <pc:docMk/>
          <pc:sldMk cId="2095107900" sldId="915"/>
        </pc:sldMkLst>
        <pc:spChg chg="mod">
          <ac:chgData name="Allison Mulshine" userId="S::allison.mulshine@collegiseducation.com::5f656d52-c555-4e5e-9a5b-18226766ffe3" providerId="AD" clId="Web-{DC58D621-3C86-1656-7FA4-7EAE8B806C18}" dt="2024-06-20T19:19:28.922" v="9"/>
          <ac:spMkLst>
            <pc:docMk/>
            <pc:sldMk cId="2095107900" sldId="915"/>
            <ac:spMk id="7" creationId="{20A1D3A5-2E27-5F07-6524-0FAA749C3463}"/>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D0BB63-F3DB-7A4D-9E9E-D3BCBD2E7EB3}"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A38895C2-01F9-6245-91B5-24143C38A9C7}">
      <dgm:prSet phldrT="[Text]" custT="1"/>
      <dgm:spPr/>
      <dgm:t>
        <a:bodyPr/>
        <a:lstStyle/>
        <a:p>
          <a:pPr>
            <a:lnSpc>
              <a:spcPct val="100000"/>
            </a:lnSpc>
            <a:defRPr b="1"/>
          </a:pPr>
          <a:r>
            <a:rPr lang="en-US" sz="2800" dirty="0"/>
            <a:t>Java</a:t>
          </a:r>
          <a:endParaRPr lang="en-US" sz="1050" dirty="0">
            <a:solidFill>
              <a:srgbClr val="374151"/>
            </a:solidFill>
            <a:ea typeface="+mn-lt"/>
            <a:cs typeface="+mn-lt"/>
          </a:endParaRPr>
        </a:p>
      </dgm:t>
    </dgm:pt>
    <dgm:pt modelId="{4E7FF56D-46AD-054E-9A98-96B3BA155886}" type="parTrans" cxnId="{D3B5A944-F001-C443-B5F2-2B9F33291B32}">
      <dgm:prSet/>
      <dgm:spPr/>
      <dgm:t>
        <a:bodyPr/>
        <a:lstStyle/>
        <a:p>
          <a:endParaRPr lang="en-US" sz="3600"/>
        </a:p>
      </dgm:t>
    </dgm:pt>
    <dgm:pt modelId="{705E8EE7-BF08-CB4D-BD5C-3C2188954C5C}" type="sibTrans" cxnId="{D3B5A944-F001-C443-B5F2-2B9F33291B32}">
      <dgm:prSet/>
      <dgm:spPr/>
      <dgm:t>
        <a:bodyPr/>
        <a:lstStyle/>
        <a:p>
          <a:endParaRPr lang="en-US" sz="3600"/>
        </a:p>
      </dgm:t>
    </dgm:pt>
    <dgm:pt modelId="{115F7D96-A3EF-2846-B835-63F34DBB95AF}">
      <dgm:prSet phldrT="[Text]" custT="1"/>
      <dgm:spPr/>
      <dgm:t>
        <a:bodyPr/>
        <a:lstStyle/>
        <a:p>
          <a:pPr>
            <a:lnSpc>
              <a:spcPct val="100000"/>
            </a:lnSpc>
            <a:defRPr b="1"/>
          </a:pPr>
          <a:r>
            <a:rPr lang="en-US" sz="2800" dirty="0">
              <a:solidFill>
                <a:schemeClr val="tx1"/>
              </a:solidFill>
              <a:cs typeface="Arial"/>
            </a:rPr>
            <a:t>Hadoop Streaming</a:t>
          </a:r>
          <a:endParaRPr lang="en-US" sz="2800" dirty="0"/>
        </a:p>
      </dgm:t>
    </dgm:pt>
    <dgm:pt modelId="{8904A24B-91D6-D046-A910-7C149A2C7BA8}" type="sibTrans" cxnId="{62DFFD0E-98E5-A249-88B6-3BDEDDF5AB56}">
      <dgm:prSet/>
      <dgm:spPr/>
      <dgm:t>
        <a:bodyPr/>
        <a:lstStyle/>
        <a:p>
          <a:endParaRPr lang="en-US" sz="3600"/>
        </a:p>
      </dgm:t>
    </dgm:pt>
    <dgm:pt modelId="{C4C03E97-7C04-A340-9B66-1F3D898C4382}" type="parTrans" cxnId="{62DFFD0E-98E5-A249-88B6-3BDEDDF5AB56}">
      <dgm:prSet/>
      <dgm:spPr/>
      <dgm:t>
        <a:bodyPr/>
        <a:lstStyle/>
        <a:p>
          <a:endParaRPr lang="en-US" sz="3600"/>
        </a:p>
      </dgm:t>
    </dgm:pt>
    <dgm:pt modelId="{66929672-6729-EA46-A72A-8965BA42864F}">
      <dgm:prSet phldrT="[Text]" custT="1"/>
      <dgm:spPr/>
      <dgm:t>
        <a:bodyPr/>
        <a:lstStyle/>
        <a:p>
          <a:pPr>
            <a:lnSpc>
              <a:spcPct val="100000"/>
            </a:lnSpc>
          </a:pPr>
          <a:r>
            <a:rPr lang="en-US" sz="2600" dirty="0"/>
            <a:t>A utility that comes with the Hadoop distribution</a:t>
          </a:r>
        </a:p>
      </dgm:t>
    </dgm:pt>
    <dgm:pt modelId="{23065B83-558B-B240-A6D7-AC22F287706F}" type="parTrans" cxnId="{886D7C6C-569B-9345-B7E5-72D4BD1AA8CE}">
      <dgm:prSet/>
      <dgm:spPr/>
      <dgm:t>
        <a:bodyPr/>
        <a:lstStyle/>
        <a:p>
          <a:endParaRPr lang="en-US"/>
        </a:p>
      </dgm:t>
    </dgm:pt>
    <dgm:pt modelId="{436A1216-A13B-6E45-90EB-83A033025994}" type="sibTrans" cxnId="{886D7C6C-569B-9345-B7E5-72D4BD1AA8CE}">
      <dgm:prSet/>
      <dgm:spPr/>
      <dgm:t>
        <a:bodyPr/>
        <a:lstStyle/>
        <a:p>
          <a:endParaRPr lang="en-US"/>
        </a:p>
      </dgm:t>
    </dgm:pt>
    <dgm:pt modelId="{6FF20D6C-533C-F641-BAFE-A15E9706009F}">
      <dgm:prSet phldrT="[Text]" custT="1"/>
      <dgm:spPr/>
      <dgm:t>
        <a:bodyPr/>
        <a:lstStyle/>
        <a:p>
          <a:pPr>
            <a:lnSpc>
              <a:spcPct val="100000"/>
            </a:lnSpc>
            <a:buFont typeface="Arial" panose="020B0604020202020204" pitchFamily="34" charset="0"/>
            <a:buNone/>
          </a:pPr>
          <a:r>
            <a:rPr lang="en-US" sz="2600" dirty="0">
              <a:cs typeface="Calibri"/>
            </a:rPr>
            <a:t>Maximum flexibility</a:t>
          </a:r>
          <a:endParaRPr lang="en-US" sz="2600" dirty="0">
            <a:solidFill>
              <a:srgbClr val="374151"/>
            </a:solidFill>
            <a:ea typeface="+mn-lt"/>
            <a:cs typeface="+mn-lt"/>
          </a:endParaRPr>
        </a:p>
      </dgm:t>
    </dgm:pt>
    <dgm:pt modelId="{82EF75C1-3D43-5248-ACA1-7303CC647F66}" type="parTrans" cxnId="{AA609105-F457-EF49-80DF-31D2C79F7183}">
      <dgm:prSet/>
      <dgm:spPr/>
      <dgm:t>
        <a:bodyPr/>
        <a:lstStyle/>
        <a:p>
          <a:endParaRPr lang="en-US"/>
        </a:p>
      </dgm:t>
    </dgm:pt>
    <dgm:pt modelId="{3C1D44AE-364F-0241-8216-D71B56115B73}" type="sibTrans" cxnId="{AA609105-F457-EF49-80DF-31D2C79F7183}">
      <dgm:prSet/>
      <dgm:spPr/>
      <dgm:t>
        <a:bodyPr/>
        <a:lstStyle/>
        <a:p>
          <a:endParaRPr lang="en-US"/>
        </a:p>
      </dgm:t>
    </dgm:pt>
    <dgm:pt modelId="{CB9CD711-0792-7C43-A179-EF626C102BE2}">
      <dgm:prSet custT="1"/>
      <dgm:spPr/>
      <dgm:t>
        <a:bodyPr/>
        <a:lstStyle/>
        <a:p>
          <a:pPr>
            <a:lnSpc>
              <a:spcPct val="100000"/>
            </a:lnSpc>
            <a:buFont typeface="Arial" panose="020B0604020202020204" pitchFamily="34" charset="0"/>
            <a:buNone/>
          </a:pPr>
          <a:r>
            <a:rPr lang="en-US" sz="2600" dirty="0"/>
            <a:t>Fastest performance</a:t>
          </a:r>
        </a:p>
      </dgm:t>
    </dgm:pt>
    <dgm:pt modelId="{97C5F424-3D0F-0D47-BE78-04DA04753487}" type="parTrans" cxnId="{1771F711-E68B-CF45-A676-BE32540DD6E2}">
      <dgm:prSet/>
      <dgm:spPr/>
      <dgm:t>
        <a:bodyPr/>
        <a:lstStyle/>
        <a:p>
          <a:endParaRPr lang="en-US"/>
        </a:p>
      </dgm:t>
    </dgm:pt>
    <dgm:pt modelId="{EF24168D-0351-FE46-9BA1-B9BE4403B9A4}" type="sibTrans" cxnId="{1771F711-E68B-CF45-A676-BE32540DD6E2}">
      <dgm:prSet/>
      <dgm:spPr/>
      <dgm:t>
        <a:bodyPr/>
        <a:lstStyle/>
        <a:p>
          <a:endParaRPr lang="en-US"/>
        </a:p>
      </dgm:t>
    </dgm:pt>
    <dgm:pt modelId="{88915E72-B574-D841-8186-1E6FAD447B44}">
      <dgm:prSet custT="1"/>
      <dgm:spPr/>
      <dgm:t>
        <a:bodyPr/>
        <a:lstStyle/>
        <a:p>
          <a:pPr>
            <a:lnSpc>
              <a:spcPct val="100000"/>
            </a:lnSpc>
            <a:buFont typeface="Arial" panose="020B0604020202020204" pitchFamily="34" charset="0"/>
            <a:buNone/>
          </a:pPr>
          <a:r>
            <a:rPr lang="en-US" sz="2600" dirty="0">
              <a:cs typeface="Calibri"/>
            </a:rPr>
            <a:t>Native to MapReduce (which is implemented in Java)</a:t>
          </a:r>
        </a:p>
      </dgm:t>
    </dgm:pt>
    <dgm:pt modelId="{B7A70884-09D0-0D44-8F9F-783FCE6EF3EC}" type="parTrans" cxnId="{E1828A86-252D-5C42-B312-107ED8C09325}">
      <dgm:prSet/>
      <dgm:spPr/>
      <dgm:t>
        <a:bodyPr/>
        <a:lstStyle/>
        <a:p>
          <a:endParaRPr lang="en-US"/>
        </a:p>
      </dgm:t>
    </dgm:pt>
    <dgm:pt modelId="{6419CEDB-BE72-9649-8A08-1F7ED9B25561}" type="sibTrans" cxnId="{E1828A86-252D-5C42-B312-107ED8C09325}">
      <dgm:prSet/>
      <dgm:spPr/>
      <dgm:t>
        <a:bodyPr/>
        <a:lstStyle/>
        <a:p>
          <a:endParaRPr lang="en-US"/>
        </a:p>
      </dgm:t>
    </dgm:pt>
    <dgm:pt modelId="{993270CD-7DE0-4848-B598-95F373242C82}">
      <dgm:prSet custT="1"/>
      <dgm:spPr/>
      <dgm:t>
        <a:bodyPr/>
        <a:lstStyle/>
        <a:p>
          <a:pPr>
            <a:lnSpc>
              <a:spcPct val="100000"/>
            </a:lnSpc>
            <a:buFont typeface="Arial" panose="020B0604020202020204" pitchFamily="34" charset="0"/>
            <a:buNone/>
          </a:pPr>
          <a:r>
            <a:rPr lang="en-US" sz="2600" dirty="0">
              <a:cs typeface="Calibri"/>
            </a:rPr>
            <a:t>Most difficult to write</a:t>
          </a:r>
        </a:p>
      </dgm:t>
    </dgm:pt>
    <dgm:pt modelId="{0C1723C0-0670-964F-AFEE-9D3FEA5B42BF}" type="parTrans" cxnId="{61448802-E0DC-CA4A-93E6-1253FFBF9CEE}">
      <dgm:prSet/>
      <dgm:spPr/>
      <dgm:t>
        <a:bodyPr/>
        <a:lstStyle/>
        <a:p>
          <a:endParaRPr lang="en-US"/>
        </a:p>
      </dgm:t>
    </dgm:pt>
    <dgm:pt modelId="{79A6C35C-0110-3742-816E-FC856586BB0E}" type="sibTrans" cxnId="{61448802-E0DC-CA4A-93E6-1253FFBF9CEE}">
      <dgm:prSet/>
      <dgm:spPr/>
      <dgm:t>
        <a:bodyPr/>
        <a:lstStyle/>
        <a:p>
          <a:endParaRPr lang="en-US"/>
        </a:p>
      </dgm:t>
    </dgm:pt>
    <dgm:pt modelId="{C39427DE-CAF4-9345-B5A7-EB31DF5F04BB}">
      <dgm:prSet custT="1"/>
      <dgm:spPr/>
      <dgm:t>
        <a:bodyPr/>
        <a:lstStyle/>
        <a:p>
          <a:pPr>
            <a:lnSpc>
              <a:spcPct val="100000"/>
            </a:lnSpc>
          </a:pPr>
          <a:r>
            <a:rPr lang="en-US" sz="2600" dirty="0"/>
            <a:t>Allows you to create and run MapReduce jobs with any executable or script as the mapper and/or the reducer</a:t>
          </a:r>
        </a:p>
      </dgm:t>
    </dgm:pt>
    <dgm:pt modelId="{052C7788-DFC4-5244-B578-CAEAEAFF37FE}" type="parTrans" cxnId="{70841E58-DAD8-1D40-BABF-B958992575C7}">
      <dgm:prSet/>
      <dgm:spPr/>
      <dgm:t>
        <a:bodyPr/>
        <a:lstStyle/>
        <a:p>
          <a:endParaRPr lang="en-US"/>
        </a:p>
      </dgm:t>
    </dgm:pt>
    <dgm:pt modelId="{910D2C9E-5941-6B43-958C-ED82ACF97E2E}" type="sibTrans" cxnId="{70841E58-DAD8-1D40-BABF-B958992575C7}">
      <dgm:prSet/>
      <dgm:spPr/>
      <dgm:t>
        <a:bodyPr/>
        <a:lstStyle/>
        <a:p>
          <a:endParaRPr lang="en-US"/>
        </a:p>
      </dgm:t>
    </dgm:pt>
    <dgm:pt modelId="{B780B689-2503-0B4C-90CC-3E1A73035736}">
      <dgm:prSet custT="1"/>
      <dgm:spPr/>
      <dgm:t>
        <a:bodyPr/>
        <a:lstStyle/>
        <a:p>
          <a:pPr>
            <a:lnSpc>
              <a:spcPct val="100000"/>
            </a:lnSpc>
          </a:pPr>
          <a:r>
            <a:rPr lang="en-US" sz="2600" dirty="0">
              <a:cs typeface="Calibri"/>
            </a:rPr>
            <a:t>Transparent communication with the MapReduce framework though stdin and stdout</a:t>
          </a:r>
        </a:p>
      </dgm:t>
    </dgm:pt>
    <dgm:pt modelId="{F01F600C-FE85-3445-8C92-D0D61CB7F62B}" type="parTrans" cxnId="{A2BC4609-E9AD-EB48-A178-C0E616B291BB}">
      <dgm:prSet/>
      <dgm:spPr/>
      <dgm:t>
        <a:bodyPr/>
        <a:lstStyle/>
        <a:p>
          <a:endParaRPr lang="en-US"/>
        </a:p>
      </dgm:t>
    </dgm:pt>
    <dgm:pt modelId="{C1587EDA-F60A-D14C-AC30-F5392EE5AE7E}" type="sibTrans" cxnId="{A2BC4609-E9AD-EB48-A178-C0E616B291BB}">
      <dgm:prSet/>
      <dgm:spPr/>
      <dgm:t>
        <a:bodyPr/>
        <a:lstStyle/>
        <a:p>
          <a:endParaRPr lang="en-US"/>
        </a:p>
      </dgm:t>
    </dgm:pt>
    <dgm:pt modelId="{DA14DB78-971D-423E-ABBC-4C0BFC9A4508}" type="pres">
      <dgm:prSet presAssocID="{F0D0BB63-F3DB-7A4D-9E9E-D3BCBD2E7EB3}" presName="root" presStyleCnt="0">
        <dgm:presLayoutVars>
          <dgm:dir/>
          <dgm:resizeHandles val="exact"/>
        </dgm:presLayoutVars>
      </dgm:prSet>
      <dgm:spPr/>
    </dgm:pt>
    <dgm:pt modelId="{D1EA3809-354C-42AA-B040-8B295724B5DA}" type="pres">
      <dgm:prSet presAssocID="{A38895C2-01F9-6245-91B5-24143C38A9C7}" presName="compNode" presStyleCnt="0"/>
      <dgm:spPr/>
    </dgm:pt>
    <dgm:pt modelId="{9AD6AE34-E008-4F80-8A65-14EF5C53FC2D}" type="pres">
      <dgm:prSet presAssocID="{A38895C2-01F9-6245-91B5-24143C38A9C7}" presName="iconRect" presStyleLbl="node1" presStyleIdx="0" presStyleCnt="2" custFlipHor="1" custScaleX="9200" custScaleY="4313" custLinFactY="-100000" custLinFactNeighborY="-190106"/>
      <dgm:spPr>
        <a:blipFill dpi="0" rotWithShape="1">
          <a:blip xmlns:r="http://schemas.openxmlformats.org/officeDocument/2006/relationships" r:embed="rId1">
            <a:alphaModFix amt="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ug under Magnifying Glass"/>
        </a:ext>
      </dgm:extLst>
    </dgm:pt>
    <dgm:pt modelId="{89D15706-1ACF-4311-A552-57407E4CF56A}" type="pres">
      <dgm:prSet presAssocID="{A38895C2-01F9-6245-91B5-24143C38A9C7}" presName="iconSpace" presStyleCnt="0"/>
      <dgm:spPr/>
    </dgm:pt>
    <dgm:pt modelId="{A3F5AACB-4941-4375-9257-3C08269C058D}" type="pres">
      <dgm:prSet presAssocID="{A38895C2-01F9-6245-91B5-24143C38A9C7}" presName="parTx" presStyleLbl="revTx" presStyleIdx="0" presStyleCnt="4">
        <dgm:presLayoutVars>
          <dgm:chMax val="0"/>
          <dgm:chPref val="0"/>
        </dgm:presLayoutVars>
      </dgm:prSet>
      <dgm:spPr/>
    </dgm:pt>
    <dgm:pt modelId="{724F3C0A-F258-4B19-BFF0-3970C1C1C86F}" type="pres">
      <dgm:prSet presAssocID="{A38895C2-01F9-6245-91B5-24143C38A9C7}" presName="txSpace" presStyleCnt="0"/>
      <dgm:spPr/>
    </dgm:pt>
    <dgm:pt modelId="{FE93FDF4-82DA-45FA-9A1E-C612D39D3B6A}" type="pres">
      <dgm:prSet presAssocID="{A38895C2-01F9-6245-91B5-24143C38A9C7}" presName="desTx" presStyleLbl="revTx" presStyleIdx="1" presStyleCnt="4" custScaleX="134255" custScaleY="17399">
        <dgm:presLayoutVars/>
      </dgm:prSet>
      <dgm:spPr/>
    </dgm:pt>
    <dgm:pt modelId="{E498811C-808C-435A-95EB-9D224CF52F01}" type="pres">
      <dgm:prSet presAssocID="{705E8EE7-BF08-CB4D-BD5C-3C2188954C5C}" presName="sibTrans" presStyleCnt="0"/>
      <dgm:spPr/>
    </dgm:pt>
    <dgm:pt modelId="{2DA928AB-63CA-476E-9590-F71A63129A4F}" type="pres">
      <dgm:prSet presAssocID="{115F7D96-A3EF-2846-B835-63F34DBB95AF}" presName="compNode" presStyleCnt="0"/>
      <dgm:spPr/>
    </dgm:pt>
    <dgm:pt modelId="{B659D329-FFCB-4A99-9159-9545CCFD1864}" type="pres">
      <dgm:prSet presAssocID="{115F7D96-A3EF-2846-B835-63F34DBB95AF}" presName="iconRect" presStyleLbl="node1" presStyleIdx="1" presStyleCnt="2" custFlipVert="1" custFlipHor="1" custScaleX="758" custScaleY="2274"/>
      <dgm:spPr>
        <a:blipFill dpi="0" rotWithShape="1">
          <a:blip xmlns:r="http://schemas.openxmlformats.org/officeDocument/2006/relationships" r:embed="rId3">
            <a:alphaModFix amt="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Chat"/>
        </a:ext>
      </dgm:extLst>
    </dgm:pt>
    <dgm:pt modelId="{7AC829E4-3597-4D5D-A451-4211F5528A3B}" type="pres">
      <dgm:prSet presAssocID="{115F7D96-A3EF-2846-B835-63F34DBB95AF}" presName="iconSpace" presStyleCnt="0"/>
      <dgm:spPr/>
    </dgm:pt>
    <dgm:pt modelId="{2F6EFE1B-9CAA-475C-BE46-7AB33E0E0233}" type="pres">
      <dgm:prSet presAssocID="{115F7D96-A3EF-2846-B835-63F34DBB95AF}" presName="parTx" presStyleLbl="revTx" presStyleIdx="2" presStyleCnt="4" custScaleX="169628">
        <dgm:presLayoutVars>
          <dgm:chMax val="0"/>
          <dgm:chPref val="0"/>
        </dgm:presLayoutVars>
      </dgm:prSet>
      <dgm:spPr/>
    </dgm:pt>
    <dgm:pt modelId="{CEFA69B0-E3C1-4A80-B17A-E8897609B570}" type="pres">
      <dgm:prSet presAssocID="{115F7D96-A3EF-2846-B835-63F34DBB95AF}" presName="txSpace" presStyleCnt="0"/>
      <dgm:spPr/>
    </dgm:pt>
    <dgm:pt modelId="{7F4A702B-11E4-4211-A9B6-CAF76DE9963E}" type="pres">
      <dgm:prSet presAssocID="{115F7D96-A3EF-2846-B835-63F34DBB95AF}" presName="desTx" presStyleLbl="revTx" presStyleIdx="3" presStyleCnt="4">
        <dgm:presLayoutVars/>
      </dgm:prSet>
      <dgm:spPr/>
    </dgm:pt>
  </dgm:ptLst>
  <dgm:cxnLst>
    <dgm:cxn modelId="{61448802-E0DC-CA4A-93E6-1253FFBF9CEE}" srcId="{A38895C2-01F9-6245-91B5-24143C38A9C7}" destId="{993270CD-7DE0-4848-B598-95F373242C82}" srcOrd="3" destOrd="0" parTransId="{0C1723C0-0670-964F-AFEE-9D3FEA5B42BF}" sibTransId="{79A6C35C-0110-3742-816E-FC856586BB0E}"/>
    <dgm:cxn modelId="{AA609105-F457-EF49-80DF-31D2C79F7183}" srcId="{A38895C2-01F9-6245-91B5-24143C38A9C7}" destId="{6FF20D6C-533C-F641-BAFE-A15E9706009F}" srcOrd="0" destOrd="0" parTransId="{82EF75C1-3D43-5248-ACA1-7303CC647F66}" sibTransId="{3C1D44AE-364F-0241-8216-D71B56115B73}"/>
    <dgm:cxn modelId="{A2BC4609-E9AD-EB48-A178-C0E616B291BB}" srcId="{115F7D96-A3EF-2846-B835-63F34DBB95AF}" destId="{B780B689-2503-0B4C-90CC-3E1A73035736}" srcOrd="2" destOrd="0" parTransId="{F01F600C-FE85-3445-8C92-D0D61CB7F62B}" sibTransId="{C1587EDA-F60A-D14C-AC30-F5392EE5AE7E}"/>
    <dgm:cxn modelId="{62DFFD0E-98E5-A249-88B6-3BDEDDF5AB56}" srcId="{F0D0BB63-F3DB-7A4D-9E9E-D3BCBD2E7EB3}" destId="{115F7D96-A3EF-2846-B835-63F34DBB95AF}" srcOrd="1" destOrd="0" parTransId="{C4C03E97-7C04-A340-9B66-1F3D898C4382}" sibTransId="{8904A24B-91D6-D046-A910-7C149A2C7BA8}"/>
    <dgm:cxn modelId="{1771F711-E68B-CF45-A676-BE32540DD6E2}" srcId="{A38895C2-01F9-6245-91B5-24143C38A9C7}" destId="{CB9CD711-0792-7C43-A179-EF626C102BE2}" srcOrd="1" destOrd="0" parTransId="{97C5F424-3D0F-0D47-BE78-04DA04753487}" sibTransId="{EF24168D-0351-FE46-9BA1-B9BE4403B9A4}"/>
    <dgm:cxn modelId="{D2959A14-FFA1-F147-AA85-C6C1D9CB53B2}" type="presOf" srcId="{6FF20D6C-533C-F641-BAFE-A15E9706009F}" destId="{FE93FDF4-82DA-45FA-9A1E-C612D39D3B6A}" srcOrd="0" destOrd="0" presId="urn:microsoft.com/office/officeart/2018/5/layout/CenteredIconLabelDescriptionList"/>
    <dgm:cxn modelId="{47BA6325-1C45-41E7-84BF-06DA9C642BBB}" type="presOf" srcId="{115F7D96-A3EF-2846-B835-63F34DBB95AF}" destId="{2F6EFE1B-9CAA-475C-BE46-7AB33E0E0233}" srcOrd="0" destOrd="0" presId="urn:microsoft.com/office/officeart/2018/5/layout/CenteredIconLabelDescriptionList"/>
    <dgm:cxn modelId="{7057ED3D-0969-B64B-AB02-B12255DB1758}" type="presOf" srcId="{CB9CD711-0792-7C43-A179-EF626C102BE2}" destId="{FE93FDF4-82DA-45FA-9A1E-C612D39D3B6A}" srcOrd="0" destOrd="1" presId="urn:microsoft.com/office/officeart/2018/5/layout/CenteredIconLabelDescriptionList"/>
    <dgm:cxn modelId="{A223745C-024B-4BB6-8489-B64E0CE9C5B3}" type="presOf" srcId="{A38895C2-01F9-6245-91B5-24143C38A9C7}" destId="{A3F5AACB-4941-4375-9257-3C08269C058D}" srcOrd="0" destOrd="0" presId="urn:microsoft.com/office/officeart/2018/5/layout/CenteredIconLabelDescriptionList"/>
    <dgm:cxn modelId="{D3B5A944-F001-C443-B5F2-2B9F33291B32}" srcId="{F0D0BB63-F3DB-7A4D-9E9E-D3BCBD2E7EB3}" destId="{A38895C2-01F9-6245-91B5-24143C38A9C7}" srcOrd="0" destOrd="0" parTransId="{4E7FF56D-46AD-054E-9A98-96B3BA155886}" sibTransId="{705E8EE7-BF08-CB4D-BD5C-3C2188954C5C}"/>
    <dgm:cxn modelId="{886D7C6C-569B-9345-B7E5-72D4BD1AA8CE}" srcId="{115F7D96-A3EF-2846-B835-63F34DBB95AF}" destId="{66929672-6729-EA46-A72A-8965BA42864F}" srcOrd="0" destOrd="0" parTransId="{23065B83-558B-B240-A6D7-AC22F287706F}" sibTransId="{436A1216-A13B-6E45-90EB-83A033025994}"/>
    <dgm:cxn modelId="{70841E58-DAD8-1D40-BABF-B958992575C7}" srcId="{115F7D96-A3EF-2846-B835-63F34DBB95AF}" destId="{C39427DE-CAF4-9345-B5A7-EB31DF5F04BB}" srcOrd="1" destOrd="0" parTransId="{052C7788-DFC4-5244-B578-CAEAEAFF37FE}" sibTransId="{910D2C9E-5941-6B43-958C-ED82ACF97E2E}"/>
    <dgm:cxn modelId="{63D5C358-F98A-492D-8528-12CA4FC1EACC}" type="presOf" srcId="{F0D0BB63-F3DB-7A4D-9E9E-D3BCBD2E7EB3}" destId="{DA14DB78-971D-423E-ABBC-4C0BFC9A4508}" srcOrd="0" destOrd="0" presId="urn:microsoft.com/office/officeart/2018/5/layout/CenteredIconLabelDescriptionList"/>
    <dgm:cxn modelId="{E1828A86-252D-5C42-B312-107ED8C09325}" srcId="{A38895C2-01F9-6245-91B5-24143C38A9C7}" destId="{88915E72-B574-D841-8186-1E6FAD447B44}" srcOrd="2" destOrd="0" parTransId="{B7A70884-09D0-0D44-8F9F-783FCE6EF3EC}" sibTransId="{6419CEDB-BE72-9649-8A08-1F7ED9B25561}"/>
    <dgm:cxn modelId="{696FC18C-3A04-884C-B32A-94E1965AAD78}" type="presOf" srcId="{88915E72-B574-D841-8186-1E6FAD447B44}" destId="{FE93FDF4-82DA-45FA-9A1E-C612D39D3B6A}" srcOrd="0" destOrd="2" presId="urn:microsoft.com/office/officeart/2018/5/layout/CenteredIconLabelDescriptionList"/>
    <dgm:cxn modelId="{BEA8D8AE-286A-4B4A-929A-6C14B62E315F}" type="presOf" srcId="{993270CD-7DE0-4848-B598-95F373242C82}" destId="{FE93FDF4-82DA-45FA-9A1E-C612D39D3B6A}" srcOrd="0" destOrd="3" presId="urn:microsoft.com/office/officeart/2018/5/layout/CenteredIconLabelDescriptionList"/>
    <dgm:cxn modelId="{726EF2D0-13C4-E344-ADEE-DEB68EE9D6E8}" type="presOf" srcId="{C39427DE-CAF4-9345-B5A7-EB31DF5F04BB}" destId="{7F4A702B-11E4-4211-A9B6-CAF76DE9963E}" srcOrd="0" destOrd="1" presId="urn:microsoft.com/office/officeart/2018/5/layout/CenteredIconLabelDescriptionList"/>
    <dgm:cxn modelId="{996697D7-72A8-AD4B-B32F-5ACEFE37D556}" type="presOf" srcId="{B780B689-2503-0B4C-90CC-3E1A73035736}" destId="{7F4A702B-11E4-4211-A9B6-CAF76DE9963E}" srcOrd="0" destOrd="2" presId="urn:microsoft.com/office/officeart/2018/5/layout/CenteredIconLabelDescriptionList"/>
    <dgm:cxn modelId="{2CF73DE8-BD41-E04D-91A5-E7023D8370C7}" type="presOf" srcId="{66929672-6729-EA46-A72A-8965BA42864F}" destId="{7F4A702B-11E4-4211-A9B6-CAF76DE9963E}" srcOrd="0" destOrd="0" presId="urn:microsoft.com/office/officeart/2018/5/layout/CenteredIconLabelDescriptionList"/>
    <dgm:cxn modelId="{B5542B11-3024-4A82-8846-89E2189AA203}" type="presParOf" srcId="{DA14DB78-971D-423E-ABBC-4C0BFC9A4508}" destId="{D1EA3809-354C-42AA-B040-8B295724B5DA}" srcOrd="0" destOrd="0" presId="urn:microsoft.com/office/officeart/2018/5/layout/CenteredIconLabelDescriptionList"/>
    <dgm:cxn modelId="{D8751ED9-B8E9-40E0-9EAD-F9082BCEB719}" type="presParOf" srcId="{D1EA3809-354C-42AA-B040-8B295724B5DA}" destId="{9AD6AE34-E008-4F80-8A65-14EF5C53FC2D}" srcOrd="0" destOrd="0" presId="urn:microsoft.com/office/officeart/2018/5/layout/CenteredIconLabelDescriptionList"/>
    <dgm:cxn modelId="{396F3037-A9F6-4C68-8B8C-8D7A3C0893BD}" type="presParOf" srcId="{D1EA3809-354C-42AA-B040-8B295724B5DA}" destId="{89D15706-1ACF-4311-A552-57407E4CF56A}" srcOrd="1" destOrd="0" presId="urn:microsoft.com/office/officeart/2018/5/layout/CenteredIconLabelDescriptionList"/>
    <dgm:cxn modelId="{79DE9D17-58A0-43AB-82C8-E16ECD55F502}" type="presParOf" srcId="{D1EA3809-354C-42AA-B040-8B295724B5DA}" destId="{A3F5AACB-4941-4375-9257-3C08269C058D}" srcOrd="2" destOrd="0" presId="urn:microsoft.com/office/officeart/2018/5/layout/CenteredIconLabelDescriptionList"/>
    <dgm:cxn modelId="{9B50341E-FA5F-4E9C-B18E-D96D54ABF79A}" type="presParOf" srcId="{D1EA3809-354C-42AA-B040-8B295724B5DA}" destId="{724F3C0A-F258-4B19-BFF0-3970C1C1C86F}" srcOrd="3" destOrd="0" presId="urn:microsoft.com/office/officeart/2018/5/layout/CenteredIconLabelDescriptionList"/>
    <dgm:cxn modelId="{57AB5D18-33B5-480C-B20E-52B586E1F249}" type="presParOf" srcId="{D1EA3809-354C-42AA-B040-8B295724B5DA}" destId="{FE93FDF4-82DA-45FA-9A1E-C612D39D3B6A}" srcOrd="4" destOrd="0" presId="urn:microsoft.com/office/officeart/2018/5/layout/CenteredIconLabelDescriptionList"/>
    <dgm:cxn modelId="{C1216ACB-3135-4684-A1C5-A4D57FAD19DA}" type="presParOf" srcId="{DA14DB78-971D-423E-ABBC-4C0BFC9A4508}" destId="{E498811C-808C-435A-95EB-9D224CF52F01}" srcOrd="1" destOrd="0" presId="urn:microsoft.com/office/officeart/2018/5/layout/CenteredIconLabelDescriptionList"/>
    <dgm:cxn modelId="{14E0CDBC-4332-4B5A-9E75-B8331E647B7F}" type="presParOf" srcId="{DA14DB78-971D-423E-ABBC-4C0BFC9A4508}" destId="{2DA928AB-63CA-476E-9590-F71A63129A4F}" srcOrd="2" destOrd="0" presId="urn:microsoft.com/office/officeart/2018/5/layout/CenteredIconLabelDescriptionList"/>
    <dgm:cxn modelId="{A9126A6D-8E03-432C-8DC3-C89F70A133EE}" type="presParOf" srcId="{2DA928AB-63CA-476E-9590-F71A63129A4F}" destId="{B659D329-FFCB-4A99-9159-9545CCFD1864}" srcOrd="0" destOrd="0" presId="urn:microsoft.com/office/officeart/2018/5/layout/CenteredIconLabelDescriptionList"/>
    <dgm:cxn modelId="{546FA4D3-19D6-4AC8-927E-773C08C3C665}" type="presParOf" srcId="{2DA928AB-63CA-476E-9590-F71A63129A4F}" destId="{7AC829E4-3597-4D5D-A451-4211F5528A3B}" srcOrd="1" destOrd="0" presId="urn:microsoft.com/office/officeart/2018/5/layout/CenteredIconLabelDescriptionList"/>
    <dgm:cxn modelId="{6512493F-6C73-4D55-97E3-0F5F55EF79FC}" type="presParOf" srcId="{2DA928AB-63CA-476E-9590-F71A63129A4F}" destId="{2F6EFE1B-9CAA-475C-BE46-7AB33E0E0233}" srcOrd="2" destOrd="0" presId="urn:microsoft.com/office/officeart/2018/5/layout/CenteredIconLabelDescriptionList"/>
    <dgm:cxn modelId="{77DD6E0B-E0C6-4A67-88C5-299CDBF61997}" type="presParOf" srcId="{2DA928AB-63CA-476E-9590-F71A63129A4F}" destId="{CEFA69B0-E3C1-4A80-B17A-E8897609B570}" srcOrd="3" destOrd="0" presId="urn:microsoft.com/office/officeart/2018/5/layout/CenteredIconLabelDescriptionList"/>
    <dgm:cxn modelId="{3962A81A-D98E-4F6B-90D0-485BD69937AD}" type="presParOf" srcId="{2DA928AB-63CA-476E-9590-F71A63129A4F}" destId="{7F4A702B-11E4-4211-A9B6-CAF76DE9963E}" srcOrd="4" destOrd="0" presId="urn:microsoft.com/office/officeart/2018/5/layout/CenteredIconLabelDescriptionLis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D6AE34-E008-4F80-8A65-14EF5C53FC2D}">
      <dsp:nvSpPr>
        <dsp:cNvPr id="0" name=""/>
        <dsp:cNvSpPr/>
      </dsp:nvSpPr>
      <dsp:spPr>
        <a:xfrm flipH="1">
          <a:off x="4350573" y="1514085"/>
          <a:ext cx="1053" cy="1481"/>
        </a:xfrm>
        <a:prstGeom prst="rect">
          <a:avLst/>
        </a:prstGeom>
        <a:blipFill dpi="0" rotWithShape="1">
          <a:blip xmlns:r="http://schemas.openxmlformats.org/officeDocument/2006/relationships" r:embed="rId1">
            <a:alphaModFix amt="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25400" cap="flat" cmpd="dbl" algn="ctr">
          <a:noFill/>
          <a:prstDash val="solid"/>
        </a:ln>
        <a:effectLst/>
      </dsp:spPr>
      <dsp:style>
        <a:lnRef idx="2">
          <a:scrgbClr r="0" g="0" b="0"/>
        </a:lnRef>
        <a:fillRef idx="1">
          <a:scrgbClr r="0" g="0" b="0"/>
        </a:fillRef>
        <a:effectRef idx="0">
          <a:scrgbClr r="0" g="0" b="0"/>
        </a:effectRef>
        <a:fontRef idx="minor">
          <a:schemeClr val="lt1"/>
        </a:fontRef>
      </dsp:style>
    </dsp:sp>
    <dsp:sp modelId="{A3F5AACB-4941-4375-9257-3C08269C058D}">
      <dsp:nvSpPr>
        <dsp:cNvPr id="0" name=""/>
        <dsp:cNvSpPr/>
      </dsp:nvSpPr>
      <dsp:spPr>
        <a:xfrm>
          <a:off x="2195316" y="1730707"/>
          <a:ext cx="4311566" cy="646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kern="1200" dirty="0"/>
            <a:t>Java</a:t>
          </a:r>
          <a:endParaRPr lang="en-US" sz="1050" kern="1200" dirty="0">
            <a:solidFill>
              <a:srgbClr val="374151"/>
            </a:solidFill>
            <a:ea typeface="+mn-lt"/>
            <a:cs typeface="+mn-lt"/>
          </a:endParaRPr>
        </a:p>
      </dsp:txBody>
      <dsp:txXfrm>
        <a:off x="2195316" y="1730707"/>
        <a:ext cx="4311566" cy="646734"/>
      </dsp:txXfrm>
    </dsp:sp>
    <dsp:sp modelId="{FE93FDF4-82DA-45FA-9A1E-C612D39D3B6A}">
      <dsp:nvSpPr>
        <dsp:cNvPr id="0" name=""/>
        <dsp:cNvSpPr/>
      </dsp:nvSpPr>
      <dsp:spPr>
        <a:xfrm>
          <a:off x="1456853" y="2424465"/>
          <a:ext cx="5788493" cy="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100000"/>
            </a:lnSpc>
            <a:spcBef>
              <a:spcPct val="0"/>
            </a:spcBef>
            <a:spcAft>
              <a:spcPct val="35000"/>
            </a:spcAft>
            <a:buFont typeface="Arial" panose="020B0604020202020204" pitchFamily="34" charset="0"/>
            <a:buNone/>
          </a:pPr>
          <a:r>
            <a:rPr lang="en-US" sz="2600" kern="1200" dirty="0">
              <a:cs typeface="Calibri"/>
            </a:rPr>
            <a:t>Maximum flexibility</a:t>
          </a:r>
          <a:endParaRPr lang="en-US" sz="2600" kern="1200" dirty="0">
            <a:solidFill>
              <a:srgbClr val="374151"/>
            </a:solidFill>
            <a:ea typeface="+mn-lt"/>
            <a:cs typeface="+mn-lt"/>
          </a:endParaRPr>
        </a:p>
        <a:p>
          <a:pPr marL="0" lvl="0" indent="0" algn="ctr" defTabSz="1155700">
            <a:lnSpc>
              <a:spcPct val="100000"/>
            </a:lnSpc>
            <a:spcBef>
              <a:spcPct val="0"/>
            </a:spcBef>
            <a:spcAft>
              <a:spcPct val="35000"/>
            </a:spcAft>
            <a:buFont typeface="Arial" panose="020B0604020202020204" pitchFamily="34" charset="0"/>
            <a:buNone/>
          </a:pPr>
          <a:r>
            <a:rPr lang="en-US" sz="2600" kern="1200" dirty="0"/>
            <a:t>Fastest performance</a:t>
          </a:r>
        </a:p>
        <a:p>
          <a:pPr marL="0" lvl="0" indent="0" algn="ctr" defTabSz="1155700">
            <a:lnSpc>
              <a:spcPct val="100000"/>
            </a:lnSpc>
            <a:spcBef>
              <a:spcPct val="0"/>
            </a:spcBef>
            <a:spcAft>
              <a:spcPct val="35000"/>
            </a:spcAft>
            <a:buFont typeface="Arial" panose="020B0604020202020204" pitchFamily="34" charset="0"/>
            <a:buNone/>
          </a:pPr>
          <a:r>
            <a:rPr lang="en-US" sz="2600" kern="1200" dirty="0">
              <a:cs typeface="Calibri"/>
            </a:rPr>
            <a:t>Native to MapReduce (which is implemented in Java)</a:t>
          </a:r>
        </a:p>
        <a:p>
          <a:pPr marL="0" lvl="0" indent="0" algn="ctr" defTabSz="1155700">
            <a:lnSpc>
              <a:spcPct val="100000"/>
            </a:lnSpc>
            <a:spcBef>
              <a:spcPct val="0"/>
            </a:spcBef>
            <a:spcAft>
              <a:spcPct val="35000"/>
            </a:spcAft>
            <a:buFont typeface="Arial" panose="020B0604020202020204" pitchFamily="34" charset="0"/>
            <a:buNone/>
          </a:pPr>
          <a:r>
            <a:rPr lang="en-US" sz="2600" kern="1200" dirty="0">
              <a:cs typeface="Calibri"/>
            </a:rPr>
            <a:t>Most difficult to write</a:t>
          </a:r>
        </a:p>
      </dsp:txBody>
      <dsp:txXfrm>
        <a:off x="1456853" y="2424465"/>
        <a:ext cx="5788493" cy="400"/>
      </dsp:txXfrm>
    </dsp:sp>
    <dsp:sp modelId="{B659D329-FFCB-4A99-9159-9545CCFD1864}">
      <dsp:nvSpPr>
        <dsp:cNvPr id="0" name=""/>
        <dsp:cNvSpPr/>
      </dsp:nvSpPr>
      <dsp:spPr>
        <a:xfrm flipH="1" flipV="1">
          <a:off x="11656640" y="1607974"/>
          <a:ext cx="86" cy="781"/>
        </a:xfrm>
        <a:prstGeom prst="rect">
          <a:avLst/>
        </a:prstGeom>
        <a:blipFill dpi="0" rotWithShape="1">
          <a:blip xmlns:r="http://schemas.openxmlformats.org/officeDocument/2006/relationships" r:embed="rId3">
            <a:alphaModFix amt="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25400" cap="flat" cmpd="dbl" algn="ctr">
          <a:noFill/>
          <a:prstDash val="solid"/>
        </a:ln>
        <a:effectLst/>
      </dsp:spPr>
      <dsp:style>
        <a:lnRef idx="2">
          <a:scrgbClr r="0" g="0" b="0"/>
        </a:lnRef>
        <a:fillRef idx="1">
          <a:scrgbClr r="0" g="0" b="0"/>
        </a:fillRef>
        <a:effectRef idx="0">
          <a:scrgbClr r="0" g="0" b="0"/>
        </a:effectRef>
        <a:fontRef idx="minor">
          <a:schemeClr val="lt1"/>
        </a:fontRef>
      </dsp:style>
    </dsp:sp>
    <dsp:sp modelId="{2F6EFE1B-9CAA-475C-BE46-7AB33E0E0233}">
      <dsp:nvSpPr>
        <dsp:cNvPr id="0" name=""/>
        <dsp:cNvSpPr/>
      </dsp:nvSpPr>
      <dsp:spPr>
        <a:xfrm>
          <a:off x="7999871" y="1724596"/>
          <a:ext cx="7313624" cy="646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kern="1200" dirty="0">
              <a:solidFill>
                <a:schemeClr val="tx1"/>
              </a:solidFill>
              <a:cs typeface="Arial"/>
            </a:rPr>
            <a:t>Hadoop Streaming</a:t>
          </a:r>
          <a:endParaRPr lang="en-US" sz="2800" kern="1200" dirty="0"/>
        </a:p>
      </dsp:txBody>
      <dsp:txXfrm>
        <a:off x="7999871" y="1724596"/>
        <a:ext cx="7313624" cy="646734"/>
      </dsp:txXfrm>
    </dsp:sp>
    <dsp:sp modelId="{7F4A702B-11E4-4211-A9B6-CAF76DE9963E}">
      <dsp:nvSpPr>
        <dsp:cNvPr id="0" name=""/>
        <dsp:cNvSpPr/>
      </dsp:nvSpPr>
      <dsp:spPr>
        <a:xfrm>
          <a:off x="9500900" y="2417404"/>
          <a:ext cx="4311566" cy="132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100000"/>
            </a:lnSpc>
            <a:spcBef>
              <a:spcPct val="0"/>
            </a:spcBef>
            <a:spcAft>
              <a:spcPct val="35000"/>
            </a:spcAft>
            <a:buNone/>
          </a:pPr>
          <a:r>
            <a:rPr lang="en-US" sz="2600" kern="1200" dirty="0"/>
            <a:t>A utility that comes with the Hadoop distribution</a:t>
          </a:r>
        </a:p>
        <a:p>
          <a:pPr marL="0" lvl="0" indent="0" algn="ctr" defTabSz="1155700">
            <a:lnSpc>
              <a:spcPct val="100000"/>
            </a:lnSpc>
            <a:spcBef>
              <a:spcPct val="0"/>
            </a:spcBef>
            <a:spcAft>
              <a:spcPct val="35000"/>
            </a:spcAft>
            <a:buNone/>
          </a:pPr>
          <a:r>
            <a:rPr lang="en-US" sz="2600" kern="1200" dirty="0"/>
            <a:t>Allows you to create and run MapReduce jobs with any executable or script as the mapper and/or the reducer</a:t>
          </a:r>
        </a:p>
        <a:p>
          <a:pPr marL="0" lvl="0" indent="0" algn="ctr" defTabSz="1155700">
            <a:lnSpc>
              <a:spcPct val="100000"/>
            </a:lnSpc>
            <a:spcBef>
              <a:spcPct val="0"/>
            </a:spcBef>
            <a:spcAft>
              <a:spcPct val="35000"/>
            </a:spcAft>
            <a:buNone/>
          </a:pPr>
          <a:r>
            <a:rPr lang="en-US" sz="2600" kern="1200" dirty="0">
              <a:cs typeface="Calibri"/>
            </a:rPr>
            <a:t>Transparent communication with the MapReduce framework though stdin and stdout</a:t>
          </a:r>
        </a:p>
      </dsp:txBody>
      <dsp:txXfrm>
        <a:off x="9500900" y="2417404"/>
        <a:ext cx="4311566" cy="13220"/>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D919ED-7EBC-0349-92FD-49744747E976}" type="datetimeFigureOut">
              <a:rPr lang="en-US" smtClean="0"/>
              <a:t>7/9/2024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71147B-6250-B74A-893B-83F308D48EF2}" type="slidenum">
              <a:rPr lang="en-US" smtClean="0"/>
              <a:t>‹#›</a:t>
            </a:fld>
            <a:endParaRPr lang="en-US" dirty="0"/>
          </a:p>
        </p:txBody>
      </p:sp>
    </p:spTree>
    <p:extLst>
      <p:ext uri="{BB962C8B-B14F-4D97-AF65-F5344CB8AC3E}">
        <p14:creationId xmlns:p14="http://schemas.microsoft.com/office/powerpoint/2010/main" val="221214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dirty="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8A536A5-2511-45D9-8AD9-23F11C951D17}" type="datetime1">
              <a:rPr lang="en-US" smtClean="0"/>
              <a:t>7/9/2024</a:t>
            </a:fld>
            <a:endParaRPr lang="en-US" dirty="0"/>
          </a:p>
        </p:txBody>
      </p:sp>
      <p:sp>
        <p:nvSpPr>
          <p:cNvPr id="4" name="Footer Placeholder 3"/>
          <p:cNvSpPr>
            <a:spLocks noGrp="1"/>
          </p:cNvSpPr>
          <p:nvPr>
            <p:ph type="ftr" sz="quarter" idx="11"/>
          </p:nvPr>
        </p:nvSpPr>
        <p:spPr/>
        <p:txBody>
          <a:bodyPr/>
          <a:lstStyle/>
          <a:p>
            <a:r>
              <a:rPr lang="sk-SK" dirty="0"/>
              <a:t>CSP554</a:t>
            </a:r>
            <a:r>
              <a:rPr lang="en-US" dirty="0"/>
              <a:t> Module 02a</a:t>
            </a:r>
          </a:p>
        </p:txBody>
      </p:sp>
      <p:sp>
        <p:nvSpPr>
          <p:cNvPr id="5" name="Slide Number Placeholder 4"/>
          <p:cNvSpPr>
            <a:spLocks noGrp="1"/>
          </p:cNvSpPr>
          <p:nvPr>
            <p:ph type="sldNum" sz="quarter" idx="12"/>
          </p:nvPr>
        </p:nvSpPr>
        <p:spPr/>
        <p:txBody>
          <a:bodyPr/>
          <a:lstStyle/>
          <a:p>
            <a:fld id="{9AA7C465-8597-4488-B68C-958448427716}" type="slidenum">
              <a:rPr lang="en-US" smtClean="0"/>
              <a:t>‹#›</a:t>
            </a:fld>
            <a:endParaRPr lang="en-US" dirty="0"/>
          </a:p>
        </p:txBody>
      </p:sp>
    </p:spTree>
    <p:extLst>
      <p:ext uri="{BB962C8B-B14F-4D97-AF65-F5344CB8AC3E}">
        <p14:creationId xmlns:p14="http://schemas.microsoft.com/office/powerpoint/2010/main" val="15931390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4.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74615-0E45-74F3-2959-0E39AACF9E9D}"/>
              </a:ext>
            </a:extLst>
          </p:cNvPr>
          <p:cNvSpPr>
            <a:spLocks noGrp="1"/>
          </p:cNvSpPr>
          <p:nvPr>
            <p:ph type="ctrTitle"/>
          </p:nvPr>
        </p:nvSpPr>
        <p:spPr/>
        <p:txBody>
          <a:bodyPr/>
          <a:lstStyle/>
          <a:p>
            <a:r>
              <a:rPr lang="en-US" dirty="0"/>
              <a:t>Module 3: Lesson 5</a:t>
            </a:r>
            <a:br>
              <a:rPr lang="en-US" dirty="0"/>
            </a:br>
            <a:r>
              <a:rPr lang="en-US" sz="5400" dirty="0"/>
              <a:t>MapReduce Programming</a:t>
            </a:r>
            <a:endParaRPr lang="en-US" dirty="0"/>
          </a:p>
        </p:txBody>
      </p:sp>
    </p:spTree>
    <p:custDataLst>
      <p:tags r:id="rId1"/>
    </p:custDataLst>
    <p:extLst>
      <p:ext uri="{BB962C8B-B14F-4D97-AF65-F5344CB8AC3E}">
        <p14:creationId xmlns:p14="http://schemas.microsoft.com/office/powerpoint/2010/main" val="1970057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808D3-A530-8D77-DB7A-54536769FC34}"/>
              </a:ext>
            </a:extLst>
          </p:cNvPr>
          <p:cNvSpPr>
            <a:spLocks noGrp="1"/>
          </p:cNvSpPr>
          <p:nvPr>
            <p:ph type="title"/>
          </p:nvPr>
        </p:nvSpPr>
        <p:spPr/>
        <p:txBody>
          <a:bodyPr/>
          <a:lstStyle/>
          <a:p>
            <a:r>
              <a:rPr kumimoji="0" lang="en-US" sz="56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MapReduce Framework</a:t>
            </a:r>
            <a:br>
              <a:rPr kumimoji="0" lang="en-US" sz="56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br>
            <a:r>
              <a:rPr lang="en-US" sz="4650" dirty="0">
                <a:solidFill>
                  <a:srgbClr val="BD061C"/>
                </a:solidFill>
                <a:latin typeface="Arial"/>
              </a:rPr>
              <a:t>Programming Models</a:t>
            </a:r>
            <a:endParaRPr lang="en-US" dirty="0"/>
          </a:p>
        </p:txBody>
      </p:sp>
      <p:graphicFrame>
        <p:nvGraphicFramePr>
          <p:cNvPr id="3" name="Content Placeholder 6">
            <a:extLst>
              <a:ext uri="{FF2B5EF4-FFF2-40B4-BE49-F238E27FC236}">
                <a16:creationId xmlns:a16="http://schemas.microsoft.com/office/drawing/2014/main" id="{5A54D219-B83F-D9DE-CCDB-626179D9645C}"/>
              </a:ext>
            </a:extLst>
          </p:cNvPr>
          <p:cNvGraphicFramePr>
            <a:graphicFrameLocks/>
          </p:cNvGraphicFramePr>
          <p:nvPr>
            <p:extLst>
              <p:ext uri="{D42A27DB-BD31-4B8C-83A1-F6EECF244321}">
                <p14:modId xmlns:p14="http://schemas.microsoft.com/office/powerpoint/2010/main" val="3509615602"/>
              </p:ext>
            </p:extLst>
          </p:nvPr>
        </p:nvGraphicFramePr>
        <p:xfrm>
          <a:off x="584200" y="1276350"/>
          <a:ext cx="16770349" cy="4038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3755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CF210-6085-6831-F72A-77EA9E1D425E}"/>
              </a:ext>
            </a:extLst>
          </p:cNvPr>
          <p:cNvSpPr>
            <a:spLocks noGrp="1"/>
          </p:cNvSpPr>
          <p:nvPr>
            <p:ph type="title"/>
          </p:nvPr>
        </p:nvSpPr>
        <p:spPr/>
        <p:txBody>
          <a:bodyPr/>
          <a:lstStyle/>
          <a:p>
            <a:r>
              <a:rPr lang="en-US" dirty="0"/>
              <a:t>MapReduce Programming</a:t>
            </a:r>
            <a:br>
              <a:rPr lang="en-US" dirty="0"/>
            </a:br>
            <a:r>
              <a:rPr lang="en-US" sz="4800" dirty="0"/>
              <a:t>Java</a:t>
            </a:r>
            <a:endParaRPr lang="en-US" dirty="0"/>
          </a:p>
        </p:txBody>
      </p:sp>
      <p:sp>
        <p:nvSpPr>
          <p:cNvPr id="3" name="Content Placeholder 2">
            <a:extLst>
              <a:ext uri="{FF2B5EF4-FFF2-40B4-BE49-F238E27FC236}">
                <a16:creationId xmlns:a16="http://schemas.microsoft.com/office/drawing/2014/main" id="{787C0BD1-C961-87DA-8FA0-77B932B32BBC}"/>
              </a:ext>
            </a:extLst>
          </p:cNvPr>
          <p:cNvSpPr>
            <a:spLocks noGrp="1"/>
          </p:cNvSpPr>
          <p:nvPr>
            <p:ph idx="1"/>
          </p:nvPr>
        </p:nvSpPr>
        <p:spPr/>
        <p:txBody>
          <a:bodyPr/>
          <a:lstStyle/>
          <a:p>
            <a:r>
              <a:rPr lang="en-US" sz="3600" dirty="0"/>
              <a:t>The MapReduce framework is mainly written in the Java and that is the native language in which jobs using the framework are written</a:t>
            </a:r>
          </a:p>
          <a:p>
            <a:r>
              <a:rPr lang="en-US" sz="3600" dirty="0"/>
              <a:t>The advantage of using Java that is provided maximum flexibility and options for customization and also the fastest performance</a:t>
            </a:r>
          </a:p>
          <a:p>
            <a:r>
              <a:rPr lang="en-US" sz="3600" dirty="0"/>
              <a:t>From our perspective, using Java to code mapreduce jobs is less than ideal</a:t>
            </a:r>
          </a:p>
          <a:p>
            <a:r>
              <a:rPr lang="en-US" sz="3600" dirty="0"/>
              <a:t>It requires significant boiler plate to configure a job to run and, as a result, the code is verbose and difficult to read</a:t>
            </a:r>
          </a:p>
          <a:p>
            <a:r>
              <a:rPr lang="en-US" sz="3600" dirty="0"/>
              <a:t>Most importantly, this verbosity obscures concepts behind a lot of notation</a:t>
            </a:r>
          </a:p>
          <a:p>
            <a:endParaRPr lang="en-US" dirty="0"/>
          </a:p>
        </p:txBody>
      </p:sp>
    </p:spTree>
    <p:extLst>
      <p:ext uri="{BB962C8B-B14F-4D97-AF65-F5344CB8AC3E}">
        <p14:creationId xmlns:p14="http://schemas.microsoft.com/office/powerpoint/2010/main" val="2727793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D9C1B-C05C-7A54-625B-3F7A660A7A74}"/>
              </a:ext>
            </a:extLst>
          </p:cNvPr>
          <p:cNvSpPr>
            <a:spLocks noGrp="1"/>
          </p:cNvSpPr>
          <p:nvPr>
            <p:ph type="title"/>
          </p:nvPr>
        </p:nvSpPr>
        <p:spPr/>
        <p:txBody>
          <a:bodyPr/>
          <a:lstStyle/>
          <a:p>
            <a:r>
              <a:rPr lang="en-US" dirty="0"/>
              <a:t>MapReduce Programming </a:t>
            </a:r>
            <a:br>
              <a:rPr lang="en-US" dirty="0"/>
            </a:br>
            <a:r>
              <a:rPr lang="en-US" sz="4800" dirty="0"/>
              <a:t>WordCount in Java</a:t>
            </a:r>
            <a:endParaRPr lang="en-US" dirty="0"/>
          </a:p>
        </p:txBody>
      </p:sp>
      <p:sp>
        <p:nvSpPr>
          <p:cNvPr id="10" name="TextBox 9">
            <a:extLst>
              <a:ext uri="{FF2B5EF4-FFF2-40B4-BE49-F238E27FC236}">
                <a16:creationId xmlns:a16="http://schemas.microsoft.com/office/drawing/2014/main" id="{2AEEC739-F61B-3F66-2ED5-3AFA0CEE69BE}"/>
              </a:ext>
            </a:extLst>
          </p:cNvPr>
          <p:cNvSpPr txBox="1"/>
          <p:nvPr/>
        </p:nvSpPr>
        <p:spPr>
          <a:xfrm>
            <a:off x="936625" y="2562522"/>
            <a:ext cx="5524500" cy="3323987"/>
          </a:xfrm>
          <a:prstGeom prst="rect">
            <a:avLst/>
          </a:prstGeom>
          <a:noFill/>
        </p:spPr>
        <p:txBody>
          <a:bodyPr wrap="square">
            <a:spAutoFit/>
          </a:bodyPr>
          <a:lstStyle/>
          <a:p>
            <a:r>
              <a:rPr lang="en-US" sz="1400" dirty="0"/>
              <a:t>package org.apache.hadoop.examples;</a:t>
            </a:r>
          </a:p>
          <a:p>
            <a:endParaRPr lang="en-US" sz="1400" dirty="0"/>
          </a:p>
          <a:p>
            <a:r>
              <a:rPr lang="en-US" sz="1400" dirty="0"/>
              <a:t>import java.io.IOException;</a:t>
            </a:r>
          </a:p>
          <a:p>
            <a:r>
              <a:rPr lang="en-US" sz="1400" dirty="0"/>
              <a:t>import java.util.StringTokenizer;</a:t>
            </a:r>
          </a:p>
          <a:p>
            <a:endParaRPr lang="en-US" sz="1400" dirty="0"/>
          </a:p>
          <a:p>
            <a:r>
              <a:rPr lang="en-US" sz="1400" dirty="0"/>
              <a:t>import org.apache.hadoop.conf.Configuration;</a:t>
            </a:r>
          </a:p>
          <a:p>
            <a:r>
              <a:rPr lang="en-US" sz="1400" dirty="0"/>
              <a:t>import org.apache.hadoop.fs.Path;</a:t>
            </a:r>
          </a:p>
          <a:p>
            <a:r>
              <a:rPr lang="en-US" sz="1400" dirty="0"/>
              <a:t>import org.apache.hadoop.io.IntWritable;</a:t>
            </a:r>
          </a:p>
          <a:p>
            <a:r>
              <a:rPr lang="en-US" sz="1400" dirty="0"/>
              <a:t>import org.apache.hadoop.io.Text;</a:t>
            </a:r>
          </a:p>
          <a:p>
            <a:r>
              <a:rPr lang="en-US" sz="1400" dirty="0"/>
              <a:t>import org.apache.hadoop.mapreduce.Job;</a:t>
            </a:r>
          </a:p>
          <a:p>
            <a:r>
              <a:rPr lang="en-US" sz="1400" dirty="0"/>
              <a:t>import org.apache.hadoop.mapreduce.Mapper;</a:t>
            </a:r>
          </a:p>
          <a:p>
            <a:r>
              <a:rPr lang="en-US" sz="1400" dirty="0"/>
              <a:t>import org.apache.hadoop.mapreduce.Reducer;</a:t>
            </a:r>
          </a:p>
          <a:p>
            <a:r>
              <a:rPr lang="en-US" sz="1400" dirty="0"/>
              <a:t>import org.apache.hadoop.mapreduce.lib.input.FileInputFormat;</a:t>
            </a:r>
          </a:p>
          <a:p>
            <a:r>
              <a:rPr lang="en-US" sz="1400" dirty="0"/>
              <a:t>import org.apache.hadoop.mapreduce.lib.output.FileOutputFormat;</a:t>
            </a:r>
          </a:p>
          <a:p>
            <a:r>
              <a:rPr lang="en-US" sz="1400" dirty="0"/>
              <a:t>import org.apache.hadoop.util.GenericOptionsParser;</a:t>
            </a:r>
          </a:p>
        </p:txBody>
      </p:sp>
      <p:sp>
        <p:nvSpPr>
          <p:cNvPr id="3" name="TextBox 2">
            <a:extLst>
              <a:ext uri="{FF2B5EF4-FFF2-40B4-BE49-F238E27FC236}">
                <a16:creationId xmlns:a16="http://schemas.microsoft.com/office/drawing/2014/main" id="{E82A7BAE-7672-23FA-F495-1134312B3A10}"/>
              </a:ext>
            </a:extLst>
          </p:cNvPr>
          <p:cNvSpPr txBox="1"/>
          <p:nvPr/>
        </p:nvSpPr>
        <p:spPr>
          <a:xfrm>
            <a:off x="6302376" y="2657772"/>
            <a:ext cx="5676900" cy="7417415"/>
          </a:xfrm>
          <a:prstGeom prst="rect">
            <a:avLst/>
          </a:prstGeom>
          <a:noFill/>
        </p:spPr>
        <p:txBody>
          <a:bodyPr wrap="square">
            <a:spAutoFit/>
          </a:bodyPr>
          <a:lstStyle/>
          <a:p>
            <a:r>
              <a:rPr lang="en-US" sz="1400" dirty="0"/>
              <a:t>public class WordCount {</a:t>
            </a:r>
          </a:p>
          <a:p>
            <a:endParaRPr lang="en-US" sz="1400" dirty="0"/>
          </a:p>
          <a:p>
            <a:r>
              <a:rPr lang="en-US" sz="1400" dirty="0"/>
              <a:t>  public static class TokenizerMapper </a:t>
            </a:r>
          </a:p>
          <a:p>
            <a:r>
              <a:rPr lang="en-US" sz="1400" dirty="0"/>
              <a:t>       extends Mapper&lt;Object, Text, Text, IntWritable&gt;{</a:t>
            </a:r>
          </a:p>
          <a:p>
            <a:r>
              <a:rPr lang="en-US" sz="1400" dirty="0"/>
              <a:t>    </a:t>
            </a:r>
          </a:p>
          <a:p>
            <a:r>
              <a:rPr lang="en-US" sz="1400" dirty="0"/>
              <a:t>    private final static IntWritable one = new IntWritable(1);</a:t>
            </a:r>
          </a:p>
          <a:p>
            <a:r>
              <a:rPr lang="en-US" sz="1400" dirty="0"/>
              <a:t>    private Text word = new Text();</a:t>
            </a:r>
          </a:p>
          <a:p>
            <a:r>
              <a:rPr lang="en-US" sz="1400" dirty="0"/>
              <a:t>      </a:t>
            </a:r>
          </a:p>
          <a:p>
            <a:r>
              <a:rPr lang="en-US" sz="1400" dirty="0"/>
              <a:t>    public void map(Object key, Text value, Context context</a:t>
            </a:r>
          </a:p>
          <a:p>
            <a:r>
              <a:rPr lang="en-US" sz="1400" dirty="0"/>
              <a:t>                    ) throws IOException, InterruptedException {</a:t>
            </a:r>
          </a:p>
          <a:p>
            <a:r>
              <a:rPr lang="en-US" sz="1400" dirty="0"/>
              <a:t>      StringTokenizer itr = new StringTokenizer(value.toString());</a:t>
            </a:r>
          </a:p>
          <a:p>
            <a:r>
              <a:rPr lang="en-US" sz="1400" dirty="0"/>
              <a:t>      while (itr.hasMoreTokens()) {</a:t>
            </a:r>
          </a:p>
          <a:p>
            <a:r>
              <a:rPr lang="en-US" sz="1400" dirty="0"/>
              <a:t>        word.set(itr.nextToken());</a:t>
            </a:r>
          </a:p>
          <a:p>
            <a:r>
              <a:rPr lang="en-US" sz="1400" dirty="0"/>
              <a:t>        context.write(word, one);</a:t>
            </a:r>
          </a:p>
          <a:p>
            <a:r>
              <a:rPr lang="en-US" sz="1400" dirty="0"/>
              <a:t>      }</a:t>
            </a:r>
          </a:p>
          <a:p>
            <a:r>
              <a:rPr lang="en-US" sz="1400" dirty="0"/>
              <a:t>    }</a:t>
            </a:r>
          </a:p>
          <a:p>
            <a:r>
              <a:rPr lang="en-US" sz="1400" dirty="0"/>
              <a:t>  }</a:t>
            </a:r>
          </a:p>
          <a:p>
            <a:r>
              <a:rPr lang="en-US" sz="1400" dirty="0"/>
              <a:t>  </a:t>
            </a:r>
          </a:p>
          <a:p>
            <a:r>
              <a:rPr lang="en-US" sz="1400" dirty="0"/>
              <a:t>  public static class IntSumReducer </a:t>
            </a:r>
          </a:p>
          <a:p>
            <a:r>
              <a:rPr lang="en-US" sz="1400" dirty="0"/>
              <a:t>       extends Reducer&lt;Text,IntWritable,Text,IntWritable&gt; {</a:t>
            </a:r>
          </a:p>
          <a:p>
            <a:r>
              <a:rPr lang="en-US" sz="1400" dirty="0"/>
              <a:t>    private IntWritable result = new IntWritable();</a:t>
            </a:r>
          </a:p>
          <a:p>
            <a:endParaRPr lang="en-US" sz="1400" dirty="0"/>
          </a:p>
          <a:p>
            <a:r>
              <a:rPr lang="en-US" sz="1400" dirty="0"/>
              <a:t>    public void reduce(Text key, Iterable&lt;IntWritable&gt; values, </a:t>
            </a:r>
          </a:p>
          <a:p>
            <a:r>
              <a:rPr lang="en-US" sz="1400" dirty="0"/>
              <a:t>                       Context context</a:t>
            </a:r>
          </a:p>
          <a:p>
            <a:r>
              <a:rPr lang="en-US" sz="1400" dirty="0"/>
              <a:t>                       ) throws IOException, InterruptedException {</a:t>
            </a:r>
          </a:p>
          <a:p>
            <a:r>
              <a:rPr lang="en-US" sz="1400" dirty="0"/>
              <a:t>      int sum = 0;</a:t>
            </a:r>
          </a:p>
          <a:p>
            <a:r>
              <a:rPr lang="en-US" sz="1400" dirty="0"/>
              <a:t>      for (IntWritable val : values) {</a:t>
            </a:r>
          </a:p>
          <a:p>
            <a:r>
              <a:rPr lang="en-US" sz="1400" dirty="0"/>
              <a:t>        sum += val.get();</a:t>
            </a:r>
          </a:p>
          <a:p>
            <a:r>
              <a:rPr lang="en-US" sz="1400" dirty="0"/>
              <a:t>      }</a:t>
            </a:r>
          </a:p>
          <a:p>
            <a:r>
              <a:rPr lang="en-US" sz="1400" dirty="0"/>
              <a:t>      result.set(sum);</a:t>
            </a:r>
          </a:p>
          <a:p>
            <a:r>
              <a:rPr lang="en-US" sz="1400" dirty="0"/>
              <a:t>      context.write(key, result);</a:t>
            </a:r>
          </a:p>
          <a:p>
            <a:r>
              <a:rPr lang="en-US" sz="1400" dirty="0"/>
              <a:t>    }</a:t>
            </a:r>
          </a:p>
          <a:p>
            <a:r>
              <a:rPr lang="en-US" sz="1400" dirty="0"/>
              <a:t>  }</a:t>
            </a:r>
          </a:p>
        </p:txBody>
      </p:sp>
      <p:sp>
        <p:nvSpPr>
          <p:cNvPr id="5" name="TextBox 4">
            <a:extLst>
              <a:ext uri="{FF2B5EF4-FFF2-40B4-BE49-F238E27FC236}">
                <a16:creationId xmlns:a16="http://schemas.microsoft.com/office/drawing/2014/main" id="{39E0801E-D995-EB1C-806B-B77B80861F83}"/>
              </a:ext>
            </a:extLst>
          </p:cNvPr>
          <p:cNvSpPr txBox="1"/>
          <p:nvPr/>
        </p:nvSpPr>
        <p:spPr>
          <a:xfrm>
            <a:off x="11826876" y="2562522"/>
            <a:ext cx="6172200" cy="5109091"/>
          </a:xfrm>
          <a:prstGeom prst="rect">
            <a:avLst/>
          </a:prstGeom>
          <a:noFill/>
        </p:spPr>
        <p:txBody>
          <a:bodyPr wrap="square">
            <a:spAutoFit/>
          </a:bodyPr>
          <a:lstStyle/>
          <a:p>
            <a:r>
              <a:rPr lang="en-US" sz="1400" dirty="0"/>
              <a:t>public static void main(String[] args) throws Exception {</a:t>
            </a:r>
          </a:p>
          <a:p>
            <a:r>
              <a:rPr lang="en-US" sz="1400" dirty="0"/>
              <a:t>    Configuration conf = new Configuration();</a:t>
            </a:r>
          </a:p>
          <a:p>
            <a:r>
              <a:rPr lang="en-US" sz="1400" dirty="0"/>
              <a:t>    String[] otherArgs = new GenericOptionsParser(conf, args).getRemainingArgs();</a:t>
            </a:r>
          </a:p>
          <a:p>
            <a:r>
              <a:rPr lang="en-US" sz="1400" dirty="0"/>
              <a:t>    if (otherArgs.length &lt; 2) {</a:t>
            </a:r>
          </a:p>
          <a:p>
            <a:r>
              <a:rPr lang="en-US" sz="1400" dirty="0"/>
              <a:t>      System.err.println("Usage: wordcount &lt;in&gt; [&lt;in&gt;...] &lt;out&gt;");</a:t>
            </a:r>
          </a:p>
          <a:p>
            <a:r>
              <a:rPr lang="en-US" sz="1400" dirty="0"/>
              <a:t>      System.exit(2);</a:t>
            </a:r>
          </a:p>
          <a:p>
            <a:r>
              <a:rPr lang="en-US" sz="1400" dirty="0"/>
              <a:t>    }</a:t>
            </a:r>
          </a:p>
          <a:p>
            <a:r>
              <a:rPr lang="en-US" sz="1400" dirty="0"/>
              <a:t>    Job job = Job.getInstance(conf, "word count");</a:t>
            </a:r>
          </a:p>
          <a:p>
            <a:r>
              <a:rPr lang="en-US" sz="1400" dirty="0"/>
              <a:t>    job.setJarByClass(WordCount.class);</a:t>
            </a:r>
          </a:p>
          <a:p>
            <a:r>
              <a:rPr lang="en-US" sz="1400" dirty="0"/>
              <a:t>    job.setMapperClass(TokenizerMapper.class);</a:t>
            </a:r>
          </a:p>
          <a:p>
            <a:r>
              <a:rPr lang="en-US" sz="1400" dirty="0"/>
              <a:t>    job.setCombinerClass(IntSumReducer.class);</a:t>
            </a:r>
          </a:p>
          <a:p>
            <a:r>
              <a:rPr lang="en-US" sz="1400" dirty="0"/>
              <a:t>    job.setReducerClass(IntSumReducer.class);</a:t>
            </a:r>
          </a:p>
          <a:p>
            <a:r>
              <a:rPr lang="en-US" sz="1400" dirty="0"/>
              <a:t>    job.setOutputKeyClass(Text.class);</a:t>
            </a:r>
          </a:p>
          <a:p>
            <a:r>
              <a:rPr lang="en-US" sz="1400" dirty="0"/>
              <a:t>    job.setOutputValueClass(IntWritable.class);</a:t>
            </a:r>
          </a:p>
          <a:p>
            <a:r>
              <a:rPr lang="en-US" sz="1400" dirty="0"/>
              <a:t>    for (int i = 0; i &lt; otherArgs.length - 1; ++i) {</a:t>
            </a:r>
          </a:p>
          <a:p>
            <a:r>
              <a:rPr lang="en-US" sz="1400" dirty="0"/>
              <a:t>      FileInputFormat.addInputPath(job, new Path(otherArgs[i]));</a:t>
            </a:r>
          </a:p>
          <a:p>
            <a:r>
              <a:rPr lang="en-US" sz="1400" dirty="0"/>
              <a:t>    }</a:t>
            </a:r>
          </a:p>
          <a:p>
            <a:r>
              <a:rPr lang="en-US" sz="1400" dirty="0"/>
              <a:t>    FileOutputFormat.setOutputPath(job,</a:t>
            </a:r>
          </a:p>
          <a:p>
            <a:r>
              <a:rPr lang="en-US" sz="1400" dirty="0"/>
              <a:t>      new Path(otherArgs[otherArgs.length - 1]));</a:t>
            </a:r>
          </a:p>
          <a:p>
            <a:r>
              <a:rPr lang="en-US" sz="1400" dirty="0"/>
              <a:t>    System.exit(job.waitForCompletion(true) ? 0 : 1);</a:t>
            </a:r>
          </a:p>
          <a:p>
            <a:r>
              <a:rPr lang="en-US" sz="1400" dirty="0"/>
              <a:t>  }</a:t>
            </a:r>
          </a:p>
          <a:p>
            <a:r>
              <a:rPr lang="en-US" sz="1400" dirty="0"/>
              <a:t>}</a:t>
            </a:r>
          </a:p>
        </p:txBody>
      </p:sp>
    </p:spTree>
    <p:extLst>
      <p:ext uri="{BB962C8B-B14F-4D97-AF65-F5344CB8AC3E}">
        <p14:creationId xmlns:p14="http://schemas.microsoft.com/office/powerpoint/2010/main" val="1556799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2A9DF-22D7-D5C9-8E60-97557C91923F}"/>
              </a:ext>
            </a:extLst>
          </p:cNvPr>
          <p:cNvSpPr>
            <a:spLocks noGrp="1"/>
          </p:cNvSpPr>
          <p:nvPr>
            <p:ph type="title"/>
          </p:nvPr>
        </p:nvSpPr>
        <p:spPr/>
        <p:txBody>
          <a:bodyPr/>
          <a:lstStyle/>
          <a:p>
            <a:r>
              <a:rPr lang="en-US" dirty="0"/>
              <a:t>Hadoop Streaming</a:t>
            </a:r>
          </a:p>
        </p:txBody>
      </p:sp>
      <p:sp>
        <p:nvSpPr>
          <p:cNvPr id="3" name="Content Placeholder 2">
            <a:extLst>
              <a:ext uri="{FF2B5EF4-FFF2-40B4-BE49-F238E27FC236}">
                <a16:creationId xmlns:a16="http://schemas.microsoft.com/office/drawing/2014/main" id="{02B6C7E8-A481-2829-DE97-CA6CBB095957}"/>
              </a:ext>
            </a:extLst>
          </p:cNvPr>
          <p:cNvSpPr>
            <a:spLocks noGrp="1"/>
          </p:cNvSpPr>
          <p:nvPr>
            <p:ph idx="1"/>
          </p:nvPr>
        </p:nvSpPr>
        <p:spPr/>
        <p:txBody>
          <a:bodyPr/>
          <a:lstStyle/>
          <a:p>
            <a:r>
              <a:rPr lang="en-US" sz="3200" dirty="0"/>
              <a:t>But Hadoop provides API for writing MapReduce programs in languages other than Java</a:t>
            </a:r>
          </a:p>
          <a:p>
            <a:r>
              <a:rPr lang="en-US" sz="3200" dirty="0"/>
              <a:t>Hadoop Streaming is the utility that allows us to create and run MapReduce jobs with any script or executable as the mapper or the reducer</a:t>
            </a:r>
          </a:p>
          <a:p>
            <a:r>
              <a:rPr lang="en-US" sz="3200" dirty="0"/>
              <a:t>It uses Unix streams (stdin/stdout) as the interface between the Hadoop and our MapReduce program</a:t>
            </a:r>
          </a:p>
          <a:p>
            <a:r>
              <a:rPr lang="en-US" sz="3200" dirty="0"/>
              <a:t>So that we can use any language which can read standard input and write to standard output for writing our MapReduce program</a:t>
            </a:r>
          </a:p>
          <a:p>
            <a:r>
              <a:rPr lang="en-US" sz="3200" dirty="0"/>
              <a:t>Allows developers to leverage their existing knowledge in scripting languages, without the need to learn Java or the complexities of its use for MapReduce</a:t>
            </a:r>
          </a:p>
          <a:p>
            <a:endParaRPr lang="en-US" sz="3200" dirty="0"/>
          </a:p>
        </p:txBody>
      </p:sp>
    </p:spTree>
    <p:extLst>
      <p:ext uri="{BB962C8B-B14F-4D97-AF65-F5344CB8AC3E}">
        <p14:creationId xmlns:p14="http://schemas.microsoft.com/office/powerpoint/2010/main" val="2116739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BDBC8-79F2-17F4-FD93-4DD73E569B3D}"/>
              </a:ext>
            </a:extLst>
          </p:cNvPr>
          <p:cNvSpPr>
            <a:spLocks noGrp="1"/>
          </p:cNvSpPr>
          <p:nvPr>
            <p:ph type="title"/>
          </p:nvPr>
        </p:nvSpPr>
        <p:spPr/>
        <p:txBody>
          <a:bodyPr/>
          <a:lstStyle/>
          <a:p>
            <a:r>
              <a:rPr lang="en-US" dirty="0"/>
              <a:t>Hadoop Streaming</a:t>
            </a:r>
          </a:p>
        </p:txBody>
      </p:sp>
      <p:sp>
        <p:nvSpPr>
          <p:cNvPr id="3" name="Content Placeholder 2">
            <a:extLst>
              <a:ext uri="{FF2B5EF4-FFF2-40B4-BE49-F238E27FC236}">
                <a16:creationId xmlns:a16="http://schemas.microsoft.com/office/drawing/2014/main" id="{3C50F864-D15A-1D44-762E-0012B39C7466}"/>
              </a:ext>
            </a:extLst>
          </p:cNvPr>
          <p:cNvSpPr>
            <a:spLocks noGrp="1"/>
          </p:cNvSpPr>
          <p:nvPr>
            <p:ph idx="1"/>
          </p:nvPr>
        </p:nvSpPr>
        <p:spPr/>
        <p:txBody>
          <a:bodyPr/>
          <a:lstStyle/>
          <a:p>
            <a:r>
              <a:rPr lang="en-US" sz="3200" dirty="0"/>
              <a:t>Here the Mapper and Reducer are both separate executables in any language</a:t>
            </a:r>
          </a:p>
          <a:p>
            <a:r>
              <a:rPr lang="en-US" sz="3200" dirty="0"/>
              <a:t>They both read input, line by line, from the standard input (stdin), and write output to the standard output (stdout)</a:t>
            </a:r>
          </a:p>
          <a:p>
            <a:r>
              <a:rPr lang="en-US" sz="3200" dirty="0"/>
              <a:t>The Hadoop streaming utility creates a MapReduce job, submits the job to the cluster, and monitors its progress until complete.</a:t>
            </a:r>
          </a:p>
        </p:txBody>
      </p:sp>
      <p:pic>
        <p:nvPicPr>
          <p:cNvPr id="4" name="Picture 2" descr="This image illustrates the streaming architecture of a MapReduce job, showing the flow of data through different components. Here’s a detailed explanation:&#10;&#10;1. **Input Reader/Format**:&#10;   - The input data is read and formatted appropriately for processing.&#10;   - This component converts raw input data into key-value pairs, which can be processed by the Mapper.&#10;&#10;2. **Mapper Stream**:&#10;   - The Mapper function processes each input key-value pair and generates intermediate key-value pairs.&#10;   - In this architecture, the Mapper can be an external program, which receives input through standard input (STDIN) and outputs results through standard output (STDOUT).&#10;   - The intermediate key-value pairs produced by the Mapper are then passed to the next stage.&#10;&#10;3. **Intermediate Key-Value Pairs**:&#10;   - These are the key-value pairs generated by the Mapper, which will be shuffled and sorted before being sent to the Reducer.&#10;   - This step involves organizing the key-value pairs such that all values associated with the same key are grouped together.&#10;&#10;4. **Reducer Stream**:&#10;   - The Reducer function processes the grouped intermediate key-value pairs and generates the final key-value pairs.&#10;   - Similar to the Mapper, the Reducer can also be an external program, which receives input through standard input (STDIN) and outputs results through standard output (STDOUT).&#10;&#10;5. **Output Format**:&#10;   - The final key-value pairs produced by the Reducer are formatted and written out as the job’s output.&#10;   - This component ensures that the output data is in the desired format for further use or analysis.&#10;&#10;This streaming architecture highlights the flexibility of the MapReduce framework, allowing external programs to be used for both the Map and Reduce functions. This approach can be particularly useful for integrating custom processing logic or leveraging existing tools and scripts. The flow of data from input to output, with intermediate steps for mapping and reducing, demonstrates the core principles of the MapReduce paradigm.">
            <a:extLst>
              <a:ext uri="{FF2B5EF4-FFF2-40B4-BE49-F238E27FC236}">
                <a16:creationId xmlns:a16="http://schemas.microsoft.com/office/drawing/2014/main" id="{642E0AB8-4856-04F6-B7B5-B16C76D1041A}"/>
              </a:ext>
            </a:extLst>
          </p:cNvPr>
          <p:cNvPicPr>
            <a:picLocks noChangeAspect="1" noChangeArrowheads="1"/>
          </p:cNvPicPr>
          <p:nvPr/>
        </p:nvPicPr>
        <p:blipFill rotWithShape="1">
          <a:blip r:embed="rId2">
            <a:alphaModFix amt="70000"/>
            <a:extLst>
              <a:ext uri="{28A0092B-C50C-407E-A947-70E740481C1C}">
                <a14:useLocalDpi xmlns:a14="http://schemas.microsoft.com/office/drawing/2010/main" val="0"/>
              </a:ext>
            </a:extLst>
          </a:blip>
          <a:srcRect l="2879" t="34909" r="3181" b="11475"/>
          <a:stretch/>
        </p:blipFill>
        <p:spPr bwMode="auto">
          <a:xfrm>
            <a:off x="551007" y="5494702"/>
            <a:ext cx="17179637" cy="4294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4928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3AEA0-49B3-C897-7180-F30AEBA306D7}"/>
              </a:ext>
            </a:extLst>
          </p:cNvPr>
          <p:cNvSpPr>
            <a:spLocks noGrp="1"/>
          </p:cNvSpPr>
          <p:nvPr>
            <p:ph type="title"/>
          </p:nvPr>
        </p:nvSpPr>
        <p:spPr/>
        <p:txBody>
          <a:bodyPr/>
          <a:lstStyle/>
          <a:p>
            <a:r>
              <a:rPr lang="en-US" dirty="0"/>
              <a:t>MapReduce Programming </a:t>
            </a:r>
            <a:br>
              <a:rPr lang="en-US" dirty="0"/>
            </a:br>
            <a:r>
              <a:rPr lang="en-US" sz="4800" dirty="0"/>
              <a:t>Python (MrJob)</a:t>
            </a:r>
            <a:endParaRPr lang="en-US" dirty="0"/>
          </a:p>
        </p:txBody>
      </p:sp>
      <p:sp>
        <p:nvSpPr>
          <p:cNvPr id="3" name="Content Placeholder 2">
            <a:extLst>
              <a:ext uri="{FF2B5EF4-FFF2-40B4-BE49-F238E27FC236}">
                <a16:creationId xmlns:a16="http://schemas.microsoft.com/office/drawing/2014/main" id="{78D917A2-460B-D427-0FE5-E33E893F2B10}"/>
              </a:ext>
            </a:extLst>
          </p:cNvPr>
          <p:cNvSpPr>
            <a:spLocks noGrp="1"/>
          </p:cNvSpPr>
          <p:nvPr>
            <p:ph idx="1"/>
          </p:nvPr>
        </p:nvSpPr>
        <p:spPr/>
        <p:txBody>
          <a:bodyPr/>
          <a:lstStyle/>
          <a:p>
            <a:pPr>
              <a:spcBef>
                <a:spcPts val="1600"/>
              </a:spcBef>
            </a:pPr>
            <a:r>
              <a:rPr lang="en-US" sz="3200" dirty="0"/>
              <a:t>MrJob is a library that provides a simplified Python language interface for running Hadoop Streaming jobs</a:t>
            </a:r>
          </a:p>
          <a:p>
            <a:pPr>
              <a:spcBef>
                <a:spcPts val="1600"/>
              </a:spcBef>
            </a:pPr>
            <a:r>
              <a:rPr lang="en-US" sz="3200" dirty="0"/>
              <a:t>It is open sourced and maintained by Yelp, well documented and can run locally, or in the cloud (ex. Amazon EMR)</a:t>
            </a:r>
          </a:p>
          <a:p>
            <a:pPr>
              <a:spcBef>
                <a:spcPts val="1600"/>
              </a:spcBef>
            </a:pPr>
            <a:r>
              <a:rPr lang="en-US" sz="3200" dirty="0"/>
              <a:t>It abstracts away the complexities of Hadoop Streaming and stream processing, allowing developers to focus on the logic of their data processing tasks </a:t>
            </a:r>
          </a:p>
          <a:p>
            <a:pPr>
              <a:spcBef>
                <a:spcPts val="1600"/>
              </a:spcBef>
            </a:pPr>
            <a:r>
              <a:rPr lang="en-US" sz="3200" dirty="0"/>
              <a:t>It eliminates the need for developers to write low-level Java code or deal with Hadoop configurations</a:t>
            </a:r>
          </a:p>
          <a:p>
            <a:pPr>
              <a:spcBef>
                <a:spcPts val="1600"/>
              </a:spcBef>
            </a:pPr>
            <a:r>
              <a:rPr lang="en-US" sz="3200" dirty="0"/>
              <a:t>It provides a concise and Pythonic syntax for coding mapper, reducer, and combiner functions, making it easier to develop and understand MapReduce jobs</a:t>
            </a:r>
          </a:p>
          <a:p>
            <a:pPr>
              <a:spcBef>
                <a:spcPts val="1600"/>
              </a:spcBef>
            </a:pPr>
            <a:r>
              <a:rPr lang="en-US" sz="3200" dirty="0"/>
              <a:t>Note, MrJob can execute Apache Spark jobs, but this is not a common use and we </a:t>
            </a:r>
            <a:r>
              <a:rPr lang="en-US" sz="3200" dirty="0" err="1"/>
              <a:t>witll</a:t>
            </a:r>
            <a:r>
              <a:rPr lang="en-US" sz="3200" dirty="0"/>
              <a:t> not explore this further</a:t>
            </a:r>
          </a:p>
        </p:txBody>
      </p:sp>
    </p:spTree>
    <p:extLst>
      <p:ext uri="{BB962C8B-B14F-4D97-AF65-F5344CB8AC3E}">
        <p14:creationId xmlns:p14="http://schemas.microsoft.com/office/powerpoint/2010/main" val="2264236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3AD07-5CD4-3D90-48D0-32EB60848B14}"/>
              </a:ext>
            </a:extLst>
          </p:cNvPr>
          <p:cNvSpPr>
            <a:spLocks noGrp="1"/>
          </p:cNvSpPr>
          <p:nvPr>
            <p:ph type="title"/>
          </p:nvPr>
        </p:nvSpPr>
        <p:spPr/>
        <p:txBody>
          <a:bodyPr/>
          <a:lstStyle/>
          <a:p>
            <a:r>
              <a:rPr lang="en-US" dirty="0"/>
              <a:t>MapReduce Programming </a:t>
            </a:r>
            <a:br>
              <a:rPr lang="en-US" dirty="0"/>
            </a:br>
            <a:r>
              <a:rPr lang="en-US" sz="4800" dirty="0"/>
              <a:t>Python (MrJob) – Limitations</a:t>
            </a:r>
            <a:endParaRPr lang="en-US" dirty="0"/>
          </a:p>
        </p:txBody>
      </p:sp>
      <p:sp>
        <p:nvSpPr>
          <p:cNvPr id="3" name="Content Placeholder 2">
            <a:extLst>
              <a:ext uri="{FF2B5EF4-FFF2-40B4-BE49-F238E27FC236}">
                <a16:creationId xmlns:a16="http://schemas.microsoft.com/office/drawing/2014/main" id="{314C6D4B-C9F4-EC33-5DCC-6E5ED6DB73E0}"/>
              </a:ext>
            </a:extLst>
          </p:cNvPr>
          <p:cNvSpPr>
            <a:spLocks noGrp="1"/>
          </p:cNvSpPr>
          <p:nvPr>
            <p:ph idx="1"/>
          </p:nvPr>
        </p:nvSpPr>
        <p:spPr/>
        <p:txBody>
          <a:bodyPr/>
          <a:lstStyle/>
          <a:p>
            <a:r>
              <a:rPr lang="en-US" dirty="0"/>
              <a:t>Lesser performance means it is not appropriate to process huge volumes of data (verses coding the same job in Java)</a:t>
            </a:r>
          </a:p>
          <a:p>
            <a:r>
              <a:rPr lang="en-US" dirty="0"/>
              <a:t>Simplified execution model makes it challenging to perform SQL-like joins or other similar operations on multiple input datasets</a:t>
            </a:r>
          </a:p>
          <a:p>
            <a:r>
              <a:rPr lang="en-US" dirty="0"/>
              <a:t>But it is very useful for our purposes to gain practical experience coding MapReduce jobs without the complications of Java</a:t>
            </a:r>
          </a:p>
        </p:txBody>
      </p:sp>
    </p:spTree>
    <p:extLst>
      <p:ext uri="{BB962C8B-B14F-4D97-AF65-F5344CB8AC3E}">
        <p14:creationId xmlns:p14="http://schemas.microsoft.com/office/powerpoint/2010/main" val="2517537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WordCount Using MRJob</a:t>
            </a:r>
            <a:br>
              <a:rPr lang="en-US" dirty="0"/>
            </a:br>
            <a:r>
              <a:rPr lang="en-US" sz="4650" dirty="0"/>
              <a:t>Driver</a:t>
            </a:r>
          </a:p>
        </p:txBody>
      </p:sp>
      <p:sp>
        <p:nvSpPr>
          <p:cNvPr id="3" name="Content Placeholder 2"/>
          <p:cNvSpPr>
            <a:spLocks noGrp="1"/>
          </p:cNvSpPr>
          <p:nvPr>
            <p:ph idx="4294967295"/>
          </p:nvPr>
        </p:nvSpPr>
        <p:spPr>
          <a:xfrm>
            <a:off x="838200" y="2400300"/>
            <a:ext cx="16459200" cy="6000750"/>
          </a:xfrm>
        </p:spPr>
        <p:txBody>
          <a:bodyPr>
            <a:normAutofit fontScale="92500" lnSpcReduction="20000"/>
          </a:bodyPr>
          <a:lstStyle/>
          <a:p>
            <a:r>
              <a:rPr lang="en-US" dirty="0"/>
              <a:t>The first chunk of code we’ll look at is the driver. </a:t>
            </a:r>
          </a:p>
          <a:p>
            <a:r>
              <a:rPr lang="en-US" dirty="0"/>
              <a:t>The driver takes all of the components that we’ve built for our MapReduce job and pieces them together to be submitted to execution</a:t>
            </a:r>
          </a:p>
          <a:p>
            <a:r>
              <a:rPr lang="en-US" dirty="0"/>
              <a:t>This code is usually pretty generic and considered “boiler plate.” </a:t>
            </a:r>
          </a:p>
          <a:p>
            <a:r>
              <a:rPr lang="en-US" dirty="0"/>
              <a:t>You’ll find that in all of our patterns the driver stays the same for the most part</a:t>
            </a:r>
          </a:p>
        </p:txBody>
      </p:sp>
    </p:spTree>
    <p:extLst>
      <p:ext uri="{BB962C8B-B14F-4D97-AF65-F5344CB8AC3E}">
        <p14:creationId xmlns:p14="http://schemas.microsoft.com/office/powerpoint/2010/main" val="295356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A1DFF-C1A0-F247-FBAC-88A26BE0B241}"/>
              </a:ext>
            </a:extLst>
          </p:cNvPr>
          <p:cNvSpPr>
            <a:spLocks noGrp="1"/>
          </p:cNvSpPr>
          <p:nvPr>
            <p:ph type="title"/>
          </p:nvPr>
        </p:nvSpPr>
        <p:spPr/>
        <p:txBody>
          <a:bodyPr/>
          <a:lstStyle/>
          <a:p>
            <a:r>
              <a:rPr kumimoji="0" lang="en-US" sz="56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Using MRJob </a:t>
            </a:r>
            <a:br>
              <a:rPr kumimoji="0" lang="en-US" sz="56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br>
            <a:r>
              <a:rPr lang="en-US" sz="4800" dirty="0">
                <a:solidFill>
                  <a:srgbClr val="D2533C"/>
                </a:solidFill>
              </a:rPr>
              <a:t>Driver</a:t>
            </a:r>
            <a:endParaRPr lang="en-US" dirty="0"/>
          </a:p>
        </p:txBody>
      </p:sp>
      <p:sp>
        <p:nvSpPr>
          <p:cNvPr id="7" name="Content Placeholder 4">
            <a:extLst>
              <a:ext uri="{FF2B5EF4-FFF2-40B4-BE49-F238E27FC236}">
                <a16:creationId xmlns:a16="http://schemas.microsoft.com/office/drawing/2014/main" id="{621345A3-0EC9-614A-21C1-B33A6850C1EA}"/>
              </a:ext>
            </a:extLst>
          </p:cNvPr>
          <p:cNvSpPr txBox="1">
            <a:spLocks/>
          </p:cNvSpPr>
          <p:nvPr/>
        </p:nvSpPr>
        <p:spPr>
          <a:xfrm>
            <a:off x="914400" y="2400300"/>
            <a:ext cx="16459200" cy="6295795"/>
          </a:xfrm>
          <a:prstGeom prst="rect">
            <a:avLst/>
          </a:prstGeom>
        </p:spPr>
        <p:txBody>
          <a:bodyPr vert="horz" lIns="91440" tIns="45720" rIns="91440" bIns="45720" rtlCol="0">
            <a:normAutofit fontScale="92500" lnSpcReduction="10000"/>
          </a:bodyPr>
          <a:lstStyle>
            <a:lvl1pPr marL="274320" indent="-274320" algn="l" defTabSz="1371600" rtl="0" eaLnBrk="1" latinLnBrk="0" hangingPunct="1">
              <a:spcBef>
                <a:spcPct val="20000"/>
              </a:spcBef>
              <a:buClr>
                <a:schemeClr val="accent1"/>
              </a:buClr>
              <a:buSzPct val="85000"/>
              <a:buFont typeface="Arial" pitchFamily="34" charset="0"/>
              <a:buChar char="•"/>
              <a:defRPr sz="3600" kern="1200">
                <a:solidFill>
                  <a:schemeClr val="tx1"/>
                </a:solidFill>
                <a:latin typeface="+mn-lt"/>
                <a:ea typeface="+mn-ea"/>
                <a:cs typeface="+mn-cs"/>
              </a:defRPr>
            </a:lvl1pPr>
            <a:lvl2pPr marL="685800" indent="-274320" algn="l" defTabSz="1371600" rtl="0" eaLnBrk="1" latinLnBrk="0" hangingPunct="1">
              <a:spcBef>
                <a:spcPct val="20000"/>
              </a:spcBef>
              <a:buClr>
                <a:schemeClr val="accent1"/>
              </a:buClr>
              <a:buSzPct val="85000"/>
              <a:buFont typeface="Arial" pitchFamily="34" charset="0"/>
              <a:buChar char="•"/>
              <a:defRPr sz="3000" kern="1200">
                <a:solidFill>
                  <a:schemeClr val="tx1"/>
                </a:solidFill>
                <a:latin typeface="+mn-lt"/>
                <a:ea typeface="+mn-ea"/>
                <a:cs typeface="+mn-cs"/>
              </a:defRPr>
            </a:lvl2pPr>
            <a:lvl3pPr marL="1097280" indent="-274320" algn="l" defTabSz="1371600" rtl="0" eaLnBrk="1" latinLnBrk="0" hangingPunct="1">
              <a:spcBef>
                <a:spcPct val="20000"/>
              </a:spcBef>
              <a:buClr>
                <a:schemeClr val="accent1"/>
              </a:buClr>
              <a:buSzPct val="90000"/>
              <a:buFont typeface="Arial" pitchFamily="34" charset="0"/>
              <a:buChar char="•"/>
              <a:defRPr sz="2700" kern="1200">
                <a:solidFill>
                  <a:schemeClr val="tx1"/>
                </a:solidFill>
                <a:latin typeface="+mn-lt"/>
                <a:ea typeface="+mn-ea"/>
                <a:cs typeface="+mn-cs"/>
              </a:defRPr>
            </a:lvl3pPr>
            <a:lvl4pPr marL="1508760" indent="-274320" algn="l" defTabSz="1371600" rtl="0" eaLnBrk="1" latinLnBrk="0" hangingPunct="1">
              <a:spcBef>
                <a:spcPct val="20000"/>
              </a:spcBef>
              <a:buClr>
                <a:schemeClr val="accent1"/>
              </a:buClr>
              <a:buFont typeface="Arial" pitchFamily="34" charset="0"/>
              <a:buChar char="•"/>
              <a:defRPr sz="2400" kern="1200">
                <a:solidFill>
                  <a:schemeClr val="tx1"/>
                </a:solidFill>
                <a:latin typeface="+mn-lt"/>
                <a:ea typeface="+mn-ea"/>
                <a:cs typeface="+mn-cs"/>
              </a:defRPr>
            </a:lvl4pPr>
            <a:lvl5pPr marL="1783080" indent="-205740" algn="l" defTabSz="1371600" rtl="0" eaLnBrk="1" latinLnBrk="0" hangingPunct="1">
              <a:spcBef>
                <a:spcPct val="20000"/>
              </a:spcBef>
              <a:buClr>
                <a:schemeClr val="accent1"/>
              </a:buClr>
              <a:buSzPct val="100000"/>
              <a:buFont typeface="Arial" pitchFamily="34" charset="0"/>
              <a:buChar char="•"/>
              <a:defRPr sz="2100" kern="1200" baseline="0">
                <a:solidFill>
                  <a:schemeClr val="tx1"/>
                </a:solidFill>
                <a:latin typeface="+mn-lt"/>
                <a:ea typeface="+mn-ea"/>
                <a:cs typeface="+mn-cs"/>
              </a:defRPr>
            </a:lvl5pPr>
            <a:lvl6pPr marL="2057400" indent="-274320" algn="l" defTabSz="1371600" rtl="0" eaLnBrk="1" latinLnBrk="0" hangingPunct="1">
              <a:spcBef>
                <a:spcPct val="20000"/>
              </a:spcBef>
              <a:buClr>
                <a:schemeClr val="accent1"/>
              </a:buClr>
              <a:buFont typeface="Arial" pitchFamily="34" charset="0"/>
              <a:buChar char="•"/>
              <a:defRPr sz="1950" kern="1200">
                <a:solidFill>
                  <a:schemeClr val="tx1"/>
                </a:solidFill>
                <a:latin typeface="+mn-lt"/>
                <a:ea typeface="+mn-ea"/>
                <a:cs typeface="+mn-cs"/>
              </a:defRPr>
            </a:lvl6pPr>
            <a:lvl7pPr marL="2331720" indent="-274320" algn="l" defTabSz="1371600" rtl="0" eaLnBrk="1" latinLnBrk="0" hangingPunct="1">
              <a:spcBef>
                <a:spcPct val="20000"/>
              </a:spcBef>
              <a:buClr>
                <a:schemeClr val="accent1"/>
              </a:buClr>
              <a:buFont typeface="Arial" pitchFamily="34" charset="0"/>
              <a:buChar char="•"/>
              <a:defRPr sz="1950" kern="1200">
                <a:solidFill>
                  <a:schemeClr val="tx1"/>
                </a:solidFill>
                <a:latin typeface="+mn-lt"/>
                <a:ea typeface="+mn-ea"/>
                <a:cs typeface="+mn-cs"/>
              </a:defRPr>
            </a:lvl7pPr>
            <a:lvl8pPr marL="2606040" indent="-274320" algn="l" defTabSz="1371600" rtl="0" eaLnBrk="1" latinLnBrk="0" hangingPunct="1">
              <a:spcBef>
                <a:spcPct val="20000"/>
              </a:spcBef>
              <a:buClr>
                <a:schemeClr val="accent1"/>
              </a:buClr>
              <a:buFont typeface="Arial" pitchFamily="34" charset="0"/>
              <a:buChar char="•"/>
              <a:defRPr sz="1950" kern="1200">
                <a:solidFill>
                  <a:schemeClr val="tx1"/>
                </a:solidFill>
                <a:latin typeface="+mn-lt"/>
                <a:ea typeface="+mn-ea"/>
                <a:cs typeface="+mn-cs"/>
              </a:defRPr>
            </a:lvl8pPr>
            <a:lvl9pPr marL="2880360" indent="-274320" algn="l" defTabSz="1371600" rtl="0" eaLnBrk="1" latinLnBrk="0" hangingPunct="1">
              <a:spcBef>
                <a:spcPct val="20000"/>
              </a:spcBef>
              <a:buClr>
                <a:schemeClr val="accent1"/>
              </a:buClr>
              <a:buFont typeface="Arial" pitchFamily="34" charset="0"/>
              <a:buChar char="•"/>
              <a:defRPr sz="195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200" b="0" i="0" u="none" strike="noStrike" kern="1200" cap="none" spc="0" normalizeH="0" baseline="0" noProof="0" dirty="0">
                <a:ln>
                  <a:noFill/>
                </a:ln>
                <a:solidFill>
                  <a:srgbClr val="292934"/>
                </a:solidFill>
                <a:effectLst/>
                <a:uLnTx/>
                <a:uFillTx/>
                <a:latin typeface="Courier"/>
                <a:ea typeface="+mn-ea"/>
                <a:cs typeface="Courier"/>
              </a:rPr>
              <a:t>from mrjob.job import MRJob</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endParaRPr kumimoji="0" lang="en-US" sz="3200" b="0" i="0" u="none" strike="noStrike" kern="1200" cap="none" spc="0" normalizeH="0" baseline="0" noProof="0" dirty="0">
              <a:ln>
                <a:noFill/>
              </a:ln>
              <a:solidFill>
                <a:srgbClr val="292934"/>
              </a:solidFill>
              <a:effectLst/>
              <a:uLnTx/>
              <a:uFillTx/>
              <a:latin typeface="Courier"/>
              <a:ea typeface="+mn-ea"/>
              <a:cs typeface="Courier"/>
            </a:endParaRP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200" b="0" i="0" u="none" strike="noStrike" kern="1200" cap="none" spc="0" normalizeH="0" baseline="0" noProof="0" dirty="0">
                <a:ln>
                  <a:noFill/>
                </a:ln>
                <a:solidFill>
                  <a:srgbClr val="292934"/>
                </a:solidFill>
                <a:effectLst/>
                <a:uLnTx/>
                <a:uFillTx/>
                <a:latin typeface="Courier"/>
                <a:ea typeface="+mn-ea"/>
                <a:cs typeface="Courier"/>
              </a:rPr>
              <a:t>class MR</a:t>
            </a:r>
            <a:r>
              <a:rPr kumimoji="0" lang="en-US" sz="3200" b="0" i="0" u="none" strike="noStrike" kern="1200" cap="none" spc="0" normalizeH="0" baseline="0" noProof="0" dirty="0">
                <a:ln>
                  <a:noFill/>
                </a:ln>
                <a:solidFill>
                  <a:srgbClr val="0070C0"/>
                </a:solidFill>
                <a:effectLst/>
                <a:uLnTx/>
                <a:uFillTx/>
                <a:latin typeface="Courier"/>
                <a:ea typeface="+mn-ea"/>
                <a:cs typeface="Courier"/>
              </a:rPr>
              <a:t>ClassName</a:t>
            </a:r>
            <a:r>
              <a:rPr kumimoji="0" lang="en-US" sz="3200" b="0" i="0" u="none" strike="noStrike" kern="1200" cap="none" spc="0" normalizeH="0" baseline="0" noProof="0" dirty="0">
                <a:ln>
                  <a:noFill/>
                </a:ln>
                <a:solidFill>
                  <a:srgbClr val="292934"/>
                </a:solidFill>
                <a:effectLst/>
                <a:uLnTx/>
                <a:uFillTx/>
                <a:latin typeface="Courier"/>
                <a:ea typeface="+mn-ea"/>
                <a:cs typeface="Courier"/>
              </a:rPr>
              <a:t>(MRJob):</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endParaRPr kumimoji="0" lang="en-US" sz="3200" b="0" i="0" u="none" strike="noStrike" kern="1200" cap="none" spc="0" normalizeH="0" baseline="0" noProof="0" dirty="0">
              <a:ln>
                <a:noFill/>
              </a:ln>
              <a:solidFill>
                <a:srgbClr val="292934"/>
              </a:solidFill>
              <a:effectLst/>
              <a:uLnTx/>
              <a:uFillTx/>
              <a:latin typeface="Courier"/>
              <a:ea typeface="+mn-ea"/>
              <a:cs typeface="Courier"/>
            </a:endParaRP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200" b="0" i="0" u="none" strike="noStrike" kern="1200" cap="none" spc="0" normalizeH="0" baseline="0" noProof="0" dirty="0">
                <a:ln>
                  <a:noFill/>
                </a:ln>
                <a:solidFill>
                  <a:srgbClr val="292934"/>
                </a:solidFill>
                <a:effectLst/>
                <a:uLnTx/>
                <a:uFillTx/>
                <a:latin typeface="Courier"/>
                <a:ea typeface="+mn-ea"/>
                <a:cs typeface="Courier"/>
              </a:rPr>
              <a:t>    def mapper(self, _, value):</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200" b="0" i="0" u="none" strike="noStrike" kern="1200" cap="none" spc="0" normalizeH="0" baseline="0" noProof="0" dirty="0">
                <a:ln>
                  <a:noFill/>
                </a:ln>
                <a:solidFill>
                  <a:srgbClr val="292934"/>
                </a:solidFill>
                <a:effectLst/>
                <a:uLnTx/>
                <a:uFillTx/>
                <a:latin typeface="Courier"/>
                <a:ea typeface="+mn-ea"/>
                <a:cs typeface="Courier"/>
              </a:rPr>
              <a:t>	// some mapper logic</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endParaRPr kumimoji="0" lang="en-US" sz="3200" b="0" i="0" u="none" strike="noStrike" kern="1200" cap="none" spc="0" normalizeH="0" baseline="0" noProof="0" dirty="0">
              <a:ln>
                <a:noFill/>
              </a:ln>
              <a:solidFill>
                <a:srgbClr val="292934"/>
              </a:solidFill>
              <a:effectLst/>
              <a:uLnTx/>
              <a:uFillTx/>
              <a:latin typeface="Courier"/>
              <a:ea typeface="+mn-ea"/>
              <a:cs typeface="Courier"/>
            </a:endParaRP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200" b="0" i="0" u="none" strike="noStrike" kern="1200" cap="none" spc="0" normalizeH="0" baseline="0" noProof="0" dirty="0">
                <a:ln>
                  <a:noFill/>
                </a:ln>
                <a:solidFill>
                  <a:srgbClr val="292934"/>
                </a:solidFill>
                <a:effectLst/>
                <a:uLnTx/>
                <a:uFillTx/>
                <a:latin typeface="Courier"/>
                <a:ea typeface="+mn-ea"/>
                <a:cs typeface="Courier"/>
              </a:rPr>
              <a:t>    def reducer(self, key, values):</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200" b="0" i="0" u="none" strike="noStrike" kern="1200" cap="none" spc="0" normalizeH="0" baseline="0" noProof="0" dirty="0">
                <a:ln>
                  <a:noFill/>
                </a:ln>
                <a:solidFill>
                  <a:srgbClr val="292934"/>
                </a:solidFill>
                <a:effectLst/>
                <a:uLnTx/>
                <a:uFillTx/>
                <a:latin typeface="Courier"/>
                <a:ea typeface="+mn-ea"/>
                <a:cs typeface="Courier"/>
              </a:rPr>
              <a:t>        // some reducer logic</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endParaRPr kumimoji="0" lang="en-US" sz="3200" b="0" i="0" u="none" strike="noStrike" kern="1200" cap="none" spc="0" normalizeH="0" baseline="0" noProof="0" dirty="0">
              <a:ln>
                <a:noFill/>
              </a:ln>
              <a:solidFill>
                <a:srgbClr val="292934"/>
              </a:solidFill>
              <a:effectLst/>
              <a:uLnTx/>
              <a:uFillTx/>
              <a:latin typeface="Courier"/>
              <a:ea typeface="+mn-ea"/>
              <a:cs typeface="Courier"/>
            </a:endParaRP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fr-FR" sz="3200" b="0" i="0" u="none" strike="noStrike" kern="1200" cap="none" spc="0" normalizeH="0" baseline="0" noProof="0" dirty="0">
                <a:ln>
                  <a:noFill/>
                </a:ln>
                <a:solidFill>
                  <a:srgbClr val="292934"/>
                </a:solidFill>
                <a:effectLst/>
                <a:uLnTx/>
                <a:uFillTx/>
                <a:latin typeface="Courier"/>
                <a:ea typeface="+mn-ea"/>
                <a:cs typeface="Courier"/>
              </a:rPr>
              <a:t>if __name__ == '__main__':</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fr-FR" sz="3200" b="0" i="0" u="none" strike="noStrike" kern="1200" cap="none" spc="0" normalizeH="0" baseline="0" noProof="0" dirty="0">
                <a:ln>
                  <a:noFill/>
                </a:ln>
                <a:solidFill>
                  <a:srgbClr val="292934"/>
                </a:solidFill>
                <a:effectLst/>
                <a:uLnTx/>
                <a:uFillTx/>
                <a:latin typeface="Courier"/>
                <a:ea typeface="+mn-ea"/>
                <a:cs typeface="Courier"/>
              </a:rPr>
              <a:t>     MR</a:t>
            </a:r>
            <a:r>
              <a:rPr kumimoji="0" lang="fr-FR" sz="3200" b="0" i="0" u="none" strike="noStrike" kern="1200" cap="none" spc="0" normalizeH="0" baseline="0" noProof="0" dirty="0">
                <a:ln>
                  <a:noFill/>
                </a:ln>
                <a:solidFill>
                  <a:srgbClr val="0070C0"/>
                </a:solidFill>
                <a:effectLst/>
                <a:uLnTx/>
                <a:uFillTx/>
                <a:latin typeface="Courier"/>
                <a:ea typeface="+mn-ea"/>
                <a:cs typeface="Courier"/>
              </a:rPr>
              <a:t>ClassNam</a:t>
            </a:r>
            <a:r>
              <a:rPr kumimoji="0" lang="fr-FR" sz="3200" b="0" i="0" u="none" strike="noStrike" kern="1200" cap="none" spc="0" normalizeH="0" baseline="0" noProof="0" dirty="0">
                <a:ln>
                  <a:noFill/>
                </a:ln>
                <a:solidFill>
                  <a:srgbClr val="292934"/>
                </a:solidFill>
                <a:effectLst/>
                <a:uLnTx/>
                <a:uFillTx/>
                <a:latin typeface="Courier"/>
                <a:ea typeface="+mn-ea"/>
                <a:cs typeface="Courier"/>
              </a:rPr>
              <a:t>e.run()</a:t>
            </a:r>
            <a:endParaRPr kumimoji="0" lang="en-US" sz="3200" b="0" i="0" u="none" strike="noStrike" kern="1200" cap="none" spc="0" normalizeH="0" baseline="0" noProof="0" dirty="0">
              <a:ln>
                <a:noFill/>
              </a:ln>
              <a:solidFill>
                <a:srgbClr val="292934"/>
              </a:solidFill>
              <a:effectLst/>
              <a:uLnTx/>
              <a:uFillTx/>
              <a:latin typeface="Courier"/>
              <a:ea typeface="+mn-ea"/>
              <a:cs typeface="Courier"/>
            </a:endParaRP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endParaRPr kumimoji="0" lang="en-US" sz="3600" b="0" i="0" u="none" strike="noStrike" kern="1200" cap="none" spc="0" normalizeH="0" baseline="0" noProof="0" dirty="0">
              <a:ln>
                <a:noFill/>
              </a:ln>
              <a:solidFill>
                <a:srgbClr val="292934"/>
              </a:solidFill>
              <a:effectLst/>
              <a:uLnTx/>
              <a:uFillTx/>
              <a:latin typeface="Arial"/>
              <a:ea typeface="+mn-ea"/>
              <a:cs typeface="+mn-cs"/>
            </a:endParaRPr>
          </a:p>
        </p:txBody>
      </p:sp>
      <p:sp>
        <p:nvSpPr>
          <p:cNvPr id="8" name="Rectangular Callout 7">
            <a:extLst>
              <a:ext uri="{FF2B5EF4-FFF2-40B4-BE49-F238E27FC236}">
                <a16:creationId xmlns:a16="http://schemas.microsoft.com/office/drawing/2014/main" id="{CD219F9B-9886-7FC6-DDC4-46EA7E132507}"/>
              </a:ext>
            </a:extLst>
          </p:cNvPr>
          <p:cNvSpPr/>
          <p:nvPr/>
        </p:nvSpPr>
        <p:spPr>
          <a:xfrm>
            <a:off x="13108488" y="2810193"/>
            <a:ext cx="3693610" cy="2749275"/>
          </a:xfrm>
          <a:prstGeom prst="wedgeRectCallout">
            <a:avLst>
              <a:gd name="adj1" fmla="val -179854"/>
              <a:gd name="adj2" fmla="val 19570"/>
            </a:avLst>
          </a:prstGeom>
          <a:solidFill>
            <a:srgbClr val="93A299"/>
          </a:solidFill>
          <a:ln w="26425" cap="flat" cmpd="sng" algn="ctr">
            <a:solidFill>
              <a:srgbClr val="93A299">
                <a:shade val="50000"/>
              </a:srgbClr>
            </a:solidFill>
            <a:prstDash val="solid"/>
          </a:ln>
          <a:effectLst/>
        </p:spPr>
        <p:txBody>
          <a:bodyPr rtlCol="0" anchor="ctr"/>
          <a:lstStyle/>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effectLst/>
                <a:uLnTx/>
                <a:uFillTx/>
                <a:latin typeface="Arial"/>
                <a:ea typeface="+mn-ea"/>
                <a:cs typeface="+mn-cs"/>
              </a:rPr>
              <a:t>“_” is the key of the input key value pair</a:t>
            </a:r>
          </a:p>
          <a:p>
            <a:pPr marL="0" marR="0" lvl="0" indent="0" algn="ctr" defTabSz="13716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effectLst/>
              <a:uLnTx/>
              <a:uFillTx/>
              <a:latin typeface="Arial"/>
              <a:ea typeface="+mn-ea"/>
              <a:cs typeface="+mn-cs"/>
            </a:endParaRPr>
          </a:p>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effectLst/>
                <a:uLnTx/>
                <a:uFillTx/>
                <a:latin typeface="Arial"/>
                <a:ea typeface="+mn-ea"/>
                <a:cs typeface="+mn-cs"/>
              </a:rPr>
              <a:t>“value” is the value of the input key value pair</a:t>
            </a:r>
          </a:p>
        </p:txBody>
      </p:sp>
      <p:sp>
        <p:nvSpPr>
          <p:cNvPr id="9" name="Rectangular Callout 8">
            <a:extLst>
              <a:ext uri="{FF2B5EF4-FFF2-40B4-BE49-F238E27FC236}">
                <a16:creationId xmlns:a16="http://schemas.microsoft.com/office/drawing/2014/main" id="{6CC1FC77-C1D9-E073-6BA4-30A9B953056E}"/>
              </a:ext>
            </a:extLst>
          </p:cNvPr>
          <p:cNvSpPr/>
          <p:nvPr/>
        </p:nvSpPr>
        <p:spPr>
          <a:xfrm>
            <a:off x="13108488" y="5946819"/>
            <a:ext cx="3693611" cy="2749276"/>
          </a:xfrm>
          <a:prstGeom prst="wedgeRectCallout">
            <a:avLst>
              <a:gd name="adj1" fmla="val -159785"/>
              <a:gd name="adj2" fmla="val -40935"/>
            </a:avLst>
          </a:prstGeom>
          <a:solidFill>
            <a:srgbClr val="93A299"/>
          </a:solidFill>
          <a:ln w="26425" cap="flat" cmpd="sng" algn="ctr">
            <a:solidFill>
              <a:srgbClr val="93A299">
                <a:shade val="50000"/>
              </a:srgbClr>
            </a:solidFill>
            <a:prstDash val="solid"/>
          </a:ln>
          <a:effectLst/>
        </p:spPr>
        <p:txBody>
          <a:bodyPr rtlCol="0" anchor="ctr"/>
          <a:lstStyle/>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effectLst/>
                <a:uLnTx/>
                <a:uFillTx/>
                <a:latin typeface="Arial"/>
                <a:ea typeface="+mn-ea"/>
                <a:cs typeface="+mn-cs"/>
              </a:rPr>
              <a:t>“key” is the key of the input key value pair</a:t>
            </a:r>
          </a:p>
          <a:p>
            <a:pPr marL="0" marR="0" lvl="0" indent="0" algn="ctr" defTabSz="13716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effectLst/>
              <a:uLnTx/>
              <a:uFillTx/>
              <a:latin typeface="Arial"/>
              <a:ea typeface="+mn-ea"/>
              <a:cs typeface="+mn-cs"/>
            </a:endParaRPr>
          </a:p>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effectLst/>
                <a:uLnTx/>
                <a:uFillTx/>
                <a:latin typeface="Arial"/>
                <a:ea typeface="+mn-ea"/>
                <a:cs typeface="+mn-cs"/>
              </a:rPr>
              <a:t>“values” is an iterable to the collection value of the input key value pair</a:t>
            </a:r>
          </a:p>
        </p:txBody>
      </p:sp>
      <p:sp>
        <p:nvSpPr>
          <p:cNvPr id="11" name="Rectangular Callout 10">
            <a:extLst>
              <a:ext uri="{FF2B5EF4-FFF2-40B4-BE49-F238E27FC236}">
                <a16:creationId xmlns:a16="http://schemas.microsoft.com/office/drawing/2014/main" id="{84A0A485-A99F-C380-ED04-EDECAFD8F920}"/>
              </a:ext>
            </a:extLst>
          </p:cNvPr>
          <p:cNvSpPr/>
          <p:nvPr/>
        </p:nvSpPr>
        <p:spPr>
          <a:xfrm>
            <a:off x="13089440" y="701646"/>
            <a:ext cx="3712658" cy="1634646"/>
          </a:xfrm>
          <a:prstGeom prst="wedgeRectCallout">
            <a:avLst>
              <a:gd name="adj1" fmla="val -243983"/>
              <a:gd name="adj2" fmla="val 189975"/>
            </a:avLst>
          </a:prstGeom>
          <a:solidFill>
            <a:srgbClr val="93A299"/>
          </a:solidFill>
          <a:ln w="26425" cap="flat" cmpd="sng" algn="ctr">
            <a:solidFill>
              <a:srgbClr val="93A299">
                <a:shade val="50000"/>
              </a:srgbClr>
            </a:solidFill>
            <a:prstDash val="solid"/>
          </a:ln>
          <a:effectLst/>
        </p:spPr>
        <p:txBody>
          <a:bodyPr rtlCol="0" anchor="ctr"/>
          <a:lstStyle/>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effectLst/>
                <a:uLnTx/>
                <a:uFillTx/>
                <a:latin typeface="Arial"/>
                <a:ea typeface="+mn-ea"/>
                <a:cs typeface="+mn-cs"/>
              </a:rPr>
              <a:t>This (_) is a Python idiom to ignore the function argument</a:t>
            </a:r>
          </a:p>
        </p:txBody>
      </p:sp>
    </p:spTree>
    <p:extLst>
      <p:ext uri="{BB962C8B-B14F-4D97-AF65-F5344CB8AC3E}">
        <p14:creationId xmlns:p14="http://schemas.microsoft.com/office/powerpoint/2010/main" val="1425638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WordCount Using MrJob</a:t>
            </a:r>
            <a:br>
              <a:rPr lang="en-US" dirty="0"/>
            </a:br>
            <a:r>
              <a:rPr lang="en-US" sz="4650" dirty="0"/>
              <a:t>Mapper</a:t>
            </a:r>
          </a:p>
        </p:txBody>
      </p:sp>
      <p:sp>
        <p:nvSpPr>
          <p:cNvPr id="3" name="Content Placeholder 2"/>
          <p:cNvSpPr>
            <a:spLocks noGrp="1"/>
          </p:cNvSpPr>
          <p:nvPr>
            <p:ph idx="4294967295"/>
          </p:nvPr>
        </p:nvSpPr>
        <p:spPr>
          <a:xfrm>
            <a:off x="781050" y="2400300"/>
            <a:ext cx="16459200" cy="6343650"/>
          </a:xfrm>
        </p:spPr>
        <p:txBody>
          <a:bodyPr/>
          <a:lstStyle/>
          <a:p>
            <a:r>
              <a:rPr lang="en-US" sz="3200" dirty="0"/>
              <a:t>Next is the mapper code that parses and prepares the text</a:t>
            </a:r>
          </a:p>
          <a:p>
            <a:r>
              <a:rPr lang="en-US" sz="3200" dirty="0"/>
              <a:t>The text string is split up into a list of words</a:t>
            </a:r>
          </a:p>
          <a:p>
            <a:r>
              <a:rPr lang="en-US" sz="3200" dirty="0"/>
              <a:t>Then the intermediate key produced is the word and the value produced is simply “1.” </a:t>
            </a:r>
          </a:p>
          <a:p>
            <a:r>
              <a:rPr lang="en-US" sz="3200" dirty="0"/>
              <a:t>This means we’ve seen this word once. </a:t>
            </a:r>
          </a:p>
          <a:p>
            <a:r>
              <a:rPr lang="en-US" sz="3200" dirty="0"/>
              <a:t>Even if we see the same word twice in one line, we’ll output the word and “1” twice and it’ll be taken care of in the end</a:t>
            </a:r>
          </a:p>
          <a:p>
            <a:r>
              <a:rPr lang="en-US" sz="3200" dirty="0"/>
              <a:t>Eventually, all of these ones will be summed together into the global count of that word</a:t>
            </a:r>
          </a:p>
        </p:txBody>
      </p:sp>
    </p:spTree>
    <p:extLst>
      <p:ext uri="{BB962C8B-B14F-4D97-AF65-F5344CB8AC3E}">
        <p14:creationId xmlns:p14="http://schemas.microsoft.com/office/powerpoint/2010/main" val="3649581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WordCount Using MrJob</a:t>
            </a:r>
            <a:br>
              <a:rPr lang="en-US" dirty="0"/>
            </a:br>
            <a:r>
              <a:rPr lang="en-US" sz="4650" dirty="0"/>
              <a:t>Mapper</a:t>
            </a:r>
            <a:endParaRPr lang="en-US" dirty="0"/>
          </a:p>
        </p:txBody>
      </p:sp>
      <p:sp>
        <p:nvSpPr>
          <p:cNvPr id="3" name="Content Placeholder 2"/>
          <p:cNvSpPr>
            <a:spLocks noGrp="1"/>
          </p:cNvSpPr>
          <p:nvPr>
            <p:ph idx="4294967295"/>
          </p:nvPr>
        </p:nvSpPr>
        <p:spPr>
          <a:xfrm>
            <a:off x="781050" y="2400300"/>
            <a:ext cx="16459200" cy="6210300"/>
          </a:xfrm>
        </p:spPr>
        <p:txBody>
          <a:bodyPr>
            <a:normAutofit fontScale="92500" lnSpcReduction="10000"/>
          </a:bodyPr>
          <a:lstStyle/>
          <a:p>
            <a:pPr fontAlgn="base"/>
            <a:r>
              <a:rPr lang="en-US" sz="4300" dirty="0"/>
              <a:t>The mapper is where we’ll see most of the work done.</a:t>
            </a:r>
          </a:p>
          <a:p>
            <a:pPr fontAlgn="base"/>
            <a:r>
              <a:rPr lang="en-US" sz="4300" dirty="0"/>
              <a:t>We don’t care about the key of the input in this case which is the file offset of the next record read</a:t>
            </a:r>
          </a:p>
          <a:p>
            <a:pPr fontAlgn="base"/>
            <a:r>
              <a:rPr lang="en-US" sz="4300" dirty="0"/>
              <a:t>The input value (and key) are strings</a:t>
            </a:r>
          </a:p>
          <a:p>
            <a:pPr fontAlgn="base"/>
            <a:r>
              <a:rPr lang="en-US" sz="4300" dirty="0"/>
              <a:t>If you need to process the value (or part of it) as a float, integer or some other type you need to do the conversion yourself</a:t>
            </a:r>
          </a:p>
          <a:p>
            <a:pPr fontAlgn="base"/>
            <a:r>
              <a:rPr lang="en-US" sz="4300" dirty="0"/>
              <a:t>Our output key and value must also be strings</a:t>
            </a:r>
          </a:p>
          <a:p>
            <a:endParaRPr lang="en-US" dirty="0"/>
          </a:p>
        </p:txBody>
      </p:sp>
    </p:spTree>
    <p:extLst>
      <p:ext uri="{BB962C8B-B14F-4D97-AF65-F5344CB8AC3E}">
        <p14:creationId xmlns:p14="http://schemas.microsoft.com/office/powerpoint/2010/main" val="1708818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668B8-8651-249C-CFE6-45298D51F4F9}"/>
              </a:ext>
            </a:extLst>
          </p:cNvPr>
          <p:cNvSpPr>
            <a:spLocks noGrp="1"/>
          </p:cNvSpPr>
          <p:nvPr>
            <p:ph type="title"/>
          </p:nvPr>
        </p:nvSpPr>
        <p:spPr/>
        <p:txBody>
          <a:bodyPr/>
          <a:lstStyle/>
          <a:p>
            <a:r>
              <a:rPr lang="en-US" dirty="0"/>
              <a:t>WordCount Using MrJob</a:t>
            </a:r>
            <a:br>
              <a:rPr lang="en-US" dirty="0"/>
            </a:br>
            <a:r>
              <a:rPr lang="en-US" sz="4400" dirty="0"/>
              <a:t>Mapper</a:t>
            </a:r>
            <a:endParaRPr lang="en-US" dirty="0"/>
          </a:p>
        </p:txBody>
      </p:sp>
      <p:sp>
        <p:nvSpPr>
          <p:cNvPr id="3" name="Content Placeholder 2">
            <a:extLst>
              <a:ext uri="{FF2B5EF4-FFF2-40B4-BE49-F238E27FC236}">
                <a16:creationId xmlns:a16="http://schemas.microsoft.com/office/drawing/2014/main" id="{334418F8-F8C0-E36C-4F1F-B05B074A5372}"/>
              </a:ext>
            </a:extLst>
          </p:cNvPr>
          <p:cNvSpPr txBox="1">
            <a:spLocks/>
          </p:cNvSpPr>
          <p:nvPr/>
        </p:nvSpPr>
        <p:spPr>
          <a:xfrm>
            <a:off x="914400" y="2400300"/>
            <a:ext cx="16459200" cy="5867400"/>
          </a:xfrm>
          <a:prstGeom prst="rect">
            <a:avLst/>
          </a:prstGeom>
        </p:spPr>
        <p:txBody>
          <a:bodyPr vert="horz" lIns="91440" tIns="45720" rIns="91440" bIns="45720" rtlCol="0">
            <a:normAutofit/>
          </a:bodyPr>
          <a:lstStyle>
            <a:lvl1pPr marL="274320" indent="-274320" algn="l" defTabSz="1371600" rtl="0" eaLnBrk="1" latinLnBrk="0" hangingPunct="1">
              <a:spcBef>
                <a:spcPct val="20000"/>
              </a:spcBef>
              <a:buClr>
                <a:schemeClr val="accent1"/>
              </a:buClr>
              <a:buSzPct val="85000"/>
              <a:buFont typeface="Arial" pitchFamily="34" charset="0"/>
              <a:buChar char="•"/>
              <a:defRPr sz="3600" kern="1200">
                <a:solidFill>
                  <a:schemeClr val="tx1"/>
                </a:solidFill>
                <a:latin typeface="+mn-lt"/>
                <a:ea typeface="+mn-ea"/>
                <a:cs typeface="+mn-cs"/>
              </a:defRPr>
            </a:lvl1pPr>
            <a:lvl2pPr marL="685800" indent="-274320" algn="l" defTabSz="1371600" rtl="0" eaLnBrk="1" latinLnBrk="0" hangingPunct="1">
              <a:spcBef>
                <a:spcPct val="20000"/>
              </a:spcBef>
              <a:buClr>
                <a:schemeClr val="accent1"/>
              </a:buClr>
              <a:buSzPct val="85000"/>
              <a:buFont typeface="Arial" pitchFamily="34" charset="0"/>
              <a:buChar char="•"/>
              <a:defRPr sz="3000" kern="1200">
                <a:solidFill>
                  <a:schemeClr val="tx1"/>
                </a:solidFill>
                <a:latin typeface="+mn-lt"/>
                <a:ea typeface="+mn-ea"/>
                <a:cs typeface="+mn-cs"/>
              </a:defRPr>
            </a:lvl2pPr>
            <a:lvl3pPr marL="1097280" indent="-274320" algn="l" defTabSz="1371600" rtl="0" eaLnBrk="1" latinLnBrk="0" hangingPunct="1">
              <a:spcBef>
                <a:spcPct val="20000"/>
              </a:spcBef>
              <a:buClr>
                <a:schemeClr val="accent1"/>
              </a:buClr>
              <a:buSzPct val="90000"/>
              <a:buFont typeface="Arial" pitchFamily="34" charset="0"/>
              <a:buChar char="•"/>
              <a:defRPr sz="2700" kern="1200">
                <a:solidFill>
                  <a:schemeClr val="tx1"/>
                </a:solidFill>
                <a:latin typeface="+mn-lt"/>
                <a:ea typeface="+mn-ea"/>
                <a:cs typeface="+mn-cs"/>
              </a:defRPr>
            </a:lvl3pPr>
            <a:lvl4pPr marL="1508760" indent="-274320" algn="l" defTabSz="1371600" rtl="0" eaLnBrk="1" latinLnBrk="0" hangingPunct="1">
              <a:spcBef>
                <a:spcPct val="20000"/>
              </a:spcBef>
              <a:buClr>
                <a:schemeClr val="accent1"/>
              </a:buClr>
              <a:buFont typeface="Arial" pitchFamily="34" charset="0"/>
              <a:buChar char="•"/>
              <a:defRPr sz="2400" kern="1200">
                <a:solidFill>
                  <a:schemeClr val="tx1"/>
                </a:solidFill>
                <a:latin typeface="+mn-lt"/>
                <a:ea typeface="+mn-ea"/>
                <a:cs typeface="+mn-cs"/>
              </a:defRPr>
            </a:lvl4pPr>
            <a:lvl5pPr marL="1783080" indent="-205740" algn="l" defTabSz="1371600" rtl="0" eaLnBrk="1" latinLnBrk="0" hangingPunct="1">
              <a:spcBef>
                <a:spcPct val="20000"/>
              </a:spcBef>
              <a:buClr>
                <a:schemeClr val="accent1"/>
              </a:buClr>
              <a:buSzPct val="100000"/>
              <a:buFont typeface="Arial" pitchFamily="34" charset="0"/>
              <a:buChar char="•"/>
              <a:defRPr sz="2100" kern="1200" baseline="0">
                <a:solidFill>
                  <a:schemeClr val="tx1"/>
                </a:solidFill>
                <a:latin typeface="+mn-lt"/>
                <a:ea typeface="+mn-ea"/>
                <a:cs typeface="+mn-cs"/>
              </a:defRPr>
            </a:lvl5pPr>
            <a:lvl6pPr marL="2057400" indent="-274320" algn="l" defTabSz="1371600" rtl="0" eaLnBrk="1" latinLnBrk="0" hangingPunct="1">
              <a:spcBef>
                <a:spcPct val="20000"/>
              </a:spcBef>
              <a:buClr>
                <a:schemeClr val="accent1"/>
              </a:buClr>
              <a:buFont typeface="Arial" pitchFamily="34" charset="0"/>
              <a:buChar char="•"/>
              <a:defRPr sz="1950" kern="1200">
                <a:solidFill>
                  <a:schemeClr val="tx1"/>
                </a:solidFill>
                <a:latin typeface="+mn-lt"/>
                <a:ea typeface="+mn-ea"/>
                <a:cs typeface="+mn-cs"/>
              </a:defRPr>
            </a:lvl6pPr>
            <a:lvl7pPr marL="2331720" indent="-274320" algn="l" defTabSz="1371600" rtl="0" eaLnBrk="1" latinLnBrk="0" hangingPunct="1">
              <a:spcBef>
                <a:spcPct val="20000"/>
              </a:spcBef>
              <a:buClr>
                <a:schemeClr val="accent1"/>
              </a:buClr>
              <a:buFont typeface="Arial" pitchFamily="34" charset="0"/>
              <a:buChar char="•"/>
              <a:defRPr sz="1950" kern="1200">
                <a:solidFill>
                  <a:schemeClr val="tx1"/>
                </a:solidFill>
                <a:latin typeface="+mn-lt"/>
                <a:ea typeface="+mn-ea"/>
                <a:cs typeface="+mn-cs"/>
              </a:defRPr>
            </a:lvl7pPr>
            <a:lvl8pPr marL="2606040" indent="-274320" algn="l" defTabSz="1371600" rtl="0" eaLnBrk="1" latinLnBrk="0" hangingPunct="1">
              <a:spcBef>
                <a:spcPct val="20000"/>
              </a:spcBef>
              <a:buClr>
                <a:schemeClr val="accent1"/>
              </a:buClr>
              <a:buFont typeface="Arial" pitchFamily="34" charset="0"/>
              <a:buChar char="•"/>
              <a:defRPr sz="1950" kern="1200">
                <a:solidFill>
                  <a:schemeClr val="tx1"/>
                </a:solidFill>
                <a:latin typeface="+mn-lt"/>
                <a:ea typeface="+mn-ea"/>
                <a:cs typeface="+mn-cs"/>
              </a:defRPr>
            </a:lvl8pPr>
            <a:lvl9pPr marL="2880360" indent="-274320" algn="l" defTabSz="1371600" rtl="0" eaLnBrk="1" latinLnBrk="0" hangingPunct="1">
              <a:spcBef>
                <a:spcPct val="20000"/>
              </a:spcBef>
              <a:buClr>
                <a:schemeClr val="accent1"/>
              </a:buClr>
              <a:buFont typeface="Arial" pitchFamily="34" charset="0"/>
              <a:buChar char="•"/>
              <a:defRPr sz="1950" kern="1200">
                <a:solidFill>
                  <a:schemeClr val="tx1"/>
                </a:solidFill>
                <a:latin typeface="+mn-lt"/>
                <a:ea typeface="+mn-ea"/>
                <a:cs typeface="+mn-cs"/>
              </a:defRPr>
            </a:lvl9pPr>
          </a:lstStyle>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600" b="0" i="0" u="none" strike="noStrike" kern="1200" cap="none" spc="0" normalizeH="0" baseline="0" noProof="0" dirty="0">
                <a:ln>
                  <a:noFill/>
                </a:ln>
                <a:solidFill>
                  <a:srgbClr val="292934"/>
                </a:solidFill>
                <a:effectLst/>
                <a:uLnTx/>
                <a:uFillTx/>
                <a:latin typeface="Courier"/>
                <a:ea typeface="+mn-ea"/>
                <a:cs typeface="Courier"/>
              </a:rPr>
              <a:t>from mrjob.job import MRJob</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endParaRPr kumimoji="0" lang="en-US" sz="3600" b="0" i="0" u="none" strike="noStrike" kern="1200" cap="none" spc="0" normalizeH="0" baseline="0" noProof="0" dirty="0">
              <a:ln>
                <a:noFill/>
              </a:ln>
              <a:solidFill>
                <a:srgbClr val="292934"/>
              </a:solidFill>
              <a:effectLst/>
              <a:uLnTx/>
              <a:uFillTx/>
              <a:latin typeface="Courier"/>
              <a:ea typeface="+mn-ea"/>
              <a:cs typeface="Courier"/>
            </a:endParaRP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600" b="0" i="0" u="none" strike="noStrike" kern="1200" cap="none" spc="0" normalizeH="0" baseline="0" noProof="0" dirty="0">
                <a:ln>
                  <a:noFill/>
                </a:ln>
                <a:solidFill>
                  <a:srgbClr val="292934"/>
                </a:solidFill>
                <a:effectLst/>
                <a:uLnTx/>
                <a:uFillTx/>
                <a:latin typeface="Courier"/>
                <a:ea typeface="+mn-ea"/>
                <a:cs typeface="Courier"/>
              </a:rPr>
              <a:t>class MRWordCount(MRJob):</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endParaRPr kumimoji="0" lang="en-US" sz="3600" b="0" i="0" u="none" strike="noStrike" kern="1200" cap="none" spc="0" normalizeH="0" baseline="0" noProof="0" dirty="0">
              <a:ln>
                <a:noFill/>
              </a:ln>
              <a:solidFill>
                <a:srgbClr val="292934"/>
              </a:solidFill>
              <a:effectLst/>
              <a:uLnTx/>
              <a:uFillTx/>
              <a:latin typeface="Courier"/>
              <a:ea typeface="+mn-ea"/>
              <a:cs typeface="Courier"/>
            </a:endParaRP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600" b="0" i="0" u="none" strike="noStrike" kern="1200" cap="none" spc="0" normalizeH="0" baseline="0" noProof="0" dirty="0">
                <a:ln>
                  <a:noFill/>
                </a:ln>
                <a:solidFill>
                  <a:srgbClr val="292934"/>
                </a:solidFill>
                <a:effectLst/>
                <a:uLnTx/>
                <a:uFillTx/>
                <a:latin typeface="Courier"/>
                <a:ea typeface="+mn-ea"/>
                <a:cs typeface="Courier"/>
              </a:rPr>
              <a:t>    </a:t>
            </a:r>
            <a:r>
              <a:rPr kumimoji="0" lang="en-US" sz="3600" b="1" i="1" u="none" strike="noStrike" kern="1200" cap="none" spc="0" normalizeH="0" baseline="0" noProof="0" dirty="0">
                <a:ln>
                  <a:noFill/>
                </a:ln>
                <a:solidFill>
                  <a:srgbClr val="0070C0"/>
                </a:solidFill>
                <a:effectLst/>
                <a:uLnTx/>
                <a:uFillTx/>
                <a:latin typeface="Courier"/>
                <a:ea typeface="+mn-ea"/>
                <a:cs typeface="Courier"/>
              </a:rPr>
              <a:t>def mapper(self, _, line):</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600" b="1" i="1" u="none" strike="noStrike" kern="1200" cap="none" spc="0" normalizeH="0" baseline="0" noProof="0" dirty="0">
                <a:ln>
                  <a:noFill/>
                </a:ln>
                <a:solidFill>
                  <a:srgbClr val="0070C0"/>
                </a:solidFill>
                <a:effectLst/>
                <a:uLnTx/>
                <a:uFillTx/>
                <a:latin typeface="Courier"/>
                <a:ea typeface="+mn-ea"/>
                <a:cs typeface="Courier"/>
              </a:rPr>
              <a:t>	   words = line.split(“ “)</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600" b="1" i="1" u="none" strike="noStrike" kern="1200" cap="none" spc="0" normalizeH="0" baseline="0" noProof="0" dirty="0">
                <a:ln>
                  <a:noFill/>
                </a:ln>
                <a:solidFill>
                  <a:srgbClr val="0070C0"/>
                </a:solidFill>
                <a:effectLst/>
                <a:uLnTx/>
                <a:uFillTx/>
                <a:latin typeface="Courier"/>
                <a:ea typeface="+mn-ea"/>
                <a:cs typeface="Courier"/>
              </a:rPr>
              <a:t>        for word in words:</a:t>
            </a:r>
          </a:p>
          <a:p>
            <a:pPr marL="0" marR="0" lvl="0" indent="0" algn="l" defTabSz="1371600" rtl="0" eaLnBrk="1" fontAlgn="auto" latinLnBrk="0" hangingPunct="1">
              <a:lnSpc>
                <a:spcPct val="100000"/>
              </a:lnSpc>
              <a:spcBef>
                <a:spcPct val="20000"/>
              </a:spcBef>
              <a:spcAft>
                <a:spcPts val="0"/>
              </a:spcAft>
              <a:buClr>
                <a:srgbClr val="93A299"/>
              </a:buClr>
              <a:buSzPct val="85000"/>
              <a:buFont typeface="Arial" pitchFamily="34" charset="0"/>
              <a:buNone/>
              <a:tabLst/>
              <a:defRPr/>
            </a:pPr>
            <a:r>
              <a:rPr kumimoji="0" lang="en-US" sz="3600" b="1" i="1" u="none" strike="noStrike" kern="1200" cap="none" spc="0" normalizeH="0" baseline="0" noProof="0" dirty="0">
                <a:ln>
                  <a:noFill/>
                </a:ln>
                <a:solidFill>
                  <a:srgbClr val="0070C0"/>
                </a:solidFill>
                <a:effectLst/>
                <a:uLnTx/>
                <a:uFillTx/>
                <a:latin typeface="Courier"/>
                <a:ea typeface="+mn-ea"/>
                <a:cs typeface="Courier"/>
              </a:rPr>
              <a:t>            yield (word.lower(), 1)</a:t>
            </a:r>
          </a:p>
          <a:p>
            <a:pPr marL="274320" marR="0" lvl="0" indent="-274320" algn="l" defTabSz="1371600" rtl="0" eaLnBrk="1" fontAlgn="auto" latinLnBrk="0" hangingPunct="1">
              <a:lnSpc>
                <a:spcPct val="100000"/>
              </a:lnSpc>
              <a:spcBef>
                <a:spcPct val="20000"/>
              </a:spcBef>
              <a:spcAft>
                <a:spcPts val="0"/>
              </a:spcAft>
              <a:buClr>
                <a:srgbClr val="93A299"/>
              </a:buClr>
              <a:buSzPct val="85000"/>
              <a:buFont typeface="Arial" pitchFamily="34" charset="0"/>
              <a:buChar char="•"/>
              <a:tabLst/>
              <a:defRPr/>
            </a:pPr>
            <a:endParaRPr kumimoji="0" lang="en-US" sz="3600" b="0" i="0" u="none" strike="noStrike" kern="1200" cap="none" spc="0" normalizeH="0" baseline="0" noProof="0" dirty="0">
              <a:ln>
                <a:noFill/>
              </a:ln>
              <a:solidFill>
                <a:srgbClr val="292934"/>
              </a:solidFill>
              <a:effectLst/>
              <a:uLnTx/>
              <a:uFillTx/>
              <a:latin typeface="Arial"/>
              <a:ea typeface="+mn-ea"/>
              <a:cs typeface="+mn-cs"/>
            </a:endParaRPr>
          </a:p>
        </p:txBody>
      </p:sp>
    </p:spTree>
    <p:extLst>
      <p:ext uri="{BB962C8B-B14F-4D97-AF65-F5344CB8AC3E}">
        <p14:creationId xmlns:p14="http://schemas.microsoft.com/office/powerpoint/2010/main" val="3857641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WordCount Using MrJob</a:t>
            </a:r>
            <a:br>
              <a:rPr lang="en-US" dirty="0"/>
            </a:br>
            <a:r>
              <a:rPr lang="en-US" sz="4650" dirty="0"/>
              <a:t>Reducer</a:t>
            </a:r>
            <a:endParaRPr lang="en-US" dirty="0"/>
          </a:p>
        </p:txBody>
      </p:sp>
      <p:sp>
        <p:nvSpPr>
          <p:cNvPr id="3" name="Content Placeholder 2"/>
          <p:cNvSpPr>
            <a:spLocks noGrp="1"/>
          </p:cNvSpPr>
          <p:nvPr>
            <p:ph idx="4294967295"/>
          </p:nvPr>
        </p:nvSpPr>
        <p:spPr>
          <a:xfrm>
            <a:off x="876300" y="2400300"/>
            <a:ext cx="16459200" cy="6248400"/>
          </a:xfrm>
        </p:spPr>
        <p:txBody>
          <a:bodyPr>
            <a:normAutofit fontScale="92500" lnSpcReduction="20000"/>
          </a:bodyPr>
          <a:lstStyle/>
          <a:p>
            <a:r>
              <a:rPr lang="en-US" dirty="0"/>
              <a:t>Next comes the reducer code, which is relatively simple</a:t>
            </a:r>
          </a:p>
          <a:p>
            <a:r>
              <a:rPr lang="en-US" dirty="0"/>
              <a:t>The reduce function gets called once per key grouping, in this case each word</a:t>
            </a:r>
          </a:p>
          <a:p>
            <a:r>
              <a:rPr lang="en-US" dirty="0"/>
              <a:t>We’ll iterate through the values, which will be numbers, and take a running sum</a:t>
            </a:r>
          </a:p>
          <a:p>
            <a:r>
              <a:rPr lang="en-US" dirty="0"/>
              <a:t>The final value of this running sum will be the sum of the ones</a:t>
            </a:r>
          </a:p>
          <a:p>
            <a:r>
              <a:rPr lang="en-US" dirty="0"/>
              <a:t>As in the mapper the key is a string</a:t>
            </a:r>
          </a:p>
        </p:txBody>
      </p:sp>
    </p:spTree>
    <p:extLst>
      <p:ext uri="{BB962C8B-B14F-4D97-AF65-F5344CB8AC3E}">
        <p14:creationId xmlns:p14="http://schemas.microsoft.com/office/powerpoint/2010/main" val="2643127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WordCount Using MrJob</a:t>
            </a:r>
            <a:br>
              <a:rPr lang="en-US" dirty="0"/>
            </a:br>
            <a:r>
              <a:rPr lang="en-US" sz="4650" dirty="0"/>
              <a:t>Reducer</a:t>
            </a:r>
            <a:endParaRPr lang="en-US" dirty="0"/>
          </a:p>
        </p:txBody>
      </p:sp>
      <p:sp>
        <p:nvSpPr>
          <p:cNvPr id="3" name="Content Placeholder 2"/>
          <p:cNvSpPr>
            <a:spLocks noGrp="1"/>
          </p:cNvSpPr>
          <p:nvPr>
            <p:ph idx="4294967295"/>
          </p:nvPr>
        </p:nvSpPr>
        <p:spPr>
          <a:xfrm>
            <a:off x="685800" y="2400300"/>
            <a:ext cx="16459200" cy="5962650"/>
          </a:xfrm>
        </p:spPr>
        <p:txBody>
          <a:bodyPr>
            <a:normAutofit fontScale="70000" lnSpcReduction="20000"/>
          </a:bodyPr>
          <a:lstStyle/>
          <a:p>
            <a:pPr fontAlgn="base"/>
            <a:r>
              <a:rPr lang="en-US" dirty="0"/>
              <a:t>The reduce function has a different signature from map, though</a:t>
            </a:r>
          </a:p>
          <a:p>
            <a:pPr fontAlgn="base"/>
            <a:r>
              <a:rPr lang="en-US" dirty="0"/>
              <a:t>It gives you an Iterator over values instead of just a single value</a:t>
            </a:r>
          </a:p>
          <a:p>
            <a:pPr fontAlgn="base"/>
            <a:r>
              <a:rPr lang="en-US" dirty="0"/>
              <a:t>This is because you are now iterating over all values that have that key instead of just one at a time</a:t>
            </a:r>
          </a:p>
          <a:p>
            <a:pPr fontAlgn="base"/>
            <a:r>
              <a:rPr lang="en-US" dirty="0"/>
              <a:t>The key is very important in the reducer of pretty much every MapReduce job, unlike the input key in the map</a:t>
            </a:r>
          </a:p>
          <a:p>
            <a:pPr fontAlgn="base"/>
            <a:r>
              <a:rPr lang="en-US" dirty="0"/>
              <a:t>Each reducer will create one file</a:t>
            </a:r>
          </a:p>
          <a:p>
            <a:pPr lvl="1" fontAlgn="base"/>
            <a:r>
              <a:rPr lang="en-US" dirty="0"/>
              <a:t>So if you want to coalesce them together you’ll have to write a post-processing step to concatenate them</a:t>
            </a:r>
          </a:p>
        </p:txBody>
      </p:sp>
    </p:spTree>
    <p:extLst>
      <p:ext uri="{BB962C8B-B14F-4D97-AF65-F5344CB8AC3E}">
        <p14:creationId xmlns:p14="http://schemas.microsoft.com/office/powerpoint/2010/main" val="3997587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WordCount Using MrJob</a:t>
            </a:r>
            <a:br>
              <a:rPr lang="en-US" dirty="0"/>
            </a:br>
            <a:r>
              <a:rPr lang="en-US" sz="4650" dirty="0"/>
              <a:t>Reducer</a:t>
            </a:r>
            <a:endParaRPr lang="en-US" dirty="0"/>
          </a:p>
        </p:txBody>
      </p:sp>
      <p:sp>
        <p:nvSpPr>
          <p:cNvPr id="3" name="Content Placeholder 2"/>
          <p:cNvSpPr>
            <a:spLocks noGrp="1"/>
          </p:cNvSpPr>
          <p:nvPr>
            <p:ph idx="4294967295"/>
          </p:nvPr>
        </p:nvSpPr>
        <p:spPr>
          <a:xfrm>
            <a:off x="911226" y="2381250"/>
            <a:ext cx="16459200" cy="7315200"/>
          </a:xfrm>
        </p:spPr>
        <p:txBody>
          <a:bodyPr/>
          <a:lstStyle/>
          <a:p>
            <a:pPr marL="0" indent="0">
              <a:buNone/>
            </a:pPr>
            <a:r>
              <a:rPr lang="en-US" dirty="0">
                <a:latin typeface="Courier"/>
                <a:cs typeface="Courier"/>
              </a:rPr>
              <a:t> def reducer(self, word, counts):</a:t>
            </a:r>
          </a:p>
          <a:p>
            <a:pPr marL="0" indent="0">
              <a:buNone/>
            </a:pPr>
            <a:r>
              <a:rPr lang="en-US" dirty="0">
                <a:latin typeface="Courier"/>
                <a:cs typeface="Courier"/>
              </a:rPr>
              <a:t>        yield (word, sum(counts))</a:t>
            </a:r>
            <a:endParaRPr lang="en-US" dirty="0"/>
          </a:p>
        </p:txBody>
      </p:sp>
    </p:spTree>
    <p:extLst>
      <p:ext uri="{BB962C8B-B14F-4D97-AF65-F5344CB8AC3E}">
        <p14:creationId xmlns:p14="http://schemas.microsoft.com/office/powerpoint/2010/main" val="3652727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Canonical Word Count in Python (MrJob)</a:t>
            </a:r>
          </a:p>
        </p:txBody>
      </p:sp>
      <p:sp>
        <p:nvSpPr>
          <p:cNvPr id="6" name="Rectangle 5"/>
          <p:cNvSpPr/>
          <p:nvPr/>
        </p:nvSpPr>
        <p:spPr>
          <a:xfrm>
            <a:off x="2971800" y="2372047"/>
            <a:ext cx="12344400" cy="7478970"/>
          </a:xfrm>
          <a:prstGeom prst="rect">
            <a:avLst/>
          </a:prstGeom>
        </p:spPr>
        <p:txBody>
          <a:bodyPr wrap="square">
            <a:spAutoFit/>
          </a:bodyPr>
          <a:lstStyle/>
          <a:p>
            <a:pPr defTabSz="1371600" fontAlgn="auto">
              <a:spcBef>
                <a:spcPts val="0"/>
              </a:spcBef>
              <a:spcAft>
                <a:spcPts val="0"/>
              </a:spcAft>
            </a:pPr>
            <a:r>
              <a:rPr lang="en-US" sz="3000" dirty="0">
                <a:solidFill>
                  <a:srgbClr val="292934"/>
                </a:solidFill>
                <a:latin typeface="Courier"/>
                <a:ea typeface="+mn-ea"/>
                <a:cs typeface="Courier"/>
              </a:rPr>
              <a:t>from mrjob.job import MRJob</a:t>
            </a:r>
          </a:p>
          <a:p>
            <a:pPr defTabSz="1371600" fontAlgn="auto">
              <a:spcBef>
                <a:spcPts val="0"/>
              </a:spcBef>
              <a:spcAft>
                <a:spcPts val="0"/>
              </a:spcAft>
            </a:pPr>
            <a:r>
              <a:rPr lang="en-US" sz="3000" dirty="0">
                <a:solidFill>
                  <a:srgbClr val="292934"/>
                </a:solidFill>
                <a:latin typeface="Courier"/>
                <a:ea typeface="+mn-ea"/>
                <a:cs typeface="Courier"/>
              </a:rPr>
              <a:t>import re</a:t>
            </a:r>
          </a:p>
          <a:p>
            <a:pPr defTabSz="1371600" fontAlgn="auto">
              <a:spcBef>
                <a:spcPts val="0"/>
              </a:spcBef>
              <a:spcAft>
                <a:spcPts val="0"/>
              </a:spcAft>
            </a:pPr>
            <a:endParaRPr lang="en-US" sz="3000" dirty="0">
              <a:solidFill>
                <a:srgbClr val="292934"/>
              </a:solidFill>
              <a:latin typeface="Courier"/>
              <a:ea typeface="+mn-ea"/>
              <a:cs typeface="Courier"/>
            </a:endParaRPr>
          </a:p>
          <a:p>
            <a:pPr defTabSz="1371600" fontAlgn="auto">
              <a:spcBef>
                <a:spcPts val="0"/>
              </a:spcBef>
              <a:spcAft>
                <a:spcPts val="0"/>
              </a:spcAft>
            </a:pPr>
            <a:r>
              <a:rPr lang="en-US" sz="3000" dirty="0">
                <a:solidFill>
                  <a:srgbClr val="292934"/>
                </a:solidFill>
                <a:latin typeface="Courier"/>
                <a:ea typeface="+mn-ea"/>
                <a:cs typeface="Courier"/>
              </a:rPr>
              <a:t>WORD_RE = re.compile(r"[\w']+")</a:t>
            </a:r>
          </a:p>
          <a:p>
            <a:pPr defTabSz="1371600" fontAlgn="auto">
              <a:spcBef>
                <a:spcPts val="0"/>
              </a:spcBef>
              <a:spcAft>
                <a:spcPts val="0"/>
              </a:spcAft>
            </a:pPr>
            <a:endParaRPr lang="en-US" sz="3000" dirty="0">
              <a:solidFill>
                <a:srgbClr val="292934"/>
              </a:solidFill>
              <a:latin typeface="Courier"/>
              <a:ea typeface="+mn-ea"/>
              <a:cs typeface="Courier"/>
            </a:endParaRPr>
          </a:p>
          <a:p>
            <a:pPr defTabSz="1371600" fontAlgn="auto">
              <a:spcBef>
                <a:spcPts val="0"/>
              </a:spcBef>
              <a:spcAft>
                <a:spcPts val="0"/>
              </a:spcAft>
            </a:pPr>
            <a:r>
              <a:rPr lang="en-US" sz="3000" dirty="0">
                <a:solidFill>
                  <a:srgbClr val="292934"/>
                </a:solidFill>
                <a:latin typeface="Courier"/>
                <a:ea typeface="+mn-ea"/>
                <a:cs typeface="Courier"/>
              </a:rPr>
              <a:t>class MRWordCount(MRJob):</a:t>
            </a:r>
          </a:p>
          <a:p>
            <a:pPr defTabSz="1371600" fontAlgn="auto">
              <a:spcBef>
                <a:spcPts val="0"/>
              </a:spcBef>
              <a:spcAft>
                <a:spcPts val="0"/>
              </a:spcAft>
            </a:pPr>
            <a:endParaRPr lang="en-US" sz="3000" dirty="0">
              <a:solidFill>
                <a:srgbClr val="292934"/>
              </a:solidFill>
              <a:latin typeface="Courier"/>
              <a:ea typeface="+mn-ea"/>
              <a:cs typeface="Courier"/>
            </a:endParaRPr>
          </a:p>
          <a:p>
            <a:pPr defTabSz="1371600" fontAlgn="auto">
              <a:spcBef>
                <a:spcPts val="0"/>
              </a:spcBef>
              <a:spcAft>
                <a:spcPts val="0"/>
              </a:spcAft>
            </a:pPr>
            <a:r>
              <a:rPr lang="en-US" sz="3000" dirty="0">
                <a:solidFill>
                  <a:srgbClr val="292934"/>
                </a:solidFill>
                <a:latin typeface="Courier"/>
                <a:ea typeface="+mn-ea"/>
                <a:cs typeface="Courier"/>
              </a:rPr>
              <a:t>    def mapper(self, _, line):</a:t>
            </a:r>
          </a:p>
          <a:p>
            <a:pPr defTabSz="1371600" fontAlgn="auto">
              <a:spcBef>
                <a:spcPts val="0"/>
              </a:spcBef>
              <a:spcAft>
                <a:spcPts val="0"/>
              </a:spcAft>
            </a:pPr>
            <a:r>
              <a:rPr lang="en-US" sz="3000" dirty="0">
                <a:solidFill>
                  <a:srgbClr val="292934"/>
                </a:solidFill>
                <a:latin typeface="Courier"/>
                <a:ea typeface="+mn-ea"/>
                <a:cs typeface="Courier"/>
              </a:rPr>
              <a:t>        for word in WORD_RE.findall(line):</a:t>
            </a:r>
          </a:p>
          <a:p>
            <a:pPr defTabSz="1371600" fontAlgn="auto">
              <a:spcBef>
                <a:spcPts val="0"/>
              </a:spcBef>
              <a:spcAft>
                <a:spcPts val="0"/>
              </a:spcAft>
            </a:pPr>
            <a:r>
              <a:rPr lang="en-US" sz="3000" dirty="0">
                <a:solidFill>
                  <a:srgbClr val="292934"/>
                </a:solidFill>
                <a:latin typeface="Courier"/>
                <a:ea typeface="+mn-ea"/>
                <a:cs typeface="Courier"/>
              </a:rPr>
              <a:t>            yield (word.lower(), 1)</a:t>
            </a:r>
          </a:p>
          <a:p>
            <a:pPr defTabSz="1371600" fontAlgn="auto">
              <a:spcBef>
                <a:spcPts val="0"/>
              </a:spcBef>
              <a:spcAft>
                <a:spcPts val="0"/>
              </a:spcAft>
            </a:pPr>
            <a:endParaRPr lang="en-US" sz="3000" dirty="0">
              <a:solidFill>
                <a:srgbClr val="292934"/>
              </a:solidFill>
              <a:latin typeface="Courier"/>
              <a:ea typeface="+mn-ea"/>
              <a:cs typeface="Courier"/>
            </a:endParaRPr>
          </a:p>
          <a:p>
            <a:pPr defTabSz="1371600" fontAlgn="auto">
              <a:spcBef>
                <a:spcPts val="0"/>
              </a:spcBef>
              <a:spcAft>
                <a:spcPts val="0"/>
              </a:spcAft>
            </a:pPr>
            <a:r>
              <a:rPr lang="en-US" sz="3000" dirty="0">
                <a:solidFill>
                  <a:srgbClr val="292934"/>
                </a:solidFill>
                <a:latin typeface="Courier"/>
                <a:ea typeface="+mn-ea"/>
                <a:cs typeface="Courier"/>
              </a:rPr>
              <a:t>    def reducer(self, word, counts):</a:t>
            </a:r>
          </a:p>
          <a:p>
            <a:pPr defTabSz="1371600" fontAlgn="auto">
              <a:spcBef>
                <a:spcPts val="0"/>
              </a:spcBef>
              <a:spcAft>
                <a:spcPts val="0"/>
              </a:spcAft>
            </a:pPr>
            <a:r>
              <a:rPr lang="en-US" sz="3000" dirty="0">
                <a:solidFill>
                  <a:srgbClr val="292934"/>
                </a:solidFill>
                <a:latin typeface="Courier"/>
                <a:ea typeface="+mn-ea"/>
                <a:cs typeface="Courier"/>
              </a:rPr>
              <a:t>        yield (word, sum(counts))</a:t>
            </a:r>
          </a:p>
          <a:p>
            <a:pPr defTabSz="1371600" fontAlgn="auto">
              <a:spcBef>
                <a:spcPts val="0"/>
              </a:spcBef>
              <a:spcAft>
                <a:spcPts val="0"/>
              </a:spcAft>
            </a:pPr>
            <a:endParaRPr lang="en-US" sz="3000" dirty="0">
              <a:solidFill>
                <a:srgbClr val="292934"/>
              </a:solidFill>
              <a:latin typeface="Courier"/>
              <a:ea typeface="+mn-ea"/>
              <a:cs typeface="Courier"/>
            </a:endParaRPr>
          </a:p>
          <a:p>
            <a:pPr defTabSz="1371600" fontAlgn="auto">
              <a:spcBef>
                <a:spcPts val="0"/>
              </a:spcBef>
              <a:spcAft>
                <a:spcPts val="0"/>
              </a:spcAft>
            </a:pPr>
            <a:r>
              <a:rPr lang="fr-FR" sz="3000" dirty="0">
                <a:solidFill>
                  <a:srgbClr val="292934"/>
                </a:solidFill>
                <a:latin typeface="Courier"/>
                <a:ea typeface="+mn-ea"/>
                <a:cs typeface="Courier"/>
              </a:rPr>
              <a:t>if __name__ == '__main__':</a:t>
            </a:r>
          </a:p>
          <a:p>
            <a:pPr defTabSz="1371600" fontAlgn="auto">
              <a:spcBef>
                <a:spcPts val="0"/>
              </a:spcBef>
              <a:spcAft>
                <a:spcPts val="0"/>
              </a:spcAft>
            </a:pPr>
            <a:r>
              <a:rPr lang="fr-FR" sz="3000" dirty="0">
                <a:solidFill>
                  <a:srgbClr val="292934"/>
                </a:solidFill>
                <a:latin typeface="Courier"/>
                <a:ea typeface="+mn-ea"/>
                <a:cs typeface="Courier"/>
              </a:rPr>
              <a:t>     MRWordCount.run()</a:t>
            </a:r>
            <a:endParaRPr lang="en-US" sz="3000" dirty="0">
              <a:solidFill>
                <a:srgbClr val="292934"/>
              </a:solidFill>
              <a:latin typeface="Courier"/>
              <a:ea typeface="+mn-ea"/>
              <a:cs typeface="Courier"/>
            </a:endParaRPr>
          </a:p>
        </p:txBody>
      </p:sp>
    </p:spTree>
    <p:extLst>
      <p:ext uri="{BB962C8B-B14F-4D97-AF65-F5344CB8AC3E}">
        <p14:creationId xmlns:p14="http://schemas.microsoft.com/office/powerpoint/2010/main" val="4196915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938A4-861E-B069-4823-3AA05EE73FF7}"/>
              </a:ext>
            </a:extLst>
          </p:cNvPr>
          <p:cNvSpPr>
            <a:spLocks noGrp="1"/>
          </p:cNvSpPr>
          <p:nvPr>
            <p:ph type="title"/>
          </p:nvPr>
        </p:nvSpPr>
        <p:spPr/>
        <p:txBody>
          <a:bodyPr/>
          <a:lstStyle/>
          <a:p>
            <a:r>
              <a:rPr lang="en-US" dirty="0"/>
              <a:t>WordCount Using MrJob</a:t>
            </a:r>
            <a:br>
              <a:rPr lang="en-US" dirty="0"/>
            </a:br>
            <a:r>
              <a:rPr lang="en-US" sz="4800" dirty="0"/>
              <a:t>Executing the Program</a:t>
            </a:r>
            <a:endParaRPr lang="en-US" dirty="0"/>
          </a:p>
        </p:txBody>
      </p:sp>
      <p:sp>
        <p:nvSpPr>
          <p:cNvPr id="3" name="Content Placeholder 2">
            <a:extLst>
              <a:ext uri="{FF2B5EF4-FFF2-40B4-BE49-F238E27FC236}">
                <a16:creationId xmlns:a16="http://schemas.microsoft.com/office/drawing/2014/main" id="{292F74F7-9A99-CF02-DA1C-193901E708E7}"/>
              </a:ext>
            </a:extLst>
          </p:cNvPr>
          <p:cNvSpPr>
            <a:spLocks noGrp="1"/>
          </p:cNvSpPr>
          <p:nvPr>
            <p:ph idx="1"/>
          </p:nvPr>
        </p:nvSpPr>
        <p:spPr/>
        <p:txBody>
          <a:bodyPr/>
          <a:lstStyle/>
          <a:p>
            <a:pPr marL="0" indent="0">
              <a:buNone/>
            </a:pPr>
            <a:r>
              <a:rPr lang="en-US" dirty="0"/>
              <a:t>To execute a program on an existing EMR cluster from the primary (master) node:</a:t>
            </a:r>
            <a:endParaRPr lang="en-US" sz="3600" dirty="0"/>
          </a:p>
          <a:p>
            <a:pPr marL="673100" lvl="1" indent="0">
              <a:buNone/>
            </a:pPr>
            <a:r>
              <a:rPr lang="en-US" sz="3200" dirty="0"/>
              <a:t>python WordCount.py -r hadoop hdfs://my_home/input.txt -o hdfs://my_home/outdir </a:t>
            </a:r>
          </a:p>
          <a:p>
            <a:pPr marL="0" indent="0">
              <a:buNone/>
            </a:pPr>
            <a:r>
              <a:rPr lang="en-US" dirty="0"/>
              <a:t>Note, if you do not include an output directory, the results will be written to the console</a:t>
            </a:r>
          </a:p>
          <a:p>
            <a:pPr marL="673100" lvl="1" indent="0">
              <a:buNone/>
            </a:pPr>
            <a:r>
              <a:rPr lang="en-US" sz="3200" dirty="0"/>
              <a:t>python WordCount.py -r </a:t>
            </a:r>
            <a:r>
              <a:rPr lang="en-US" sz="3200" dirty="0" err="1"/>
              <a:t>hadoop</a:t>
            </a:r>
            <a:r>
              <a:rPr lang="en-US" sz="3200" dirty="0"/>
              <a:t> hdfs://my_home/input.txt</a:t>
            </a:r>
          </a:p>
          <a:p>
            <a:pPr marL="0" indent="0">
              <a:buNone/>
            </a:pPr>
            <a:r>
              <a:rPr lang="en-US" dirty="0"/>
              <a:t>This is what you might want for testing (or assignments) when the output is expected to be minimal</a:t>
            </a:r>
            <a:endParaRPr lang="en-US" sz="4800" dirty="0"/>
          </a:p>
        </p:txBody>
      </p:sp>
    </p:spTree>
    <p:extLst>
      <p:ext uri="{BB962C8B-B14F-4D97-AF65-F5344CB8AC3E}">
        <p14:creationId xmlns:p14="http://schemas.microsoft.com/office/powerpoint/2010/main" val="2262029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MapReduce Limitations</a:t>
            </a:r>
          </a:p>
        </p:txBody>
      </p:sp>
      <p:sp>
        <p:nvSpPr>
          <p:cNvPr id="3" name="Content Placeholder 2"/>
          <p:cNvSpPr>
            <a:spLocks noGrp="1"/>
          </p:cNvSpPr>
          <p:nvPr>
            <p:ph idx="1"/>
          </p:nvPr>
        </p:nvSpPr>
        <p:spPr/>
        <p:txBody>
          <a:bodyPr>
            <a:normAutofit fontScale="77500" lnSpcReduction="20000"/>
          </a:bodyPr>
          <a:lstStyle/>
          <a:p>
            <a:r>
              <a:rPr lang="en-US" dirty="0"/>
              <a:t>One limitation of the MapReduce capability is that is requires its users to be programmers</a:t>
            </a:r>
          </a:p>
          <a:p>
            <a:r>
              <a:rPr lang="en-US" dirty="0"/>
              <a:t>Another is that all problems need to be decomposed into one or more MapReduce steps</a:t>
            </a:r>
          </a:p>
          <a:p>
            <a:pPr lvl="1"/>
            <a:r>
              <a:rPr lang="en-US" dirty="0"/>
              <a:t>One needs to “think” in MapReduce terms</a:t>
            </a:r>
          </a:p>
          <a:p>
            <a:pPr lvl="1"/>
            <a:r>
              <a:rPr lang="en-US" dirty="0"/>
              <a:t>Often leads to lengthy map reduce programs</a:t>
            </a:r>
          </a:p>
          <a:p>
            <a:r>
              <a:rPr lang="en-US" dirty="0"/>
              <a:t>Data analysts and business users could better leverage the power of Hadoop if there was a means to hide some of the complexities of MapReduce</a:t>
            </a:r>
          </a:p>
          <a:p>
            <a:r>
              <a:rPr lang="en-US" dirty="0"/>
              <a:t>To address this need there are a growing number of tools such as Apache Hive and Apache Pig that hide the messy details of MapReduce </a:t>
            </a:r>
          </a:p>
          <a:p>
            <a:pPr lvl="1"/>
            <a:r>
              <a:rPr lang="en-US" dirty="0"/>
              <a:t>Using a range of abstractions much like compilers hide the details of machine language under high level language abstractions</a:t>
            </a:r>
          </a:p>
          <a:p>
            <a:endParaRPr lang="en-US" dirty="0"/>
          </a:p>
        </p:txBody>
      </p:sp>
    </p:spTree>
    <p:extLst>
      <p:ext uri="{BB962C8B-B14F-4D97-AF65-F5344CB8AC3E}">
        <p14:creationId xmlns:p14="http://schemas.microsoft.com/office/powerpoint/2010/main" val="22876568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MapReduce Limitations</a:t>
            </a:r>
          </a:p>
        </p:txBody>
      </p:sp>
      <p:sp>
        <p:nvSpPr>
          <p:cNvPr id="3" name="Content Placeholder 2"/>
          <p:cNvSpPr>
            <a:spLocks noGrp="1"/>
          </p:cNvSpPr>
          <p:nvPr>
            <p:ph idx="1"/>
          </p:nvPr>
        </p:nvSpPr>
        <p:spPr/>
        <p:txBody>
          <a:bodyPr/>
          <a:lstStyle/>
          <a:p>
            <a:pPr>
              <a:spcBef>
                <a:spcPts val="1600"/>
              </a:spcBef>
            </a:pPr>
            <a:r>
              <a:rPr lang="en-US" sz="3600" dirty="0"/>
              <a:t>Very rigid data flow model—map and then reduce</a:t>
            </a:r>
          </a:p>
          <a:p>
            <a:pPr>
              <a:spcBef>
                <a:spcPts val="1600"/>
              </a:spcBef>
            </a:pPr>
            <a:r>
              <a:rPr lang="en-US" sz="3600" dirty="0"/>
              <a:t>Not all processing fits easily into this single pattern</a:t>
            </a:r>
          </a:p>
          <a:p>
            <a:pPr>
              <a:spcBef>
                <a:spcPts val="1600"/>
              </a:spcBef>
            </a:pPr>
            <a:r>
              <a:rPr lang="en-US" sz="3600" dirty="0"/>
              <a:t>Limits each job to a single map and a single reduce step after which data is written back to HDFS</a:t>
            </a:r>
          </a:p>
          <a:p>
            <a:pPr lvl="1">
              <a:spcBef>
                <a:spcPts val="1600"/>
              </a:spcBef>
            </a:pPr>
            <a:r>
              <a:rPr lang="en-US" sz="3200" dirty="0"/>
              <a:t>Makes machine learning algorithms which require iteration of several MapReduce jobs lower performing</a:t>
            </a:r>
          </a:p>
          <a:p>
            <a:pPr lvl="1">
              <a:spcBef>
                <a:spcPts val="1600"/>
              </a:spcBef>
            </a:pPr>
            <a:r>
              <a:rPr lang="en-US" sz="3200"/>
              <a:t>Does not take </a:t>
            </a:r>
            <a:r>
              <a:rPr lang="en-US" sz="3200" dirty="0"/>
              <a:t>advantage of caching intermediate results to memory between iterations</a:t>
            </a:r>
          </a:p>
          <a:p>
            <a:pPr>
              <a:spcBef>
                <a:spcPts val="1600"/>
              </a:spcBef>
            </a:pPr>
            <a:r>
              <a:rPr lang="en-US" sz="3600" dirty="0"/>
              <a:t>Makes MapReduce most appropriate for algorithms which run in a sequence of a few batch jobs  </a:t>
            </a:r>
          </a:p>
          <a:p>
            <a:pPr lvl="1">
              <a:spcBef>
                <a:spcPts val="1600"/>
              </a:spcBef>
            </a:pPr>
            <a:r>
              <a:rPr lang="en-US" sz="3200" dirty="0"/>
              <a:t>But MapReduce is not well suited to iterative jobs or any jobs requiring low latency real-time or interactive characteristics</a:t>
            </a:r>
          </a:p>
          <a:p>
            <a:endParaRPr lang="en-US" dirty="0"/>
          </a:p>
          <a:p>
            <a:endParaRPr lang="en-US" dirty="0"/>
          </a:p>
        </p:txBody>
      </p:sp>
    </p:spTree>
    <p:extLst>
      <p:ext uri="{BB962C8B-B14F-4D97-AF65-F5344CB8AC3E}">
        <p14:creationId xmlns:p14="http://schemas.microsoft.com/office/powerpoint/2010/main" val="32515160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5A2AF-1EEB-F9A7-8954-4B5F4F7D5096}"/>
              </a:ext>
            </a:extLst>
          </p:cNvPr>
          <p:cNvSpPr>
            <a:spLocks noGrp="1"/>
          </p:cNvSpPr>
          <p:nvPr>
            <p:ph type="title"/>
          </p:nvPr>
        </p:nvSpPr>
        <p:spPr/>
        <p:txBody>
          <a:bodyPr/>
          <a:lstStyle/>
          <a:p>
            <a:r>
              <a:rPr lang="en-US" dirty="0"/>
              <a:t>MapReduce Limitations</a:t>
            </a:r>
          </a:p>
        </p:txBody>
      </p:sp>
      <p:sp>
        <p:nvSpPr>
          <p:cNvPr id="4" name="Rectangle 3">
            <a:extLst>
              <a:ext uri="{FF2B5EF4-FFF2-40B4-BE49-F238E27FC236}">
                <a16:creationId xmlns:a16="http://schemas.microsoft.com/office/drawing/2014/main" id="{FD658AC0-37A1-FCE4-966B-AEBCF4F7D98C}"/>
              </a:ext>
            </a:extLst>
          </p:cNvPr>
          <p:cNvSpPr/>
          <p:nvPr/>
        </p:nvSpPr>
        <p:spPr>
          <a:xfrm>
            <a:off x="-30480" y="1993900"/>
            <a:ext cx="4271740"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800" dirty="0">
              <a:solidFill>
                <a:schemeClr val="bg2"/>
              </a:solidFill>
            </a:endParaRPr>
          </a:p>
        </p:txBody>
      </p:sp>
      <p:sp>
        <p:nvSpPr>
          <p:cNvPr id="5" name="Rectangle 4">
            <a:extLst>
              <a:ext uri="{FF2B5EF4-FFF2-40B4-BE49-F238E27FC236}">
                <a16:creationId xmlns:a16="http://schemas.microsoft.com/office/drawing/2014/main" id="{AFC64A9E-92DC-E1F9-7988-22DCE18F2F50}"/>
              </a:ext>
            </a:extLst>
          </p:cNvPr>
          <p:cNvSpPr/>
          <p:nvPr/>
        </p:nvSpPr>
        <p:spPr>
          <a:xfrm>
            <a:off x="0" y="3215329"/>
            <a:ext cx="4450080"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2800" dirty="0">
              <a:solidFill>
                <a:schemeClr val="bg2"/>
              </a:solidFill>
            </a:endParaRPr>
          </a:p>
        </p:txBody>
      </p:sp>
      <p:sp>
        <p:nvSpPr>
          <p:cNvPr id="6" name="Rectangle 5">
            <a:extLst>
              <a:ext uri="{FF2B5EF4-FFF2-40B4-BE49-F238E27FC236}">
                <a16:creationId xmlns:a16="http://schemas.microsoft.com/office/drawing/2014/main" id="{53767511-4343-89FB-12DD-77B0E6E6347A}"/>
              </a:ext>
            </a:extLst>
          </p:cNvPr>
          <p:cNvSpPr/>
          <p:nvPr/>
        </p:nvSpPr>
        <p:spPr>
          <a:xfrm>
            <a:off x="0" y="4417304"/>
            <a:ext cx="4450080"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2800" dirty="0">
              <a:solidFill>
                <a:schemeClr val="bg2"/>
              </a:solidFill>
            </a:endParaRPr>
          </a:p>
        </p:txBody>
      </p:sp>
      <p:sp>
        <p:nvSpPr>
          <p:cNvPr id="7" name="Rectangle 6">
            <a:extLst>
              <a:ext uri="{FF2B5EF4-FFF2-40B4-BE49-F238E27FC236}">
                <a16:creationId xmlns:a16="http://schemas.microsoft.com/office/drawing/2014/main" id="{7AF0B397-3BE5-373B-E5A9-13A4106B7DBC}"/>
              </a:ext>
            </a:extLst>
          </p:cNvPr>
          <p:cNvSpPr/>
          <p:nvPr/>
        </p:nvSpPr>
        <p:spPr>
          <a:xfrm>
            <a:off x="0" y="5580366"/>
            <a:ext cx="4450080" cy="1042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solidFill>
                <a:schemeClr val="bg2"/>
              </a:solidFill>
            </a:endParaRPr>
          </a:p>
        </p:txBody>
      </p:sp>
      <p:sp>
        <p:nvSpPr>
          <p:cNvPr id="3" name="Rectangle 2">
            <a:extLst>
              <a:ext uri="{FF2B5EF4-FFF2-40B4-BE49-F238E27FC236}">
                <a16:creationId xmlns:a16="http://schemas.microsoft.com/office/drawing/2014/main" id="{512C56DA-A4F9-D355-A171-397F89964105}"/>
              </a:ext>
            </a:extLst>
          </p:cNvPr>
          <p:cNvSpPr/>
          <p:nvPr/>
        </p:nvSpPr>
        <p:spPr>
          <a:xfrm>
            <a:off x="792480" y="1993900"/>
            <a:ext cx="3657600" cy="104241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dirty="0">
                <a:solidFill>
                  <a:schemeClr val="bg2"/>
                </a:solidFill>
              </a:rPr>
              <a:t>Batch Processing</a:t>
            </a:r>
          </a:p>
        </p:txBody>
      </p:sp>
      <p:sp>
        <p:nvSpPr>
          <p:cNvPr id="8" name="Rectangle 7">
            <a:extLst>
              <a:ext uri="{FF2B5EF4-FFF2-40B4-BE49-F238E27FC236}">
                <a16:creationId xmlns:a16="http://schemas.microsoft.com/office/drawing/2014/main" id="{B9C87F86-2422-9D76-8643-9F14AE6654EA}"/>
              </a:ext>
            </a:extLst>
          </p:cNvPr>
          <p:cNvSpPr/>
          <p:nvPr/>
        </p:nvSpPr>
        <p:spPr>
          <a:xfrm>
            <a:off x="792480" y="3215329"/>
            <a:ext cx="3657600" cy="1042416"/>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a:solidFill>
                  <a:schemeClr val="tx1"/>
                </a:solidFill>
              </a:rPr>
              <a:t>Programming Flexibility</a:t>
            </a:r>
          </a:p>
        </p:txBody>
      </p:sp>
      <p:sp>
        <p:nvSpPr>
          <p:cNvPr id="9" name="Rectangle 8">
            <a:extLst>
              <a:ext uri="{FF2B5EF4-FFF2-40B4-BE49-F238E27FC236}">
                <a16:creationId xmlns:a16="http://schemas.microsoft.com/office/drawing/2014/main" id="{3E9BF948-A9D5-52ED-BA93-AD433038B961}"/>
              </a:ext>
            </a:extLst>
          </p:cNvPr>
          <p:cNvSpPr/>
          <p:nvPr/>
        </p:nvSpPr>
        <p:spPr>
          <a:xfrm>
            <a:off x="792480" y="4417304"/>
            <a:ext cx="3657600" cy="1042416"/>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800" dirty="0">
                <a:solidFill>
                  <a:schemeClr val="tx1"/>
                </a:solidFill>
              </a:rPr>
              <a:t>Iterative Algorithms</a:t>
            </a:r>
          </a:p>
        </p:txBody>
      </p:sp>
      <p:sp>
        <p:nvSpPr>
          <p:cNvPr id="10" name="Rectangle 9">
            <a:extLst>
              <a:ext uri="{FF2B5EF4-FFF2-40B4-BE49-F238E27FC236}">
                <a16:creationId xmlns:a16="http://schemas.microsoft.com/office/drawing/2014/main" id="{A54455CA-CC41-1AC9-3001-3C90090FCEEA}"/>
              </a:ext>
            </a:extLst>
          </p:cNvPr>
          <p:cNvSpPr/>
          <p:nvPr/>
        </p:nvSpPr>
        <p:spPr>
          <a:xfrm>
            <a:off x="792480" y="5580366"/>
            <a:ext cx="3657600" cy="1042416"/>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In-Memory Processing</a:t>
            </a:r>
          </a:p>
        </p:txBody>
      </p:sp>
      <p:sp>
        <p:nvSpPr>
          <p:cNvPr id="11" name="Rectangle 10">
            <a:extLst>
              <a:ext uri="{FF2B5EF4-FFF2-40B4-BE49-F238E27FC236}">
                <a16:creationId xmlns:a16="http://schemas.microsoft.com/office/drawing/2014/main" id="{EB5F6804-CEDA-F816-DEA8-C734ACB2B89A}"/>
              </a:ext>
            </a:extLst>
          </p:cNvPr>
          <p:cNvSpPr/>
          <p:nvPr/>
        </p:nvSpPr>
        <p:spPr>
          <a:xfrm>
            <a:off x="4541518" y="1986756"/>
            <a:ext cx="12006072"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200" dirty="0">
                <a:solidFill>
                  <a:schemeClr val="bg2"/>
                </a:solidFill>
              </a:rPr>
              <a:t>MapReduce in discrete batches rather than interactively or in real-time. This can lead to delays in obtaining insights from data, which can be a disadvantage for businesses (or research initiatives) that require real-time decision-making.</a:t>
            </a:r>
          </a:p>
        </p:txBody>
      </p:sp>
      <p:sp>
        <p:nvSpPr>
          <p:cNvPr id="12" name="Rectangle 11">
            <a:extLst>
              <a:ext uri="{FF2B5EF4-FFF2-40B4-BE49-F238E27FC236}">
                <a16:creationId xmlns:a16="http://schemas.microsoft.com/office/drawing/2014/main" id="{DA824491-39DA-2FEF-F31F-171731277535}"/>
              </a:ext>
            </a:extLst>
          </p:cNvPr>
          <p:cNvSpPr/>
          <p:nvPr/>
        </p:nvSpPr>
        <p:spPr>
          <a:xfrm>
            <a:off x="4541518" y="3215329"/>
            <a:ext cx="12006072"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200" dirty="0">
                <a:solidFill>
                  <a:schemeClr val="tx1"/>
                </a:solidFill>
              </a:rPr>
              <a:t>MapReduce's programming model is relatively restrictive, limiting the flexibility of user-defined functions. More advanced data processing frameworks, such as Apache Spark, offer more flexibility and control over data processing logic.</a:t>
            </a:r>
          </a:p>
        </p:txBody>
      </p:sp>
      <p:sp>
        <p:nvSpPr>
          <p:cNvPr id="13" name="Rectangle 12">
            <a:extLst>
              <a:ext uri="{FF2B5EF4-FFF2-40B4-BE49-F238E27FC236}">
                <a16:creationId xmlns:a16="http://schemas.microsoft.com/office/drawing/2014/main" id="{3A9321C7-53EF-9CA7-F7BF-681BF48FC6F4}"/>
              </a:ext>
            </a:extLst>
          </p:cNvPr>
          <p:cNvSpPr/>
          <p:nvPr/>
        </p:nvSpPr>
        <p:spPr>
          <a:xfrm>
            <a:off x="4541518" y="4410160"/>
            <a:ext cx="12006072"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200" dirty="0">
                <a:solidFill>
                  <a:schemeClr val="tx1"/>
                </a:solidFill>
              </a:rPr>
              <a:t>MapReduce is not well-suited for iterative algorithms that require multiple passes over the data. Each pass (job) requires data to be read, processed, and written back to storage, which can introduce significant overhead into data processing pipeline</a:t>
            </a:r>
          </a:p>
        </p:txBody>
      </p:sp>
      <p:sp>
        <p:nvSpPr>
          <p:cNvPr id="14" name="Rectangle 13">
            <a:extLst>
              <a:ext uri="{FF2B5EF4-FFF2-40B4-BE49-F238E27FC236}">
                <a16:creationId xmlns:a16="http://schemas.microsoft.com/office/drawing/2014/main" id="{FCD42696-6982-A473-0CE8-A0AB929641FB}"/>
              </a:ext>
            </a:extLst>
          </p:cNvPr>
          <p:cNvSpPr/>
          <p:nvPr/>
        </p:nvSpPr>
        <p:spPr>
          <a:xfrm>
            <a:off x="4541519" y="5580366"/>
            <a:ext cx="12009120" cy="1042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200" dirty="0">
                <a:solidFill>
                  <a:schemeClr val="bg2"/>
                </a:solidFill>
              </a:rPr>
              <a:t>MapReduce primarily operates on disk-based data, which can limit performance for applications that require in-memory processing for low-latency calculations and data transformations</a:t>
            </a:r>
          </a:p>
        </p:txBody>
      </p:sp>
      <p:sp>
        <p:nvSpPr>
          <p:cNvPr id="18" name="Rectangle 17">
            <a:extLst>
              <a:ext uri="{FF2B5EF4-FFF2-40B4-BE49-F238E27FC236}">
                <a16:creationId xmlns:a16="http://schemas.microsoft.com/office/drawing/2014/main" id="{5E141AAE-90DD-30A6-A9B4-8198A5CD83A0}"/>
              </a:ext>
            </a:extLst>
          </p:cNvPr>
          <p:cNvSpPr/>
          <p:nvPr/>
        </p:nvSpPr>
        <p:spPr>
          <a:xfrm>
            <a:off x="16214" y="6744441"/>
            <a:ext cx="4450080" cy="1042416"/>
          </a:xfrm>
          <a:prstGeom prst="rect">
            <a:avLst/>
          </a:prstGeom>
          <a:solidFill>
            <a:srgbClr val="1770C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solidFill>
                <a:schemeClr val="bg2"/>
              </a:solidFill>
            </a:endParaRPr>
          </a:p>
        </p:txBody>
      </p:sp>
      <p:sp>
        <p:nvSpPr>
          <p:cNvPr id="19" name="Rectangle 18">
            <a:extLst>
              <a:ext uri="{FF2B5EF4-FFF2-40B4-BE49-F238E27FC236}">
                <a16:creationId xmlns:a16="http://schemas.microsoft.com/office/drawing/2014/main" id="{FF06BA78-B778-C7B9-D84F-6119BD8CAFBC}"/>
              </a:ext>
            </a:extLst>
          </p:cNvPr>
          <p:cNvSpPr/>
          <p:nvPr/>
        </p:nvSpPr>
        <p:spPr>
          <a:xfrm>
            <a:off x="808694" y="6744441"/>
            <a:ext cx="3657600" cy="1042416"/>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Data Structures</a:t>
            </a:r>
          </a:p>
        </p:txBody>
      </p:sp>
      <p:sp>
        <p:nvSpPr>
          <p:cNvPr id="20" name="Rectangle 19">
            <a:extLst>
              <a:ext uri="{FF2B5EF4-FFF2-40B4-BE49-F238E27FC236}">
                <a16:creationId xmlns:a16="http://schemas.microsoft.com/office/drawing/2014/main" id="{684E9B69-8B38-86C0-837F-B26D9C5DD71F}"/>
              </a:ext>
            </a:extLst>
          </p:cNvPr>
          <p:cNvSpPr/>
          <p:nvPr/>
        </p:nvSpPr>
        <p:spPr>
          <a:xfrm>
            <a:off x="4557733" y="6744441"/>
            <a:ext cx="12009120" cy="1042416"/>
          </a:xfrm>
          <a:prstGeom prst="rect">
            <a:avLst/>
          </a:prstGeom>
          <a:solidFill>
            <a:srgbClr val="1770C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200" dirty="0">
                <a:solidFill>
                  <a:schemeClr val="bg2"/>
                </a:solidFill>
              </a:rPr>
              <a:t>MapReduce is designed to handle basic data structures, such as key-value pairs, and may not be efficient for processing complex data structures, such as graphs or nested objects</a:t>
            </a:r>
          </a:p>
        </p:txBody>
      </p:sp>
      <p:sp>
        <p:nvSpPr>
          <p:cNvPr id="15" name="Rectangle 14">
            <a:extLst>
              <a:ext uri="{FF2B5EF4-FFF2-40B4-BE49-F238E27FC236}">
                <a16:creationId xmlns:a16="http://schemas.microsoft.com/office/drawing/2014/main" id="{98202E0C-69C6-EF52-63D9-671958716AF3}"/>
              </a:ext>
            </a:extLst>
          </p:cNvPr>
          <p:cNvSpPr/>
          <p:nvPr/>
        </p:nvSpPr>
        <p:spPr>
          <a:xfrm>
            <a:off x="16214" y="7900141"/>
            <a:ext cx="4450080" cy="1042416"/>
          </a:xfrm>
          <a:prstGeom prst="rect">
            <a:avLst/>
          </a:prstGeom>
          <a:solidFill>
            <a:schemeClr val="bg1">
              <a:lumMod val="60000"/>
              <a:lumOff val="40000"/>
            </a:schemeClr>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solidFill>
                <a:schemeClr val="bg2"/>
              </a:solidFill>
            </a:endParaRPr>
          </a:p>
        </p:txBody>
      </p:sp>
      <p:sp>
        <p:nvSpPr>
          <p:cNvPr id="16" name="Rectangle 15">
            <a:extLst>
              <a:ext uri="{FF2B5EF4-FFF2-40B4-BE49-F238E27FC236}">
                <a16:creationId xmlns:a16="http://schemas.microsoft.com/office/drawing/2014/main" id="{F551CDB3-0721-8286-14B6-86C4C385FA8F}"/>
              </a:ext>
            </a:extLst>
          </p:cNvPr>
          <p:cNvSpPr/>
          <p:nvPr/>
        </p:nvSpPr>
        <p:spPr>
          <a:xfrm>
            <a:off x="808694" y="7900141"/>
            <a:ext cx="3657600" cy="1042416"/>
          </a:xfrm>
          <a:prstGeom prst="rect">
            <a:avLst/>
          </a:prstGeom>
          <a:solidFill>
            <a:schemeClr val="bg1">
              <a:lumMod val="60000"/>
              <a:lumOff val="4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tx1"/>
                </a:solidFill>
              </a:rPr>
              <a:t>Skillset</a:t>
            </a:r>
          </a:p>
        </p:txBody>
      </p:sp>
      <p:sp>
        <p:nvSpPr>
          <p:cNvPr id="17" name="Rectangle 16">
            <a:extLst>
              <a:ext uri="{FF2B5EF4-FFF2-40B4-BE49-F238E27FC236}">
                <a16:creationId xmlns:a16="http://schemas.microsoft.com/office/drawing/2014/main" id="{7DBB54AA-B6FF-AF39-A4AE-4B55116996CE}"/>
              </a:ext>
            </a:extLst>
          </p:cNvPr>
          <p:cNvSpPr/>
          <p:nvPr/>
        </p:nvSpPr>
        <p:spPr>
          <a:xfrm>
            <a:off x="4557733" y="7900141"/>
            <a:ext cx="12009120" cy="1042416"/>
          </a:xfrm>
          <a:prstGeom prst="rect">
            <a:avLst/>
          </a:prstGeom>
          <a:solidFill>
            <a:schemeClr val="bg1">
              <a:lumMod val="60000"/>
              <a:lumOff val="40000"/>
            </a:schemeClr>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200" dirty="0">
                <a:solidFill>
                  <a:schemeClr val="tx1"/>
                </a:solidFill>
              </a:rPr>
              <a:t>Implementing and managing MapReduce jobs requires specialized skills and knowledge of distributed systems and programming. This can limit the availability of resources and expertise within organizations</a:t>
            </a:r>
          </a:p>
        </p:txBody>
      </p:sp>
    </p:spTree>
    <p:extLst>
      <p:ext uri="{BB962C8B-B14F-4D97-AF65-F5344CB8AC3E}">
        <p14:creationId xmlns:p14="http://schemas.microsoft.com/office/powerpoint/2010/main" val="4018934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D26AB-7D26-5FC0-3F3F-56033051241F}"/>
              </a:ext>
            </a:extLst>
          </p:cNvPr>
          <p:cNvSpPr>
            <a:spLocks noGrp="1"/>
          </p:cNvSpPr>
          <p:nvPr>
            <p:ph type="title"/>
          </p:nvPr>
        </p:nvSpPr>
        <p:spPr/>
        <p:txBody>
          <a:bodyPr/>
          <a:lstStyle/>
          <a:p>
            <a:r>
              <a:rPr lang="en-US" dirty="0"/>
              <a:t>Movie Rating Count Using MrJob </a:t>
            </a:r>
          </a:p>
        </p:txBody>
      </p:sp>
      <p:graphicFrame>
        <p:nvGraphicFramePr>
          <p:cNvPr id="3" name="object 3">
            <a:extLst>
              <a:ext uri="{FF2B5EF4-FFF2-40B4-BE49-F238E27FC236}">
                <a16:creationId xmlns:a16="http://schemas.microsoft.com/office/drawing/2014/main" id="{B28C5332-D88E-5E9F-2C76-94787B462BA0}"/>
              </a:ext>
            </a:extLst>
          </p:cNvPr>
          <p:cNvGraphicFramePr>
            <a:graphicFrameLocks noGrp="1"/>
          </p:cNvGraphicFramePr>
          <p:nvPr>
            <p:extLst>
              <p:ext uri="{D42A27DB-BD31-4B8C-83A1-F6EECF244321}">
                <p14:modId xmlns:p14="http://schemas.microsoft.com/office/powerpoint/2010/main" val="4060613684"/>
              </p:ext>
            </p:extLst>
          </p:nvPr>
        </p:nvGraphicFramePr>
        <p:xfrm>
          <a:off x="5715000" y="4654455"/>
          <a:ext cx="6373581" cy="4938714"/>
        </p:xfrm>
        <a:graphic>
          <a:graphicData uri="http://schemas.openxmlformats.org/drawingml/2006/table">
            <a:tbl>
              <a:tblPr firstRow="1" bandRow="1"/>
              <a:tblGrid>
                <a:gridCol w="1241139">
                  <a:extLst>
                    <a:ext uri="{9D8B030D-6E8A-4147-A177-3AD203B41FA5}">
                      <a16:colId xmlns:a16="http://schemas.microsoft.com/office/drawing/2014/main" val="20000"/>
                    </a:ext>
                  </a:extLst>
                </a:gridCol>
                <a:gridCol w="1747685">
                  <a:extLst>
                    <a:ext uri="{9D8B030D-6E8A-4147-A177-3AD203B41FA5}">
                      <a16:colId xmlns:a16="http://schemas.microsoft.com/office/drawing/2014/main" val="20001"/>
                    </a:ext>
                  </a:extLst>
                </a:gridCol>
                <a:gridCol w="1415846">
                  <a:extLst>
                    <a:ext uri="{9D8B030D-6E8A-4147-A177-3AD203B41FA5}">
                      <a16:colId xmlns:a16="http://schemas.microsoft.com/office/drawing/2014/main" val="20002"/>
                    </a:ext>
                  </a:extLst>
                </a:gridCol>
                <a:gridCol w="1968911">
                  <a:extLst>
                    <a:ext uri="{9D8B030D-6E8A-4147-A177-3AD203B41FA5}">
                      <a16:colId xmlns:a16="http://schemas.microsoft.com/office/drawing/2014/main" val="20003"/>
                    </a:ext>
                  </a:extLst>
                </a:gridCol>
              </a:tblGrid>
              <a:tr h="549593">
                <a:tc>
                  <a:txBody>
                    <a:bodyPr/>
                    <a:lstStyle>
                      <a:lvl1pPr marL="0" algn="l" defTabSz="1828800" rtl="0" eaLnBrk="1" latinLnBrk="0" hangingPunct="1">
                        <a:defRPr sz="3600" b="1" kern="1200">
                          <a:solidFill>
                            <a:schemeClr val="lt1"/>
                          </a:solidFill>
                          <a:latin typeface="Arial"/>
                        </a:defRPr>
                      </a:lvl1pPr>
                      <a:lvl2pPr marL="914400" algn="l" defTabSz="1828800" rtl="0" eaLnBrk="1" latinLnBrk="0" hangingPunct="1">
                        <a:defRPr sz="3600" b="1" kern="1200">
                          <a:solidFill>
                            <a:schemeClr val="lt1"/>
                          </a:solidFill>
                          <a:latin typeface="Arial"/>
                        </a:defRPr>
                      </a:lvl2pPr>
                      <a:lvl3pPr marL="1828800" algn="l" defTabSz="1828800" rtl="0" eaLnBrk="1" latinLnBrk="0" hangingPunct="1">
                        <a:defRPr sz="3600" b="1" kern="1200">
                          <a:solidFill>
                            <a:schemeClr val="lt1"/>
                          </a:solidFill>
                          <a:latin typeface="Arial"/>
                        </a:defRPr>
                      </a:lvl3pPr>
                      <a:lvl4pPr marL="2743200" algn="l" defTabSz="1828800" rtl="0" eaLnBrk="1" latinLnBrk="0" hangingPunct="1">
                        <a:defRPr sz="3600" b="1" kern="1200">
                          <a:solidFill>
                            <a:schemeClr val="lt1"/>
                          </a:solidFill>
                          <a:latin typeface="Arial"/>
                        </a:defRPr>
                      </a:lvl4pPr>
                      <a:lvl5pPr marL="3657600" algn="l" defTabSz="1828800" rtl="0" eaLnBrk="1" latinLnBrk="0" hangingPunct="1">
                        <a:defRPr sz="3600" b="1" kern="1200">
                          <a:solidFill>
                            <a:schemeClr val="lt1"/>
                          </a:solidFill>
                          <a:latin typeface="Arial"/>
                        </a:defRPr>
                      </a:lvl5pPr>
                      <a:lvl6pPr marL="4572000" algn="l" defTabSz="1828800" rtl="0" eaLnBrk="1" latinLnBrk="0" hangingPunct="1">
                        <a:defRPr sz="3600" b="1" kern="1200">
                          <a:solidFill>
                            <a:schemeClr val="lt1"/>
                          </a:solidFill>
                          <a:latin typeface="Arial"/>
                        </a:defRPr>
                      </a:lvl6pPr>
                      <a:lvl7pPr marL="5486400" algn="l" defTabSz="1828800" rtl="0" eaLnBrk="1" latinLnBrk="0" hangingPunct="1">
                        <a:defRPr sz="3600" b="1" kern="1200">
                          <a:solidFill>
                            <a:schemeClr val="lt1"/>
                          </a:solidFill>
                          <a:latin typeface="Arial"/>
                        </a:defRPr>
                      </a:lvl7pPr>
                      <a:lvl8pPr marL="6400800" algn="l" defTabSz="1828800" rtl="0" eaLnBrk="1" latinLnBrk="0" hangingPunct="1">
                        <a:defRPr sz="3600" b="1" kern="1200">
                          <a:solidFill>
                            <a:schemeClr val="lt1"/>
                          </a:solidFill>
                          <a:latin typeface="Arial"/>
                        </a:defRPr>
                      </a:lvl8pPr>
                      <a:lvl9pPr marL="7315200" algn="l" defTabSz="1828800" rtl="0" eaLnBrk="1" latinLnBrk="0" hangingPunct="1">
                        <a:defRPr sz="3600" b="1" kern="1200">
                          <a:solidFill>
                            <a:schemeClr val="lt1"/>
                          </a:solidFill>
                          <a:latin typeface="Arial"/>
                        </a:defRPr>
                      </a:lvl9pPr>
                    </a:lstStyle>
                    <a:p>
                      <a:pPr marL="31750">
                        <a:lnSpc>
                          <a:spcPts val="2280"/>
                        </a:lnSpc>
                      </a:pPr>
                      <a:r>
                        <a:rPr lang="en-US" sz="2000" kern="0" spc="-8" dirty="0">
                          <a:solidFill>
                            <a:schemeClr val="tx1"/>
                          </a:solidFill>
                        </a:rPr>
                        <a:t>USER </a:t>
                      </a:r>
                      <a:r>
                        <a:rPr lang="en-US" sz="2000" kern="0" spc="-15" dirty="0">
                          <a:solidFill>
                            <a:schemeClr val="tx1"/>
                          </a:solidFill>
                        </a:rPr>
                        <a:t>ID</a:t>
                      </a:r>
                      <a:endParaRPr sz="2000" dirty="0">
                        <a:solidFill>
                          <a:schemeClr val="tx1"/>
                        </a:solidFill>
                        <a:latin typeface="Trebuchet MS"/>
                        <a:cs typeface="Trebuchet MS"/>
                      </a:endParaRPr>
                    </a:p>
                  </a:txBody>
                  <a:tcPr marL="0" marR="0" marT="0"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solidFill>
                  </a:tcPr>
                </a:tc>
                <a:tc>
                  <a:txBody>
                    <a:bodyPr/>
                    <a:lstStyle>
                      <a:lvl1pPr marL="0" algn="l" defTabSz="1828800" rtl="0" eaLnBrk="1" latinLnBrk="0" hangingPunct="1">
                        <a:defRPr sz="3600" b="1" kern="1200">
                          <a:solidFill>
                            <a:schemeClr val="lt1"/>
                          </a:solidFill>
                          <a:latin typeface="Arial"/>
                        </a:defRPr>
                      </a:lvl1pPr>
                      <a:lvl2pPr marL="914400" algn="l" defTabSz="1828800" rtl="0" eaLnBrk="1" latinLnBrk="0" hangingPunct="1">
                        <a:defRPr sz="3600" b="1" kern="1200">
                          <a:solidFill>
                            <a:schemeClr val="lt1"/>
                          </a:solidFill>
                          <a:latin typeface="Arial"/>
                        </a:defRPr>
                      </a:lvl2pPr>
                      <a:lvl3pPr marL="1828800" algn="l" defTabSz="1828800" rtl="0" eaLnBrk="1" latinLnBrk="0" hangingPunct="1">
                        <a:defRPr sz="3600" b="1" kern="1200">
                          <a:solidFill>
                            <a:schemeClr val="lt1"/>
                          </a:solidFill>
                          <a:latin typeface="Arial"/>
                        </a:defRPr>
                      </a:lvl3pPr>
                      <a:lvl4pPr marL="2743200" algn="l" defTabSz="1828800" rtl="0" eaLnBrk="1" latinLnBrk="0" hangingPunct="1">
                        <a:defRPr sz="3600" b="1" kern="1200">
                          <a:solidFill>
                            <a:schemeClr val="lt1"/>
                          </a:solidFill>
                          <a:latin typeface="Arial"/>
                        </a:defRPr>
                      </a:lvl4pPr>
                      <a:lvl5pPr marL="3657600" algn="l" defTabSz="1828800" rtl="0" eaLnBrk="1" latinLnBrk="0" hangingPunct="1">
                        <a:defRPr sz="3600" b="1" kern="1200">
                          <a:solidFill>
                            <a:schemeClr val="lt1"/>
                          </a:solidFill>
                          <a:latin typeface="Arial"/>
                        </a:defRPr>
                      </a:lvl5pPr>
                      <a:lvl6pPr marL="4572000" algn="l" defTabSz="1828800" rtl="0" eaLnBrk="1" latinLnBrk="0" hangingPunct="1">
                        <a:defRPr sz="3600" b="1" kern="1200">
                          <a:solidFill>
                            <a:schemeClr val="lt1"/>
                          </a:solidFill>
                          <a:latin typeface="Arial"/>
                        </a:defRPr>
                      </a:lvl6pPr>
                      <a:lvl7pPr marL="5486400" algn="l" defTabSz="1828800" rtl="0" eaLnBrk="1" latinLnBrk="0" hangingPunct="1">
                        <a:defRPr sz="3600" b="1" kern="1200">
                          <a:solidFill>
                            <a:schemeClr val="lt1"/>
                          </a:solidFill>
                          <a:latin typeface="Arial"/>
                        </a:defRPr>
                      </a:lvl7pPr>
                      <a:lvl8pPr marL="6400800" algn="l" defTabSz="1828800" rtl="0" eaLnBrk="1" latinLnBrk="0" hangingPunct="1">
                        <a:defRPr sz="3600" b="1" kern="1200">
                          <a:solidFill>
                            <a:schemeClr val="lt1"/>
                          </a:solidFill>
                          <a:latin typeface="Arial"/>
                        </a:defRPr>
                      </a:lvl8pPr>
                      <a:lvl9pPr marL="7315200" algn="l" defTabSz="1828800" rtl="0" eaLnBrk="1" latinLnBrk="0" hangingPunct="1">
                        <a:defRPr sz="3600" b="1" kern="1200">
                          <a:solidFill>
                            <a:schemeClr val="lt1"/>
                          </a:solidFill>
                          <a:latin typeface="Arial"/>
                        </a:defRPr>
                      </a:lvl9pPr>
                    </a:lstStyle>
                    <a:p>
                      <a:pPr marL="259079">
                        <a:lnSpc>
                          <a:spcPts val="2280"/>
                        </a:lnSpc>
                      </a:pPr>
                      <a:r>
                        <a:rPr lang="en-US" sz="2000" kern="0" spc="-15" dirty="0">
                          <a:solidFill>
                            <a:schemeClr val="tx1"/>
                          </a:solidFill>
                        </a:rPr>
                        <a:t>MOVIE</a:t>
                      </a:r>
                      <a:r>
                        <a:rPr lang="en-US" sz="2000" kern="0" spc="15" dirty="0">
                          <a:solidFill>
                            <a:schemeClr val="tx1"/>
                          </a:solidFill>
                        </a:rPr>
                        <a:t> </a:t>
                      </a:r>
                      <a:r>
                        <a:rPr lang="en-US" sz="2000" kern="0" spc="-38" dirty="0">
                          <a:solidFill>
                            <a:schemeClr val="tx1"/>
                          </a:solidFill>
                        </a:rPr>
                        <a:t>ID</a:t>
                      </a:r>
                      <a:endParaRPr sz="2000" dirty="0">
                        <a:solidFill>
                          <a:schemeClr val="tx1"/>
                        </a:solidFill>
                        <a:latin typeface="Trebuchet MS"/>
                        <a:cs typeface="Trebuchet MS"/>
                      </a:endParaRPr>
                    </a:p>
                  </a:txBody>
                  <a:tcPr marL="0" marR="0" marT="0"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solidFill>
                  </a:tcPr>
                </a:tc>
                <a:tc>
                  <a:txBody>
                    <a:bodyPr/>
                    <a:lstStyle>
                      <a:lvl1pPr marL="0" algn="l" defTabSz="1828800" rtl="0" eaLnBrk="1" latinLnBrk="0" hangingPunct="1">
                        <a:defRPr sz="3600" b="1" kern="1200">
                          <a:solidFill>
                            <a:schemeClr val="lt1"/>
                          </a:solidFill>
                          <a:latin typeface="Arial"/>
                        </a:defRPr>
                      </a:lvl1pPr>
                      <a:lvl2pPr marL="914400" algn="l" defTabSz="1828800" rtl="0" eaLnBrk="1" latinLnBrk="0" hangingPunct="1">
                        <a:defRPr sz="3600" b="1" kern="1200">
                          <a:solidFill>
                            <a:schemeClr val="lt1"/>
                          </a:solidFill>
                          <a:latin typeface="Arial"/>
                        </a:defRPr>
                      </a:lvl2pPr>
                      <a:lvl3pPr marL="1828800" algn="l" defTabSz="1828800" rtl="0" eaLnBrk="1" latinLnBrk="0" hangingPunct="1">
                        <a:defRPr sz="3600" b="1" kern="1200">
                          <a:solidFill>
                            <a:schemeClr val="lt1"/>
                          </a:solidFill>
                          <a:latin typeface="Arial"/>
                        </a:defRPr>
                      </a:lvl3pPr>
                      <a:lvl4pPr marL="2743200" algn="l" defTabSz="1828800" rtl="0" eaLnBrk="1" latinLnBrk="0" hangingPunct="1">
                        <a:defRPr sz="3600" b="1" kern="1200">
                          <a:solidFill>
                            <a:schemeClr val="lt1"/>
                          </a:solidFill>
                          <a:latin typeface="Arial"/>
                        </a:defRPr>
                      </a:lvl4pPr>
                      <a:lvl5pPr marL="3657600" algn="l" defTabSz="1828800" rtl="0" eaLnBrk="1" latinLnBrk="0" hangingPunct="1">
                        <a:defRPr sz="3600" b="1" kern="1200">
                          <a:solidFill>
                            <a:schemeClr val="lt1"/>
                          </a:solidFill>
                          <a:latin typeface="Arial"/>
                        </a:defRPr>
                      </a:lvl5pPr>
                      <a:lvl6pPr marL="4572000" algn="l" defTabSz="1828800" rtl="0" eaLnBrk="1" latinLnBrk="0" hangingPunct="1">
                        <a:defRPr sz="3600" b="1" kern="1200">
                          <a:solidFill>
                            <a:schemeClr val="lt1"/>
                          </a:solidFill>
                          <a:latin typeface="Arial"/>
                        </a:defRPr>
                      </a:lvl6pPr>
                      <a:lvl7pPr marL="5486400" algn="l" defTabSz="1828800" rtl="0" eaLnBrk="1" latinLnBrk="0" hangingPunct="1">
                        <a:defRPr sz="3600" b="1" kern="1200">
                          <a:solidFill>
                            <a:schemeClr val="lt1"/>
                          </a:solidFill>
                          <a:latin typeface="Arial"/>
                        </a:defRPr>
                      </a:lvl7pPr>
                      <a:lvl8pPr marL="6400800" algn="l" defTabSz="1828800" rtl="0" eaLnBrk="1" latinLnBrk="0" hangingPunct="1">
                        <a:defRPr sz="3600" b="1" kern="1200">
                          <a:solidFill>
                            <a:schemeClr val="lt1"/>
                          </a:solidFill>
                          <a:latin typeface="Arial"/>
                        </a:defRPr>
                      </a:lvl8pPr>
                      <a:lvl9pPr marL="7315200" algn="l" defTabSz="1828800" rtl="0" eaLnBrk="1" latinLnBrk="0" hangingPunct="1">
                        <a:defRPr sz="3600" b="1" kern="1200">
                          <a:solidFill>
                            <a:schemeClr val="lt1"/>
                          </a:solidFill>
                          <a:latin typeface="Arial"/>
                        </a:defRPr>
                      </a:lvl9pPr>
                    </a:lstStyle>
                    <a:p>
                      <a:pPr marL="259079">
                        <a:lnSpc>
                          <a:spcPts val="2280"/>
                        </a:lnSpc>
                      </a:pPr>
                      <a:r>
                        <a:rPr lang="en-US" sz="2000" kern="0" spc="-38" dirty="0">
                          <a:solidFill>
                            <a:schemeClr val="tx1"/>
                          </a:solidFill>
                        </a:rPr>
                        <a:t>RATING</a:t>
                      </a:r>
                      <a:endParaRPr sz="2000" dirty="0">
                        <a:solidFill>
                          <a:schemeClr val="tx1"/>
                        </a:solidFill>
                        <a:latin typeface="Trebuchet MS"/>
                        <a:cs typeface="Trebuchet MS"/>
                      </a:endParaRPr>
                    </a:p>
                  </a:txBody>
                  <a:tcPr marL="0" marR="0" marT="0"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solidFill>
                  </a:tcPr>
                </a:tc>
                <a:tc>
                  <a:txBody>
                    <a:bodyPr/>
                    <a:lstStyle>
                      <a:lvl1pPr marL="0" algn="l" defTabSz="1828800" rtl="0" eaLnBrk="1" latinLnBrk="0" hangingPunct="1">
                        <a:defRPr sz="3600" b="1" kern="1200">
                          <a:solidFill>
                            <a:schemeClr val="lt1"/>
                          </a:solidFill>
                          <a:latin typeface="Arial"/>
                        </a:defRPr>
                      </a:lvl1pPr>
                      <a:lvl2pPr marL="914400" algn="l" defTabSz="1828800" rtl="0" eaLnBrk="1" latinLnBrk="0" hangingPunct="1">
                        <a:defRPr sz="3600" b="1" kern="1200">
                          <a:solidFill>
                            <a:schemeClr val="lt1"/>
                          </a:solidFill>
                          <a:latin typeface="Arial"/>
                        </a:defRPr>
                      </a:lvl2pPr>
                      <a:lvl3pPr marL="1828800" algn="l" defTabSz="1828800" rtl="0" eaLnBrk="1" latinLnBrk="0" hangingPunct="1">
                        <a:defRPr sz="3600" b="1" kern="1200">
                          <a:solidFill>
                            <a:schemeClr val="lt1"/>
                          </a:solidFill>
                          <a:latin typeface="Arial"/>
                        </a:defRPr>
                      </a:lvl3pPr>
                      <a:lvl4pPr marL="2743200" algn="l" defTabSz="1828800" rtl="0" eaLnBrk="1" latinLnBrk="0" hangingPunct="1">
                        <a:defRPr sz="3600" b="1" kern="1200">
                          <a:solidFill>
                            <a:schemeClr val="lt1"/>
                          </a:solidFill>
                          <a:latin typeface="Arial"/>
                        </a:defRPr>
                      </a:lvl4pPr>
                      <a:lvl5pPr marL="3657600" algn="l" defTabSz="1828800" rtl="0" eaLnBrk="1" latinLnBrk="0" hangingPunct="1">
                        <a:defRPr sz="3600" b="1" kern="1200">
                          <a:solidFill>
                            <a:schemeClr val="lt1"/>
                          </a:solidFill>
                          <a:latin typeface="Arial"/>
                        </a:defRPr>
                      </a:lvl5pPr>
                      <a:lvl6pPr marL="4572000" algn="l" defTabSz="1828800" rtl="0" eaLnBrk="1" latinLnBrk="0" hangingPunct="1">
                        <a:defRPr sz="3600" b="1" kern="1200">
                          <a:solidFill>
                            <a:schemeClr val="lt1"/>
                          </a:solidFill>
                          <a:latin typeface="Arial"/>
                        </a:defRPr>
                      </a:lvl6pPr>
                      <a:lvl7pPr marL="5486400" algn="l" defTabSz="1828800" rtl="0" eaLnBrk="1" latinLnBrk="0" hangingPunct="1">
                        <a:defRPr sz="3600" b="1" kern="1200">
                          <a:solidFill>
                            <a:schemeClr val="lt1"/>
                          </a:solidFill>
                          <a:latin typeface="Arial"/>
                        </a:defRPr>
                      </a:lvl7pPr>
                      <a:lvl8pPr marL="6400800" algn="l" defTabSz="1828800" rtl="0" eaLnBrk="1" latinLnBrk="0" hangingPunct="1">
                        <a:defRPr sz="3600" b="1" kern="1200">
                          <a:solidFill>
                            <a:schemeClr val="lt1"/>
                          </a:solidFill>
                          <a:latin typeface="Arial"/>
                        </a:defRPr>
                      </a:lvl8pPr>
                      <a:lvl9pPr marL="7315200" algn="l" defTabSz="1828800" rtl="0" eaLnBrk="1" latinLnBrk="0" hangingPunct="1">
                        <a:defRPr sz="3600" b="1" kern="1200">
                          <a:solidFill>
                            <a:schemeClr val="lt1"/>
                          </a:solidFill>
                          <a:latin typeface="Arial"/>
                        </a:defRPr>
                      </a:lvl9pPr>
                    </a:lstStyle>
                    <a:p>
                      <a:pPr marR="24130" algn="r">
                        <a:lnSpc>
                          <a:spcPts val="2280"/>
                        </a:lnSpc>
                      </a:pPr>
                      <a:r>
                        <a:rPr lang="en-US" sz="2000" kern="0" spc="-38" dirty="0">
                          <a:solidFill>
                            <a:schemeClr val="tx1"/>
                          </a:solidFill>
                        </a:rPr>
                        <a:t>TIMESTAMP</a:t>
                      </a:r>
                      <a:endParaRPr sz="2000" dirty="0">
                        <a:solidFill>
                          <a:schemeClr val="tx1"/>
                        </a:solidFill>
                        <a:latin typeface="Trebuchet MS"/>
                        <a:cs typeface="Trebuchet MS"/>
                      </a:endParaRPr>
                    </a:p>
                  </a:txBody>
                  <a:tcPr marL="0" marR="0" marT="0"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solidFill>
                  </a:tcPr>
                </a:tc>
                <a:extLst>
                  <a:ext uri="{0D108BD9-81ED-4DB2-BD59-A6C34878D82A}">
                    <a16:rowId xmlns:a16="http://schemas.microsoft.com/office/drawing/2014/main" val="343352298"/>
                  </a:ext>
                </a:extLst>
              </a:tr>
              <a:tr h="54959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ts val="2280"/>
                        </a:lnSpc>
                      </a:pPr>
                      <a:r>
                        <a:rPr sz="3000" spc="-15" dirty="0"/>
                        <a:t>196</a:t>
                      </a:r>
                      <a:endParaRPr sz="3000" dirty="0">
                        <a:latin typeface="Trebuchet MS"/>
                        <a:cs typeface="Trebuchet MS"/>
                      </a:endParaRPr>
                    </a:p>
                  </a:txBody>
                  <a:tcPr marL="0" marR="0" marT="0"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ts val="2280"/>
                        </a:lnSpc>
                      </a:pPr>
                      <a:r>
                        <a:rPr sz="3000" spc="-15" dirty="0"/>
                        <a:t>242</a:t>
                      </a:r>
                      <a:endParaRPr sz="3000" dirty="0">
                        <a:latin typeface="Trebuchet MS"/>
                        <a:cs typeface="Trebuchet MS"/>
                      </a:endParaRPr>
                    </a:p>
                  </a:txBody>
                  <a:tcPr marL="0" marR="0" marT="0"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ts val="2280"/>
                        </a:lnSpc>
                      </a:pPr>
                      <a:r>
                        <a:rPr sz="3000" dirty="0"/>
                        <a:t>3</a:t>
                      </a:r>
                      <a:endParaRPr sz="3000" dirty="0">
                        <a:latin typeface="Trebuchet MS"/>
                        <a:cs typeface="Trebuchet MS"/>
                      </a:endParaRPr>
                    </a:p>
                  </a:txBody>
                  <a:tcPr marL="0" marR="0" marT="0"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ts val="2280"/>
                        </a:lnSpc>
                      </a:pPr>
                      <a:r>
                        <a:rPr sz="3000" spc="-15" dirty="0"/>
                        <a:t>881250949</a:t>
                      </a:r>
                      <a:endParaRPr sz="3000" dirty="0">
                        <a:latin typeface="Trebuchet MS"/>
                        <a:cs typeface="Trebuchet MS"/>
                      </a:endParaRPr>
                    </a:p>
                  </a:txBody>
                  <a:tcPr marL="0" marR="0" marT="0"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extLst>
                  <a:ext uri="{0D108BD9-81ED-4DB2-BD59-A6C34878D82A}">
                    <a16:rowId xmlns:a16="http://schemas.microsoft.com/office/drawing/2014/main" val="10000"/>
                  </a:ext>
                </a:extLst>
              </a:tr>
              <a:tr h="65722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34"/>
                        </a:spcBef>
                      </a:pPr>
                      <a:r>
                        <a:rPr sz="3000" spc="-10" dirty="0"/>
                        <a:t>186</a:t>
                      </a:r>
                      <a:endParaRPr sz="3000" dirty="0">
                        <a:latin typeface="Trebuchet MS"/>
                        <a:cs typeface="Trebuchet MS"/>
                      </a:endParaRPr>
                    </a:p>
                  </a:txBody>
                  <a:tcPr marL="0" marR="0" marT="82866"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34"/>
                        </a:spcBef>
                      </a:pPr>
                      <a:r>
                        <a:rPr sz="3000" spc="-10" dirty="0"/>
                        <a:t>302</a:t>
                      </a:r>
                      <a:endParaRPr sz="3000" dirty="0">
                        <a:latin typeface="Trebuchet MS"/>
                        <a:cs typeface="Trebuchet MS"/>
                      </a:endParaRPr>
                    </a:p>
                  </a:txBody>
                  <a:tcPr marL="0" marR="0" marT="82866"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34"/>
                        </a:spcBef>
                      </a:pPr>
                      <a:r>
                        <a:rPr sz="3000" dirty="0"/>
                        <a:t>3</a:t>
                      </a:r>
                      <a:endParaRPr sz="3000" dirty="0">
                        <a:latin typeface="Trebuchet MS"/>
                        <a:cs typeface="Trebuchet MS"/>
                      </a:endParaRPr>
                    </a:p>
                  </a:txBody>
                  <a:tcPr marL="0" marR="0" marT="82866"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34"/>
                        </a:spcBef>
                      </a:pPr>
                      <a:r>
                        <a:rPr sz="3000" spc="-10" dirty="0"/>
                        <a:t>891717742</a:t>
                      </a:r>
                      <a:endParaRPr sz="3000" dirty="0">
                        <a:latin typeface="Trebuchet MS"/>
                        <a:cs typeface="Trebuchet MS"/>
                      </a:endParaRPr>
                    </a:p>
                  </a:txBody>
                  <a:tcPr marL="0" marR="0" marT="82866"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65913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45"/>
                        </a:spcBef>
                      </a:pPr>
                      <a:r>
                        <a:rPr sz="3000" spc="-15" dirty="0"/>
                        <a:t>196</a:t>
                      </a:r>
                      <a:endParaRPr sz="3000" dirty="0">
                        <a:latin typeface="Trebuchet MS"/>
                        <a:cs typeface="Trebuchet MS"/>
                      </a:endParaRPr>
                    </a:p>
                  </a:txBody>
                  <a:tcPr marL="0" marR="0" marT="84773"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3000" spc="-15" dirty="0"/>
                        <a:t>377</a:t>
                      </a:r>
                      <a:endParaRPr sz="30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3000" dirty="0"/>
                        <a:t>1</a:t>
                      </a:r>
                      <a:endParaRPr sz="30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45"/>
                        </a:spcBef>
                      </a:pPr>
                      <a:r>
                        <a:rPr sz="3000" spc="-15" dirty="0"/>
                        <a:t>878887116</a:t>
                      </a:r>
                      <a:endParaRPr sz="3000" dirty="0">
                        <a:latin typeface="Trebuchet MS"/>
                        <a:cs typeface="Trebuchet MS"/>
                      </a:endParaRPr>
                    </a:p>
                  </a:txBody>
                  <a:tcPr marL="0" marR="0" marT="84773"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extLst>
                  <a:ext uri="{0D108BD9-81ED-4DB2-BD59-A6C34878D82A}">
                    <a16:rowId xmlns:a16="http://schemas.microsoft.com/office/drawing/2014/main" val="10002"/>
                  </a:ext>
                </a:extLst>
              </a:tr>
              <a:tr h="65913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45"/>
                        </a:spcBef>
                      </a:pPr>
                      <a:r>
                        <a:rPr sz="3000" spc="-10" dirty="0"/>
                        <a:t>244</a:t>
                      </a:r>
                      <a:endParaRPr sz="3000" dirty="0">
                        <a:latin typeface="Trebuchet MS"/>
                        <a:cs typeface="Trebuchet MS"/>
                      </a:endParaRPr>
                    </a:p>
                  </a:txBody>
                  <a:tcPr marL="0" marR="0" marT="84773"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3000" spc="-10" dirty="0"/>
                        <a:t>51</a:t>
                      </a:r>
                      <a:endParaRPr sz="30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3000" dirty="0"/>
                        <a:t>2</a:t>
                      </a:r>
                      <a:endParaRPr sz="30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45"/>
                        </a:spcBef>
                      </a:pPr>
                      <a:r>
                        <a:rPr sz="3000" spc="-10" dirty="0"/>
                        <a:t>880606923</a:t>
                      </a:r>
                      <a:endParaRPr sz="3000" dirty="0">
                        <a:latin typeface="Trebuchet MS"/>
                        <a:cs typeface="Trebuchet MS"/>
                      </a:endParaRPr>
                    </a:p>
                  </a:txBody>
                  <a:tcPr marL="0" marR="0" marT="84773"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65913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45"/>
                        </a:spcBef>
                      </a:pPr>
                      <a:r>
                        <a:rPr sz="3000" spc="-15" dirty="0"/>
                        <a:t>166</a:t>
                      </a:r>
                      <a:endParaRPr sz="3000" dirty="0">
                        <a:latin typeface="Trebuchet MS"/>
                        <a:cs typeface="Trebuchet MS"/>
                      </a:endParaRPr>
                    </a:p>
                  </a:txBody>
                  <a:tcPr marL="0" marR="0" marT="84773"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3000" spc="-15" dirty="0"/>
                        <a:t>346</a:t>
                      </a:r>
                      <a:endParaRPr sz="30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3000" dirty="0"/>
                        <a:t>1</a:t>
                      </a:r>
                      <a:endParaRPr sz="30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45"/>
                        </a:spcBef>
                      </a:pPr>
                      <a:r>
                        <a:rPr sz="3000" spc="-15" dirty="0"/>
                        <a:t>886397596</a:t>
                      </a:r>
                      <a:endParaRPr sz="3000" dirty="0">
                        <a:latin typeface="Trebuchet MS"/>
                        <a:cs typeface="Trebuchet MS"/>
                      </a:endParaRPr>
                    </a:p>
                  </a:txBody>
                  <a:tcPr marL="0" marR="0" marT="84773"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extLst>
                  <a:ext uri="{0D108BD9-81ED-4DB2-BD59-A6C34878D82A}">
                    <a16:rowId xmlns:a16="http://schemas.microsoft.com/office/drawing/2014/main" val="10004"/>
                  </a:ext>
                </a:extLst>
              </a:tr>
              <a:tr h="65627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45"/>
                        </a:spcBef>
                      </a:pPr>
                      <a:r>
                        <a:rPr sz="3000" spc="-10" dirty="0"/>
                        <a:t>186</a:t>
                      </a:r>
                      <a:endParaRPr sz="3000" dirty="0">
                        <a:latin typeface="Trebuchet MS"/>
                        <a:cs typeface="Trebuchet MS"/>
                      </a:endParaRPr>
                    </a:p>
                  </a:txBody>
                  <a:tcPr marL="0" marR="0" marT="84773"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3000" spc="-10" dirty="0"/>
                        <a:t>474</a:t>
                      </a:r>
                      <a:endParaRPr sz="30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3000" dirty="0"/>
                        <a:t>4</a:t>
                      </a:r>
                      <a:endParaRPr sz="30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45"/>
                        </a:spcBef>
                      </a:pPr>
                      <a:r>
                        <a:rPr sz="3000" spc="-10" dirty="0"/>
                        <a:t>884182806</a:t>
                      </a:r>
                      <a:endParaRPr sz="3000" dirty="0">
                        <a:latin typeface="Trebuchet MS"/>
                        <a:cs typeface="Trebuchet MS"/>
                      </a:endParaRPr>
                    </a:p>
                  </a:txBody>
                  <a:tcPr marL="0" marR="0" marT="84773"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5486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ts val="2345"/>
                        </a:lnSpc>
                        <a:spcBef>
                          <a:spcPts val="434"/>
                        </a:spcBef>
                      </a:pPr>
                      <a:r>
                        <a:rPr sz="3000" spc="-15" dirty="0"/>
                        <a:t>186</a:t>
                      </a:r>
                      <a:endParaRPr sz="3000" dirty="0">
                        <a:latin typeface="Trebuchet MS"/>
                        <a:cs typeface="Trebuchet MS"/>
                      </a:endParaRPr>
                    </a:p>
                  </a:txBody>
                  <a:tcPr marL="0" marR="0" marT="82866"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ts val="2345"/>
                        </a:lnSpc>
                        <a:spcBef>
                          <a:spcPts val="434"/>
                        </a:spcBef>
                      </a:pPr>
                      <a:r>
                        <a:rPr sz="3000" spc="-15" dirty="0"/>
                        <a:t>265</a:t>
                      </a:r>
                      <a:endParaRPr sz="3000" dirty="0">
                        <a:latin typeface="Trebuchet MS"/>
                        <a:cs typeface="Trebuchet MS"/>
                      </a:endParaRPr>
                    </a:p>
                  </a:txBody>
                  <a:tcPr marL="0" marR="0" marT="82866"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ts val="2345"/>
                        </a:lnSpc>
                        <a:spcBef>
                          <a:spcPts val="434"/>
                        </a:spcBef>
                      </a:pPr>
                      <a:r>
                        <a:rPr sz="3000" dirty="0"/>
                        <a:t>2</a:t>
                      </a:r>
                      <a:endParaRPr sz="3000" dirty="0">
                        <a:latin typeface="Trebuchet MS"/>
                        <a:cs typeface="Trebuchet MS"/>
                      </a:endParaRPr>
                    </a:p>
                  </a:txBody>
                  <a:tcPr marL="0" marR="0" marT="82866"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ts val="2345"/>
                        </a:lnSpc>
                        <a:spcBef>
                          <a:spcPts val="434"/>
                        </a:spcBef>
                      </a:pPr>
                      <a:r>
                        <a:rPr sz="3000" spc="-15" dirty="0"/>
                        <a:t>881171488</a:t>
                      </a:r>
                      <a:endParaRPr sz="3000" dirty="0">
                        <a:latin typeface="Trebuchet MS"/>
                        <a:cs typeface="Trebuchet MS"/>
                      </a:endParaRPr>
                    </a:p>
                  </a:txBody>
                  <a:tcPr marL="0" marR="0" marT="82866"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extLst>
                  <a:ext uri="{0D108BD9-81ED-4DB2-BD59-A6C34878D82A}">
                    <a16:rowId xmlns:a16="http://schemas.microsoft.com/office/drawing/2014/main" val="10006"/>
                  </a:ext>
                </a:extLst>
              </a:tr>
            </a:tbl>
          </a:graphicData>
        </a:graphic>
      </p:graphicFrame>
      <p:sp>
        <p:nvSpPr>
          <p:cNvPr id="4" name="Rectangular Callout 3">
            <a:extLst>
              <a:ext uri="{FF2B5EF4-FFF2-40B4-BE49-F238E27FC236}">
                <a16:creationId xmlns:a16="http://schemas.microsoft.com/office/drawing/2014/main" id="{BCF9A5C6-C0BE-47F8-5499-7509F46E3610}"/>
              </a:ext>
            </a:extLst>
          </p:cNvPr>
          <p:cNvSpPr/>
          <p:nvPr/>
        </p:nvSpPr>
        <p:spPr>
          <a:xfrm>
            <a:off x="12521949" y="3729789"/>
            <a:ext cx="2949879" cy="931643"/>
          </a:xfrm>
          <a:prstGeom prst="wedgeRectCallout">
            <a:avLst>
              <a:gd name="adj1" fmla="val -153287"/>
              <a:gd name="adj2" fmla="val 44923"/>
            </a:avLst>
          </a:prstGeom>
          <a:solidFill>
            <a:srgbClr val="93A299"/>
          </a:solidFill>
          <a:ln w="26425" cap="flat" cmpd="sng" algn="ctr">
            <a:solidFill>
              <a:srgbClr val="93A299">
                <a:shade val="50000"/>
              </a:srgbClr>
            </a:solidFill>
            <a:prstDash val="solid"/>
          </a:ln>
          <a:effectLst/>
        </p:spPr>
        <p:txBody>
          <a:bodyPr rtlCol="0" anchor="ctr"/>
          <a:lstStyle/>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effectLst/>
                <a:uLnTx/>
                <a:uFillTx/>
                <a:latin typeface="Arial"/>
                <a:ea typeface="+mn-ea"/>
                <a:cs typeface="+mn-cs"/>
              </a:rPr>
              <a:t>Movie rating:</a:t>
            </a:r>
          </a:p>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effectLst/>
                <a:uLnTx/>
                <a:uFillTx/>
                <a:latin typeface="Arial"/>
                <a:ea typeface="+mn-ea"/>
                <a:cs typeface="+mn-cs"/>
              </a:rPr>
              <a:t>1 to 5 stars</a:t>
            </a:r>
          </a:p>
        </p:txBody>
      </p:sp>
      <p:sp>
        <p:nvSpPr>
          <p:cNvPr id="6" name="Rectangle 5">
            <a:extLst>
              <a:ext uri="{FF2B5EF4-FFF2-40B4-BE49-F238E27FC236}">
                <a16:creationId xmlns:a16="http://schemas.microsoft.com/office/drawing/2014/main" id="{2E6141E3-54C5-95CC-1553-3C11F7AF17AD}"/>
              </a:ext>
            </a:extLst>
          </p:cNvPr>
          <p:cNvSpPr/>
          <p:nvPr/>
        </p:nvSpPr>
        <p:spPr>
          <a:xfrm>
            <a:off x="2800350" y="5448071"/>
            <a:ext cx="1981200" cy="2324100"/>
          </a:xfrm>
          <a:prstGeom prst="rect">
            <a:avLst/>
          </a:prstGeom>
          <a:solidFill>
            <a:srgbClr val="93A299"/>
          </a:solidFill>
          <a:ln w="26425" cap="flat" cmpd="sng" algn="ctr">
            <a:solidFill>
              <a:srgbClr val="93A299">
                <a:shade val="50000"/>
              </a:srgbClr>
            </a:solidFill>
            <a:prstDash val="solid"/>
          </a:ln>
          <a:effectLst/>
        </p:spPr>
        <p:txBody>
          <a:bodyPr rtlCol="0" anchor="ctr"/>
          <a:lstStyle/>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700" b="0" i="0" u="none" strike="noStrike" kern="0" cap="none" spc="0" normalizeH="0" baseline="0" noProof="0" dirty="0">
                <a:ln>
                  <a:noFill/>
                </a:ln>
                <a:effectLst/>
                <a:uLnTx/>
                <a:uFillTx/>
                <a:latin typeface="Arial"/>
                <a:ea typeface="+mn-ea"/>
                <a:cs typeface="+mn-cs"/>
              </a:rPr>
              <a:t>For instance, rating “3” occurs 2 times</a:t>
            </a:r>
          </a:p>
        </p:txBody>
      </p:sp>
      <p:cxnSp>
        <p:nvCxnSpPr>
          <p:cNvPr id="7" name="Straight Arrow Connector 6">
            <a:extLst>
              <a:ext uri="{FF2B5EF4-FFF2-40B4-BE49-F238E27FC236}">
                <a16:creationId xmlns:a16="http://schemas.microsoft.com/office/drawing/2014/main" id="{5E11673A-FAA6-8EA9-B289-AA6B4BC14E8C}"/>
              </a:ext>
            </a:extLst>
          </p:cNvPr>
          <p:cNvCxnSpPr>
            <a:cxnSpLocks/>
            <a:stCxn id="6" idx="3"/>
          </p:cNvCxnSpPr>
          <p:nvPr/>
        </p:nvCxnSpPr>
        <p:spPr>
          <a:xfrm flipV="1">
            <a:off x="4781550" y="5448071"/>
            <a:ext cx="4076700" cy="1162050"/>
          </a:xfrm>
          <a:prstGeom prst="straightConnector1">
            <a:avLst/>
          </a:prstGeom>
          <a:noFill/>
          <a:ln w="38100" cap="flat" cmpd="sng" algn="ctr">
            <a:solidFill>
              <a:srgbClr val="93A299"/>
            </a:solidFill>
            <a:prstDash val="solid"/>
            <a:tailEnd type="triangle"/>
          </a:ln>
          <a:effectLst/>
        </p:spPr>
      </p:cxnSp>
      <p:cxnSp>
        <p:nvCxnSpPr>
          <p:cNvPr id="8" name="Straight Arrow Connector 7">
            <a:extLst>
              <a:ext uri="{FF2B5EF4-FFF2-40B4-BE49-F238E27FC236}">
                <a16:creationId xmlns:a16="http://schemas.microsoft.com/office/drawing/2014/main" id="{2840F3AA-17DC-06C9-19D8-2AD56297C4C4}"/>
              </a:ext>
            </a:extLst>
          </p:cNvPr>
          <p:cNvCxnSpPr>
            <a:cxnSpLocks/>
            <a:stCxn id="6" idx="3"/>
          </p:cNvCxnSpPr>
          <p:nvPr/>
        </p:nvCxnSpPr>
        <p:spPr>
          <a:xfrm flipV="1">
            <a:off x="4781550" y="6153150"/>
            <a:ext cx="4076700" cy="456971"/>
          </a:xfrm>
          <a:prstGeom prst="straightConnector1">
            <a:avLst/>
          </a:prstGeom>
          <a:noFill/>
          <a:ln w="38100" cap="flat" cmpd="sng" algn="ctr">
            <a:solidFill>
              <a:srgbClr val="93A299"/>
            </a:solidFill>
            <a:prstDash val="solid"/>
            <a:tailEnd type="triangle"/>
          </a:ln>
          <a:effectLst/>
        </p:spPr>
      </p:cxnSp>
      <p:sp>
        <p:nvSpPr>
          <p:cNvPr id="9" name="Rectangle 8">
            <a:extLst>
              <a:ext uri="{FF2B5EF4-FFF2-40B4-BE49-F238E27FC236}">
                <a16:creationId xmlns:a16="http://schemas.microsoft.com/office/drawing/2014/main" id="{D72AC4A0-9F59-D2B0-438E-E158FEF5926B}"/>
              </a:ext>
            </a:extLst>
          </p:cNvPr>
          <p:cNvSpPr/>
          <p:nvPr/>
        </p:nvSpPr>
        <p:spPr>
          <a:xfrm>
            <a:off x="1232453" y="25222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800" b="1" dirty="0">
                <a:solidFill>
                  <a:schemeClr val="bg2"/>
                </a:solidFill>
              </a:rPr>
              <a:t>How many of each movie rating exist?</a:t>
            </a:r>
          </a:p>
          <a:p>
            <a:pPr marL="0" indent="0" algn="ctr">
              <a:buNone/>
            </a:pPr>
            <a:r>
              <a:rPr lang="en-US" sz="2800" dirty="0">
                <a:solidFill>
                  <a:schemeClr val="bg2"/>
                </a:solidFill>
              </a:rPr>
              <a:t>That is, how many times does the rating 1, 2, 3, 4, and 5 appear in the data set</a:t>
            </a:r>
          </a:p>
        </p:txBody>
      </p:sp>
      <p:sp>
        <p:nvSpPr>
          <p:cNvPr id="10" name="Rectangle 9">
            <a:extLst>
              <a:ext uri="{FF2B5EF4-FFF2-40B4-BE49-F238E27FC236}">
                <a16:creationId xmlns:a16="http://schemas.microsoft.com/office/drawing/2014/main" id="{C684E6BA-EE99-6700-D194-A6CFE74FADF2}"/>
              </a:ext>
            </a:extLst>
          </p:cNvPr>
          <p:cNvSpPr/>
          <p:nvPr/>
        </p:nvSpPr>
        <p:spPr>
          <a:xfrm>
            <a:off x="-1" y="25222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Tree>
    <p:extLst>
      <p:ext uri="{BB962C8B-B14F-4D97-AF65-F5344CB8AC3E}">
        <p14:creationId xmlns:p14="http://schemas.microsoft.com/office/powerpoint/2010/main" val="41051147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DA487-52EA-84E9-34E0-6925D16AD83F}"/>
              </a:ext>
            </a:extLst>
          </p:cNvPr>
          <p:cNvSpPr>
            <a:spLocks noGrp="1"/>
          </p:cNvSpPr>
          <p:nvPr>
            <p:ph type="title"/>
          </p:nvPr>
        </p:nvSpPr>
        <p:spPr/>
        <p:txBody>
          <a:bodyPr/>
          <a:lstStyle/>
          <a:p>
            <a:r>
              <a:rPr lang="en-US" dirty="0"/>
              <a:t>Movie Rating Count Using MrJob </a:t>
            </a:r>
            <a:br>
              <a:rPr lang="en-US" dirty="0"/>
            </a:br>
            <a:r>
              <a:rPr lang="en-US" spc="-8" dirty="0"/>
              <a:t>Map Phase</a:t>
            </a:r>
            <a:endParaRPr lang="en-US" dirty="0"/>
          </a:p>
        </p:txBody>
      </p:sp>
      <p:sp>
        <p:nvSpPr>
          <p:cNvPr id="3" name="object 6">
            <a:extLst>
              <a:ext uri="{FF2B5EF4-FFF2-40B4-BE49-F238E27FC236}">
                <a16:creationId xmlns:a16="http://schemas.microsoft.com/office/drawing/2014/main" id="{B5199C6C-6AEC-4817-5AFE-7E49B2282263}"/>
              </a:ext>
            </a:extLst>
          </p:cNvPr>
          <p:cNvSpPr/>
          <p:nvPr/>
        </p:nvSpPr>
        <p:spPr>
          <a:xfrm>
            <a:off x="7786956" y="6526085"/>
            <a:ext cx="3089909" cy="662939"/>
          </a:xfrm>
          <a:custGeom>
            <a:avLst/>
            <a:gdLst/>
            <a:ahLst/>
            <a:cxnLst/>
            <a:rect l="l" t="t" r="r" b="b"/>
            <a:pathLst>
              <a:path w="2059939" h="441960">
                <a:moveTo>
                  <a:pt x="1986279" y="0"/>
                </a:moveTo>
                <a:lnTo>
                  <a:pt x="73660" y="0"/>
                </a:lnTo>
                <a:lnTo>
                  <a:pt x="45005" y="5794"/>
                </a:lnTo>
                <a:lnTo>
                  <a:pt x="21590" y="21589"/>
                </a:lnTo>
                <a:lnTo>
                  <a:pt x="5794" y="45005"/>
                </a:lnTo>
                <a:lnTo>
                  <a:pt x="0" y="73659"/>
                </a:lnTo>
                <a:lnTo>
                  <a:pt x="0" y="368299"/>
                </a:lnTo>
                <a:lnTo>
                  <a:pt x="5794" y="396954"/>
                </a:lnTo>
                <a:lnTo>
                  <a:pt x="21590" y="420369"/>
                </a:lnTo>
                <a:lnTo>
                  <a:pt x="45005" y="436165"/>
                </a:lnTo>
                <a:lnTo>
                  <a:pt x="73660" y="441959"/>
                </a:lnTo>
                <a:lnTo>
                  <a:pt x="1986279" y="441959"/>
                </a:lnTo>
                <a:lnTo>
                  <a:pt x="2014934" y="436165"/>
                </a:lnTo>
                <a:lnTo>
                  <a:pt x="2038350" y="420369"/>
                </a:lnTo>
                <a:lnTo>
                  <a:pt x="2054145" y="396954"/>
                </a:lnTo>
                <a:lnTo>
                  <a:pt x="2059939" y="368299"/>
                </a:lnTo>
                <a:lnTo>
                  <a:pt x="2059939" y="73659"/>
                </a:lnTo>
                <a:lnTo>
                  <a:pt x="2054145" y="45005"/>
                </a:lnTo>
                <a:lnTo>
                  <a:pt x="2038350" y="21589"/>
                </a:lnTo>
                <a:lnTo>
                  <a:pt x="2014934" y="5794"/>
                </a:lnTo>
                <a:lnTo>
                  <a:pt x="1986279" y="0"/>
                </a:lnTo>
                <a:close/>
              </a:path>
            </a:pathLst>
          </a:custGeom>
          <a:solidFill>
            <a:srgbClr val="F3C72D"/>
          </a:solidFill>
        </p:spPr>
        <p:txBody>
          <a:bodyPr wrap="square" lIns="0" tIns="0" rIns="0" bIns="0" rtlCol="0"/>
          <a:lstStyle/>
          <a:p>
            <a:pPr defTabSz="1371600" fontAlgn="auto">
              <a:spcBef>
                <a:spcPts val="0"/>
              </a:spcBef>
              <a:spcAft>
                <a:spcPts val="0"/>
              </a:spcAft>
            </a:pPr>
            <a:endParaRPr sz="2700" dirty="0">
              <a:solidFill>
                <a:srgbClr val="292934"/>
              </a:solidFill>
              <a:latin typeface="Arial"/>
            </a:endParaRPr>
          </a:p>
        </p:txBody>
      </p:sp>
      <p:sp>
        <p:nvSpPr>
          <p:cNvPr id="4" name="object 7">
            <a:extLst>
              <a:ext uri="{FF2B5EF4-FFF2-40B4-BE49-F238E27FC236}">
                <a16:creationId xmlns:a16="http://schemas.microsoft.com/office/drawing/2014/main" id="{198A5A1F-A9DE-249A-B9B9-5B07A40BB31D}"/>
              </a:ext>
            </a:extLst>
          </p:cNvPr>
          <p:cNvSpPr/>
          <p:nvPr/>
        </p:nvSpPr>
        <p:spPr>
          <a:xfrm>
            <a:off x="7787110" y="6526085"/>
            <a:ext cx="3089909" cy="662939"/>
          </a:xfrm>
          <a:custGeom>
            <a:avLst/>
            <a:gdLst/>
            <a:ahLst/>
            <a:cxnLst/>
            <a:rect l="l" t="t" r="r" b="b"/>
            <a:pathLst>
              <a:path w="2059939" h="441960">
                <a:moveTo>
                  <a:pt x="1986176" y="0"/>
                </a:moveTo>
                <a:lnTo>
                  <a:pt x="73556" y="0"/>
                </a:lnTo>
                <a:lnTo>
                  <a:pt x="66063" y="380"/>
                </a:lnTo>
                <a:lnTo>
                  <a:pt x="21486" y="21589"/>
                </a:lnTo>
                <a:lnTo>
                  <a:pt x="1420" y="58800"/>
                </a:lnTo>
                <a:lnTo>
                  <a:pt x="0" y="71627"/>
                </a:lnTo>
                <a:lnTo>
                  <a:pt x="4" y="370458"/>
                </a:lnTo>
                <a:lnTo>
                  <a:pt x="12469" y="409447"/>
                </a:lnTo>
                <a:lnTo>
                  <a:pt x="44854" y="436117"/>
                </a:lnTo>
                <a:lnTo>
                  <a:pt x="73556" y="441959"/>
                </a:lnTo>
                <a:lnTo>
                  <a:pt x="1986176" y="441959"/>
                </a:lnTo>
                <a:lnTo>
                  <a:pt x="2027451" y="429386"/>
                </a:lnTo>
                <a:lnTo>
                  <a:pt x="2049089" y="406526"/>
                </a:lnTo>
                <a:lnTo>
                  <a:pt x="73556" y="406399"/>
                </a:lnTo>
                <a:lnTo>
                  <a:pt x="67841" y="406145"/>
                </a:lnTo>
                <a:lnTo>
                  <a:pt x="49786" y="398017"/>
                </a:lnTo>
                <a:lnTo>
                  <a:pt x="49045" y="398017"/>
                </a:lnTo>
                <a:lnTo>
                  <a:pt x="43965" y="392937"/>
                </a:lnTo>
                <a:lnTo>
                  <a:pt x="44899" y="392937"/>
                </a:lnTo>
                <a:lnTo>
                  <a:pt x="40028" y="386968"/>
                </a:lnTo>
                <a:lnTo>
                  <a:pt x="35456" y="370458"/>
                </a:lnTo>
                <a:lnTo>
                  <a:pt x="35456" y="73659"/>
                </a:lnTo>
                <a:lnTo>
                  <a:pt x="44519" y="49148"/>
                </a:lnTo>
                <a:lnTo>
                  <a:pt x="43965" y="49148"/>
                </a:lnTo>
                <a:lnTo>
                  <a:pt x="49045" y="44068"/>
                </a:lnTo>
                <a:lnTo>
                  <a:pt x="50118" y="44068"/>
                </a:lnTo>
                <a:lnTo>
                  <a:pt x="54887" y="40131"/>
                </a:lnTo>
                <a:lnTo>
                  <a:pt x="71524" y="35559"/>
                </a:lnTo>
                <a:lnTo>
                  <a:pt x="2049168" y="35559"/>
                </a:lnTo>
                <a:lnTo>
                  <a:pt x="2047263" y="32511"/>
                </a:lnTo>
                <a:lnTo>
                  <a:pt x="2014878" y="5841"/>
                </a:lnTo>
                <a:lnTo>
                  <a:pt x="1993669" y="380"/>
                </a:lnTo>
                <a:lnTo>
                  <a:pt x="1986176" y="0"/>
                </a:lnTo>
                <a:close/>
              </a:path>
              <a:path w="2059939" h="441960">
                <a:moveTo>
                  <a:pt x="2013662" y="394754"/>
                </a:moveTo>
                <a:lnTo>
                  <a:pt x="2004972" y="401827"/>
                </a:lnTo>
                <a:lnTo>
                  <a:pt x="2002813" y="402716"/>
                </a:lnTo>
                <a:lnTo>
                  <a:pt x="1999638" y="404113"/>
                </a:lnTo>
                <a:lnTo>
                  <a:pt x="1995955" y="405256"/>
                </a:lnTo>
                <a:lnTo>
                  <a:pt x="1992145" y="406018"/>
                </a:lnTo>
                <a:lnTo>
                  <a:pt x="1988208" y="406526"/>
                </a:lnTo>
                <a:lnTo>
                  <a:pt x="2049089" y="406526"/>
                </a:lnTo>
                <a:lnTo>
                  <a:pt x="2051073" y="403351"/>
                </a:lnTo>
                <a:lnTo>
                  <a:pt x="2053633" y="398017"/>
                </a:lnTo>
                <a:lnTo>
                  <a:pt x="2010814" y="398017"/>
                </a:lnTo>
                <a:lnTo>
                  <a:pt x="2013662" y="394754"/>
                </a:lnTo>
                <a:close/>
              </a:path>
              <a:path w="2059939" h="441960">
                <a:moveTo>
                  <a:pt x="43965" y="392937"/>
                </a:moveTo>
                <a:lnTo>
                  <a:pt x="49045" y="398017"/>
                </a:lnTo>
                <a:lnTo>
                  <a:pt x="47212" y="395771"/>
                </a:lnTo>
                <a:lnTo>
                  <a:pt x="43965" y="392937"/>
                </a:lnTo>
                <a:close/>
              </a:path>
              <a:path w="2059939" h="441960">
                <a:moveTo>
                  <a:pt x="47212" y="395771"/>
                </a:moveTo>
                <a:lnTo>
                  <a:pt x="49045" y="398017"/>
                </a:lnTo>
                <a:lnTo>
                  <a:pt x="49786" y="398017"/>
                </a:lnTo>
                <a:lnTo>
                  <a:pt x="47212" y="395771"/>
                </a:lnTo>
                <a:close/>
              </a:path>
              <a:path w="2059939" h="441960">
                <a:moveTo>
                  <a:pt x="2015894" y="392937"/>
                </a:moveTo>
                <a:lnTo>
                  <a:pt x="2013662" y="394754"/>
                </a:lnTo>
                <a:lnTo>
                  <a:pt x="2010814" y="398017"/>
                </a:lnTo>
                <a:lnTo>
                  <a:pt x="2015894" y="392937"/>
                </a:lnTo>
                <a:close/>
              </a:path>
              <a:path w="2059939" h="441960">
                <a:moveTo>
                  <a:pt x="2055578" y="392937"/>
                </a:moveTo>
                <a:lnTo>
                  <a:pt x="2015894" y="392937"/>
                </a:lnTo>
                <a:lnTo>
                  <a:pt x="2010814" y="398017"/>
                </a:lnTo>
                <a:lnTo>
                  <a:pt x="2053633" y="398017"/>
                </a:lnTo>
                <a:lnTo>
                  <a:pt x="2054121" y="397001"/>
                </a:lnTo>
                <a:lnTo>
                  <a:pt x="2055578" y="392937"/>
                </a:lnTo>
                <a:close/>
              </a:path>
              <a:path w="2059939" h="441960">
                <a:moveTo>
                  <a:pt x="44899" y="392937"/>
                </a:moveTo>
                <a:lnTo>
                  <a:pt x="43965" y="392937"/>
                </a:lnTo>
                <a:lnTo>
                  <a:pt x="47212" y="395771"/>
                </a:lnTo>
                <a:lnTo>
                  <a:pt x="44899" y="392937"/>
                </a:lnTo>
                <a:close/>
              </a:path>
              <a:path w="2059939" h="441960">
                <a:moveTo>
                  <a:pt x="2012544" y="46164"/>
                </a:moveTo>
                <a:lnTo>
                  <a:pt x="2024403" y="71627"/>
                </a:lnTo>
                <a:lnTo>
                  <a:pt x="2024277" y="366521"/>
                </a:lnTo>
                <a:lnTo>
                  <a:pt x="2013662" y="394754"/>
                </a:lnTo>
                <a:lnTo>
                  <a:pt x="2015894" y="392937"/>
                </a:lnTo>
                <a:lnTo>
                  <a:pt x="2055578" y="392937"/>
                </a:lnTo>
                <a:lnTo>
                  <a:pt x="2056534" y="390270"/>
                </a:lnTo>
                <a:lnTo>
                  <a:pt x="2058312" y="383158"/>
                </a:lnTo>
                <a:lnTo>
                  <a:pt x="2059455" y="375919"/>
                </a:lnTo>
                <a:lnTo>
                  <a:pt x="2059728" y="370458"/>
                </a:lnTo>
                <a:lnTo>
                  <a:pt x="2059733" y="71627"/>
                </a:lnTo>
                <a:lnTo>
                  <a:pt x="2059455" y="66166"/>
                </a:lnTo>
                <a:lnTo>
                  <a:pt x="2058312" y="58800"/>
                </a:lnTo>
                <a:lnTo>
                  <a:pt x="2056534" y="51688"/>
                </a:lnTo>
                <a:lnTo>
                  <a:pt x="2055624" y="49148"/>
                </a:lnTo>
                <a:lnTo>
                  <a:pt x="2015894" y="49148"/>
                </a:lnTo>
                <a:lnTo>
                  <a:pt x="2012544" y="46164"/>
                </a:lnTo>
                <a:close/>
              </a:path>
              <a:path w="2059939" h="441960">
                <a:moveTo>
                  <a:pt x="49045" y="44068"/>
                </a:moveTo>
                <a:lnTo>
                  <a:pt x="43965" y="49148"/>
                </a:lnTo>
                <a:lnTo>
                  <a:pt x="46061" y="47419"/>
                </a:lnTo>
                <a:lnTo>
                  <a:pt x="49045" y="44068"/>
                </a:lnTo>
                <a:close/>
              </a:path>
              <a:path w="2059939" h="441960">
                <a:moveTo>
                  <a:pt x="46061" y="47419"/>
                </a:moveTo>
                <a:lnTo>
                  <a:pt x="43965" y="49148"/>
                </a:lnTo>
                <a:lnTo>
                  <a:pt x="44519" y="49148"/>
                </a:lnTo>
                <a:lnTo>
                  <a:pt x="46061" y="47419"/>
                </a:lnTo>
                <a:close/>
              </a:path>
              <a:path w="2059939" h="441960">
                <a:moveTo>
                  <a:pt x="2010814" y="44068"/>
                </a:moveTo>
                <a:lnTo>
                  <a:pt x="2012544" y="46164"/>
                </a:lnTo>
                <a:lnTo>
                  <a:pt x="2015894" y="49148"/>
                </a:lnTo>
                <a:lnTo>
                  <a:pt x="2010814" y="44068"/>
                </a:lnTo>
                <a:close/>
              </a:path>
              <a:path w="2059939" h="441960">
                <a:moveTo>
                  <a:pt x="2053694" y="44068"/>
                </a:moveTo>
                <a:lnTo>
                  <a:pt x="2010814" y="44068"/>
                </a:lnTo>
                <a:lnTo>
                  <a:pt x="2015894" y="49148"/>
                </a:lnTo>
                <a:lnTo>
                  <a:pt x="2055624" y="49148"/>
                </a:lnTo>
                <a:lnTo>
                  <a:pt x="2054121" y="44957"/>
                </a:lnTo>
                <a:lnTo>
                  <a:pt x="2053694" y="44068"/>
                </a:lnTo>
                <a:close/>
              </a:path>
              <a:path w="2059939" h="441960">
                <a:moveTo>
                  <a:pt x="50118" y="44068"/>
                </a:moveTo>
                <a:lnTo>
                  <a:pt x="49045" y="44068"/>
                </a:lnTo>
                <a:lnTo>
                  <a:pt x="46061" y="47419"/>
                </a:lnTo>
                <a:lnTo>
                  <a:pt x="50118" y="44068"/>
                </a:lnTo>
                <a:close/>
              </a:path>
              <a:path w="2059939" h="441960">
                <a:moveTo>
                  <a:pt x="2049168" y="35559"/>
                </a:moveTo>
                <a:lnTo>
                  <a:pt x="1986176" y="35559"/>
                </a:lnTo>
                <a:lnTo>
                  <a:pt x="1991891" y="35940"/>
                </a:lnTo>
                <a:lnTo>
                  <a:pt x="1995574" y="36702"/>
                </a:lnTo>
                <a:lnTo>
                  <a:pt x="2012544" y="46164"/>
                </a:lnTo>
                <a:lnTo>
                  <a:pt x="2010814" y="44068"/>
                </a:lnTo>
                <a:lnTo>
                  <a:pt x="2053694" y="44068"/>
                </a:lnTo>
                <a:lnTo>
                  <a:pt x="2051073" y="38607"/>
                </a:lnTo>
                <a:lnTo>
                  <a:pt x="2049168" y="35559"/>
                </a:lnTo>
                <a:close/>
              </a:path>
            </a:pathLst>
          </a:custGeom>
          <a:solidFill>
            <a:srgbClr val="B3921F"/>
          </a:solidFill>
        </p:spPr>
        <p:txBody>
          <a:bodyPr wrap="square" lIns="0" tIns="0" rIns="0" bIns="0" rtlCol="0"/>
          <a:lstStyle/>
          <a:p>
            <a:pPr defTabSz="1371600" fontAlgn="auto">
              <a:spcBef>
                <a:spcPts val="0"/>
              </a:spcBef>
              <a:spcAft>
                <a:spcPts val="0"/>
              </a:spcAft>
            </a:pPr>
            <a:endParaRPr sz="2700" dirty="0">
              <a:solidFill>
                <a:srgbClr val="292934"/>
              </a:solidFill>
              <a:latin typeface="Arial"/>
            </a:endParaRPr>
          </a:p>
        </p:txBody>
      </p:sp>
      <p:sp>
        <p:nvSpPr>
          <p:cNvPr id="5" name="object 8">
            <a:extLst>
              <a:ext uri="{FF2B5EF4-FFF2-40B4-BE49-F238E27FC236}">
                <a16:creationId xmlns:a16="http://schemas.microsoft.com/office/drawing/2014/main" id="{BFDC1E41-B05C-6B12-8403-920E66CE75C5}"/>
              </a:ext>
            </a:extLst>
          </p:cNvPr>
          <p:cNvSpPr txBox="1"/>
          <p:nvPr/>
        </p:nvSpPr>
        <p:spPr>
          <a:xfrm>
            <a:off x="7317915" y="6607143"/>
            <a:ext cx="4724400" cy="434734"/>
          </a:xfrm>
          <a:prstGeom prst="rect">
            <a:avLst/>
          </a:prstGeom>
        </p:spPr>
        <p:txBody>
          <a:bodyPr vert="horz" wrap="square" lIns="0" tIns="19050" rIns="0" bIns="0" rtlCol="0">
            <a:spAutoFit/>
          </a:bodyPr>
          <a:lstStyle/>
          <a:p>
            <a:pPr marR="730568" algn="ctr" defTabSz="1371600" fontAlgn="auto">
              <a:spcBef>
                <a:spcPts val="150"/>
              </a:spcBef>
              <a:spcAft>
                <a:spcPts val="0"/>
              </a:spcAft>
            </a:pPr>
            <a:r>
              <a:rPr sz="2700" spc="-8" dirty="0">
                <a:solidFill>
                  <a:srgbClr val="292934"/>
                </a:solidFill>
                <a:latin typeface="Trebuchet MS"/>
                <a:cs typeface="Trebuchet MS"/>
              </a:rPr>
              <a:t>Mapper</a:t>
            </a:r>
            <a:endParaRPr sz="2700" dirty="0">
              <a:solidFill>
                <a:srgbClr val="292934"/>
              </a:solidFill>
              <a:latin typeface="Trebuchet MS"/>
              <a:cs typeface="Trebuchet MS"/>
            </a:endParaRPr>
          </a:p>
        </p:txBody>
      </p:sp>
      <p:sp>
        <p:nvSpPr>
          <p:cNvPr id="6" name="Rectangular Callout 5">
            <a:extLst>
              <a:ext uri="{FF2B5EF4-FFF2-40B4-BE49-F238E27FC236}">
                <a16:creationId xmlns:a16="http://schemas.microsoft.com/office/drawing/2014/main" id="{3B3E26A6-3D68-0EC0-A332-DD81CF883090}"/>
              </a:ext>
            </a:extLst>
          </p:cNvPr>
          <p:cNvSpPr/>
          <p:nvPr/>
        </p:nvSpPr>
        <p:spPr>
          <a:xfrm>
            <a:off x="7715250" y="3867663"/>
            <a:ext cx="3239348" cy="2008013"/>
          </a:xfrm>
          <a:prstGeom prst="wedgeRectCallout">
            <a:avLst>
              <a:gd name="adj1" fmla="val -7380"/>
              <a:gd name="adj2" fmla="val 76270"/>
            </a:avLst>
          </a:prstGeom>
          <a:solidFill>
            <a:srgbClr val="93A299"/>
          </a:solidFill>
          <a:ln w="26425" cap="flat" cmpd="sng" algn="ctr">
            <a:solidFill>
              <a:srgbClr val="93A299">
                <a:shade val="50000"/>
              </a:srgbClr>
            </a:solidFill>
            <a:prstDash val="solid"/>
          </a:ln>
          <a:effectLst/>
        </p:spPr>
        <p:txBody>
          <a:bodyPr rtlCol="0" anchor="ctr"/>
          <a:lstStyle/>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effectLst/>
                <a:uLnTx/>
                <a:uFillTx/>
                <a:latin typeface="Arial"/>
                <a:ea typeface="+mn-ea"/>
                <a:cs typeface="+mn-cs"/>
              </a:rPr>
              <a:t>For each record output the key value pair </a:t>
            </a:r>
          </a:p>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effectLst/>
                <a:uLnTx/>
                <a:uFillTx/>
                <a:latin typeface="Arial"/>
                <a:ea typeface="+mn-ea"/>
                <a:cs typeface="+mn-cs"/>
              </a:rPr>
              <a:t>&lt;rating, </a:t>
            </a:r>
            <a:r>
              <a:rPr lang="en-US" sz="2400" kern="0" dirty="0">
                <a:latin typeface="Arial"/>
                <a:ea typeface="+mn-ea"/>
              </a:rPr>
              <a:t>1</a:t>
            </a:r>
            <a:r>
              <a:rPr kumimoji="0" lang="en-US" sz="2400" b="0" i="0" u="none" strike="noStrike" kern="0" cap="none" spc="0" normalizeH="0" baseline="0" noProof="0" dirty="0">
                <a:ln>
                  <a:noFill/>
                </a:ln>
                <a:effectLst/>
                <a:uLnTx/>
                <a:uFillTx/>
                <a:latin typeface="Arial"/>
                <a:ea typeface="+mn-ea"/>
                <a:cs typeface="+mn-cs"/>
              </a:rPr>
              <a:t>&gt;</a:t>
            </a:r>
          </a:p>
        </p:txBody>
      </p:sp>
      <p:graphicFrame>
        <p:nvGraphicFramePr>
          <p:cNvPr id="7" name="object 3">
            <a:extLst>
              <a:ext uri="{FF2B5EF4-FFF2-40B4-BE49-F238E27FC236}">
                <a16:creationId xmlns:a16="http://schemas.microsoft.com/office/drawing/2014/main" id="{FCB754A5-EA6C-4DEF-A283-CB79DF3E5667}"/>
              </a:ext>
            </a:extLst>
          </p:cNvPr>
          <p:cNvGraphicFramePr>
            <a:graphicFrameLocks noGrp="1"/>
          </p:cNvGraphicFramePr>
          <p:nvPr>
            <p:extLst>
              <p:ext uri="{D42A27DB-BD31-4B8C-83A1-F6EECF244321}">
                <p14:modId xmlns:p14="http://schemas.microsoft.com/office/powerpoint/2010/main" val="3839444565"/>
              </p:ext>
            </p:extLst>
          </p:nvPr>
        </p:nvGraphicFramePr>
        <p:xfrm>
          <a:off x="2005264" y="4357626"/>
          <a:ext cx="4566986" cy="4946905"/>
        </p:xfrm>
        <a:graphic>
          <a:graphicData uri="http://schemas.openxmlformats.org/drawingml/2006/table">
            <a:tbl>
              <a:tblPr firstRow="1" bandRow="1"/>
              <a:tblGrid>
                <a:gridCol w="844072">
                  <a:extLst>
                    <a:ext uri="{9D8B030D-6E8A-4147-A177-3AD203B41FA5}">
                      <a16:colId xmlns:a16="http://schemas.microsoft.com/office/drawing/2014/main" val="20000"/>
                    </a:ext>
                  </a:extLst>
                </a:gridCol>
                <a:gridCol w="1012371">
                  <a:extLst>
                    <a:ext uri="{9D8B030D-6E8A-4147-A177-3AD203B41FA5}">
                      <a16:colId xmlns:a16="http://schemas.microsoft.com/office/drawing/2014/main" val="20001"/>
                    </a:ext>
                  </a:extLst>
                </a:gridCol>
                <a:gridCol w="1061357">
                  <a:extLst>
                    <a:ext uri="{9D8B030D-6E8A-4147-A177-3AD203B41FA5}">
                      <a16:colId xmlns:a16="http://schemas.microsoft.com/office/drawing/2014/main" val="20002"/>
                    </a:ext>
                  </a:extLst>
                </a:gridCol>
                <a:gridCol w="1649186">
                  <a:extLst>
                    <a:ext uri="{9D8B030D-6E8A-4147-A177-3AD203B41FA5}">
                      <a16:colId xmlns:a16="http://schemas.microsoft.com/office/drawing/2014/main" val="20003"/>
                    </a:ext>
                  </a:extLst>
                </a:gridCol>
              </a:tblGrid>
              <a:tr h="549593">
                <a:tc>
                  <a:txBody>
                    <a:bodyPr/>
                    <a:lstStyle>
                      <a:lvl1pPr marL="0" algn="l" defTabSz="1828800" rtl="0" eaLnBrk="1" latinLnBrk="0" hangingPunct="1">
                        <a:defRPr sz="3600" b="1" kern="1200">
                          <a:solidFill>
                            <a:schemeClr val="lt1"/>
                          </a:solidFill>
                          <a:latin typeface="Arial"/>
                        </a:defRPr>
                      </a:lvl1pPr>
                      <a:lvl2pPr marL="914400" algn="l" defTabSz="1828800" rtl="0" eaLnBrk="1" latinLnBrk="0" hangingPunct="1">
                        <a:defRPr sz="3600" b="1" kern="1200">
                          <a:solidFill>
                            <a:schemeClr val="lt1"/>
                          </a:solidFill>
                          <a:latin typeface="Arial"/>
                        </a:defRPr>
                      </a:lvl2pPr>
                      <a:lvl3pPr marL="1828800" algn="l" defTabSz="1828800" rtl="0" eaLnBrk="1" latinLnBrk="0" hangingPunct="1">
                        <a:defRPr sz="3600" b="1" kern="1200">
                          <a:solidFill>
                            <a:schemeClr val="lt1"/>
                          </a:solidFill>
                          <a:latin typeface="Arial"/>
                        </a:defRPr>
                      </a:lvl3pPr>
                      <a:lvl4pPr marL="2743200" algn="l" defTabSz="1828800" rtl="0" eaLnBrk="1" latinLnBrk="0" hangingPunct="1">
                        <a:defRPr sz="3600" b="1" kern="1200">
                          <a:solidFill>
                            <a:schemeClr val="lt1"/>
                          </a:solidFill>
                          <a:latin typeface="Arial"/>
                        </a:defRPr>
                      </a:lvl4pPr>
                      <a:lvl5pPr marL="3657600" algn="l" defTabSz="1828800" rtl="0" eaLnBrk="1" latinLnBrk="0" hangingPunct="1">
                        <a:defRPr sz="3600" b="1" kern="1200">
                          <a:solidFill>
                            <a:schemeClr val="lt1"/>
                          </a:solidFill>
                          <a:latin typeface="Arial"/>
                        </a:defRPr>
                      </a:lvl5pPr>
                      <a:lvl6pPr marL="4572000" algn="l" defTabSz="1828800" rtl="0" eaLnBrk="1" latinLnBrk="0" hangingPunct="1">
                        <a:defRPr sz="3600" b="1" kern="1200">
                          <a:solidFill>
                            <a:schemeClr val="lt1"/>
                          </a:solidFill>
                          <a:latin typeface="Arial"/>
                        </a:defRPr>
                      </a:lvl6pPr>
                      <a:lvl7pPr marL="5486400" algn="l" defTabSz="1828800" rtl="0" eaLnBrk="1" latinLnBrk="0" hangingPunct="1">
                        <a:defRPr sz="3600" b="1" kern="1200">
                          <a:solidFill>
                            <a:schemeClr val="lt1"/>
                          </a:solidFill>
                          <a:latin typeface="Arial"/>
                        </a:defRPr>
                      </a:lvl7pPr>
                      <a:lvl8pPr marL="6400800" algn="l" defTabSz="1828800" rtl="0" eaLnBrk="1" latinLnBrk="0" hangingPunct="1">
                        <a:defRPr sz="3600" b="1" kern="1200">
                          <a:solidFill>
                            <a:schemeClr val="lt1"/>
                          </a:solidFill>
                          <a:latin typeface="Arial"/>
                        </a:defRPr>
                      </a:lvl8pPr>
                      <a:lvl9pPr marL="7315200" algn="l" defTabSz="1828800" rtl="0" eaLnBrk="1" latinLnBrk="0" hangingPunct="1">
                        <a:defRPr sz="3600" b="1" kern="1200">
                          <a:solidFill>
                            <a:schemeClr val="lt1"/>
                          </a:solidFill>
                          <a:latin typeface="Arial"/>
                        </a:defRPr>
                      </a:lvl9pPr>
                    </a:lstStyle>
                    <a:p>
                      <a:pPr marL="31750">
                        <a:lnSpc>
                          <a:spcPts val="2280"/>
                        </a:lnSpc>
                      </a:pPr>
                      <a:r>
                        <a:rPr lang="en-US" sz="1600" kern="0" spc="-8" dirty="0">
                          <a:solidFill>
                            <a:schemeClr val="tx1"/>
                          </a:solidFill>
                        </a:rPr>
                        <a:t>USER </a:t>
                      </a:r>
                      <a:r>
                        <a:rPr lang="en-US" sz="1600" kern="0" spc="-15" dirty="0">
                          <a:solidFill>
                            <a:schemeClr val="tx1"/>
                          </a:solidFill>
                        </a:rPr>
                        <a:t>ID</a:t>
                      </a:r>
                      <a:endParaRPr sz="1600" dirty="0">
                        <a:solidFill>
                          <a:schemeClr val="tx1"/>
                        </a:solidFill>
                        <a:latin typeface="Trebuchet MS"/>
                        <a:cs typeface="Trebuchet MS"/>
                      </a:endParaRPr>
                    </a:p>
                  </a:txBody>
                  <a:tcPr marL="0" marR="0" marT="0"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solidFill>
                  </a:tcPr>
                </a:tc>
                <a:tc>
                  <a:txBody>
                    <a:bodyPr/>
                    <a:lstStyle>
                      <a:lvl1pPr marL="0" algn="l" defTabSz="1828800" rtl="0" eaLnBrk="1" latinLnBrk="0" hangingPunct="1">
                        <a:defRPr sz="3600" b="1" kern="1200">
                          <a:solidFill>
                            <a:schemeClr val="lt1"/>
                          </a:solidFill>
                          <a:latin typeface="Arial"/>
                        </a:defRPr>
                      </a:lvl1pPr>
                      <a:lvl2pPr marL="914400" algn="l" defTabSz="1828800" rtl="0" eaLnBrk="1" latinLnBrk="0" hangingPunct="1">
                        <a:defRPr sz="3600" b="1" kern="1200">
                          <a:solidFill>
                            <a:schemeClr val="lt1"/>
                          </a:solidFill>
                          <a:latin typeface="Arial"/>
                        </a:defRPr>
                      </a:lvl2pPr>
                      <a:lvl3pPr marL="1828800" algn="l" defTabSz="1828800" rtl="0" eaLnBrk="1" latinLnBrk="0" hangingPunct="1">
                        <a:defRPr sz="3600" b="1" kern="1200">
                          <a:solidFill>
                            <a:schemeClr val="lt1"/>
                          </a:solidFill>
                          <a:latin typeface="Arial"/>
                        </a:defRPr>
                      </a:lvl3pPr>
                      <a:lvl4pPr marL="2743200" algn="l" defTabSz="1828800" rtl="0" eaLnBrk="1" latinLnBrk="0" hangingPunct="1">
                        <a:defRPr sz="3600" b="1" kern="1200">
                          <a:solidFill>
                            <a:schemeClr val="lt1"/>
                          </a:solidFill>
                          <a:latin typeface="Arial"/>
                        </a:defRPr>
                      </a:lvl4pPr>
                      <a:lvl5pPr marL="3657600" algn="l" defTabSz="1828800" rtl="0" eaLnBrk="1" latinLnBrk="0" hangingPunct="1">
                        <a:defRPr sz="3600" b="1" kern="1200">
                          <a:solidFill>
                            <a:schemeClr val="lt1"/>
                          </a:solidFill>
                          <a:latin typeface="Arial"/>
                        </a:defRPr>
                      </a:lvl5pPr>
                      <a:lvl6pPr marL="4572000" algn="l" defTabSz="1828800" rtl="0" eaLnBrk="1" latinLnBrk="0" hangingPunct="1">
                        <a:defRPr sz="3600" b="1" kern="1200">
                          <a:solidFill>
                            <a:schemeClr val="lt1"/>
                          </a:solidFill>
                          <a:latin typeface="Arial"/>
                        </a:defRPr>
                      </a:lvl6pPr>
                      <a:lvl7pPr marL="5486400" algn="l" defTabSz="1828800" rtl="0" eaLnBrk="1" latinLnBrk="0" hangingPunct="1">
                        <a:defRPr sz="3600" b="1" kern="1200">
                          <a:solidFill>
                            <a:schemeClr val="lt1"/>
                          </a:solidFill>
                          <a:latin typeface="Arial"/>
                        </a:defRPr>
                      </a:lvl7pPr>
                      <a:lvl8pPr marL="6400800" algn="l" defTabSz="1828800" rtl="0" eaLnBrk="1" latinLnBrk="0" hangingPunct="1">
                        <a:defRPr sz="3600" b="1" kern="1200">
                          <a:solidFill>
                            <a:schemeClr val="lt1"/>
                          </a:solidFill>
                          <a:latin typeface="Arial"/>
                        </a:defRPr>
                      </a:lvl8pPr>
                      <a:lvl9pPr marL="7315200" algn="l" defTabSz="1828800" rtl="0" eaLnBrk="1" latinLnBrk="0" hangingPunct="1">
                        <a:defRPr sz="3600" b="1" kern="1200">
                          <a:solidFill>
                            <a:schemeClr val="lt1"/>
                          </a:solidFill>
                          <a:latin typeface="Arial"/>
                        </a:defRPr>
                      </a:lvl9pPr>
                    </a:lstStyle>
                    <a:p>
                      <a:pPr marL="259079">
                        <a:lnSpc>
                          <a:spcPts val="2280"/>
                        </a:lnSpc>
                      </a:pPr>
                      <a:r>
                        <a:rPr lang="en-US" sz="1600" kern="0" spc="-15" dirty="0">
                          <a:solidFill>
                            <a:schemeClr val="tx1"/>
                          </a:solidFill>
                        </a:rPr>
                        <a:t>MOVIE</a:t>
                      </a:r>
                      <a:r>
                        <a:rPr lang="en-US" sz="1600" kern="0" spc="15" dirty="0">
                          <a:solidFill>
                            <a:schemeClr val="tx1"/>
                          </a:solidFill>
                        </a:rPr>
                        <a:t> </a:t>
                      </a:r>
                      <a:r>
                        <a:rPr lang="en-US" sz="1600" kern="0" spc="-38" dirty="0">
                          <a:solidFill>
                            <a:schemeClr val="tx1"/>
                          </a:solidFill>
                        </a:rPr>
                        <a:t>ID</a:t>
                      </a:r>
                      <a:endParaRPr sz="1600" dirty="0">
                        <a:solidFill>
                          <a:schemeClr val="tx1"/>
                        </a:solidFill>
                        <a:latin typeface="Trebuchet MS"/>
                        <a:cs typeface="Trebuchet MS"/>
                      </a:endParaRPr>
                    </a:p>
                  </a:txBody>
                  <a:tcPr marL="0" marR="0" marT="0"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solidFill>
                  </a:tcPr>
                </a:tc>
                <a:tc>
                  <a:txBody>
                    <a:bodyPr/>
                    <a:lstStyle>
                      <a:lvl1pPr marL="0" algn="l" defTabSz="1828800" rtl="0" eaLnBrk="1" latinLnBrk="0" hangingPunct="1">
                        <a:defRPr sz="3600" b="1" kern="1200">
                          <a:solidFill>
                            <a:schemeClr val="lt1"/>
                          </a:solidFill>
                          <a:latin typeface="Arial"/>
                        </a:defRPr>
                      </a:lvl1pPr>
                      <a:lvl2pPr marL="914400" algn="l" defTabSz="1828800" rtl="0" eaLnBrk="1" latinLnBrk="0" hangingPunct="1">
                        <a:defRPr sz="3600" b="1" kern="1200">
                          <a:solidFill>
                            <a:schemeClr val="lt1"/>
                          </a:solidFill>
                          <a:latin typeface="Arial"/>
                        </a:defRPr>
                      </a:lvl2pPr>
                      <a:lvl3pPr marL="1828800" algn="l" defTabSz="1828800" rtl="0" eaLnBrk="1" latinLnBrk="0" hangingPunct="1">
                        <a:defRPr sz="3600" b="1" kern="1200">
                          <a:solidFill>
                            <a:schemeClr val="lt1"/>
                          </a:solidFill>
                          <a:latin typeface="Arial"/>
                        </a:defRPr>
                      </a:lvl3pPr>
                      <a:lvl4pPr marL="2743200" algn="l" defTabSz="1828800" rtl="0" eaLnBrk="1" latinLnBrk="0" hangingPunct="1">
                        <a:defRPr sz="3600" b="1" kern="1200">
                          <a:solidFill>
                            <a:schemeClr val="lt1"/>
                          </a:solidFill>
                          <a:latin typeface="Arial"/>
                        </a:defRPr>
                      </a:lvl4pPr>
                      <a:lvl5pPr marL="3657600" algn="l" defTabSz="1828800" rtl="0" eaLnBrk="1" latinLnBrk="0" hangingPunct="1">
                        <a:defRPr sz="3600" b="1" kern="1200">
                          <a:solidFill>
                            <a:schemeClr val="lt1"/>
                          </a:solidFill>
                          <a:latin typeface="Arial"/>
                        </a:defRPr>
                      </a:lvl5pPr>
                      <a:lvl6pPr marL="4572000" algn="l" defTabSz="1828800" rtl="0" eaLnBrk="1" latinLnBrk="0" hangingPunct="1">
                        <a:defRPr sz="3600" b="1" kern="1200">
                          <a:solidFill>
                            <a:schemeClr val="lt1"/>
                          </a:solidFill>
                          <a:latin typeface="Arial"/>
                        </a:defRPr>
                      </a:lvl6pPr>
                      <a:lvl7pPr marL="5486400" algn="l" defTabSz="1828800" rtl="0" eaLnBrk="1" latinLnBrk="0" hangingPunct="1">
                        <a:defRPr sz="3600" b="1" kern="1200">
                          <a:solidFill>
                            <a:schemeClr val="lt1"/>
                          </a:solidFill>
                          <a:latin typeface="Arial"/>
                        </a:defRPr>
                      </a:lvl7pPr>
                      <a:lvl8pPr marL="6400800" algn="l" defTabSz="1828800" rtl="0" eaLnBrk="1" latinLnBrk="0" hangingPunct="1">
                        <a:defRPr sz="3600" b="1" kern="1200">
                          <a:solidFill>
                            <a:schemeClr val="lt1"/>
                          </a:solidFill>
                          <a:latin typeface="Arial"/>
                        </a:defRPr>
                      </a:lvl8pPr>
                      <a:lvl9pPr marL="7315200" algn="l" defTabSz="1828800" rtl="0" eaLnBrk="1" latinLnBrk="0" hangingPunct="1">
                        <a:defRPr sz="3600" b="1" kern="1200">
                          <a:solidFill>
                            <a:schemeClr val="lt1"/>
                          </a:solidFill>
                          <a:latin typeface="Arial"/>
                        </a:defRPr>
                      </a:lvl9pPr>
                    </a:lstStyle>
                    <a:p>
                      <a:pPr marL="259079">
                        <a:lnSpc>
                          <a:spcPts val="2280"/>
                        </a:lnSpc>
                      </a:pPr>
                      <a:r>
                        <a:rPr lang="en-US" sz="1600" kern="0" spc="-38" dirty="0">
                          <a:solidFill>
                            <a:schemeClr val="tx1"/>
                          </a:solidFill>
                        </a:rPr>
                        <a:t>RATING</a:t>
                      </a:r>
                      <a:endParaRPr sz="1600" dirty="0">
                        <a:solidFill>
                          <a:schemeClr val="tx1"/>
                        </a:solidFill>
                        <a:latin typeface="Trebuchet MS"/>
                        <a:cs typeface="Trebuchet MS"/>
                      </a:endParaRPr>
                    </a:p>
                  </a:txBody>
                  <a:tcPr marL="0" marR="0" marT="0"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solidFill>
                  </a:tcPr>
                </a:tc>
                <a:tc>
                  <a:txBody>
                    <a:bodyPr/>
                    <a:lstStyle>
                      <a:lvl1pPr marL="0" algn="l" defTabSz="1828800" rtl="0" eaLnBrk="1" latinLnBrk="0" hangingPunct="1">
                        <a:defRPr sz="3600" b="1" kern="1200">
                          <a:solidFill>
                            <a:schemeClr val="lt1"/>
                          </a:solidFill>
                          <a:latin typeface="Arial"/>
                        </a:defRPr>
                      </a:lvl1pPr>
                      <a:lvl2pPr marL="914400" algn="l" defTabSz="1828800" rtl="0" eaLnBrk="1" latinLnBrk="0" hangingPunct="1">
                        <a:defRPr sz="3600" b="1" kern="1200">
                          <a:solidFill>
                            <a:schemeClr val="lt1"/>
                          </a:solidFill>
                          <a:latin typeface="Arial"/>
                        </a:defRPr>
                      </a:lvl2pPr>
                      <a:lvl3pPr marL="1828800" algn="l" defTabSz="1828800" rtl="0" eaLnBrk="1" latinLnBrk="0" hangingPunct="1">
                        <a:defRPr sz="3600" b="1" kern="1200">
                          <a:solidFill>
                            <a:schemeClr val="lt1"/>
                          </a:solidFill>
                          <a:latin typeface="Arial"/>
                        </a:defRPr>
                      </a:lvl3pPr>
                      <a:lvl4pPr marL="2743200" algn="l" defTabSz="1828800" rtl="0" eaLnBrk="1" latinLnBrk="0" hangingPunct="1">
                        <a:defRPr sz="3600" b="1" kern="1200">
                          <a:solidFill>
                            <a:schemeClr val="lt1"/>
                          </a:solidFill>
                          <a:latin typeface="Arial"/>
                        </a:defRPr>
                      </a:lvl4pPr>
                      <a:lvl5pPr marL="3657600" algn="l" defTabSz="1828800" rtl="0" eaLnBrk="1" latinLnBrk="0" hangingPunct="1">
                        <a:defRPr sz="3600" b="1" kern="1200">
                          <a:solidFill>
                            <a:schemeClr val="lt1"/>
                          </a:solidFill>
                          <a:latin typeface="Arial"/>
                        </a:defRPr>
                      </a:lvl5pPr>
                      <a:lvl6pPr marL="4572000" algn="l" defTabSz="1828800" rtl="0" eaLnBrk="1" latinLnBrk="0" hangingPunct="1">
                        <a:defRPr sz="3600" b="1" kern="1200">
                          <a:solidFill>
                            <a:schemeClr val="lt1"/>
                          </a:solidFill>
                          <a:latin typeface="Arial"/>
                        </a:defRPr>
                      </a:lvl6pPr>
                      <a:lvl7pPr marL="5486400" algn="l" defTabSz="1828800" rtl="0" eaLnBrk="1" latinLnBrk="0" hangingPunct="1">
                        <a:defRPr sz="3600" b="1" kern="1200">
                          <a:solidFill>
                            <a:schemeClr val="lt1"/>
                          </a:solidFill>
                          <a:latin typeface="Arial"/>
                        </a:defRPr>
                      </a:lvl7pPr>
                      <a:lvl8pPr marL="6400800" algn="l" defTabSz="1828800" rtl="0" eaLnBrk="1" latinLnBrk="0" hangingPunct="1">
                        <a:defRPr sz="3600" b="1" kern="1200">
                          <a:solidFill>
                            <a:schemeClr val="lt1"/>
                          </a:solidFill>
                          <a:latin typeface="Arial"/>
                        </a:defRPr>
                      </a:lvl8pPr>
                      <a:lvl9pPr marL="7315200" algn="l" defTabSz="1828800" rtl="0" eaLnBrk="1" latinLnBrk="0" hangingPunct="1">
                        <a:defRPr sz="3600" b="1" kern="1200">
                          <a:solidFill>
                            <a:schemeClr val="lt1"/>
                          </a:solidFill>
                          <a:latin typeface="Arial"/>
                        </a:defRPr>
                      </a:lvl9pPr>
                    </a:lstStyle>
                    <a:p>
                      <a:pPr marR="24130" algn="r">
                        <a:lnSpc>
                          <a:spcPts val="2280"/>
                        </a:lnSpc>
                      </a:pPr>
                      <a:r>
                        <a:rPr lang="en-US" sz="1600" kern="0" spc="-38" dirty="0">
                          <a:solidFill>
                            <a:schemeClr val="tx1"/>
                          </a:solidFill>
                        </a:rPr>
                        <a:t>TIMESTAMP</a:t>
                      </a:r>
                      <a:endParaRPr sz="1600" dirty="0">
                        <a:solidFill>
                          <a:schemeClr val="tx1"/>
                        </a:solidFill>
                        <a:latin typeface="Trebuchet MS"/>
                        <a:cs typeface="Trebuchet MS"/>
                      </a:endParaRPr>
                    </a:p>
                  </a:txBody>
                  <a:tcPr marL="0" marR="0" marT="0"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solidFill>
                  </a:tcPr>
                </a:tc>
                <a:extLst>
                  <a:ext uri="{0D108BD9-81ED-4DB2-BD59-A6C34878D82A}">
                    <a16:rowId xmlns:a16="http://schemas.microsoft.com/office/drawing/2014/main" val="343352298"/>
                  </a:ext>
                </a:extLst>
              </a:tr>
              <a:tr h="54959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ts val="2280"/>
                        </a:lnSpc>
                      </a:pPr>
                      <a:r>
                        <a:rPr sz="2400" spc="-15" dirty="0"/>
                        <a:t>196</a:t>
                      </a:r>
                      <a:endParaRPr sz="2400" dirty="0">
                        <a:latin typeface="Trebuchet MS"/>
                        <a:cs typeface="Trebuchet MS"/>
                      </a:endParaRPr>
                    </a:p>
                  </a:txBody>
                  <a:tcPr marL="0" marR="0" marT="0"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ts val="2280"/>
                        </a:lnSpc>
                      </a:pPr>
                      <a:r>
                        <a:rPr sz="2400" spc="-15" dirty="0"/>
                        <a:t>242</a:t>
                      </a:r>
                      <a:endParaRPr sz="2400" dirty="0">
                        <a:latin typeface="Trebuchet MS"/>
                        <a:cs typeface="Trebuchet MS"/>
                      </a:endParaRPr>
                    </a:p>
                  </a:txBody>
                  <a:tcPr marL="0" marR="0" marT="0"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ts val="2280"/>
                        </a:lnSpc>
                      </a:pPr>
                      <a:r>
                        <a:rPr sz="2400" dirty="0"/>
                        <a:t>3</a:t>
                      </a:r>
                      <a:endParaRPr sz="2400" dirty="0">
                        <a:latin typeface="Trebuchet MS"/>
                        <a:cs typeface="Trebuchet MS"/>
                      </a:endParaRPr>
                    </a:p>
                  </a:txBody>
                  <a:tcPr marL="0" marR="0" marT="0"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ts val="2280"/>
                        </a:lnSpc>
                      </a:pPr>
                      <a:r>
                        <a:rPr sz="2400" spc="-15" dirty="0"/>
                        <a:t>881250949</a:t>
                      </a:r>
                      <a:endParaRPr sz="2400" dirty="0">
                        <a:latin typeface="Trebuchet MS"/>
                        <a:cs typeface="Trebuchet MS"/>
                      </a:endParaRPr>
                    </a:p>
                  </a:txBody>
                  <a:tcPr marL="0" marR="0" marT="0"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extLst>
                  <a:ext uri="{0D108BD9-81ED-4DB2-BD59-A6C34878D82A}">
                    <a16:rowId xmlns:a16="http://schemas.microsoft.com/office/drawing/2014/main" val="10000"/>
                  </a:ext>
                </a:extLst>
              </a:tr>
              <a:tr h="65722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34"/>
                        </a:spcBef>
                      </a:pPr>
                      <a:r>
                        <a:rPr sz="2400" spc="-10" dirty="0"/>
                        <a:t>186</a:t>
                      </a:r>
                      <a:endParaRPr sz="2400" dirty="0">
                        <a:latin typeface="Trebuchet MS"/>
                        <a:cs typeface="Trebuchet MS"/>
                      </a:endParaRPr>
                    </a:p>
                  </a:txBody>
                  <a:tcPr marL="0" marR="0" marT="82866"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34"/>
                        </a:spcBef>
                      </a:pPr>
                      <a:r>
                        <a:rPr sz="2400" spc="-10" dirty="0"/>
                        <a:t>302</a:t>
                      </a:r>
                      <a:endParaRPr sz="2400" dirty="0">
                        <a:latin typeface="Trebuchet MS"/>
                        <a:cs typeface="Trebuchet MS"/>
                      </a:endParaRPr>
                    </a:p>
                  </a:txBody>
                  <a:tcPr marL="0" marR="0" marT="82866"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34"/>
                        </a:spcBef>
                      </a:pPr>
                      <a:r>
                        <a:rPr sz="2400" dirty="0"/>
                        <a:t>3</a:t>
                      </a:r>
                      <a:endParaRPr sz="2400" dirty="0">
                        <a:latin typeface="Trebuchet MS"/>
                        <a:cs typeface="Trebuchet MS"/>
                      </a:endParaRPr>
                    </a:p>
                  </a:txBody>
                  <a:tcPr marL="0" marR="0" marT="82866"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34"/>
                        </a:spcBef>
                      </a:pPr>
                      <a:r>
                        <a:rPr sz="2400" spc="-10" dirty="0"/>
                        <a:t>891717742</a:t>
                      </a:r>
                      <a:endParaRPr sz="2400" dirty="0">
                        <a:latin typeface="Trebuchet MS"/>
                        <a:cs typeface="Trebuchet MS"/>
                      </a:endParaRPr>
                    </a:p>
                  </a:txBody>
                  <a:tcPr marL="0" marR="0" marT="82866"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65913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45"/>
                        </a:spcBef>
                      </a:pPr>
                      <a:r>
                        <a:rPr sz="2400" spc="-15" dirty="0"/>
                        <a:t>196</a:t>
                      </a:r>
                      <a:endParaRPr sz="2400" dirty="0">
                        <a:latin typeface="Trebuchet MS"/>
                        <a:cs typeface="Trebuchet MS"/>
                      </a:endParaRPr>
                    </a:p>
                  </a:txBody>
                  <a:tcPr marL="0" marR="0" marT="84773"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2400" spc="-15" dirty="0"/>
                        <a:t>377</a:t>
                      </a:r>
                      <a:endParaRPr sz="24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2400" dirty="0"/>
                        <a:t>1</a:t>
                      </a:r>
                      <a:endParaRPr sz="24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45"/>
                        </a:spcBef>
                      </a:pPr>
                      <a:r>
                        <a:rPr sz="2400" spc="-15" dirty="0"/>
                        <a:t>878887116</a:t>
                      </a:r>
                      <a:endParaRPr sz="2400" dirty="0">
                        <a:latin typeface="Trebuchet MS"/>
                        <a:cs typeface="Trebuchet MS"/>
                      </a:endParaRPr>
                    </a:p>
                  </a:txBody>
                  <a:tcPr marL="0" marR="0" marT="84773"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extLst>
                  <a:ext uri="{0D108BD9-81ED-4DB2-BD59-A6C34878D82A}">
                    <a16:rowId xmlns:a16="http://schemas.microsoft.com/office/drawing/2014/main" val="10002"/>
                  </a:ext>
                </a:extLst>
              </a:tr>
              <a:tr h="65913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45"/>
                        </a:spcBef>
                      </a:pPr>
                      <a:r>
                        <a:rPr sz="2400" spc="-10" dirty="0"/>
                        <a:t>244</a:t>
                      </a:r>
                      <a:endParaRPr sz="2400" dirty="0">
                        <a:latin typeface="Trebuchet MS"/>
                        <a:cs typeface="Trebuchet MS"/>
                      </a:endParaRPr>
                    </a:p>
                  </a:txBody>
                  <a:tcPr marL="0" marR="0" marT="84773"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2400" spc="-10" dirty="0"/>
                        <a:t>51</a:t>
                      </a:r>
                      <a:endParaRPr sz="24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2400" dirty="0"/>
                        <a:t>2</a:t>
                      </a:r>
                      <a:endParaRPr sz="24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45"/>
                        </a:spcBef>
                      </a:pPr>
                      <a:r>
                        <a:rPr sz="2400" spc="-10" dirty="0"/>
                        <a:t>880606923</a:t>
                      </a:r>
                      <a:endParaRPr sz="2400" dirty="0">
                        <a:latin typeface="Trebuchet MS"/>
                        <a:cs typeface="Trebuchet MS"/>
                      </a:endParaRPr>
                    </a:p>
                  </a:txBody>
                  <a:tcPr marL="0" marR="0" marT="84773"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65913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45"/>
                        </a:spcBef>
                      </a:pPr>
                      <a:r>
                        <a:rPr sz="2400" spc="-15" dirty="0"/>
                        <a:t>166</a:t>
                      </a:r>
                      <a:endParaRPr sz="2400" dirty="0">
                        <a:latin typeface="Trebuchet MS"/>
                        <a:cs typeface="Trebuchet MS"/>
                      </a:endParaRPr>
                    </a:p>
                  </a:txBody>
                  <a:tcPr marL="0" marR="0" marT="84773"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2400" spc="-15" dirty="0"/>
                        <a:t>346</a:t>
                      </a:r>
                      <a:endParaRPr sz="24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2400" dirty="0"/>
                        <a:t>1</a:t>
                      </a:r>
                      <a:endParaRPr sz="24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45"/>
                        </a:spcBef>
                      </a:pPr>
                      <a:r>
                        <a:rPr sz="2400" spc="-15" dirty="0"/>
                        <a:t>886397596</a:t>
                      </a:r>
                      <a:endParaRPr sz="2400" dirty="0">
                        <a:latin typeface="Trebuchet MS"/>
                        <a:cs typeface="Trebuchet MS"/>
                      </a:endParaRPr>
                    </a:p>
                  </a:txBody>
                  <a:tcPr marL="0" marR="0" marT="84773"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extLst>
                  <a:ext uri="{0D108BD9-81ED-4DB2-BD59-A6C34878D82A}">
                    <a16:rowId xmlns:a16="http://schemas.microsoft.com/office/drawing/2014/main" val="10004"/>
                  </a:ext>
                </a:extLst>
              </a:tr>
              <a:tr h="65627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ct val="100000"/>
                        </a:lnSpc>
                        <a:spcBef>
                          <a:spcPts val="445"/>
                        </a:spcBef>
                      </a:pPr>
                      <a:r>
                        <a:rPr sz="2400" spc="-10" dirty="0"/>
                        <a:t>186</a:t>
                      </a:r>
                      <a:endParaRPr sz="2400" dirty="0">
                        <a:latin typeface="Trebuchet MS"/>
                        <a:cs typeface="Trebuchet MS"/>
                      </a:endParaRPr>
                    </a:p>
                  </a:txBody>
                  <a:tcPr marL="0" marR="0" marT="84773"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2400" spc="-10" dirty="0"/>
                        <a:t>474</a:t>
                      </a:r>
                      <a:endParaRPr sz="24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ct val="100000"/>
                        </a:lnSpc>
                        <a:spcBef>
                          <a:spcPts val="445"/>
                        </a:spcBef>
                      </a:pPr>
                      <a:r>
                        <a:rPr sz="2400" dirty="0"/>
                        <a:t>4</a:t>
                      </a:r>
                      <a:endParaRPr sz="2400" dirty="0">
                        <a:latin typeface="Trebuchet MS"/>
                        <a:cs typeface="Trebuchet MS"/>
                      </a:endParaRPr>
                    </a:p>
                  </a:txBody>
                  <a:tcPr marL="0" marR="0" marT="84773"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ct val="100000"/>
                        </a:lnSpc>
                        <a:spcBef>
                          <a:spcPts val="445"/>
                        </a:spcBef>
                      </a:pPr>
                      <a:r>
                        <a:rPr sz="2400" spc="-10" dirty="0"/>
                        <a:t>884182806</a:t>
                      </a:r>
                      <a:endParaRPr sz="2400" dirty="0">
                        <a:latin typeface="Trebuchet MS"/>
                        <a:cs typeface="Trebuchet MS"/>
                      </a:endParaRPr>
                    </a:p>
                  </a:txBody>
                  <a:tcPr marL="0" marR="0" marT="84773"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54864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1750">
                        <a:lnSpc>
                          <a:spcPts val="2345"/>
                        </a:lnSpc>
                        <a:spcBef>
                          <a:spcPts val="434"/>
                        </a:spcBef>
                      </a:pPr>
                      <a:r>
                        <a:rPr sz="2400" spc="-15" dirty="0"/>
                        <a:t>186</a:t>
                      </a:r>
                      <a:endParaRPr sz="2400" dirty="0">
                        <a:latin typeface="Trebuchet MS"/>
                        <a:cs typeface="Trebuchet MS"/>
                      </a:endParaRPr>
                    </a:p>
                  </a:txBody>
                  <a:tcPr marL="0" marR="0" marT="82866" marB="0" anchor="ctr">
                    <a:lnL w="12700" cmpd="sng">
                      <a:solidFill>
                        <a:srgbClr val="93A299"/>
                      </a:solid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ts val="2345"/>
                        </a:lnSpc>
                        <a:spcBef>
                          <a:spcPts val="434"/>
                        </a:spcBef>
                      </a:pPr>
                      <a:r>
                        <a:rPr sz="2400" spc="-15" dirty="0"/>
                        <a:t>265</a:t>
                      </a:r>
                      <a:endParaRPr sz="2400" dirty="0">
                        <a:latin typeface="Trebuchet MS"/>
                        <a:cs typeface="Trebuchet MS"/>
                      </a:endParaRPr>
                    </a:p>
                  </a:txBody>
                  <a:tcPr marL="0" marR="0" marT="82866"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59079">
                        <a:lnSpc>
                          <a:spcPts val="2345"/>
                        </a:lnSpc>
                        <a:spcBef>
                          <a:spcPts val="434"/>
                        </a:spcBef>
                      </a:pPr>
                      <a:r>
                        <a:rPr sz="2400" dirty="0"/>
                        <a:t>2</a:t>
                      </a:r>
                      <a:endParaRPr sz="2400" dirty="0">
                        <a:latin typeface="Trebuchet MS"/>
                        <a:cs typeface="Trebuchet MS"/>
                      </a:endParaRPr>
                    </a:p>
                  </a:txBody>
                  <a:tcPr marL="0" marR="0" marT="82866" marB="0" anchor="ctr">
                    <a:lnL>
                      <a:noFill/>
                    </a:lnL>
                    <a:lnR>
                      <a:no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24130" algn="r">
                        <a:lnSpc>
                          <a:spcPts val="2345"/>
                        </a:lnSpc>
                        <a:spcBef>
                          <a:spcPts val="434"/>
                        </a:spcBef>
                      </a:pPr>
                      <a:r>
                        <a:rPr sz="2400" spc="-15" dirty="0"/>
                        <a:t>881171488</a:t>
                      </a:r>
                      <a:endParaRPr sz="2400" dirty="0">
                        <a:latin typeface="Trebuchet MS"/>
                        <a:cs typeface="Trebuchet MS"/>
                      </a:endParaRPr>
                    </a:p>
                  </a:txBody>
                  <a:tcPr marL="0" marR="0" marT="82866" marB="0" anchor="ctr">
                    <a:lnL>
                      <a:noFill/>
                    </a:lnL>
                    <a:lnR w="12700" cmpd="sng">
                      <a:solidFill>
                        <a:srgbClr val="93A299"/>
                      </a:solidFill>
                    </a:lnR>
                    <a:lnT w="12700" cmpd="sng">
                      <a:solidFill>
                        <a:srgbClr val="93A299"/>
                      </a:solidFill>
                    </a:lnT>
                    <a:lnB w="12700" cmpd="sng">
                      <a:solidFill>
                        <a:srgbClr val="93A299"/>
                      </a:solidFill>
                    </a:lnB>
                    <a:lnTlToBr w="12700" cmpd="sng">
                      <a:noFill/>
                      <a:prstDash val="solid"/>
                    </a:lnTlToBr>
                    <a:lnBlToTr w="12700" cmpd="sng">
                      <a:noFill/>
                      <a:prstDash val="solid"/>
                    </a:lnBlToTr>
                    <a:solidFill>
                      <a:srgbClr val="93A299">
                        <a:tint val="20000"/>
                      </a:srgbClr>
                    </a:solidFill>
                  </a:tcPr>
                </a:tc>
                <a:extLst>
                  <a:ext uri="{0D108BD9-81ED-4DB2-BD59-A6C34878D82A}">
                    <a16:rowId xmlns:a16="http://schemas.microsoft.com/office/drawing/2014/main" val="10006"/>
                  </a:ext>
                </a:extLst>
              </a:tr>
            </a:tbl>
          </a:graphicData>
        </a:graphic>
      </p:graphicFrame>
      <p:sp>
        <p:nvSpPr>
          <p:cNvPr id="8" name="object 8">
            <a:extLst>
              <a:ext uri="{FF2B5EF4-FFF2-40B4-BE49-F238E27FC236}">
                <a16:creationId xmlns:a16="http://schemas.microsoft.com/office/drawing/2014/main" id="{060EBDEC-8747-3F4E-3ECF-49B53F0EA349}"/>
              </a:ext>
            </a:extLst>
          </p:cNvPr>
          <p:cNvSpPr txBox="1"/>
          <p:nvPr/>
        </p:nvSpPr>
        <p:spPr>
          <a:xfrm>
            <a:off x="12173216" y="4945149"/>
            <a:ext cx="3417159" cy="3758721"/>
          </a:xfrm>
          <a:prstGeom prst="rect">
            <a:avLst/>
          </a:prstGeom>
          <a:solidFill>
            <a:srgbClr val="FFFFFF">
              <a:lumMod val="95000"/>
            </a:srgbClr>
          </a:solidFill>
          <a:ln>
            <a:solidFill>
              <a:schemeClr val="tx1"/>
            </a:solidFill>
          </a:ln>
        </p:spPr>
        <p:txBody>
          <a:bodyPr vert="horz" wrap="square" lIns="0" tIns="19050" rIns="0" bIns="0" rtlCol="0">
            <a:spAutoFit/>
          </a:bodyPr>
          <a:lstStyle/>
          <a:p>
            <a:pPr marL="19050" marR="0" lvl="0" indent="0" algn="ctr" defTabSz="1371600" eaLnBrk="1" fontAlgn="auto" latinLnBrk="0" hangingPunct="1">
              <a:lnSpc>
                <a:spcPct val="100000"/>
              </a:lnSpc>
              <a:spcBef>
                <a:spcPts val="0"/>
              </a:spcBef>
              <a:spcAft>
                <a:spcPts val="0"/>
              </a:spcAft>
              <a:buClrTx/>
              <a:buSzTx/>
              <a:buFontTx/>
              <a:buNone/>
              <a:tabLst/>
              <a:defRPr/>
            </a:pPr>
            <a:r>
              <a:rPr kumimoji="0" lang="en-US" sz="2700" b="0" i="0" u="none" strike="noStrike" kern="0" cap="none" spc="-15" normalizeH="0" baseline="0" noProof="0" dirty="0">
                <a:ln>
                  <a:noFill/>
                </a:ln>
                <a:solidFill>
                  <a:srgbClr val="0070C0"/>
                </a:solidFill>
                <a:effectLst/>
                <a:uLnTx/>
                <a:uFillTx/>
                <a:latin typeface="Trebuchet MS"/>
                <a:cs typeface="Trebuchet MS"/>
              </a:rPr>
              <a:t>&lt;</a:t>
            </a:r>
            <a:r>
              <a:rPr lang="en-US" sz="2700" kern="0" spc="-15" dirty="0">
                <a:solidFill>
                  <a:srgbClr val="0070C0"/>
                </a:solidFill>
                <a:latin typeface="Trebuchet MS"/>
                <a:cs typeface="Trebuchet MS"/>
              </a:rPr>
              <a:t>rating</a:t>
            </a:r>
            <a:r>
              <a:rPr kumimoji="0" lang="en-US" sz="2700" b="0" i="0" u="none" strike="noStrike" kern="0" cap="none" spc="-15" normalizeH="0" baseline="0" noProof="0" dirty="0">
                <a:ln>
                  <a:noFill/>
                </a:ln>
                <a:solidFill>
                  <a:srgbClr val="0070C0"/>
                </a:solidFill>
                <a:effectLst/>
                <a:uLnTx/>
                <a:uFillTx/>
                <a:latin typeface="Trebuchet MS"/>
                <a:cs typeface="Trebuchet MS"/>
              </a:rPr>
              <a:t>, 1&gt;</a:t>
            </a:r>
          </a:p>
          <a:p>
            <a:pPr marL="19050" marR="0" lvl="0" indent="0" algn="ctr" defTabSz="1371600" eaLnBrk="1" fontAlgn="auto" latinLnBrk="0" hangingPunct="1">
              <a:lnSpc>
                <a:spcPct val="100000"/>
              </a:lnSpc>
              <a:spcBef>
                <a:spcPts val="0"/>
              </a:spcBef>
              <a:spcAft>
                <a:spcPts val="0"/>
              </a:spcAft>
              <a:buClrTx/>
              <a:buSzTx/>
              <a:buFontTx/>
              <a:buNone/>
              <a:tabLst/>
              <a:defRPr/>
            </a:pPr>
            <a:endParaRPr kumimoji="0" lang="en-US" sz="2700" b="0" i="0" u="none" strike="noStrike" kern="0" cap="none" spc="-15" normalizeH="0" baseline="0" noProof="0" dirty="0">
              <a:ln>
                <a:noFill/>
              </a:ln>
              <a:solidFill>
                <a:srgbClr val="292934"/>
              </a:solidFill>
              <a:effectLst/>
              <a:uLnTx/>
              <a:uFillTx/>
              <a:latin typeface="Trebuchet MS"/>
              <a:cs typeface="Trebuchet MS"/>
            </a:endParaRPr>
          </a:p>
          <a:p>
            <a:pPr marL="19050" marR="0" lvl="0" indent="0" algn="ctr" defTabSz="1371600" eaLnBrk="1" fontAlgn="auto" latinLnBrk="0" hangingPunct="1">
              <a:lnSpc>
                <a:spcPct val="100000"/>
              </a:lnSpc>
              <a:spcBef>
                <a:spcPts val="0"/>
              </a:spcBef>
              <a:spcAft>
                <a:spcPts val="0"/>
              </a:spcAft>
              <a:buClrTx/>
              <a:buSzTx/>
              <a:buFontTx/>
              <a:buNone/>
              <a:tabLst/>
              <a:defRPr/>
            </a:pPr>
            <a:r>
              <a:rPr kumimoji="0" lang="en-US" sz="2700" b="0" i="0" u="none" strike="noStrike" kern="0" cap="none" spc="-15" normalizeH="0" baseline="0" noProof="0" dirty="0">
                <a:ln>
                  <a:noFill/>
                </a:ln>
                <a:solidFill>
                  <a:srgbClr val="292934"/>
                </a:solidFill>
                <a:effectLst/>
                <a:uLnTx/>
                <a:uFillTx/>
                <a:latin typeface="Trebuchet MS"/>
                <a:cs typeface="Trebuchet MS"/>
              </a:rPr>
              <a:t>&lt;</a:t>
            </a:r>
            <a:r>
              <a:rPr lang="en-US" sz="2700" kern="0" spc="-15" dirty="0">
                <a:solidFill>
                  <a:srgbClr val="292934"/>
                </a:solidFill>
                <a:latin typeface="Trebuchet MS"/>
                <a:cs typeface="Trebuchet MS"/>
              </a:rPr>
              <a:t>1</a:t>
            </a:r>
            <a:r>
              <a:rPr kumimoji="0" lang="en-US" sz="2700" b="0" i="0" u="none" strike="noStrike" kern="0" cap="none" spc="-15" normalizeH="0" baseline="0" noProof="0" dirty="0">
                <a:ln>
                  <a:noFill/>
                </a:ln>
                <a:solidFill>
                  <a:srgbClr val="292934"/>
                </a:solidFill>
                <a:effectLst/>
                <a:uLnTx/>
                <a:uFillTx/>
                <a:latin typeface="Trebuchet MS"/>
                <a:cs typeface="Trebuchet MS"/>
              </a:rPr>
              <a:t>, </a:t>
            </a:r>
            <a:r>
              <a:rPr lang="en-US" sz="2700" kern="0" spc="-15" dirty="0">
                <a:solidFill>
                  <a:srgbClr val="292934"/>
                </a:solidFill>
                <a:latin typeface="Trebuchet MS"/>
                <a:cs typeface="Trebuchet MS"/>
              </a:rPr>
              <a:t>1</a:t>
            </a:r>
            <a:r>
              <a:rPr kumimoji="0" lang="en-US" sz="2700" b="0" i="0" u="none" strike="noStrike" kern="0" cap="none" spc="-15" normalizeH="0" baseline="0" noProof="0" dirty="0">
                <a:ln>
                  <a:noFill/>
                </a:ln>
                <a:solidFill>
                  <a:srgbClr val="292934"/>
                </a:solidFill>
                <a:effectLst/>
                <a:uLnTx/>
                <a:uFillTx/>
                <a:latin typeface="Trebuchet MS"/>
                <a:cs typeface="Trebuchet MS"/>
              </a:rPr>
              <a:t>&gt; </a:t>
            </a:r>
            <a:r>
              <a:rPr kumimoji="0" sz="2700" b="0" i="0" u="none" strike="noStrike" kern="0" cap="none" spc="-15" normalizeH="0" baseline="0" noProof="0" dirty="0">
                <a:ln>
                  <a:noFill/>
                </a:ln>
                <a:solidFill>
                  <a:srgbClr val="292934"/>
                </a:solidFill>
                <a:effectLst/>
                <a:uLnTx/>
                <a:uFillTx/>
                <a:latin typeface="Trebuchet MS"/>
                <a:cs typeface="Trebuchet MS"/>
              </a:rPr>
              <a:t> </a:t>
            </a:r>
            <a:endParaRPr kumimoji="0" lang="en-US" sz="2700" b="0" i="0" u="none" strike="noStrike" kern="0" cap="none" spc="-15" normalizeH="0" baseline="0" noProof="0" dirty="0">
              <a:ln>
                <a:noFill/>
              </a:ln>
              <a:solidFill>
                <a:srgbClr val="292934"/>
              </a:solidFill>
              <a:effectLst/>
              <a:uLnTx/>
              <a:uFillTx/>
              <a:latin typeface="Trebuchet MS"/>
              <a:cs typeface="Trebuchet MS"/>
            </a:endParaRPr>
          </a:p>
          <a:p>
            <a:pPr marL="19050" marR="0" lvl="0" indent="0" algn="ctr" defTabSz="1371600" eaLnBrk="1" fontAlgn="auto" latinLnBrk="0" hangingPunct="1">
              <a:lnSpc>
                <a:spcPct val="100000"/>
              </a:lnSpc>
              <a:spcBef>
                <a:spcPts val="0"/>
              </a:spcBef>
              <a:spcAft>
                <a:spcPts val="0"/>
              </a:spcAft>
              <a:buClrTx/>
              <a:buSzTx/>
              <a:buFontTx/>
              <a:buNone/>
              <a:tabLst/>
              <a:defRPr/>
            </a:pPr>
            <a:r>
              <a:rPr kumimoji="0" lang="en-US" sz="2700" b="0" i="0" u="none" strike="noStrike" kern="0" cap="none" spc="-15" normalizeH="0" baseline="0" noProof="0" dirty="0">
                <a:ln>
                  <a:noFill/>
                </a:ln>
                <a:solidFill>
                  <a:srgbClr val="292934"/>
                </a:solidFill>
                <a:effectLst/>
                <a:uLnTx/>
                <a:uFillTx/>
                <a:latin typeface="Trebuchet MS"/>
                <a:cs typeface="Trebuchet MS"/>
              </a:rPr>
              <a:t>&lt;</a:t>
            </a:r>
            <a:r>
              <a:rPr lang="en-US" sz="2700" kern="0" spc="-15" dirty="0">
                <a:solidFill>
                  <a:srgbClr val="292934"/>
                </a:solidFill>
                <a:latin typeface="Trebuchet MS"/>
                <a:cs typeface="Trebuchet MS"/>
              </a:rPr>
              <a:t>1, 1&gt;</a:t>
            </a:r>
            <a:r>
              <a:rPr kumimoji="0" sz="2700" b="0" i="0" u="none" strike="noStrike" kern="0" cap="none" spc="-15" normalizeH="0" baseline="0" noProof="0" dirty="0">
                <a:ln>
                  <a:noFill/>
                </a:ln>
                <a:solidFill>
                  <a:srgbClr val="292934"/>
                </a:solidFill>
                <a:effectLst/>
                <a:uLnTx/>
                <a:uFillTx/>
                <a:latin typeface="Trebuchet MS"/>
                <a:cs typeface="Trebuchet MS"/>
              </a:rPr>
              <a:t> </a:t>
            </a:r>
            <a:endParaRPr kumimoji="0" lang="en-US" sz="2700" b="0" i="0" u="none" strike="noStrike" kern="0" cap="none" spc="-15" normalizeH="0" baseline="0" noProof="0" dirty="0">
              <a:ln>
                <a:noFill/>
              </a:ln>
              <a:solidFill>
                <a:srgbClr val="292934"/>
              </a:solidFill>
              <a:effectLst/>
              <a:uLnTx/>
              <a:uFillTx/>
              <a:latin typeface="Trebuchet MS"/>
              <a:cs typeface="Trebuchet MS"/>
            </a:endParaRPr>
          </a:p>
          <a:p>
            <a:pPr marL="19050" marR="0" lvl="0" indent="0" algn="ctr" defTabSz="1371600" eaLnBrk="1" fontAlgn="auto" latinLnBrk="0" hangingPunct="1">
              <a:lnSpc>
                <a:spcPct val="100000"/>
              </a:lnSpc>
              <a:spcBef>
                <a:spcPts val="0"/>
              </a:spcBef>
              <a:spcAft>
                <a:spcPts val="0"/>
              </a:spcAft>
              <a:buClrTx/>
              <a:buSzTx/>
              <a:buFontTx/>
              <a:buNone/>
              <a:tabLst/>
              <a:defRPr/>
            </a:pPr>
            <a:r>
              <a:rPr kumimoji="0" lang="en-US" sz="2700" b="0" i="0" u="none" strike="noStrike" kern="0" cap="none" spc="-15" normalizeH="0" baseline="0" noProof="0" dirty="0">
                <a:ln>
                  <a:noFill/>
                </a:ln>
                <a:solidFill>
                  <a:srgbClr val="292934"/>
                </a:solidFill>
                <a:effectLst/>
                <a:uLnTx/>
                <a:uFillTx/>
                <a:latin typeface="Trebuchet MS"/>
                <a:cs typeface="Trebuchet MS"/>
              </a:rPr>
              <a:t>&lt;</a:t>
            </a:r>
            <a:r>
              <a:rPr lang="en-US" sz="2700" kern="0" spc="-15" dirty="0">
                <a:solidFill>
                  <a:srgbClr val="292934"/>
                </a:solidFill>
                <a:latin typeface="Trebuchet MS"/>
                <a:cs typeface="Trebuchet MS"/>
              </a:rPr>
              <a:t>2, 1&gt;</a:t>
            </a:r>
            <a:endParaRPr kumimoji="0" lang="en-US" sz="2700" b="0" i="0" u="none" strike="noStrike" kern="0" cap="none" spc="-15" normalizeH="0" baseline="0" noProof="0" dirty="0">
              <a:ln>
                <a:noFill/>
              </a:ln>
              <a:solidFill>
                <a:srgbClr val="292934"/>
              </a:solidFill>
              <a:effectLst/>
              <a:uLnTx/>
              <a:uFillTx/>
              <a:latin typeface="Trebuchet MS"/>
              <a:cs typeface="Trebuchet MS"/>
            </a:endParaRPr>
          </a:p>
          <a:p>
            <a:pPr marL="19050" marR="0" lvl="0" indent="0" algn="ctr" defTabSz="1371600" eaLnBrk="1" fontAlgn="auto" latinLnBrk="0" hangingPunct="1">
              <a:lnSpc>
                <a:spcPct val="100000"/>
              </a:lnSpc>
              <a:spcBef>
                <a:spcPts val="0"/>
              </a:spcBef>
              <a:spcAft>
                <a:spcPts val="0"/>
              </a:spcAft>
              <a:buClrTx/>
              <a:buSzTx/>
              <a:buFontTx/>
              <a:buNone/>
              <a:tabLst/>
              <a:defRPr/>
            </a:pPr>
            <a:r>
              <a:rPr kumimoji="0" lang="en-US" sz="2700" b="0" i="0" u="none" strike="noStrike" kern="0" cap="none" spc="-15" normalizeH="0" baseline="0" noProof="0" dirty="0">
                <a:ln>
                  <a:noFill/>
                </a:ln>
                <a:solidFill>
                  <a:srgbClr val="292934"/>
                </a:solidFill>
                <a:effectLst/>
                <a:uLnTx/>
                <a:uFillTx/>
                <a:latin typeface="Trebuchet MS"/>
                <a:cs typeface="Trebuchet MS"/>
              </a:rPr>
              <a:t>&lt;</a:t>
            </a:r>
            <a:r>
              <a:rPr lang="en-US" sz="2700" kern="0" spc="-15" dirty="0">
                <a:solidFill>
                  <a:srgbClr val="292934"/>
                </a:solidFill>
                <a:latin typeface="Trebuchet MS"/>
                <a:cs typeface="Trebuchet MS"/>
              </a:rPr>
              <a:t>2, 1&gt;</a:t>
            </a:r>
            <a:endParaRPr kumimoji="0" lang="en-US" sz="2700" b="0" i="0" u="none" strike="noStrike" kern="0" cap="none" spc="-15" normalizeH="0" baseline="0" noProof="0" dirty="0">
              <a:ln>
                <a:noFill/>
              </a:ln>
              <a:solidFill>
                <a:srgbClr val="292934"/>
              </a:solidFill>
              <a:effectLst/>
              <a:uLnTx/>
              <a:uFillTx/>
              <a:latin typeface="Trebuchet MS"/>
              <a:cs typeface="Trebuchet MS"/>
            </a:endParaRPr>
          </a:p>
          <a:p>
            <a:pPr marL="19050" marR="0" lvl="0" indent="0" algn="ctr" defTabSz="1371600" eaLnBrk="1" fontAlgn="auto" latinLnBrk="0" hangingPunct="1">
              <a:lnSpc>
                <a:spcPct val="100000"/>
              </a:lnSpc>
              <a:spcBef>
                <a:spcPts val="0"/>
              </a:spcBef>
              <a:spcAft>
                <a:spcPts val="0"/>
              </a:spcAft>
              <a:buClrTx/>
              <a:buSzTx/>
              <a:buFontTx/>
              <a:buNone/>
              <a:tabLst/>
              <a:defRPr/>
            </a:pPr>
            <a:r>
              <a:rPr kumimoji="0" lang="en-US" sz="2700" b="0" i="0" u="none" strike="noStrike" kern="0" cap="none" spc="-15" normalizeH="0" baseline="0" noProof="0" dirty="0">
                <a:ln>
                  <a:noFill/>
                </a:ln>
                <a:solidFill>
                  <a:srgbClr val="292934"/>
                </a:solidFill>
                <a:effectLst/>
                <a:uLnTx/>
                <a:uFillTx/>
                <a:latin typeface="Trebuchet MS"/>
                <a:cs typeface="Trebuchet MS"/>
              </a:rPr>
              <a:t>&lt;</a:t>
            </a:r>
            <a:r>
              <a:rPr lang="en-US" sz="2700" kern="0" spc="-15" dirty="0">
                <a:solidFill>
                  <a:srgbClr val="292934"/>
                </a:solidFill>
                <a:latin typeface="Trebuchet MS"/>
                <a:cs typeface="Trebuchet MS"/>
              </a:rPr>
              <a:t>3, 1&gt;</a:t>
            </a:r>
          </a:p>
          <a:p>
            <a:pPr marL="19050" marR="0" lvl="0" indent="0" algn="ctr" defTabSz="1371600" eaLnBrk="1" fontAlgn="auto" latinLnBrk="0" hangingPunct="1">
              <a:lnSpc>
                <a:spcPct val="100000"/>
              </a:lnSpc>
              <a:spcBef>
                <a:spcPts val="0"/>
              </a:spcBef>
              <a:spcAft>
                <a:spcPts val="0"/>
              </a:spcAft>
              <a:buClrTx/>
              <a:buSzTx/>
              <a:buFontTx/>
              <a:buNone/>
              <a:tabLst/>
              <a:defRPr/>
            </a:pPr>
            <a:r>
              <a:rPr kumimoji="0" lang="en-US" sz="2700" b="0" i="0" u="none" strike="noStrike" kern="0" cap="none" spc="-15" normalizeH="0" baseline="0" noProof="0" dirty="0">
                <a:ln>
                  <a:noFill/>
                </a:ln>
                <a:solidFill>
                  <a:srgbClr val="292934"/>
                </a:solidFill>
                <a:effectLst/>
                <a:uLnTx/>
                <a:uFillTx/>
                <a:latin typeface="Trebuchet MS"/>
                <a:cs typeface="Trebuchet MS"/>
              </a:rPr>
              <a:t>&lt;3, 1</a:t>
            </a:r>
            <a:r>
              <a:rPr lang="en-US" sz="2700" kern="0" spc="-15" dirty="0">
                <a:solidFill>
                  <a:srgbClr val="292934"/>
                </a:solidFill>
                <a:latin typeface="Trebuchet MS"/>
                <a:cs typeface="Trebuchet MS"/>
              </a:rPr>
              <a:t>&gt;</a:t>
            </a:r>
            <a:endParaRPr kumimoji="0" lang="en-US" sz="2700" b="0" i="0" u="none" strike="noStrike" kern="0" cap="none" spc="-15" normalizeH="0" baseline="0" noProof="0" dirty="0">
              <a:ln>
                <a:noFill/>
              </a:ln>
              <a:solidFill>
                <a:srgbClr val="292934"/>
              </a:solidFill>
              <a:effectLst/>
              <a:uLnTx/>
              <a:uFillTx/>
              <a:latin typeface="Trebuchet MS"/>
              <a:cs typeface="Trebuchet MS"/>
            </a:endParaRPr>
          </a:p>
          <a:p>
            <a:pPr marL="19050" marR="0" lvl="0" indent="0" algn="ctr" defTabSz="1371600" eaLnBrk="1" fontAlgn="auto" latinLnBrk="0" hangingPunct="1">
              <a:lnSpc>
                <a:spcPct val="100000"/>
              </a:lnSpc>
              <a:spcBef>
                <a:spcPts val="0"/>
              </a:spcBef>
              <a:spcAft>
                <a:spcPts val="0"/>
              </a:spcAft>
              <a:buClrTx/>
              <a:buSzTx/>
              <a:buFontTx/>
              <a:buNone/>
              <a:tabLst/>
              <a:defRPr/>
            </a:pPr>
            <a:r>
              <a:rPr kumimoji="0" lang="en-US" sz="2700" b="0" i="0" u="none" strike="noStrike" kern="0" cap="none" spc="-15" normalizeH="0" baseline="0" noProof="0" dirty="0">
                <a:ln>
                  <a:noFill/>
                </a:ln>
                <a:solidFill>
                  <a:srgbClr val="292934"/>
                </a:solidFill>
                <a:effectLst/>
                <a:uLnTx/>
                <a:uFillTx/>
                <a:latin typeface="Trebuchet MS"/>
                <a:cs typeface="Trebuchet MS"/>
              </a:rPr>
              <a:t>&lt;</a:t>
            </a:r>
            <a:r>
              <a:rPr lang="en-US" sz="2700" kern="0" spc="-15" dirty="0">
                <a:solidFill>
                  <a:srgbClr val="292934"/>
                </a:solidFill>
                <a:latin typeface="Trebuchet MS"/>
                <a:cs typeface="Trebuchet MS"/>
              </a:rPr>
              <a:t>4, 1&gt;</a:t>
            </a:r>
            <a:endParaRPr kumimoji="0" lang="en-US" sz="2700" b="0" i="0" u="none" strike="noStrike" kern="0" cap="none" spc="614" normalizeH="0" baseline="0" noProof="0" dirty="0">
              <a:ln>
                <a:noFill/>
              </a:ln>
              <a:solidFill>
                <a:srgbClr val="292934"/>
              </a:solidFill>
              <a:effectLst/>
              <a:uLnTx/>
              <a:uFillTx/>
              <a:latin typeface="Trebuchet MS"/>
              <a:cs typeface="Trebuchet MS"/>
            </a:endParaRPr>
          </a:p>
        </p:txBody>
      </p:sp>
      <p:cxnSp>
        <p:nvCxnSpPr>
          <p:cNvPr id="9" name="Straight Arrow Connector 8">
            <a:extLst>
              <a:ext uri="{FF2B5EF4-FFF2-40B4-BE49-F238E27FC236}">
                <a16:creationId xmlns:a16="http://schemas.microsoft.com/office/drawing/2014/main" id="{D97F9BF4-E059-90F6-3406-CC57490F091C}"/>
              </a:ext>
            </a:extLst>
          </p:cNvPr>
          <p:cNvCxnSpPr>
            <a:cxnSpLocks/>
            <a:stCxn id="7" idx="3"/>
          </p:cNvCxnSpPr>
          <p:nvPr/>
        </p:nvCxnSpPr>
        <p:spPr>
          <a:xfrm>
            <a:off x="6572250" y="6831078"/>
            <a:ext cx="1188720" cy="7872"/>
          </a:xfrm>
          <a:prstGeom prst="straightConnector1">
            <a:avLst/>
          </a:prstGeom>
          <a:noFill/>
          <a:ln w="38100" cap="flat" cmpd="sng" algn="ctr">
            <a:solidFill>
              <a:srgbClr val="93A299"/>
            </a:solidFill>
            <a:prstDash val="solid"/>
            <a:tailEnd type="triangle"/>
          </a:ln>
          <a:effectLst/>
        </p:spPr>
      </p:cxnSp>
      <p:cxnSp>
        <p:nvCxnSpPr>
          <p:cNvPr id="10" name="Straight Arrow Connector 9">
            <a:extLst>
              <a:ext uri="{FF2B5EF4-FFF2-40B4-BE49-F238E27FC236}">
                <a16:creationId xmlns:a16="http://schemas.microsoft.com/office/drawing/2014/main" id="{BB58A043-F47B-086E-1D64-F39850C0BB17}"/>
              </a:ext>
            </a:extLst>
          </p:cNvPr>
          <p:cNvCxnSpPr>
            <a:cxnSpLocks/>
          </p:cNvCxnSpPr>
          <p:nvPr/>
        </p:nvCxnSpPr>
        <p:spPr>
          <a:xfrm>
            <a:off x="10876865" y="6853618"/>
            <a:ext cx="1188720" cy="7872"/>
          </a:xfrm>
          <a:prstGeom prst="straightConnector1">
            <a:avLst/>
          </a:prstGeom>
          <a:noFill/>
          <a:ln w="38100" cap="flat" cmpd="sng" algn="ctr">
            <a:solidFill>
              <a:srgbClr val="93A299"/>
            </a:solidFill>
            <a:prstDash val="solid"/>
            <a:tailEnd type="triangle"/>
          </a:ln>
          <a:effectLst/>
        </p:spPr>
      </p:cxnSp>
      <p:sp>
        <p:nvSpPr>
          <p:cNvPr id="12" name="Rectangle 11">
            <a:extLst>
              <a:ext uri="{FF2B5EF4-FFF2-40B4-BE49-F238E27FC236}">
                <a16:creationId xmlns:a16="http://schemas.microsoft.com/office/drawing/2014/main" id="{6957849B-2C81-1591-F896-50A915B88ABF}"/>
              </a:ext>
            </a:extLst>
          </p:cNvPr>
          <p:cNvSpPr/>
          <p:nvPr/>
        </p:nvSpPr>
        <p:spPr>
          <a:xfrm>
            <a:off x="1232453" y="25222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800" dirty="0">
                <a:solidFill>
                  <a:schemeClr val="bg2"/>
                </a:solidFill>
              </a:rPr>
              <a:t>How many of each movie rating exist?</a:t>
            </a:r>
          </a:p>
        </p:txBody>
      </p:sp>
      <p:sp>
        <p:nvSpPr>
          <p:cNvPr id="13" name="Rectangle 12">
            <a:extLst>
              <a:ext uri="{FF2B5EF4-FFF2-40B4-BE49-F238E27FC236}">
                <a16:creationId xmlns:a16="http://schemas.microsoft.com/office/drawing/2014/main" id="{C8336378-B197-D0C2-00D1-6D1DAF29C82C}"/>
              </a:ext>
              <a:ext uri="{C183D7F6-B498-43B3-948B-1728B52AA6E4}">
                <adec:decorative xmlns:adec="http://schemas.microsoft.com/office/drawing/2017/decorative" val="1"/>
              </a:ext>
            </a:extLst>
          </p:cNvPr>
          <p:cNvSpPr/>
          <p:nvPr/>
        </p:nvSpPr>
        <p:spPr>
          <a:xfrm>
            <a:off x="-1" y="25222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Tree>
    <p:extLst>
      <p:ext uri="{BB962C8B-B14F-4D97-AF65-F5344CB8AC3E}">
        <p14:creationId xmlns:p14="http://schemas.microsoft.com/office/powerpoint/2010/main" val="26826782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DA487-52EA-84E9-34E0-6925D16AD83F}"/>
              </a:ext>
            </a:extLst>
          </p:cNvPr>
          <p:cNvSpPr>
            <a:spLocks noGrp="1"/>
          </p:cNvSpPr>
          <p:nvPr>
            <p:ph type="title"/>
          </p:nvPr>
        </p:nvSpPr>
        <p:spPr/>
        <p:txBody>
          <a:bodyPr/>
          <a:lstStyle/>
          <a:p>
            <a:r>
              <a:rPr lang="en-US" dirty="0"/>
              <a:t>Movie Rating Count Using MrJob </a:t>
            </a:r>
            <a:br>
              <a:rPr lang="en-US" dirty="0"/>
            </a:br>
            <a:r>
              <a:rPr lang="en-US" spc="-8" dirty="0"/>
              <a:t>Map Phase</a:t>
            </a:r>
            <a:endParaRPr lang="en-US" dirty="0"/>
          </a:p>
        </p:txBody>
      </p:sp>
      <p:sp>
        <p:nvSpPr>
          <p:cNvPr id="3" name="object 6">
            <a:extLst>
              <a:ext uri="{FF2B5EF4-FFF2-40B4-BE49-F238E27FC236}">
                <a16:creationId xmlns:a16="http://schemas.microsoft.com/office/drawing/2014/main" id="{B5199C6C-6AEC-4817-5AFE-7E49B2282263}"/>
              </a:ext>
            </a:extLst>
          </p:cNvPr>
          <p:cNvSpPr/>
          <p:nvPr/>
        </p:nvSpPr>
        <p:spPr>
          <a:xfrm>
            <a:off x="1701494" y="6575737"/>
            <a:ext cx="3089909" cy="662939"/>
          </a:xfrm>
          <a:custGeom>
            <a:avLst/>
            <a:gdLst/>
            <a:ahLst/>
            <a:cxnLst/>
            <a:rect l="l" t="t" r="r" b="b"/>
            <a:pathLst>
              <a:path w="2059939" h="441960">
                <a:moveTo>
                  <a:pt x="1986279" y="0"/>
                </a:moveTo>
                <a:lnTo>
                  <a:pt x="73660" y="0"/>
                </a:lnTo>
                <a:lnTo>
                  <a:pt x="45005" y="5794"/>
                </a:lnTo>
                <a:lnTo>
                  <a:pt x="21590" y="21589"/>
                </a:lnTo>
                <a:lnTo>
                  <a:pt x="5794" y="45005"/>
                </a:lnTo>
                <a:lnTo>
                  <a:pt x="0" y="73659"/>
                </a:lnTo>
                <a:lnTo>
                  <a:pt x="0" y="368299"/>
                </a:lnTo>
                <a:lnTo>
                  <a:pt x="5794" y="396954"/>
                </a:lnTo>
                <a:lnTo>
                  <a:pt x="21590" y="420369"/>
                </a:lnTo>
                <a:lnTo>
                  <a:pt x="45005" y="436165"/>
                </a:lnTo>
                <a:lnTo>
                  <a:pt x="73660" y="441959"/>
                </a:lnTo>
                <a:lnTo>
                  <a:pt x="1986279" y="441959"/>
                </a:lnTo>
                <a:lnTo>
                  <a:pt x="2014934" y="436165"/>
                </a:lnTo>
                <a:lnTo>
                  <a:pt x="2038350" y="420369"/>
                </a:lnTo>
                <a:lnTo>
                  <a:pt x="2054145" y="396954"/>
                </a:lnTo>
                <a:lnTo>
                  <a:pt x="2059939" y="368299"/>
                </a:lnTo>
                <a:lnTo>
                  <a:pt x="2059939" y="73659"/>
                </a:lnTo>
                <a:lnTo>
                  <a:pt x="2054145" y="45005"/>
                </a:lnTo>
                <a:lnTo>
                  <a:pt x="2038350" y="21589"/>
                </a:lnTo>
                <a:lnTo>
                  <a:pt x="2014934" y="5794"/>
                </a:lnTo>
                <a:lnTo>
                  <a:pt x="1986279" y="0"/>
                </a:lnTo>
                <a:close/>
              </a:path>
            </a:pathLst>
          </a:custGeom>
          <a:solidFill>
            <a:srgbClr val="F3C72D"/>
          </a:solidFill>
        </p:spPr>
        <p:txBody>
          <a:bodyPr wrap="square" lIns="0" tIns="0" rIns="0" bIns="0" rtlCol="0"/>
          <a:lstStyle/>
          <a:p>
            <a:pPr defTabSz="1371600" fontAlgn="auto">
              <a:spcBef>
                <a:spcPts val="0"/>
              </a:spcBef>
              <a:spcAft>
                <a:spcPts val="0"/>
              </a:spcAft>
            </a:pPr>
            <a:endParaRPr sz="2700" dirty="0">
              <a:solidFill>
                <a:srgbClr val="292934"/>
              </a:solidFill>
              <a:latin typeface="Arial"/>
            </a:endParaRPr>
          </a:p>
        </p:txBody>
      </p:sp>
      <p:sp>
        <p:nvSpPr>
          <p:cNvPr id="4" name="object 7">
            <a:extLst>
              <a:ext uri="{FF2B5EF4-FFF2-40B4-BE49-F238E27FC236}">
                <a16:creationId xmlns:a16="http://schemas.microsoft.com/office/drawing/2014/main" id="{198A5A1F-A9DE-249A-B9B9-5B07A40BB31D}"/>
              </a:ext>
            </a:extLst>
          </p:cNvPr>
          <p:cNvSpPr/>
          <p:nvPr/>
        </p:nvSpPr>
        <p:spPr>
          <a:xfrm>
            <a:off x="1701648" y="6575737"/>
            <a:ext cx="3089909" cy="662939"/>
          </a:xfrm>
          <a:custGeom>
            <a:avLst/>
            <a:gdLst/>
            <a:ahLst/>
            <a:cxnLst/>
            <a:rect l="l" t="t" r="r" b="b"/>
            <a:pathLst>
              <a:path w="2059939" h="441960">
                <a:moveTo>
                  <a:pt x="1986176" y="0"/>
                </a:moveTo>
                <a:lnTo>
                  <a:pt x="73556" y="0"/>
                </a:lnTo>
                <a:lnTo>
                  <a:pt x="66063" y="380"/>
                </a:lnTo>
                <a:lnTo>
                  <a:pt x="21486" y="21589"/>
                </a:lnTo>
                <a:lnTo>
                  <a:pt x="1420" y="58800"/>
                </a:lnTo>
                <a:lnTo>
                  <a:pt x="0" y="71627"/>
                </a:lnTo>
                <a:lnTo>
                  <a:pt x="4" y="370458"/>
                </a:lnTo>
                <a:lnTo>
                  <a:pt x="12469" y="409447"/>
                </a:lnTo>
                <a:lnTo>
                  <a:pt x="44854" y="436117"/>
                </a:lnTo>
                <a:lnTo>
                  <a:pt x="73556" y="441959"/>
                </a:lnTo>
                <a:lnTo>
                  <a:pt x="1986176" y="441959"/>
                </a:lnTo>
                <a:lnTo>
                  <a:pt x="2027451" y="429386"/>
                </a:lnTo>
                <a:lnTo>
                  <a:pt x="2049089" y="406526"/>
                </a:lnTo>
                <a:lnTo>
                  <a:pt x="73556" y="406399"/>
                </a:lnTo>
                <a:lnTo>
                  <a:pt x="67841" y="406145"/>
                </a:lnTo>
                <a:lnTo>
                  <a:pt x="49786" y="398017"/>
                </a:lnTo>
                <a:lnTo>
                  <a:pt x="49045" y="398017"/>
                </a:lnTo>
                <a:lnTo>
                  <a:pt x="43965" y="392937"/>
                </a:lnTo>
                <a:lnTo>
                  <a:pt x="44899" y="392937"/>
                </a:lnTo>
                <a:lnTo>
                  <a:pt x="40028" y="386968"/>
                </a:lnTo>
                <a:lnTo>
                  <a:pt x="35456" y="370458"/>
                </a:lnTo>
                <a:lnTo>
                  <a:pt x="35456" y="73659"/>
                </a:lnTo>
                <a:lnTo>
                  <a:pt x="44519" y="49148"/>
                </a:lnTo>
                <a:lnTo>
                  <a:pt x="43965" y="49148"/>
                </a:lnTo>
                <a:lnTo>
                  <a:pt x="49045" y="44068"/>
                </a:lnTo>
                <a:lnTo>
                  <a:pt x="50118" y="44068"/>
                </a:lnTo>
                <a:lnTo>
                  <a:pt x="54887" y="40131"/>
                </a:lnTo>
                <a:lnTo>
                  <a:pt x="71524" y="35559"/>
                </a:lnTo>
                <a:lnTo>
                  <a:pt x="2049168" y="35559"/>
                </a:lnTo>
                <a:lnTo>
                  <a:pt x="2047263" y="32511"/>
                </a:lnTo>
                <a:lnTo>
                  <a:pt x="2014878" y="5841"/>
                </a:lnTo>
                <a:lnTo>
                  <a:pt x="1993669" y="380"/>
                </a:lnTo>
                <a:lnTo>
                  <a:pt x="1986176" y="0"/>
                </a:lnTo>
                <a:close/>
              </a:path>
              <a:path w="2059939" h="441960">
                <a:moveTo>
                  <a:pt x="2013662" y="394754"/>
                </a:moveTo>
                <a:lnTo>
                  <a:pt x="2004972" y="401827"/>
                </a:lnTo>
                <a:lnTo>
                  <a:pt x="2002813" y="402716"/>
                </a:lnTo>
                <a:lnTo>
                  <a:pt x="1999638" y="404113"/>
                </a:lnTo>
                <a:lnTo>
                  <a:pt x="1995955" y="405256"/>
                </a:lnTo>
                <a:lnTo>
                  <a:pt x="1992145" y="406018"/>
                </a:lnTo>
                <a:lnTo>
                  <a:pt x="1988208" y="406526"/>
                </a:lnTo>
                <a:lnTo>
                  <a:pt x="2049089" y="406526"/>
                </a:lnTo>
                <a:lnTo>
                  <a:pt x="2051073" y="403351"/>
                </a:lnTo>
                <a:lnTo>
                  <a:pt x="2053633" y="398017"/>
                </a:lnTo>
                <a:lnTo>
                  <a:pt x="2010814" y="398017"/>
                </a:lnTo>
                <a:lnTo>
                  <a:pt x="2013662" y="394754"/>
                </a:lnTo>
                <a:close/>
              </a:path>
              <a:path w="2059939" h="441960">
                <a:moveTo>
                  <a:pt x="43965" y="392937"/>
                </a:moveTo>
                <a:lnTo>
                  <a:pt x="49045" y="398017"/>
                </a:lnTo>
                <a:lnTo>
                  <a:pt x="47212" y="395771"/>
                </a:lnTo>
                <a:lnTo>
                  <a:pt x="43965" y="392937"/>
                </a:lnTo>
                <a:close/>
              </a:path>
              <a:path w="2059939" h="441960">
                <a:moveTo>
                  <a:pt x="47212" y="395771"/>
                </a:moveTo>
                <a:lnTo>
                  <a:pt x="49045" y="398017"/>
                </a:lnTo>
                <a:lnTo>
                  <a:pt x="49786" y="398017"/>
                </a:lnTo>
                <a:lnTo>
                  <a:pt x="47212" y="395771"/>
                </a:lnTo>
                <a:close/>
              </a:path>
              <a:path w="2059939" h="441960">
                <a:moveTo>
                  <a:pt x="2015894" y="392937"/>
                </a:moveTo>
                <a:lnTo>
                  <a:pt x="2013662" y="394754"/>
                </a:lnTo>
                <a:lnTo>
                  <a:pt x="2010814" y="398017"/>
                </a:lnTo>
                <a:lnTo>
                  <a:pt x="2015894" y="392937"/>
                </a:lnTo>
                <a:close/>
              </a:path>
              <a:path w="2059939" h="441960">
                <a:moveTo>
                  <a:pt x="2055578" y="392937"/>
                </a:moveTo>
                <a:lnTo>
                  <a:pt x="2015894" y="392937"/>
                </a:lnTo>
                <a:lnTo>
                  <a:pt x="2010814" y="398017"/>
                </a:lnTo>
                <a:lnTo>
                  <a:pt x="2053633" y="398017"/>
                </a:lnTo>
                <a:lnTo>
                  <a:pt x="2054121" y="397001"/>
                </a:lnTo>
                <a:lnTo>
                  <a:pt x="2055578" y="392937"/>
                </a:lnTo>
                <a:close/>
              </a:path>
              <a:path w="2059939" h="441960">
                <a:moveTo>
                  <a:pt x="44899" y="392937"/>
                </a:moveTo>
                <a:lnTo>
                  <a:pt x="43965" y="392937"/>
                </a:lnTo>
                <a:lnTo>
                  <a:pt x="47212" y="395771"/>
                </a:lnTo>
                <a:lnTo>
                  <a:pt x="44899" y="392937"/>
                </a:lnTo>
                <a:close/>
              </a:path>
              <a:path w="2059939" h="441960">
                <a:moveTo>
                  <a:pt x="2012544" y="46164"/>
                </a:moveTo>
                <a:lnTo>
                  <a:pt x="2024403" y="71627"/>
                </a:lnTo>
                <a:lnTo>
                  <a:pt x="2024277" y="366521"/>
                </a:lnTo>
                <a:lnTo>
                  <a:pt x="2013662" y="394754"/>
                </a:lnTo>
                <a:lnTo>
                  <a:pt x="2015894" y="392937"/>
                </a:lnTo>
                <a:lnTo>
                  <a:pt x="2055578" y="392937"/>
                </a:lnTo>
                <a:lnTo>
                  <a:pt x="2056534" y="390270"/>
                </a:lnTo>
                <a:lnTo>
                  <a:pt x="2058312" y="383158"/>
                </a:lnTo>
                <a:lnTo>
                  <a:pt x="2059455" y="375919"/>
                </a:lnTo>
                <a:lnTo>
                  <a:pt x="2059728" y="370458"/>
                </a:lnTo>
                <a:lnTo>
                  <a:pt x="2059733" y="71627"/>
                </a:lnTo>
                <a:lnTo>
                  <a:pt x="2059455" y="66166"/>
                </a:lnTo>
                <a:lnTo>
                  <a:pt x="2058312" y="58800"/>
                </a:lnTo>
                <a:lnTo>
                  <a:pt x="2056534" y="51688"/>
                </a:lnTo>
                <a:lnTo>
                  <a:pt x="2055624" y="49148"/>
                </a:lnTo>
                <a:lnTo>
                  <a:pt x="2015894" y="49148"/>
                </a:lnTo>
                <a:lnTo>
                  <a:pt x="2012544" y="46164"/>
                </a:lnTo>
                <a:close/>
              </a:path>
              <a:path w="2059939" h="441960">
                <a:moveTo>
                  <a:pt x="49045" y="44068"/>
                </a:moveTo>
                <a:lnTo>
                  <a:pt x="43965" y="49148"/>
                </a:lnTo>
                <a:lnTo>
                  <a:pt x="46061" y="47419"/>
                </a:lnTo>
                <a:lnTo>
                  <a:pt x="49045" y="44068"/>
                </a:lnTo>
                <a:close/>
              </a:path>
              <a:path w="2059939" h="441960">
                <a:moveTo>
                  <a:pt x="46061" y="47419"/>
                </a:moveTo>
                <a:lnTo>
                  <a:pt x="43965" y="49148"/>
                </a:lnTo>
                <a:lnTo>
                  <a:pt x="44519" y="49148"/>
                </a:lnTo>
                <a:lnTo>
                  <a:pt x="46061" y="47419"/>
                </a:lnTo>
                <a:close/>
              </a:path>
              <a:path w="2059939" h="441960">
                <a:moveTo>
                  <a:pt x="2010814" y="44068"/>
                </a:moveTo>
                <a:lnTo>
                  <a:pt x="2012544" y="46164"/>
                </a:lnTo>
                <a:lnTo>
                  <a:pt x="2015894" y="49148"/>
                </a:lnTo>
                <a:lnTo>
                  <a:pt x="2010814" y="44068"/>
                </a:lnTo>
                <a:close/>
              </a:path>
              <a:path w="2059939" h="441960">
                <a:moveTo>
                  <a:pt x="2053694" y="44068"/>
                </a:moveTo>
                <a:lnTo>
                  <a:pt x="2010814" y="44068"/>
                </a:lnTo>
                <a:lnTo>
                  <a:pt x="2015894" y="49148"/>
                </a:lnTo>
                <a:lnTo>
                  <a:pt x="2055624" y="49148"/>
                </a:lnTo>
                <a:lnTo>
                  <a:pt x="2054121" y="44957"/>
                </a:lnTo>
                <a:lnTo>
                  <a:pt x="2053694" y="44068"/>
                </a:lnTo>
                <a:close/>
              </a:path>
              <a:path w="2059939" h="441960">
                <a:moveTo>
                  <a:pt x="50118" y="44068"/>
                </a:moveTo>
                <a:lnTo>
                  <a:pt x="49045" y="44068"/>
                </a:lnTo>
                <a:lnTo>
                  <a:pt x="46061" y="47419"/>
                </a:lnTo>
                <a:lnTo>
                  <a:pt x="50118" y="44068"/>
                </a:lnTo>
                <a:close/>
              </a:path>
              <a:path w="2059939" h="441960">
                <a:moveTo>
                  <a:pt x="2049168" y="35559"/>
                </a:moveTo>
                <a:lnTo>
                  <a:pt x="1986176" y="35559"/>
                </a:lnTo>
                <a:lnTo>
                  <a:pt x="1991891" y="35940"/>
                </a:lnTo>
                <a:lnTo>
                  <a:pt x="1995574" y="36702"/>
                </a:lnTo>
                <a:lnTo>
                  <a:pt x="2012544" y="46164"/>
                </a:lnTo>
                <a:lnTo>
                  <a:pt x="2010814" y="44068"/>
                </a:lnTo>
                <a:lnTo>
                  <a:pt x="2053694" y="44068"/>
                </a:lnTo>
                <a:lnTo>
                  <a:pt x="2051073" y="38607"/>
                </a:lnTo>
                <a:lnTo>
                  <a:pt x="2049168" y="35559"/>
                </a:lnTo>
                <a:close/>
              </a:path>
            </a:pathLst>
          </a:custGeom>
          <a:solidFill>
            <a:srgbClr val="B3921F"/>
          </a:solidFill>
        </p:spPr>
        <p:txBody>
          <a:bodyPr wrap="square" lIns="0" tIns="0" rIns="0" bIns="0" rtlCol="0"/>
          <a:lstStyle/>
          <a:p>
            <a:pPr defTabSz="1371600" fontAlgn="auto">
              <a:spcBef>
                <a:spcPts val="0"/>
              </a:spcBef>
              <a:spcAft>
                <a:spcPts val="0"/>
              </a:spcAft>
            </a:pPr>
            <a:endParaRPr sz="2700" dirty="0">
              <a:solidFill>
                <a:srgbClr val="292934"/>
              </a:solidFill>
              <a:latin typeface="Arial"/>
            </a:endParaRPr>
          </a:p>
        </p:txBody>
      </p:sp>
      <p:sp>
        <p:nvSpPr>
          <p:cNvPr id="5" name="object 8">
            <a:extLst>
              <a:ext uri="{FF2B5EF4-FFF2-40B4-BE49-F238E27FC236}">
                <a16:creationId xmlns:a16="http://schemas.microsoft.com/office/drawing/2014/main" id="{BFDC1E41-B05C-6B12-8403-920E66CE75C5}"/>
              </a:ext>
            </a:extLst>
          </p:cNvPr>
          <p:cNvSpPr txBox="1"/>
          <p:nvPr/>
        </p:nvSpPr>
        <p:spPr>
          <a:xfrm>
            <a:off x="1232453" y="6656795"/>
            <a:ext cx="4724400" cy="434734"/>
          </a:xfrm>
          <a:prstGeom prst="rect">
            <a:avLst/>
          </a:prstGeom>
        </p:spPr>
        <p:txBody>
          <a:bodyPr vert="horz" wrap="square" lIns="0" tIns="19050" rIns="0" bIns="0" rtlCol="0">
            <a:spAutoFit/>
          </a:bodyPr>
          <a:lstStyle/>
          <a:p>
            <a:pPr marR="730568" algn="ctr" defTabSz="1371600" fontAlgn="auto">
              <a:spcBef>
                <a:spcPts val="150"/>
              </a:spcBef>
              <a:spcAft>
                <a:spcPts val="0"/>
              </a:spcAft>
            </a:pPr>
            <a:r>
              <a:rPr sz="2700" spc="-8" dirty="0">
                <a:solidFill>
                  <a:srgbClr val="292934"/>
                </a:solidFill>
                <a:latin typeface="Trebuchet MS"/>
                <a:cs typeface="Trebuchet MS"/>
              </a:rPr>
              <a:t>Mapper</a:t>
            </a:r>
            <a:endParaRPr sz="2700" dirty="0">
              <a:solidFill>
                <a:srgbClr val="292934"/>
              </a:solidFill>
              <a:latin typeface="Trebuchet MS"/>
              <a:cs typeface="Trebuchet MS"/>
            </a:endParaRPr>
          </a:p>
        </p:txBody>
      </p:sp>
      <p:sp>
        <p:nvSpPr>
          <p:cNvPr id="6" name="Rectangular Callout 5">
            <a:extLst>
              <a:ext uri="{FF2B5EF4-FFF2-40B4-BE49-F238E27FC236}">
                <a16:creationId xmlns:a16="http://schemas.microsoft.com/office/drawing/2014/main" id="{3B3E26A6-3D68-0EC0-A332-DD81CF883090}"/>
              </a:ext>
            </a:extLst>
          </p:cNvPr>
          <p:cNvSpPr/>
          <p:nvPr/>
        </p:nvSpPr>
        <p:spPr>
          <a:xfrm>
            <a:off x="1629788" y="3917315"/>
            <a:ext cx="3239348" cy="2008013"/>
          </a:xfrm>
          <a:prstGeom prst="wedgeRectCallout">
            <a:avLst>
              <a:gd name="adj1" fmla="val -7380"/>
              <a:gd name="adj2" fmla="val 76270"/>
            </a:avLst>
          </a:prstGeom>
          <a:solidFill>
            <a:srgbClr val="93A299"/>
          </a:solidFill>
          <a:ln w="26425" cap="flat" cmpd="sng" algn="ctr">
            <a:solidFill>
              <a:srgbClr val="93A299">
                <a:shade val="50000"/>
              </a:srgbClr>
            </a:solidFill>
            <a:prstDash val="solid"/>
          </a:ln>
          <a:effectLst/>
        </p:spPr>
        <p:txBody>
          <a:bodyPr rtlCol="0" anchor="ctr"/>
          <a:lstStyle/>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effectLst/>
                <a:uLnTx/>
                <a:uFillTx/>
                <a:latin typeface="Arial"/>
                <a:ea typeface="+mn-ea"/>
                <a:cs typeface="+mn-cs"/>
              </a:rPr>
              <a:t>For each record output the key value pair </a:t>
            </a:r>
          </a:p>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effectLst/>
                <a:uLnTx/>
                <a:uFillTx/>
                <a:latin typeface="Arial"/>
                <a:ea typeface="+mn-ea"/>
                <a:cs typeface="+mn-cs"/>
              </a:rPr>
              <a:t>&lt;rating, </a:t>
            </a:r>
            <a:r>
              <a:rPr lang="en-US" sz="2400" kern="0" dirty="0">
                <a:latin typeface="Arial"/>
                <a:ea typeface="+mn-ea"/>
              </a:rPr>
              <a:t>1</a:t>
            </a:r>
            <a:r>
              <a:rPr kumimoji="0" lang="en-US" sz="2400" b="0" i="0" u="none" strike="noStrike" kern="0" cap="none" spc="0" normalizeH="0" baseline="0" noProof="0" dirty="0">
                <a:ln>
                  <a:noFill/>
                </a:ln>
                <a:effectLst/>
                <a:uLnTx/>
                <a:uFillTx/>
                <a:latin typeface="Arial"/>
                <a:ea typeface="+mn-ea"/>
                <a:cs typeface="+mn-cs"/>
              </a:rPr>
              <a:t>&gt;</a:t>
            </a:r>
          </a:p>
        </p:txBody>
      </p:sp>
      <p:sp>
        <p:nvSpPr>
          <p:cNvPr id="12" name="Rectangle 11">
            <a:extLst>
              <a:ext uri="{FF2B5EF4-FFF2-40B4-BE49-F238E27FC236}">
                <a16:creationId xmlns:a16="http://schemas.microsoft.com/office/drawing/2014/main" id="{6957849B-2C81-1591-F896-50A915B88ABF}"/>
              </a:ext>
            </a:extLst>
          </p:cNvPr>
          <p:cNvSpPr/>
          <p:nvPr/>
        </p:nvSpPr>
        <p:spPr>
          <a:xfrm>
            <a:off x="1232453" y="25222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800" dirty="0">
                <a:solidFill>
                  <a:schemeClr val="bg2"/>
                </a:solidFill>
              </a:rPr>
              <a:t>How many of each movie rating exist?</a:t>
            </a:r>
          </a:p>
        </p:txBody>
      </p:sp>
      <p:sp>
        <p:nvSpPr>
          <p:cNvPr id="13" name="Rectangle 12">
            <a:extLst>
              <a:ext uri="{FF2B5EF4-FFF2-40B4-BE49-F238E27FC236}">
                <a16:creationId xmlns:a16="http://schemas.microsoft.com/office/drawing/2014/main" id="{C8336378-B197-D0C2-00D1-6D1DAF29C82C}"/>
              </a:ext>
              <a:ext uri="{C183D7F6-B498-43B3-948B-1728B52AA6E4}">
                <adec:decorative xmlns:adec="http://schemas.microsoft.com/office/drawing/2017/decorative" val="1"/>
              </a:ext>
            </a:extLst>
          </p:cNvPr>
          <p:cNvSpPr/>
          <p:nvPr/>
        </p:nvSpPr>
        <p:spPr>
          <a:xfrm>
            <a:off x="-1" y="25222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11" name="object 8" descr="This image shows a snippet of Python code, likely from a MapReduce job, specifically defining a mapper function. Here is a detailed description of the code:&#10;&#10;```python&#10;def mapper_get_ratings(self, _, line):&#10;    (userID, movieID, rating, timestamp) = line.split('\t')&#10;    yield rating, 1&#10;```&#10;&#10;### Explanation:&#10;&#10;1. **Function Definition**:&#10;   - `mapper_get_ratings(self, _, line)`: This function is defined as a method of a class (indicated by `self`). It takes three parameters: `self`, an unused parameter `_`, and `line`, which represents a line of input data.&#10;&#10;2. **Splitting the Line**:&#10;   - `(userID, movieID, rating, timestamp) = line.split('\t')`: The `line` is split into four parts using the tab character (`'\t'`) as the delimiter. The resulting parts are assigned to the variables `userID`, `movieID`, `rating`, and `timestamp`.&#10;&#10;3. **Yield Statement**:&#10;   - `yield rating, 1`: The function generates a key-value pair where the key is the `rating` and the value is `1`. This key-value pair is output from the mapper.&#10;&#10;### Context:&#10;- This mapper function is part of a MapReduce job, where it processes each line of input data, splits it into components, and outputs a key-value pair based on the `rating` of a movie. The value `1` indicates a count, which will likely be used in the reduce phase to count occurrences of each rating.&#10;&#10;### Purpose:&#10;- The function's purpose is to map each rating to the value `1`, enabling the reduce phase to aggregate these counts and determine the frequency of each rating in the dataset. This is a common operation in data processing tasks where counting occurrences is required.">
            <a:extLst>
              <a:ext uri="{FF2B5EF4-FFF2-40B4-BE49-F238E27FC236}">
                <a16:creationId xmlns:a16="http://schemas.microsoft.com/office/drawing/2014/main" id="{6D6EF54A-E47D-CC5D-D909-2FE76FA55512}"/>
              </a:ext>
            </a:extLst>
          </p:cNvPr>
          <p:cNvSpPr>
            <a:spLocks noChangeAspect="1"/>
          </p:cNvSpPr>
          <p:nvPr/>
        </p:nvSpPr>
        <p:spPr>
          <a:xfrm>
            <a:off x="4862548" y="6872029"/>
            <a:ext cx="10437223" cy="1371600"/>
          </a:xfrm>
          <a:prstGeom prst="rect">
            <a:avLst/>
          </a:prstGeom>
          <a:blipFill>
            <a:blip r:embed="rId2" cstate="print"/>
            <a:stretch>
              <a:fillRect/>
            </a:stretch>
          </a:blipFill>
          <a:ln>
            <a:solidFill>
              <a:schemeClr val="tx1"/>
            </a:solidFill>
          </a:ln>
        </p:spPr>
        <p:txBody>
          <a:bodyPr wrap="square" lIns="0" tIns="0" rIns="0" bIns="0" rtlCol="0"/>
          <a:lstStyle/>
          <a:p>
            <a:endParaRPr dirty="0">
              <a:solidFill>
                <a:prstClr val="black"/>
              </a:solidFill>
              <a:latin typeface="Calibri"/>
            </a:endParaRPr>
          </a:p>
        </p:txBody>
      </p:sp>
    </p:spTree>
    <p:extLst>
      <p:ext uri="{BB962C8B-B14F-4D97-AF65-F5344CB8AC3E}">
        <p14:creationId xmlns:p14="http://schemas.microsoft.com/office/powerpoint/2010/main" val="1424540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DA487-52EA-84E9-34E0-6925D16AD83F}"/>
              </a:ext>
            </a:extLst>
          </p:cNvPr>
          <p:cNvSpPr>
            <a:spLocks noGrp="1"/>
          </p:cNvSpPr>
          <p:nvPr>
            <p:ph type="title"/>
          </p:nvPr>
        </p:nvSpPr>
        <p:spPr/>
        <p:txBody>
          <a:bodyPr/>
          <a:lstStyle/>
          <a:p>
            <a:r>
              <a:rPr lang="en-US" dirty="0"/>
              <a:t>Movie Rating Count Using MrJob </a:t>
            </a:r>
            <a:br>
              <a:rPr lang="en-US" dirty="0"/>
            </a:br>
            <a:r>
              <a:rPr lang="en-US" spc="-8" dirty="0"/>
              <a:t>Reduce Phase</a:t>
            </a:r>
            <a:endParaRPr lang="en-US" dirty="0"/>
          </a:p>
        </p:txBody>
      </p:sp>
      <p:sp>
        <p:nvSpPr>
          <p:cNvPr id="12" name="Rectangle 11">
            <a:extLst>
              <a:ext uri="{FF2B5EF4-FFF2-40B4-BE49-F238E27FC236}">
                <a16:creationId xmlns:a16="http://schemas.microsoft.com/office/drawing/2014/main" id="{6957849B-2C81-1591-F896-50A915B88ABF}"/>
              </a:ext>
            </a:extLst>
          </p:cNvPr>
          <p:cNvSpPr/>
          <p:nvPr/>
        </p:nvSpPr>
        <p:spPr>
          <a:xfrm>
            <a:off x="1232453" y="25222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800" dirty="0">
                <a:solidFill>
                  <a:schemeClr val="bg2"/>
                </a:solidFill>
              </a:rPr>
              <a:t>How many of each movie rating exist?</a:t>
            </a:r>
          </a:p>
        </p:txBody>
      </p:sp>
      <p:sp>
        <p:nvSpPr>
          <p:cNvPr id="13" name="Rectangle 12">
            <a:extLst>
              <a:ext uri="{FF2B5EF4-FFF2-40B4-BE49-F238E27FC236}">
                <a16:creationId xmlns:a16="http://schemas.microsoft.com/office/drawing/2014/main" id="{C8336378-B197-D0C2-00D1-6D1DAF29C82C}"/>
              </a:ext>
              <a:ext uri="{C183D7F6-B498-43B3-948B-1728B52AA6E4}">
                <adec:decorative xmlns:adec="http://schemas.microsoft.com/office/drawing/2017/decorative" val="1"/>
              </a:ext>
            </a:extLst>
          </p:cNvPr>
          <p:cNvSpPr/>
          <p:nvPr/>
        </p:nvSpPr>
        <p:spPr>
          <a:xfrm>
            <a:off x="-1" y="25222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pic>
        <p:nvPicPr>
          <p:cNvPr id="9" name="Picture 8" descr="This image illustrates the complete process of counting movie ratings using the MapReduce framework, highlighting the Mapper outputs, Shuffle and Sort phase, and Reducer outputs. Here’s a detailed explanation of each phase:&#10;&#10;### Mapper Outputs:&#10;- The Mapper processes each line of input data and generates key-value pairs in the format `&lt;rating, 1&gt;`.&#10;- Sample outputs from the Mapper include:&#10;  - `&lt;1, 1&gt;`&#10;  - `&lt;1, 1&gt;`&#10;  - `&lt;2, 1&gt;`&#10;  - `&lt;2, 1&gt;`&#10;  - `&lt;3, 1&gt;`&#10;  - `&lt;3, 1&gt;`&#10;  - `&lt;4, 1&gt;`&#10;&#10;### Shuffle and Sort Phase:&#10;- The Shuffle and Sort phase groups the intermediate key-value pairs by key (rating).&#10;- This phase organizes all values associated with the same key into a collection.&#10;- The output of the Shuffle and Sort phase is:&#10;  - `&lt;1, {1, 1}&gt;`&#10;  - `&lt;2, {1, 1}&gt;`&#10;  - `&lt;3, {1, 1}&gt;`&#10;  - `&lt;4, {1}&gt;`&#10;&#10;### Reducer Phase:&#10;- The Reducer processes each grouped key-value pair.&#10;- For each key (rating), the Reducer counts the number of occurrences by summing the values in the collection.&#10;- The Reducer outputs a new key-value pair in the format `&lt;rating, count&gt;`.&#10;- The final output of the Reducer is:&#10;  - `&lt;1, 2&gt;` (rating 1 appears 2 times)&#10;  - `&lt;2, 2&gt;` (rating 2 appears 2 times)&#10;  - `&lt;3, 2&gt;` (rating 3 appears 2 times)&#10;  - `&lt;4, 1&gt;` (rating 4 appears 1 time)&#10;&#10;### Summary:&#10;- **Mapper Outputs**: Generate key-value pairs where the key is the rating, and the value is 1.&#10;- **Shuffle and Sort Phase**: Group and sort the intermediate key-value pairs by rating.&#10;- **Reducer Phase**: Count the occurrences of each rating by summing the values in the grouped collections, producing the final count for each rating.&#10;&#10;This process demonstrates how the MapReduce framework efficiently processes large datasets to perform operations like counting occurrences by leveraging parallel processing in the Mapper phase and aggregation in the Reducer phase.">
            <a:extLst>
              <a:ext uri="{FF2B5EF4-FFF2-40B4-BE49-F238E27FC236}">
                <a16:creationId xmlns:a16="http://schemas.microsoft.com/office/drawing/2014/main" id="{A1BFE638-5BFE-2A4E-9A3D-E959EBC59AB0}"/>
              </a:ext>
            </a:extLst>
          </p:cNvPr>
          <p:cNvPicPr>
            <a:picLocks noChangeAspect="1"/>
          </p:cNvPicPr>
          <p:nvPr/>
        </p:nvPicPr>
        <p:blipFill>
          <a:blip r:embed="rId2"/>
          <a:stretch>
            <a:fillRect/>
          </a:stretch>
        </p:blipFill>
        <p:spPr>
          <a:xfrm>
            <a:off x="1576821" y="4433887"/>
            <a:ext cx="15591559" cy="4578061"/>
          </a:xfrm>
          <a:prstGeom prst="rect">
            <a:avLst/>
          </a:prstGeom>
        </p:spPr>
      </p:pic>
    </p:spTree>
    <p:extLst>
      <p:ext uri="{BB962C8B-B14F-4D97-AF65-F5344CB8AC3E}">
        <p14:creationId xmlns:p14="http://schemas.microsoft.com/office/powerpoint/2010/main" val="38515884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DA487-52EA-84E9-34E0-6925D16AD83F}"/>
              </a:ext>
            </a:extLst>
          </p:cNvPr>
          <p:cNvSpPr>
            <a:spLocks noGrp="1"/>
          </p:cNvSpPr>
          <p:nvPr>
            <p:ph type="title"/>
          </p:nvPr>
        </p:nvSpPr>
        <p:spPr/>
        <p:txBody>
          <a:bodyPr/>
          <a:lstStyle/>
          <a:p>
            <a:r>
              <a:rPr lang="en-US" dirty="0"/>
              <a:t>Movie Rating Count Using MrJob </a:t>
            </a:r>
            <a:br>
              <a:rPr lang="en-US" dirty="0"/>
            </a:br>
            <a:r>
              <a:rPr lang="en-US" spc="-8" dirty="0"/>
              <a:t>Reduce Phase</a:t>
            </a:r>
            <a:endParaRPr lang="en-US" dirty="0"/>
          </a:p>
        </p:txBody>
      </p:sp>
      <p:sp>
        <p:nvSpPr>
          <p:cNvPr id="3" name="object 6">
            <a:extLst>
              <a:ext uri="{FF2B5EF4-FFF2-40B4-BE49-F238E27FC236}">
                <a16:creationId xmlns:a16="http://schemas.microsoft.com/office/drawing/2014/main" id="{B5199C6C-6AEC-4817-5AFE-7E49B2282263}"/>
              </a:ext>
            </a:extLst>
          </p:cNvPr>
          <p:cNvSpPr/>
          <p:nvPr/>
        </p:nvSpPr>
        <p:spPr>
          <a:xfrm>
            <a:off x="1098551" y="6575737"/>
            <a:ext cx="3089909" cy="662939"/>
          </a:xfrm>
          <a:custGeom>
            <a:avLst/>
            <a:gdLst/>
            <a:ahLst/>
            <a:cxnLst/>
            <a:rect l="l" t="t" r="r" b="b"/>
            <a:pathLst>
              <a:path w="2059939" h="441960">
                <a:moveTo>
                  <a:pt x="1986279" y="0"/>
                </a:moveTo>
                <a:lnTo>
                  <a:pt x="73660" y="0"/>
                </a:lnTo>
                <a:lnTo>
                  <a:pt x="45005" y="5794"/>
                </a:lnTo>
                <a:lnTo>
                  <a:pt x="21590" y="21589"/>
                </a:lnTo>
                <a:lnTo>
                  <a:pt x="5794" y="45005"/>
                </a:lnTo>
                <a:lnTo>
                  <a:pt x="0" y="73659"/>
                </a:lnTo>
                <a:lnTo>
                  <a:pt x="0" y="368299"/>
                </a:lnTo>
                <a:lnTo>
                  <a:pt x="5794" y="396954"/>
                </a:lnTo>
                <a:lnTo>
                  <a:pt x="21590" y="420369"/>
                </a:lnTo>
                <a:lnTo>
                  <a:pt x="45005" y="436165"/>
                </a:lnTo>
                <a:lnTo>
                  <a:pt x="73660" y="441959"/>
                </a:lnTo>
                <a:lnTo>
                  <a:pt x="1986279" y="441959"/>
                </a:lnTo>
                <a:lnTo>
                  <a:pt x="2014934" y="436165"/>
                </a:lnTo>
                <a:lnTo>
                  <a:pt x="2038350" y="420369"/>
                </a:lnTo>
                <a:lnTo>
                  <a:pt x="2054145" y="396954"/>
                </a:lnTo>
                <a:lnTo>
                  <a:pt x="2059939" y="368299"/>
                </a:lnTo>
                <a:lnTo>
                  <a:pt x="2059939" y="73659"/>
                </a:lnTo>
                <a:lnTo>
                  <a:pt x="2054145" y="45005"/>
                </a:lnTo>
                <a:lnTo>
                  <a:pt x="2038350" y="21589"/>
                </a:lnTo>
                <a:lnTo>
                  <a:pt x="2014934" y="5794"/>
                </a:lnTo>
                <a:lnTo>
                  <a:pt x="1986279" y="0"/>
                </a:lnTo>
                <a:close/>
              </a:path>
            </a:pathLst>
          </a:custGeom>
          <a:solidFill>
            <a:srgbClr val="F3C72D"/>
          </a:solidFill>
        </p:spPr>
        <p:txBody>
          <a:bodyPr wrap="square" lIns="0" tIns="0" rIns="0" bIns="0" rtlCol="0"/>
          <a:lstStyle/>
          <a:p>
            <a:pPr defTabSz="1371600" fontAlgn="auto">
              <a:spcBef>
                <a:spcPts val="0"/>
              </a:spcBef>
              <a:spcAft>
                <a:spcPts val="0"/>
              </a:spcAft>
            </a:pPr>
            <a:endParaRPr sz="2700" dirty="0">
              <a:solidFill>
                <a:srgbClr val="292934"/>
              </a:solidFill>
              <a:latin typeface="Arial"/>
            </a:endParaRPr>
          </a:p>
        </p:txBody>
      </p:sp>
      <p:sp>
        <p:nvSpPr>
          <p:cNvPr id="4" name="object 7">
            <a:extLst>
              <a:ext uri="{FF2B5EF4-FFF2-40B4-BE49-F238E27FC236}">
                <a16:creationId xmlns:a16="http://schemas.microsoft.com/office/drawing/2014/main" id="{198A5A1F-A9DE-249A-B9B9-5B07A40BB31D}"/>
              </a:ext>
            </a:extLst>
          </p:cNvPr>
          <p:cNvSpPr/>
          <p:nvPr/>
        </p:nvSpPr>
        <p:spPr>
          <a:xfrm>
            <a:off x="1098705" y="6575737"/>
            <a:ext cx="3089909" cy="662939"/>
          </a:xfrm>
          <a:custGeom>
            <a:avLst/>
            <a:gdLst/>
            <a:ahLst/>
            <a:cxnLst/>
            <a:rect l="l" t="t" r="r" b="b"/>
            <a:pathLst>
              <a:path w="2059939" h="441960">
                <a:moveTo>
                  <a:pt x="1986176" y="0"/>
                </a:moveTo>
                <a:lnTo>
                  <a:pt x="73556" y="0"/>
                </a:lnTo>
                <a:lnTo>
                  <a:pt x="66063" y="380"/>
                </a:lnTo>
                <a:lnTo>
                  <a:pt x="21486" y="21589"/>
                </a:lnTo>
                <a:lnTo>
                  <a:pt x="1420" y="58800"/>
                </a:lnTo>
                <a:lnTo>
                  <a:pt x="0" y="71627"/>
                </a:lnTo>
                <a:lnTo>
                  <a:pt x="4" y="370458"/>
                </a:lnTo>
                <a:lnTo>
                  <a:pt x="12469" y="409447"/>
                </a:lnTo>
                <a:lnTo>
                  <a:pt x="44854" y="436117"/>
                </a:lnTo>
                <a:lnTo>
                  <a:pt x="73556" y="441959"/>
                </a:lnTo>
                <a:lnTo>
                  <a:pt x="1986176" y="441959"/>
                </a:lnTo>
                <a:lnTo>
                  <a:pt x="2027451" y="429386"/>
                </a:lnTo>
                <a:lnTo>
                  <a:pt x="2049089" y="406526"/>
                </a:lnTo>
                <a:lnTo>
                  <a:pt x="73556" y="406399"/>
                </a:lnTo>
                <a:lnTo>
                  <a:pt x="67841" y="406145"/>
                </a:lnTo>
                <a:lnTo>
                  <a:pt x="49786" y="398017"/>
                </a:lnTo>
                <a:lnTo>
                  <a:pt x="49045" y="398017"/>
                </a:lnTo>
                <a:lnTo>
                  <a:pt x="43965" y="392937"/>
                </a:lnTo>
                <a:lnTo>
                  <a:pt x="44899" y="392937"/>
                </a:lnTo>
                <a:lnTo>
                  <a:pt x="40028" y="386968"/>
                </a:lnTo>
                <a:lnTo>
                  <a:pt x="35456" y="370458"/>
                </a:lnTo>
                <a:lnTo>
                  <a:pt x="35456" y="73659"/>
                </a:lnTo>
                <a:lnTo>
                  <a:pt x="44519" y="49148"/>
                </a:lnTo>
                <a:lnTo>
                  <a:pt x="43965" y="49148"/>
                </a:lnTo>
                <a:lnTo>
                  <a:pt x="49045" y="44068"/>
                </a:lnTo>
                <a:lnTo>
                  <a:pt x="50118" y="44068"/>
                </a:lnTo>
                <a:lnTo>
                  <a:pt x="54887" y="40131"/>
                </a:lnTo>
                <a:lnTo>
                  <a:pt x="71524" y="35559"/>
                </a:lnTo>
                <a:lnTo>
                  <a:pt x="2049168" y="35559"/>
                </a:lnTo>
                <a:lnTo>
                  <a:pt x="2047263" y="32511"/>
                </a:lnTo>
                <a:lnTo>
                  <a:pt x="2014878" y="5841"/>
                </a:lnTo>
                <a:lnTo>
                  <a:pt x="1993669" y="380"/>
                </a:lnTo>
                <a:lnTo>
                  <a:pt x="1986176" y="0"/>
                </a:lnTo>
                <a:close/>
              </a:path>
              <a:path w="2059939" h="441960">
                <a:moveTo>
                  <a:pt x="2013662" y="394754"/>
                </a:moveTo>
                <a:lnTo>
                  <a:pt x="2004972" y="401827"/>
                </a:lnTo>
                <a:lnTo>
                  <a:pt x="2002813" y="402716"/>
                </a:lnTo>
                <a:lnTo>
                  <a:pt x="1999638" y="404113"/>
                </a:lnTo>
                <a:lnTo>
                  <a:pt x="1995955" y="405256"/>
                </a:lnTo>
                <a:lnTo>
                  <a:pt x="1992145" y="406018"/>
                </a:lnTo>
                <a:lnTo>
                  <a:pt x="1988208" y="406526"/>
                </a:lnTo>
                <a:lnTo>
                  <a:pt x="2049089" y="406526"/>
                </a:lnTo>
                <a:lnTo>
                  <a:pt x="2051073" y="403351"/>
                </a:lnTo>
                <a:lnTo>
                  <a:pt x="2053633" y="398017"/>
                </a:lnTo>
                <a:lnTo>
                  <a:pt x="2010814" y="398017"/>
                </a:lnTo>
                <a:lnTo>
                  <a:pt x="2013662" y="394754"/>
                </a:lnTo>
                <a:close/>
              </a:path>
              <a:path w="2059939" h="441960">
                <a:moveTo>
                  <a:pt x="43965" y="392937"/>
                </a:moveTo>
                <a:lnTo>
                  <a:pt x="49045" y="398017"/>
                </a:lnTo>
                <a:lnTo>
                  <a:pt x="47212" y="395771"/>
                </a:lnTo>
                <a:lnTo>
                  <a:pt x="43965" y="392937"/>
                </a:lnTo>
                <a:close/>
              </a:path>
              <a:path w="2059939" h="441960">
                <a:moveTo>
                  <a:pt x="47212" y="395771"/>
                </a:moveTo>
                <a:lnTo>
                  <a:pt x="49045" y="398017"/>
                </a:lnTo>
                <a:lnTo>
                  <a:pt x="49786" y="398017"/>
                </a:lnTo>
                <a:lnTo>
                  <a:pt x="47212" y="395771"/>
                </a:lnTo>
                <a:close/>
              </a:path>
              <a:path w="2059939" h="441960">
                <a:moveTo>
                  <a:pt x="2015894" y="392937"/>
                </a:moveTo>
                <a:lnTo>
                  <a:pt x="2013662" y="394754"/>
                </a:lnTo>
                <a:lnTo>
                  <a:pt x="2010814" y="398017"/>
                </a:lnTo>
                <a:lnTo>
                  <a:pt x="2015894" y="392937"/>
                </a:lnTo>
                <a:close/>
              </a:path>
              <a:path w="2059939" h="441960">
                <a:moveTo>
                  <a:pt x="2055578" y="392937"/>
                </a:moveTo>
                <a:lnTo>
                  <a:pt x="2015894" y="392937"/>
                </a:lnTo>
                <a:lnTo>
                  <a:pt x="2010814" y="398017"/>
                </a:lnTo>
                <a:lnTo>
                  <a:pt x="2053633" y="398017"/>
                </a:lnTo>
                <a:lnTo>
                  <a:pt x="2054121" y="397001"/>
                </a:lnTo>
                <a:lnTo>
                  <a:pt x="2055578" y="392937"/>
                </a:lnTo>
                <a:close/>
              </a:path>
              <a:path w="2059939" h="441960">
                <a:moveTo>
                  <a:pt x="44899" y="392937"/>
                </a:moveTo>
                <a:lnTo>
                  <a:pt x="43965" y="392937"/>
                </a:lnTo>
                <a:lnTo>
                  <a:pt x="47212" y="395771"/>
                </a:lnTo>
                <a:lnTo>
                  <a:pt x="44899" y="392937"/>
                </a:lnTo>
                <a:close/>
              </a:path>
              <a:path w="2059939" h="441960">
                <a:moveTo>
                  <a:pt x="2012544" y="46164"/>
                </a:moveTo>
                <a:lnTo>
                  <a:pt x="2024403" y="71627"/>
                </a:lnTo>
                <a:lnTo>
                  <a:pt x="2024277" y="366521"/>
                </a:lnTo>
                <a:lnTo>
                  <a:pt x="2013662" y="394754"/>
                </a:lnTo>
                <a:lnTo>
                  <a:pt x="2015894" y="392937"/>
                </a:lnTo>
                <a:lnTo>
                  <a:pt x="2055578" y="392937"/>
                </a:lnTo>
                <a:lnTo>
                  <a:pt x="2056534" y="390270"/>
                </a:lnTo>
                <a:lnTo>
                  <a:pt x="2058312" y="383158"/>
                </a:lnTo>
                <a:lnTo>
                  <a:pt x="2059455" y="375919"/>
                </a:lnTo>
                <a:lnTo>
                  <a:pt x="2059728" y="370458"/>
                </a:lnTo>
                <a:lnTo>
                  <a:pt x="2059733" y="71627"/>
                </a:lnTo>
                <a:lnTo>
                  <a:pt x="2059455" y="66166"/>
                </a:lnTo>
                <a:lnTo>
                  <a:pt x="2058312" y="58800"/>
                </a:lnTo>
                <a:lnTo>
                  <a:pt x="2056534" y="51688"/>
                </a:lnTo>
                <a:lnTo>
                  <a:pt x="2055624" y="49148"/>
                </a:lnTo>
                <a:lnTo>
                  <a:pt x="2015894" y="49148"/>
                </a:lnTo>
                <a:lnTo>
                  <a:pt x="2012544" y="46164"/>
                </a:lnTo>
                <a:close/>
              </a:path>
              <a:path w="2059939" h="441960">
                <a:moveTo>
                  <a:pt x="49045" y="44068"/>
                </a:moveTo>
                <a:lnTo>
                  <a:pt x="43965" y="49148"/>
                </a:lnTo>
                <a:lnTo>
                  <a:pt x="46061" y="47419"/>
                </a:lnTo>
                <a:lnTo>
                  <a:pt x="49045" y="44068"/>
                </a:lnTo>
                <a:close/>
              </a:path>
              <a:path w="2059939" h="441960">
                <a:moveTo>
                  <a:pt x="46061" y="47419"/>
                </a:moveTo>
                <a:lnTo>
                  <a:pt x="43965" y="49148"/>
                </a:lnTo>
                <a:lnTo>
                  <a:pt x="44519" y="49148"/>
                </a:lnTo>
                <a:lnTo>
                  <a:pt x="46061" y="47419"/>
                </a:lnTo>
                <a:close/>
              </a:path>
              <a:path w="2059939" h="441960">
                <a:moveTo>
                  <a:pt x="2010814" y="44068"/>
                </a:moveTo>
                <a:lnTo>
                  <a:pt x="2012544" y="46164"/>
                </a:lnTo>
                <a:lnTo>
                  <a:pt x="2015894" y="49148"/>
                </a:lnTo>
                <a:lnTo>
                  <a:pt x="2010814" y="44068"/>
                </a:lnTo>
                <a:close/>
              </a:path>
              <a:path w="2059939" h="441960">
                <a:moveTo>
                  <a:pt x="2053694" y="44068"/>
                </a:moveTo>
                <a:lnTo>
                  <a:pt x="2010814" y="44068"/>
                </a:lnTo>
                <a:lnTo>
                  <a:pt x="2015894" y="49148"/>
                </a:lnTo>
                <a:lnTo>
                  <a:pt x="2055624" y="49148"/>
                </a:lnTo>
                <a:lnTo>
                  <a:pt x="2054121" y="44957"/>
                </a:lnTo>
                <a:lnTo>
                  <a:pt x="2053694" y="44068"/>
                </a:lnTo>
                <a:close/>
              </a:path>
              <a:path w="2059939" h="441960">
                <a:moveTo>
                  <a:pt x="50118" y="44068"/>
                </a:moveTo>
                <a:lnTo>
                  <a:pt x="49045" y="44068"/>
                </a:lnTo>
                <a:lnTo>
                  <a:pt x="46061" y="47419"/>
                </a:lnTo>
                <a:lnTo>
                  <a:pt x="50118" y="44068"/>
                </a:lnTo>
                <a:close/>
              </a:path>
              <a:path w="2059939" h="441960">
                <a:moveTo>
                  <a:pt x="2049168" y="35559"/>
                </a:moveTo>
                <a:lnTo>
                  <a:pt x="1986176" y="35559"/>
                </a:lnTo>
                <a:lnTo>
                  <a:pt x="1991891" y="35940"/>
                </a:lnTo>
                <a:lnTo>
                  <a:pt x="1995574" y="36702"/>
                </a:lnTo>
                <a:lnTo>
                  <a:pt x="2012544" y="46164"/>
                </a:lnTo>
                <a:lnTo>
                  <a:pt x="2010814" y="44068"/>
                </a:lnTo>
                <a:lnTo>
                  <a:pt x="2053694" y="44068"/>
                </a:lnTo>
                <a:lnTo>
                  <a:pt x="2051073" y="38607"/>
                </a:lnTo>
                <a:lnTo>
                  <a:pt x="2049168" y="35559"/>
                </a:lnTo>
                <a:close/>
              </a:path>
            </a:pathLst>
          </a:custGeom>
          <a:solidFill>
            <a:srgbClr val="B3921F"/>
          </a:solidFill>
        </p:spPr>
        <p:txBody>
          <a:bodyPr wrap="square" lIns="0" tIns="0" rIns="0" bIns="0" rtlCol="0"/>
          <a:lstStyle/>
          <a:p>
            <a:pPr defTabSz="1371600" fontAlgn="auto">
              <a:spcBef>
                <a:spcPts val="0"/>
              </a:spcBef>
              <a:spcAft>
                <a:spcPts val="0"/>
              </a:spcAft>
            </a:pPr>
            <a:endParaRPr sz="2700" dirty="0">
              <a:solidFill>
                <a:srgbClr val="292934"/>
              </a:solidFill>
              <a:latin typeface="Arial"/>
            </a:endParaRPr>
          </a:p>
        </p:txBody>
      </p:sp>
      <p:sp>
        <p:nvSpPr>
          <p:cNvPr id="5" name="object 8">
            <a:extLst>
              <a:ext uri="{FF2B5EF4-FFF2-40B4-BE49-F238E27FC236}">
                <a16:creationId xmlns:a16="http://schemas.microsoft.com/office/drawing/2014/main" id="{BFDC1E41-B05C-6B12-8403-920E66CE75C5}"/>
              </a:ext>
            </a:extLst>
          </p:cNvPr>
          <p:cNvSpPr txBox="1"/>
          <p:nvPr/>
        </p:nvSpPr>
        <p:spPr>
          <a:xfrm>
            <a:off x="1886125" y="6689839"/>
            <a:ext cx="2302335" cy="434734"/>
          </a:xfrm>
          <a:prstGeom prst="rect">
            <a:avLst/>
          </a:prstGeom>
        </p:spPr>
        <p:txBody>
          <a:bodyPr vert="horz" wrap="square" lIns="0" tIns="19050" rIns="0" bIns="0" rtlCol="0">
            <a:spAutoFit/>
          </a:bodyPr>
          <a:lstStyle/>
          <a:p>
            <a:pPr marR="730568" algn="ctr" defTabSz="1371600" fontAlgn="auto">
              <a:spcBef>
                <a:spcPts val="150"/>
              </a:spcBef>
              <a:spcAft>
                <a:spcPts val="0"/>
              </a:spcAft>
            </a:pPr>
            <a:r>
              <a:rPr lang="en-US" sz="2700" spc="-8" dirty="0">
                <a:solidFill>
                  <a:srgbClr val="292934"/>
                </a:solidFill>
                <a:latin typeface="Trebuchet MS"/>
                <a:cs typeface="Trebuchet MS"/>
              </a:rPr>
              <a:t>Reducer</a:t>
            </a:r>
            <a:endParaRPr sz="2700" dirty="0">
              <a:solidFill>
                <a:srgbClr val="292934"/>
              </a:solidFill>
              <a:latin typeface="Trebuchet MS"/>
              <a:cs typeface="Trebuchet MS"/>
            </a:endParaRPr>
          </a:p>
        </p:txBody>
      </p:sp>
      <p:sp>
        <p:nvSpPr>
          <p:cNvPr id="6" name="Rectangular Callout 5">
            <a:extLst>
              <a:ext uri="{FF2B5EF4-FFF2-40B4-BE49-F238E27FC236}">
                <a16:creationId xmlns:a16="http://schemas.microsoft.com/office/drawing/2014/main" id="{3B3E26A6-3D68-0EC0-A332-DD81CF883090}"/>
              </a:ext>
            </a:extLst>
          </p:cNvPr>
          <p:cNvSpPr/>
          <p:nvPr/>
        </p:nvSpPr>
        <p:spPr>
          <a:xfrm>
            <a:off x="1217345" y="3917315"/>
            <a:ext cx="3239348" cy="2008013"/>
          </a:xfrm>
          <a:prstGeom prst="wedgeRectCallout">
            <a:avLst>
              <a:gd name="adj1" fmla="val -7380"/>
              <a:gd name="adj2" fmla="val 76270"/>
            </a:avLst>
          </a:prstGeom>
          <a:solidFill>
            <a:srgbClr val="93A299"/>
          </a:solidFill>
          <a:ln w="26425" cap="flat" cmpd="sng" algn="ctr">
            <a:solidFill>
              <a:srgbClr val="93A299">
                <a:shade val="50000"/>
              </a:srgbClr>
            </a:solidFill>
            <a:prstDash val="solid"/>
          </a:ln>
          <a:effectLst/>
        </p:spPr>
        <p:txBody>
          <a:bodyPr rtlCol="0" anchor="ctr"/>
          <a:lstStyle/>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effectLst/>
                <a:uLnTx/>
                <a:uFillTx/>
                <a:latin typeface="Arial"/>
                <a:ea typeface="+mn-ea"/>
                <a:cs typeface="+mn-cs"/>
              </a:rPr>
              <a:t>For each record output the key value pair </a:t>
            </a:r>
          </a:p>
          <a:p>
            <a:pPr marL="0" marR="0" lvl="0" indent="0" algn="ctr" defTabSz="13716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effectLst/>
                <a:uLnTx/>
                <a:uFillTx/>
                <a:latin typeface="Arial"/>
                <a:ea typeface="+mn-ea"/>
                <a:cs typeface="+mn-cs"/>
              </a:rPr>
              <a:t>&lt;rating, sum of </a:t>
            </a:r>
            <a:r>
              <a:rPr lang="en-US" sz="2400" kern="0" dirty="0">
                <a:latin typeface="Arial"/>
                <a:ea typeface="+mn-ea"/>
              </a:rPr>
              <a:t>1’s</a:t>
            </a:r>
            <a:r>
              <a:rPr kumimoji="0" lang="en-US" sz="2400" b="0" i="0" u="none" strike="noStrike" kern="0" cap="none" spc="0" normalizeH="0" baseline="0" noProof="0" dirty="0">
                <a:ln>
                  <a:noFill/>
                </a:ln>
                <a:effectLst/>
                <a:uLnTx/>
                <a:uFillTx/>
                <a:latin typeface="Arial"/>
                <a:ea typeface="+mn-ea"/>
                <a:cs typeface="+mn-cs"/>
              </a:rPr>
              <a:t>&gt;</a:t>
            </a:r>
          </a:p>
        </p:txBody>
      </p:sp>
      <p:sp>
        <p:nvSpPr>
          <p:cNvPr id="12" name="Rectangle 11">
            <a:extLst>
              <a:ext uri="{FF2B5EF4-FFF2-40B4-BE49-F238E27FC236}">
                <a16:creationId xmlns:a16="http://schemas.microsoft.com/office/drawing/2014/main" id="{6957849B-2C81-1591-F896-50A915B88ABF}"/>
              </a:ext>
            </a:extLst>
          </p:cNvPr>
          <p:cNvSpPr/>
          <p:nvPr/>
        </p:nvSpPr>
        <p:spPr>
          <a:xfrm>
            <a:off x="1232453" y="25222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800" dirty="0">
                <a:solidFill>
                  <a:schemeClr val="bg2"/>
                </a:solidFill>
              </a:rPr>
              <a:t>How many of each movie rating exist?</a:t>
            </a:r>
          </a:p>
        </p:txBody>
      </p:sp>
      <p:sp>
        <p:nvSpPr>
          <p:cNvPr id="13" name="Rectangle 12">
            <a:extLst>
              <a:ext uri="{FF2B5EF4-FFF2-40B4-BE49-F238E27FC236}">
                <a16:creationId xmlns:a16="http://schemas.microsoft.com/office/drawing/2014/main" id="{C8336378-B197-D0C2-00D1-6D1DAF29C82C}"/>
              </a:ext>
              <a:ext uri="{C183D7F6-B498-43B3-948B-1728B52AA6E4}">
                <adec:decorative xmlns:adec="http://schemas.microsoft.com/office/drawing/2017/decorative" val="1"/>
              </a:ext>
            </a:extLst>
          </p:cNvPr>
          <p:cNvSpPr/>
          <p:nvPr/>
        </p:nvSpPr>
        <p:spPr>
          <a:xfrm>
            <a:off x="-1" y="25222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7" name="object 8" descr="This image shows a snippet of Python code, likely from a MapReduce job, specifically defining a reducer function. Here is a detailed description of the code:&#10;&#10;```python&#10;def reducer_count_ratings(self, key, values):&#10;    yield key, sum(values)&#10;```&#10;&#10;### Explanation:&#10;&#10;1. **Function Definition**:&#10;   - `reducer_count_ratings(self, key, values)`: This function is defined as a method of a class (indicated by `self`). It takes three parameters: `self`, `key`, and `values`.&#10;     - `self`: The instance of the class.&#10;     - `key`: The key for the group of values being processed. In this context, it is the rating.&#10;     - `values`: An iterable of values associated with the key. In this context, it is a collection of `1`s representing the count of each occurrence of the rating.&#10;&#10;2. **Yield Statement**:&#10;   - `yield key, sum(values)`: The function generates a key-value pair where the key is the rating and the value is the sum of the `values`. The `sum(values)` calculates the total count of the rating by summing up all the `1`s in the collection.&#10;   &#10;### Context:&#10;- This reducer function is part of a MapReduce job, where it processes grouped key-value pairs generated by the Mapper and Shuffle phases.&#10;- The function counts the occurrences of each rating by summing the `1`s associated with each rating.&#10;&#10;### Purpose:&#10;- The purpose of this function is to aggregate the counts for each rating, producing the final count for each unique rating in the dataset.&#10;- The output of the reducer function is a new key-value pair representing the rating and its total count, which can be used for further analysis or reporting.&#10;&#10;### Summary:&#10;- **Reducer Function**: Takes a rating and its occurrences, and outputs the rating along with its total count.&#10;- **Example**:&#10;  - For the input key-value pair `&lt;1, [1, 1]&gt;`, the function outputs `&lt;1, 2&gt;` indicating that rating 1 appears 2 times.&#10;  - For the input key-value pair `&lt;2, [1, 1]&gt;`, the function outputs `&lt;2, 2&gt;` indicating that rating 2 appears 2 times.&#10;  - For the input key-value pair `&lt;3, [1, 1]&gt;`, the function outputs `&lt;3, 2&gt;` indicating that rating 3 appears 2 times.&#10;  - For the input key-value pair `&lt;4, [1]&gt;`, the function outputs `&lt;4, 1&gt;` indicating that rating 4 appears 1 time.">
            <a:extLst>
              <a:ext uri="{FF2B5EF4-FFF2-40B4-BE49-F238E27FC236}">
                <a16:creationId xmlns:a16="http://schemas.microsoft.com/office/drawing/2014/main" id="{20A1D3A5-2E27-5F07-6524-0FAA749C3463}"/>
              </a:ext>
            </a:extLst>
          </p:cNvPr>
          <p:cNvSpPr>
            <a:spLocks noChangeAspect="1"/>
          </p:cNvSpPr>
          <p:nvPr/>
        </p:nvSpPr>
        <p:spPr>
          <a:xfrm>
            <a:off x="3836084" y="6966798"/>
            <a:ext cx="8395533" cy="914400"/>
          </a:xfrm>
          <a:prstGeom prst="rect">
            <a:avLst/>
          </a:prstGeom>
          <a:blipFill>
            <a:blip r:embed="rId2"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20951079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Movie Rating Count Using MrJob </a:t>
            </a:r>
            <a:br>
              <a:rPr lang="en-US" dirty="0"/>
            </a:br>
            <a:r>
              <a:rPr lang="en-US" dirty="0"/>
              <a:t>Putting </a:t>
            </a:r>
            <a:r>
              <a:rPr lang="en-US" spc="-8" dirty="0"/>
              <a:t>it all</a:t>
            </a:r>
            <a:r>
              <a:rPr lang="en-US" spc="-90" dirty="0"/>
              <a:t> </a:t>
            </a:r>
            <a:r>
              <a:rPr lang="en-US" spc="-15" dirty="0"/>
              <a:t>together</a:t>
            </a:r>
            <a:endParaRPr lang="en-US" dirty="0"/>
          </a:p>
        </p:txBody>
      </p:sp>
      <p:sp>
        <p:nvSpPr>
          <p:cNvPr id="5" name="object 3" descr="This image shows a complete Python script for a MapReduce job using the `mrjob` library. Here is a detailed explanation of the code:&#10;&#10;```python&#10;from mrjob.job import MRJob&#10;from mrjob.step import MRStep&#10;&#10;class RatingsBreakdown(MRJob):&#10;    def steps(self):&#10;        return [&#10;            MRStep(mapper=self.mapper_get_ratings,&#10;                   reducer=self.reducer_count_ratings)&#10;        ]&#10;&#10;    def mapper_get_ratings(self, _, line):&#10;        (userID, movieID, rating, timestamp) = line.split('\t')&#10;        yield rating, 1&#10;&#10;    def reducer_count_ratings(self, key, values):&#10;        yield key, sum(values)&#10;&#10;if __name__ == '__main__':&#10;    RatingsBreakdown.run()&#10;```&#10;&#10;### Explanation:&#10;&#10;1. **Import Statements**:&#10;   - `from mrjob.job import MRJob`: Imports the `MRJob` class, which is the base class for writing MapReduce jobs in Python using the `mrjob` library.&#10;   - `from mrjob.step import MRStep`: Imports the `MRStep` class, which is used to define the steps in the MapReduce job.&#10;&#10;2. **Class Definition**:&#10;   - `class RatingsBreakdown(MRJob)`: Defines a new class `RatingsBreakdown` that inherits from `MRJob`.&#10;&#10;3. **Steps Method**:&#10;   - `def steps(self):`: Defines the `steps` method, which specifies the steps in the MapReduce job.&#10;   - `return [MRStep(mapper=self.mapper_get_ratings, reducer=self.reducer_count_ratings)]`: Returns a list containing a single `MRStep` with the specified mapper and reducer functions.&#10;&#10;4. **Mapper Function**:&#10;   - `def mapper_get_ratings(self, _, line):`: Defines the mapper function `mapper_get_ratings`.&#10;   - `(userID, movieID, rating, timestamp) = line.split('\t')`: Splits each line of input data into components based on the tab character.&#10;   - `yield rating, 1`: Outputs a key-value pair where the key is the rating and the value is `1`.&#10;&#10;5. **Reducer Function**:&#10;   - `def reducer_count_ratings(self, key, values):`: Defines the reducer function `reducer_count_ratings`.&#10;   - `yield key, sum(values)`: Outputs a key-value pair where the key is the rating and the value is the sum of the values, effectively counting the occurrences of each rating.&#10;&#10;6. **Main Block**:&#10;   - `if __name__ == '__main__':`: Checks if the script is being run as the main module.&#10;   - `RatingsBreakdown.run()`: Runs the `RatingsBreakdown` job.&#10;&#10;### Summary:&#10;- The script defines a MapReduce job to count movie ratings using the `mrjob` library.&#10;- The `mapper_get_ratings` function processes each line of input data to extract the rating and emits a key-value pair `&lt;rating, 1&gt;`.&#10;- The `reducer_count_ratings` function aggregates the counts for each rating, outputting a key-value pair `&lt;rating, count&gt;`.&#10;- The `steps` method specifies the sequence of mapper and reducer functions to be executed.&#10;- The main block runs the MapReduce job when the script is executed."/>
          <p:cNvSpPr/>
          <p:nvPr/>
        </p:nvSpPr>
        <p:spPr>
          <a:xfrm>
            <a:off x="2724150" y="2419350"/>
            <a:ext cx="12466320" cy="7239000"/>
          </a:xfrm>
          <a:prstGeom prst="rect">
            <a:avLst/>
          </a:prstGeom>
          <a:blipFill>
            <a:blip r:embed="rId3" cstate="print"/>
            <a:stretch>
              <a:fillRect/>
            </a:stretch>
          </a:blipFill>
        </p:spPr>
        <p:txBody>
          <a:bodyPr wrap="square" lIns="0" tIns="0" rIns="0" bIns="0" rtlCol="0"/>
          <a:lstStyle/>
          <a:p>
            <a:pPr defTabSz="1371600" fontAlgn="auto">
              <a:spcBef>
                <a:spcPts val="0"/>
              </a:spcBef>
              <a:spcAft>
                <a:spcPts val="0"/>
              </a:spcAft>
            </a:pPr>
            <a:endParaRPr sz="2700" dirty="0">
              <a:solidFill>
                <a:srgbClr val="292934"/>
              </a:solidFill>
              <a:latin typeface="Arial"/>
              <a:ea typeface="+mn-ea"/>
            </a:endParaRPr>
          </a:p>
        </p:txBody>
      </p:sp>
    </p:spTree>
    <p:custDataLst>
      <p:tags r:id="rId1"/>
    </p:custDataLst>
    <p:extLst>
      <p:ext uri="{BB962C8B-B14F-4D97-AF65-F5344CB8AC3E}">
        <p14:creationId xmlns:p14="http://schemas.microsoft.com/office/powerpoint/2010/main" val="276381228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27"/>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76077723e4e34c3b5aeef4b04efa78bf">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9e363e40d36e188a1c3db48bbcaf99f"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BFA838ED-C12F-4A42-8E88-98BAC73D2147}">
  <ds:schemaRefs>
    <ds:schemaRef ds:uri="http://schemas.microsoft.com/sharepoint/v3/contenttype/forms"/>
  </ds:schemaRefs>
</ds:datastoreItem>
</file>

<file path=customXml/itemProps3.xml><?xml version="1.0" encoding="utf-8"?>
<ds:datastoreItem xmlns:ds="http://schemas.openxmlformats.org/officeDocument/2006/customXml" ds:itemID="{5E9B46DA-0405-4E40-9E43-6AF48515AC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81525</TotalTime>
  <Words>2751</Words>
  <Application>Microsoft Office PowerPoint</Application>
  <PresentationFormat>Custom</PresentationFormat>
  <Paragraphs>348</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Breeze</vt:lpstr>
      <vt:lpstr>Module 3: Lesson 5 MapReduce Programming</vt:lpstr>
      <vt:lpstr>MapReduce Framework Programming Models</vt:lpstr>
      <vt:lpstr>MapReduce Programming Java</vt:lpstr>
      <vt:lpstr>MapReduce Programming  WordCount in Java</vt:lpstr>
      <vt:lpstr>Hadoop Streaming</vt:lpstr>
      <vt:lpstr>Hadoop Streaming</vt:lpstr>
      <vt:lpstr>MapReduce Programming  Python (MrJob)</vt:lpstr>
      <vt:lpstr>MapReduce Programming  Python (MrJob) – Limitations</vt:lpstr>
      <vt:lpstr>WordCount Using MRJob Driver</vt:lpstr>
      <vt:lpstr>Using MRJob  Driver</vt:lpstr>
      <vt:lpstr>WordCount Using MrJob Mapper</vt:lpstr>
      <vt:lpstr>WordCount Using MrJob Mapper</vt:lpstr>
      <vt:lpstr>WordCount Using MrJob Mapper</vt:lpstr>
      <vt:lpstr>WordCount Using MrJob Reducer</vt:lpstr>
      <vt:lpstr>WordCount Using MrJob Reducer</vt:lpstr>
      <vt:lpstr>WordCount Using MrJob Reducer</vt:lpstr>
      <vt:lpstr>Canonical Word Count in Python (MrJob)</vt:lpstr>
      <vt:lpstr>WordCount Using MrJob Executing the Program</vt:lpstr>
      <vt:lpstr>MapReduce Limitations</vt:lpstr>
      <vt:lpstr>MapReduce Limitations</vt:lpstr>
      <vt:lpstr>MapReduce Limitations</vt:lpstr>
      <vt:lpstr>Movie Rating Count Using MrJob </vt:lpstr>
      <vt:lpstr>Movie Rating Count Using MrJob  Map Phase</vt:lpstr>
      <vt:lpstr>Movie Rating Count Using MrJob  Map Phase</vt:lpstr>
      <vt:lpstr>Movie Rating Count Using MrJob  Reduce Phase</vt:lpstr>
      <vt:lpstr>Movie Rating Count Using MrJob  Reduce Phase</vt:lpstr>
      <vt:lpstr>Movie Rating Count Using MrJob  Putting it all together</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Joseph Rosen</cp:lastModifiedBy>
  <cp:revision>257</cp:revision>
  <cp:lastPrinted>2023-10-30T23:31:26Z</cp:lastPrinted>
  <dcterms:created xsi:type="dcterms:W3CDTF">2019-02-13T16:04:21Z</dcterms:created>
  <dcterms:modified xsi:type="dcterms:W3CDTF">2024-07-09T18:38:31Z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ArticulateGUID">
    <vt:lpwstr>3E27DC4E-B5AA-4F42-A23A-C74A2D77C667</vt:lpwstr>
  </property>
  <property fmtid="{D5CDD505-2E9C-101B-9397-08002B2CF9AE}" pid="4" name="ArticulatePath">
    <vt:lpwstr>Module 3 v1 12052023</vt:lpwstr>
  </property>
  <property fmtid="{D5CDD505-2E9C-101B-9397-08002B2CF9AE}" pid="5" name="MediaServiceImageTags">
    <vt:lpwstr/>
  </property>
</Properties>
</file>