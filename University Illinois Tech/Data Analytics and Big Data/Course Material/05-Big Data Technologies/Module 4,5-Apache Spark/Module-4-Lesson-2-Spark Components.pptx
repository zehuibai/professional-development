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34"/>
  </p:notesMasterIdLst>
  <p:sldIdLst>
    <p:sldId id="969" r:id="rId5"/>
    <p:sldId id="902" r:id="rId6"/>
    <p:sldId id="261" r:id="rId7"/>
    <p:sldId id="958" r:id="rId8"/>
    <p:sldId id="950" r:id="rId9"/>
    <p:sldId id="951" r:id="rId10"/>
    <p:sldId id="994" r:id="rId11"/>
    <p:sldId id="263" r:id="rId12"/>
    <p:sldId id="380" r:id="rId13"/>
    <p:sldId id="959" r:id="rId14"/>
    <p:sldId id="268" r:id="rId15"/>
    <p:sldId id="269" r:id="rId16"/>
    <p:sldId id="270" r:id="rId17"/>
    <p:sldId id="378" r:id="rId18"/>
    <p:sldId id="932" r:id="rId19"/>
    <p:sldId id="960" r:id="rId20"/>
    <p:sldId id="935" r:id="rId21"/>
    <p:sldId id="936" r:id="rId22"/>
    <p:sldId id="937" r:id="rId23"/>
    <p:sldId id="938" r:id="rId24"/>
    <p:sldId id="939" r:id="rId25"/>
    <p:sldId id="962" r:id="rId26"/>
    <p:sldId id="963" r:id="rId27"/>
    <p:sldId id="964" r:id="rId28"/>
    <p:sldId id="945" r:id="rId29"/>
    <p:sldId id="966" r:id="rId30"/>
    <p:sldId id="949" r:id="rId31"/>
    <p:sldId id="967" r:id="rId32"/>
    <p:sldId id="968" r:id="rId33"/>
  </p:sldIdLst>
  <p:sldSz cx="18288000" cy="10287000"/>
  <p:notesSz cx="6858000" cy="9144000"/>
  <p:custDataLst>
    <p:tags r:id="rId35"/>
  </p:custDataLst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7E8"/>
    <a:srgbClr val="E1F8FF"/>
    <a:srgbClr val="E0F8FF"/>
    <a:srgbClr val="BABABA"/>
    <a:srgbClr val="0070C0"/>
    <a:srgbClr val="959595"/>
    <a:srgbClr val="E98D0A"/>
    <a:srgbClr val="969696"/>
    <a:srgbClr val="3F4F6C"/>
    <a:srgbClr val="C507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F53AA1-37AB-D596-DAC5-EC3AA1C7445F}" v="8" dt="2024-07-09T19:33:45.8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88"/>
    <p:restoredTop sz="95726" autoAdjust="0"/>
  </p:normalViewPr>
  <p:slideViewPr>
    <p:cSldViewPr snapToGrid="0" snapToObjects="1">
      <p:cViewPr varScale="1">
        <p:scale>
          <a:sx n="71" d="100"/>
          <a:sy n="71" d="100"/>
        </p:scale>
        <p:origin x="918" y="78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gs" Target="tags/tag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lison Mulshine" userId="S::allison.mulshine@collegiseducation.com::5f656d52-c555-4e5e-9a5b-18226766ffe3" providerId="AD" clId="Web-{E92268FE-296C-A666-BF4D-F27B53ABC941}"/>
    <pc:docChg chg="modSld">
      <pc:chgData name="Allison Mulshine" userId="S::allison.mulshine@collegiseducation.com::5f656d52-c555-4e5e-9a5b-18226766ffe3" providerId="AD" clId="Web-{E92268FE-296C-A666-BF4D-F27B53ABC941}" dt="2024-06-21T18:09:03.014" v="1"/>
      <pc:docMkLst>
        <pc:docMk/>
      </pc:docMkLst>
      <pc:sldChg chg="addSp modSp">
        <pc:chgData name="Allison Mulshine" userId="S::allison.mulshine@collegiseducation.com::5f656d52-c555-4e5e-9a5b-18226766ffe3" providerId="AD" clId="Web-{E92268FE-296C-A666-BF4D-F27B53ABC941}" dt="2024-06-21T18:09:03.014" v="1"/>
        <pc:sldMkLst>
          <pc:docMk/>
          <pc:sldMk cId="3328389328" sldId="959"/>
        </pc:sldMkLst>
        <pc:grpChg chg="add mod">
          <ac:chgData name="Allison Mulshine" userId="S::allison.mulshine@collegiseducation.com::5f656d52-c555-4e5e-9a5b-18226766ffe3" providerId="AD" clId="Web-{E92268FE-296C-A666-BF4D-F27B53ABC941}" dt="2024-06-21T18:09:03.014" v="1"/>
          <ac:grpSpMkLst>
            <pc:docMk/>
            <pc:sldMk cId="3328389328" sldId="959"/>
            <ac:grpSpMk id="3" creationId="{A3795EF8-4A73-0FF9-CCB8-FF94999C239B}"/>
          </ac:grpSpMkLst>
        </pc:grpChg>
      </pc:sldChg>
    </pc:docChg>
  </pc:docChgLst>
  <pc:docChgLst>
    <pc:chgData name="Allison Mulshine" userId="S::allison.mulshine@collegiseducation.com::5f656d52-c555-4e5e-9a5b-18226766ffe3" providerId="AD" clId="Web-{DCF53AA1-37AB-D596-DAC5-EC3AA1C7445F}"/>
    <pc:docChg chg="modSld">
      <pc:chgData name="Allison Mulshine" userId="S::allison.mulshine@collegiseducation.com::5f656d52-c555-4e5e-9a5b-18226766ffe3" providerId="AD" clId="Web-{DCF53AA1-37AB-D596-DAC5-EC3AA1C7445F}" dt="2024-07-09T19:33:45.804" v="6" actId="1076"/>
      <pc:docMkLst>
        <pc:docMk/>
      </pc:docMkLst>
      <pc:sldChg chg="addSp delSp modSp">
        <pc:chgData name="Allison Mulshine" userId="S::allison.mulshine@collegiseducation.com::5f656d52-c555-4e5e-9a5b-18226766ffe3" providerId="AD" clId="Web-{DCF53AA1-37AB-D596-DAC5-EC3AA1C7445F}" dt="2024-07-09T19:33:45.804" v="6" actId="1076"/>
        <pc:sldMkLst>
          <pc:docMk/>
          <pc:sldMk cId="3328389328" sldId="959"/>
        </pc:sldMkLst>
        <pc:grpChg chg="del mod">
          <ac:chgData name="Allison Mulshine" userId="S::allison.mulshine@collegiseducation.com::5f656d52-c555-4e5e-9a5b-18226766ffe3" providerId="AD" clId="Web-{DCF53AA1-37AB-D596-DAC5-EC3AA1C7445F}" dt="2024-07-09T19:33:38.632" v="3"/>
          <ac:grpSpMkLst>
            <pc:docMk/>
            <pc:sldMk cId="3328389328" sldId="959"/>
            <ac:grpSpMk id="3" creationId="{A3795EF8-4A73-0FF9-CCB8-FF94999C239B}"/>
          </ac:grpSpMkLst>
        </pc:grpChg>
        <pc:picChg chg="add mod">
          <ac:chgData name="Allison Mulshine" userId="S::allison.mulshine@collegiseducation.com::5f656d52-c555-4e5e-9a5b-18226766ffe3" providerId="AD" clId="Web-{DCF53AA1-37AB-D596-DAC5-EC3AA1C7445F}" dt="2024-07-09T19:33:45.804" v="6" actId="1076"/>
          <ac:picMkLst>
            <pc:docMk/>
            <pc:sldMk cId="3328389328" sldId="959"/>
            <ac:picMk id="8" creationId="{C6E05F7E-50A3-99E1-7A08-E4FD5811E07B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3CD2A7-7B6B-1E4E-AEAD-C667EDED04F0}" type="doc">
      <dgm:prSet loTypeId="urn:microsoft.com/office/officeart/2005/8/layout/process4" loCatId="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216E32-7ECA-764F-AB06-F432503D6D08}">
      <dgm:prSet phldrT="[Text]"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3200" b="0" i="0" dirty="0">
              <a:solidFill>
                <a:schemeClr val="bg2"/>
              </a:solidFill>
              <a:effectLst/>
              <a:latin typeface="inherit"/>
            </a:rPr>
            <a:t>Explicit settings in the application</a:t>
          </a:r>
          <a:endParaRPr lang="en-US" sz="3200" dirty="0">
            <a:solidFill>
              <a:schemeClr val="bg2"/>
            </a:solidFill>
          </a:endParaRPr>
        </a:p>
      </dgm:t>
    </dgm:pt>
    <dgm:pt modelId="{8DEDA3DA-9E56-0F41-9DCF-65C8EEB49693}" type="parTrans" cxnId="{5B029301-99BF-A14F-AC40-001052C25573}">
      <dgm:prSet/>
      <dgm:spPr/>
      <dgm:t>
        <a:bodyPr/>
        <a:lstStyle/>
        <a:p>
          <a:endParaRPr lang="en-US" sz="3200">
            <a:solidFill>
              <a:schemeClr val="bg2"/>
            </a:solidFill>
          </a:endParaRPr>
        </a:p>
      </dgm:t>
    </dgm:pt>
    <dgm:pt modelId="{025E132D-A5B0-294E-8666-4E6AEF8DBFF2}" type="sibTrans" cxnId="{5B029301-99BF-A14F-AC40-001052C25573}">
      <dgm:prSet/>
      <dgm:spPr/>
      <dgm:t>
        <a:bodyPr/>
        <a:lstStyle/>
        <a:p>
          <a:endParaRPr lang="en-US" sz="3200">
            <a:solidFill>
              <a:schemeClr val="bg2"/>
            </a:solidFill>
          </a:endParaRPr>
        </a:p>
      </dgm:t>
    </dgm:pt>
    <dgm:pt modelId="{A17C03AC-6BA9-804E-9A68-7A064AC12694}">
      <dgm:prSet custT="1"/>
      <dgm:spPr/>
      <dgm:t>
        <a:bodyPr/>
        <a:lstStyle/>
        <a:p>
          <a:r>
            <a:rPr lang="en-US" sz="3200" b="0" i="0" dirty="0">
              <a:solidFill>
                <a:schemeClr val="tx1"/>
              </a:solidFill>
              <a:effectLst/>
              <a:latin typeface="inherit"/>
            </a:rPr>
            <a:t>Command line arguments (‘submit-spark’)</a:t>
          </a:r>
        </a:p>
      </dgm:t>
    </dgm:pt>
    <dgm:pt modelId="{5C8C6B6B-C493-1B4B-BD34-05552799C56E}" type="parTrans" cxnId="{DC8F272D-D4E7-7047-84B0-5AD6FC0210E2}">
      <dgm:prSet/>
      <dgm:spPr/>
      <dgm:t>
        <a:bodyPr/>
        <a:lstStyle/>
        <a:p>
          <a:endParaRPr lang="en-US" sz="3200">
            <a:solidFill>
              <a:schemeClr val="bg2"/>
            </a:solidFill>
          </a:endParaRPr>
        </a:p>
      </dgm:t>
    </dgm:pt>
    <dgm:pt modelId="{780E3711-3EFD-764C-B285-2A9328FE4EF4}" type="sibTrans" cxnId="{DC8F272D-D4E7-7047-84B0-5AD6FC0210E2}">
      <dgm:prSet/>
      <dgm:spPr/>
      <dgm:t>
        <a:bodyPr/>
        <a:lstStyle/>
        <a:p>
          <a:endParaRPr lang="en-US" sz="3200">
            <a:solidFill>
              <a:schemeClr val="bg2"/>
            </a:solidFill>
          </a:endParaRPr>
        </a:p>
      </dgm:t>
    </dgm:pt>
    <dgm:pt modelId="{53B753D9-AE9E-4F43-A70D-DE85CF68D8F8}">
      <dgm:prSet custT="1"/>
      <dgm:spPr/>
      <dgm:t>
        <a:bodyPr/>
        <a:lstStyle/>
        <a:p>
          <a:r>
            <a:rPr lang="en-US" sz="3200" b="0" i="0" dirty="0">
              <a:solidFill>
                <a:schemeClr val="tx1"/>
              </a:solidFill>
              <a:effectLst/>
              <a:latin typeface="inherit"/>
            </a:rPr>
            <a:t>Options from the configuration files</a:t>
          </a:r>
        </a:p>
      </dgm:t>
    </dgm:pt>
    <dgm:pt modelId="{81BAC682-7AAB-8046-9F69-873EDAD1C1E5}" type="parTrans" cxnId="{A49AFEC3-8509-984E-9D73-BE6651DB7845}">
      <dgm:prSet/>
      <dgm:spPr/>
      <dgm:t>
        <a:bodyPr/>
        <a:lstStyle/>
        <a:p>
          <a:endParaRPr lang="en-US" sz="3200">
            <a:solidFill>
              <a:schemeClr val="bg2"/>
            </a:solidFill>
          </a:endParaRPr>
        </a:p>
      </dgm:t>
    </dgm:pt>
    <dgm:pt modelId="{DD874302-5D4C-0D49-95EC-1D31FC5ECDE5}" type="sibTrans" cxnId="{A49AFEC3-8509-984E-9D73-BE6651DB7845}">
      <dgm:prSet/>
      <dgm:spPr/>
      <dgm:t>
        <a:bodyPr/>
        <a:lstStyle/>
        <a:p>
          <a:endParaRPr lang="en-US" sz="3200">
            <a:solidFill>
              <a:schemeClr val="bg2"/>
            </a:solidFill>
          </a:endParaRPr>
        </a:p>
      </dgm:t>
    </dgm:pt>
    <dgm:pt modelId="{43016BFD-22BD-114D-BEE4-1F3F95E6B26E}" type="pres">
      <dgm:prSet presAssocID="{9D3CD2A7-7B6B-1E4E-AEAD-C667EDED04F0}" presName="Name0" presStyleCnt="0">
        <dgm:presLayoutVars>
          <dgm:dir/>
          <dgm:animLvl val="lvl"/>
          <dgm:resizeHandles val="exact"/>
        </dgm:presLayoutVars>
      </dgm:prSet>
      <dgm:spPr/>
    </dgm:pt>
    <dgm:pt modelId="{3841AA69-59DB-C14A-A44F-924A5C1AF204}" type="pres">
      <dgm:prSet presAssocID="{53B753D9-AE9E-4F43-A70D-DE85CF68D8F8}" presName="boxAndChildren" presStyleCnt="0"/>
      <dgm:spPr/>
    </dgm:pt>
    <dgm:pt modelId="{56B2DBF5-6994-A24E-A93F-3F0BFB1A6AA3}" type="pres">
      <dgm:prSet presAssocID="{53B753D9-AE9E-4F43-A70D-DE85CF68D8F8}" presName="parentTextBox" presStyleLbl="node1" presStyleIdx="0" presStyleCnt="3"/>
      <dgm:spPr/>
    </dgm:pt>
    <dgm:pt modelId="{19D6B439-2857-144D-AAFE-0F628ED03B25}" type="pres">
      <dgm:prSet presAssocID="{780E3711-3EFD-764C-B285-2A9328FE4EF4}" presName="sp" presStyleCnt="0"/>
      <dgm:spPr/>
    </dgm:pt>
    <dgm:pt modelId="{0E8FA535-FDAB-0F4C-BAD5-FD0EEF341062}" type="pres">
      <dgm:prSet presAssocID="{A17C03AC-6BA9-804E-9A68-7A064AC12694}" presName="arrowAndChildren" presStyleCnt="0"/>
      <dgm:spPr/>
    </dgm:pt>
    <dgm:pt modelId="{8EED3B96-1365-6143-A949-E83E0F017A62}" type="pres">
      <dgm:prSet presAssocID="{A17C03AC-6BA9-804E-9A68-7A064AC12694}" presName="parentTextArrow" presStyleLbl="node1" presStyleIdx="1" presStyleCnt="3"/>
      <dgm:spPr/>
    </dgm:pt>
    <dgm:pt modelId="{3E4B7627-F6E2-1B44-9E73-0A43B8E3498B}" type="pres">
      <dgm:prSet presAssocID="{025E132D-A5B0-294E-8666-4E6AEF8DBFF2}" presName="sp" presStyleCnt="0"/>
      <dgm:spPr/>
    </dgm:pt>
    <dgm:pt modelId="{7414A76C-80F6-A542-834D-E04E941DD3A1}" type="pres">
      <dgm:prSet presAssocID="{C1216E32-7ECA-764F-AB06-F432503D6D08}" presName="arrowAndChildren" presStyleCnt="0"/>
      <dgm:spPr/>
    </dgm:pt>
    <dgm:pt modelId="{13120F1F-02FB-B242-8E31-163450E98388}" type="pres">
      <dgm:prSet presAssocID="{C1216E32-7ECA-764F-AB06-F432503D6D08}" presName="parentTextArrow" presStyleLbl="node1" presStyleIdx="2" presStyleCnt="3"/>
      <dgm:spPr/>
    </dgm:pt>
  </dgm:ptLst>
  <dgm:cxnLst>
    <dgm:cxn modelId="{5B029301-99BF-A14F-AC40-001052C25573}" srcId="{9D3CD2A7-7B6B-1E4E-AEAD-C667EDED04F0}" destId="{C1216E32-7ECA-764F-AB06-F432503D6D08}" srcOrd="0" destOrd="0" parTransId="{8DEDA3DA-9E56-0F41-9DCF-65C8EEB49693}" sibTransId="{025E132D-A5B0-294E-8666-4E6AEF8DBFF2}"/>
    <dgm:cxn modelId="{DC8F272D-D4E7-7047-84B0-5AD6FC0210E2}" srcId="{9D3CD2A7-7B6B-1E4E-AEAD-C667EDED04F0}" destId="{A17C03AC-6BA9-804E-9A68-7A064AC12694}" srcOrd="1" destOrd="0" parTransId="{5C8C6B6B-C493-1B4B-BD34-05552799C56E}" sibTransId="{780E3711-3EFD-764C-B285-2A9328FE4EF4}"/>
    <dgm:cxn modelId="{DA25D748-28F5-944D-B98D-DEE202DFC3BE}" type="presOf" srcId="{C1216E32-7ECA-764F-AB06-F432503D6D08}" destId="{13120F1F-02FB-B242-8E31-163450E98388}" srcOrd="0" destOrd="0" presId="urn:microsoft.com/office/officeart/2005/8/layout/process4"/>
    <dgm:cxn modelId="{A98C8149-F475-DD49-885E-1978755501B1}" type="presOf" srcId="{A17C03AC-6BA9-804E-9A68-7A064AC12694}" destId="{8EED3B96-1365-6143-A949-E83E0F017A62}" srcOrd="0" destOrd="0" presId="urn:microsoft.com/office/officeart/2005/8/layout/process4"/>
    <dgm:cxn modelId="{5999E178-ECB4-024B-B114-8E2BC48EC4F5}" type="presOf" srcId="{9D3CD2A7-7B6B-1E4E-AEAD-C667EDED04F0}" destId="{43016BFD-22BD-114D-BEE4-1F3F95E6B26E}" srcOrd="0" destOrd="0" presId="urn:microsoft.com/office/officeart/2005/8/layout/process4"/>
    <dgm:cxn modelId="{FA5CDFBA-A23B-1E4E-9D28-931F79C5D31D}" type="presOf" srcId="{53B753D9-AE9E-4F43-A70D-DE85CF68D8F8}" destId="{56B2DBF5-6994-A24E-A93F-3F0BFB1A6AA3}" srcOrd="0" destOrd="0" presId="urn:microsoft.com/office/officeart/2005/8/layout/process4"/>
    <dgm:cxn modelId="{A49AFEC3-8509-984E-9D73-BE6651DB7845}" srcId="{9D3CD2A7-7B6B-1E4E-AEAD-C667EDED04F0}" destId="{53B753D9-AE9E-4F43-A70D-DE85CF68D8F8}" srcOrd="2" destOrd="0" parTransId="{81BAC682-7AAB-8046-9F69-873EDAD1C1E5}" sibTransId="{DD874302-5D4C-0D49-95EC-1D31FC5ECDE5}"/>
    <dgm:cxn modelId="{87639ED7-DC3A-2D4F-B386-B6041FB06835}" type="presParOf" srcId="{43016BFD-22BD-114D-BEE4-1F3F95E6B26E}" destId="{3841AA69-59DB-C14A-A44F-924A5C1AF204}" srcOrd="0" destOrd="0" presId="urn:microsoft.com/office/officeart/2005/8/layout/process4"/>
    <dgm:cxn modelId="{C739BA3A-7A6A-BD47-ACF8-C2D88D87B166}" type="presParOf" srcId="{3841AA69-59DB-C14A-A44F-924A5C1AF204}" destId="{56B2DBF5-6994-A24E-A93F-3F0BFB1A6AA3}" srcOrd="0" destOrd="0" presId="urn:microsoft.com/office/officeart/2005/8/layout/process4"/>
    <dgm:cxn modelId="{806E1323-2EE0-364F-A1E0-2DE14A6BC04E}" type="presParOf" srcId="{43016BFD-22BD-114D-BEE4-1F3F95E6B26E}" destId="{19D6B439-2857-144D-AAFE-0F628ED03B25}" srcOrd="1" destOrd="0" presId="urn:microsoft.com/office/officeart/2005/8/layout/process4"/>
    <dgm:cxn modelId="{40961038-C2BA-FE48-9BCE-CF1F2953ADF5}" type="presParOf" srcId="{43016BFD-22BD-114D-BEE4-1F3F95E6B26E}" destId="{0E8FA535-FDAB-0F4C-BAD5-FD0EEF341062}" srcOrd="2" destOrd="0" presId="urn:microsoft.com/office/officeart/2005/8/layout/process4"/>
    <dgm:cxn modelId="{046E8AC4-9D76-DC42-A1B5-B4D87A20E2F2}" type="presParOf" srcId="{0E8FA535-FDAB-0F4C-BAD5-FD0EEF341062}" destId="{8EED3B96-1365-6143-A949-E83E0F017A62}" srcOrd="0" destOrd="0" presId="urn:microsoft.com/office/officeart/2005/8/layout/process4"/>
    <dgm:cxn modelId="{7358CFF6-9642-8144-9442-542604651E4A}" type="presParOf" srcId="{43016BFD-22BD-114D-BEE4-1F3F95E6B26E}" destId="{3E4B7627-F6E2-1B44-9E73-0A43B8E3498B}" srcOrd="3" destOrd="0" presId="urn:microsoft.com/office/officeart/2005/8/layout/process4"/>
    <dgm:cxn modelId="{B22B91D6-E5B5-A546-A371-A96FF93A065E}" type="presParOf" srcId="{43016BFD-22BD-114D-BEE4-1F3F95E6B26E}" destId="{7414A76C-80F6-A542-834D-E04E941DD3A1}" srcOrd="4" destOrd="0" presId="urn:microsoft.com/office/officeart/2005/8/layout/process4"/>
    <dgm:cxn modelId="{243B2221-0410-504A-BB39-492501415F50}" type="presParOf" srcId="{7414A76C-80F6-A542-834D-E04E941DD3A1}" destId="{13120F1F-02FB-B242-8E31-163450E9838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B2DBF5-6994-A24E-A93F-3F0BFB1A6AA3}">
      <dsp:nvSpPr>
        <dsp:cNvPr id="0" name=""/>
        <dsp:cNvSpPr/>
      </dsp:nvSpPr>
      <dsp:spPr>
        <a:xfrm>
          <a:off x="0" y="3205081"/>
          <a:ext cx="12192000" cy="105197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>
              <a:solidFill>
                <a:schemeClr val="tx1"/>
              </a:solidFill>
              <a:effectLst/>
              <a:latin typeface="inherit"/>
            </a:rPr>
            <a:t>Options from the configuration files</a:t>
          </a:r>
        </a:p>
      </dsp:txBody>
      <dsp:txXfrm>
        <a:off x="0" y="3205081"/>
        <a:ext cx="12192000" cy="1051979"/>
      </dsp:txXfrm>
    </dsp:sp>
    <dsp:sp modelId="{8EED3B96-1365-6143-A949-E83E0F017A62}">
      <dsp:nvSpPr>
        <dsp:cNvPr id="0" name=""/>
        <dsp:cNvSpPr/>
      </dsp:nvSpPr>
      <dsp:spPr>
        <a:xfrm rot="10800000">
          <a:off x="0" y="1602916"/>
          <a:ext cx="12192000" cy="1617943"/>
        </a:xfrm>
        <a:prstGeom prst="upArrowCallout">
          <a:avLst/>
        </a:prstGeom>
        <a:solidFill>
          <a:schemeClr val="accent2">
            <a:hueOff val="-1057354"/>
            <a:satOff val="-45878"/>
            <a:lumOff val="5587"/>
            <a:alphaOff val="0"/>
          </a:schemeClr>
        </a:solidFill>
        <a:ln w="254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>
              <a:solidFill>
                <a:schemeClr val="tx1"/>
              </a:solidFill>
              <a:effectLst/>
              <a:latin typeface="inherit"/>
            </a:rPr>
            <a:t>Command line arguments (‘submit-spark’)</a:t>
          </a:r>
        </a:p>
      </dsp:txBody>
      <dsp:txXfrm rot="10800000">
        <a:off x="0" y="1602916"/>
        <a:ext cx="12192000" cy="1051291"/>
      </dsp:txXfrm>
    </dsp:sp>
    <dsp:sp modelId="{13120F1F-02FB-B242-8E31-163450E98388}">
      <dsp:nvSpPr>
        <dsp:cNvPr id="0" name=""/>
        <dsp:cNvSpPr/>
      </dsp:nvSpPr>
      <dsp:spPr>
        <a:xfrm rot="10800000">
          <a:off x="0" y="752"/>
          <a:ext cx="12192000" cy="1617943"/>
        </a:xfrm>
        <a:prstGeom prst="upArrowCallout">
          <a:avLst/>
        </a:prstGeom>
        <a:solidFill>
          <a:schemeClr val="accent2">
            <a:hueOff val="-2114708"/>
            <a:satOff val="-91757"/>
            <a:lumOff val="11174"/>
            <a:alphaOff val="0"/>
          </a:schemeClr>
        </a:solidFill>
        <a:ln w="25400" cap="flat" cmpd="dbl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227584" rIns="227584" bIns="22758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3200" b="0" i="0" kern="1200" dirty="0">
              <a:solidFill>
                <a:schemeClr val="bg2"/>
              </a:solidFill>
              <a:effectLst/>
              <a:latin typeface="inherit"/>
            </a:rPr>
            <a:t>Explicit settings in the application</a:t>
          </a:r>
          <a:endParaRPr lang="en-US" sz="3200" kern="1200" dirty="0">
            <a:solidFill>
              <a:schemeClr val="bg2"/>
            </a:solidFill>
          </a:endParaRPr>
        </a:p>
      </dsp:txBody>
      <dsp:txXfrm rot="10800000">
        <a:off x="0" y="752"/>
        <a:ext cx="12192000" cy="10512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D919ED-7EBC-0349-92FD-49744747E976}" type="datetimeFigureOut">
              <a:rPr lang="en-US" smtClean="0"/>
              <a:t>7/9/2024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71147B-6250-B74A-893B-83F308D48EF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14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CA1B2D-91A0-C5A0-A577-CB1060733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1FD5A-47F3-7A42-9DEC-F1C89DC0E539}" type="datetimeFigureOut">
              <a:rPr lang="en-US" smtClean="0"/>
              <a:t>7/9/2024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5DCA34-8EAF-2F4C-A973-971DE3FA7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4203A-6871-B7A0-6812-ECB7856C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3CBA9-CC61-CC46-91C3-2044A25EBE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67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  <p:sldLayoutId id="2147483677" r:id="rId4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124E-2AFD-8B0F-2A0E-4F4FC4AEE7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Module 4: Lesson 2</a:t>
            </a:r>
            <a:br>
              <a:rPr lang="en-US" dirty="0"/>
            </a:br>
            <a:r>
              <a:rPr lang="en-US" dirty="0"/>
              <a:t>Spark Components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4146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Apache Spark Components</a:t>
            </a:r>
            <a:br>
              <a:rPr lang="en-US" dirty="0"/>
            </a:br>
            <a:r>
              <a:rPr lang="en-US" sz="4650" dirty="0"/>
              <a:t>Spark 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dirty="0"/>
              <a:t>Spark Core contains the basic functionality of Spark</a:t>
            </a:r>
          </a:p>
          <a:p>
            <a:pPr lvl="1" fontAlgn="base"/>
            <a:r>
              <a:rPr lang="en-US" dirty="0"/>
              <a:t>Including components for task scheduling, memory management, fault recovery, interacting with storage systems, and more</a:t>
            </a:r>
          </a:p>
          <a:p>
            <a:pPr fontAlgn="base"/>
            <a:r>
              <a:rPr lang="en-US" dirty="0"/>
              <a:t>Spark Core is also home to the API that defines </a:t>
            </a:r>
            <a:r>
              <a:rPr lang="en-US" i="1" dirty="0"/>
              <a:t>resilient distributed datasets</a:t>
            </a:r>
            <a:r>
              <a:rPr lang="en-US" dirty="0"/>
              <a:t> (RDDs)</a:t>
            </a:r>
          </a:p>
          <a:p>
            <a:pPr lvl="1" fontAlgn="base"/>
            <a:r>
              <a:rPr lang="en-US" dirty="0"/>
              <a:t>RDDs are Spark’s core programming abstraction for unstructured data</a:t>
            </a:r>
          </a:p>
          <a:p>
            <a:pPr lvl="1" fontAlgn="base"/>
            <a:r>
              <a:rPr lang="en-US" dirty="0"/>
              <a:t>RDDs represent a collection of items distributed across many compute nodes that can be manipulated in parallel</a:t>
            </a:r>
          </a:p>
          <a:p>
            <a:pPr fontAlgn="base"/>
            <a:r>
              <a:rPr lang="en-US" dirty="0"/>
              <a:t>Spark Core provides Java, Scala, R and Python APIs for ease of development, and for building and manipulating these collections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363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Apache Spark Components</a:t>
            </a:r>
            <a:br>
              <a:rPr lang="en-US" dirty="0"/>
            </a:br>
            <a:r>
              <a:rPr lang="en-US" sz="4650" dirty="0"/>
              <a:t>Spark SQL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Spark SQL is Spark’s package for working with structured data</a:t>
            </a:r>
          </a:p>
          <a:p>
            <a:r>
              <a:rPr lang="en-US" dirty="0"/>
              <a:t>It allows querying data via SQL as well as the similar Hive Query Language (HiveQL)</a:t>
            </a:r>
          </a:p>
          <a:p>
            <a:r>
              <a:rPr lang="en-US" dirty="0"/>
              <a:t>Spark SQL also allows data analysts to mix SQL queries with functional data manipulations supported by the DataFrame API</a:t>
            </a:r>
          </a:p>
          <a:p>
            <a:r>
              <a:rPr lang="en-US" dirty="0"/>
              <a:t>It enables reading and writing many sources of data, including Hive tables, CSV, Parquet, JDBC/ODBC, ORC, Text, and JSON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764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Apache Spark Components</a:t>
            </a:r>
            <a:br>
              <a:rPr lang="en-US" dirty="0"/>
            </a:br>
            <a:r>
              <a:rPr lang="en-US" dirty="0"/>
              <a:t>Spark MLlib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Spark comes with a library containing common machine learning functionality</a:t>
            </a:r>
          </a:p>
          <a:p>
            <a:r>
              <a:rPr lang="en-US" dirty="0"/>
              <a:t>Its goal is to make practical machine learning scalable to massive volumes of data</a:t>
            </a:r>
          </a:p>
          <a:p>
            <a:r>
              <a:rPr lang="en-US" dirty="0"/>
              <a:t>The RDD-based APIs in the spark.mllib package have entered maintenance mode</a:t>
            </a:r>
          </a:p>
          <a:p>
            <a:r>
              <a:rPr lang="en-US" dirty="0"/>
              <a:t>The DataFrame-based API in the spark.ml package is now clearly preferred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621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09FDC-AC57-142C-69E5-2A0CDE9EE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Spark Components</a:t>
            </a:r>
            <a:br>
              <a:rPr lang="en-US" dirty="0"/>
            </a:br>
            <a:r>
              <a:rPr lang="en-US" sz="4800" dirty="0"/>
              <a:t>Spark MLlib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02BFA-1927-EED1-154B-32C0A1C1E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3600" b="0" i="0" dirty="0">
                <a:effectLst/>
              </a:rPr>
              <a:t>ML Algorithms: common learning algorithms such as classification, regression, clustering, and collaborative filtering</a:t>
            </a:r>
          </a:p>
          <a:p>
            <a:pPr algn="l"/>
            <a:r>
              <a:rPr lang="en-US" sz="3600" b="0" i="0" dirty="0">
                <a:effectLst/>
              </a:rPr>
              <a:t>Featurization: feature extraction, transformation, dimensionality reduction, and selection</a:t>
            </a:r>
          </a:p>
          <a:p>
            <a:pPr algn="l"/>
            <a:r>
              <a:rPr lang="en-US" sz="3600" b="0" i="0" dirty="0">
                <a:effectLst/>
              </a:rPr>
              <a:t>Pipelines: tools for constructing, evaluating, and tuning ML Pipelines</a:t>
            </a:r>
          </a:p>
          <a:p>
            <a:pPr algn="l"/>
            <a:r>
              <a:rPr lang="en-US" sz="3600" b="0" i="0" dirty="0">
                <a:effectLst/>
              </a:rPr>
              <a:t>Persistence: saving and load algorithms, models, and Pipelines</a:t>
            </a:r>
          </a:p>
          <a:p>
            <a:pPr algn="l"/>
            <a:r>
              <a:rPr lang="en-US" sz="3600" b="0" i="0" dirty="0">
                <a:effectLst/>
              </a:rPr>
              <a:t>Utilities: linear algebra, statistics, data handling, etc.</a:t>
            </a:r>
          </a:p>
          <a:p>
            <a:r>
              <a:rPr lang="en-US" sz="3600" dirty="0"/>
              <a:t>All of these methods are designed to scale across a cluster</a:t>
            </a:r>
          </a:p>
          <a:p>
            <a:pPr algn="l"/>
            <a:endParaRPr lang="en-US" b="0" i="0" dirty="0">
              <a:solidFill>
                <a:srgbClr val="666666"/>
              </a:solidFill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573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C924-ECDE-1719-FF27-23C98A7BE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Apache Spark Components</a:t>
            </a:r>
            <a:b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Structured Streaming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245DC-691B-1E77-17BC-E9CD46780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0" i="0" dirty="0">
                <a:solidFill>
                  <a:srgbClr val="1D1F22"/>
                </a:solidFill>
                <a:effectLst/>
              </a:rPr>
              <a:t>Structured Streaming is a scalable and fault-tolerant stream (near real-time) processing engine built on Spark SQL</a:t>
            </a:r>
          </a:p>
          <a:p>
            <a:r>
              <a:rPr lang="en-US" sz="3600" b="0" i="0" dirty="0">
                <a:solidFill>
                  <a:srgbClr val="1D1F22"/>
                </a:solidFill>
                <a:effectLst/>
              </a:rPr>
              <a:t>You can express streaming computation the same way you would express a batch computation on stored data</a:t>
            </a:r>
          </a:p>
          <a:p>
            <a:r>
              <a:rPr lang="en-US" sz="3600" b="0" i="0" dirty="0">
                <a:solidFill>
                  <a:srgbClr val="1D1F22"/>
                </a:solidFill>
                <a:effectLst/>
              </a:rPr>
              <a:t>The Spark SQL engine will take care of running </a:t>
            </a:r>
            <a:r>
              <a:rPr lang="en-US" sz="3600" dirty="0">
                <a:solidFill>
                  <a:srgbClr val="1D1F22"/>
                </a:solidFill>
              </a:rPr>
              <a:t>the streaming computation </a:t>
            </a:r>
            <a:r>
              <a:rPr lang="en-US" sz="3600" b="0" i="0" dirty="0">
                <a:solidFill>
                  <a:srgbClr val="1D1F22"/>
                </a:solidFill>
                <a:effectLst/>
              </a:rPr>
              <a:t>incrementally, and continuously, and updating the final result as streaming data continues to arrive</a:t>
            </a:r>
          </a:p>
          <a:p>
            <a:r>
              <a:rPr lang="en-US" sz="3600" b="0" i="0" dirty="0">
                <a:solidFill>
                  <a:srgbClr val="1D1F22"/>
                </a:solidFill>
                <a:effectLst/>
              </a:rPr>
              <a:t>You can use the Dataset/DataFrame API in Scala, Java, Python or R to express streaming aggregations, event-time windows, stream-to-batch joins, etc.</a:t>
            </a:r>
          </a:p>
        </p:txBody>
      </p:sp>
    </p:spTree>
    <p:extLst>
      <p:ext uri="{BB962C8B-B14F-4D97-AF65-F5344CB8AC3E}">
        <p14:creationId xmlns:p14="http://schemas.microsoft.com/office/powerpoint/2010/main" val="3896470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C924-ECDE-1719-FF27-23C98A7BE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Apache Spark Components</a:t>
            </a:r>
            <a:b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Structured Streaming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245DC-691B-1E77-17BC-E9CD46780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D1F22"/>
                </a:solidFill>
              </a:rPr>
              <a:t>T</a:t>
            </a:r>
            <a:r>
              <a:rPr lang="en-US" b="0" i="0" dirty="0">
                <a:solidFill>
                  <a:srgbClr val="1D1F22"/>
                </a:solidFill>
                <a:effectLst/>
              </a:rPr>
              <a:t>he system ensures end-to-end exactly-once fault-tolerance guarantees through checkpointing and Write-Ahead Logs</a:t>
            </a:r>
          </a:p>
          <a:p>
            <a:r>
              <a:rPr lang="en-US" dirty="0"/>
              <a:t>Underneath its API, </a:t>
            </a:r>
            <a:r>
              <a:rPr lang="en-US" sz="4000" dirty="0"/>
              <a:t>Structured </a:t>
            </a:r>
            <a:r>
              <a:rPr lang="en-US" dirty="0"/>
              <a:t>Streaming was designed to provide the same degree of throughput, and scalability as Spark Core</a:t>
            </a:r>
            <a:endParaRPr lang="en-US" b="0" i="0" dirty="0">
              <a:solidFill>
                <a:srgbClr val="1D1F22"/>
              </a:solidFill>
              <a:effectLst/>
            </a:endParaRPr>
          </a:p>
          <a:p>
            <a:r>
              <a:rPr lang="en-US" b="0" i="0" dirty="0">
                <a:solidFill>
                  <a:srgbClr val="1D1F22"/>
                </a:solidFill>
                <a:effectLst/>
              </a:rPr>
              <a:t>In short, </a:t>
            </a:r>
            <a:r>
              <a:rPr lang="en-US" b="0" i="1" dirty="0">
                <a:solidFill>
                  <a:srgbClr val="1D1F22"/>
                </a:solidFill>
                <a:effectLst/>
              </a:rPr>
              <a:t>Structured Streaming provides fast, scalable, fault-tolerant, end-to-end exactly-once stream processing without the user having to reason about streaming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482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Apache Spark Components</a:t>
            </a:r>
            <a:br>
              <a:rPr lang="en-US" dirty="0"/>
            </a:br>
            <a:r>
              <a:rPr lang="en-US" sz="4650" dirty="0"/>
              <a:t>GraphX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GraphX is a library for manipulating graphs and also performing graph-parallel computations</a:t>
            </a:r>
          </a:p>
          <a:p>
            <a:r>
              <a:rPr lang="en-US" sz="3600" dirty="0"/>
              <a:t>GraphX extends the Spark RDD API with graph manipulation functions</a:t>
            </a:r>
          </a:p>
          <a:p>
            <a:r>
              <a:rPr lang="en-US" sz="3600" dirty="0"/>
              <a:t>Allows us to create a directed graph with arbitrary properties attached to each vertex and edge</a:t>
            </a:r>
          </a:p>
          <a:p>
            <a:r>
              <a:rPr lang="en-US" sz="3600" dirty="0"/>
              <a:t>GraphX also provides various operators for manipulating graphs and a library of common graph algorithms</a:t>
            </a:r>
          </a:p>
          <a:p>
            <a:r>
              <a:rPr lang="en-US" sz="3600" dirty="0"/>
              <a:t>Note, an independent project (GraphFrames) offers more modern graph processing capabilities using the DataFrame API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051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71D1E-BDB5-504C-8731-AD7EBD1DA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Apache Spark Components</a:t>
            </a:r>
            <a:br>
              <a:rPr lang="en-US" dirty="0"/>
            </a:br>
            <a:r>
              <a:rPr lang="en-US" sz="4650" dirty="0"/>
              <a:t>Interactive Shell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80F85-5BC9-2E47-A0EE-126860CAC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ways to manipulate data in Spark</a:t>
            </a:r>
          </a:p>
          <a:p>
            <a:r>
              <a:rPr lang="en-US" dirty="0"/>
              <a:t>Spark Shell:</a:t>
            </a:r>
          </a:p>
          <a:p>
            <a:pPr lvl="1"/>
            <a:r>
              <a:rPr lang="en-US" dirty="0"/>
              <a:t>Interactive, for data exploration</a:t>
            </a:r>
          </a:p>
          <a:p>
            <a:pPr lvl="1"/>
            <a:r>
              <a:rPr lang="en-US" dirty="0"/>
              <a:t>Python, Scala</a:t>
            </a:r>
          </a:p>
          <a:p>
            <a:r>
              <a:rPr lang="en-US" dirty="0"/>
              <a:t>Spark Applications</a:t>
            </a:r>
          </a:p>
          <a:p>
            <a:pPr lvl="1"/>
            <a:r>
              <a:rPr lang="en-US" dirty="0"/>
              <a:t>For large scale data processing</a:t>
            </a:r>
          </a:p>
          <a:p>
            <a:pPr lvl="1"/>
            <a:r>
              <a:rPr lang="en-US" dirty="0"/>
              <a:t>Python, Scala, Java or R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7BECB-3E27-8B49-B324-32AE4C230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0D9E6-0298-0C4B-ABA2-D71C89D51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935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6B56B-802F-DE49-88A2-2811B724C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Apache Spark Components</a:t>
            </a:r>
            <a:br>
              <a:rPr lang="en-US" dirty="0"/>
            </a:br>
            <a:r>
              <a:rPr lang="en-US" sz="4650" dirty="0"/>
              <a:t>Interactive Shell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410C06-618B-7C44-8A88-7E39C67E9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808F3-D2BD-9340-B667-C40F58B6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D2D35A-D36F-7F34-4EC7-7202ED0BD2E0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Spark comes with interactive shells for that enable ad hoc data analysis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B4BE21-D1F6-36B9-3804-87710896DA79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3200" dirty="0">
                <a:solidFill>
                  <a:schemeClr val="tx1"/>
                </a:solidFill>
              </a:rPr>
              <a:t>(REPL) - Read-Eval-Print-Loop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83AF8B-7271-0C71-AD78-ADDA1A0CA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63BAF0-79D2-0C6C-3126-66D50317F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pic>
        <p:nvPicPr>
          <p:cNvPr id="8" name="Picture 7" descr="The image shows the startup screens for two different Apache Spark shells:&#10;&#10;1. **Python Shell: pyspark**:&#10;   - The command to start the Python shell is `$ pyspark`.&#10;   - The welcome message shows the Spark logo and the version number (`version 1.3.0`).&#10;   - It indicates that Python version 2.7.8 is being used (default, August 27, 2015).&#10;   - The Spark context is available as `sc`, and Hive context is available as `sqlCtx`.&#10;&#10;2. **Scala Shell: spark-shell**:&#10;   - The command to start the Scala shell is `$ spark-shell`.&#10;   - The welcome message shows the Spark logo and the version number (`version 1.3.0`).&#10;   - It indicates that Scala version 2.10.4 is being used (Java HotSpot(TM) 64-Bit Server VM, Java 1.7.0_67).&#10;   - The Spark context is available as `sc`, and the SQL context is available as `sqlContext`.&#10;&#10;These shells provide interactive interfaces for working with Spark using Python and Scala, respectively.">
            <a:extLst>
              <a:ext uri="{FF2B5EF4-FFF2-40B4-BE49-F238E27FC236}">
                <a16:creationId xmlns:a16="http://schemas.microsoft.com/office/drawing/2014/main" id="{C6E05F7E-50A3-99E1-7A08-E4FD5811E0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3146" y="5141336"/>
            <a:ext cx="10903527" cy="4368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389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Apache Spark Components</a:t>
            </a:r>
            <a:br>
              <a:rPr lang="en-US" dirty="0"/>
            </a:br>
            <a:r>
              <a:rPr lang="en-US" sz="4650" dirty="0"/>
              <a:t>Interactive Shells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Spark’s shells will feel familiar if you have used other shells…</a:t>
            </a:r>
          </a:p>
          <a:p>
            <a:pPr fontAlgn="base"/>
            <a:r>
              <a:rPr lang="en-US" dirty="0"/>
              <a:t>Such as those for Python, SQL, or operating system shells like Bash</a:t>
            </a:r>
          </a:p>
          <a:p>
            <a:pPr fontAlgn="base"/>
            <a:r>
              <a:rPr lang="en-US" dirty="0"/>
              <a:t>Unlike most other shells which let you manipulate data using the disk and memory on a single machine…</a:t>
            </a:r>
          </a:p>
          <a:p>
            <a:pPr fontAlgn="base"/>
            <a:r>
              <a:rPr lang="en-US" dirty="0"/>
              <a:t>Spark’s shells allow you to interact with data distributed on disk or in memory across many machines…</a:t>
            </a:r>
          </a:p>
          <a:p>
            <a:pPr fontAlgn="base"/>
            <a:r>
              <a:rPr lang="en-US" dirty="0"/>
              <a:t>And Spark takes care of automatically distributing this processing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021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/>
              <a:t>Apache Spark Components</a:t>
            </a:r>
            <a:br>
              <a:rPr lang="en-US" sz="5400" dirty="0">
                <a:solidFill>
                  <a:srgbClr val="D2533C"/>
                </a:solidFill>
              </a:rPr>
            </a:br>
            <a:r>
              <a:rPr lang="en-US" sz="4650" dirty="0">
                <a:solidFill>
                  <a:srgbClr val="D2533C"/>
                </a:solidFill>
              </a:rPr>
              <a:t>Interactive Shells</a:t>
            </a:r>
            <a:endParaRPr lang="en-US" sz="6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dirty="0"/>
              <a:t>Because Spark can load data into memory on worker nodes, many distributed computations, even ones that process terabytes of data across dozens of machines, can run in a few seconds</a:t>
            </a:r>
          </a:p>
          <a:p>
            <a:pPr fontAlgn="base"/>
            <a:r>
              <a:rPr lang="en-US" dirty="0"/>
              <a:t>This makes the sort of iterative, ad hoc, and exploratory analysis commonly done in shells a good fit for Spark</a:t>
            </a:r>
          </a:p>
          <a:p>
            <a:pPr fontAlgn="base"/>
            <a:r>
              <a:rPr lang="en-US" dirty="0"/>
              <a:t>Spark provides both Python and Scala shells that have been augmented to support connecting to a cluster</a:t>
            </a:r>
          </a:p>
          <a:p>
            <a:pPr fontAlgn="base"/>
            <a:r>
              <a:rPr lang="en-US" dirty="0"/>
              <a:t>Spark shells provide a simple way to learn the Spark API as well as a powerful tool to analyze data interactively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311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Apache Spark Components</a:t>
            </a:r>
            <a:br>
              <a:rPr lang="en-US" sz="4800" dirty="0">
                <a:solidFill>
                  <a:srgbClr val="D2533C"/>
                </a:solidFill>
              </a:rPr>
            </a:br>
            <a:r>
              <a:rPr lang="en-US" sz="4800" dirty="0">
                <a:solidFill>
                  <a:srgbClr val="D2533C"/>
                </a:solidFill>
              </a:rPr>
              <a:t>Using </a:t>
            </a:r>
            <a:r>
              <a:rPr lang="en-US" sz="4650" dirty="0">
                <a:solidFill>
                  <a:srgbClr val="D2533C"/>
                </a:solidFill>
              </a:rPr>
              <a:t>Interactive Shells</a:t>
            </a:r>
            <a:endParaRPr lang="en-US" sz="6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fontAlgn="base"/>
            <a:r>
              <a:rPr lang="en-US" dirty="0"/>
              <a:t>The first step is to open up one of Spark’s shells</a:t>
            </a:r>
          </a:p>
          <a:p>
            <a:pPr fontAlgn="base"/>
            <a:r>
              <a:rPr lang="en-US" dirty="0"/>
              <a:t>To open the Python version of the Spark shell type</a:t>
            </a:r>
          </a:p>
          <a:p>
            <a:pPr marL="411480" lvl="1" indent="0">
              <a:buNone/>
            </a:pPr>
            <a:r>
              <a:rPr lang="en-US" dirty="0"/>
              <a:t>pyspark </a:t>
            </a:r>
            <a:r>
              <a:rPr lang="en-US" dirty="0">
                <a:sym typeface="Wingdings" panose="05000000000000000000" pitchFamily="2" charset="2"/>
              </a:rPr>
              <a:t> this is the one we shall use in our course</a:t>
            </a:r>
            <a:endParaRPr lang="en-US" dirty="0"/>
          </a:p>
          <a:p>
            <a:pPr fontAlgn="base"/>
            <a:r>
              <a:rPr lang="en-US" dirty="0"/>
              <a:t>To open the Scala version of the Spark shell, type</a:t>
            </a:r>
          </a:p>
          <a:p>
            <a:pPr marL="411480" lvl="1" indent="0">
              <a:buNone/>
            </a:pPr>
            <a:r>
              <a:rPr lang="en-US" dirty="0"/>
              <a:t>spark-shell</a:t>
            </a:r>
          </a:p>
          <a:p>
            <a:pPr fontAlgn="base"/>
            <a:r>
              <a:rPr lang="en-US" dirty="0"/>
              <a:t>The shell prompt should appear within a few seconds </a:t>
            </a:r>
          </a:p>
          <a:p>
            <a:pPr fontAlgn="base"/>
            <a:r>
              <a:rPr lang="en-US" dirty="0"/>
              <a:t>When the shell starts you will see a lot of log messages</a:t>
            </a:r>
          </a:p>
          <a:p>
            <a:pPr fontAlgn="base"/>
            <a:r>
              <a:rPr lang="en-US" dirty="0"/>
              <a:t>You may need to press Enter once to get to a shell prompt</a:t>
            </a:r>
          </a:p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26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/>
              <a:t>Apache Spark Components</a:t>
            </a:r>
            <a:br>
              <a:rPr lang="en-US" dirty="0">
                <a:solidFill>
                  <a:srgbClr val="D2533C"/>
                </a:solidFill>
              </a:rPr>
            </a:br>
            <a:r>
              <a:rPr lang="en-US" sz="4650" dirty="0">
                <a:solidFill>
                  <a:srgbClr val="D2533C"/>
                </a:solidFill>
              </a:rPr>
              <a:t>Using Interactive Shells</a:t>
            </a:r>
            <a:endParaRPr lang="en-US" sz="465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Once pyspark is started you can type lines of Spark program code in manually</a:t>
            </a:r>
          </a:p>
          <a:p>
            <a:r>
              <a:rPr lang="en-US" dirty="0"/>
              <a:t>Or you can execute a file of Spark statements by using the following command template:</a:t>
            </a:r>
          </a:p>
          <a:p>
            <a:pPr marL="0" indent="0">
              <a:spcBef>
                <a:spcPts val="3000"/>
              </a:spcBef>
              <a:buNone/>
            </a:pPr>
            <a:r>
              <a:rPr lang="en-US" dirty="0"/>
              <a:t>     </a:t>
            </a:r>
            <a:r>
              <a:rPr lang="en-US" sz="3000" i="1" dirty="0"/>
              <a:t>exec(open("/path/to/file").read())</a:t>
            </a:r>
            <a:endParaRPr lang="en-US" i="1" dirty="0"/>
          </a:p>
          <a:p>
            <a:pPr lvl="1"/>
            <a:r>
              <a:rPr lang="en-US" dirty="0"/>
              <a:t>For example, exec(open("/home/hadoop/pydemo/test.py").read())</a:t>
            </a:r>
          </a:p>
          <a:p>
            <a:pPr lvl="1"/>
            <a:r>
              <a:rPr lang="en-US" dirty="0"/>
              <a:t>Unlike when you enter actions manually, you need to include print statements to see the results of such actions when using exec(…)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96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000" dirty="0"/>
              <a:t>Apache Spark Components</a:t>
            </a:r>
            <a:br>
              <a:rPr lang="en-US" dirty="0">
                <a:solidFill>
                  <a:srgbClr val="D2533C"/>
                </a:solidFill>
              </a:rPr>
            </a:br>
            <a:r>
              <a:rPr lang="en-US" sz="4650" dirty="0">
                <a:solidFill>
                  <a:srgbClr val="D2533C"/>
                </a:solidFill>
              </a:rPr>
              <a:t>Using Interactive Shells</a:t>
            </a:r>
            <a:endParaRPr lang="en-US" sz="465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pyspark provides a special variable ‘spark’ which is initialized to reference an instance of the SparkSession</a:t>
            </a:r>
          </a:p>
          <a:p>
            <a:pPr lvl="1"/>
            <a:r>
              <a:rPr lang="en-US" dirty="0"/>
              <a:t>A SparkSession provides the Spark client app an interface to Spark SQL and the DataFrame API</a:t>
            </a:r>
          </a:p>
          <a:p>
            <a:r>
              <a:rPr lang="en-US" dirty="0"/>
              <a:t>pyspark provides a special variable ‘sc’ which is initialized to reference an instance of the SparkContext</a:t>
            </a:r>
          </a:p>
          <a:p>
            <a:pPr lvl="1"/>
            <a:r>
              <a:rPr lang="en-US" dirty="0"/>
              <a:t>A SparkContext provides the Spark client app an interface to the Spark Core Engine through the Resilient Distributed Datasets API</a:t>
            </a:r>
          </a:p>
          <a:p>
            <a:r>
              <a:rPr lang="en-US" dirty="0"/>
              <a:t>The SparkContext instance associated with a SparkSession can be obtained through the SparkSession.sparkContext attribute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k-SK" dirty="0"/>
              <a:t>CSP554</a:t>
            </a:r>
            <a:r>
              <a:rPr lang="en-US" dirty="0"/>
              <a:t> Module 06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A7C465-8597-4488-B68C-958448427716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76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D1628-2BB5-D523-58A8-9DAF54CD7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Apache Spark Components</a:t>
            </a:r>
            <a:b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D2533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D2533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Using Interactive Shells (Example)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015E92-05B3-D212-8909-7CABB4C1F713}"/>
              </a:ext>
            </a:extLst>
          </p:cNvPr>
          <p:cNvSpPr txBox="1"/>
          <p:nvPr/>
        </p:nvSpPr>
        <p:spPr>
          <a:xfrm>
            <a:off x="1403498" y="1977033"/>
            <a:ext cx="16084552" cy="830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Welcome to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____              __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  / __/__  ___ _____/ /__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_\ \/ _ \/ _ `/ __/  '_/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/__ / .__/\_,_/_/ /_/\_\   version 3.5.0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/_/</a:t>
            </a:r>
          </a:p>
          <a:p>
            <a:b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Using Python version 3.10.10 (main, Mar 21 2023 13:41:39)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Spark context Web UI available at http://localhost:4040</a:t>
            </a:r>
          </a:p>
          <a:p>
            <a:r>
              <a:rPr lang="en-US" sz="200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Spark context available as 'sc' (master = local[*], app id = local-1704225288510).</a:t>
            </a:r>
          </a:p>
          <a:p>
            <a:r>
              <a:rPr lang="en-US" sz="2000" dirty="0">
                <a:solidFill>
                  <a:srgbClr val="0070C0"/>
                </a:solidFill>
                <a:effectLst/>
                <a:latin typeface="Menlo" panose="020B0609030804020204" pitchFamily="49" charset="0"/>
              </a:rPr>
              <a:t>SparkSession available as 'spark’.</a:t>
            </a:r>
          </a:p>
          <a:p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&gt;&gt;&gt; df = spark.read.format("csv").option("header", 'true').load("/Users/nachdaph/auto-mpg-fixed.csv")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&gt;&gt;&gt; df.show(3)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+----+---------+------------+----------+------+------------+---------+------+--------------------+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 mpg|cylinders|displacement|horsepower|weight|acceleration|modelyear|origin|             carname|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+----+---------+------------+----------+------+------------+---------+------+--------------------+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|18.0|        8|       307.0|     130.0| 3504.|        12.0|       70|     1|chevrolet chevell...|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|15.0|        8|       350.0|     165.0| 3693.|        11.5|       70|     1|   buick skylark 320|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|18.0|        8|       318.0|     150.0| 3436.|        11.0|       70|     1|  plymouth satellite|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+----+---------+------------+----------+------+------------+---------+------+--------------------+</a:t>
            </a: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only showing top 3 rows</a:t>
            </a:r>
          </a:p>
          <a:p>
            <a:endParaRPr lang="en-US" sz="20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&gt;&gt;&gt; 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771422-CF5B-D6A3-2570-E6AFD58502FC}"/>
              </a:ext>
            </a:extLst>
          </p:cNvPr>
          <p:cNvSpPr txBox="1"/>
          <p:nvPr/>
        </p:nvSpPr>
        <p:spPr>
          <a:xfrm>
            <a:off x="-6166884" y="-202018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3497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CE8F6-6BD3-26A9-9371-24425AED3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Apache Spark Components</a:t>
            </a:r>
            <a:br>
              <a:rPr lang="en-US" dirty="0"/>
            </a:br>
            <a:r>
              <a:rPr lang="en-US" sz="4400" dirty="0"/>
              <a:t>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F28F0-B682-33C1-4AF6-073871552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b="0" i="0" dirty="0">
                <a:solidFill>
                  <a:srgbClr val="242424"/>
                </a:solidFill>
                <a:effectLst/>
              </a:rPr>
              <a:t>`spark-submit` is a command-line tool provided by Apache Spark for submitting Spark applications to a cluster. </a:t>
            </a:r>
          </a:p>
          <a:p>
            <a:r>
              <a:rPr lang="en-US" sz="3600" b="0" i="0" dirty="0">
                <a:solidFill>
                  <a:srgbClr val="242424"/>
                </a:solidFill>
                <a:effectLst/>
              </a:rPr>
              <a:t>The spark-submit tool takes a JAR file or a Python file as input along with the application’s configuration options and submits the application to the cluster</a:t>
            </a:r>
          </a:p>
          <a:p>
            <a:r>
              <a:rPr lang="en-US" sz="3600" b="0" dirty="0">
                <a:solidFill>
                  <a:srgbClr val="000000"/>
                </a:solidFill>
                <a:latin typeface="Helvetica" pitchFamily="2" charset="0"/>
              </a:rPr>
              <a:t>Such an application can be written in Scala, Java, or Python (</a:t>
            </a:r>
            <a:r>
              <a:rPr lang="en-US" sz="3600" dirty="0">
                <a:solidFill>
                  <a:srgbClr val="000000"/>
                </a:solidFill>
                <a:latin typeface="Helvetica" pitchFamily="2" charset="0"/>
              </a:rPr>
              <a:t>PyS</a:t>
            </a:r>
            <a:r>
              <a:rPr lang="en-US" sz="3600" b="0" dirty="0">
                <a:solidFill>
                  <a:srgbClr val="000000"/>
                </a:solidFill>
                <a:latin typeface="Helvetica" pitchFamily="2" charset="0"/>
              </a:rPr>
              <a:t>park)</a:t>
            </a:r>
          </a:p>
          <a:p>
            <a:r>
              <a:rPr lang="en-US" sz="36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Spark comes with a </a:t>
            </a:r>
            <a:r>
              <a:rPr lang="en-US" sz="3600" dirty="0"/>
              <a:t>spark-submit.sh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script file for Linux, Mac, or a </a:t>
            </a:r>
            <a:r>
              <a:rPr lang="en-US" sz="3600" dirty="0"/>
              <a:t>spark-submit.cmd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command file for windows</a:t>
            </a:r>
          </a:p>
          <a:p>
            <a:r>
              <a:rPr lang="en-US" sz="3600" dirty="0">
                <a:solidFill>
                  <a:srgbClr val="000000"/>
                </a:solidFill>
                <a:latin typeface="Open Sans" panose="020B0606030504020204" pitchFamily="34" charset="0"/>
              </a:rPr>
              <a:t>T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hese scripts are available at the </a:t>
            </a:r>
            <a:r>
              <a:rPr lang="en-US" sz="3600" dirty="0"/>
              <a:t>$SPARK_HOME/bin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 directory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763349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DED55-4A52-CE04-5759-277871784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Apache Spark Components</a:t>
            </a:r>
            <a:b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9D98F-6094-3B4E-7493-AA44996C7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0" i="0" dirty="0">
                <a:solidFill>
                  <a:srgbClr val="242424"/>
                </a:solidFill>
                <a:effectLst/>
              </a:rPr>
              <a:t>When the application is submitted using spark-submit, Spark automatically distributes the application’s code and any required dependencies to the cluster</a:t>
            </a:r>
          </a:p>
          <a:p>
            <a:r>
              <a:rPr lang="en-US" sz="3200" b="0" i="0" dirty="0">
                <a:solidFill>
                  <a:srgbClr val="242424"/>
                </a:solidFill>
                <a:effectLst/>
              </a:rPr>
              <a:t>Spark then launches a driver program locally or on one of the nodes in the cluster, </a:t>
            </a:r>
          </a:p>
          <a:p>
            <a:r>
              <a:rPr lang="en-US" sz="3200" dirty="0">
                <a:solidFill>
                  <a:srgbClr val="242424"/>
                </a:solidFill>
              </a:rPr>
              <a:t>The driver </a:t>
            </a:r>
            <a:r>
              <a:rPr lang="en-US" sz="3200" b="0" i="0" dirty="0">
                <a:solidFill>
                  <a:srgbClr val="242424"/>
                </a:solidFill>
                <a:effectLst/>
              </a:rPr>
              <a:t>coordinates the execution of the application’s tasks on the cluster’s worker nodes</a:t>
            </a:r>
          </a:p>
          <a:p>
            <a:r>
              <a:rPr lang="en-US" sz="3200" b="0" i="0" dirty="0">
                <a:solidFill>
                  <a:srgbClr val="242424"/>
                </a:solidFill>
                <a:effectLst/>
              </a:rPr>
              <a:t>Spark-submit can be run in various modes, such as client mode or cluster mode </a:t>
            </a:r>
          </a:p>
          <a:p>
            <a:pPr lvl="1"/>
            <a:r>
              <a:rPr lang="en-US" sz="2800" dirty="0">
                <a:solidFill>
                  <a:srgbClr val="242424"/>
                </a:solidFill>
              </a:rPr>
              <a:t>This controls where the</a:t>
            </a:r>
            <a:r>
              <a:rPr lang="en-US" sz="2800" b="0" i="0" dirty="0">
                <a:solidFill>
                  <a:srgbClr val="242424"/>
                </a:solidFill>
                <a:effectLst/>
              </a:rPr>
              <a:t> driver program runs: on the machine where the command is executed (client) or on a node in the cluster</a:t>
            </a:r>
          </a:p>
          <a:p>
            <a:r>
              <a:rPr lang="en-US" sz="3200" b="0" i="0" dirty="0">
                <a:solidFill>
                  <a:srgbClr val="242424"/>
                </a:solidFill>
                <a:effectLst/>
              </a:rPr>
              <a:t>When the application is submitted using ‘spark-submit’, Spark automatically distributes the application’s code and any required dependencies</a:t>
            </a:r>
          </a:p>
        </p:txBody>
      </p:sp>
    </p:spTree>
    <p:extLst>
      <p:ext uri="{BB962C8B-B14F-4D97-AF65-F5344CB8AC3E}">
        <p14:creationId xmlns:p14="http://schemas.microsoft.com/office/powerpoint/2010/main" val="58412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286F7-D7F0-35D8-F69D-E7C2A1641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Apache Spark Components</a:t>
            </a:r>
            <a:b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1103F-7C75-C51D-570B-E276102A7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sz="3200" b="0" i="0" dirty="0">
                <a:solidFill>
                  <a:srgbClr val="242424"/>
                </a:solidFill>
                <a:effectLst/>
              </a:rPr>
              <a:t>The general structure of the spark-submit command is as follows:</a:t>
            </a:r>
          </a:p>
          <a:p>
            <a:pPr marL="0" indent="0" algn="l">
              <a:buNone/>
            </a:pPr>
            <a:r>
              <a:rPr lang="en-US" sz="3200" b="0" i="0" dirty="0">
                <a:effectLst/>
              </a:rPr>
              <a:t>	spark-submit [options] &lt;application-jar&gt; [application-arguments]</a:t>
            </a:r>
            <a:endParaRPr lang="en-US" sz="3200" b="0" i="0" dirty="0">
              <a:solidFill>
                <a:srgbClr val="242424"/>
              </a:solidFill>
              <a:effectLst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242424"/>
                </a:solidFill>
                <a:effectLst/>
              </a:rPr>
              <a:t>[options]: Optional command-line options that configure the behavior of the spark-submit tool and the Spark application being submitted.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242424"/>
                </a:solidFill>
                <a:effectLst/>
              </a:rPr>
              <a:t>&lt;application-jar&gt;: The path to the JAR file containing the Spark application code. It is a standard format used for distributing Java applications and libraries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242424"/>
                </a:solidFill>
                <a:effectLst/>
              </a:rPr>
              <a:t>[application-arguments]: Optional command-line arguments that are passed to the Spark application's main method.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659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D5E32-6921-AF6A-A77A-DE74F2E8A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Apache Spark Components</a:t>
            </a:r>
            <a:b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AFD56-33CA-DA24-5663-2F8A9B3177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Here are some examples of commonly used options:</a:t>
            </a:r>
          </a:p>
          <a:p>
            <a:pPr algn="l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--class &lt;main-class&gt;: Specifies the fully qualified name of the main class for the Spark application (not needed for pySpark</a:t>
            </a:r>
            <a:r>
              <a:rPr lang="en-US" dirty="0">
                <a:solidFill>
                  <a:srgbClr val="242424"/>
                </a:solidFill>
                <a:latin typeface="source-serif-pro"/>
              </a:rPr>
              <a:t>)</a:t>
            </a:r>
            <a:endParaRPr lang="en-US" b="0" i="0" dirty="0">
              <a:solidFill>
                <a:srgbClr val="242424"/>
              </a:solidFill>
              <a:effectLst/>
              <a:latin typeface="source-serif-pro"/>
            </a:endParaRPr>
          </a:p>
          <a:p>
            <a:pPr algn="l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--master &lt;master-url&gt;: Specifies whether the application should be run locally or on a remote cluster, and which type of cluster manager to use (e.g. local, yarn)</a:t>
            </a:r>
          </a:p>
          <a:p>
            <a:pPr algn="l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--deploy-mode &lt;deploy-mode&gt;: Specifies whether the driver program should run locally or on a remote cluster (client, cluster)</a:t>
            </a:r>
          </a:p>
        </p:txBody>
      </p:sp>
    </p:spTree>
    <p:extLst>
      <p:ext uri="{BB962C8B-B14F-4D97-AF65-F5344CB8AC3E}">
        <p14:creationId xmlns:p14="http://schemas.microsoft.com/office/powerpoint/2010/main" val="31623730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2EB9-CB33-8989-CB5D-2693E53D3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Apache Spark Components</a:t>
            </a:r>
            <a:b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EDF99-F9DD-52E3-0415-5DA9F1D59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Here is an example of using spark-submit for running an application</a:t>
            </a:r>
          </a:p>
          <a:p>
            <a:pPr marL="0" indent="0">
              <a:buNone/>
            </a:pPr>
            <a:r>
              <a:rPr lang="en-US" sz="3600" dirty="0"/>
              <a:t>./bin/spark-submit --master yarn --deploy-mode cluster wordByExample.py</a:t>
            </a:r>
          </a:p>
          <a:p>
            <a:r>
              <a:rPr lang="en-US" sz="3600" dirty="0"/>
              <a:t>--master yarn</a:t>
            </a:r>
          </a:p>
          <a:p>
            <a:pPr lvl="1"/>
            <a:r>
              <a:rPr lang="en-US" sz="3200" dirty="0"/>
              <a:t>The pySpark (Python) program with be distributed across and executed on a Hadoop cluster </a:t>
            </a:r>
          </a:p>
          <a:p>
            <a:r>
              <a:rPr lang="en-US" sz="3600" dirty="0"/>
              <a:t>--deploy-mode cluster </a:t>
            </a:r>
          </a:p>
          <a:p>
            <a:pPr lvl="1"/>
            <a:r>
              <a:rPr lang="en-US" sz="3200" dirty="0"/>
              <a:t>The application main program will execute on a Hadoop cluster (rather than on the computer where ‘spark-submit’ is executing)</a:t>
            </a:r>
          </a:p>
        </p:txBody>
      </p:sp>
    </p:spTree>
    <p:extLst>
      <p:ext uri="{BB962C8B-B14F-4D97-AF65-F5344CB8AC3E}">
        <p14:creationId xmlns:p14="http://schemas.microsoft.com/office/powerpoint/2010/main" val="13833860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22EB9-CB33-8989-CB5D-2693E53D3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Apache Spark Components</a:t>
            </a:r>
            <a:b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EDF99-F9DD-52E3-0415-5DA9F1D59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Here is an example of using spark-submit for running an application</a:t>
            </a:r>
          </a:p>
          <a:p>
            <a:pPr marL="0" indent="0">
              <a:buNone/>
            </a:pPr>
            <a:r>
              <a:rPr lang="en-US" sz="3600" dirty="0"/>
              <a:t>./bin/spark-submit --deploy-mode local[3] wordByExample.py</a:t>
            </a:r>
          </a:p>
          <a:p>
            <a:r>
              <a:rPr lang="en-US" sz="3600" dirty="0"/>
              <a:t>--master local[3]</a:t>
            </a:r>
          </a:p>
          <a:p>
            <a:pPr lvl="1"/>
            <a:r>
              <a:rPr lang="en-US" sz="3200" dirty="0"/>
              <a:t>The pySpark (Python) program with be executed on the computer where ‘spark-submit’ is executing using 3 CPU cores</a:t>
            </a:r>
          </a:p>
        </p:txBody>
      </p:sp>
    </p:spTree>
    <p:extLst>
      <p:ext uri="{BB962C8B-B14F-4D97-AF65-F5344CB8AC3E}">
        <p14:creationId xmlns:p14="http://schemas.microsoft.com/office/powerpoint/2010/main" val="629938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56620-59DB-3F76-C0DB-53F5FEDDE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6000" dirty="0"/>
              <a:t>Apache Spark Components</a:t>
            </a:r>
            <a:b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Applications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69C570-9048-426D-2F9F-EEDFDC6BD540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Deployment Modes (–deploy-mode)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058531-6A51-81FA-435C-F812CA2E2ADD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3200" dirty="0">
                <a:solidFill>
                  <a:schemeClr val="tx1"/>
                </a:solidFill>
              </a:rPr>
              <a:t>Using --deploy-mode, you specify where to run the Spark application driver program. Spark support cluster and client deployment modes.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C16890-D887-BB0C-B9D9-C7D0E6986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717DA9-A9A0-903B-D8E6-D3656CD7E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116DD51C-8200-4ED0-984E-F3D653A4CB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8601438"/>
              </p:ext>
            </p:extLst>
          </p:nvPr>
        </p:nvGraphicFramePr>
        <p:xfrm>
          <a:off x="616226" y="5817114"/>
          <a:ext cx="15950648" cy="2093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1166">
                  <a:extLst>
                    <a:ext uri="{9D8B030D-6E8A-4147-A177-3AD203B41FA5}">
                      <a16:colId xmlns:a16="http://schemas.microsoft.com/office/drawing/2014/main" val="2958137855"/>
                    </a:ext>
                  </a:extLst>
                </a:gridCol>
                <a:gridCol w="12059482">
                  <a:extLst>
                    <a:ext uri="{9D8B030D-6E8A-4147-A177-3AD203B41FA5}">
                      <a16:colId xmlns:a16="http://schemas.microsoft.com/office/drawing/2014/main" val="36670247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Value</a:t>
                      </a:r>
                    </a:p>
                  </a:txBody>
                  <a:tcPr anchor="ctr">
                    <a:lnR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60011300"/>
                  </a:ext>
                </a:extLst>
              </a:tr>
              <a:tr h="66353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800" b="0" dirty="0">
                          <a:effectLst/>
                        </a:rPr>
                        <a:t>cluster</a:t>
                      </a:r>
                    </a:p>
                  </a:txBody>
                  <a:tcPr marL="56001" marR="56001" marT="28001" marB="28001" anchor="ctr">
                    <a:lnR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2400" b="0" dirty="0">
                          <a:effectLst/>
                        </a:rPr>
                        <a:t>In cluster mode, the driver runs on one of the worker nodes. cluster mode is used to run production jobs.</a:t>
                      </a:r>
                    </a:p>
                  </a:txBody>
                  <a:tcPr marL="56001" marR="56001" marT="28001" marB="28001">
                    <a:lnL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957365"/>
                  </a:ext>
                </a:extLst>
              </a:tr>
              <a:tr h="66353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800" b="0" dirty="0">
                          <a:effectLst/>
                        </a:rPr>
                        <a:t>client</a:t>
                      </a:r>
                    </a:p>
                  </a:txBody>
                  <a:tcPr marL="56001" marR="56001" marT="28001" marB="28001" anchor="ctr">
                    <a:lnR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2400" b="0" dirty="0">
                          <a:effectLst/>
                        </a:rPr>
                        <a:t>In client mode, the driver runs locally where you are submitting your application from. client mode is used for interactive and debugging purposes.</a:t>
                      </a:r>
                    </a:p>
                  </a:txBody>
                  <a:tcPr marL="56001" marR="56001" marT="28001" marB="28001">
                    <a:lnL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200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12598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7C98A-6BC7-DED8-C063-5F68F740B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Apache Spark Components</a:t>
            </a:r>
            <a:b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Applications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34D503-4F5C-D7B4-4D64-51F0115E85C2}"/>
              </a:ext>
            </a:extLst>
          </p:cNvPr>
          <p:cNvSpPr/>
          <p:nvPr/>
        </p:nvSpPr>
        <p:spPr>
          <a:xfrm>
            <a:off x="1232453" y="2446020"/>
            <a:ext cx="13716000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3200" dirty="0">
                <a:solidFill>
                  <a:schemeClr val="bg2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Cluster Modes (–master)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417117-C5D7-0AE2-8C6E-23E4F86B52DF}"/>
              </a:ext>
            </a:extLst>
          </p:cNvPr>
          <p:cNvSpPr/>
          <p:nvPr/>
        </p:nvSpPr>
        <p:spPr>
          <a:xfrm>
            <a:off x="1232453" y="3743325"/>
            <a:ext cx="13715999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en-US" altLang="en-US" sz="3200" dirty="0">
                <a:solidFill>
                  <a:schemeClr val="tx1"/>
                </a:solidFill>
              </a:rPr>
              <a:t>Using --master option, you specify what cluster manager to use to run your application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1FDBA3-D198-4E53-5B30-449F1DAB2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446020"/>
            <a:ext cx="1232454" cy="10382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06BB90-4444-5B05-0E02-AA54DC618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3743325"/>
            <a:ext cx="1232454" cy="103822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>
              <a:buNone/>
            </a:pPr>
            <a:endParaRPr lang="en-US" sz="3200" dirty="0">
              <a:solidFill>
                <a:schemeClr val="bg2"/>
              </a:solidFill>
            </a:endParaRP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DDDBE4B9-3EBA-5EDE-10F1-ED65243889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4683471"/>
              </p:ext>
            </p:extLst>
          </p:nvPr>
        </p:nvGraphicFramePr>
        <p:xfrm>
          <a:off x="616226" y="5245614"/>
          <a:ext cx="15950647" cy="30927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5863">
                  <a:extLst>
                    <a:ext uri="{9D8B030D-6E8A-4147-A177-3AD203B41FA5}">
                      <a16:colId xmlns:a16="http://schemas.microsoft.com/office/drawing/2014/main" val="2958137855"/>
                    </a:ext>
                  </a:extLst>
                </a:gridCol>
                <a:gridCol w="2273311">
                  <a:extLst>
                    <a:ext uri="{9D8B030D-6E8A-4147-A177-3AD203B41FA5}">
                      <a16:colId xmlns:a16="http://schemas.microsoft.com/office/drawing/2014/main" val="3667024714"/>
                    </a:ext>
                  </a:extLst>
                </a:gridCol>
                <a:gridCol w="11461473">
                  <a:extLst>
                    <a:ext uri="{9D8B030D-6E8A-4147-A177-3AD203B41FA5}">
                      <a16:colId xmlns:a16="http://schemas.microsoft.com/office/drawing/2014/main" val="36603543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Cluster Manager</a:t>
                      </a:r>
                    </a:p>
                  </a:txBody>
                  <a:tcPr anchor="ctr">
                    <a:lnR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Value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bg2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260011300"/>
                  </a:ext>
                </a:extLst>
              </a:tr>
              <a:tr h="66353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400" b="0" dirty="0">
                          <a:effectLst/>
                        </a:rPr>
                        <a:t>yarn</a:t>
                      </a:r>
                    </a:p>
                  </a:txBody>
                  <a:tcPr marL="21291" marR="21291" marT="10646" marB="10646" anchor="ctr">
                    <a:lnR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400" b="0" dirty="0">
                          <a:effectLst/>
                        </a:rPr>
                        <a:t>yarn</a:t>
                      </a:r>
                    </a:p>
                  </a:txBody>
                  <a:tcPr marL="21291" marR="21291" marT="10646" marB="10646" anchor="ctr">
                    <a:lnL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 latinLnBrk="0"/>
                      <a:r>
                        <a:rPr lang="en-US" sz="2400" b="0" dirty="0">
                          <a:effectLst/>
                        </a:rPr>
                        <a:t>Use yarn if your cluster resources are managed by Hadoop Yarn.</a:t>
                      </a:r>
                    </a:p>
                  </a:txBody>
                  <a:tcPr marL="21291" marR="21291" marT="10646" marB="10646" anchor="ctr">
                    <a:lnL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957365"/>
                  </a:ext>
                </a:extLst>
              </a:tr>
              <a:tr h="663530"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400" b="0" dirty="0">
                          <a:effectLst/>
                        </a:rPr>
                        <a:t>local</a:t>
                      </a:r>
                    </a:p>
                  </a:txBody>
                  <a:tcPr marL="21291" marR="21291" marT="10646" marB="10646" anchor="ctr">
                    <a:lnR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 latinLnBrk="0"/>
                      <a:r>
                        <a:rPr lang="en-US" sz="2400" b="0" dirty="0">
                          <a:effectLst/>
                        </a:rPr>
                        <a:t>local</a:t>
                      </a:r>
                      <a:br>
                        <a:rPr lang="en-US" sz="2400" b="0" dirty="0">
                          <a:effectLst/>
                        </a:rPr>
                      </a:br>
                      <a:r>
                        <a:rPr lang="en-US" sz="2400" b="0" dirty="0">
                          <a:effectLst/>
                        </a:rPr>
                        <a:t>local[k]</a:t>
                      </a:r>
                      <a:br>
                        <a:rPr lang="en-US" sz="2400" b="0" dirty="0">
                          <a:effectLst/>
                        </a:rPr>
                      </a:br>
                      <a:r>
                        <a:rPr lang="en-US" sz="2400" b="0" dirty="0">
                          <a:effectLst/>
                        </a:rPr>
                        <a:t>local[K,F]</a:t>
                      </a:r>
                    </a:p>
                  </a:txBody>
                  <a:tcPr marL="21291" marR="21291" marT="10646" marB="10646" anchor="ctr">
                    <a:lnL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 algn="l" fontAlgn="t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dirty="0">
                          <a:effectLst/>
                        </a:rPr>
                        <a:t>Use local to run locally with a one worker thread.</a:t>
                      </a:r>
                    </a:p>
                    <a:p>
                      <a:pPr marL="342900" indent="-342900" algn="l" fontAlgn="t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dirty="0">
                          <a:effectLst/>
                        </a:rPr>
                        <a:t>Use local[k] and specify k with the number of cores you have locally, this runs application with k worker threads.</a:t>
                      </a:r>
                    </a:p>
                    <a:p>
                      <a:pPr marL="342900" indent="-342900" algn="l" fontAlgn="t" latinLnBrk="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dirty="0">
                          <a:effectLst/>
                        </a:rPr>
                        <a:t>use local[k,F] and specify F with number of attempts it should run when failed.</a:t>
                      </a:r>
                    </a:p>
                  </a:txBody>
                  <a:tcPr marL="21291" marR="21291" marT="10646" marB="10646" anchor="ctr">
                    <a:lnL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2009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6294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BC057-6757-E15C-DD12-54D8160B6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Apache Spark Components</a:t>
            </a:r>
            <a:b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ADD84-47F6-870E-F581-DBAA9A8EE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we get our SparkSession from the pyspark CLI, we need to create one for ourselves in a standalone program</a:t>
            </a:r>
          </a:p>
          <a:p>
            <a:r>
              <a:rPr lang="en-US" dirty="0"/>
              <a:t>This is straightforward, as we will see below, but it results in some initial confusion about the precedence of configuration options</a:t>
            </a:r>
          </a:p>
        </p:txBody>
      </p:sp>
    </p:spTree>
    <p:extLst>
      <p:ext uri="{BB962C8B-B14F-4D97-AF65-F5344CB8AC3E}">
        <p14:creationId xmlns:p14="http://schemas.microsoft.com/office/powerpoint/2010/main" val="29461699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6A320-887E-2AE2-A3DA-450F0A76B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Apache Spark Components</a:t>
            </a:r>
            <a:b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FCDBA8-D7FB-0866-66F2-DD27AA1D2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The general pattern for creating a SparkSession in Python within an application is as follows:</a:t>
            </a:r>
          </a:p>
          <a:p>
            <a:pPr marL="0" indent="0">
              <a:buNone/>
            </a:pPr>
            <a:r>
              <a:rPr lang="en-US" sz="3200" dirty="0"/>
              <a:t>spark = </a:t>
            </a:r>
            <a:r>
              <a:rPr lang="en-US" sz="3200" dirty="0" err="1">
                <a:effectLst/>
                <a:latin typeface="inherit"/>
              </a:rPr>
              <a:t>SparkSession</a:t>
            </a:r>
            <a:r>
              <a:rPr lang="en-US" sz="3200" dirty="0" err="1"/>
              <a:t>.builder.appName</a:t>
            </a:r>
            <a:r>
              <a:rPr lang="en-US" sz="3200" dirty="0"/>
              <a:t>(</a:t>
            </a:r>
            <a:r>
              <a:rPr lang="en-US" sz="3200" dirty="0">
                <a:effectLst/>
                <a:latin typeface="inherit"/>
              </a:rPr>
              <a:t>”someApp"</a:t>
            </a:r>
            <a:r>
              <a:rPr lang="en-US" sz="3200" dirty="0"/>
              <a:t>).master(</a:t>
            </a:r>
            <a:r>
              <a:rPr lang="en-US" sz="3200" dirty="0">
                <a:latin typeface="inherit"/>
              </a:rPr>
              <a:t>…</a:t>
            </a:r>
            <a:r>
              <a:rPr lang="en-US" sz="3200" dirty="0"/>
              <a:t>).getOrCreate()</a:t>
            </a:r>
          </a:p>
          <a:p>
            <a:pPr algn="l"/>
            <a:r>
              <a:rPr lang="en-US" sz="3200" b="0" i="0" dirty="0">
                <a:solidFill>
                  <a:srgbClr val="374151"/>
                </a:solidFill>
                <a:effectLst/>
              </a:rPr>
              <a:t>The builder class attribute has a reference to a Builder to construct SparkSession instances.</a:t>
            </a:r>
          </a:p>
          <a:p>
            <a:pPr algn="l"/>
            <a:r>
              <a:rPr lang="en-US" sz="3200" b="0" i="0" dirty="0">
                <a:solidFill>
                  <a:srgbClr val="374151"/>
                </a:solidFill>
                <a:effectLst/>
              </a:rPr>
              <a:t>The appName() is used to set the application name</a:t>
            </a:r>
          </a:p>
          <a:p>
            <a:r>
              <a:rPr lang="en-US" sz="3200" b="0" i="0" dirty="0">
                <a:solidFill>
                  <a:srgbClr val="374151"/>
                </a:solidFill>
                <a:effectLst/>
              </a:rPr>
              <a:t>The master() is used to set the master (yarn or local[x])</a:t>
            </a:r>
          </a:p>
          <a:p>
            <a:r>
              <a:rPr lang="en-US" sz="3200" b="0" i="0" dirty="0">
                <a:solidFill>
                  <a:srgbClr val="374151"/>
                </a:solidFill>
                <a:effectLst/>
              </a:rPr>
              <a:t>The getOrCreate() returns a SparkSession if it exists, otherwise, it creates a new session.</a:t>
            </a:r>
          </a:p>
          <a:p>
            <a:endParaRPr lang="en-US" sz="36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0295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059DE-12FC-F981-C5EA-D34C55028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Apache Spark Components</a:t>
            </a:r>
            <a:b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E60B3-8F64-E0D3-E13B-4BAA8C111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wanted to set some configs when creating a SparkSession, use the config() method.</a:t>
            </a:r>
          </a:p>
          <a:p>
            <a:pPr marL="0" indent="0">
              <a:buNone/>
            </a:pPr>
            <a:r>
              <a:rPr lang="en-US" sz="3200" dirty="0"/>
              <a:t># Usage of config()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3200" dirty="0"/>
              <a:t>spark = SparkSession.builder \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3200" dirty="0"/>
              <a:t>      .master("local[1]") \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3200" dirty="0"/>
              <a:t>      .appName("SparkByExamples.com") \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3200" dirty="0"/>
              <a:t>      .config("spark.some.config.option", "config-value") \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sz="3200" dirty="0"/>
              <a:t>      .getOrCreate()</a:t>
            </a:r>
          </a:p>
        </p:txBody>
      </p:sp>
    </p:spTree>
    <p:extLst>
      <p:ext uri="{BB962C8B-B14F-4D97-AF65-F5344CB8AC3E}">
        <p14:creationId xmlns:p14="http://schemas.microsoft.com/office/powerpoint/2010/main" val="6636762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059DE-12FC-F981-C5EA-D34C55028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Apache Spark Components</a:t>
            </a:r>
            <a:b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E60B3-8F64-E0D3-E13B-4BAA8C1114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wanted to get/set some configs after a SparkSession is created do the following: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dirty="0"/>
              <a:t># Set Config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dirty="0"/>
              <a:t>spark.conf.set("spark.executor.memory", "5g")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dirty="0"/>
              <a:t>Get a Spark Config</a:t>
            </a:r>
          </a:p>
          <a:p>
            <a:pPr marL="0" indent="0">
              <a:spcBef>
                <a:spcPts val="2000"/>
              </a:spcBef>
              <a:buNone/>
            </a:pPr>
            <a:r>
              <a:rPr lang="en-US" dirty="0"/>
              <a:t>partitions = spark.conf.get("spark.sql.shuffle.partitions")</a:t>
            </a:r>
          </a:p>
        </p:txBody>
      </p:sp>
    </p:spTree>
    <p:extLst>
      <p:ext uri="{BB962C8B-B14F-4D97-AF65-F5344CB8AC3E}">
        <p14:creationId xmlns:p14="http://schemas.microsoft.com/office/powerpoint/2010/main" val="5154924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8135A-7ED8-2964-465B-AEC38DACA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dirty="0"/>
              <a:t>Apache Spark Components</a:t>
            </a:r>
            <a:br>
              <a:rPr kumimoji="0" lang="en-US" sz="56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</a:b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BD061C"/>
                </a:solidFill>
                <a:effectLst/>
                <a:uLnTx/>
                <a:uFillTx/>
                <a:latin typeface="Arial"/>
                <a:ea typeface="ＭＳ Ｐゴシック" panose="020B0600070205080204" pitchFamily="34" charset="-128"/>
                <a:cs typeface="+mj-cs"/>
              </a:rPr>
              <a:t>Applications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100A1-940D-88BE-521D-5301695FE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dirty="0">
                <a:solidFill>
                  <a:srgbClr val="0C0D0E"/>
                </a:solidFill>
                <a:latin typeface="-apple-system"/>
              </a:rPr>
              <a:t>T</a:t>
            </a:r>
            <a:r>
              <a:rPr lang="en-US" b="0" i="0" dirty="0">
                <a:solidFill>
                  <a:srgbClr val="0C0D0E"/>
                </a:solidFill>
                <a:effectLst/>
                <a:latin typeface="-apple-system"/>
              </a:rPr>
              <a:t>here is a well defined hierarchy which defines precedence if the same options </a:t>
            </a:r>
            <a:r>
              <a:rPr lang="en-US" dirty="0">
                <a:solidFill>
                  <a:srgbClr val="0C0D0E"/>
                </a:solidFill>
                <a:latin typeface="-apple-system"/>
              </a:rPr>
              <a:t>are </a:t>
            </a:r>
            <a:r>
              <a:rPr lang="en-US" b="0" i="0" dirty="0">
                <a:solidFill>
                  <a:srgbClr val="0C0D0E"/>
                </a:solidFill>
                <a:effectLst/>
                <a:latin typeface="-apple-system"/>
              </a:rPr>
              <a:t>set in the application, ‘submit-spark’ or a configuration file,</a:t>
            </a:r>
          </a:p>
          <a:p>
            <a:pPr algn="l" fontAlgn="base"/>
            <a:r>
              <a:rPr lang="en-US" b="0" i="0" dirty="0">
                <a:solidFill>
                  <a:srgbClr val="0C0D0E"/>
                </a:solidFill>
                <a:effectLst/>
                <a:latin typeface="-apple-system"/>
              </a:rPr>
              <a:t>From highest to lowest: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BA70DBE-59EF-6326-1FCE-67D937CF07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3461395"/>
              </p:ext>
            </p:extLst>
          </p:nvPr>
        </p:nvGraphicFramePr>
        <p:xfrm>
          <a:off x="3048000" y="4949686"/>
          <a:ext cx="12192000" cy="42578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0381266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ARTICULATE_SLIDE_COUNT" val="2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76077723e4e34c3b5aeef4b04efa78bf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9e363e40d36e188a1c3db48bbcaf99f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customXml/itemProps3.xml><?xml version="1.0" encoding="utf-8"?>
<ds:datastoreItem xmlns:ds="http://schemas.openxmlformats.org/officeDocument/2006/customXml" ds:itemID="{63CAAE8B-6E1D-4BB5-9DD8-EEBCE30ACB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41b080-9453-459c-bb93-b19be7335f42"/>
    <ds:schemaRef ds:uri="4e58ebf2-e4df-4cd3-9186-1e42b3ede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85452</TotalTime>
  <Words>2392</Words>
  <Application>Microsoft Office PowerPoint</Application>
  <PresentationFormat>Custom</PresentationFormat>
  <Paragraphs>223</Paragraphs>
  <Slides>29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Breeze</vt:lpstr>
      <vt:lpstr>Module 4: Lesson 2 Spark Components</vt:lpstr>
      <vt:lpstr>Apache Spark Components Spark Core</vt:lpstr>
      <vt:lpstr>Apache Spark Components Spark SQL</vt:lpstr>
      <vt:lpstr>Apache Spark Components Spark MLlib</vt:lpstr>
      <vt:lpstr>Apache Spark Components Spark MLlib</vt:lpstr>
      <vt:lpstr>Apache Spark Components Structured Streaming</vt:lpstr>
      <vt:lpstr>Apache Spark Components Structured Streaming</vt:lpstr>
      <vt:lpstr>Apache Spark Components GraphX</vt:lpstr>
      <vt:lpstr>Apache Spark Components Interactive Shell</vt:lpstr>
      <vt:lpstr>Apache Spark Components Interactive Shell</vt:lpstr>
      <vt:lpstr>Apache Spark Components Interactive Shells</vt:lpstr>
      <vt:lpstr>Apache Spark Components Interactive Shells</vt:lpstr>
      <vt:lpstr>Apache Spark Components Using Interactive Shells</vt:lpstr>
      <vt:lpstr>Apache Spark Components Using Interactive Shells</vt:lpstr>
      <vt:lpstr>Apache Spark Components Using Interactive Shells</vt:lpstr>
      <vt:lpstr>Apache Spark Components Using Interactive Shells (Example)</vt:lpstr>
      <vt:lpstr>Apache Spark Components Applications</vt:lpstr>
      <vt:lpstr>Apache Spark Components Applications</vt:lpstr>
      <vt:lpstr>Apache Spark Components Applications</vt:lpstr>
      <vt:lpstr>Apache Spark Components Applications</vt:lpstr>
      <vt:lpstr>Apache Spark Components Applications</vt:lpstr>
      <vt:lpstr>Apache Spark Components Applications</vt:lpstr>
      <vt:lpstr>Apache Spark Components Applications</vt:lpstr>
      <vt:lpstr>Apache Spark Components Applications</vt:lpstr>
      <vt:lpstr>Apache Spark Components Applications</vt:lpstr>
      <vt:lpstr>Apache Spark Components Applications</vt:lpstr>
      <vt:lpstr>Apache Spark Components Applications</vt:lpstr>
      <vt:lpstr>Apache Spark Components Applications</vt:lpstr>
      <vt:lpstr>Apache Spark Components Applications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Joseph Rosen</cp:lastModifiedBy>
  <cp:revision>300</cp:revision>
  <cp:lastPrinted>2023-12-28T21:37:41Z</cp:lastPrinted>
  <dcterms:created xsi:type="dcterms:W3CDTF">2019-02-13T16:04:21Z</dcterms:created>
  <dcterms:modified xsi:type="dcterms:W3CDTF">2024-07-09T19:33:47Z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ArticulateGUID">
    <vt:lpwstr>80E1966A-38DE-45C4-BB3A-D31849A19829</vt:lpwstr>
  </property>
  <property fmtid="{D5CDD505-2E9C-101B-9397-08002B2CF9AE}" pid="4" name="ArticulatePath">
    <vt:lpwstr>Module 4 04012024</vt:lpwstr>
  </property>
  <property fmtid="{D5CDD505-2E9C-101B-9397-08002B2CF9AE}" pid="5" name="MediaServiceImageTags">
    <vt:lpwstr/>
  </property>
</Properties>
</file>