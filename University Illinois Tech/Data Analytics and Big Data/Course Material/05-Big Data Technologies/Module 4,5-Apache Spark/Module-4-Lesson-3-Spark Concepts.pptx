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53"/>
  </p:notesMasterIdLst>
  <p:sldIdLst>
    <p:sldId id="970" r:id="rId5"/>
    <p:sldId id="979" r:id="rId6"/>
    <p:sldId id="981" r:id="rId7"/>
    <p:sldId id="977" r:id="rId8"/>
    <p:sldId id="978" r:id="rId9"/>
    <p:sldId id="971" r:id="rId10"/>
    <p:sldId id="271" r:id="rId11"/>
    <p:sldId id="272" r:id="rId12"/>
    <p:sldId id="392" r:id="rId13"/>
    <p:sldId id="354" r:id="rId14"/>
    <p:sldId id="359" r:id="rId15"/>
    <p:sldId id="388" r:id="rId16"/>
    <p:sldId id="360" r:id="rId17"/>
    <p:sldId id="389" r:id="rId18"/>
    <p:sldId id="390" r:id="rId19"/>
    <p:sldId id="355" r:id="rId20"/>
    <p:sldId id="356" r:id="rId21"/>
    <p:sldId id="357" r:id="rId22"/>
    <p:sldId id="358" r:id="rId23"/>
    <p:sldId id="361" r:id="rId24"/>
    <p:sldId id="372" r:id="rId25"/>
    <p:sldId id="955" r:id="rId26"/>
    <p:sldId id="998" r:id="rId27"/>
    <p:sldId id="975" r:id="rId28"/>
    <p:sldId id="279" r:id="rId29"/>
    <p:sldId id="925" r:id="rId30"/>
    <p:sldId id="273" r:id="rId31"/>
    <p:sldId id="282" r:id="rId32"/>
    <p:sldId id="386" r:id="rId33"/>
    <p:sldId id="976" r:id="rId34"/>
    <p:sldId id="999" r:id="rId35"/>
    <p:sldId id="986" r:id="rId36"/>
    <p:sldId id="987" r:id="rId37"/>
    <p:sldId id="952" r:id="rId38"/>
    <p:sldId id="257" r:id="rId39"/>
    <p:sldId id="985" r:id="rId40"/>
    <p:sldId id="984" r:id="rId41"/>
    <p:sldId id="953" r:id="rId42"/>
    <p:sldId id="259" r:id="rId43"/>
    <p:sldId id="954" r:id="rId44"/>
    <p:sldId id="989" r:id="rId45"/>
    <p:sldId id="982" r:id="rId46"/>
    <p:sldId id="1008" r:id="rId47"/>
    <p:sldId id="918" r:id="rId48"/>
    <p:sldId id="990" r:id="rId49"/>
    <p:sldId id="991" r:id="rId50"/>
    <p:sldId id="992" r:id="rId51"/>
    <p:sldId id="993" r:id="rId52"/>
  </p:sldIdLst>
  <p:sldSz cx="18288000" cy="10287000"/>
  <p:notesSz cx="6858000" cy="9144000"/>
  <p:custDataLst>
    <p:tags r:id="rId5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8"/>
    <a:srgbClr val="E1F8FF"/>
    <a:srgbClr val="E0F8FF"/>
    <a:srgbClr val="BABABA"/>
    <a:srgbClr val="0070C0"/>
    <a:srgbClr val="959595"/>
    <a:srgbClr val="E98D0A"/>
    <a:srgbClr val="969696"/>
    <a:srgbClr val="3F4F6C"/>
    <a:srgbClr val="C50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45964F-8DF4-ACA1-9B79-192107FCD311}" v="73" dt="2024-07-09T19:48:21.1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88"/>
    <p:restoredTop sz="95726" autoAdjust="0"/>
  </p:normalViewPr>
  <p:slideViewPr>
    <p:cSldViewPr snapToGrid="0" snapToObjects="1">
      <p:cViewPr varScale="1">
        <p:scale>
          <a:sx n="71" d="100"/>
          <a:sy n="71" d="100"/>
        </p:scale>
        <p:origin x="918" y="7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Mulshine" userId="S::allison.mulshine@collegiseducation.com::5f656d52-c555-4e5e-9a5b-18226766ffe3" providerId="AD" clId="Web-{BDE93822-3315-F855-C575-6F62B288B0ED}"/>
    <pc:docChg chg="modSld">
      <pc:chgData name="Allison Mulshine" userId="S::allison.mulshine@collegiseducation.com::5f656d52-c555-4e5e-9a5b-18226766ffe3" providerId="AD" clId="Web-{BDE93822-3315-F855-C575-6F62B288B0ED}" dt="2024-06-21T18:23:02.228" v="19"/>
      <pc:docMkLst>
        <pc:docMk/>
      </pc:docMkLst>
      <pc:sldChg chg="addSp modSp">
        <pc:chgData name="Allison Mulshine" userId="S::allison.mulshine@collegiseducation.com::5f656d52-c555-4e5e-9a5b-18226766ffe3" providerId="AD" clId="Web-{BDE93822-3315-F855-C575-6F62B288B0ED}" dt="2024-06-21T18:15:32.350" v="6"/>
        <pc:sldMkLst>
          <pc:docMk/>
          <pc:sldMk cId="4191419314" sldId="359"/>
        </pc:sldMkLst>
        <pc:grpChg chg="add mod">
          <ac:chgData name="Allison Mulshine" userId="S::allison.mulshine@collegiseducation.com::5f656d52-c555-4e5e-9a5b-18226766ffe3" providerId="AD" clId="Web-{BDE93822-3315-F855-C575-6F62B288B0ED}" dt="2024-06-21T18:15:32.350" v="6"/>
          <ac:grpSpMkLst>
            <pc:docMk/>
            <pc:sldMk cId="4191419314" sldId="359"/>
            <ac:grpSpMk id="3" creationId="{BB97F904-B060-5518-69B7-3E44CA3F5E5E}"/>
          </ac:grpSpMkLst>
        </pc:grpChg>
      </pc:sldChg>
      <pc:sldChg chg="addSp modSp">
        <pc:chgData name="Allison Mulshine" userId="S::allison.mulshine@collegiseducation.com::5f656d52-c555-4e5e-9a5b-18226766ffe3" providerId="AD" clId="Web-{BDE93822-3315-F855-C575-6F62B288B0ED}" dt="2024-06-21T18:16:22.038" v="8"/>
        <pc:sldMkLst>
          <pc:docMk/>
          <pc:sldMk cId="3590241381" sldId="360"/>
        </pc:sldMkLst>
        <pc:grpChg chg="add mod">
          <ac:chgData name="Allison Mulshine" userId="S::allison.mulshine@collegiseducation.com::5f656d52-c555-4e5e-9a5b-18226766ffe3" providerId="AD" clId="Web-{BDE93822-3315-F855-C575-6F62B288B0ED}" dt="2024-06-21T18:16:22.038" v="8"/>
          <ac:grpSpMkLst>
            <pc:docMk/>
            <pc:sldMk cId="3590241381" sldId="360"/>
            <ac:grpSpMk id="3" creationId="{D717604A-F431-51F7-406E-1981D39D3D18}"/>
          </ac:grpSpMkLst>
        </pc:grpChg>
      </pc:sldChg>
      <pc:sldChg chg="addSp modSp">
        <pc:chgData name="Allison Mulshine" userId="S::allison.mulshine@collegiseducation.com::5f656d52-c555-4e5e-9a5b-18226766ffe3" providerId="AD" clId="Web-{BDE93822-3315-F855-C575-6F62B288B0ED}" dt="2024-06-21T18:18:43.101" v="12"/>
        <pc:sldMkLst>
          <pc:docMk/>
          <pc:sldMk cId="3430343783" sldId="372"/>
        </pc:sldMkLst>
        <pc:spChg chg="mod">
          <ac:chgData name="Allison Mulshine" userId="S::allison.mulshine@collegiseducation.com::5f656d52-c555-4e5e-9a5b-18226766ffe3" providerId="AD" clId="Web-{BDE93822-3315-F855-C575-6F62B288B0ED}" dt="2024-06-21T18:17:24.866" v="10" actId="14100"/>
          <ac:spMkLst>
            <pc:docMk/>
            <pc:sldMk cId="3430343783" sldId="372"/>
            <ac:spMk id="3" creationId="{00000000-0000-0000-0000-000000000000}"/>
          </ac:spMkLst>
        </pc:spChg>
        <pc:grpChg chg="add mod">
          <ac:chgData name="Allison Mulshine" userId="S::allison.mulshine@collegiseducation.com::5f656d52-c555-4e5e-9a5b-18226766ffe3" providerId="AD" clId="Web-{BDE93822-3315-F855-C575-6F62B288B0ED}" dt="2024-06-21T18:18:43.101" v="12"/>
          <ac:grpSpMkLst>
            <pc:docMk/>
            <pc:sldMk cId="3430343783" sldId="372"/>
            <ac:grpSpMk id="2" creationId="{51152207-94FE-4313-E744-2974711CBA77}"/>
          </ac:grpSpMkLst>
        </pc:grpChg>
      </pc:sldChg>
      <pc:sldChg chg="modSp">
        <pc:chgData name="Allison Mulshine" userId="S::allison.mulshine@collegiseducation.com::5f656d52-c555-4e5e-9a5b-18226766ffe3" providerId="AD" clId="Web-{BDE93822-3315-F855-C575-6F62B288B0ED}" dt="2024-06-21T18:20:17.696" v="13"/>
        <pc:sldMkLst>
          <pc:docMk/>
          <pc:sldMk cId="198400376" sldId="386"/>
        </pc:sldMkLst>
        <pc:picChg chg="mod">
          <ac:chgData name="Allison Mulshine" userId="S::allison.mulshine@collegiseducation.com::5f656d52-c555-4e5e-9a5b-18226766ffe3" providerId="AD" clId="Web-{BDE93822-3315-F855-C575-6F62B288B0ED}" dt="2024-06-21T18:20:17.696" v="13"/>
          <ac:picMkLst>
            <pc:docMk/>
            <pc:sldMk cId="198400376" sldId="386"/>
            <ac:picMk id="6" creationId="{8C45A7FD-FF90-8F46-8EBC-A981C98E46FE}"/>
          </ac:picMkLst>
        </pc:picChg>
      </pc:sldChg>
      <pc:sldChg chg="modSp">
        <pc:chgData name="Allison Mulshine" userId="S::allison.mulshine@collegiseducation.com::5f656d52-c555-4e5e-9a5b-18226766ffe3" providerId="AD" clId="Web-{BDE93822-3315-F855-C575-6F62B288B0ED}" dt="2024-06-21T18:16:52.632" v="9"/>
        <pc:sldMkLst>
          <pc:docMk/>
          <pc:sldMk cId="4170419525" sldId="390"/>
        </pc:sldMkLst>
        <pc:picChg chg="mod">
          <ac:chgData name="Allison Mulshine" userId="S::allison.mulshine@collegiseducation.com::5f656d52-c555-4e5e-9a5b-18226766ffe3" providerId="AD" clId="Web-{BDE93822-3315-F855-C575-6F62B288B0ED}" dt="2024-06-21T18:16:52.632" v="9"/>
          <ac:picMkLst>
            <pc:docMk/>
            <pc:sldMk cId="4170419525" sldId="390"/>
            <ac:picMk id="5" creationId="{6C7DBE89-5586-A744-9A98-661022ABDA02}"/>
          </ac:picMkLst>
        </pc:picChg>
      </pc:sldChg>
      <pc:sldChg chg="modSp">
        <pc:chgData name="Allison Mulshine" userId="S::allison.mulshine@collegiseducation.com::5f656d52-c555-4e5e-9a5b-18226766ffe3" providerId="AD" clId="Web-{BDE93822-3315-F855-C575-6F62B288B0ED}" dt="2024-06-21T18:14:46.771" v="4"/>
        <pc:sldMkLst>
          <pc:docMk/>
          <pc:sldMk cId="2712405760" sldId="392"/>
        </pc:sldMkLst>
        <pc:picChg chg="mod">
          <ac:chgData name="Allison Mulshine" userId="S::allison.mulshine@collegiseducation.com::5f656d52-c555-4e5e-9a5b-18226766ffe3" providerId="AD" clId="Web-{BDE93822-3315-F855-C575-6F62B288B0ED}" dt="2024-06-21T18:14:46.771" v="4"/>
          <ac:picMkLst>
            <pc:docMk/>
            <pc:sldMk cId="2712405760" sldId="392"/>
            <ac:picMk id="5" creationId="{AC6BBD59-A9C1-6E4F-B790-25B2A4F269D8}"/>
          </ac:picMkLst>
        </pc:picChg>
      </pc:sldChg>
      <pc:sldChg chg="modSp">
        <pc:chgData name="Allison Mulshine" userId="S::allison.mulshine@collegiseducation.com::5f656d52-c555-4e5e-9a5b-18226766ffe3" providerId="AD" clId="Web-{BDE93822-3315-F855-C575-6F62B288B0ED}" dt="2024-06-21T18:11:28.442" v="2"/>
        <pc:sldMkLst>
          <pc:docMk/>
          <pc:sldMk cId="49851074" sldId="977"/>
        </pc:sldMkLst>
        <pc:picChg chg="mod">
          <ac:chgData name="Allison Mulshine" userId="S::allison.mulshine@collegiseducation.com::5f656d52-c555-4e5e-9a5b-18226766ffe3" providerId="AD" clId="Web-{BDE93822-3315-F855-C575-6F62B288B0ED}" dt="2024-06-21T18:11:28.442" v="2"/>
          <ac:picMkLst>
            <pc:docMk/>
            <pc:sldMk cId="49851074" sldId="977"/>
            <ac:picMk id="15362" creationId="{AE710191-DD3C-17DB-573D-8BC110201122}"/>
          </ac:picMkLst>
        </pc:picChg>
      </pc:sldChg>
      <pc:sldChg chg="modSp">
        <pc:chgData name="Allison Mulshine" userId="S::allison.mulshine@collegiseducation.com::5f656d52-c555-4e5e-9a5b-18226766ffe3" providerId="AD" clId="Web-{BDE93822-3315-F855-C575-6F62B288B0ED}" dt="2024-06-21T18:12:29.583" v="3"/>
        <pc:sldMkLst>
          <pc:docMk/>
          <pc:sldMk cId="2337918320" sldId="978"/>
        </pc:sldMkLst>
        <pc:picChg chg="mod">
          <ac:chgData name="Allison Mulshine" userId="S::allison.mulshine@collegiseducation.com::5f656d52-c555-4e5e-9a5b-18226766ffe3" providerId="AD" clId="Web-{BDE93822-3315-F855-C575-6F62B288B0ED}" dt="2024-06-21T18:12:29.583" v="3"/>
          <ac:picMkLst>
            <pc:docMk/>
            <pc:sldMk cId="2337918320" sldId="978"/>
            <ac:picMk id="18434" creationId="{7DD67380-F330-4F74-40B2-6CA8C51F8164}"/>
          </ac:picMkLst>
        </pc:picChg>
      </pc:sldChg>
      <pc:sldChg chg="addSp modSp">
        <pc:chgData name="Allison Mulshine" userId="S::allison.mulshine@collegiseducation.com::5f656d52-c555-4e5e-9a5b-18226766ffe3" providerId="AD" clId="Web-{BDE93822-3315-F855-C575-6F62B288B0ED}" dt="2024-06-21T18:10:42.894" v="1"/>
        <pc:sldMkLst>
          <pc:docMk/>
          <pc:sldMk cId="2342197387" sldId="981"/>
        </pc:sldMkLst>
        <pc:grpChg chg="add mod">
          <ac:chgData name="Allison Mulshine" userId="S::allison.mulshine@collegiseducation.com::5f656d52-c555-4e5e-9a5b-18226766ffe3" providerId="AD" clId="Web-{BDE93822-3315-F855-C575-6F62B288B0ED}" dt="2024-06-21T18:10:42.894" v="1"/>
          <ac:grpSpMkLst>
            <pc:docMk/>
            <pc:sldMk cId="2342197387" sldId="981"/>
            <ac:grpSpMk id="7" creationId="{83AF175A-387C-91BE-F76B-DDA9F1B5B108}"/>
          </ac:grpSpMkLst>
        </pc:grpChg>
      </pc:sldChg>
      <pc:sldChg chg="modSp">
        <pc:chgData name="Allison Mulshine" userId="S::allison.mulshine@collegiseducation.com::5f656d52-c555-4e5e-9a5b-18226766ffe3" providerId="AD" clId="Web-{BDE93822-3315-F855-C575-6F62B288B0ED}" dt="2024-06-21T18:22:13.884" v="17"/>
        <pc:sldMkLst>
          <pc:docMk/>
          <pc:sldMk cId="3443128407" sldId="982"/>
        </pc:sldMkLst>
        <pc:picChg chg="mod">
          <ac:chgData name="Allison Mulshine" userId="S::allison.mulshine@collegiseducation.com::5f656d52-c555-4e5e-9a5b-18226766ffe3" providerId="AD" clId="Web-{BDE93822-3315-F855-C575-6F62B288B0ED}" dt="2024-06-21T18:22:13.884" v="17"/>
          <ac:picMkLst>
            <pc:docMk/>
            <pc:sldMk cId="3443128407" sldId="982"/>
            <ac:picMk id="20482" creationId="{E2E8E231-D055-BF60-1207-CBEA1D13BD1A}"/>
          </ac:picMkLst>
        </pc:picChg>
      </pc:sldChg>
      <pc:sldChg chg="modSp">
        <pc:chgData name="Allison Mulshine" userId="S::allison.mulshine@collegiseducation.com::5f656d52-c555-4e5e-9a5b-18226766ffe3" providerId="AD" clId="Web-{BDE93822-3315-F855-C575-6F62B288B0ED}" dt="2024-06-21T18:21:43.728" v="16"/>
        <pc:sldMkLst>
          <pc:docMk/>
          <pc:sldMk cId="35963797" sldId="989"/>
        </pc:sldMkLst>
        <pc:picChg chg="mod">
          <ac:chgData name="Allison Mulshine" userId="S::allison.mulshine@collegiseducation.com::5f656d52-c555-4e5e-9a5b-18226766ffe3" providerId="AD" clId="Web-{BDE93822-3315-F855-C575-6F62B288B0ED}" dt="2024-06-21T18:21:43.728" v="16"/>
          <ac:picMkLst>
            <pc:docMk/>
            <pc:sldMk cId="35963797" sldId="989"/>
            <ac:picMk id="5" creationId="{4C81EC2D-16CC-995D-3337-3CFAD41D09CD}"/>
          </ac:picMkLst>
        </pc:picChg>
      </pc:sldChg>
      <pc:sldChg chg="addSp modSp">
        <pc:chgData name="Allison Mulshine" userId="S::allison.mulshine@collegiseducation.com::5f656d52-c555-4e5e-9a5b-18226766ffe3" providerId="AD" clId="Web-{BDE93822-3315-F855-C575-6F62B288B0ED}" dt="2024-06-21T18:21:06.352" v="15"/>
        <pc:sldMkLst>
          <pc:docMk/>
          <pc:sldMk cId="3064665643" sldId="999"/>
        </pc:sldMkLst>
        <pc:grpChg chg="add mod">
          <ac:chgData name="Allison Mulshine" userId="S::allison.mulshine@collegiseducation.com::5f656d52-c555-4e5e-9a5b-18226766ffe3" providerId="AD" clId="Web-{BDE93822-3315-F855-C575-6F62B288B0ED}" dt="2024-06-21T18:21:06.352" v="15"/>
          <ac:grpSpMkLst>
            <pc:docMk/>
            <pc:sldMk cId="3064665643" sldId="999"/>
            <ac:grpSpMk id="3" creationId="{DDEF25E0-92F6-D9D2-AFBE-CF13E22163FC}"/>
          </ac:grpSpMkLst>
        </pc:grpChg>
      </pc:sldChg>
      <pc:sldChg chg="addSp modSp">
        <pc:chgData name="Allison Mulshine" userId="S::allison.mulshine@collegiseducation.com::5f656d52-c555-4e5e-9a5b-18226766ffe3" providerId="AD" clId="Web-{BDE93822-3315-F855-C575-6F62B288B0ED}" dt="2024-06-21T18:23:02.228" v="19"/>
        <pc:sldMkLst>
          <pc:docMk/>
          <pc:sldMk cId="1543335860" sldId="1008"/>
        </pc:sldMkLst>
        <pc:grpChg chg="add mod">
          <ac:chgData name="Allison Mulshine" userId="S::allison.mulshine@collegiseducation.com::5f656d52-c555-4e5e-9a5b-18226766ffe3" providerId="AD" clId="Web-{BDE93822-3315-F855-C575-6F62B288B0ED}" dt="2024-06-21T18:23:02.228" v="19"/>
          <ac:grpSpMkLst>
            <pc:docMk/>
            <pc:sldMk cId="1543335860" sldId="1008"/>
            <ac:grpSpMk id="3" creationId="{5E79AEC1-B774-D235-2C09-8FBE8F185DAC}"/>
          </ac:grpSpMkLst>
        </pc:grpChg>
      </pc:sldChg>
    </pc:docChg>
  </pc:docChgLst>
  <pc:docChgLst>
    <pc:chgData name="Allison Mulshine" userId="S::allison.mulshine@collegiseducation.com::5f656d52-c555-4e5e-9a5b-18226766ffe3" providerId="AD" clId="Web-{A645964F-8DF4-ACA1-9B79-192107FCD311}"/>
    <pc:docChg chg="modSld">
      <pc:chgData name="Allison Mulshine" userId="S::allison.mulshine@collegiseducation.com::5f656d52-c555-4e5e-9a5b-18226766ffe3" providerId="AD" clId="Web-{A645964F-8DF4-ACA1-9B79-192107FCD311}" dt="2024-07-09T19:48:21.185" v="65" actId="14100"/>
      <pc:docMkLst>
        <pc:docMk/>
      </pc:docMkLst>
      <pc:sldChg chg="addSp delSp modSp">
        <pc:chgData name="Allison Mulshine" userId="S::allison.mulshine@collegiseducation.com::5f656d52-c555-4e5e-9a5b-18226766ffe3" providerId="AD" clId="Web-{A645964F-8DF4-ACA1-9B79-192107FCD311}" dt="2024-07-09T19:37:31.548" v="15" actId="1076"/>
        <pc:sldMkLst>
          <pc:docMk/>
          <pc:sldMk cId="4191419314" sldId="359"/>
        </pc:sldMkLst>
        <pc:grpChg chg="del">
          <ac:chgData name="Allison Mulshine" userId="S::allison.mulshine@collegiseducation.com::5f656d52-c555-4e5e-9a5b-18226766ffe3" providerId="AD" clId="Web-{A645964F-8DF4-ACA1-9B79-192107FCD311}" dt="2024-07-09T19:37:19.157" v="11"/>
          <ac:grpSpMkLst>
            <pc:docMk/>
            <pc:sldMk cId="4191419314" sldId="359"/>
            <ac:grpSpMk id="3" creationId="{BB97F904-B060-5518-69B7-3E44CA3F5E5E}"/>
          </ac:grpSpMkLst>
        </pc:grpChg>
        <pc:picChg chg="add mod">
          <ac:chgData name="Allison Mulshine" userId="S::allison.mulshine@collegiseducation.com::5f656d52-c555-4e5e-9a5b-18226766ffe3" providerId="AD" clId="Web-{A645964F-8DF4-ACA1-9B79-192107FCD311}" dt="2024-07-09T19:37:31.548" v="15" actId="1076"/>
          <ac:picMkLst>
            <pc:docMk/>
            <pc:sldMk cId="4191419314" sldId="359"/>
            <ac:picMk id="4" creationId="{7491E498-AD91-EDA8-4CF0-527961069E61}"/>
          </ac:picMkLst>
        </pc:picChg>
        <pc:cxnChg chg="mod">
          <ac:chgData name="Allison Mulshine" userId="S::allison.mulshine@collegiseducation.com::5f656d52-c555-4e5e-9a5b-18226766ffe3" providerId="AD" clId="Web-{A645964F-8DF4-ACA1-9B79-192107FCD311}" dt="2024-07-09T19:37:19.157" v="11"/>
          <ac:cxnSpMkLst>
            <pc:docMk/>
            <pc:sldMk cId="4191419314" sldId="359"/>
            <ac:cxnSpMk id="11" creationId="{00000000-0000-0000-0000-000000000000}"/>
          </ac:cxnSpMkLst>
        </pc:cxnChg>
        <pc:cxnChg chg="mod">
          <ac:chgData name="Allison Mulshine" userId="S::allison.mulshine@collegiseducation.com::5f656d52-c555-4e5e-9a5b-18226766ffe3" providerId="AD" clId="Web-{A645964F-8DF4-ACA1-9B79-192107FCD311}" dt="2024-07-09T19:37:19.157" v="11"/>
          <ac:cxnSpMkLst>
            <pc:docMk/>
            <pc:sldMk cId="4191419314" sldId="359"/>
            <ac:cxnSpMk id="25" creationId="{00000000-0000-0000-0000-000000000000}"/>
          </ac:cxnSpMkLst>
        </pc:cxnChg>
        <pc:cxnChg chg="mod">
          <ac:chgData name="Allison Mulshine" userId="S::allison.mulshine@collegiseducation.com::5f656d52-c555-4e5e-9a5b-18226766ffe3" providerId="AD" clId="Web-{A645964F-8DF4-ACA1-9B79-192107FCD311}" dt="2024-07-09T19:37:19.157" v="11"/>
          <ac:cxnSpMkLst>
            <pc:docMk/>
            <pc:sldMk cId="4191419314" sldId="359"/>
            <ac:cxnSpMk id="32" creationId="{00000000-0000-0000-0000-000000000000}"/>
          </ac:cxnSpMkLst>
        </pc:cxnChg>
      </pc:sldChg>
      <pc:sldChg chg="addSp delSp modSp">
        <pc:chgData name="Allison Mulshine" userId="S::allison.mulshine@collegiseducation.com::5f656d52-c555-4e5e-9a5b-18226766ffe3" providerId="AD" clId="Web-{A645964F-8DF4-ACA1-9B79-192107FCD311}" dt="2024-07-09T19:38:42.516" v="23" actId="1076"/>
        <pc:sldMkLst>
          <pc:docMk/>
          <pc:sldMk cId="3590241381" sldId="360"/>
        </pc:sldMkLst>
        <pc:grpChg chg="del">
          <ac:chgData name="Allison Mulshine" userId="S::allison.mulshine@collegiseducation.com::5f656d52-c555-4e5e-9a5b-18226766ffe3" providerId="AD" clId="Web-{A645964F-8DF4-ACA1-9B79-192107FCD311}" dt="2024-07-09T19:38:32.938" v="19"/>
          <ac:grpSpMkLst>
            <pc:docMk/>
            <pc:sldMk cId="3590241381" sldId="360"/>
            <ac:grpSpMk id="3" creationId="{D717604A-F431-51F7-406E-1981D39D3D18}"/>
          </ac:grpSpMkLst>
        </pc:grpChg>
        <pc:picChg chg="add mod">
          <ac:chgData name="Allison Mulshine" userId="S::allison.mulshine@collegiseducation.com::5f656d52-c555-4e5e-9a5b-18226766ffe3" providerId="AD" clId="Web-{A645964F-8DF4-ACA1-9B79-192107FCD311}" dt="2024-07-09T19:38:42.516" v="23" actId="1076"/>
          <ac:picMkLst>
            <pc:docMk/>
            <pc:sldMk cId="3590241381" sldId="360"/>
            <ac:picMk id="4" creationId="{5EE77609-FAA5-77EE-3817-DCB38533C10C}"/>
          </ac:picMkLst>
        </pc:picChg>
        <pc:cxnChg chg="mod">
          <ac:chgData name="Allison Mulshine" userId="S::allison.mulshine@collegiseducation.com::5f656d52-c555-4e5e-9a5b-18226766ffe3" providerId="AD" clId="Web-{A645964F-8DF4-ACA1-9B79-192107FCD311}" dt="2024-07-09T19:38:32.938" v="19"/>
          <ac:cxnSpMkLst>
            <pc:docMk/>
            <pc:sldMk cId="3590241381" sldId="360"/>
            <ac:cxnSpMk id="11" creationId="{00000000-0000-0000-0000-000000000000}"/>
          </ac:cxnSpMkLst>
        </pc:cxnChg>
        <pc:cxnChg chg="del mod">
          <ac:chgData name="Allison Mulshine" userId="S::allison.mulshine@collegiseducation.com::5f656d52-c555-4e5e-9a5b-18226766ffe3" providerId="AD" clId="Web-{A645964F-8DF4-ACA1-9B79-192107FCD311}" dt="2024-07-09T19:38:34.922" v="20"/>
          <ac:cxnSpMkLst>
            <pc:docMk/>
            <pc:sldMk cId="3590241381" sldId="360"/>
            <ac:cxnSpMk id="32" creationId="{00000000-0000-0000-0000-000000000000}"/>
          </ac:cxnSpMkLst>
        </pc:cxnChg>
        <pc:cxnChg chg="mod">
          <ac:chgData name="Allison Mulshine" userId="S::allison.mulshine@collegiseducation.com::5f656d52-c555-4e5e-9a5b-18226766ffe3" providerId="AD" clId="Web-{A645964F-8DF4-ACA1-9B79-192107FCD311}" dt="2024-07-09T19:38:32.938" v="19"/>
          <ac:cxnSpMkLst>
            <pc:docMk/>
            <pc:sldMk cId="3590241381" sldId="360"/>
            <ac:cxnSpMk id="44" creationId="{00000000-0000-0000-0000-000000000000}"/>
          </ac:cxnSpMkLst>
        </pc:cxnChg>
        <pc:cxnChg chg="mod">
          <ac:chgData name="Allison Mulshine" userId="S::allison.mulshine@collegiseducation.com::5f656d52-c555-4e5e-9a5b-18226766ffe3" providerId="AD" clId="Web-{A645964F-8DF4-ACA1-9B79-192107FCD311}" dt="2024-07-09T19:38:32.938" v="19"/>
          <ac:cxnSpMkLst>
            <pc:docMk/>
            <pc:sldMk cId="3590241381" sldId="360"/>
            <ac:cxnSpMk id="78" creationId="{00000000-0000-0000-0000-000000000000}"/>
          </ac:cxnSpMkLst>
        </pc:cxnChg>
      </pc:sldChg>
      <pc:sldChg chg="addSp delSp modSp">
        <pc:chgData name="Allison Mulshine" userId="S::allison.mulshine@collegiseducation.com::5f656d52-c555-4e5e-9a5b-18226766ffe3" providerId="AD" clId="Web-{A645964F-8DF4-ACA1-9B79-192107FCD311}" dt="2024-07-09T19:39:31.063" v="33" actId="1076"/>
        <pc:sldMkLst>
          <pc:docMk/>
          <pc:sldMk cId="3430343783" sldId="372"/>
        </pc:sldMkLst>
        <pc:grpChg chg="del">
          <ac:chgData name="Allison Mulshine" userId="S::allison.mulshine@collegiseducation.com::5f656d52-c555-4e5e-9a5b-18226766ffe3" providerId="AD" clId="Web-{A645964F-8DF4-ACA1-9B79-192107FCD311}" dt="2024-07-09T19:39:19.641" v="28"/>
          <ac:grpSpMkLst>
            <pc:docMk/>
            <pc:sldMk cId="3430343783" sldId="372"/>
            <ac:grpSpMk id="2" creationId="{51152207-94FE-4313-E744-2974711CBA77}"/>
          </ac:grpSpMkLst>
        </pc:grpChg>
        <pc:picChg chg="add mod">
          <ac:chgData name="Allison Mulshine" userId="S::allison.mulshine@collegiseducation.com::5f656d52-c555-4e5e-9a5b-18226766ffe3" providerId="AD" clId="Web-{A645964F-8DF4-ACA1-9B79-192107FCD311}" dt="2024-07-09T19:39:31.063" v="33" actId="1076"/>
          <ac:picMkLst>
            <pc:docMk/>
            <pc:sldMk cId="3430343783" sldId="372"/>
            <ac:picMk id="4" creationId="{1591378C-6EB3-1EE5-E4A4-A573E27B950E}"/>
          </ac:picMkLst>
        </pc:picChg>
        <pc:cxnChg chg="mod">
          <ac:chgData name="Allison Mulshine" userId="S::allison.mulshine@collegiseducation.com::5f656d52-c555-4e5e-9a5b-18226766ffe3" providerId="AD" clId="Web-{A645964F-8DF4-ACA1-9B79-192107FCD311}" dt="2024-07-09T19:39:19.641" v="28"/>
          <ac:cxnSpMkLst>
            <pc:docMk/>
            <pc:sldMk cId="3430343783" sldId="372"/>
            <ac:cxnSpMk id="21" creationId="{00000000-0000-0000-0000-000000000000}"/>
          </ac:cxnSpMkLst>
        </pc:cxnChg>
        <pc:cxnChg chg="mod">
          <ac:chgData name="Allison Mulshine" userId="S::allison.mulshine@collegiseducation.com::5f656d52-c555-4e5e-9a5b-18226766ffe3" providerId="AD" clId="Web-{A645964F-8DF4-ACA1-9B79-192107FCD311}" dt="2024-07-09T19:39:19.641" v="28"/>
          <ac:cxnSpMkLst>
            <pc:docMk/>
            <pc:sldMk cId="3430343783" sldId="372"/>
            <ac:cxnSpMk id="25" creationId="{00000000-0000-0000-0000-000000000000}"/>
          </ac:cxnSpMkLst>
        </pc:cxnChg>
      </pc:sldChg>
      <pc:sldChg chg="addSp delSp modSp">
        <pc:chgData name="Allison Mulshine" userId="S::allison.mulshine@collegiseducation.com::5f656d52-c555-4e5e-9a5b-18226766ffe3" providerId="AD" clId="Web-{A645964F-8DF4-ACA1-9B79-192107FCD311}" dt="2024-07-09T19:36:12.173" v="6" actId="1076"/>
        <pc:sldMkLst>
          <pc:docMk/>
          <pc:sldMk cId="2342197387" sldId="981"/>
        </pc:sldMkLst>
        <pc:grpChg chg="del">
          <ac:chgData name="Allison Mulshine" userId="S::allison.mulshine@collegiseducation.com::5f656d52-c555-4e5e-9a5b-18226766ffe3" providerId="AD" clId="Web-{A645964F-8DF4-ACA1-9B79-192107FCD311}" dt="2024-07-09T19:36:05.267" v="3"/>
          <ac:grpSpMkLst>
            <pc:docMk/>
            <pc:sldMk cId="2342197387" sldId="981"/>
            <ac:grpSpMk id="7" creationId="{83AF175A-387C-91BE-F76B-DDA9F1B5B108}"/>
          </ac:grpSpMkLst>
        </pc:grpChg>
        <pc:picChg chg="add mod">
          <ac:chgData name="Allison Mulshine" userId="S::allison.mulshine@collegiseducation.com::5f656d52-c555-4e5e-9a5b-18226766ffe3" providerId="AD" clId="Web-{A645964F-8DF4-ACA1-9B79-192107FCD311}" dt="2024-07-09T19:36:12.173" v="6" actId="1076"/>
          <ac:picMkLst>
            <pc:docMk/>
            <pc:sldMk cId="2342197387" sldId="981"/>
            <ac:picMk id="9" creationId="{DAB2B684-CC4C-5D3D-82ED-C3E604E03E0E}"/>
          </ac:picMkLst>
        </pc:picChg>
      </pc:sldChg>
      <pc:sldChg chg="addSp delSp modSp">
        <pc:chgData name="Allison Mulshine" userId="S::allison.mulshine@collegiseducation.com::5f656d52-c555-4e5e-9a5b-18226766ffe3" providerId="AD" clId="Web-{A645964F-8DF4-ACA1-9B79-192107FCD311}" dt="2024-07-09T19:45:56.655" v="41" actId="1076"/>
        <pc:sldMkLst>
          <pc:docMk/>
          <pc:sldMk cId="3064665643" sldId="999"/>
        </pc:sldMkLst>
        <pc:grpChg chg="del">
          <ac:chgData name="Allison Mulshine" userId="S::allison.mulshine@collegiseducation.com::5f656d52-c555-4e5e-9a5b-18226766ffe3" providerId="AD" clId="Web-{A645964F-8DF4-ACA1-9B79-192107FCD311}" dt="2024-07-09T19:45:48.905" v="38"/>
          <ac:grpSpMkLst>
            <pc:docMk/>
            <pc:sldMk cId="3064665643" sldId="999"/>
            <ac:grpSpMk id="3" creationId="{DDEF25E0-92F6-D9D2-AFBE-CF13E22163FC}"/>
          </ac:grpSpMkLst>
        </pc:grpChg>
        <pc:picChg chg="add mod">
          <ac:chgData name="Allison Mulshine" userId="S::allison.mulshine@collegiseducation.com::5f656d52-c555-4e5e-9a5b-18226766ffe3" providerId="AD" clId="Web-{A645964F-8DF4-ACA1-9B79-192107FCD311}" dt="2024-07-09T19:45:56.655" v="41" actId="1076"/>
          <ac:picMkLst>
            <pc:docMk/>
            <pc:sldMk cId="3064665643" sldId="999"/>
            <ac:picMk id="10" creationId="{8A3016AF-70D8-FBBC-B867-9FAA0B7A4ED5}"/>
          </ac:picMkLst>
        </pc:picChg>
        <pc:cxnChg chg="mod">
          <ac:chgData name="Allison Mulshine" userId="S::allison.mulshine@collegiseducation.com::5f656d52-c555-4e5e-9a5b-18226766ffe3" providerId="AD" clId="Web-{A645964F-8DF4-ACA1-9B79-192107FCD311}" dt="2024-07-09T19:45:48.905" v="38"/>
          <ac:cxnSpMkLst>
            <pc:docMk/>
            <pc:sldMk cId="3064665643" sldId="999"/>
            <ac:cxnSpMk id="13" creationId="{478BC281-27C8-3F1B-2FAD-BC6B1911AE56}"/>
          </ac:cxnSpMkLst>
        </pc:cxnChg>
        <pc:cxnChg chg="mod">
          <ac:chgData name="Allison Mulshine" userId="S::allison.mulshine@collegiseducation.com::5f656d52-c555-4e5e-9a5b-18226766ffe3" providerId="AD" clId="Web-{A645964F-8DF4-ACA1-9B79-192107FCD311}" dt="2024-07-09T19:45:48.905" v="38"/>
          <ac:cxnSpMkLst>
            <pc:docMk/>
            <pc:sldMk cId="3064665643" sldId="999"/>
            <ac:cxnSpMk id="16" creationId="{8C124D35-916B-FC84-F108-D134927C05C0}"/>
          </ac:cxnSpMkLst>
        </pc:cxnChg>
        <pc:cxnChg chg="mod">
          <ac:chgData name="Allison Mulshine" userId="S::allison.mulshine@collegiseducation.com::5f656d52-c555-4e5e-9a5b-18226766ffe3" providerId="AD" clId="Web-{A645964F-8DF4-ACA1-9B79-192107FCD311}" dt="2024-07-09T19:45:48.905" v="38"/>
          <ac:cxnSpMkLst>
            <pc:docMk/>
            <pc:sldMk cId="3064665643" sldId="999"/>
            <ac:cxnSpMk id="26" creationId="{1D7F3A85-E095-5190-9231-010F233254DD}"/>
          </ac:cxnSpMkLst>
        </pc:cxnChg>
        <pc:cxnChg chg="mod">
          <ac:chgData name="Allison Mulshine" userId="S::allison.mulshine@collegiseducation.com::5f656d52-c555-4e5e-9a5b-18226766ffe3" providerId="AD" clId="Web-{A645964F-8DF4-ACA1-9B79-192107FCD311}" dt="2024-07-09T19:45:48.905" v="38"/>
          <ac:cxnSpMkLst>
            <pc:docMk/>
            <pc:sldMk cId="3064665643" sldId="999"/>
            <ac:cxnSpMk id="29" creationId="{72A99B34-8E74-D405-0873-4CF8E8D067A6}"/>
          </ac:cxnSpMkLst>
        </pc:cxnChg>
        <pc:cxnChg chg="mod">
          <ac:chgData name="Allison Mulshine" userId="S::allison.mulshine@collegiseducation.com::5f656d52-c555-4e5e-9a5b-18226766ffe3" providerId="AD" clId="Web-{A645964F-8DF4-ACA1-9B79-192107FCD311}" dt="2024-07-09T19:45:48.905" v="38"/>
          <ac:cxnSpMkLst>
            <pc:docMk/>
            <pc:sldMk cId="3064665643" sldId="999"/>
            <ac:cxnSpMk id="32" creationId="{D56EFBBB-8B21-3974-01ED-8330D67F1B33}"/>
          </ac:cxnSpMkLst>
        </pc:cxnChg>
      </pc:sldChg>
      <pc:sldChg chg="addSp delSp modSp">
        <pc:chgData name="Allison Mulshine" userId="S::allison.mulshine@collegiseducation.com::5f656d52-c555-4e5e-9a5b-18226766ffe3" providerId="AD" clId="Web-{A645964F-8DF4-ACA1-9B79-192107FCD311}" dt="2024-07-09T19:48:21.185" v="65" actId="14100"/>
        <pc:sldMkLst>
          <pc:docMk/>
          <pc:sldMk cId="1543335860" sldId="1008"/>
        </pc:sldMkLst>
        <pc:grpChg chg="add del mod">
          <ac:chgData name="Allison Mulshine" userId="S::allison.mulshine@collegiseducation.com::5f656d52-c555-4e5e-9a5b-18226766ffe3" providerId="AD" clId="Web-{A645964F-8DF4-ACA1-9B79-192107FCD311}" dt="2024-07-09T19:47:57.592" v="58"/>
          <ac:grpSpMkLst>
            <pc:docMk/>
            <pc:sldMk cId="1543335860" sldId="1008"/>
            <ac:grpSpMk id="3" creationId="{5E79AEC1-B774-D235-2C09-8FBE8F185DAC}"/>
          </ac:grpSpMkLst>
        </pc:grpChg>
        <pc:picChg chg="add del mod">
          <ac:chgData name="Allison Mulshine" userId="S::allison.mulshine@collegiseducation.com::5f656d52-c555-4e5e-9a5b-18226766ffe3" providerId="AD" clId="Web-{A645964F-8DF4-ACA1-9B79-192107FCD311}" dt="2024-07-09T19:47:19.482" v="52"/>
          <ac:picMkLst>
            <pc:docMk/>
            <pc:sldMk cId="1543335860" sldId="1008"/>
            <ac:picMk id="4" creationId="{39151D7D-CD90-025A-EDDE-C5161F7A2073}"/>
          </ac:picMkLst>
        </pc:picChg>
        <pc:picChg chg="add mod modCrop">
          <ac:chgData name="Allison Mulshine" userId="S::allison.mulshine@collegiseducation.com::5f656d52-c555-4e5e-9a5b-18226766ffe3" providerId="AD" clId="Web-{A645964F-8DF4-ACA1-9B79-192107FCD311}" dt="2024-07-09T19:48:21.185" v="65" actId="14100"/>
          <ac:picMkLst>
            <pc:docMk/>
            <pc:sldMk cId="1543335860" sldId="1008"/>
            <ac:picMk id="5" creationId="{9D9EFBA6-BDB8-014F-0750-43C4C70D7E45}"/>
          </ac:picMkLst>
        </pc:picChg>
        <pc:cxnChg chg="mod">
          <ac:chgData name="Allison Mulshine" userId="S::allison.mulshine@collegiseducation.com::5f656d52-c555-4e5e-9a5b-18226766ffe3" providerId="AD" clId="Web-{A645964F-8DF4-ACA1-9B79-192107FCD311}" dt="2024-07-09T19:47:57.592" v="58"/>
          <ac:cxnSpMkLst>
            <pc:docMk/>
            <pc:sldMk cId="1543335860" sldId="1008"/>
            <ac:cxnSpMk id="51" creationId="{CC5C66B9-1BDF-375E-6240-18DBAE902660}"/>
          </ac:cxnSpMkLst>
        </pc:cxnChg>
        <pc:cxnChg chg="mod">
          <ac:chgData name="Allison Mulshine" userId="S::allison.mulshine@collegiseducation.com::5f656d52-c555-4e5e-9a5b-18226766ffe3" providerId="AD" clId="Web-{A645964F-8DF4-ACA1-9B79-192107FCD311}" dt="2024-07-09T19:47:57.592" v="58"/>
          <ac:cxnSpMkLst>
            <pc:docMk/>
            <pc:sldMk cId="1543335860" sldId="1008"/>
            <ac:cxnSpMk id="60" creationId="{16411DE6-FAC6-78DD-6432-78B8BB14B06D}"/>
          </ac:cxnSpMkLst>
        </pc:cxnChg>
        <pc:cxnChg chg="mod">
          <ac:chgData name="Allison Mulshine" userId="S::allison.mulshine@collegiseducation.com::5f656d52-c555-4e5e-9a5b-18226766ffe3" providerId="AD" clId="Web-{A645964F-8DF4-ACA1-9B79-192107FCD311}" dt="2024-07-09T19:47:57.592" v="58"/>
          <ac:cxnSpMkLst>
            <pc:docMk/>
            <pc:sldMk cId="1543335860" sldId="1008"/>
            <ac:cxnSpMk id="67" creationId="{F86C954E-A2EC-F088-73AD-DBD3372D9F9B}"/>
          </ac:cxnSpMkLst>
        </pc:cxnChg>
        <pc:cxnChg chg="mod">
          <ac:chgData name="Allison Mulshine" userId="S::allison.mulshine@collegiseducation.com::5f656d52-c555-4e5e-9a5b-18226766ffe3" providerId="AD" clId="Web-{A645964F-8DF4-ACA1-9B79-192107FCD311}" dt="2024-07-09T19:47:57.592" v="58"/>
          <ac:cxnSpMkLst>
            <pc:docMk/>
            <pc:sldMk cId="1543335860" sldId="1008"/>
            <ac:cxnSpMk id="71" creationId="{669548E2-9924-0739-2987-614AA7039C81}"/>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6875" y="692150"/>
            <a:ext cx="6156325" cy="3463925"/>
          </a:xfrm>
        </p:spPr>
      </p:sp>
      <p:sp>
        <p:nvSpPr>
          <p:cNvPr id="3" name="Notes Placeholder 2"/>
          <p:cNvSpPr>
            <a:spLocks noGrp="1"/>
          </p:cNvSpPr>
          <p:nvPr>
            <p:ph type="body" idx="1"/>
          </p:nvPr>
        </p:nvSpPr>
        <p:spPr/>
        <p:txBody>
          <a:bodyPr>
            <a:normAutofit/>
          </a:bodyPr>
          <a:lstStyle/>
          <a:p>
            <a:r>
              <a:rPr lang="en-US" dirty="0"/>
              <a:t>Show recomputing</a:t>
            </a:r>
          </a:p>
        </p:txBody>
      </p:sp>
      <p:sp>
        <p:nvSpPr>
          <p:cNvPr id="4" name="Slide Number Placeholder 3"/>
          <p:cNvSpPr>
            <a:spLocks noGrp="1"/>
          </p:cNvSpPr>
          <p:nvPr>
            <p:ph type="sldNum" sz="quarter" idx="10"/>
          </p:nvPr>
        </p:nvSpPr>
        <p:spPr/>
        <p:txBody>
          <a:bodyPr/>
          <a:lstStyle/>
          <a:p>
            <a:pPr>
              <a:defRPr/>
            </a:pPr>
            <a:fld id="{1519AE34-0624-8F4B-9FB8-27D0EFDF760C}" type="slidenum">
              <a:rPr lang="en-US" smtClean="0"/>
              <a:pPr>
                <a:defRPr/>
              </a:pPr>
              <a:t>21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A1B2D-91A0-C5A0-A577-CB1060733B0D}"/>
              </a:ext>
            </a:extLst>
          </p:cNvPr>
          <p:cNvSpPr>
            <a:spLocks noGrp="1"/>
          </p:cNvSpPr>
          <p:nvPr>
            <p:ph type="dt" sz="half" idx="10"/>
          </p:nvPr>
        </p:nvSpPr>
        <p:spPr/>
        <p:txBody>
          <a:bodyPr/>
          <a:lstStyle/>
          <a:p>
            <a:fld id="{E251FD5A-47F3-7A42-9DEC-F1C89DC0E539}" type="datetimeFigureOut">
              <a:rPr lang="en-US" smtClean="0"/>
              <a:t>7/9/2024</a:t>
            </a:fld>
            <a:endParaRPr lang="en-US" dirty="0"/>
          </a:p>
        </p:txBody>
      </p:sp>
      <p:sp>
        <p:nvSpPr>
          <p:cNvPr id="3" name="Footer Placeholder 2">
            <a:extLst>
              <a:ext uri="{FF2B5EF4-FFF2-40B4-BE49-F238E27FC236}">
                <a16:creationId xmlns:a16="http://schemas.microsoft.com/office/drawing/2014/main" id="{125DCA34-8EAF-2F4C-A973-971DE3FA740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64203A-6871-B7A0-6812-ECB7856C866B}"/>
              </a:ext>
            </a:extLst>
          </p:cNvPr>
          <p:cNvSpPr>
            <a:spLocks noGrp="1"/>
          </p:cNvSpPr>
          <p:nvPr>
            <p:ph type="sldNum" sz="quarter" idx="12"/>
          </p:nvPr>
        </p:nvSpPr>
        <p:spPr/>
        <p:txBody>
          <a:bodyPr/>
          <a:lstStyle/>
          <a:p>
            <a:fld id="{4443CBA9-CC61-CC46-91C3-2044A25EBE9F}" type="slidenum">
              <a:rPr lang="en-US" smtClean="0"/>
              <a:t>‹#›</a:t>
            </a:fld>
            <a:endParaRPr lang="en-US" dirty="0"/>
          </a:p>
        </p:txBody>
      </p:sp>
    </p:spTree>
    <p:extLst>
      <p:ext uri="{BB962C8B-B14F-4D97-AF65-F5344CB8AC3E}">
        <p14:creationId xmlns:p14="http://schemas.microsoft.com/office/powerpoint/2010/main" val="17236704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p:txBody>
          <a:bodyPr/>
          <a:lstStyle/>
          <a:p>
            <a:r>
              <a:rPr lang="en-US" dirty="0"/>
              <a:t>Module 4: Lesson 3</a:t>
            </a:r>
            <a:br>
              <a:rPr lang="en-US" dirty="0"/>
            </a:br>
            <a:r>
              <a:rPr lang="en-US" dirty="0"/>
              <a:t>Spark Concepts</a:t>
            </a:r>
          </a:p>
        </p:txBody>
      </p:sp>
    </p:spTree>
    <p:custDataLst>
      <p:tags r:id="rId1"/>
    </p:custDataLst>
    <p:extLst>
      <p:ext uri="{BB962C8B-B14F-4D97-AF65-F5344CB8AC3E}">
        <p14:creationId xmlns:p14="http://schemas.microsoft.com/office/powerpoint/2010/main" val="1173786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634EC-29A2-E5C4-1F67-99D5817AFF94}"/>
              </a:ext>
            </a:extLst>
          </p:cNvPr>
          <p:cNvSpPr>
            <a:spLocks noGrp="1"/>
          </p:cNvSpPr>
          <p:nvPr>
            <p:ph type="title"/>
          </p:nvPr>
        </p:nvSpPr>
        <p:spPr/>
        <p:txBody>
          <a:bodyPr/>
          <a:lstStyle/>
          <a:p>
            <a:r>
              <a:rPr lang="en-US" dirty="0"/>
              <a:t>Spark Execution Architecture</a:t>
            </a:r>
          </a:p>
        </p:txBody>
      </p:sp>
      <p:sp>
        <p:nvSpPr>
          <p:cNvPr id="3" name="Content Placeholder 2">
            <a:extLst>
              <a:ext uri="{FF2B5EF4-FFF2-40B4-BE49-F238E27FC236}">
                <a16:creationId xmlns:a16="http://schemas.microsoft.com/office/drawing/2014/main" id="{5C67544D-5DE9-3C16-935B-1371E367CBC0}"/>
              </a:ext>
            </a:extLst>
          </p:cNvPr>
          <p:cNvSpPr>
            <a:spLocks noGrp="1"/>
          </p:cNvSpPr>
          <p:nvPr>
            <p:ph idx="1"/>
          </p:nvPr>
        </p:nvSpPr>
        <p:spPr/>
        <p:txBody>
          <a:bodyPr/>
          <a:lstStyle/>
          <a:p>
            <a:r>
              <a:rPr lang="en-US" dirty="0"/>
              <a:t>Each Spark application runs with its own set of cluster (usually Hadoop) compute and storage resources</a:t>
            </a:r>
          </a:p>
          <a:p>
            <a:r>
              <a:rPr lang="en-US" dirty="0"/>
              <a:t>The Spark framework uses a controller and worker execution architecture </a:t>
            </a:r>
          </a:p>
          <a:p>
            <a:r>
              <a:rPr lang="en-US" dirty="0"/>
              <a:t>This consists of a driver (controller) process which runs on the client or a cluster node and many executor (worker) processes which run on worker nodes across the cluster</a:t>
            </a:r>
          </a:p>
        </p:txBody>
      </p:sp>
    </p:spTree>
    <p:extLst>
      <p:ext uri="{BB962C8B-B14F-4D97-AF65-F5344CB8AC3E}">
        <p14:creationId xmlns:p14="http://schemas.microsoft.com/office/powerpoint/2010/main" val="990534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8DA27-E8FE-6CEC-8557-D1F496B5BE9F}"/>
              </a:ext>
            </a:extLst>
          </p:cNvPr>
          <p:cNvSpPr>
            <a:spLocks noGrp="1"/>
          </p:cNvSpPr>
          <p:nvPr>
            <p:ph type="title"/>
          </p:nvPr>
        </p:nvSpPr>
        <p:spPr/>
        <p:txBody>
          <a:bodyPr/>
          <a:lstStyle/>
          <a:p>
            <a:r>
              <a:rPr lang="en-US" dirty="0"/>
              <a:t>Spark Execution Architecture</a:t>
            </a:r>
          </a:p>
        </p:txBody>
      </p:sp>
      <p:sp>
        <p:nvSpPr>
          <p:cNvPr id="3" name="Content Placeholder 2">
            <a:extLst>
              <a:ext uri="{FF2B5EF4-FFF2-40B4-BE49-F238E27FC236}">
                <a16:creationId xmlns:a16="http://schemas.microsoft.com/office/drawing/2014/main" id="{15DCABE3-9A34-D92A-2438-E97DC891634D}"/>
              </a:ext>
            </a:extLst>
          </p:cNvPr>
          <p:cNvSpPr>
            <a:spLocks noGrp="1"/>
          </p:cNvSpPr>
          <p:nvPr>
            <p:ph idx="1"/>
          </p:nvPr>
        </p:nvSpPr>
        <p:spPr>
          <a:xfrm>
            <a:off x="1098550" y="2050698"/>
            <a:ext cx="7349711" cy="7630015"/>
          </a:xfrm>
        </p:spPr>
        <p:txBody>
          <a:bodyPr/>
          <a:lstStyle/>
          <a:p>
            <a:pPr marL="0" indent="0">
              <a:buNone/>
            </a:pPr>
            <a:r>
              <a:rPr lang="en-US" sz="2400" b="1" dirty="0"/>
              <a:t>Driver Program</a:t>
            </a:r>
          </a:p>
          <a:p>
            <a:pPr marL="698500" lvl="1" indent="0">
              <a:buNone/>
            </a:pPr>
            <a:r>
              <a:rPr lang="en-US" sz="2400" dirty="0"/>
              <a:t>Coordinates execution of the Spark app </a:t>
            </a:r>
          </a:p>
          <a:p>
            <a:pPr marL="0" indent="0">
              <a:spcBef>
                <a:spcPts val="3000"/>
              </a:spcBef>
              <a:buNone/>
            </a:pPr>
            <a:r>
              <a:rPr lang="en-US" sz="2400" b="1" dirty="0"/>
              <a:t>Executors</a:t>
            </a:r>
          </a:p>
          <a:p>
            <a:pPr marL="698500" lvl="1" indent="0">
              <a:buNone/>
            </a:pPr>
            <a:r>
              <a:rPr lang="en-US" sz="2400" dirty="0"/>
              <a:t>Worker processes for executing tasks in Spark app</a:t>
            </a:r>
          </a:p>
          <a:p>
            <a:pPr marL="0" indent="0">
              <a:spcBef>
                <a:spcPts val="3000"/>
              </a:spcBef>
              <a:buNone/>
            </a:pPr>
            <a:r>
              <a:rPr lang="en-US" sz="2400" b="1" dirty="0"/>
              <a:t>Cluster Manager </a:t>
            </a:r>
          </a:p>
          <a:p>
            <a:pPr marL="698500" lvl="1" indent="0">
              <a:buNone/>
            </a:pPr>
            <a:r>
              <a:rPr lang="en-US" sz="2400" dirty="0"/>
              <a:t>Allocates cluster resources for the Spark app</a:t>
            </a:r>
          </a:p>
          <a:p>
            <a:pPr marL="0" indent="0">
              <a:spcBef>
                <a:spcPts val="3000"/>
              </a:spcBef>
              <a:buNone/>
            </a:pPr>
            <a:r>
              <a:rPr lang="en-US" sz="2400" b="1" dirty="0"/>
              <a:t>SparkSession</a:t>
            </a:r>
          </a:p>
          <a:p>
            <a:pPr marL="698500" lvl="1" indent="0">
              <a:buNone/>
            </a:pPr>
            <a:r>
              <a:rPr lang="en-US" sz="2400" dirty="0"/>
              <a:t>Entry point to Spark functionality for the app, creates logical and physical plan, and sends tasks to the executors</a:t>
            </a:r>
          </a:p>
          <a:p>
            <a:pPr marL="0" indent="0">
              <a:spcBef>
                <a:spcPts val="3000"/>
              </a:spcBef>
              <a:buNone/>
            </a:pPr>
            <a:r>
              <a:rPr lang="en-US" sz="2400" b="1" dirty="0"/>
              <a:t>Tasks</a:t>
            </a:r>
          </a:p>
          <a:p>
            <a:pPr marL="698500" lvl="1" indent="0">
              <a:buNone/>
            </a:pPr>
            <a:r>
              <a:rPr lang="en-US" sz="2400" dirty="0"/>
              <a:t>A unit of computation that can be performed on a single partition of data in parallel</a:t>
            </a:r>
          </a:p>
          <a:p>
            <a:endParaRPr lang="en-US" dirty="0"/>
          </a:p>
        </p:txBody>
      </p:sp>
      <p:pic>
        <p:nvPicPr>
          <p:cNvPr id="9" name="Picture 8" descr="The image illustrates the architecture of a Spark application and how it interacts with the cluster compute and storage resources. Here's a detailed description:&#10;&#10;- **Driver Program**: The main program that controls the execution of the application. It is responsible for creating the SparkSession and coordinating the tasks.&#10;&#10;- **SparkSession**: The entry point to Spark functionality, providing a unified interface for various operations such as reading data, running SQL queries, and interacting with DataFrames.&#10;&#10;- **Cluster Manager**: Manages the resources across the cluster. It assigns tasks to different worker nodes based on resource availability.&#10;&#10;- **Worker Nodes**: The nodes in the cluster where actual data processing occurs. Each worker node contains:&#10;  - **Executor**: A process that runs tasks and keeps data in memory or disk storage.&#10;  - **Cache**: Memory storage for caching data to speed up processing.&#10;  - **Tasks**: Individual units of work that perform data processing. Multiple tasks can run on each worker node.&#10;&#10;The image emphasizes that each Spark application runs with its own set of cluster compute and storage resources, ensuring resource isolation and efficient task execution across the cluster.">
            <a:extLst>
              <a:ext uri="{FF2B5EF4-FFF2-40B4-BE49-F238E27FC236}">
                <a16:creationId xmlns:a16="http://schemas.microsoft.com/office/drawing/2014/main" id="{DAB2B684-CC4C-5D3D-82ED-C3E604E03E0E}"/>
              </a:ext>
            </a:extLst>
          </p:cNvPr>
          <p:cNvPicPr>
            <a:picLocks noChangeAspect="1"/>
          </p:cNvPicPr>
          <p:nvPr/>
        </p:nvPicPr>
        <p:blipFill>
          <a:blip r:embed="rId2"/>
          <a:stretch>
            <a:fillRect/>
          </a:stretch>
        </p:blipFill>
        <p:spPr>
          <a:xfrm>
            <a:off x="9138372" y="2043113"/>
            <a:ext cx="8469456" cy="6782665"/>
          </a:xfrm>
          <a:prstGeom prst="rect">
            <a:avLst/>
          </a:prstGeom>
        </p:spPr>
      </p:pic>
    </p:spTree>
    <p:extLst>
      <p:ext uri="{BB962C8B-B14F-4D97-AF65-F5344CB8AC3E}">
        <p14:creationId xmlns:p14="http://schemas.microsoft.com/office/powerpoint/2010/main" val="2342197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DDE2-68FF-19E7-19AD-728C2BF125C4}"/>
              </a:ext>
            </a:extLst>
          </p:cNvPr>
          <p:cNvSpPr>
            <a:spLocks noGrp="1"/>
          </p:cNvSpPr>
          <p:nvPr>
            <p:ph type="title"/>
          </p:nvPr>
        </p:nvSpPr>
        <p:spPr/>
        <p:txBody>
          <a:bodyPr/>
          <a:lstStyle/>
          <a:p>
            <a:r>
              <a:rPr lang="en-US" dirty="0"/>
              <a:t>Spark Execution Architecture</a:t>
            </a:r>
            <a:br>
              <a:rPr lang="en-US" dirty="0"/>
            </a:br>
            <a:r>
              <a:rPr lang="en-US" sz="4800" dirty="0"/>
              <a:t>Cluster Deploy Mode</a:t>
            </a:r>
            <a:endParaRPr lang="en-US" dirty="0"/>
          </a:p>
        </p:txBody>
      </p:sp>
      <p:pic>
        <p:nvPicPr>
          <p:cNvPr id="15362" name="Picture 2" descr="The image depicts the architecture of a Spark application running on YARN (Yet Another Resource Negotiator). The key components and their interactions are numbered as follows:&#10;&#10;1. **Client**:&#10;   - Submits the application commands to the YARN cluster.&#10;&#10;2. **YARN Resource Manager**:&#10;   - Manages the resources across the YARN cluster.&#10;   - Receives resource requests from the Spark ApplicationMaster and allocates resources accordingly.&#10;&#10;3. **YARN Container**:&#10;   - Hosts the Spark ApplicationMaster, which includes the Spark Driver.&#10;&#10;4. **YARN NodeManager**:&#10;   - Manages the containers on a node.&#10;   - Launches and monitors the containers, reporting their status to the Resource Manager.&#10;   - Hosts multiple YARN Containers, each of which can run a Spark Executor.&#10;&#10;5. **Spark Driver**:&#10;   - Resides within a YARN Container managed by the NodeManager.&#10;   - Coordinates the execution of tasks across the cluster.&#10;   - Communicates with the YARN Resource Manager for resource allocation.&#10;&#10;6. **Spark Executor**:&#10;   - Resides within a YARN Container.&#10;   - Executes the tasks assigned by the Spark Driver.&#10;   - Manages task execution and data storage.&#10;&#10;7. **Spark Task**:&#10;   - The actual unit of work performed by the Spark Executor.&#10;&#10;The process flow is as follows:&#10;- The **Client** submits application commands to the **YARN Resource Manager**.&#10;- The **YARN Resource Manager** allocates resources and launches a **YARN Container** for the **Spark ApplicationMaster** (which contains the **Spark Driver**).&#10;- The **Spark Driver** issues application commands to the **YARN NodeManager**.&#10;- The **YARN NodeManager** launches multiple **YARN Containers**, each running a **Spark Executor**.&#10;- **Spark Executors** perform the tasks as directed by the **Spark Driver**.&#10;&#10;This architecture enables efficient resource management and task execution across a distributed cluster using YARN.">
            <a:extLst>
              <a:ext uri="{FF2B5EF4-FFF2-40B4-BE49-F238E27FC236}">
                <a16:creationId xmlns:a16="http://schemas.microsoft.com/office/drawing/2014/main" id="{AE710191-DD3C-17DB-573D-8BC110201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2887" y="2400299"/>
            <a:ext cx="9629363" cy="59246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EDA3F8-D09E-C3D7-2F62-31164A5C55C9}"/>
              </a:ext>
            </a:extLst>
          </p:cNvPr>
          <p:cNvSpPr txBox="1"/>
          <p:nvPr/>
        </p:nvSpPr>
        <p:spPr>
          <a:xfrm>
            <a:off x="636104" y="2718352"/>
            <a:ext cx="6698974" cy="6001643"/>
          </a:xfrm>
          <a:prstGeom prst="rect">
            <a:avLst/>
          </a:prstGeom>
          <a:noFill/>
        </p:spPr>
        <p:txBody>
          <a:bodyPr wrap="square">
            <a:spAutoFit/>
          </a:bodyPr>
          <a:lstStyle/>
          <a:p>
            <a:pPr marL="685800" indent="-685800">
              <a:buFont typeface="+mj-lt"/>
              <a:buAutoNum type="arabicPeriod"/>
            </a:pPr>
            <a:r>
              <a:rPr lang="en-US" sz="2400" dirty="0"/>
              <a:t>The client (submits a Spark application to YARN</a:t>
            </a:r>
          </a:p>
          <a:p>
            <a:pPr marL="685800" indent="-685800">
              <a:buFont typeface="+mj-lt"/>
              <a:buAutoNum type="arabicPeriod"/>
            </a:pPr>
            <a:endParaRPr lang="en-US" sz="2400" dirty="0"/>
          </a:p>
          <a:p>
            <a:pPr marL="685800" indent="-685800">
              <a:buFont typeface="+mj-lt"/>
              <a:buAutoNum type="arabicPeriod"/>
            </a:pPr>
            <a:r>
              <a:rPr lang="en-US" sz="2400" dirty="0"/>
              <a:t>YARN assigns a Spark Master for the application. The driver process is created on the same node</a:t>
            </a:r>
          </a:p>
          <a:p>
            <a:pPr marL="685800" indent="-685800">
              <a:buFont typeface="+mj-lt"/>
              <a:buAutoNum type="arabicPeriod"/>
            </a:pPr>
            <a:endParaRPr lang="en-US" sz="2400" dirty="0"/>
          </a:p>
          <a:p>
            <a:pPr marL="685800" indent="-685800">
              <a:buFont typeface="+mj-lt"/>
              <a:buAutoNum type="arabicPeriod"/>
            </a:pPr>
            <a:r>
              <a:rPr lang="en-US" sz="2400" dirty="0"/>
              <a:t>The Spark Master requests containers for executors from YARN. The containers are assigned and the executors are spawned.</a:t>
            </a:r>
          </a:p>
          <a:p>
            <a:pPr marL="685800" indent="-685800">
              <a:buFont typeface="+mj-lt"/>
              <a:buAutoNum type="arabicPeriod"/>
            </a:pPr>
            <a:endParaRPr lang="en-US" sz="2400" dirty="0"/>
          </a:p>
          <a:p>
            <a:pPr marL="685800" indent="-685800">
              <a:buFont typeface="+mj-lt"/>
              <a:buAutoNum type="arabicPeriod"/>
            </a:pPr>
            <a:r>
              <a:rPr lang="en-US" sz="2400" dirty="0"/>
              <a:t>The driver then communicates with the executors to execute tasks</a:t>
            </a:r>
          </a:p>
          <a:p>
            <a:pPr marL="685800" indent="-685800">
              <a:buFont typeface="+mj-lt"/>
              <a:buAutoNum type="arabicPeriod"/>
            </a:pPr>
            <a:endParaRPr lang="en-US" sz="2400" dirty="0"/>
          </a:p>
          <a:p>
            <a:pPr marL="685800" indent="-685800">
              <a:buFont typeface="+mj-lt"/>
              <a:buAutoNum type="arabicPeriod"/>
            </a:pPr>
            <a:r>
              <a:rPr lang="en-US" sz="2400" dirty="0"/>
              <a:t>The driver returns progress, results, and status to the client</a:t>
            </a:r>
          </a:p>
        </p:txBody>
      </p:sp>
      <p:sp>
        <p:nvSpPr>
          <p:cNvPr id="6" name="Oval 5">
            <a:extLst>
              <a:ext uri="{FF2B5EF4-FFF2-40B4-BE49-F238E27FC236}">
                <a16:creationId xmlns:a16="http://schemas.microsoft.com/office/drawing/2014/main" id="{7AACB43A-4F7C-B07E-1ACE-3BEB492F03FC}"/>
              </a:ext>
            </a:extLst>
          </p:cNvPr>
          <p:cNvSpPr>
            <a:spLocks noChangeAspect="1"/>
          </p:cNvSpPr>
          <p:nvPr/>
        </p:nvSpPr>
        <p:spPr>
          <a:xfrm>
            <a:off x="8348867" y="2459933"/>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1</a:t>
            </a:r>
          </a:p>
        </p:txBody>
      </p:sp>
      <p:sp>
        <p:nvSpPr>
          <p:cNvPr id="7" name="Oval 6">
            <a:extLst>
              <a:ext uri="{FF2B5EF4-FFF2-40B4-BE49-F238E27FC236}">
                <a16:creationId xmlns:a16="http://schemas.microsoft.com/office/drawing/2014/main" id="{587E8DC3-76B6-3E3D-BBF0-1D93C9A6AB59}"/>
              </a:ext>
            </a:extLst>
          </p:cNvPr>
          <p:cNvSpPr>
            <a:spLocks noChangeAspect="1"/>
          </p:cNvSpPr>
          <p:nvPr/>
        </p:nvSpPr>
        <p:spPr>
          <a:xfrm>
            <a:off x="15697199" y="2339668"/>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2</a:t>
            </a:r>
          </a:p>
        </p:txBody>
      </p:sp>
      <p:sp>
        <p:nvSpPr>
          <p:cNvPr id="8" name="Oval 7">
            <a:extLst>
              <a:ext uri="{FF2B5EF4-FFF2-40B4-BE49-F238E27FC236}">
                <a16:creationId xmlns:a16="http://schemas.microsoft.com/office/drawing/2014/main" id="{D6409F74-DC2B-5E8E-631A-90F868DF6479}"/>
              </a:ext>
            </a:extLst>
          </p:cNvPr>
          <p:cNvSpPr>
            <a:spLocks noChangeAspect="1"/>
          </p:cNvSpPr>
          <p:nvPr/>
        </p:nvSpPr>
        <p:spPr>
          <a:xfrm>
            <a:off x="11533529" y="1952122"/>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3</a:t>
            </a:r>
          </a:p>
        </p:txBody>
      </p:sp>
      <p:sp>
        <p:nvSpPr>
          <p:cNvPr id="9" name="Oval 8">
            <a:extLst>
              <a:ext uri="{FF2B5EF4-FFF2-40B4-BE49-F238E27FC236}">
                <a16:creationId xmlns:a16="http://schemas.microsoft.com/office/drawing/2014/main" id="{7062C518-A0D7-3964-3618-02BBFE769E44}"/>
              </a:ext>
            </a:extLst>
          </p:cNvPr>
          <p:cNvSpPr>
            <a:spLocks noChangeAspect="1"/>
          </p:cNvSpPr>
          <p:nvPr/>
        </p:nvSpPr>
        <p:spPr>
          <a:xfrm>
            <a:off x="11701668" y="4580282"/>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4</a:t>
            </a:r>
          </a:p>
        </p:txBody>
      </p:sp>
      <p:sp>
        <p:nvSpPr>
          <p:cNvPr id="10" name="Oval 9">
            <a:extLst>
              <a:ext uri="{FF2B5EF4-FFF2-40B4-BE49-F238E27FC236}">
                <a16:creationId xmlns:a16="http://schemas.microsoft.com/office/drawing/2014/main" id="{CD3780EC-83D8-8ED7-3A88-3938936D2BA5}"/>
              </a:ext>
            </a:extLst>
          </p:cNvPr>
          <p:cNvSpPr>
            <a:spLocks noChangeAspect="1"/>
          </p:cNvSpPr>
          <p:nvPr/>
        </p:nvSpPr>
        <p:spPr>
          <a:xfrm>
            <a:off x="12189509" y="1952186"/>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5</a:t>
            </a:r>
          </a:p>
        </p:txBody>
      </p:sp>
    </p:spTree>
    <p:extLst>
      <p:ext uri="{BB962C8B-B14F-4D97-AF65-F5344CB8AC3E}">
        <p14:creationId xmlns:p14="http://schemas.microsoft.com/office/powerpoint/2010/main" val="49851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ADDE2-68FF-19E7-19AD-728C2BF125C4}"/>
              </a:ext>
            </a:extLst>
          </p:cNvPr>
          <p:cNvSpPr>
            <a:spLocks noGrp="1"/>
          </p:cNvSpPr>
          <p:nvPr>
            <p:ph type="title"/>
          </p:nvPr>
        </p:nvSpPr>
        <p:spPr/>
        <p:txBody>
          <a:bodyPr/>
          <a:lstStyle/>
          <a:p>
            <a:r>
              <a:rPr lang="en-US" dirty="0"/>
              <a:t>Spark Execution Architecture</a:t>
            </a:r>
            <a:br>
              <a:rPr lang="en-US" dirty="0"/>
            </a:br>
            <a:r>
              <a:rPr lang="en-US" sz="4800" dirty="0"/>
              <a:t>Client Deploy Mode</a:t>
            </a:r>
            <a:endParaRPr lang="en-US" dirty="0"/>
          </a:p>
        </p:txBody>
      </p:sp>
      <p:sp>
        <p:nvSpPr>
          <p:cNvPr id="5" name="TextBox 4">
            <a:extLst>
              <a:ext uri="{FF2B5EF4-FFF2-40B4-BE49-F238E27FC236}">
                <a16:creationId xmlns:a16="http://schemas.microsoft.com/office/drawing/2014/main" id="{ADEDA3F8-D09E-C3D7-2F62-31164A5C55C9}"/>
              </a:ext>
            </a:extLst>
          </p:cNvPr>
          <p:cNvSpPr txBox="1"/>
          <p:nvPr/>
        </p:nvSpPr>
        <p:spPr>
          <a:xfrm>
            <a:off x="636104" y="2718352"/>
            <a:ext cx="6698974" cy="6370975"/>
          </a:xfrm>
          <a:prstGeom prst="rect">
            <a:avLst/>
          </a:prstGeom>
          <a:noFill/>
        </p:spPr>
        <p:txBody>
          <a:bodyPr wrap="square">
            <a:spAutoFit/>
          </a:bodyPr>
          <a:lstStyle/>
          <a:p>
            <a:pPr marL="685800" indent="-685800">
              <a:buFont typeface="+mj-lt"/>
              <a:buAutoNum type="arabicPeriod"/>
            </a:pPr>
            <a:r>
              <a:rPr lang="en-US" sz="2400" dirty="0"/>
              <a:t>The client submits a Spark application to YARN. The driver process is created and runs on the client.</a:t>
            </a:r>
          </a:p>
          <a:p>
            <a:pPr marL="685800" indent="-685800">
              <a:buFont typeface="+mj-lt"/>
              <a:buAutoNum type="arabicPeriod"/>
            </a:pPr>
            <a:endParaRPr lang="en-US" sz="2400" dirty="0"/>
          </a:p>
          <a:p>
            <a:pPr marL="685800" indent="-685800">
              <a:buFont typeface="+mj-lt"/>
              <a:buAutoNum type="arabicPeriod"/>
            </a:pPr>
            <a:r>
              <a:rPr lang="en-US" sz="2400" dirty="0"/>
              <a:t>YARN assigns Spark master for the application</a:t>
            </a:r>
          </a:p>
          <a:p>
            <a:pPr marL="685800" indent="-685800">
              <a:buFont typeface="+mj-lt"/>
              <a:buAutoNum type="arabicPeriod"/>
            </a:pPr>
            <a:endParaRPr lang="en-US" sz="2400" dirty="0"/>
          </a:p>
          <a:p>
            <a:pPr marL="685800" indent="-685800">
              <a:buFont typeface="+mj-lt"/>
              <a:buAutoNum type="arabicPeriod"/>
            </a:pPr>
            <a:r>
              <a:rPr lang="en-US" sz="2400" dirty="0"/>
              <a:t>The Spark master requests containers for executors from YARN. The containers are assigned and the executors are spawned.</a:t>
            </a:r>
          </a:p>
          <a:p>
            <a:pPr marL="685800" indent="-685800">
              <a:buFont typeface="+mj-lt"/>
              <a:buAutoNum type="arabicPeriod"/>
            </a:pPr>
            <a:endParaRPr lang="en-US" sz="2400" dirty="0"/>
          </a:p>
          <a:p>
            <a:pPr marL="685800" indent="-685800">
              <a:buFont typeface="+mj-lt"/>
              <a:buAutoNum type="arabicPeriod"/>
            </a:pPr>
            <a:r>
              <a:rPr lang="en-US" sz="2400" dirty="0"/>
              <a:t>The driver (located on the client) then communicates with the executors execute tasks.</a:t>
            </a:r>
          </a:p>
          <a:p>
            <a:r>
              <a:rPr lang="en-US" sz="2400" dirty="0"/>
              <a:t> </a:t>
            </a:r>
          </a:p>
          <a:p>
            <a:pPr marL="685800" indent="-685800">
              <a:buFont typeface="+mj-lt"/>
              <a:buAutoNum type="arabicPeriod" startAt="5"/>
            </a:pPr>
            <a:r>
              <a:rPr lang="en-US" sz="2400" dirty="0"/>
              <a:t>The driver returns progress, results, and status to the client.</a:t>
            </a:r>
          </a:p>
        </p:txBody>
      </p:sp>
      <p:pic>
        <p:nvPicPr>
          <p:cNvPr id="18434" name="Picture 2" descr="The image provides a detailed view of how a Spark application runs on a YARN cluster. The key components and their interactions are numbered as follows:&#10;&#10;1. **Client Application**:&#10;   - Submits the Spark application to the cluster.&#10;&#10;2. **YARN Resource Manager**:&#10;   - Manages the resources across the YARN cluster.&#10;   - Receives resource requests from the Spark ApplicationMaster and allocates resources accordingly.&#10;&#10;3. **YARN Container**:&#10;   - Hosts the Spark ApplicationMaster, which manages the application lifecycle.&#10;&#10;4. **YARN NodeManager**:&#10;   - Manages containers on each node.&#10;   - Launches and monitors containers, reporting their status to the Resource Manager.&#10;   - Hosts multiple YARN Containers, each running a Spark Executor.&#10;&#10;5. **Spark Driver**:&#10;   - Resides within the Client Application.&#10;   - Coordinates the execution of tasks across the cluster.&#10;   - Communicates with the YARN Resource Manager for resource allocation.&#10;&#10;The process flow is as follows:&#10;- The **Client Application** with the **Spark Driver** submits application commands to the **YARN Resource Manager**.&#10;- The **YARN Resource Manager** allocates resources and launches a **YARN Container** for the **Spark ApplicationMaster**.&#10;- The **Spark ApplicationMaster** requests resources from the **YARN Resource Manager** and issues application commands to the **YARN NodeManager**.&#10;- The **YARN NodeManager** launches multiple **YARN Containers**, each running a **Spark Executor**.&#10;- **Spark Executors** execute the tasks as directed by the **Spark Driver**.&#10;&#10;This architecture demonstrates the interaction between the client, resource manager, node managers, and executors to efficiently manage and execute Spark tasks in a distributed environment.">
            <a:extLst>
              <a:ext uri="{FF2B5EF4-FFF2-40B4-BE49-F238E27FC236}">
                <a16:creationId xmlns:a16="http://schemas.microsoft.com/office/drawing/2014/main" id="{7DD67380-F330-4F74-40B2-6CA8C51F81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1790" y="2554452"/>
            <a:ext cx="10042939" cy="5796211"/>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D3ECD754-F91D-0085-AFC3-336D0703A9A8}"/>
              </a:ext>
            </a:extLst>
          </p:cNvPr>
          <p:cNvSpPr>
            <a:spLocks noChangeAspect="1"/>
          </p:cNvSpPr>
          <p:nvPr/>
        </p:nvSpPr>
        <p:spPr>
          <a:xfrm>
            <a:off x="8328991" y="2241271"/>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1</a:t>
            </a:r>
          </a:p>
        </p:txBody>
      </p:sp>
      <p:sp>
        <p:nvSpPr>
          <p:cNvPr id="4" name="Oval 3">
            <a:extLst>
              <a:ext uri="{FF2B5EF4-FFF2-40B4-BE49-F238E27FC236}">
                <a16:creationId xmlns:a16="http://schemas.microsoft.com/office/drawing/2014/main" id="{0651AE24-5E17-546E-3D1A-7336D84AACD7}"/>
              </a:ext>
            </a:extLst>
          </p:cNvPr>
          <p:cNvSpPr>
            <a:spLocks noChangeAspect="1"/>
          </p:cNvSpPr>
          <p:nvPr/>
        </p:nvSpPr>
        <p:spPr>
          <a:xfrm>
            <a:off x="16214035" y="2240277"/>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2</a:t>
            </a:r>
          </a:p>
        </p:txBody>
      </p:sp>
      <p:sp>
        <p:nvSpPr>
          <p:cNvPr id="6" name="Oval 5">
            <a:extLst>
              <a:ext uri="{FF2B5EF4-FFF2-40B4-BE49-F238E27FC236}">
                <a16:creationId xmlns:a16="http://schemas.microsoft.com/office/drawing/2014/main" id="{DDB18FEB-DEC5-D8BA-1569-59FD14C11EB8}"/>
              </a:ext>
            </a:extLst>
          </p:cNvPr>
          <p:cNvSpPr>
            <a:spLocks noChangeAspect="1"/>
          </p:cNvSpPr>
          <p:nvPr/>
        </p:nvSpPr>
        <p:spPr>
          <a:xfrm>
            <a:off x="12328659" y="2190663"/>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3</a:t>
            </a:r>
          </a:p>
        </p:txBody>
      </p:sp>
      <p:sp>
        <p:nvSpPr>
          <p:cNvPr id="7" name="Oval 6">
            <a:extLst>
              <a:ext uri="{FF2B5EF4-FFF2-40B4-BE49-F238E27FC236}">
                <a16:creationId xmlns:a16="http://schemas.microsoft.com/office/drawing/2014/main" id="{8D481100-A9F7-8D7D-A83D-EF0742136FCD}"/>
              </a:ext>
            </a:extLst>
          </p:cNvPr>
          <p:cNvSpPr>
            <a:spLocks noChangeAspect="1"/>
          </p:cNvSpPr>
          <p:nvPr/>
        </p:nvSpPr>
        <p:spPr>
          <a:xfrm>
            <a:off x="12149756" y="4436905"/>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4</a:t>
            </a:r>
          </a:p>
        </p:txBody>
      </p:sp>
      <p:sp>
        <p:nvSpPr>
          <p:cNvPr id="8" name="Oval 7">
            <a:extLst>
              <a:ext uri="{FF2B5EF4-FFF2-40B4-BE49-F238E27FC236}">
                <a16:creationId xmlns:a16="http://schemas.microsoft.com/office/drawing/2014/main" id="{C77C53BB-614A-0422-9208-4296D90B3B02}"/>
              </a:ext>
            </a:extLst>
          </p:cNvPr>
          <p:cNvSpPr>
            <a:spLocks noChangeAspect="1"/>
          </p:cNvSpPr>
          <p:nvPr/>
        </p:nvSpPr>
        <p:spPr>
          <a:xfrm>
            <a:off x="8969231" y="2230483"/>
            <a:ext cx="548640" cy="5486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5</a:t>
            </a:r>
          </a:p>
        </p:txBody>
      </p:sp>
    </p:spTree>
    <p:extLst>
      <p:ext uri="{BB962C8B-B14F-4D97-AF65-F5344CB8AC3E}">
        <p14:creationId xmlns:p14="http://schemas.microsoft.com/office/powerpoint/2010/main" val="2337918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2BBF-C43F-6895-650B-AF59E1995C85}"/>
              </a:ext>
            </a:extLst>
          </p:cNvPr>
          <p:cNvSpPr>
            <a:spLocks noGrp="1"/>
          </p:cNvSpPr>
          <p:nvPr>
            <p:ph type="title"/>
          </p:nvPr>
        </p:nvSpPr>
        <p:spPr/>
        <p:txBody>
          <a:bodyPr/>
          <a:lstStyle/>
          <a:p>
            <a:r>
              <a:rPr lang="en-US" dirty="0"/>
              <a:t>Data Representation</a:t>
            </a:r>
          </a:p>
        </p:txBody>
      </p:sp>
      <p:sp>
        <p:nvSpPr>
          <p:cNvPr id="3" name="Content Placeholder 2">
            <a:extLst>
              <a:ext uri="{FF2B5EF4-FFF2-40B4-BE49-F238E27FC236}">
                <a16:creationId xmlns:a16="http://schemas.microsoft.com/office/drawing/2014/main" id="{6A7B34C8-05E6-5575-0CD8-F2F1A90EBC67}"/>
              </a:ext>
            </a:extLst>
          </p:cNvPr>
          <p:cNvSpPr>
            <a:spLocks noGrp="1"/>
          </p:cNvSpPr>
          <p:nvPr>
            <p:ph idx="1"/>
          </p:nvPr>
        </p:nvSpPr>
        <p:spPr/>
        <p:txBody>
          <a:bodyPr/>
          <a:lstStyle/>
          <a:p>
            <a:r>
              <a:rPr lang="en-US" dirty="0"/>
              <a:t>Spark has several core abstractions</a:t>
            </a:r>
          </a:p>
          <a:p>
            <a:pPr lvl="1"/>
            <a:r>
              <a:rPr lang="en-US" dirty="0"/>
              <a:t>Datasets</a:t>
            </a:r>
          </a:p>
          <a:p>
            <a:pPr lvl="1"/>
            <a:r>
              <a:rPr lang="en-US" dirty="0"/>
              <a:t>DataFrames</a:t>
            </a:r>
          </a:p>
          <a:p>
            <a:pPr lvl="1"/>
            <a:r>
              <a:rPr lang="en-US" dirty="0"/>
              <a:t>SQL Views</a:t>
            </a:r>
          </a:p>
          <a:p>
            <a:pPr lvl="1"/>
            <a:r>
              <a:rPr lang="en-US" dirty="0"/>
              <a:t>Resilient Distributed Datasets (RDDs)</a:t>
            </a:r>
          </a:p>
          <a:p>
            <a:r>
              <a:rPr lang="en-US" dirty="0"/>
              <a:t>These abstractions all represent distributed collections of data however they have different interfaces for working with that data</a:t>
            </a:r>
          </a:p>
        </p:txBody>
      </p:sp>
    </p:spTree>
    <p:extLst>
      <p:ext uri="{BB962C8B-B14F-4D97-AF65-F5344CB8AC3E}">
        <p14:creationId xmlns:p14="http://schemas.microsoft.com/office/powerpoint/2010/main" val="560760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Resilient Distributed Datasets (RDD)</a:t>
            </a:r>
            <a:br>
              <a:rPr lang="en-US" dirty="0"/>
            </a:br>
            <a:r>
              <a:rPr lang="en-US" sz="4000" dirty="0"/>
              <a:t>A distributed collection of data organized into a sequence of elements</a:t>
            </a:r>
            <a:endParaRPr lang="en-US" dirty="0"/>
          </a:p>
        </p:txBody>
      </p:sp>
      <p:sp>
        <p:nvSpPr>
          <p:cNvPr id="3" name="Content Placeholder 2"/>
          <p:cNvSpPr>
            <a:spLocks noGrp="1"/>
          </p:cNvSpPr>
          <p:nvPr>
            <p:ph idx="1"/>
          </p:nvPr>
        </p:nvSpPr>
        <p:spPr/>
        <p:txBody>
          <a:bodyPr/>
          <a:lstStyle/>
          <a:p>
            <a:r>
              <a:rPr lang="en-US" dirty="0"/>
              <a:t>Spark’s core abstraction for working with data, is the resilient distributed dataset (RDD)</a:t>
            </a:r>
          </a:p>
          <a:p>
            <a:r>
              <a:rPr lang="en-US" dirty="0"/>
              <a:t>An RDD is simply a distributed collection of elements with no internal structure imposed on them by Spark</a:t>
            </a:r>
          </a:p>
          <a:p>
            <a:r>
              <a:rPr lang="en-US" dirty="0"/>
              <a:t>Work is expressed as either creating new RDDs, transforming existing RDDs, or calling operations on RDDs to compute a result</a:t>
            </a:r>
          </a:p>
          <a:p>
            <a:r>
              <a:rPr lang="en-US" dirty="0"/>
              <a:t>Under the hood, Spark automatically distributes the data contained in RDDs across your cluster and parallelizes the operations you perform on them</a:t>
            </a:r>
          </a:p>
        </p:txBody>
      </p:sp>
    </p:spTree>
    <p:extLst>
      <p:ext uri="{BB962C8B-B14F-4D97-AF65-F5344CB8AC3E}">
        <p14:creationId xmlns:p14="http://schemas.microsoft.com/office/powerpoint/2010/main" val="65118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Resilient Distributed Datasets (RDD)</a:t>
            </a:r>
          </a:p>
        </p:txBody>
      </p:sp>
      <p:sp>
        <p:nvSpPr>
          <p:cNvPr id="3" name="Content Placeholder 2"/>
          <p:cNvSpPr>
            <a:spLocks noGrp="1"/>
          </p:cNvSpPr>
          <p:nvPr>
            <p:ph idx="1"/>
          </p:nvPr>
        </p:nvSpPr>
        <p:spPr/>
        <p:txBody>
          <a:bodyPr/>
          <a:lstStyle/>
          <a:p>
            <a:pPr fontAlgn="base"/>
            <a:r>
              <a:rPr lang="en-US" dirty="0"/>
              <a:t>An RDD in Spark is simply an immutable distributed collection of records (elements)</a:t>
            </a:r>
          </a:p>
          <a:p>
            <a:pPr fontAlgn="base"/>
            <a:r>
              <a:rPr lang="en-US" dirty="0"/>
              <a:t>Each RDD is split into multiple </a:t>
            </a:r>
            <a:r>
              <a:rPr lang="en-US" i="1" dirty="0"/>
              <a:t>partitions</a:t>
            </a:r>
            <a:r>
              <a:rPr lang="en-US" dirty="0"/>
              <a:t>, which may be computed on different nodes of the cluster</a:t>
            </a:r>
          </a:p>
          <a:p>
            <a:pPr fontAlgn="base"/>
            <a:r>
              <a:rPr lang="en-US" dirty="0"/>
              <a:t>RDDs can contain any type of Python, Java, or Scala objects, including user-defined classes</a:t>
            </a:r>
          </a:p>
        </p:txBody>
      </p:sp>
    </p:spTree>
    <p:extLst>
      <p:ext uri="{BB962C8B-B14F-4D97-AF65-F5344CB8AC3E}">
        <p14:creationId xmlns:p14="http://schemas.microsoft.com/office/powerpoint/2010/main" val="78901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B8C8D-37FA-4345-8C04-532A855813B7}"/>
              </a:ext>
            </a:extLst>
          </p:cNvPr>
          <p:cNvSpPr>
            <a:spLocks noGrp="1"/>
          </p:cNvSpPr>
          <p:nvPr>
            <p:ph type="title"/>
          </p:nvPr>
        </p:nvSpPr>
        <p:spPr/>
        <p:txBody>
          <a:bodyPr>
            <a:normAutofit/>
          </a:bodyPr>
          <a:lstStyle/>
          <a:p>
            <a:r>
              <a:rPr lang="en-US" dirty="0"/>
              <a:t>RDD and Partitions </a:t>
            </a:r>
          </a:p>
        </p:txBody>
      </p:sp>
      <p:pic>
        <p:nvPicPr>
          <p:cNvPr id="5" name="Picture 4" descr="The image depicts the partitioning and distribution of data across a Spark cluster. Here’s a detailed explanation:&#10;&#10;- **Data Source**: The origin of the data being processed.&#10;&#10;- **RDD 1**: &#10;  - The data is loaded from the data source into a Resilient Distributed Dataset (RDD).&#10;  - RDD 1 is divided into four partitions (Partition 1, Partition 2, Partition 3, and Partition 4).&#10;  - These partitions are distributed across the cluster nodes for parallel processing.&#10;&#10;- **Cluster Nodes**:&#10;  - The green boxes represent the nodes in the cluster.&#10;  - Each partition from RDD 1 is assigned to different nodes in the cluster, allowing for distributed and parallel processing of data.&#10;&#10;- **RDD 2**:&#10;  - Another RDD is loaded from a different data source or as a result of a transformation on RDD 1.&#10;  - RDD 2 is divided into three partitions (Partition 1, Partition 2, and Partition 3).&#10;  - These partitions are also distributed across the cluster nodes for processing.&#10;&#10;This partitioning mechanism enables Spark to efficiently handle large datasets by splitting them into smaller chunks and processing them in parallel across multiple nodes in the cluster.">
            <a:extLst>
              <a:ext uri="{FF2B5EF4-FFF2-40B4-BE49-F238E27FC236}">
                <a16:creationId xmlns:a16="http://schemas.microsoft.com/office/drawing/2014/main" id="{AC6BBD59-A9C1-6E4F-B790-25B2A4F269D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397126" y="2173060"/>
            <a:ext cx="13487400" cy="5940879"/>
          </a:xfrm>
          <a:prstGeom prst="rect">
            <a:avLst/>
          </a:prstGeom>
        </p:spPr>
      </p:pic>
      <p:sp>
        <p:nvSpPr>
          <p:cNvPr id="3" name="Rectangle 2">
            <a:extLst>
              <a:ext uri="{FF2B5EF4-FFF2-40B4-BE49-F238E27FC236}">
                <a16:creationId xmlns:a16="http://schemas.microsoft.com/office/drawing/2014/main" id="{25E2AF1E-437E-31BA-751A-CD9A9AD511F9}"/>
              </a:ext>
            </a:extLst>
          </p:cNvPr>
          <p:cNvSpPr/>
          <p:nvPr/>
        </p:nvSpPr>
        <p:spPr>
          <a:xfrm>
            <a:off x="1275798" y="20982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dirty="0">
                <a:solidFill>
                  <a:schemeClr val="bg2"/>
                </a:solidFill>
              </a:rPr>
              <a:t>Data Source</a:t>
            </a:r>
          </a:p>
        </p:txBody>
      </p:sp>
      <p:sp>
        <p:nvSpPr>
          <p:cNvPr id="4" name="Rectangle 3">
            <a:extLst>
              <a:ext uri="{FF2B5EF4-FFF2-40B4-BE49-F238E27FC236}">
                <a16:creationId xmlns:a16="http://schemas.microsoft.com/office/drawing/2014/main" id="{E2EDA899-0EAB-F4D7-0A97-363025F7910C}"/>
              </a:ext>
            </a:extLst>
          </p:cNvPr>
          <p:cNvSpPr/>
          <p:nvPr/>
        </p:nvSpPr>
        <p:spPr>
          <a:xfrm>
            <a:off x="1300923" y="6631443"/>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400" dirty="0">
                <a:solidFill>
                  <a:schemeClr val="bg2"/>
                </a:solidFill>
              </a:rPr>
              <a:t>Data Source</a:t>
            </a:r>
          </a:p>
        </p:txBody>
      </p:sp>
      <p:sp>
        <p:nvSpPr>
          <p:cNvPr id="6" name="Right Arrow 5">
            <a:extLst>
              <a:ext uri="{FF2B5EF4-FFF2-40B4-BE49-F238E27FC236}">
                <a16:creationId xmlns:a16="http://schemas.microsoft.com/office/drawing/2014/main" id="{CC65BAFA-1668-D24B-6E91-245122A7910E}"/>
              </a:ext>
            </a:extLst>
          </p:cNvPr>
          <p:cNvSpPr/>
          <p:nvPr/>
        </p:nvSpPr>
        <p:spPr>
          <a:xfrm>
            <a:off x="2914650" y="2476500"/>
            <a:ext cx="723900" cy="32385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EB3C210-69DF-C6D9-7228-5AE4428F9E2F}"/>
              </a:ext>
            </a:extLst>
          </p:cNvPr>
          <p:cNvSpPr txBox="1"/>
          <p:nvPr/>
        </p:nvSpPr>
        <p:spPr>
          <a:xfrm>
            <a:off x="2914650" y="1977415"/>
            <a:ext cx="768159" cy="461665"/>
          </a:xfrm>
          <a:prstGeom prst="rect">
            <a:avLst/>
          </a:prstGeom>
          <a:noFill/>
        </p:spPr>
        <p:txBody>
          <a:bodyPr wrap="none" rtlCol="0">
            <a:spAutoFit/>
          </a:bodyPr>
          <a:lstStyle/>
          <a:p>
            <a:r>
              <a:rPr lang="en-US" sz="2400" dirty="0"/>
              <a:t>load</a:t>
            </a:r>
          </a:p>
        </p:txBody>
      </p:sp>
      <p:sp>
        <p:nvSpPr>
          <p:cNvPr id="8" name="Right Arrow 7">
            <a:extLst>
              <a:ext uri="{FF2B5EF4-FFF2-40B4-BE49-F238E27FC236}">
                <a16:creationId xmlns:a16="http://schemas.microsoft.com/office/drawing/2014/main" id="{98677BC5-1D32-079E-CE8B-4C916C71C455}"/>
              </a:ext>
            </a:extLst>
          </p:cNvPr>
          <p:cNvSpPr/>
          <p:nvPr/>
        </p:nvSpPr>
        <p:spPr>
          <a:xfrm>
            <a:off x="2874396" y="7095148"/>
            <a:ext cx="1828800" cy="32385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BDE491C-E6E5-0013-0831-EF19C3876F6D}"/>
              </a:ext>
            </a:extLst>
          </p:cNvPr>
          <p:cNvSpPr txBox="1"/>
          <p:nvPr/>
        </p:nvSpPr>
        <p:spPr>
          <a:xfrm>
            <a:off x="3255396" y="6596063"/>
            <a:ext cx="768159" cy="461665"/>
          </a:xfrm>
          <a:prstGeom prst="rect">
            <a:avLst/>
          </a:prstGeom>
          <a:noFill/>
        </p:spPr>
        <p:txBody>
          <a:bodyPr wrap="none" rtlCol="0">
            <a:spAutoFit/>
          </a:bodyPr>
          <a:lstStyle/>
          <a:p>
            <a:r>
              <a:rPr lang="en-US" sz="2400" dirty="0"/>
              <a:t>load</a:t>
            </a:r>
          </a:p>
        </p:txBody>
      </p:sp>
    </p:spTree>
    <p:extLst>
      <p:ext uri="{BB962C8B-B14F-4D97-AF65-F5344CB8AC3E}">
        <p14:creationId xmlns:p14="http://schemas.microsoft.com/office/powerpoint/2010/main" val="2712405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Resilient Distributed Datasets (RDD)</a:t>
            </a:r>
          </a:p>
        </p:txBody>
      </p:sp>
      <p:sp>
        <p:nvSpPr>
          <p:cNvPr id="3" name="Content Placeholder 2"/>
          <p:cNvSpPr>
            <a:spLocks noGrp="1"/>
          </p:cNvSpPr>
          <p:nvPr>
            <p:ph idx="1"/>
          </p:nvPr>
        </p:nvSpPr>
        <p:spPr/>
        <p:txBody>
          <a:bodyPr>
            <a:normAutofit fontScale="77500" lnSpcReduction="20000"/>
          </a:bodyPr>
          <a:lstStyle/>
          <a:p>
            <a:r>
              <a:rPr lang="en-US" dirty="0"/>
              <a:t>As one of the initial intended uses for Spark was to support machine learning, Spark’s RDDs provided a form of shared memory that could make efficient reuse of data for iterative operations</a:t>
            </a:r>
          </a:p>
          <a:p>
            <a:r>
              <a:rPr lang="en-US" dirty="0"/>
              <a:t>One of the main downsides of Hadoop’s implementation of MapReduce was its persistence of intermediate data to disk and the copying of this data between nodes at runtime</a:t>
            </a:r>
          </a:p>
          <a:p>
            <a:r>
              <a:rPr lang="en-US" dirty="0"/>
              <a:t>This distributed processing method of sharing data did provide resiliency and fault tolerance but it was at the cost of latency</a:t>
            </a:r>
          </a:p>
          <a:p>
            <a:r>
              <a:rPr lang="en-US" dirty="0"/>
              <a:t>As data volumes increased along with the necessity for real-time data processing and insights…</a:t>
            </a:r>
          </a:p>
          <a:p>
            <a:r>
              <a:rPr lang="en-US" dirty="0"/>
              <a:t>Spark’s (mainly) in-memory processing framework based on the RDD has grown in popularity</a:t>
            </a:r>
          </a:p>
          <a:p>
            <a:endParaRPr lang="en-US" dirty="0"/>
          </a:p>
        </p:txBody>
      </p:sp>
    </p:spTree>
    <p:extLst>
      <p:ext uri="{BB962C8B-B14F-4D97-AF65-F5344CB8AC3E}">
        <p14:creationId xmlns:p14="http://schemas.microsoft.com/office/powerpoint/2010/main" val="2594386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MapReduce</a:t>
            </a:r>
            <a:br>
              <a:rPr lang="en-US" dirty="0"/>
            </a:br>
            <a:r>
              <a:rPr lang="en-US" sz="4650" dirty="0"/>
              <a:t>File Based Processing</a:t>
            </a:r>
            <a:endParaRPr lang="en-US" dirty="0"/>
          </a:p>
        </p:txBody>
      </p:sp>
      <p:pic>
        <p:nvPicPr>
          <p:cNvPr id="4" name="Picture 3" descr="The image illustrates the MapReduce process in a Hadoop framework, showing how data flows between different components. Here's a detailed description:&#10;&#10;1. **HDFS (Hadoop Distributed File System)**:&#10;   - Serves as the storage layer where data is initially stored and where the final output is saved.&#10;&#10;2. **Map Phase**:&#10;   - The first step in the MapReduce process.&#10;   - The data from HDFS is read and processed by the map function, which generates intermediate key-value pairs.&#10;   - This phase is distributed across multiple nodes, each running a map task in parallel.&#10;&#10;3. **Local File System**:&#10;   - The intermediate data generated by the map tasks is temporarily stored in the local file system of each node.&#10;   - This helps in organizing and managing the data before it is shuffled to the reduce phase.&#10;&#10;4. **Reduce Phase**:&#10;   - The second step in the MapReduce process.&#10;   - The intermediate data from the local file system is read and processed by the reduce function.&#10;   - This phase combines and aggregates the key-value pairs to generate the final output.&#10;   - The output from the reduce tasks is then written back to HDFS.&#10;&#10;The MapReduce process involves reading data from HDFS, processing it in parallel through the map and reduce phases, using the local file system for intermediate storage, and finally writing the results back to HDFS. This framework enables efficient and scalable data processing across a distributed cluster.">
            <a:extLst>
              <a:ext uri="{FF2B5EF4-FFF2-40B4-BE49-F238E27FC236}">
                <a16:creationId xmlns:a16="http://schemas.microsoft.com/office/drawing/2014/main" id="{7491E498-AD91-EDA8-4CF0-527961069E61}"/>
              </a:ext>
            </a:extLst>
          </p:cNvPr>
          <p:cNvPicPr>
            <a:picLocks noChangeAspect="1"/>
          </p:cNvPicPr>
          <p:nvPr/>
        </p:nvPicPr>
        <p:blipFill>
          <a:blip r:embed="rId2"/>
          <a:stretch>
            <a:fillRect/>
          </a:stretch>
        </p:blipFill>
        <p:spPr>
          <a:xfrm>
            <a:off x="1477241" y="2562225"/>
            <a:ext cx="14647718" cy="5931477"/>
          </a:xfrm>
          <a:prstGeom prst="rect">
            <a:avLst/>
          </a:prstGeom>
        </p:spPr>
      </p:pic>
    </p:spTree>
    <p:extLst>
      <p:ext uri="{BB962C8B-B14F-4D97-AF65-F5344CB8AC3E}">
        <p14:creationId xmlns:p14="http://schemas.microsoft.com/office/powerpoint/2010/main" val="4191419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D785B-C516-3A48-9FFA-BD6AF2962EF5}"/>
              </a:ext>
            </a:extLst>
          </p:cNvPr>
          <p:cNvSpPr>
            <a:spLocks noGrp="1"/>
          </p:cNvSpPr>
          <p:nvPr>
            <p:ph type="title"/>
          </p:nvPr>
        </p:nvSpPr>
        <p:spPr/>
        <p:txBody>
          <a:bodyPr/>
          <a:lstStyle/>
          <a:p>
            <a:r>
              <a:rPr lang="en-US" dirty="0"/>
              <a:t>Data Sharing is Slow in MapReduce</a:t>
            </a:r>
          </a:p>
        </p:txBody>
      </p:sp>
      <p:sp>
        <p:nvSpPr>
          <p:cNvPr id="3" name="Content Placeholder 2">
            <a:extLst>
              <a:ext uri="{FF2B5EF4-FFF2-40B4-BE49-F238E27FC236}">
                <a16:creationId xmlns:a16="http://schemas.microsoft.com/office/drawing/2014/main" id="{4E802C4B-5852-E741-82AF-E154CD4D47A1}"/>
              </a:ext>
            </a:extLst>
          </p:cNvPr>
          <p:cNvSpPr>
            <a:spLocks noGrp="1"/>
          </p:cNvSpPr>
          <p:nvPr>
            <p:ph idx="1"/>
          </p:nvPr>
        </p:nvSpPr>
        <p:spPr/>
        <p:txBody>
          <a:bodyPr>
            <a:normAutofit/>
          </a:bodyPr>
          <a:lstStyle/>
          <a:p>
            <a:r>
              <a:rPr lang="en-US" dirty="0"/>
              <a:t>The only way to reuse data between two MapReduce jobs is to write it to an external storage system (ex: HDFS, S3, etc.)</a:t>
            </a:r>
          </a:p>
          <a:p>
            <a:r>
              <a:rPr lang="en-US" dirty="0"/>
              <a:t>So… Data sharing is slow in MapReduce due to overhead of </a:t>
            </a:r>
            <a:r>
              <a:rPr lang="en-US" b="1" dirty="0"/>
              <a:t>replication</a:t>
            </a:r>
            <a:r>
              <a:rPr lang="en-US" dirty="0"/>
              <a:t>, </a:t>
            </a:r>
            <a:r>
              <a:rPr lang="en-US" b="1" dirty="0"/>
              <a:t>serialization</a:t>
            </a:r>
            <a:r>
              <a:rPr lang="en-US" dirty="0"/>
              <a:t>, and </a:t>
            </a:r>
            <a:r>
              <a:rPr lang="en-US" b="1" dirty="0"/>
              <a:t>disk IO</a:t>
            </a:r>
          </a:p>
          <a:p>
            <a:r>
              <a:rPr lang="en-US" dirty="0"/>
              <a:t>Most of the Hadoop applications spend more than 90% of the time doing HDFS read-write operations</a:t>
            </a:r>
          </a:p>
          <a:p>
            <a:endParaRPr lang="en-US" dirty="0"/>
          </a:p>
        </p:txBody>
      </p:sp>
    </p:spTree>
    <p:extLst>
      <p:ext uri="{BB962C8B-B14F-4D97-AF65-F5344CB8AC3E}">
        <p14:creationId xmlns:p14="http://schemas.microsoft.com/office/powerpoint/2010/main" val="3029611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Spark</a:t>
            </a:r>
            <a:br>
              <a:rPr lang="en-US" dirty="0"/>
            </a:br>
            <a:r>
              <a:rPr lang="en-US" sz="4650" dirty="0"/>
              <a:t>Adaptive (In Memory and File Based Processing)  </a:t>
            </a:r>
          </a:p>
        </p:txBody>
      </p:sp>
      <p:pic>
        <p:nvPicPr>
          <p:cNvPr id="4" name="Picture 3" descr="The image illustrates a multi-stage data processing workflow in a distributed computing environment, such as Apache Spark, showing how data flows through different stages and utilizes memory and storage resources. Here’s a detailed description:&#10;&#10;1. **HDFS (Hadoop Distributed File System)**:&#10;   - Serves as the initial and final storage layer where data is read from and written to.&#10;&#10;2. **Stage 1 to Stage 4**:&#10;   - Represents different stages of the data processing workflow.&#10;   - Each stage processes the data and passes the output to the next stage.&#10;&#10;3. **RAM**:&#10;   - Intermediate data from each stage is held in RAM for fast access and processing.&#10;   - This in-memory storage speeds up the computation as compared to disk-based storage.&#10;&#10;4. **Local File System**:&#10;   - Acts as a temporary storage layer for intermediate data.&#10;   - Used when data cannot fit into RAM or needs to be persisted for fault tolerance.&#10;   &#10;5. **Iteration**:&#10;   - Some stages may involve iterative processing, where data is repeatedly processed through the same or different stages until a condition is met.&#10;   - The iteration in Stage 3 indicates this repeated processing.&#10;&#10;This architecture shows the use of both in-memory (RAM) and disk-based (Local File System) storage for intermediate data to optimize processing speed and ensure fault tolerance. The stages represent different phases of data processing, and the iterative loop signifies the repeated computations often required in machine learning and other complex data processing tasks.">
            <a:extLst>
              <a:ext uri="{FF2B5EF4-FFF2-40B4-BE49-F238E27FC236}">
                <a16:creationId xmlns:a16="http://schemas.microsoft.com/office/drawing/2014/main" id="{5EE77609-FAA5-77EE-3817-DCB38533C10C}"/>
              </a:ext>
            </a:extLst>
          </p:cNvPr>
          <p:cNvPicPr>
            <a:picLocks noChangeAspect="1"/>
          </p:cNvPicPr>
          <p:nvPr/>
        </p:nvPicPr>
        <p:blipFill>
          <a:blip r:embed="rId2"/>
          <a:stretch>
            <a:fillRect/>
          </a:stretch>
        </p:blipFill>
        <p:spPr>
          <a:xfrm>
            <a:off x="3192175" y="2575648"/>
            <a:ext cx="11924434" cy="6216361"/>
          </a:xfrm>
          <a:prstGeom prst="rect">
            <a:avLst/>
          </a:prstGeom>
        </p:spPr>
      </p:pic>
    </p:spTree>
    <p:extLst>
      <p:ext uri="{BB962C8B-B14F-4D97-AF65-F5344CB8AC3E}">
        <p14:creationId xmlns:p14="http://schemas.microsoft.com/office/powerpoint/2010/main" val="3590241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D785B-C516-3A48-9FFA-BD6AF2962EF5}"/>
              </a:ext>
            </a:extLst>
          </p:cNvPr>
          <p:cNvSpPr>
            <a:spLocks noGrp="1"/>
          </p:cNvSpPr>
          <p:nvPr>
            <p:ph type="title"/>
          </p:nvPr>
        </p:nvSpPr>
        <p:spPr/>
        <p:txBody>
          <a:bodyPr/>
          <a:lstStyle/>
          <a:p>
            <a:r>
              <a:rPr lang="en-US" dirty="0"/>
              <a:t>Data Sharing is Faster in Spark</a:t>
            </a:r>
          </a:p>
        </p:txBody>
      </p:sp>
      <p:sp>
        <p:nvSpPr>
          <p:cNvPr id="3" name="Content Placeholder 2">
            <a:extLst>
              <a:ext uri="{FF2B5EF4-FFF2-40B4-BE49-F238E27FC236}">
                <a16:creationId xmlns:a16="http://schemas.microsoft.com/office/drawing/2014/main" id="{4E802C4B-5852-E741-82AF-E154CD4D47A1}"/>
              </a:ext>
            </a:extLst>
          </p:cNvPr>
          <p:cNvSpPr>
            <a:spLocks noGrp="1"/>
          </p:cNvSpPr>
          <p:nvPr>
            <p:ph idx="1"/>
          </p:nvPr>
        </p:nvSpPr>
        <p:spPr/>
        <p:txBody>
          <a:bodyPr>
            <a:normAutofit/>
          </a:bodyPr>
          <a:lstStyle/>
          <a:p>
            <a:r>
              <a:rPr lang="en-US" dirty="0"/>
              <a:t>Spark can store intermediate results in a distributed memory instead of stable storage (HDFS) and make the system faster</a:t>
            </a:r>
          </a:p>
          <a:p>
            <a:r>
              <a:rPr lang="en-US" b="1" dirty="0"/>
              <a:t>Note</a:t>
            </a:r>
            <a:r>
              <a:rPr lang="en-US" dirty="0"/>
              <a:t>: If memory is insufficient to store all the intermediate results, then it will store those results on the disk </a:t>
            </a:r>
          </a:p>
          <a:p>
            <a:endParaRPr lang="en-US" dirty="0"/>
          </a:p>
        </p:txBody>
      </p:sp>
    </p:spTree>
    <p:extLst>
      <p:ext uri="{BB962C8B-B14F-4D97-AF65-F5344CB8AC3E}">
        <p14:creationId xmlns:p14="http://schemas.microsoft.com/office/powerpoint/2010/main" val="13349006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46A60-36F5-B141-BC1C-80AA53519A99}"/>
              </a:ext>
            </a:extLst>
          </p:cNvPr>
          <p:cNvSpPr>
            <a:spLocks noGrp="1"/>
          </p:cNvSpPr>
          <p:nvPr>
            <p:ph type="title"/>
          </p:nvPr>
        </p:nvSpPr>
        <p:spPr/>
        <p:txBody>
          <a:bodyPr>
            <a:noAutofit/>
          </a:bodyPr>
          <a:lstStyle/>
          <a:p>
            <a:r>
              <a:rPr lang="en-US" sz="4800" dirty="0"/>
              <a:t>Iterative Algorithms: Spark vs MapReduce </a:t>
            </a:r>
          </a:p>
        </p:txBody>
      </p:sp>
      <p:pic>
        <p:nvPicPr>
          <p:cNvPr id="5" name="Picture 4" descr="The image compares the performance of Apache Spark and Hadoop MapReduce (Hadoop MR) for two different tasks: K-means Clustering and Logistic Regression. Here is a detailed description:&#10;&#10;1. **K-means Clustering**:&#10;   - The bar chart shows the time taken by both Spark and Hadoop MR to perform K-means Clustering.&#10;   - Spark (in red) takes 4.1 seconds.&#10;   - Hadoop MR (in blue) takes 121 seconds.&#10;   - Spark performs significantly faster than Hadoop MR for K-means Clustering.&#10;&#10;2. **Logistic Regression**:&#10;   - The bar chart shows the time taken by both Spark and Hadoop MR to perform Logistic Regression.&#10;   - Spark (in red) takes 0.96 seconds.&#10;   - Hadoop MR (in blue) takes 80 seconds.&#10;   - Again, Spark performs significantly faster than Hadoop MR for Logistic Regression.&#10;&#10;These comparisons highlight the performance advantage of Spark over Hadoop MapReduce for these machine learning tasks, showing that Spark can complete these tasks in a fraction of the time taken by Hadoop MR.">
            <a:extLst>
              <a:ext uri="{FF2B5EF4-FFF2-40B4-BE49-F238E27FC236}">
                <a16:creationId xmlns:a16="http://schemas.microsoft.com/office/drawing/2014/main" id="{6C7DBE89-5586-A744-9A98-661022ABDA0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539448" y="2015224"/>
            <a:ext cx="12801600" cy="6915086"/>
          </a:xfrm>
          <a:prstGeom prst="rect">
            <a:avLst/>
          </a:prstGeom>
        </p:spPr>
      </p:pic>
    </p:spTree>
    <p:extLst>
      <p:ext uri="{BB962C8B-B14F-4D97-AF65-F5344CB8AC3E}">
        <p14:creationId xmlns:p14="http://schemas.microsoft.com/office/powerpoint/2010/main" val="4170419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Resilient Distributed Dataset (RDD)</a:t>
            </a:r>
          </a:p>
        </p:txBody>
      </p:sp>
      <p:sp>
        <p:nvSpPr>
          <p:cNvPr id="3" name="Content Placeholder 2"/>
          <p:cNvSpPr>
            <a:spLocks noGrp="1"/>
          </p:cNvSpPr>
          <p:nvPr>
            <p:ph idx="1"/>
          </p:nvPr>
        </p:nvSpPr>
        <p:spPr/>
        <p:txBody>
          <a:bodyPr>
            <a:normAutofit fontScale="85000" lnSpcReduction="20000"/>
          </a:bodyPr>
          <a:lstStyle/>
          <a:p>
            <a:r>
              <a:rPr lang="en-US" dirty="0"/>
              <a:t>The term </a:t>
            </a:r>
            <a:r>
              <a:rPr lang="en-US" i="1" dirty="0"/>
              <a:t>Resilient Distributed Dataset</a:t>
            </a:r>
            <a:r>
              <a:rPr lang="en-US" dirty="0"/>
              <a:t> is an accurate and succinct descriptor for the concept. Here’s how it breaks down:</a:t>
            </a:r>
          </a:p>
          <a:p>
            <a:r>
              <a:rPr lang="en-US" dirty="0"/>
              <a:t> </a:t>
            </a:r>
            <a:r>
              <a:rPr lang="en-US" b="1" dirty="0"/>
              <a:t>Resilient</a:t>
            </a:r>
          </a:p>
          <a:p>
            <a:pPr lvl="1"/>
            <a:r>
              <a:rPr lang="en-US" dirty="0"/>
              <a:t>RDDs are </a:t>
            </a:r>
            <a:r>
              <a:rPr lang="en-US" i="1" dirty="0"/>
              <a:t>resilient,</a:t>
            </a:r>
            <a:r>
              <a:rPr lang="en-US" dirty="0"/>
              <a:t> meaning that if a node performing an operation in Spark is lost, the dataset can be reconstructed</a:t>
            </a:r>
          </a:p>
          <a:p>
            <a:pPr lvl="1"/>
            <a:r>
              <a:rPr lang="en-US" dirty="0"/>
              <a:t>This is because Spark knows the </a:t>
            </a:r>
            <a:r>
              <a:rPr lang="en-US" i="1" dirty="0"/>
              <a:t>lineage</a:t>
            </a:r>
            <a:r>
              <a:rPr lang="en-US" dirty="0"/>
              <a:t> of each RDD, which is the sequence of steps to create the RDD.</a:t>
            </a:r>
          </a:p>
          <a:p>
            <a:r>
              <a:rPr lang="en-US" dirty="0"/>
              <a:t> </a:t>
            </a:r>
            <a:r>
              <a:rPr lang="en-US" b="1" dirty="0"/>
              <a:t>Distributed</a:t>
            </a:r>
          </a:p>
          <a:p>
            <a:pPr lvl="1"/>
            <a:r>
              <a:rPr lang="en-US" dirty="0"/>
              <a:t>RDDs are </a:t>
            </a:r>
            <a:r>
              <a:rPr lang="en-US" i="1" dirty="0"/>
              <a:t>distributed,</a:t>
            </a:r>
            <a:r>
              <a:rPr lang="en-US" dirty="0"/>
              <a:t> meaning the data in RDDs is divided into one or more </a:t>
            </a:r>
            <a:r>
              <a:rPr lang="en-US" i="1" dirty="0"/>
              <a:t>partitions</a:t>
            </a:r>
            <a:r>
              <a:rPr lang="en-US" dirty="0"/>
              <a:t> and distributed across worker nodes in the cluster</a:t>
            </a:r>
          </a:p>
          <a:p>
            <a:pPr lvl="1"/>
            <a:r>
              <a:rPr lang="en-US" dirty="0"/>
              <a:t>RDDs provide an effective form of shared memory to exchange data between processes (executors) on different nodes (workers)</a:t>
            </a:r>
          </a:p>
        </p:txBody>
      </p:sp>
    </p:spTree>
    <p:extLst>
      <p:ext uri="{BB962C8B-B14F-4D97-AF65-F5344CB8AC3E}">
        <p14:creationId xmlns:p14="http://schemas.microsoft.com/office/powerpoint/2010/main" val="1135607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Resilient Distributed Dataset (RDD)</a:t>
            </a:r>
          </a:p>
        </p:txBody>
      </p:sp>
      <p:sp>
        <p:nvSpPr>
          <p:cNvPr id="3" name="Content Placeholder 2"/>
          <p:cNvSpPr>
            <a:spLocks noGrp="1"/>
          </p:cNvSpPr>
          <p:nvPr>
            <p:ph idx="1"/>
          </p:nvPr>
        </p:nvSpPr>
        <p:spPr/>
        <p:txBody>
          <a:bodyPr>
            <a:normAutofit fontScale="85000" lnSpcReduction="20000"/>
          </a:bodyPr>
          <a:lstStyle/>
          <a:p>
            <a:r>
              <a:rPr lang="en-US" dirty="0"/>
              <a:t>RDDs are ordered collections of items that consist of records</a:t>
            </a:r>
          </a:p>
          <a:p>
            <a:r>
              <a:rPr lang="en-US" dirty="0"/>
              <a:t>Records are uniquely identifiable sequences of data within a dataset</a:t>
            </a:r>
          </a:p>
          <a:p>
            <a:r>
              <a:rPr lang="en-US" dirty="0"/>
              <a:t>But RDDs do not parse or understand a record’s internal structure</a:t>
            </a:r>
          </a:p>
          <a:p>
            <a:pPr lvl="1"/>
            <a:r>
              <a:rPr lang="en-US" dirty="0"/>
              <a:t>When an RDD is created from a data source Spark does not validate that records of that data source conform to any specific internal format</a:t>
            </a:r>
          </a:p>
          <a:p>
            <a:pPr lvl="1"/>
            <a:r>
              <a:rPr lang="en-US" dirty="0"/>
              <a:t>Rather each RDD record must be parsed and validated as part of a user application</a:t>
            </a:r>
          </a:p>
          <a:p>
            <a:r>
              <a:rPr lang="en-US" dirty="0"/>
              <a:t>Records could be a collection of fields similar to a row in a table in a relational database, a line of text in a file, or multiple other formats</a:t>
            </a:r>
          </a:p>
          <a:p>
            <a:r>
              <a:rPr lang="en-US" dirty="0"/>
              <a:t>RDDs are partitioned such that each partition contains a unique set of records and can be operated on independently</a:t>
            </a:r>
          </a:p>
        </p:txBody>
      </p:sp>
    </p:spTree>
    <p:extLst>
      <p:ext uri="{BB962C8B-B14F-4D97-AF65-F5344CB8AC3E}">
        <p14:creationId xmlns:p14="http://schemas.microsoft.com/office/powerpoint/2010/main" val="671701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Resilient Distributed Datasets (RDD)</a:t>
            </a:r>
          </a:p>
        </p:txBody>
      </p:sp>
      <p:sp>
        <p:nvSpPr>
          <p:cNvPr id="3" name="Content Placeholder 2"/>
          <p:cNvSpPr>
            <a:spLocks noGrp="1"/>
          </p:cNvSpPr>
          <p:nvPr>
            <p:ph idx="1"/>
          </p:nvPr>
        </p:nvSpPr>
        <p:spPr/>
        <p:txBody>
          <a:bodyPr/>
          <a:lstStyle/>
          <a:p>
            <a:r>
              <a:rPr lang="en-US" dirty="0"/>
              <a:t>Another key property of RDDs is their immutability</a:t>
            </a:r>
          </a:p>
          <a:p>
            <a:r>
              <a:rPr lang="en-US" dirty="0"/>
              <a:t>After they are instantiated and populated with data, they cannot be updated</a:t>
            </a:r>
          </a:p>
          <a:p>
            <a:r>
              <a:rPr lang="en-US" dirty="0"/>
              <a:t>Rather, new RDDs are created by performing one or more </a:t>
            </a:r>
            <a:r>
              <a:rPr lang="en-US" i="1" dirty="0"/>
              <a:t>transformations </a:t>
            </a:r>
            <a:r>
              <a:rPr lang="en-US" dirty="0"/>
              <a:t>such as map() or filter() on existing RDDs</a:t>
            </a:r>
          </a:p>
          <a:p>
            <a:endParaRPr lang="en-US" dirty="0"/>
          </a:p>
        </p:txBody>
      </p:sp>
    </p:spTree>
    <p:extLst>
      <p:ext uri="{BB962C8B-B14F-4D97-AF65-F5344CB8AC3E}">
        <p14:creationId xmlns:p14="http://schemas.microsoft.com/office/powerpoint/2010/main" val="679446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Data Locality with RDDs</a:t>
            </a:r>
            <a:endParaRPr lang="en-US" dirty="0"/>
          </a:p>
        </p:txBody>
      </p:sp>
      <p:sp>
        <p:nvSpPr>
          <p:cNvPr id="3" name="Content Placeholder 2"/>
          <p:cNvSpPr>
            <a:spLocks noGrp="1"/>
          </p:cNvSpPr>
          <p:nvPr>
            <p:ph idx="1"/>
          </p:nvPr>
        </p:nvSpPr>
        <p:spPr/>
        <p:txBody>
          <a:bodyPr/>
          <a:lstStyle/>
          <a:p>
            <a:r>
              <a:rPr lang="en-US" dirty="0"/>
              <a:t>By default, Spark tries to read data into an RDD from the nodes that are close to it. </a:t>
            </a:r>
          </a:p>
          <a:p>
            <a:r>
              <a:rPr lang="en-US" dirty="0"/>
              <a:t>As Spark usually accesses distributed partitioned data to optimize transformation operations…</a:t>
            </a:r>
          </a:p>
          <a:p>
            <a:r>
              <a:rPr lang="en-US" dirty="0"/>
              <a:t>It creates partitions to hold the underlying blocks from HDFS</a:t>
            </a:r>
          </a:p>
        </p:txBody>
      </p:sp>
    </p:spTree>
    <p:extLst>
      <p:ext uri="{BB962C8B-B14F-4D97-AF65-F5344CB8AC3E}">
        <p14:creationId xmlns:p14="http://schemas.microsoft.com/office/powerpoint/2010/main" val="2217571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Resilient Distributed Dataset (RDD)</a:t>
            </a:r>
          </a:p>
        </p:txBody>
      </p:sp>
      <p:sp>
        <p:nvSpPr>
          <p:cNvPr id="3" name="Content Placeholder 2"/>
          <p:cNvSpPr>
            <a:spLocks noGrp="1"/>
          </p:cNvSpPr>
          <p:nvPr>
            <p:ph idx="1"/>
          </p:nvPr>
        </p:nvSpPr>
        <p:spPr/>
        <p:txBody>
          <a:bodyPr>
            <a:normAutofit/>
          </a:bodyPr>
          <a:lstStyle/>
          <a:p>
            <a:pPr fontAlgn="base"/>
            <a:r>
              <a:rPr lang="en-US" dirty="0"/>
              <a:t>Because Spark can load data into memory on the worker nodes, many distributed computations can run in a few seconds</a:t>
            </a:r>
          </a:p>
          <a:p>
            <a:pPr lvl="1"/>
            <a:r>
              <a:rPr lang="en-US" dirty="0"/>
              <a:t>This is true even when Spark process terabytes of data across dozens of machines,</a:t>
            </a:r>
          </a:p>
          <a:p>
            <a:pPr fontAlgn="base"/>
            <a:r>
              <a:rPr lang="en-US" dirty="0"/>
              <a:t>This makes the kind of iterative, ad hoc, and exploratory analysis commonly done in shells a good fit for Spark</a:t>
            </a:r>
          </a:p>
        </p:txBody>
      </p:sp>
    </p:spTree>
    <p:extLst>
      <p:ext uri="{BB962C8B-B14F-4D97-AF65-F5344CB8AC3E}">
        <p14:creationId xmlns:p14="http://schemas.microsoft.com/office/powerpoint/2010/main" val="3308837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a:ea typeface="ＭＳ Ｐゴシック" charset="-128"/>
                <a:cs typeface="ＭＳ Ｐゴシック" charset="-128"/>
              </a:rPr>
              <a:t>RDD Fault Tolerance</a:t>
            </a:r>
          </a:p>
        </p:txBody>
      </p:sp>
      <p:sp>
        <p:nvSpPr>
          <p:cNvPr id="3" name="Content Placeholder 2"/>
          <p:cNvSpPr>
            <a:spLocks noGrp="1"/>
          </p:cNvSpPr>
          <p:nvPr>
            <p:ph idx="1"/>
          </p:nvPr>
        </p:nvSpPr>
        <p:spPr>
          <a:xfrm>
            <a:off x="1098550" y="2050699"/>
            <a:ext cx="16084552" cy="2336788"/>
          </a:xfrm>
        </p:spPr>
        <p:txBody>
          <a:bodyPr>
            <a:normAutofit/>
          </a:bodyPr>
          <a:lstStyle/>
          <a:p>
            <a:pPr marL="0" indent="0">
              <a:spcBef>
                <a:spcPts val="2700"/>
              </a:spcBef>
              <a:buNone/>
              <a:defRPr/>
            </a:pPr>
            <a:r>
              <a:rPr lang="en-US" dirty="0">
                <a:ea typeface="ＭＳ Ｐゴシック" charset="-128"/>
                <a:cs typeface="ＭＳ Ｐゴシック" charset="-128"/>
              </a:rPr>
              <a:t>RDDs track the transformations used to build them (their </a:t>
            </a:r>
            <a:r>
              <a:rPr lang="en-US" i="1" dirty="0">
                <a:ea typeface="ＭＳ Ｐゴシック" charset="-128"/>
                <a:cs typeface="ＭＳ Ｐゴシック" charset="-128"/>
              </a:rPr>
              <a:t>lineage</a:t>
            </a:r>
            <a:r>
              <a:rPr lang="en-US" dirty="0">
                <a:ea typeface="ＭＳ Ｐゴシック" charset="-128"/>
                <a:cs typeface="ＭＳ Ｐゴシック" charset="-128"/>
              </a:rPr>
              <a:t>) to recompute lost data</a:t>
            </a:r>
          </a:p>
          <a:p>
            <a:pPr marL="0" indent="0">
              <a:spcBef>
                <a:spcPts val="2700"/>
              </a:spcBef>
              <a:buNone/>
              <a:defRPr/>
            </a:pPr>
            <a:r>
              <a:rPr lang="en-US" dirty="0">
                <a:ea typeface="ＭＳ Ｐゴシック" charset="-128"/>
                <a:cs typeface="ＭＳ Ｐゴシック" charset="-128"/>
              </a:rPr>
              <a:t>E.g.:</a:t>
            </a:r>
          </a:p>
          <a:p>
            <a:pPr marL="0" indent="0">
              <a:spcBef>
                <a:spcPts val="2100"/>
              </a:spcBef>
              <a:buNone/>
              <a:defRPr/>
            </a:pPr>
            <a:endParaRPr lang="en-US" dirty="0">
              <a:ea typeface="ＭＳ Ｐゴシック" charset="-128"/>
              <a:cs typeface="ＭＳ Ｐゴシック" charset="-128"/>
            </a:endParaRPr>
          </a:p>
          <a:p>
            <a:pPr marL="0" indent="0">
              <a:spcBef>
                <a:spcPts val="2100"/>
              </a:spcBef>
              <a:buNone/>
              <a:defRPr/>
            </a:pPr>
            <a:endParaRPr lang="en-US" dirty="0">
              <a:ea typeface="ＭＳ Ｐゴシック" charset="-128"/>
              <a:cs typeface="ＭＳ Ｐゴシック" charset="-128"/>
            </a:endParaRPr>
          </a:p>
        </p:txBody>
      </p:sp>
      <p:pic>
        <p:nvPicPr>
          <p:cNvPr id="4" name="Picture 3" descr="The image demonstrates a transformation pipeline in Apache Spark, showcasing how Resilient Distributed Datasets (RDDs) are created and transformed through a series of operations. Here is a detailed explanation:&#10;&#10;1. **Initial RDD Creation**:&#10;   - The pipeline begins with the creation of an RDD from a text file using the `textFile` method.&#10;   - This RDD is referred to as `HadoopRDD`, indicating that it reads data from HDFS (Hadoop Distributed File System).&#10;&#10;2. **Filter Transformation**:&#10;   - The first transformation applied is a `filter`, which filters out lines that do not contain the string &quot;ERROR&quot;.&#10;   - The filtered RDD is referred to as `FilteredRDD`.&#10;   - The function used in this transformation is `contains`, which checks if each line contains the word &quot;ERROR&quot;.&#10;&#10;3. **Map Transformation**:&#10;   - The next transformation is a `map`, which splits each filtered line by the tab character (`'\t'`) and extracts the third element.&#10;   - This results in a new RDD referred to as `MappedRDD`.&#10;   - The function used in this transformation is `split`, which splits the line and extracts the specified element.&#10;&#10;This sequence of operations illustrates the lazy evaluation model in Spark, where transformations like `filter` and `map` define a lineage of RDDs without immediately executing them. The actual computation is deferred until an action is performed on the RDDs, ensuring efficient optimization and execution.">
            <a:extLst>
              <a:ext uri="{FF2B5EF4-FFF2-40B4-BE49-F238E27FC236}">
                <a16:creationId xmlns:a16="http://schemas.microsoft.com/office/drawing/2014/main" id="{1591378C-6EB3-1EE5-E4A4-A573E27B950E}"/>
              </a:ext>
            </a:extLst>
          </p:cNvPr>
          <p:cNvPicPr>
            <a:picLocks noChangeAspect="1"/>
          </p:cNvPicPr>
          <p:nvPr/>
        </p:nvPicPr>
        <p:blipFill>
          <a:blip r:embed="rId3"/>
          <a:stretch>
            <a:fillRect/>
          </a:stretch>
        </p:blipFill>
        <p:spPr>
          <a:xfrm>
            <a:off x="2863129" y="3727739"/>
            <a:ext cx="12582525" cy="5013613"/>
          </a:xfrm>
          <a:prstGeom prst="rect">
            <a:avLst/>
          </a:prstGeom>
        </p:spPr>
      </p:pic>
    </p:spTree>
    <p:extLst>
      <p:ext uri="{BB962C8B-B14F-4D97-AF65-F5344CB8AC3E}">
        <p14:creationId xmlns:p14="http://schemas.microsoft.com/office/powerpoint/2010/main" val="3430343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62E34-457D-C29D-0844-14EF66904C9F}"/>
              </a:ext>
            </a:extLst>
          </p:cNvPr>
          <p:cNvSpPr>
            <a:spLocks noGrp="1"/>
          </p:cNvSpPr>
          <p:nvPr>
            <p:ph type="title"/>
          </p:nvPr>
        </p:nvSpPr>
        <p:spPr/>
        <p:txBody>
          <a:bodyPr/>
          <a:lstStyle/>
          <a:p>
            <a:r>
              <a:rPr lang="en-US" dirty="0"/>
              <a:t>DataFrame</a:t>
            </a:r>
          </a:p>
        </p:txBody>
      </p:sp>
      <p:sp>
        <p:nvSpPr>
          <p:cNvPr id="3" name="Content Placeholder 2">
            <a:extLst>
              <a:ext uri="{FF2B5EF4-FFF2-40B4-BE49-F238E27FC236}">
                <a16:creationId xmlns:a16="http://schemas.microsoft.com/office/drawing/2014/main" id="{CCE297BA-9265-F319-806D-7EF116E8B82A}"/>
              </a:ext>
            </a:extLst>
          </p:cNvPr>
          <p:cNvSpPr>
            <a:spLocks noGrp="1"/>
          </p:cNvSpPr>
          <p:nvPr>
            <p:ph idx="1"/>
          </p:nvPr>
        </p:nvSpPr>
        <p:spPr/>
        <p:txBody>
          <a:bodyPr/>
          <a:lstStyle/>
          <a:p>
            <a:r>
              <a:rPr lang="en-US" sz="3200" dirty="0"/>
              <a:t>RDDs are part of the Spark core and represent a low-level and direct way of manipulating distributed data using an unstructured format</a:t>
            </a:r>
          </a:p>
          <a:p>
            <a:r>
              <a:rPr lang="en-US" sz="3200" dirty="0"/>
              <a:t>DataFrames extend RDDs for handling structured data using a table-like representation</a:t>
            </a:r>
          </a:p>
          <a:p>
            <a:pPr lvl="1"/>
            <a:r>
              <a:rPr lang="en-US" sz="2800" dirty="0"/>
              <a:t>It is conceptually equivalent to a table in a relational database with rows (records) having columns (attributes)</a:t>
            </a:r>
          </a:p>
          <a:p>
            <a:pPr lvl="1"/>
            <a:r>
              <a:rPr lang="en-US" sz="2800" b="0" i="0" dirty="0">
                <a:solidFill>
                  <a:srgbClr val="1F1F1F"/>
                </a:solidFill>
                <a:effectLst/>
              </a:rPr>
              <a:t>Each DataFrame includes a schema defining the names of columns and their data types</a:t>
            </a:r>
          </a:p>
          <a:p>
            <a:pPr lvl="1"/>
            <a:r>
              <a:rPr lang="en-US" sz="2800" dirty="0">
                <a:solidFill>
                  <a:srgbClr val="1F1F1F"/>
                </a:solidFill>
              </a:rPr>
              <a:t>It is sometimes useful to think of DataFrames as RDDs augmented with an associated schema</a:t>
            </a:r>
            <a:endParaRPr lang="en-US" sz="2800" b="0" i="0" dirty="0">
              <a:solidFill>
                <a:srgbClr val="1F1F1F"/>
              </a:solidFill>
              <a:effectLst/>
            </a:endParaRPr>
          </a:p>
          <a:p>
            <a:r>
              <a:rPr lang="en-US" sz="3200" dirty="0">
                <a:solidFill>
                  <a:srgbClr val="1F1F1F"/>
                </a:solidFill>
                <a:effectLst/>
                <a:ea typeface="Times New Roman" panose="02020603050405020304" pitchFamily="18" charset="0"/>
              </a:rPr>
              <a:t>DataFrames inherit their fault tolerance from underlying RDDs, automatically recovering from lost data or other cluster failures, ensuring resilient data processing</a:t>
            </a:r>
            <a:endParaRPr lang="en-US" sz="3200" dirty="0"/>
          </a:p>
        </p:txBody>
      </p:sp>
    </p:spTree>
    <p:extLst>
      <p:ext uri="{BB962C8B-B14F-4D97-AF65-F5344CB8AC3E}">
        <p14:creationId xmlns:p14="http://schemas.microsoft.com/office/powerpoint/2010/main" val="3652741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ABEA6-39C4-1D75-91BD-517FF5DC2214}"/>
              </a:ext>
            </a:extLst>
          </p:cNvPr>
          <p:cNvSpPr>
            <a:spLocks noGrp="1"/>
          </p:cNvSpPr>
          <p:nvPr>
            <p:ph type="title"/>
          </p:nvPr>
        </p:nvSpPr>
        <p:spPr/>
        <p:txBody>
          <a:bodyPr/>
          <a:lstStyle/>
          <a:p>
            <a:r>
              <a:rPr lang="en-US" dirty="0"/>
              <a:t>DataFrame</a:t>
            </a:r>
            <a:br>
              <a:rPr lang="en-US" dirty="0"/>
            </a:br>
            <a:r>
              <a:rPr lang="en-US" sz="4000" dirty="0"/>
              <a:t>A distributed collection of data organized into named columns</a:t>
            </a:r>
            <a:endParaRPr lang="en-US" dirty="0"/>
          </a:p>
        </p:txBody>
      </p:sp>
      <p:graphicFrame>
        <p:nvGraphicFramePr>
          <p:cNvPr id="12" name="Table 12">
            <a:extLst>
              <a:ext uri="{FF2B5EF4-FFF2-40B4-BE49-F238E27FC236}">
                <a16:creationId xmlns:a16="http://schemas.microsoft.com/office/drawing/2014/main" id="{3B4ED397-68D7-5802-968F-76D9540B7D23}"/>
              </a:ext>
            </a:extLst>
          </p:cNvPr>
          <p:cNvGraphicFramePr>
            <a:graphicFrameLocks noGrp="1"/>
          </p:cNvGraphicFramePr>
          <p:nvPr>
            <p:extLst>
              <p:ext uri="{D42A27DB-BD31-4B8C-83A1-F6EECF244321}">
                <p14:modId xmlns:p14="http://schemas.microsoft.com/office/powerpoint/2010/main" val="2492107704"/>
              </p:ext>
            </p:extLst>
          </p:nvPr>
        </p:nvGraphicFramePr>
        <p:xfrm>
          <a:off x="5846620" y="2135681"/>
          <a:ext cx="9144000" cy="28651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536993570"/>
                    </a:ext>
                  </a:extLst>
                </a:gridCol>
                <a:gridCol w="3048000">
                  <a:extLst>
                    <a:ext uri="{9D8B030D-6E8A-4147-A177-3AD203B41FA5}">
                      <a16:colId xmlns:a16="http://schemas.microsoft.com/office/drawing/2014/main" val="2784730874"/>
                    </a:ext>
                  </a:extLst>
                </a:gridCol>
                <a:gridCol w="3048000">
                  <a:extLst>
                    <a:ext uri="{9D8B030D-6E8A-4147-A177-3AD203B41FA5}">
                      <a16:colId xmlns:a16="http://schemas.microsoft.com/office/drawing/2014/main" val="2862331334"/>
                    </a:ext>
                  </a:extLst>
                </a:gridCol>
              </a:tblGrid>
              <a:tr h="0">
                <a:tc>
                  <a:txBody>
                    <a:bodyPr/>
                    <a:lstStyle/>
                    <a:p>
                      <a:pPr algn="ctr"/>
                      <a:r>
                        <a:rPr lang="en-US" sz="2800" dirty="0">
                          <a:solidFill>
                            <a:schemeClr val="bg2"/>
                          </a:solidFill>
                        </a:rPr>
                        <a:t>mpg</a:t>
                      </a:r>
                    </a:p>
                  </a:txBody>
                  <a:tcPr/>
                </a:tc>
                <a:tc>
                  <a:txBody>
                    <a:bodyPr/>
                    <a:lstStyle/>
                    <a:p>
                      <a:pPr algn="ctr"/>
                      <a:r>
                        <a:rPr lang="en-US" sz="2800" dirty="0">
                          <a:solidFill>
                            <a:schemeClr val="bg2"/>
                          </a:solidFill>
                        </a:rPr>
                        <a:t>horsepower</a:t>
                      </a:r>
                    </a:p>
                  </a:txBody>
                  <a:tcPr/>
                </a:tc>
                <a:tc>
                  <a:txBody>
                    <a:bodyPr/>
                    <a:lstStyle/>
                    <a:p>
                      <a:pPr algn="ctr"/>
                      <a:r>
                        <a:rPr lang="en-US" sz="2800" dirty="0">
                          <a:solidFill>
                            <a:schemeClr val="bg2"/>
                          </a:solidFill>
                        </a:rPr>
                        <a:t>carname</a:t>
                      </a:r>
                    </a:p>
                  </a:txBody>
                  <a:tcPr/>
                </a:tc>
                <a:extLst>
                  <a:ext uri="{0D108BD9-81ED-4DB2-BD59-A6C34878D82A}">
                    <a16:rowId xmlns:a16="http://schemas.microsoft.com/office/drawing/2014/main" val="695417096"/>
                  </a:ext>
                </a:extLst>
              </a:tr>
              <a:tr h="370840">
                <a:tc>
                  <a:txBody>
                    <a:bodyPr/>
                    <a:lstStyle/>
                    <a:p>
                      <a:pPr algn="ctr"/>
                      <a:r>
                        <a:rPr lang="en-US" sz="2800" dirty="0"/>
                        <a:t>integer</a:t>
                      </a:r>
                    </a:p>
                  </a:txBody>
                  <a:tcPr>
                    <a:solidFill>
                      <a:schemeClr val="accent6">
                        <a:lumMod val="20000"/>
                        <a:lumOff val="80000"/>
                      </a:schemeClr>
                    </a:solidFill>
                  </a:tcPr>
                </a:tc>
                <a:tc>
                  <a:txBody>
                    <a:bodyPr/>
                    <a:lstStyle/>
                    <a:p>
                      <a:pPr algn="ctr"/>
                      <a:r>
                        <a:rPr lang="en-US" sz="2800" dirty="0"/>
                        <a:t>double</a:t>
                      </a:r>
                    </a:p>
                  </a:txBody>
                  <a:tcPr>
                    <a:solidFill>
                      <a:schemeClr val="accent6">
                        <a:lumMod val="20000"/>
                        <a:lumOff val="80000"/>
                      </a:schemeClr>
                    </a:solidFill>
                  </a:tcPr>
                </a:tc>
                <a:tc>
                  <a:txBody>
                    <a:bodyPr/>
                    <a:lstStyle/>
                    <a:p>
                      <a:pPr algn="ctr"/>
                      <a:r>
                        <a:rPr lang="en-US" sz="2800" dirty="0"/>
                        <a:t>string</a:t>
                      </a:r>
                    </a:p>
                  </a:txBody>
                  <a:tcPr>
                    <a:solidFill>
                      <a:schemeClr val="accent6">
                        <a:lumMod val="20000"/>
                        <a:lumOff val="80000"/>
                      </a:schemeClr>
                    </a:solidFill>
                  </a:tcPr>
                </a:tc>
                <a:extLst>
                  <a:ext uri="{0D108BD9-81ED-4DB2-BD59-A6C34878D82A}">
                    <a16:rowId xmlns:a16="http://schemas.microsoft.com/office/drawing/2014/main" val="3257747865"/>
                  </a:ext>
                </a:extLst>
              </a:tr>
              <a:tr h="370840">
                <a:tc>
                  <a:txBody>
                    <a:bodyPr/>
                    <a:lstStyle/>
                    <a:p>
                      <a:pPr algn="ctr"/>
                      <a:r>
                        <a:rPr lang="en-US" sz="2400" dirty="0"/>
                        <a:t>20</a:t>
                      </a:r>
                    </a:p>
                  </a:txBody>
                  <a:tcPr/>
                </a:tc>
                <a:tc>
                  <a:txBody>
                    <a:bodyPr/>
                    <a:lstStyle/>
                    <a:p>
                      <a:pPr algn="ctr"/>
                      <a:r>
                        <a:rPr lang="en-US" sz="2400" dirty="0"/>
                        <a:t>180</a:t>
                      </a:r>
                    </a:p>
                  </a:txBody>
                  <a:tcPr/>
                </a:tc>
                <a:tc>
                  <a:txBody>
                    <a:bodyPr/>
                    <a:lstStyle/>
                    <a:p>
                      <a:pPr algn="ctr"/>
                      <a:r>
                        <a:rPr lang="en-US" sz="2400" dirty="0"/>
                        <a:t>mazda</a:t>
                      </a:r>
                    </a:p>
                  </a:txBody>
                  <a:tcPr/>
                </a:tc>
                <a:extLst>
                  <a:ext uri="{0D108BD9-81ED-4DB2-BD59-A6C34878D82A}">
                    <a16:rowId xmlns:a16="http://schemas.microsoft.com/office/drawing/2014/main" val="1661423548"/>
                  </a:ext>
                </a:extLst>
              </a:tr>
              <a:tr h="370840">
                <a:tc>
                  <a:txBody>
                    <a:bodyPr/>
                    <a:lstStyle/>
                    <a:p>
                      <a:pPr algn="ctr"/>
                      <a:r>
                        <a:rPr lang="en-US" sz="2400" dirty="0"/>
                        <a:t>22</a:t>
                      </a:r>
                    </a:p>
                  </a:txBody>
                  <a:tcPr/>
                </a:tc>
                <a:tc>
                  <a:txBody>
                    <a:bodyPr/>
                    <a:lstStyle/>
                    <a:p>
                      <a:pPr algn="ctr"/>
                      <a:r>
                        <a:rPr lang="en-US" sz="2400" dirty="0"/>
                        <a:t>170</a:t>
                      </a:r>
                    </a:p>
                  </a:txBody>
                  <a:tcPr/>
                </a:tc>
                <a:tc>
                  <a:txBody>
                    <a:bodyPr/>
                    <a:lstStyle/>
                    <a:p>
                      <a:pPr algn="ctr"/>
                      <a:r>
                        <a:rPr lang="en-US" sz="2400" dirty="0"/>
                        <a:t>ford</a:t>
                      </a:r>
                    </a:p>
                  </a:txBody>
                  <a:tcPr/>
                </a:tc>
                <a:extLst>
                  <a:ext uri="{0D108BD9-81ED-4DB2-BD59-A6C34878D82A}">
                    <a16:rowId xmlns:a16="http://schemas.microsoft.com/office/drawing/2014/main" val="2940440836"/>
                  </a:ext>
                </a:extLst>
              </a:tr>
              <a:tr h="370840">
                <a:tc>
                  <a:txBody>
                    <a:bodyPr/>
                    <a:lstStyle/>
                    <a:p>
                      <a:pPr algn="ctr"/>
                      <a:r>
                        <a:rPr lang="en-US" sz="2400" dirty="0"/>
                        <a:t>40</a:t>
                      </a:r>
                    </a:p>
                  </a:txBody>
                  <a:tcPr/>
                </a:tc>
                <a:tc>
                  <a:txBody>
                    <a:bodyPr/>
                    <a:lstStyle/>
                    <a:p>
                      <a:pPr algn="ctr"/>
                      <a:r>
                        <a:rPr lang="en-US" sz="2400" dirty="0"/>
                        <a:t>130</a:t>
                      </a:r>
                    </a:p>
                  </a:txBody>
                  <a:tcPr/>
                </a:tc>
                <a:tc>
                  <a:txBody>
                    <a:bodyPr/>
                    <a:lstStyle/>
                    <a:p>
                      <a:pPr algn="ctr"/>
                      <a:r>
                        <a:rPr lang="en-US" sz="2400" dirty="0"/>
                        <a:t>toyota</a:t>
                      </a:r>
                    </a:p>
                  </a:txBody>
                  <a:tcPr/>
                </a:tc>
                <a:extLst>
                  <a:ext uri="{0D108BD9-81ED-4DB2-BD59-A6C34878D82A}">
                    <a16:rowId xmlns:a16="http://schemas.microsoft.com/office/drawing/2014/main" val="4050558514"/>
                  </a:ext>
                </a:extLst>
              </a:tr>
              <a:tr h="370840">
                <a:tc>
                  <a:txBody>
                    <a:bodyPr/>
                    <a:lstStyle/>
                    <a:p>
                      <a:pPr algn="ctr"/>
                      <a:r>
                        <a:rPr lang="en-US" sz="2400" dirty="0"/>
                        <a:t>35</a:t>
                      </a:r>
                    </a:p>
                  </a:txBody>
                  <a:tcPr/>
                </a:tc>
                <a:tc>
                  <a:txBody>
                    <a:bodyPr/>
                    <a:lstStyle/>
                    <a:p>
                      <a:pPr algn="ctr"/>
                      <a:r>
                        <a:rPr lang="en-US" sz="2400" dirty="0"/>
                        <a:t>135</a:t>
                      </a:r>
                    </a:p>
                  </a:txBody>
                  <a:tcPr/>
                </a:tc>
                <a:tc>
                  <a:txBody>
                    <a:bodyPr/>
                    <a:lstStyle/>
                    <a:p>
                      <a:pPr algn="ctr"/>
                      <a:r>
                        <a:rPr lang="en-US" sz="2400" dirty="0"/>
                        <a:t>jeep</a:t>
                      </a:r>
                    </a:p>
                  </a:txBody>
                  <a:tcPr/>
                </a:tc>
                <a:extLst>
                  <a:ext uri="{0D108BD9-81ED-4DB2-BD59-A6C34878D82A}">
                    <a16:rowId xmlns:a16="http://schemas.microsoft.com/office/drawing/2014/main" val="1316304058"/>
                  </a:ext>
                </a:extLst>
              </a:tr>
            </a:tbl>
          </a:graphicData>
        </a:graphic>
      </p:graphicFrame>
      <p:sp>
        <p:nvSpPr>
          <p:cNvPr id="13" name="Right Brace 12">
            <a:extLst>
              <a:ext uri="{FF2B5EF4-FFF2-40B4-BE49-F238E27FC236}">
                <a16:creationId xmlns:a16="http://schemas.microsoft.com/office/drawing/2014/main" id="{8ACED630-2698-B661-EB38-571011B61175}"/>
              </a:ext>
            </a:extLst>
          </p:cNvPr>
          <p:cNvSpPr/>
          <p:nvPr/>
        </p:nvSpPr>
        <p:spPr>
          <a:xfrm rot="10800000" flipH="1">
            <a:off x="15018330" y="2189021"/>
            <a:ext cx="471055" cy="110836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2405353B-19DA-C321-2B0B-1303306E9D0D}"/>
              </a:ext>
            </a:extLst>
          </p:cNvPr>
          <p:cNvSpPr txBox="1"/>
          <p:nvPr/>
        </p:nvSpPr>
        <p:spPr>
          <a:xfrm>
            <a:off x="4153067" y="3928459"/>
            <a:ext cx="1083951" cy="523220"/>
          </a:xfrm>
          <a:prstGeom prst="rect">
            <a:avLst/>
          </a:prstGeom>
          <a:noFill/>
        </p:spPr>
        <p:txBody>
          <a:bodyPr wrap="none" rtlCol="0">
            <a:spAutoFit/>
          </a:bodyPr>
          <a:lstStyle/>
          <a:p>
            <a:r>
              <a:rPr lang="en-US" sz="2800" dirty="0"/>
              <a:t>Rows</a:t>
            </a:r>
          </a:p>
        </p:txBody>
      </p:sp>
      <p:sp>
        <p:nvSpPr>
          <p:cNvPr id="18" name="Right Brace 17">
            <a:extLst>
              <a:ext uri="{FF2B5EF4-FFF2-40B4-BE49-F238E27FC236}">
                <a16:creationId xmlns:a16="http://schemas.microsoft.com/office/drawing/2014/main" id="{850C9381-1FFA-FB1B-DF2A-3E9B47E87D04}"/>
              </a:ext>
            </a:extLst>
          </p:cNvPr>
          <p:cNvSpPr/>
          <p:nvPr/>
        </p:nvSpPr>
        <p:spPr>
          <a:xfrm flipH="1">
            <a:off x="5320146" y="3366653"/>
            <a:ext cx="512627" cy="173736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9" name="TextBox 18">
            <a:extLst>
              <a:ext uri="{FF2B5EF4-FFF2-40B4-BE49-F238E27FC236}">
                <a16:creationId xmlns:a16="http://schemas.microsoft.com/office/drawing/2014/main" id="{8D1A8AC8-2F1B-5861-2E2E-B14A5A66DCE2}"/>
              </a:ext>
            </a:extLst>
          </p:cNvPr>
          <p:cNvSpPr txBox="1"/>
          <p:nvPr/>
        </p:nvSpPr>
        <p:spPr>
          <a:xfrm>
            <a:off x="9654972" y="5926819"/>
            <a:ext cx="1604927" cy="523220"/>
          </a:xfrm>
          <a:prstGeom prst="rect">
            <a:avLst/>
          </a:prstGeom>
          <a:noFill/>
        </p:spPr>
        <p:txBody>
          <a:bodyPr wrap="none" rtlCol="0">
            <a:spAutoFit/>
          </a:bodyPr>
          <a:lstStyle/>
          <a:p>
            <a:r>
              <a:rPr lang="en-US" sz="2800" dirty="0"/>
              <a:t>Columns</a:t>
            </a:r>
          </a:p>
        </p:txBody>
      </p:sp>
      <p:sp>
        <p:nvSpPr>
          <p:cNvPr id="20" name="Right Brace 19">
            <a:extLst>
              <a:ext uri="{FF2B5EF4-FFF2-40B4-BE49-F238E27FC236}">
                <a16:creationId xmlns:a16="http://schemas.microsoft.com/office/drawing/2014/main" id="{1F4FF7E1-77B9-1F63-DE55-FE8A284495BF}"/>
              </a:ext>
            </a:extLst>
          </p:cNvPr>
          <p:cNvSpPr/>
          <p:nvPr/>
        </p:nvSpPr>
        <p:spPr>
          <a:xfrm rot="16200000" flipH="1">
            <a:off x="10121927" y="974998"/>
            <a:ext cx="688845" cy="904854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1" name="TextBox 20">
            <a:extLst>
              <a:ext uri="{FF2B5EF4-FFF2-40B4-BE49-F238E27FC236}">
                <a16:creationId xmlns:a16="http://schemas.microsoft.com/office/drawing/2014/main" id="{0A9AFC46-A298-88FE-A21B-981FBDD340E3}"/>
              </a:ext>
            </a:extLst>
          </p:cNvPr>
          <p:cNvSpPr txBox="1"/>
          <p:nvPr/>
        </p:nvSpPr>
        <p:spPr>
          <a:xfrm>
            <a:off x="15489386" y="2398465"/>
            <a:ext cx="1503938" cy="523220"/>
          </a:xfrm>
          <a:prstGeom prst="rect">
            <a:avLst/>
          </a:prstGeom>
          <a:noFill/>
        </p:spPr>
        <p:txBody>
          <a:bodyPr wrap="none" rtlCol="0">
            <a:spAutoFit/>
          </a:bodyPr>
          <a:lstStyle/>
          <a:p>
            <a:r>
              <a:rPr lang="en-US" sz="2800" dirty="0"/>
              <a:t>Schema</a:t>
            </a:r>
          </a:p>
        </p:txBody>
      </p:sp>
      <p:graphicFrame>
        <p:nvGraphicFramePr>
          <p:cNvPr id="22" name="Table 21">
            <a:extLst>
              <a:ext uri="{FF2B5EF4-FFF2-40B4-BE49-F238E27FC236}">
                <a16:creationId xmlns:a16="http://schemas.microsoft.com/office/drawing/2014/main" id="{3CF4A230-9C15-3B87-4B45-FD96D6C1AF86}"/>
              </a:ext>
            </a:extLst>
          </p:cNvPr>
          <p:cNvGraphicFramePr>
            <a:graphicFrameLocks noGrp="1"/>
          </p:cNvGraphicFramePr>
          <p:nvPr>
            <p:extLst>
              <p:ext uri="{D42A27DB-BD31-4B8C-83A1-F6EECF244321}">
                <p14:modId xmlns:p14="http://schemas.microsoft.com/office/powerpoint/2010/main" val="2335170541"/>
              </p:ext>
            </p:extLst>
          </p:nvPr>
        </p:nvGraphicFramePr>
        <p:xfrm>
          <a:off x="3976265" y="7073434"/>
          <a:ext cx="6042849" cy="1432560"/>
        </p:xfrm>
        <a:graphic>
          <a:graphicData uri="http://schemas.openxmlformats.org/drawingml/2006/table">
            <a:tbl>
              <a:tblPr firstRow="1" bandRow="1">
                <a:tableStyleId>{5C22544A-7EE6-4342-B048-85BDC9FD1C3A}</a:tableStyleId>
              </a:tblPr>
              <a:tblGrid>
                <a:gridCol w="2014283">
                  <a:extLst>
                    <a:ext uri="{9D8B030D-6E8A-4147-A177-3AD203B41FA5}">
                      <a16:colId xmlns:a16="http://schemas.microsoft.com/office/drawing/2014/main" val="2144499523"/>
                    </a:ext>
                  </a:extLst>
                </a:gridCol>
                <a:gridCol w="2014283">
                  <a:extLst>
                    <a:ext uri="{9D8B030D-6E8A-4147-A177-3AD203B41FA5}">
                      <a16:colId xmlns:a16="http://schemas.microsoft.com/office/drawing/2014/main" val="3702030143"/>
                    </a:ext>
                  </a:extLst>
                </a:gridCol>
                <a:gridCol w="2014283">
                  <a:extLst>
                    <a:ext uri="{9D8B030D-6E8A-4147-A177-3AD203B41FA5}">
                      <a16:colId xmlns:a16="http://schemas.microsoft.com/office/drawing/2014/main" val="3356002524"/>
                    </a:ext>
                  </a:extLst>
                </a:gridCol>
              </a:tblGrid>
              <a:tr h="310257">
                <a:tc gridSpan="3">
                  <a:txBody>
                    <a:bodyPr/>
                    <a:lstStyle/>
                    <a:p>
                      <a:pPr algn="ctr"/>
                      <a:r>
                        <a:rPr lang="en-US" sz="2800" dirty="0">
                          <a:solidFill>
                            <a:schemeClr val="bg2"/>
                          </a:solidFill>
                        </a:rPr>
                        <a:t>Partition 1</a:t>
                      </a:r>
                    </a:p>
                  </a:txBody>
                  <a:tcPr/>
                </a:tc>
                <a:tc hMerge="1">
                  <a:txBody>
                    <a:bodyPr/>
                    <a:lstStyle/>
                    <a:p>
                      <a:pPr algn="ctr"/>
                      <a:endParaRPr lang="en-US" sz="3200" dirty="0">
                        <a:solidFill>
                          <a:schemeClr val="bg2"/>
                        </a:solidFill>
                      </a:endParaRPr>
                    </a:p>
                  </a:txBody>
                  <a:tcPr/>
                </a:tc>
                <a:tc hMerge="1">
                  <a:txBody>
                    <a:bodyPr/>
                    <a:lstStyle/>
                    <a:p>
                      <a:pPr algn="ctr"/>
                      <a:endParaRPr lang="en-US" sz="3200" dirty="0">
                        <a:solidFill>
                          <a:schemeClr val="bg2"/>
                        </a:solidFill>
                      </a:endParaRPr>
                    </a:p>
                  </a:txBody>
                  <a:tcPr/>
                </a:tc>
                <a:extLst>
                  <a:ext uri="{0D108BD9-81ED-4DB2-BD59-A6C34878D82A}">
                    <a16:rowId xmlns:a16="http://schemas.microsoft.com/office/drawing/2014/main" val="2658227130"/>
                  </a:ext>
                </a:extLst>
              </a:tr>
              <a:tr h="370840">
                <a:tc>
                  <a:txBody>
                    <a:bodyPr/>
                    <a:lstStyle/>
                    <a:p>
                      <a:pPr algn="ctr"/>
                      <a:r>
                        <a:rPr lang="en-US" sz="2400" dirty="0"/>
                        <a:t>20</a:t>
                      </a:r>
                    </a:p>
                  </a:txBody>
                  <a:tcPr/>
                </a:tc>
                <a:tc>
                  <a:txBody>
                    <a:bodyPr/>
                    <a:lstStyle/>
                    <a:p>
                      <a:pPr algn="ctr"/>
                      <a:r>
                        <a:rPr lang="en-US" sz="2400" dirty="0"/>
                        <a:t>180</a:t>
                      </a:r>
                    </a:p>
                  </a:txBody>
                  <a:tcPr/>
                </a:tc>
                <a:tc>
                  <a:txBody>
                    <a:bodyPr/>
                    <a:lstStyle/>
                    <a:p>
                      <a:pPr algn="ctr"/>
                      <a:r>
                        <a:rPr lang="en-US" sz="2400" dirty="0"/>
                        <a:t>mazda</a:t>
                      </a:r>
                    </a:p>
                  </a:txBody>
                  <a:tcPr/>
                </a:tc>
                <a:extLst>
                  <a:ext uri="{0D108BD9-81ED-4DB2-BD59-A6C34878D82A}">
                    <a16:rowId xmlns:a16="http://schemas.microsoft.com/office/drawing/2014/main" val="4232070858"/>
                  </a:ext>
                </a:extLst>
              </a:tr>
              <a:tr h="370840">
                <a:tc>
                  <a:txBody>
                    <a:bodyPr/>
                    <a:lstStyle/>
                    <a:p>
                      <a:pPr algn="ctr"/>
                      <a:r>
                        <a:rPr lang="en-US" sz="2400" dirty="0"/>
                        <a:t>22</a:t>
                      </a:r>
                    </a:p>
                  </a:txBody>
                  <a:tcPr/>
                </a:tc>
                <a:tc>
                  <a:txBody>
                    <a:bodyPr/>
                    <a:lstStyle/>
                    <a:p>
                      <a:pPr algn="ctr"/>
                      <a:r>
                        <a:rPr lang="en-US" sz="2400" dirty="0"/>
                        <a:t>170</a:t>
                      </a:r>
                    </a:p>
                  </a:txBody>
                  <a:tcPr/>
                </a:tc>
                <a:tc>
                  <a:txBody>
                    <a:bodyPr/>
                    <a:lstStyle/>
                    <a:p>
                      <a:pPr algn="ctr"/>
                      <a:r>
                        <a:rPr lang="en-US" sz="2400" dirty="0"/>
                        <a:t>ford</a:t>
                      </a:r>
                    </a:p>
                  </a:txBody>
                  <a:tcPr/>
                </a:tc>
                <a:extLst>
                  <a:ext uri="{0D108BD9-81ED-4DB2-BD59-A6C34878D82A}">
                    <a16:rowId xmlns:a16="http://schemas.microsoft.com/office/drawing/2014/main" val="3247530939"/>
                  </a:ext>
                </a:extLst>
              </a:tr>
            </a:tbl>
          </a:graphicData>
        </a:graphic>
      </p:graphicFrame>
      <p:graphicFrame>
        <p:nvGraphicFramePr>
          <p:cNvPr id="23" name="Table 22">
            <a:extLst>
              <a:ext uri="{FF2B5EF4-FFF2-40B4-BE49-F238E27FC236}">
                <a16:creationId xmlns:a16="http://schemas.microsoft.com/office/drawing/2014/main" id="{7D506DED-ACE5-4ED8-8362-EFD6DA2E8851}"/>
              </a:ext>
            </a:extLst>
          </p:cNvPr>
          <p:cNvGraphicFramePr>
            <a:graphicFrameLocks noGrp="1"/>
          </p:cNvGraphicFramePr>
          <p:nvPr>
            <p:extLst>
              <p:ext uri="{D42A27DB-BD31-4B8C-83A1-F6EECF244321}">
                <p14:modId xmlns:p14="http://schemas.microsoft.com/office/powerpoint/2010/main" val="2417573382"/>
              </p:ext>
            </p:extLst>
          </p:nvPr>
        </p:nvGraphicFramePr>
        <p:xfrm>
          <a:off x="10861973" y="7073434"/>
          <a:ext cx="6042849" cy="1432560"/>
        </p:xfrm>
        <a:graphic>
          <a:graphicData uri="http://schemas.openxmlformats.org/drawingml/2006/table">
            <a:tbl>
              <a:tblPr firstRow="1" bandRow="1">
                <a:tableStyleId>{5C22544A-7EE6-4342-B048-85BDC9FD1C3A}</a:tableStyleId>
              </a:tblPr>
              <a:tblGrid>
                <a:gridCol w="2014283">
                  <a:extLst>
                    <a:ext uri="{9D8B030D-6E8A-4147-A177-3AD203B41FA5}">
                      <a16:colId xmlns:a16="http://schemas.microsoft.com/office/drawing/2014/main" val="2144499523"/>
                    </a:ext>
                  </a:extLst>
                </a:gridCol>
                <a:gridCol w="2014283">
                  <a:extLst>
                    <a:ext uri="{9D8B030D-6E8A-4147-A177-3AD203B41FA5}">
                      <a16:colId xmlns:a16="http://schemas.microsoft.com/office/drawing/2014/main" val="3702030143"/>
                    </a:ext>
                  </a:extLst>
                </a:gridCol>
                <a:gridCol w="2014283">
                  <a:extLst>
                    <a:ext uri="{9D8B030D-6E8A-4147-A177-3AD203B41FA5}">
                      <a16:colId xmlns:a16="http://schemas.microsoft.com/office/drawing/2014/main" val="3356002524"/>
                    </a:ext>
                  </a:extLst>
                </a:gridCol>
              </a:tblGrid>
              <a:tr h="358058">
                <a:tc gridSpan="3">
                  <a:txBody>
                    <a:bodyPr/>
                    <a:lstStyle/>
                    <a:p>
                      <a:pPr algn="ctr"/>
                      <a:r>
                        <a:rPr lang="en-US" sz="2800" dirty="0">
                          <a:solidFill>
                            <a:schemeClr val="bg2"/>
                          </a:solidFill>
                        </a:rPr>
                        <a:t>Partition 2</a:t>
                      </a:r>
                    </a:p>
                  </a:txBody>
                  <a:tcPr/>
                </a:tc>
                <a:tc hMerge="1">
                  <a:txBody>
                    <a:bodyPr/>
                    <a:lstStyle/>
                    <a:p>
                      <a:pPr algn="ctr"/>
                      <a:endParaRPr lang="en-US" sz="3200" dirty="0">
                        <a:solidFill>
                          <a:schemeClr val="bg2"/>
                        </a:solidFill>
                      </a:endParaRPr>
                    </a:p>
                  </a:txBody>
                  <a:tcPr/>
                </a:tc>
                <a:tc hMerge="1">
                  <a:txBody>
                    <a:bodyPr/>
                    <a:lstStyle/>
                    <a:p>
                      <a:pPr algn="ctr"/>
                      <a:endParaRPr lang="en-US" sz="3200" dirty="0">
                        <a:solidFill>
                          <a:schemeClr val="bg2"/>
                        </a:solidFill>
                      </a:endParaRPr>
                    </a:p>
                  </a:txBody>
                  <a:tcPr/>
                </a:tc>
                <a:extLst>
                  <a:ext uri="{0D108BD9-81ED-4DB2-BD59-A6C34878D82A}">
                    <a16:rowId xmlns:a16="http://schemas.microsoft.com/office/drawing/2014/main" val="2658227130"/>
                  </a:ext>
                </a:extLst>
              </a:tr>
              <a:tr h="370840">
                <a:tc>
                  <a:txBody>
                    <a:bodyPr/>
                    <a:lstStyle/>
                    <a:p>
                      <a:pPr algn="ctr"/>
                      <a:r>
                        <a:rPr lang="en-US" sz="2400" dirty="0"/>
                        <a:t>40</a:t>
                      </a:r>
                    </a:p>
                  </a:txBody>
                  <a:tcPr/>
                </a:tc>
                <a:tc>
                  <a:txBody>
                    <a:bodyPr/>
                    <a:lstStyle/>
                    <a:p>
                      <a:pPr algn="ctr"/>
                      <a:r>
                        <a:rPr lang="en-US" sz="2400" dirty="0"/>
                        <a:t>130</a:t>
                      </a:r>
                    </a:p>
                  </a:txBody>
                  <a:tcPr/>
                </a:tc>
                <a:tc>
                  <a:txBody>
                    <a:bodyPr/>
                    <a:lstStyle/>
                    <a:p>
                      <a:pPr algn="ctr"/>
                      <a:r>
                        <a:rPr lang="en-US" sz="2400" dirty="0"/>
                        <a:t>toyota</a:t>
                      </a:r>
                    </a:p>
                  </a:txBody>
                  <a:tcPr/>
                </a:tc>
                <a:extLst>
                  <a:ext uri="{0D108BD9-81ED-4DB2-BD59-A6C34878D82A}">
                    <a16:rowId xmlns:a16="http://schemas.microsoft.com/office/drawing/2014/main" val="3239744481"/>
                  </a:ext>
                </a:extLst>
              </a:tr>
              <a:tr h="370840">
                <a:tc>
                  <a:txBody>
                    <a:bodyPr/>
                    <a:lstStyle/>
                    <a:p>
                      <a:pPr algn="ctr"/>
                      <a:r>
                        <a:rPr lang="en-US" sz="2400" dirty="0"/>
                        <a:t>35</a:t>
                      </a:r>
                    </a:p>
                  </a:txBody>
                  <a:tcPr/>
                </a:tc>
                <a:tc>
                  <a:txBody>
                    <a:bodyPr/>
                    <a:lstStyle/>
                    <a:p>
                      <a:pPr algn="ctr"/>
                      <a:r>
                        <a:rPr lang="en-US" sz="2400" dirty="0"/>
                        <a:t>135</a:t>
                      </a:r>
                    </a:p>
                  </a:txBody>
                  <a:tcPr/>
                </a:tc>
                <a:tc>
                  <a:txBody>
                    <a:bodyPr/>
                    <a:lstStyle/>
                    <a:p>
                      <a:pPr algn="ctr"/>
                      <a:r>
                        <a:rPr lang="en-US" sz="2400" dirty="0"/>
                        <a:t>jeep</a:t>
                      </a:r>
                    </a:p>
                  </a:txBody>
                  <a:tcPr/>
                </a:tc>
                <a:extLst>
                  <a:ext uri="{0D108BD9-81ED-4DB2-BD59-A6C34878D82A}">
                    <a16:rowId xmlns:a16="http://schemas.microsoft.com/office/drawing/2014/main" val="1029599824"/>
                  </a:ext>
                </a:extLst>
              </a:tr>
            </a:tbl>
          </a:graphicData>
        </a:graphic>
      </p:graphicFrame>
      <p:cxnSp>
        <p:nvCxnSpPr>
          <p:cNvPr id="25" name="Straight Connector 24">
            <a:extLst>
              <a:ext uri="{FF2B5EF4-FFF2-40B4-BE49-F238E27FC236}">
                <a16:creationId xmlns:a16="http://schemas.microsoft.com/office/drawing/2014/main" id="{3FDE6879-9CEF-6561-AEAD-49C40D96D83F}"/>
              </a:ext>
            </a:extLst>
          </p:cNvPr>
          <p:cNvCxnSpPr/>
          <p:nvPr/>
        </p:nvCxnSpPr>
        <p:spPr>
          <a:xfrm>
            <a:off x="1098550" y="6613114"/>
            <a:ext cx="15803995" cy="0"/>
          </a:xfrm>
          <a:prstGeom prst="line">
            <a:avLst/>
          </a:prstGeom>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E33C06D8-239B-5784-DDF3-A7FC63B26227}"/>
              </a:ext>
            </a:extLst>
          </p:cNvPr>
          <p:cNvSpPr txBox="1"/>
          <p:nvPr/>
        </p:nvSpPr>
        <p:spPr>
          <a:xfrm>
            <a:off x="916900" y="3629201"/>
            <a:ext cx="2962671" cy="1077218"/>
          </a:xfrm>
          <a:prstGeom prst="rect">
            <a:avLst/>
          </a:prstGeom>
          <a:noFill/>
        </p:spPr>
        <p:txBody>
          <a:bodyPr wrap="none" rtlCol="0">
            <a:spAutoFit/>
          </a:bodyPr>
          <a:lstStyle/>
          <a:p>
            <a:pPr algn="ctr"/>
            <a:r>
              <a:rPr lang="en-US" sz="3200" dirty="0">
                <a:solidFill>
                  <a:srgbClr val="0070C0"/>
                </a:solidFill>
              </a:rPr>
              <a:t>Logical</a:t>
            </a:r>
          </a:p>
          <a:p>
            <a:pPr algn="ctr"/>
            <a:r>
              <a:rPr lang="en-US" sz="3200" dirty="0">
                <a:solidFill>
                  <a:srgbClr val="0070C0"/>
                </a:solidFill>
              </a:rPr>
              <a:t>Representation</a:t>
            </a:r>
          </a:p>
        </p:txBody>
      </p:sp>
      <p:sp>
        <p:nvSpPr>
          <p:cNvPr id="27" name="TextBox 26">
            <a:extLst>
              <a:ext uri="{FF2B5EF4-FFF2-40B4-BE49-F238E27FC236}">
                <a16:creationId xmlns:a16="http://schemas.microsoft.com/office/drawing/2014/main" id="{AECFB7F2-D696-5CD5-F89D-6E634332EB04}"/>
              </a:ext>
            </a:extLst>
          </p:cNvPr>
          <p:cNvSpPr txBox="1"/>
          <p:nvPr/>
        </p:nvSpPr>
        <p:spPr>
          <a:xfrm>
            <a:off x="916900" y="7243991"/>
            <a:ext cx="2962671" cy="1077218"/>
          </a:xfrm>
          <a:prstGeom prst="rect">
            <a:avLst/>
          </a:prstGeom>
          <a:noFill/>
        </p:spPr>
        <p:txBody>
          <a:bodyPr wrap="none" rtlCol="0">
            <a:spAutoFit/>
          </a:bodyPr>
          <a:lstStyle/>
          <a:p>
            <a:pPr algn="ctr"/>
            <a:r>
              <a:rPr lang="en-US" sz="3200" dirty="0">
                <a:solidFill>
                  <a:srgbClr val="0070C0"/>
                </a:solidFill>
              </a:rPr>
              <a:t>Physical</a:t>
            </a:r>
          </a:p>
          <a:p>
            <a:pPr algn="ctr"/>
            <a:r>
              <a:rPr lang="en-US" sz="3200" dirty="0">
                <a:solidFill>
                  <a:srgbClr val="0070C0"/>
                </a:solidFill>
              </a:rPr>
              <a:t>Representation</a:t>
            </a:r>
            <a:endParaRPr lang="en-US" sz="2800" dirty="0">
              <a:solidFill>
                <a:srgbClr val="0070C0"/>
              </a:solidFill>
            </a:endParaRPr>
          </a:p>
        </p:txBody>
      </p:sp>
      <p:sp>
        <p:nvSpPr>
          <p:cNvPr id="28" name="Down Arrow 27">
            <a:extLst>
              <a:ext uri="{FF2B5EF4-FFF2-40B4-BE49-F238E27FC236}">
                <a16:creationId xmlns:a16="http://schemas.microsoft.com/office/drawing/2014/main" id="{7CA768A3-B427-9592-C49B-F64E599707DC}"/>
              </a:ext>
            </a:extLst>
          </p:cNvPr>
          <p:cNvSpPr/>
          <p:nvPr/>
        </p:nvSpPr>
        <p:spPr>
          <a:xfrm>
            <a:off x="7204364" y="5843693"/>
            <a:ext cx="365760" cy="100584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Down Arrow 28">
            <a:extLst>
              <a:ext uri="{FF2B5EF4-FFF2-40B4-BE49-F238E27FC236}">
                <a16:creationId xmlns:a16="http://schemas.microsoft.com/office/drawing/2014/main" id="{E6EF38C7-27EF-B185-975F-F4B8950716D7}"/>
              </a:ext>
            </a:extLst>
          </p:cNvPr>
          <p:cNvSpPr/>
          <p:nvPr/>
        </p:nvSpPr>
        <p:spPr>
          <a:xfrm>
            <a:off x="13258784" y="5912966"/>
            <a:ext cx="365760" cy="100584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48305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91083-D02B-752B-7BA5-05CC9607FA67}"/>
              </a:ext>
            </a:extLst>
          </p:cNvPr>
          <p:cNvSpPr>
            <a:spLocks noGrp="1"/>
          </p:cNvSpPr>
          <p:nvPr>
            <p:ph type="title"/>
          </p:nvPr>
        </p:nvSpPr>
        <p:spPr/>
        <p:txBody>
          <a:bodyPr/>
          <a:lstStyle/>
          <a:p>
            <a:r>
              <a:rPr lang="en-US" dirty="0"/>
              <a:t>DataFrames</a:t>
            </a:r>
          </a:p>
        </p:txBody>
      </p:sp>
      <p:sp>
        <p:nvSpPr>
          <p:cNvPr id="3" name="Content Placeholder 2">
            <a:extLst>
              <a:ext uri="{FF2B5EF4-FFF2-40B4-BE49-F238E27FC236}">
                <a16:creationId xmlns:a16="http://schemas.microsoft.com/office/drawing/2014/main" id="{877B9196-F030-211C-4786-4CFD0C52BF48}"/>
              </a:ext>
            </a:extLst>
          </p:cNvPr>
          <p:cNvSpPr>
            <a:spLocks noGrp="1"/>
          </p:cNvSpPr>
          <p:nvPr>
            <p:ph idx="1"/>
          </p:nvPr>
        </p:nvSpPr>
        <p:spPr/>
        <p:txBody>
          <a:bodyPr/>
          <a:lstStyle/>
          <a:p>
            <a:r>
              <a:rPr lang="en-US" sz="2800" b="0" i="0" dirty="0">
                <a:solidFill>
                  <a:srgbClr val="000000"/>
                </a:solidFill>
                <a:effectLst/>
              </a:rPr>
              <a:t>DataFrames can be constructed from data sources, such as CSV, Parquet, JSON files, Hive tables, or external databases</a:t>
            </a:r>
            <a:endParaRPr lang="en-US" sz="2800" b="0" i="0" dirty="0">
              <a:solidFill>
                <a:srgbClr val="1F1F1F"/>
              </a:solidFill>
              <a:effectLst/>
            </a:endParaRPr>
          </a:p>
          <a:p>
            <a:r>
              <a:rPr lang="en-US" sz="2800" dirty="0">
                <a:solidFill>
                  <a:srgbClr val="1F1F1F"/>
                </a:solidFill>
                <a:effectLst/>
                <a:ea typeface="Times New Roman" panose="02020603050405020304" pitchFamily="18" charset="0"/>
              </a:rPr>
              <a:t>DataFrames offers a user-friendly, high-level API that supports operations for querying, filtering, and grouping data, simplifying data manipulation</a:t>
            </a:r>
          </a:p>
          <a:p>
            <a:pPr lvl="1"/>
            <a:r>
              <a:rPr lang="en-US" sz="2400" dirty="0">
                <a:solidFill>
                  <a:srgbClr val="1F1F1F"/>
                </a:solidFill>
                <a:effectLst/>
                <a:ea typeface="Times New Roman" panose="02020603050405020304" pitchFamily="18" charset="0"/>
              </a:rPr>
              <a:t>SQL-like syntax simplifies data transformations for users familiar with relational databases</a:t>
            </a:r>
          </a:p>
          <a:p>
            <a:r>
              <a:rPr lang="en-US" sz="2800" b="0" i="0" dirty="0">
                <a:solidFill>
                  <a:srgbClr val="1F1F1F"/>
                </a:solidFill>
                <a:effectLst/>
              </a:rPr>
              <a:t>Spark employs a query optimizer called Catalyst to analyze DataFrame operations and generate efficient execution plans</a:t>
            </a:r>
          </a:p>
          <a:p>
            <a:pPr lvl="1"/>
            <a:r>
              <a:rPr lang="en-US" sz="2400" b="0" i="0" dirty="0">
                <a:solidFill>
                  <a:srgbClr val="1F1F1F"/>
                </a:solidFill>
                <a:effectLst/>
              </a:rPr>
              <a:t>Catalyst's optimizations often lead to faster execution compared to direct RDD manipulation</a:t>
            </a:r>
          </a:p>
          <a:p>
            <a:pPr lvl="1"/>
            <a:r>
              <a:rPr lang="en-US" sz="2400" dirty="0"/>
              <a:t>Code you write using the DataFrame API gets translated to a series of Spark Core (RDD) transformations under the hood.</a:t>
            </a:r>
            <a:endParaRPr lang="en-US" sz="2000" dirty="0">
              <a:solidFill>
                <a:srgbClr val="1F1F1F"/>
              </a:solidFill>
            </a:endParaRPr>
          </a:p>
          <a:p>
            <a:r>
              <a:rPr lang="en-US" sz="2800" dirty="0">
                <a:solidFill>
                  <a:srgbClr val="1F1F1F"/>
                </a:solidFill>
                <a:effectLst/>
                <a:ea typeface="Times New Roman" panose="02020603050405020304" pitchFamily="18" charset="0"/>
              </a:rPr>
              <a:t>DataFrames seamlessly integrate with other Spark functionality fostering a cohesive data analysis experience.</a:t>
            </a:r>
            <a:endParaRPr lang="en-US" sz="2800" dirty="0"/>
          </a:p>
          <a:p>
            <a:endParaRPr lang="en-US" dirty="0"/>
          </a:p>
        </p:txBody>
      </p:sp>
    </p:spTree>
    <p:extLst>
      <p:ext uri="{BB962C8B-B14F-4D97-AF65-F5344CB8AC3E}">
        <p14:creationId xmlns:p14="http://schemas.microsoft.com/office/powerpoint/2010/main" val="735281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DataFrame</a:t>
            </a:r>
          </a:p>
        </p:txBody>
      </p:sp>
      <p:sp>
        <p:nvSpPr>
          <p:cNvPr id="3" name="Content Placeholder 2"/>
          <p:cNvSpPr>
            <a:spLocks noGrp="1"/>
          </p:cNvSpPr>
          <p:nvPr>
            <p:ph idx="1"/>
          </p:nvPr>
        </p:nvSpPr>
        <p:spPr/>
        <p:txBody>
          <a:bodyPr/>
          <a:lstStyle/>
          <a:p>
            <a:r>
              <a:rPr lang="en-US" dirty="0"/>
              <a:t>Spark is able to infer a schema by making a pass over the entire dataset that’s being loaded</a:t>
            </a:r>
          </a:p>
          <a:p>
            <a:r>
              <a:rPr lang="en-US" dirty="0"/>
              <a:t>When calculating the execution plan, Spark can use the schema and do better computation optimizations</a:t>
            </a:r>
          </a:p>
          <a:p>
            <a:r>
              <a:rPr lang="en-US" dirty="0"/>
              <a:t>Alternatively you can programmatically associate a schema with a DataFrame </a:t>
            </a:r>
          </a:p>
        </p:txBody>
      </p:sp>
    </p:spTree>
    <p:extLst>
      <p:ext uri="{BB962C8B-B14F-4D97-AF65-F5344CB8AC3E}">
        <p14:creationId xmlns:p14="http://schemas.microsoft.com/office/powerpoint/2010/main" val="718374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DataFrame API</a:t>
            </a:r>
          </a:p>
        </p:txBody>
      </p:sp>
      <p:sp>
        <p:nvSpPr>
          <p:cNvPr id="3" name="Content Placeholder 2"/>
          <p:cNvSpPr>
            <a:spLocks noGrp="1"/>
          </p:cNvSpPr>
          <p:nvPr>
            <p:ph idx="1"/>
          </p:nvPr>
        </p:nvSpPr>
        <p:spPr/>
        <p:txBody>
          <a:bodyPr>
            <a:normAutofit/>
          </a:bodyPr>
          <a:lstStyle/>
          <a:p>
            <a:r>
              <a:rPr lang="en-US" dirty="0"/>
              <a:t>DataFrames can be constructed from a wide range of sources including…</a:t>
            </a:r>
          </a:p>
          <a:p>
            <a:pPr lvl="1"/>
            <a:r>
              <a:rPr lang="en-US" dirty="0"/>
              <a:t> </a:t>
            </a:r>
            <a:r>
              <a:rPr lang="en-US" sz="3600" dirty="0"/>
              <a:t>An existing RDD</a:t>
            </a:r>
          </a:p>
          <a:p>
            <a:pPr lvl="1"/>
            <a:r>
              <a:rPr lang="en-US" sz="3600" dirty="0"/>
              <a:t> A JSON file</a:t>
            </a:r>
          </a:p>
          <a:p>
            <a:pPr lvl="1"/>
            <a:r>
              <a:rPr lang="en-US" sz="3600" dirty="0"/>
              <a:t> A text file, Parquet file, or ORC file</a:t>
            </a:r>
          </a:p>
          <a:p>
            <a:pPr lvl="1"/>
            <a:r>
              <a:rPr lang="en-US" sz="3600" dirty="0"/>
              <a:t> A table in Hive</a:t>
            </a:r>
          </a:p>
          <a:p>
            <a:pPr lvl="1"/>
            <a:r>
              <a:rPr lang="en-US" sz="3600" dirty="0"/>
              <a:t> An external database</a:t>
            </a:r>
          </a:p>
          <a:p>
            <a:endParaRPr lang="en-US" dirty="0"/>
          </a:p>
        </p:txBody>
      </p:sp>
    </p:spTree>
    <p:extLst>
      <p:ext uri="{BB962C8B-B14F-4D97-AF65-F5344CB8AC3E}">
        <p14:creationId xmlns:p14="http://schemas.microsoft.com/office/powerpoint/2010/main" val="184538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DataFrame API</a:t>
            </a:r>
          </a:p>
        </p:txBody>
      </p:sp>
      <p:sp>
        <p:nvSpPr>
          <p:cNvPr id="3" name="Content Placeholder 2"/>
          <p:cNvSpPr>
            <a:spLocks noGrp="1"/>
          </p:cNvSpPr>
          <p:nvPr>
            <p:ph idx="1"/>
          </p:nvPr>
        </p:nvSpPr>
        <p:spPr/>
        <p:txBody>
          <a:bodyPr>
            <a:normAutofit/>
          </a:bodyPr>
          <a:lstStyle/>
          <a:p>
            <a:r>
              <a:rPr lang="en-US" dirty="0"/>
              <a:t>As an example, the following creates a DataFrame based on the content of a JSON file:</a:t>
            </a:r>
            <a:endParaRPr lang="en-US" sz="2700" dirty="0"/>
          </a:p>
          <a:p>
            <a:pPr marL="411480" lvl="1" indent="0">
              <a:buNone/>
            </a:pPr>
            <a:endParaRPr lang="en-US" sz="2700" dirty="0"/>
          </a:p>
          <a:p>
            <a:pPr marL="411480" lvl="1" indent="0">
              <a:buNone/>
            </a:pPr>
            <a:r>
              <a:rPr lang="en-US" dirty="0"/>
              <a:t>df = spark.read.json(”hdfs://examples/src/main/resources/people.json") </a:t>
            </a:r>
          </a:p>
          <a:p>
            <a:pPr marL="411480" lvl="1" indent="0">
              <a:buNone/>
            </a:pPr>
            <a:endParaRPr lang="en-US" i="1" dirty="0"/>
          </a:p>
          <a:p>
            <a:pPr marL="411480" lvl="1" indent="0">
              <a:buNone/>
            </a:pPr>
            <a:r>
              <a:rPr lang="en-US" i="1" dirty="0"/>
              <a:t># Displays the content of the DataFrame to stdout</a:t>
            </a:r>
            <a:r>
              <a:rPr lang="en-US" dirty="0"/>
              <a:t> </a:t>
            </a:r>
          </a:p>
          <a:p>
            <a:pPr marL="411480" lvl="1" indent="0">
              <a:buNone/>
            </a:pPr>
            <a:r>
              <a:rPr lang="en-US" dirty="0"/>
              <a:t>df.show()</a:t>
            </a:r>
          </a:p>
          <a:p>
            <a:endParaRPr lang="en-US" dirty="0"/>
          </a:p>
        </p:txBody>
      </p:sp>
      <p:sp>
        <p:nvSpPr>
          <p:cNvPr id="5" name="Slide Number Placeholder 4"/>
          <p:cNvSpPr>
            <a:spLocks noGrp="1"/>
          </p:cNvSpPr>
          <p:nvPr>
            <p:ph type="sldNum" sz="quarter" idx="4294967295"/>
          </p:nvPr>
        </p:nvSpPr>
        <p:spPr>
          <a:xfrm>
            <a:off x="16154400" y="26988"/>
            <a:ext cx="2133600" cy="493712"/>
          </a:xfrm>
          <a:prstGeom prst="rect">
            <a:avLst/>
          </a:prstGeom>
        </p:spPr>
        <p:txBody>
          <a:bodyPr/>
          <a:lstStyle/>
          <a:p>
            <a:pPr defTabSz="1371600" fontAlgn="auto">
              <a:spcBef>
                <a:spcPts val="0"/>
              </a:spcBef>
              <a:spcAft>
                <a:spcPts val="0"/>
              </a:spcAft>
            </a:pPr>
            <a:fld id="{9AA7C465-8597-4488-B68C-958448427716}" type="slidenum">
              <a:rPr lang="en-US">
                <a:latin typeface="Arial"/>
                <a:ea typeface="+mn-ea"/>
              </a:rPr>
              <a:pPr defTabSz="1371600" fontAlgn="auto">
                <a:spcBef>
                  <a:spcPts val="0"/>
                </a:spcBef>
                <a:spcAft>
                  <a:spcPts val="0"/>
                </a:spcAft>
              </a:pPr>
              <a:t>27</a:t>
            </a:fld>
            <a:endParaRPr lang="en-US" dirty="0">
              <a:latin typeface="Arial"/>
              <a:ea typeface="+mn-ea"/>
            </a:endParaRPr>
          </a:p>
        </p:txBody>
      </p:sp>
    </p:spTree>
    <p:extLst>
      <p:ext uri="{BB962C8B-B14F-4D97-AF65-F5344CB8AC3E}">
        <p14:creationId xmlns:p14="http://schemas.microsoft.com/office/powerpoint/2010/main" val="1100159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DataFrame API</a:t>
            </a:r>
          </a:p>
        </p:txBody>
      </p:sp>
      <p:sp>
        <p:nvSpPr>
          <p:cNvPr id="3" name="Content Placeholder 2"/>
          <p:cNvSpPr>
            <a:spLocks noGrp="1"/>
          </p:cNvSpPr>
          <p:nvPr>
            <p:ph idx="1"/>
          </p:nvPr>
        </p:nvSpPr>
        <p:spPr/>
        <p:txBody>
          <a:bodyPr>
            <a:normAutofit/>
          </a:bodyPr>
          <a:lstStyle/>
          <a:p>
            <a:r>
              <a:rPr lang="en-US" dirty="0"/>
              <a:t>DataFrames translate SQL code and domain-specific language (DSL) expressions into optimized low-level RDD operations…</a:t>
            </a:r>
          </a:p>
          <a:p>
            <a:r>
              <a:rPr lang="en-US" dirty="0"/>
              <a:t>The same API can be used</a:t>
            </a:r>
          </a:p>
          <a:p>
            <a:pPr lvl="1"/>
            <a:r>
              <a:rPr lang="en-US" dirty="0"/>
              <a:t>from any supported language (Scala, Java, Python, and R) </a:t>
            </a:r>
          </a:p>
          <a:p>
            <a:pPr lvl="1"/>
            <a:r>
              <a:rPr lang="en-US" dirty="0"/>
              <a:t>for accessing any supported data source (files, databases, and so forth) </a:t>
            </a:r>
          </a:p>
          <a:p>
            <a:pPr lvl="1"/>
            <a:r>
              <a:rPr lang="en-US" dirty="0"/>
              <a:t>in the same way and with comparable performance characteristics</a:t>
            </a:r>
          </a:p>
        </p:txBody>
      </p:sp>
    </p:spTree>
    <p:extLst>
      <p:ext uri="{BB962C8B-B14F-4D97-AF65-F5344CB8AC3E}">
        <p14:creationId xmlns:p14="http://schemas.microsoft.com/office/powerpoint/2010/main" val="11862965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69C25-56F4-5E41-8A6F-55C56FD277AB}"/>
              </a:ext>
            </a:extLst>
          </p:cNvPr>
          <p:cNvSpPr>
            <a:spLocks noGrp="1"/>
          </p:cNvSpPr>
          <p:nvPr>
            <p:ph type="title"/>
          </p:nvPr>
        </p:nvSpPr>
        <p:spPr/>
        <p:txBody>
          <a:bodyPr/>
          <a:lstStyle/>
          <a:p>
            <a:r>
              <a:rPr lang="en-US" dirty="0"/>
              <a:t>DataFrame Performance</a:t>
            </a:r>
          </a:p>
        </p:txBody>
      </p:sp>
      <p:sp>
        <p:nvSpPr>
          <p:cNvPr id="3" name="Content Placeholder 2">
            <a:extLst>
              <a:ext uri="{FF2B5EF4-FFF2-40B4-BE49-F238E27FC236}">
                <a16:creationId xmlns:a16="http://schemas.microsoft.com/office/drawing/2014/main" id="{507A85B1-416F-0543-BBB8-686E77EF9F50}"/>
              </a:ext>
            </a:extLst>
          </p:cNvPr>
          <p:cNvSpPr>
            <a:spLocks noGrp="1"/>
          </p:cNvSpPr>
          <p:nvPr>
            <p:ph idx="1"/>
          </p:nvPr>
        </p:nvSpPr>
        <p:spPr/>
        <p:txBody>
          <a:bodyPr/>
          <a:lstStyle/>
          <a:p>
            <a:r>
              <a:rPr lang="en-US" dirty="0"/>
              <a:t>DataFrames can be significantly faster than RDDs</a:t>
            </a:r>
          </a:p>
          <a:p>
            <a:r>
              <a:rPr lang="en-US" dirty="0"/>
              <a:t>And they perform the same, regardless of language</a:t>
            </a:r>
          </a:p>
          <a:p>
            <a:endParaRPr lang="en-US" dirty="0"/>
          </a:p>
        </p:txBody>
      </p:sp>
      <p:pic>
        <p:nvPicPr>
          <p:cNvPr id="6" name="Picture 5" descr="The image is a bar chart comparing the time taken to aggregate 10 million integer pairs using different methods and languages in Apache Spark. Here is a detailed description:&#10;&#10;- **DataFrame SQL**: &#10;  - The bar is the shortest, indicating the fastest time for aggregation.&#10;  &#10;- **DataFrame R**:&#10;  - Slightly longer than DataFrame SQL, but still very fast.&#10;&#10;- **DataFrame Python**:&#10;  - Similar in performance to DataFrame R, indicating a very quick aggregation time.&#10;&#10;- **DataFrame Scala**:&#10;  - Slightly longer than DataFrame Python but still relatively fast.&#10;&#10;- **RDD Python**:&#10;  - Significantly longer than DataFrame methods, indicating slower performance.&#10;  &#10;- **RDD Scala**:&#10;  - Faster than RDD Python but still significantly slower than DataFrame methods.&#10;&#10;The chart demonstrates that using DataFrames (with SQL, R, Python, or Scala) is much faster for aggregating large datasets compared to using RDDs. This highlights the efficiency of DataFrame APIs over RDD APIs in Spark for certain operations.">
            <a:extLst>
              <a:ext uri="{FF2B5EF4-FFF2-40B4-BE49-F238E27FC236}">
                <a16:creationId xmlns:a16="http://schemas.microsoft.com/office/drawing/2014/main" id="{8C45A7FD-FF90-8F46-8EBC-A981C98E46FE}"/>
              </a:ext>
            </a:extLst>
          </p:cNvPr>
          <p:cNvPicPr>
            <a:picLocks noChangeAspect="1"/>
          </p:cNvPicPr>
          <p:nvPr/>
        </p:nvPicPr>
        <p:blipFill>
          <a:blip r:embed="rId2"/>
          <a:stretch>
            <a:fillRect/>
          </a:stretch>
        </p:blipFill>
        <p:spPr>
          <a:xfrm>
            <a:off x="4649028" y="4104502"/>
            <a:ext cx="8989943" cy="5024590"/>
          </a:xfrm>
          <a:prstGeom prst="rect">
            <a:avLst/>
          </a:prstGeom>
        </p:spPr>
      </p:pic>
    </p:spTree>
    <p:extLst>
      <p:ext uri="{BB962C8B-B14F-4D97-AF65-F5344CB8AC3E}">
        <p14:creationId xmlns:p14="http://schemas.microsoft.com/office/powerpoint/2010/main" val="198400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DB5EA-012A-5BE1-6995-A204CC8670BE}"/>
              </a:ext>
            </a:extLst>
          </p:cNvPr>
          <p:cNvSpPr>
            <a:spLocks noGrp="1"/>
          </p:cNvSpPr>
          <p:nvPr>
            <p:ph type="title"/>
          </p:nvPr>
        </p:nvSpPr>
        <p:spPr/>
        <p:txBody>
          <a:bodyPr/>
          <a:lstStyle/>
          <a:p>
            <a:r>
              <a:rPr lang="en-US" dirty="0"/>
              <a:t>Datasets</a:t>
            </a:r>
          </a:p>
        </p:txBody>
      </p:sp>
      <p:sp>
        <p:nvSpPr>
          <p:cNvPr id="3" name="Content Placeholder 2">
            <a:extLst>
              <a:ext uri="{FF2B5EF4-FFF2-40B4-BE49-F238E27FC236}">
                <a16:creationId xmlns:a16="http://schemas.microsoft.com/office/drawing/2014/main" id="{C36B41E0-972F-3989-4848-8195490C3FA9}"/>
              </a:ext>
            </a:extLst>
          </p:cNvPr>
          <p:cNvSpPr>
            <a:spLocks noGrp="1"/>
          </p:cNvSpPr>
          <p:nvPr>
            <p:ph idx="1"/>
          </p:nvPr>
        </p:nvSpPr>
        <p:spPr/>
        <p:txBody>
          <a:bodyPr/>
          <a:lstStyle/>
          <a:p>
            <a:pPr>
              <a:spcBef>
                <a:spcPts val="3000"/>
              </a:spcBef>
            </a:pPr>
            <a:r>
              <a:rPr lang="en-US" sz="3000" dirty="0"/>
              <a:t>Within the Structured APIs, there are the “untyped” DataFrames and the “typed” Datasets</a:t>
            </a:r>
          </a:p>
          <a:p>
            <a:pPr>
              <a:spcBef>
                <a:spcPts val="3000"/>
              </a:spcBef>
            </a:pPr>
            <a:r>
              <a:rPr lang="en-US" sz="3100" dirty="0"/>
              <a:t>A Dataset is a strongly typed collection of domain-specific objects that can be transformed in parallel using functional or relational operations.</a:t>
            </a:r>
          </a:p>
          <a:p>
            <a:pPr>
              <a:spcBef>
                <a:spcPts val="3000"/>
              </a:spcBef>
            </a:pPr>
            <a:r>
              <a:rPr lang="en-US" sz="3100" dirty="0"/>
              <a:t>To say that DataFrames are untyped, however, is slightly inaccurate; they have types (as specified by their associated schemas)</a:t>
            </a:r>
          </a:p>
          <a:p>
            <a:pPr>
              <a:spcBef>
                <a:spcPts val="3000"/>
              </a:spcBef>
            </a:pPr>
            <a:r>
              <a:rPr lang="en-US" sz="3100" dirty="0"/>
              <a:t>But Spark maintains this completely at the framework level and only checks whether those types line up to those specified in the schema at </a:t>
            </a:r>
            <a:r>
              <a:rPr lang="en-US" sz="3100" i="1" dirty="0"/>
              <a:t>runtime</a:t>
            </a:r>
          </a:p>
          <a:p>
            <a:pPr>
              <a:spcBef>
                <a:spcPts val="3000"/>
              </a:spcBef>
            </a:pPr>
            <a:r>
              <a:rPr lang="en-US" sz="3100" dirty="0"/>
              <a:t>Datasets, on the other hand, check whether types conform to the specification at </a:t>
            </a:r>
            <a:r>
              <a:rPr lang="en-US" sz="3100" i="1" dirty="0"/>
              <a:t>compile time</a:t>
            </a:r>
          </a:p>
          <a:p>
            <a:pPr>
              <a:spcBef>
                <a:spcPts val="3000"/>
              </a:spcBef>
            </a:pPr>
            <a:r>
              <a:rPr lang="en-US" sz="3100" dirty="0"/>
              <a:t>Datasets are only available to Java Virtual Machine (JVM)–based languages (Scala and Java)</a:t>
            </a:r>
          </a:p>
        </p:txBody>
      </p:sp>
    </p:spTree>
    <p:extLst>
      <p:ext uri="{BB962C8B-B14F-4D97-AF65-F5344CB8AC3E}">
        <p14:creationId xmlns:p14="http://schemas.microsoft.com/office/powerpoint/2010/main" val="1078233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5E650-A6D3-662D-E0C7-8A7353BCE497}"/>
              </a:ext>
            </a:extLst>
          </p:cNvPr>
          <p:cNvSpPr>
            <a:spLocks noGrp="1"/>
          </p:cNvSpPr>
          <p:nvPr>
            <p:ph type="title"/>
          </p:nvPr>
        </p:nvSpPr>
        <p:spPr/>
        <p:txBody>
          <a:bodyPr/>
          <a:lstStyle/>
          <a:p>
            <a:r>
              <a:rPr lang="en-US" dirty="0"/>
              <a:t>Transformations and Actions</a:t>
            </a:r>
          </a:p>
        </p:txBody>
      </p:sp>
      <p:sp>
        <p:nvSpPr>
          <p:cNvPr id="35" name="Content Placeholder 34">
            <a:extLst>
              <a:ext uri="{FF2B5EF4-FFF2-40B4-BE49-F238E27FC236}">
                <a16:creationId xmlns:a16="http://schemas.microsoft.com/office/drawing/2014/main" id="{FF3B4B53-C222-CF49-BCEB-9DE283886F15}"/>
              </a:ext>
            </a:extLst>
          </p:cNvPr>
          <p:cNvSpPr>
            <a:spLocks noGrp="1"/>
          </p:cNvSpPr>
          <p:nvPr>
            <p:ph idx="1"/>
          </p:nvPr>
        </p:nvSpPr>
        <p:spPr>
          <a:xfrm>
            <a:off x="958010" y="2386758"/>
            <a:ext cx="6483344" cy="6888006"/>
          </a:xfrm>
        </p:spPr>
        <p:txBody>
          <a:bodyPr/>
          <a:lstStyle/>
          <a:p>
            <a:r>
              <a:rPr lang="en-US" sz="3600" b="0" i="0" dirty="0">
                <a:solidFill>
                  <a:srgbClr val="1F1F1F"/>
                </a:solidFill>
                <a:effectLst/>
              </a:rPr>
              <a:t>Operations available on </a:t>
            </a:r>
            <a:r>
              <a:rPr lang="en-US" sz="3600" dirty="0">
                <a:solidFill>
                  <a:srgbClr val="1F1F1F"/>
                </a:solidFill>
              </a:rPr>
              <a:t>DataFrames (</a:t>
            </a:r>
            <a:r>
              <a:rPr lang="en-US" sz="3600" b="0" i="0" dirty="0">
                <a:solidFill>
                  <a:srgbClr val="1F1F1F"/>
                </a:solidFill>
                <a:effectLst/>
              </a:rPr>
              <a:t>Datasets) are divided into transformations and actions</a:t>
            </a:r>
          </a:p>
          <a:p>
            <a:r>
              <a:rPr lang="en-US" sz="3600" b="0" i="0" dirty="0">
                <a:solidFill>
                  <a:srgbClr val="1F1F1F"/>
                </a:solidFill>
                <a:effectLst/>
              </a:rPr>
              <a:t>Transformations are the ones that produce new DataFrames (Datasets</a:t>
            </a:r>
            <a:r>
              <a:rPr lang="en-US" sz="3600" dirty="0">
                <a:solidFill>
                  <a:srgbClr val="1F1F1F"/>
                </a:solidFill>
              </a:rPr>
              <a:t>)</a:t>
            </a:r>
            <a:r>
              <a:rPr lang="en-US" sz="3600" b="0" i="0" dirty="0">
                <a:solidFill>
                  <a:srgbClr val="1F1F1F"/>
                </a:solidFill>
                <a:effectLst/>
              </a:rPr>
              <a:t> </a:t>
            </a:r>
            <a:endParaRPr lang="en-US" sz="3600" dirty="0">
              <a:solidFill>
                <a:srgbClr val="1F1F1F"/>
              </a:solidFill>
            </a:endParaRPr>
          </a:p>
          <a:p>
            <a:r>
              <a:rPr lang="en-US" sz="3600" dirty="0">
                <a:solidFill>
                  <a:srgbClr val="1F1F1F"/>
                </a:solidFill>
              </a:rPr>
              <a:t>A</a:t>
            </a:r>
            <a:r>
              <a:rPr lang="en-US" sz="3600" b="0" i="0" dirty="0">
                <a:solidFill>
                  <a:srgbClr val="1F1F1F"/>
                </a:solidFill>
                <a:effectLst/>
              </a:rPr>
              <a:t>ctions are the ones that trigger computation and return results</a:t>
            </a:r>
            <a:endParaRPr lang="en-US" sz="3200" b="0" i="0" dirty="0">
              <a:solidFill>
                <a:srgbClr val="1F1F1F"/>
              </a:solidFill>
              <a:effectLst/>
            </a:endParaRPr>
          </a:p>
        </p:txBody>
      </p:sp>
      <p:pic>
        <p:nvPicPr>
          <p:cNvPr id="10" name="Picture 9" descr="The image depicts the process of working with DataFrames in Apache Spark, showing the flow from creation to the execution of transformations and actions. Here is a detailed description:&#10;&#10;1. **Create DataFrame**:&#10;   - The process starts with the creation of a DataFrame from a data source.&#10;&#10;2. **Transformation(s)**:&#10;   - Various transformations are applied to the DataFrame.&#10;   - These transformations are lazily evaluated, meaning they are not executed immediately but build a lineage of operations.&#10;&#10;3. **DataFrame Lineage**:&#10;   - Represents the sequence of transformations applied to the DataFrame.&#10;   - Spark maintains this lineage information to optimize and manage data processing.&#10;&#10;4. **Action**:&#10;   - An action is performed on the DataFrame to trigger the execution of the transformations.&#10;   - Examples of actions include `collect()`, `show()`, `write()`, etc.&#10;   &#10;5. **Trigger Execution**:&#10;   - The action triggers the actual execution of the transformations in the DataFrame lineage.&#10;   - Spark optimizes and executes the operations as a single job.&#10;&#10;6. **Results**:&#10;   - The final result of the action is produced after the execution of the transformations.&#10;&#10;This process illustrates the lazy evaluation model in Spark, where transformations build a lineage without immediate execution, and actions trigger the optimized execution of the entire lineage to produce results.">
            <a:extLst>
              <a:ext uri="{FF2B5EF4-FFF2-40B4-BE49-F238E27FC236}">
                <a16:creationId xmlns:a16="http://schemas.microsoft.com/office/drawing/2014/main" id="{8A3016AF-70D8-FBBC-B867-9FAA0B7A4ED5}"/>
              </a:ext>
            </a:extLst>
          </p:cNvPr>
          <p:cNvPicPr>
            <a:picLocks noChangeAspect="1"/>
          </p:cNvPicPr>
          <p:nvPr/>
        </p:nvPicPr>
        <p:blipFill>
          <a:blip r:embed="rId2"/>
          <a:stretch>
            <a:fillRect/>
          </a:stretch>
        </p:blipFill>
        <p:spPr>
          <a:xfrm>
            <a:off x="8299305" y="2386879"/>
            <a:ext cx="9295534" cy="6427643"/>
          </a:xfrm>
          <a:prstGeom prst="rect">
            <a:avLst/>
          </a:prstGeom>
        </p:spPr>
      </p:pic>
    </p:spTree>
    <p:extLst>
      <p:ext uri="{BB962C8B-B14F-4D97-AF65-F5344CB8AC3E}">
        <p14:creationId xmlns:p14="http://schemas.microsoft.com/office/powerpoint/2010/main" val="30646656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B2D6A-17C1-8451-CA98-1F2AB65EF76E}"/>
              </a:ext>
            </a:extLst>
          </p:cNvPr>
          <p:cNvSpPr>
            <a:spLocks noGrp="1"/>
          </p:cNvSpPr>
          <p:nvPr>
            <p:ph type="title"/>
          </p:nvPr>
        </p:nvSpPr>
        <p:spPr/>
        <p:txBody>
          <a:bodyPr/>
          <a:lstStyle/>
          <a:p>
            <a:r>
              <a:rPr lang="en-US" dirty="0"/>
              <a:t>Transformations</a:t>
            </a:r>
          </a:p>
        </p:txBody>
      </p:sp>
      <p:sp>
        <p:nvSpPr>
          <p:cNvPr id="3" name="Content Placeholder 2">
            <a:extLst>
              <a:ext uri="{FF2B5EF4-FFF2-40B4-BE49-F238E27FC236}">
                <a16:creationId xmlns:a16="http://schemas.microsoft.com/office/drawing/2014/main" id="{223F96B4-BCF0-4A30-9497-8DD601CE6D0E}"/>
              </a:ext>
            </a:extLst>
          </p:cNvPr>
          <p:cNvSpPr>
            <a:spLocks noGrp="1"/>
          </p:cNvSpPr>
          <p:nvPr>
            <p:ph idx="1"/>
          </p:nvPr>
        </p:nvSpPr>
        <p:spPr/>
        <p:txBody>
          <a:bodyPr/>
          <a:lstStyle/>
          <a:p>
            <a:r>
              <a:rPr lang="en-US" sz="3600" b="0" i="0" dirty="0">
                <a:solidFill>
                  <a:srgbClr val="1F1F1F"/>
                </a:solidFill>
                <a:effectLst/>
              </a:rPr>
              <a:t>Transformations form the cornerstone of Spark workflows</a:t>
            </a:r>
            <a:endParaRPr lang="en-US" sz="3600" dirty="0">
              <a:solidFill>
                <a:srgbClr val="1F1F1F"/>
              </a:solidFill>
            </a:endParaRPr>
          </a:p>
          <a:p>
            <a:pPr lvl="1"/>
            <a:r>
              <a:rPr lang="en-US" sz="3200" b="0" i="0" dirty="0">
                <a:solidFill>
                  <a:srgbClr val="1F1F1F"/>
                </a:solidFill>
                <a:effectLst/>
              </a:rPr>
              <a:t>They allow you to manipulate RDDs, DataFrames, or Datasets without triggering immediate computation.</a:t>
            </a:r>
          </a:p>
          <a:p>
            <a:r>
              <a:rPr lang="en-US" sz="3600" b="0" i="0" dirty="0">
                <a:solidFill>
                  <a:srgbClr val="1F1F1F"/>
                </a:solidFill>
                <a:effectLst/>
              </a:rPr>
              <a:t>They (</a:t>
            </a:r>
            <a:r>
              <a:rPr lang="en-US" sz="3600" dirty="0">
                <a:solidFill>
                  <a:srgbClr val="1F1F1F"/>
                </a:solidFill>
              </a:rPr>
              <a:t>when triggered) </a:t>
            </a:r>
            <a:r>
              <a:rPr lang="en-US" sz="3600" b="0" i="0" dirty="0">
                <a:solidFill>
                  <a:srgbClr val="1F1F1F"/>
                </a:solidFill>
                <a:effectLst/>
              </a:rPr>
              <a:t>create new RDDs, DataFrames, or Datasets based on existing ones, enabling chained operations for complex data exploration and analysis.</a:t>
            </a:r>
          </a:p>
          <a:p>
            <a:r>
              <a:rPr lang="en-US" sz="3600" b="0" i="0" dirty="0">
                <a:solidFill>
                  <a:srgbClr val="1F1F1F"/>
                </a:solidFill>
                <a:effectLst/>
              </a:rPr>
              <a:t>Each transformation returns a new RDD, DataFrame, or Dataset leaving the original untouched.</a:t>
            </a:r>
          </a:p>
          <a:p>
            <a:r>
              <a:rPr lang="en-US" sz="3600" b="0" i="0" dirty="0">
                <a:solidFill>
                  <a:srgbClr val="1F1F1F"/>
                </a:solidFill>
                <a:effectLst/>
              </a:rPr>
              <a:t>This immutability promotes data consistency and simplifies lineage tracking for error handling and fault tolerance.</a:t>
            </a:r>
          </a:p>
        </p:txBody>
      </p:sp>
    </p:spTree>
    <p:extLst>
      <p:ext uri="{BB962C8B-B14F-4D97-AF65-F5344CB8AC3E}">
        <p14:creationId xmlns:p14="http://schemas.microsoft.com/office/powerpoint/2010/main" val="3661059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B2D6A-17C1-8451-CA98-1F2AB65EF76E}"/>
              </a:ext>
            </a:extLst>
          </p:cNvPr>
          <p:cNvSpPr>
            <a:spLocks noGrp="1"/>
          </p:cNvSpPr>
          <p:nvPr>
            <p:ph type="title"/>
          </p:nvPr>
        </p:nvSpPr>
        <p:spPr/>
        <p:txBody>
          <a:bodyPr/>
          <a:lstStyle/>
          <a:p>
            <a:r>
              <a:rPr lang="en-US" dirty="0"/>
              <a:t>Transformations</a:t>
            </a:r>
          </a:p>
        </p:txBody>
      </p:sp>
      <p:sp>
        <p:nvSpPr>
          <p:cNvPr id="3" name="Content Placeholder 2">
            <a:extLst>
              <a:ext uri="{FF2B5EF4-FFF2-40B4-BE49-F238E27FC236}">
                <a16:creationId xmlns:a16="http://schemas.microsoft.com/office/drawing/2014/main" id="{223F96B4-BCF0-4A30-9497-8DD601CE6D0E}"/>
              </a:ext>
            </a:extLst>
          </p:cNvPr>
          <p:cNvSpPr>
            <a:spLocks noGrp="1"/>
          </p:cNvSpPr>
          <p:nvPr>
            <p:ph idx="1"/>
          </p:nvPr>
        </p:nvSpPr>
        <p:spPr/>
        <p:txBody>
          <a:bodyPr/>
          <a:lstStyle/>
          <a:p>
            <a:r>
              <a:rPr lang="en-US" b="0" i="0" dirty="0">
                <a:solidFill>
                  <a:srgbClr val="1F1F1F"/>
                </a:solidFill>
                <a:effectLst/>
              </a:rPr>
              <a:t>Spark offers a rich selection of built-in transformations for filtering, aggregating, joining, sorting, and modifying data</a:t>
            </a:r>
            <a:endParaRPr lang="en-US" dirty="0">
              <a:solidFill>
                <a:srgbClr val="1F1F1F"/>
              </a:solidFill>
            </a:endParaRPr>
          </a:p>
          <a:p>
            <a:r>
              <a:rPr lang="en-US" b="0" i="0" dirty="0">
                <a:solidFill>
                  <a:srgbClr val="1F1F1F"/>
                </a:solidFill>
                <a:effectLst/>
              </a:rPr>
              <a:t>Transformations can be chained together to create intricate data processing workflows</a:t>
            </a:r>
          </a:p>
          <a:p>
            <a:pPr marL="0" indent="0">
              <a:buNone/>
            </a:pPr>
            <a:r>
              <a:rPr lang="en-US" sz="3600" dirty="0">
                <a:solidFill>
                  <a:srgbClr val="1F1F1F"/>
                </a:solidFill>
              </a:rPr>
              <a:t>targetDF= srcDF.transform1(…).transform2()</a:t>
            </a:r>
          </a:p>
          <a:p>
            <a:r>
              <a:rPr lang="en-US" b="0" i="0" dirty="0">
                <a:solidFill>
                  <a:srgbClr val="1F1F1F"/>
                </a:solidFill>
                <a:effectLst/>
              </a:rPr>
              <a:t>Each successive operation builds upon the previous one, allowing you to extract granular insights or prepare data for further analysis.</a:t>
            </a:r>
          </a:p>
          <a:p>
            <a:r>
              <a:rPr lang="en-US" b="0" i="0" dirty="0">
                <a:solidFill>
                  <a:srgbClr val="1F1F1F"/>
                </a:solidFill>
                <a:effectLst/>
              </a:rPr>
              <a:t>Spark automatically optimizes transformation chains</a:t>
            </a:r>
            <a:endParaRPr lang="en-US" dirty="0"/>
          </a:p>
        </p:txBody>
      </p:sp>
    </p:spTree>
    <p:extLst>
      <p:ext uri="{BB962C8B-B14F-4D97-AF65-F5344CB8AC3E}">
        <p14:creationId xmlns:p14="http://schemas.microsoft.com/office/powerpoint/2010/main" val="1197473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76E59-D281-0297-D243-86D45C758DBD}"/>
              </a:ext>
            </a:extLst>
          </p:cNvPr>
          <p:cNvSpPr>
            <a:spLocks noGrp="1"/>
          </p:cNvSpPr>
          <p:nvPr>
            <p:ph type="title"/>
          </p:nvPr>
        </p:nvSpPr>
        <p:spPr/>
        <p:txBody>
          <a:bodyPr/>
          <a:lstStyle/>
          <a:p>
            <a:r>
              <a:rPr lang="en-US" dirty="0"/>
              <a:t>Transformations</a:t>
            </a:r>
          </a:p>
        </p:txBody>
      </p:sp>
      <p:sp>
        <p:nvSpPr>
          <p:cNvPr id="3" name="Content Placeholder 2">
            <a:extLst>
              <a:ext uri="{FF2B5EF4-FFF2-40B4-BE49-F238E27FC236}">
                <a16:creationId xmlns:a16="http://schemas.microsoft.com/office/drawing/2014/main" id="{9B096C20-AF71-9765-000D-87CADB4C5EE7}"/>
              </a:ext>
            </a:extLst>
          </p:cNvPr>
          <p:cNvSpPr>
            <a:spLocks noGrp="1"/>
          </p:cNvSpPr>
          <p:nvPr>
            <p:ph idx="1"/>
          </p:nvPr>
        </p:nvSpPr>
        <p:spPr/>
        <p:txBody>
          <a:bodyPr/>
          <a:lstStyle/>
          <a:p>
            <a:r>
              <a:rPr lang="en-US" dirty="0"/>
              <a:t>In Spark the core data structures are immutable, meaning they cannot be changed once created.</a:t>
            </a:r>
          </a:p>
          <a:p>
            <a:r>
              <a:rPr lang="en-US" dirty="0"/>
              <a:t>This might seem like a strange concept at first: If you cannot change it how are you supposed to work with data</a:t>
            </a:r>
          </a:p>
          <a:p>
            <a:r>
              <a:rPr lang="en-US" dirty="0"/>
              <a:t>In order to “change” a DataFrame, you have to instruct Spark to construct the DataFrame you want from the one you have </a:t>
            </a:r>
          </a:p>
        </p:txBody>
      </p:sp>
    </p:spTree>
    <p:extLst>
      <p:ext uri="{BB962C8B-B14F-4D97-AF65-F5344CB8AC3E}">
        <p14:creationId xmlns:p14="http://schemas.microsoft.com/office/powerpoint/2010/main" val="28320052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5A8F-2DBD-C1C9-FD35-3544C02AC403}"/>
              </a:ext>
            </a:extLst>
          </p:cNvPr>
          <p:cNvSpPr>
            <a:spLocks noGrp="1"/>
          </p:cNvSpPr>
          <p:nvPr>
            <p:ph type="title"/>
          </p:nvPr>
        </p:nvSpPr>
        <p:spPr/>
        <p:txBody>
          <a:bodyPr/>
          <a:lstStyle/>
          <a:p>
            <a:r>
              <a:rPr lang="en-US" dirty="0"/>
              <a:t>Transformations</a:t>
            </a:r>
          </a:p>
        </p:txBody>
      </p:sp>
      <p:sp>
        <p:nvSpPr>
          <p:cNvPr id="3" name="Content Placeholder 2">
            <a:extLst>
              <a:ext uri="{FF2B5EF4-FFF2-40B4-BE49-F238E27FC236}">
                <a16:creationId xmlns:a16="http://schemas.microsoft.com/office/drawing/2014/main" id="{09A56F2E-6018-39C3-3D70-138FBBA226B6}"/>
              </a:ext>
            </a:extLst>
          </p:cNvPr>
          <p:cNvSpPr>
            <a:spLocks noGrp="1"/>
          </p:cNvSpPr>
          <p:nvPr>
            <p:ph idx="1"/>
          </p:nvPr>
        </p:nvSpPr>
        <p:spPr/>
        <p:txBody>
          <a:bodyPr/>
          <a:lstStyle/>
          <a:p>
            <a:r>
              <a:rPr lang="en-US" sz="3600" i="1" dirty="0"/>
              <a:t>Transformations</a:t>
            </a:r>
            <a:r>
              <a:rPr lang="en-US" sz="3600" dirty="0"/>
              <a:t> construct a new DataFrames (or RDDs) from a previous one. </a:t>
            </a:r>
          </a:p>
          <a:p>
            <a:r>
              <a:rPr lang="en-US" sz="3600" dirty="0"/>
              <a:t>For example, one common transformation is filtering data that matches a predicate</a:t>
            </a:r>
          </a:p>
          <a:p>
            <a:r>
              <a:rPr lang="en-US" sz="3600" dirty="0"/>
              <a:t>In our example, we use this to create a new DataFrame with records having miles-per-gallon &gt; 25</a:t>
            </a:r>
            <a:endParaRPr lang="en-US" dirty="0"/>
          </a:p>
          <a:p>
            <a:pPr marL="0" indent="0">
              <a:buNone/>
            </a:pPr>
            <a:r>
              <a:rPr lang="en-US" sz="4200" dirty="0"/>
              <a:t>                      targetDF = s</a:t>
            </a:r>
            <a:r>
              <a:rPr lang="en-US" dirty="0"/>
              <a:t>rcDF.filter(col(‘mpg’) &gt; 25)</a:t>
            </a:r>
            <a:endParaRPr lang="en-US" sz="4200" dirty="0"/>
          </a:p>
          <a:p>
            <a:endParaRPr lang="en-US" dirty="0"/>
          </a:p>
        </p:txBody>
      </p:sp>
      <p:sp>
        <p:nvSpPr>
          <p:cNvPr id="4" name="Rectangular Callout 3">
            <a:extLst>
              <a:ext uri="{FF2B5EF4-FFF2-40B4-BE49-F238E27FC236}">
                <a16:creationId xmlns:a16="http://schemas.microsoft.com/office/drawing/2014/main" id="{0EB97A1D-2E8A-9F49-7A0A-B06302368E13}"/>
              </a:ext>
            </a:extLst>
          </p:cNvPr>
          <p:cNvSpPr/>
          <p:nvPr/>
        </p:nvSpPr>
        <p:spPr>
          <a:xfrm>
            <a:off x="7891669" y="8276057"/>
            <a:ext cx="5353276" cy="1143000"/>
          </a:xfrm>
          <a:prstGeom prst="wedgeRectCallout">
            <a:avLst>
              <a:gd name="adj1" fmla="val -53609"/>
              <a:gd name="adj2" fmla="val -10885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2"/>
                </a:solidFill>
              </a:rPr>
              <a:t>Source DataFrame holding records</a:t>
            </a:r>
          </a:p>
          <a:p>
            <a:pPr algn="ctr"/>
            <a:r>
              <a:rPr lang="en-US" sz="2400" dirty="0">
                <a:solidFill>
                  <a:schemeClr val="bg2"/>
                </a:solidFill>
              </a:rPr>
              <a:t> about cars and the mileage they get</a:t>
            </a:r>
          </a:p>
        </p:txBody>
      </p:sp>
      <p:sp>
        <p:nvSpPr>
          <p:cNvPr id="5" name="Rectangular Callout 4">
            <a:extLst>
              <a:ext uri="{FF2B5EF4-FFF2-40B4-BE49-F238E27FC236}">
                <a16:creationId xmlns:a16="http://schemas.microsoft.com/office/drawing/2014/main" id="{B353FD16-4015-4FB0-D023-9F7F01C64AA2}"/>
              </a:ext>
            </a:extLst>
          </p:cNvPr>
          <p:cNvSpPr/>
          <p:nvPr/>
        </p:nvSpPr>
        <p:spPr>
          <a:xfrm>
            <a:off x="1013206" y="8276057"/>
            <a:ext cx="4851886" cy="1143000"/>
          </a:xfrm>
          <a:prstGeom prst="wedgeRectCallout">
            <a:avLst>
              <a:gd name="adj1" fmla="val 39091"/>
              <a:gd name="adj2" fmla="val -991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2"/>
                </a:solidFill>
              </a:rPr>
              <a:t>Target DataFrame holding records about cars  having mileage &gt; 25</a:t>
            </a:r>
          </a:p>
        </p:txBody>
      </p:sp>
    </p:spTree>
    <p:extLst>
      <p:ext uri="{BB962C8B-B14F-4D97-AF65-F5344CB8AC3E}">
        <p14:creationId xmlns:p14="http://schemas.microsoft.com/office/powerpoint/2010/main" val="890449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7712-1D8B-DACE-0D7E-03EAB51277E6}"/>
              </a:ext>
            </a:extLst>
          </p:cNvPr>
          <p:cNvSpPr>
            <a:spLocks noGrp="1"/>
          </p:cNvSpPr>
          <p:nvPr>
            <p:ph type="title"/>
          </p:nvPr>
        </p:nvSpPr>
        <p:spPr/>
        <p:txBody>
          <a:bodyPr/>
          <a:lstStyle/>
          <a:p>
            <a:r>
              <a:rPr lang="en-US" dirty="0"/>
              <a:t>Actions</a:t>
            </a:r>
          </a:p>
        </p:txBody>
      </p:sp>
      <p:sp>
        <p:nvSpPr>
          <p:cNvPr id="3" name="Content Placeholder 2">
            <a:extLst>
              <a:ext uri="{FF2B5EF4-FFF2-40B4-BE49-F238E27FC236}">
                <a16:creationId xmlns:a16="http://schemas.microsoft.com/office/drawing/2014/main" id="{264659DA-25BD-47DC-F6D4-D409744470F9}"/>
              </a:ext>
            </a:extLst>
          </p:cNvPr>
          <p:cNvSpPr>
            <a:spLocks noGrp="1"/>
          </p:cNvSpPr>
          <p:nvPr>
            <p:ph idx="1"/>
          </p:nvPr>
        </p:nvSpPr>
        <p:spPr/>
        <p:txBody>
          <a:bodyPr/>
          <a:lstStyle/>
          <a:p>
            <a:pPr>
              <a:spcAft>
                <a:spcPts val="0"/>
              </a:spcAft>
            </a:pPr>
            <a:r>
              <a:rPr lang="en-US" sz="4000" dirty="0">
                <a:effectLst/>
                <a:ea typeface="Calibri" panose="020F0502020204030204" pitchFamily="34" charset="0"/>
                <a:cs typeface="Times New Roman" panose="02020603050405020304" pitchFamily="18" charset="0"/>
              </a:rPr>
              <a:t>Unlike transformations that create new DataFrames without immediate execution, actions trigger Spark to process the data and deliver a final result</a:t>
            </a:r>
          </a:p>
          <a:p>
            <a:pPr>
              <a:spcAft>
                <a:spcPts val="0"/>
              </a:spcAft>
            </a:pPr>
            <a:r>
              <a:rPr lang="en-US" sz="4000" dirty="0">
                <a:effectLst/>
                <a:ea typeface="Calibri" panose="020F0502020204030204" pitchFamily="34" charset="0"/>
                <a:cs typeface="Times New Roman" panose="02020603050405020304" pitchFamily="18" charset="0"/>
              </a:rPr>
              <a:t>Actions generate concrete outputs, such as counts, aggregated statistics, or collected data elements, unlike transformations that produce intermediate DataFrames.</a:t>
            </a:r>
          </a:p>
          <a:p>
            <a:pPr>
              <a:spcAft>
                <a:spcPts val="0"/>
              </a:spcAft>
            </a:pPr>
            <a:r>
              <a:rPr lang="en-US" sz="4000" dirty="0">
                <a:effectLst/>
                <a:ea typeface="Calibri" panose="020F0502020204030204" pitchFamily="34" charset="0"/>
                <a:cs typeface="Times New Roman" panose="02020603050405020304" pitchFamily="18" charset="0"/>
              </a:rPr>
              <a:t>Actions force the DataFrame to materialize and compute all partitions, making the final result available for external interactions or further analysis.</a:t>
            </a:r>
          </a:p>
        </p:txBody>
      </p:sp>
    </p:spTree>
    <p:extLst>
      <p:ext uri="{BB962C8B-B14F-4D97-AF65-F5344CB8AC3E}">
        <p14:creationId xmlns:p14="http://schemas.microsoft.com/office/powerpoint/2010/main" val="4167575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76BF-5A3D-8525-3521-D336D89A1EF7}"/>
              </a:ext>
            </a:extLst>
          </p:cNvPr>
          <p:cNvSpPr>
            <a:spLocks noGrp="1"/>
          </p:cNvSpPr>
          <p:nvPr>
            <p:ph type="title"/>
          </p:nvPr>
        </p:nvSpPr>
        <p:spPr/>
        <p:txBody>
          <a:bodyPr/>
          <a:lstStyle/>
          <a:p>
            <a:r>
              <a:rPr lang="en-US" dirty="0"/>
              <a:t>Actions</a:t>
            </a:r>
          </a:p>
        </p:txBody>
      </p:sp>
      <p:sp>
        <p:nvSpPr>
          <p:cNvPr id="3" name="Content Placeholder 2">
            <a:extLst>
              <a:ext uri="{FF2B5EF4-FFF2-40B4-BE49-F238E27FC236}">
                <a16:creationId xmlns:a16="http://schemas.microsoft.com/office/drawing/2014/main" id="{171B73CE-6F30-409F-D243-91F24E2CA830}"/>
              </a:ext>
            </a:extLst>
          </p:cNvPr>
          <p:cNvSpPr>
            <a:spLocks noGrp="1"/>
          </p:cNvSpPr>
          <p:nvPr>
            <p:ph idx="1"/>
          </p:nvPr>
        </p:nvSpPr>
        <p:spPr/>
        <p:txBody>
          <a:bodyPr/>
          <a:lstStyle/>
          <a:p>
            <a:pPr>
              <a:spcAft>
                <a:spcPts val="0"/>
              </a:spcAft>
            </a:pPr>
            <a:r>
              <a:rPr lang="en-US" dirty="0">
                <a:effectLst/>
                <a:ea typeface="Calibri" panose="020F0502020204030204" pitchFamily="34" charset="0"/>
                <a:cs typeface="Times New Roman" panose="02020603050405020304" pitchFamily="18" charset="0"/>
              </a:rPr>
              <a:t>Transformations within the action chain are only evaluated when necessary for computing the final result, optimizing resource utilization.</a:t>
            </a:r>
          </a:p>
          <a:p>
            <a:pPr>
              <a:spcAft>
                <a:spcPts val="0"/>
              </a:spcAft>
            </a:pPr>
            <a:r>
              <a:rPr lang="en-US" dirty="0">
                <a:effectLst/>
                <a:ea typeface="Calibri" panose="020F0502020204030204" pitchFamily="34" charset="0"/>
                <a:cs typeface="Times New Roman" panose="02020603050405020304" pitchFamily="18" charset="0"/>
              </a:rPr>
              <a:t>Actions initiate communication with executors on worker nodes to execute tasks and collect the final result back to the driver program.</a:t>
            </a:r>
          </a:p>
          <a:p>
            <a:pPr>
              <a:spcAft>
                <a:spcPts val="0"/>
              </a:spcAft>
            </a:pPr>
            <a:r>
              <a:rPr lang="en-US" dirty="0">
                <a:effectLst/>
                <a:ea typeface="Calibri" panose="020F0502020204030204" pitchFamily="34" charset="0"/>
                <a:cs typeface="Times New Roman" panose="02020603050405020304" pitchFamily="18" charset="0"/>
              </a:rPr>
              <a:t>Spark offers a diverse range of actions, including count(), collect(), first(), foreach(), and write(), catering to various data analysis and workflow needs.</a:t>
            </a:r>
          </a:p>
        </p:txBody>
      </p:sp>
    </p:spTree>
    <p:extLst>
      <p:ext uri="{BB962C8B-B14F-4D97-AF65-F5344CB8AC3E}">
        <p14:creationId xmlns:p14="http://schemas.microsoft.com/office/powerpoint/2010/main" val="41411472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E5291-2F95-F1C2-F79B-FC6D86E3DF5B}"/>
              </a:ext>
            </a:extLst>
          </p:cNvPr>
          <p:cNvSpPr>
            <a:spLocks noGrp="1"/>
          </p:cNvSpPr>
          <p:nvPr>
            <p:ph type="title"/>
          </p:nvPr>
        </p:nvSpPr>
        <p:spPr/>
        <p:txBody>
          <a:bodyPr/>
          <a:lstStyle/>
          <a:p>
            <a:r>
              <a:rPr lang="en-US" dirty="0"/>
              <a:t>Actions</a:t>
            </a:r>
          </a:p>
        </p:txBody>
      </p:sp>
      <p:sp>
        <p:nvSpPr>
          <p:cNvPr id="3" name="Content Placeholder 2">
            <a:extLst>
              <a:ext uri="{FF2B5EF4-FFF2-40B4-BE49-F238E27FC236}">
                <a16:creationId xmlns:a16="http://schemas.microsoft.com/office/drawing/2014/main" id="{ADF0010A-2BB8-347E-8734-377230A1D6D6}"/>
              </a:ext>
            </a:extLst>
          </p:cNvPr>
          <p:cNvSpPr>
            <a:spLocks noGrp="1"/>
          </p:cNvSpPr>
          <p:nvPr>
            <p:ph idx="1"/>
          </p:nvPr>
        </p:nvSpPr>
        <p:spPr/>
        <p:txBody>
          <a:bodyPr/>
          <a:lstStyle/>
          <a:p>
            <a:r>
              <a:rPr lang="en-US" dirty="0"/>
              <a:t>There are three kinds of action</a:t>
            </a:r>
          </a:p>
          <a:p>
            <a:pPr marL="742950" indent="-742950">
              <a:buFont typeface="+mj-lt"/>
              <a:buAutoNum type="arabicPeriod"/>
            </a:pPr>
            <a:r>
              <a:rPr lang="en-US" dirty="0"/>
              <a:t>Actions to view data in the console</a:t>
            </a:r>
          </a:p>
          <a:p>
            <a:pPr marL="742950" indent="-742950">
              <a:buFont typeface="+mj-lt"/>
              <a:buAutoNum type="arabicPeriod"/>
            </a:pPr>
            <a:r>
              <a:rPr lang="en-US" dirty="0"/>
              <a:t>Actions to collect data to native objects in Scala, Java or Python</a:t>
            </a:r>
          </a:p>
          <a:p>
            <a:pPr marL="742950" indent="-742950">
              <a:buFont typeface="+mj-lt"/>
              <a:buAutoNum type="arabicPeriod"/>
            </a:pPr>
            <a:r>
              <a:rPr lang="en-US" dirty="0"/>
              <a:t>Actions to write the content of DataFrames (or RDDs) to files, object, records in a database, etc.</a:t>
            </a:r>
          </a:p>
        </p:txBody>
      </p:sp>
    </p:spTree>
    <p:extLst>
      <p:ext uri="{BB962C8B-B14F-4D97-AF65-F5344CB8AC3E}">
        <p14:creationId xmlns:p14="http://schemas.microsoft.com/office/powerpoint/2010/main" val="3049230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06C91-BDD3-6A70-29CB-0DB94FF86A7B}"/>
              </a:ext>
            </a:extLst>
          </p:cNvPr>
          <p:cNvSpPr>
            <a:spLocks noGrp="1"/>
          </p:cNvSpPr>
          <p:nvPr>
            <p:ph type="title"/>
          </p:nvPr>
        </p:nvSpPr>
        <p:spPr/>
        <p:txBody>
          <a:bodyPr/>
          <a:lstStyle/>
          <a:p>
            <a:r>
              <a:rPr lang="en-US" dirty="0"/>
              <a:t>Lazy Evaluation</a:t>
            </a:r>
          </a:p>
        </p:txBody>
      </p:sp>
      <p:sp>
        <p:nvSpPr>
          <p:cNvPr id="3" name="Content Placeholder 2">
            <a:extLst>
              <a:ext uri="{FF2B5EF4-FFF2-40B4-BE49-F238E27FC236}">
                <a16:creationId xmlns:a16="http://schemas.microsoft.com/office/drawing/2014/main" id="{4C4A4DD0-2C8A-C076-8F49-CBE53DF49FA0}"/>
              </a:ext>
            </a:extLst>
          </p:cNvPr>
          <p:cNvSpPr>
            <a:spLocks noGrp="1"/>
          </p:cNvSpPr>
          <p:nvPr>
            <p:ph idx="1"/>
          </p:nvPr>
        </p:nvSpPr>
        <p:spPr/>
        <p:txBody>
          <a:bodyPr>
            <a:normAutofit fontScale="92500" lnSpcReduction="20000"/>
          </a:bodyPr>
          <a:lstStyle/>
          <a:p>
            <a:r>
              <a:rPr lang="en-US" dirty="0"/>
              <a:t>Transformations is Spark are lazy, which means they do not produce a result immediately when they first execute</a:t>
            </a:r>
          </a:p>
          <a:p>
            <a:r>
              <a:rPr lang="en-US" dirty="0"/>
              <a:t>Rather when a transformation is first executed it records its intent to construct a new DataFrame (or RDD) to a logical execution plan</a:t>
            </a:r>
          </a:p>
          <a:p>
            <a:r>
              <a:rPr lang="en-US" dirty="0"/>
              <a:t>Spark internally represents the logical execution plan as a lineage graph, which is a workflow of transformations to be performed</a:t>
            </a:r>
          </a:p>
          <a:p>
            <a:r>
              <a:rPr lang="en-US" dirty="0"/>
              <a:t>Actions, another type of operation, are what actually trigger the execution of the logical execution plan</a:t>
            </a:r>
          </a:p>
          <a:p>
            <a:r>
              <a:rPr lang="en-US" dirty="0"/>
              <a:t>This is part of what allows Spark to be robust to failures, by being able to reconstruct an RDD or DataFrame by following its lineage</a:t>
            </a:r>
          </a:p>
        </p:txBody>
      </p:sp>
    </p:spTree>
    <p:extLst>
      <p:ext uri="{BB962C8B-B14F-4D97-AF65-F5344CB8AC3E}">
        <p14:creationId xmlns:p14="http://schemas.microsoft.com/office/powerpoint/2010/main" val="904950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3550-8E21-AD20-44DA-2437C5D8C050}"/>
              </a:ext>
            </a:extLst>
          </p:cNvPr>
          <p:cNvSpPr>
            <a:spLocks noGrp="1"/>
          </p:cNvSpPr>
          <p:nvPr>
            <p:ph type="title"/>
          </p:nvPr>
        </p:nvSpPr>
        <p:spPr/>
        <p:txBody>
          <a:bodyPr/>
          <a:lstStyle/>
          <a:p>
            <a:r>
              <a:rPr lang="en-US" dirty="0"/>
              <a:t>Lazy Evaluation</a:t>
            </a:r>
          </a:p>
        </p:txBody>
      </p:sp>
      <p:sp>
        <p:nvSpPr>
          <p:cNvPr id="3" name="Content Placeholder 2">
            <a:extLst>
              <a:ext uri="{FF2B5EF4-FFF2-40B4-BE49-F238E27FC236}">
                <a16:creationId xmlns:a16="http://schemas.microsoft.com/office/drawing/2014/main" id="{78CEE301-A78D-1169-F898-759572F449D3}"/>
              </a:ext>
            </a:extLst>
          </p:cNvPr>
          <p:cNvSpPr>
            <a:spLocks noGrp="1"/>
          </p:cNvSpPr>
          <p:nvPr>
            <p:ph idx="1"/>
          </p:nvPr>
        </p:nvSpPr>
        <p:spPr/>
        <p:txBody>
          <a:bodyPr/>
          <a:lstStyle/>
          <a:p>
            <a:r>
              <a:rPr lang="en-US" dirty="0"/>
              <a:t>A benefit of creating a logical execution plan is that the plan can be evaluated in its entirety and optimized for performance</a:t>
            </a:r>
          </a:p>
          <a:p>
            <a:r>
              <a:rPr lang="en-US" dirty="0"/>
              <a:t>This is the role of another critical element of Spark, the Catalyst optimizer</a:t>
            </a:r>
          </a:p>
        </p:txBody>
      </p:sp>
    </p:spTree>
    <p:extLst>
      <p:ext uri="{BB962C8B-B14F-4D97-AF65-F5344CB8AC3E}">
        <p14:creationId xmlns:p14="http://schemas.microsoft.com/office/powerpoint/2010/main" val="1136056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8ED1-9128-30FF-723B-137760D8CF79}"/>
              </a:ext>
            </a:extLst>
          </p:cNvPr>
          <p:cNvSpPr>
            <a:spLocks noGrp="1"/>
          </p:cNvSpPr>
          <p:nvPr>
            <p:ph type="title"/>
          </p:nvPr>
        </p:nvSpPr>
        <p:spPr/>
        <p:txBody>
          <a:bodyPr/>
          <a:lstStyle/>
          <a:p>
            <a:r>
              <a:rPr lang="en-US" dirty="0"/>
              <a:t>Catalyst Optimizer</a:t>
            </a:r>
          </a:p>
        </p:txBody>
      </p:sp>
      <p:sp>
        <p:nvSpPr>
          <p:cNvPr id="3" name="Content Placeholder 2">
            <a:extLst>
              <a:ext uri="{FF2B5EF4-FFF2-40B4-BE49-F238E27FC236}">
                <a16:creationId xmlns:a16="http://schemas.microsoft.com/office/drawing/2014/main" id="{C4172C34-416C-04C2-C362-29EBC452360A}"/>
              </a:ext>
            </a:extLst>
          </p:cNvPr>
          <p:cNvSpPr>
            <a:spLocks noGrp="1"/>
          </p:cNvSpPr>
          <p:nvPr>
            <p:ph idx="1"/>
          </p:nvPr>
        </p:nvSpPr>
        <p:spPr>
          <a:xfrm>
            <a:off x="1098550" y="5390249"/>
            <a:ext cx="16084552" cy="3732656"/>
          </a:xfrm>
        </p:spPr>
        <p:txBody>
          <a:bodyPr/>
          <a:lstStyle/>
          <a:p>
            <a:pPr>
              <a:spcBef>
                <a:spcPts val="3000"/>
              </a:spcBef>
            </a:pPr>
            <a:r>
              <a:rPr lang="en-US" sz="3200" dirty="0"/>
              <a:t>Upon encountering an action Spark converts transformations or code to a </a:t>
            </a:r>
            <a:r>
              <a:rPr lang="en-US" sz="3200" i="1" dirty="0"/>
              <a:t>Logical Plan</a:t>
            </a:r>
            <a:endParaRPr lang="en-US" sz="3200" dirty="0"/>
          </a:p>
          <a:p>
            <a:pPr>
              <a:spcBef>
                <a:spcPts val="3000"/>
              </a:spcBef>
            </a:pPr>
            <a:r>
              <a:rPr lang="en-US" sz="3200" dirty="0"/>
              <a:t>Spark then transforms this </a:t>
            </a:r>
            <a:r>
              <a:rPr lang="en-US" sz="3200" i="1" dirty="0"/>
              <a:t>Logical Plan</a:t>
            </a:r>
            <a:r>
              <a:rPr lang="en-US" sz="3200" dirty="0"/>
              <a:t> to a </a:t>
            </a:r>
            <a:r>
              <a:rPr lang="en-US" sz="3200" i="1" dirty="0"/>
              <a:t>Physical Plan</a:t>
            </a:r>
            <a:r>
              <a:rPr lang="en-US" sz="3200" dirty="0"/>
              <a:t>, introducing optimizations along the way</a:t>
            </a:r>
          </a:p>
          <a:p>
            <a:pPr>
              <a:spcBef>
                <a:spcPts val="3000"/>
              </a:spcBef>
            </a:pPr>
            <a:r>
              <a:rPr lang="en-US" sz="3200" dirty="0"/>
              <a:t>Spark then executes this </a:t>
            </a:r>
            <a:r>
              <a:rPr lang="en-US" sz="3200" i="1" dirty="0"/>
              <a:t>Physical Plan</a:t>
            </a:r>
            <a:r>
              <a:rPr lang="en-US" sz="3200" dirty="0"/>
              <a:t> as tasks on the cluster</a:t>
            </a:r>
          </a:p>
          <a:p>
            <a:endParaRPr lang="en-US" dirty="0"/>
          </a:p>
        </p:txBody>
      </p:sp>
      <p:pic>
        <p:nvPicPr>
          <p:cNvPr id="5" name="Picture 4" descr="The image illustrates the query execution process in Apache Spark, particularly focusing on how SQL queries and DataFrame operations are transformed into executable code. Here’s a detailed description:&#10;&#10;1. **SQL Query / DataFrame**:&#10;   - The process starts with either a SQL query or a DataFrame operation.&#10;&#10;2. **Unresolved Logical Plan**:&#10;   - The SQL query or DataFrame operation is initially converted into an unresolved logical plan.&#10;   - This plan captures the logical operations but may contain unresolved references.&#10;&#10;3. **Analysis**:&#10;   - During the analysis phase, the unresolved logical plan is analyzed against the catalog (metadata) to resolve any references.&#10;   - The output of this phase is a resolved logical plan.&#10;&#10;4. **Logical Plan**:&#10;   - The resolved logical plan represents a complete logical representation of the query with all references resolved.&#10;&#10;5. **Logical Optimization**:&#10;   - The logical plan undergoes various optimizations to produce an optimized logical plan.&#10;   - This phase applies rule-based optimizations to improve query performance.&#10;&#10;6. **Optimized Logical Plan**:&#10;   - The result of logical optimizations, representing an improved version of the logical plan.&#10;&#10;7. **Physical Planning**:&#10;   - The optimized logical plan is then converted into one or more physical plans.&#10;   - Each physical plan represents a potential strategy for executing the query.&#10;&#10;8. **Cost Model**:&#10;   - A cost model is applied to evaluate the physical plans based on various metrics (e.g., execution time, resource usage).&#10;   - The most efficient physical plan is selected.&#10;&#10;9. **Selected Physical Plan**:&#10;   - The physical plan chosen based on the cost model evaluation.&#10;&#10;10. **Code Generation**:&#10;    - The selected physical plan is translated into executable code.&#10;    - This code generation phase produces RDDs (Resilient Distributed Datasets) that can be executed by the Spark engine.&#10;&#10;11. **RDDs**:&#10;    - The final output is a set of RDDs that represent the distributed data processing tasks to be executed.&#10;&#10;This pipeline illustrates the sophisticated process of transforming high-level queries into optimized, executable code, ensuring efficient data processing in Apache Spark.">
            <a:extLst>
              <a:ext uri="{FF2B5EF4-FFF2-40B4-BE49-F238E27FC236}">
                <a16:creationId xmlns:a16="http://schemas.microsoft.com/office/drawing/2014/main" id="{4C81EC2D-16CC-995D-3337-3CFAD41D09CD}"/>
              </a:ext>
            </a:extLst>
          </p:cNvPr>
          <p:cNvPicPr>
            <a:picLocks noChangeAspect="1"/>
          </p:cNvPicPr>
          <p:nvPr/>
        </p:nvPicPr>
        <p:blipFill>
          <a:blip r:embed="rId2"/>
          <a:stretch>
            <a:fillRect/>
          </a:stretch>
        </p:blipFill>
        <p:spPr>
          <a:xfrm>
            <a:off x="2294834" y="1947604"/>
            <a:ext cx="13985461" cy="3195896"/>
          </a:xfrm>
          <a:prstGeom prst="rect">
            <a:avLst/>
          </a:prstGeom>
        </p:spPr>
      </p:pic>
    </p:spTree>
    <p:extLst>
      <p:ext uri="{BB962C8B-B14F-4D97-AF65-F5344CB8AC3E}">
        <p14:creationId xmlns:p14="http://schemas.microsoft.com/office/powerpoint/2010/main" val="35963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A1413-76D6-38E9-5C36-FA8C4059E7D6}"/>
              </a:ext>
            </a:extLst>
          </p:cNvPr>
          <p:cNvSpPr>
            <a:spLocks noGrp="1"/>
          </p:cNvSpPr>
          <p:nvPr>
            <p:ph type="title"/>
          </p:nvPr>
        </p:nvSpPr>
        <p:spPr/>
        <p:txBody>
          <a:bodyPr/>
          <a:lstStyle/>
          <a:p>
            <a:r>
              <a:rPr lang="en-US" dirty="0"/>
              <a:t>Partitions</a:t>
            </a:r>
          </a:p>
        </p:txBody>
      </p:sp>
      <p:pic>
        <p:nvPicPr>
          <p:cNvPr id="20482" name="Picture 2" descr="The image illustrates the partitioning of a DataFrame and its distribution across Spark executors. Here is a detailed description:&#10;&#10;1. **DataFrame**:&#10;   - The DataFrame consists of multiple rows: Row 1, Row 2, Row 3, Row 4, and Row 5.&#10;&#10;2. **Partitions**:&#10;   - The DataFrame is divided into three partitions:&#10;     - **Partition 1** contains Row 1 and Row 2.&#10;     - **Partition 2** contains Row 3 and Row 4.&#10;     - **Partition 3** contains Row 5.&#10;&#10;3. **Executors**:&#10;   - The partitions are distributed across two executors:&#10;     - **Executor A** is responsible for processing Partition 1.&#10;     - **Executor B** is responsible for processing Partition 2 and Partition 3.&#10;&#10;4. **Cores**:&#10;   - Each executor has multiple cores to perform parallel processing.&#10;   - **Executor A** and **Executor B** each have two cores, allowing them to process the rows in their assigned partitions concurrently.&#10;&#10;This diagram demonstrates how Apache Spark partitions a DataFrame and distributes these partitions across multiple executors for parallel processing, leveraging the computational power of multiple cores within each executor to efficiently handle large-scale data processing tasks.">
            <a:extLst>
              <a:ext uri="{FF2B5EF4-FFF2-40B4-BE49-F238E27FC236}">
                <a16:creationId xmlns:a16="http://schemas.microsoft.com/office/drawing/2014/main" id="{E2E8E231-D055-BF60-1207-CBEA1D13BD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991" y="2912202"/>
            <a:ext cx="9125778" cy="5426727"/>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7E24035B-6FD1-3475-136A-041F6C2A3ED6}"/>
              </a:ext>
            </a:extLst>
          </p:cNvPr>
          <p:cNvSpPr>
            <a:spLocks noGrp="1"/>
          </p:cNvSpPr>
          <p:nvPr>
            <p:ph idx="1"/>
          </p:nvPr>
        </p:nvSpPr>
        <p:spPr>
          <a:xfrm>
            <a:off x="914400" y="2261152"/>
            <a:ext cx="7176052" cy="7315200"/>
          </a:xfrm>
        </p:spPr>
        <p:txBody>
          <a:bodyPr>
            <a:normAutofit fontScale="77500" lnSpcReduction="20000"/>
          </a:bodyPr>
          <a:lstStyle/>
          <a:p>
            <a:r>
              <a:rPr lang="en-US" sz="3300" dirty="0"/>
              <a:t>In order to allow every executor to perform work in parallel, Spark breaks up the data into chunks, called partitions</a:t>
            </a:r>
          </a:p>
          <a:p>
            <a:r>
              <a:rPr lang="en-US" sz="3300" dirty="0"/>
              <a:t>A partition is a collection of DataFrame or Dataset rows that sit on one physical (or virtual) machine in our cluster</a:t>
            </a:r>
          </a:p>
          <a:p>
            <a:r>
              <a:rPr lang="en-US" sz="3300" dirty="0"/>
              <a:t>A DataFrame’s partitions represent how the data is distributed across a cluster of machines during execution</a:t>
            </a:r>
          </a:p>
          <a:p>
            <a:r>
              <a:rPr lang="en-US" sz="3300" dirty="0"/>
              <a:t>If you have one partition, Spark will only have a parallelism of one even if you have thousands of executors. </a:t>
            </a:r>
          </a:p>
          <a:p>
            <a:r>
              <a:rPr lang="en-US" sz="3300" dirty="0"/>
              <a:t>If you have many partitions, but only one executor Spark will still only have a parallelism of one because there is only one computation resource</a:t>
            </a:r>
          </a:p>
        </p:txBody>
      </p:sp>
    </p:spTree>
    <p:extLst>
      <p:ext uri="{BB962C8B-B14F-4D97-AF65-F5344CB8AC3E}">
        <p14:creationId xmlns:p14="http://schemas.microsoft.com/office/powerpoint/2010/main" val="3443128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7218-0047-6456-DB2B-2CDD377A7036}"/>
              </a:ext>
            </a:extLst>
          </p:cNvPr>
          <p:cNvSpPr>
            <a:spLocks noGrp="1"/>
          </p:cNvSpPr>
          <p:nvPr>
            <p:ph type="title"/>
          </p:nvPr>
        </p:nvSpPr>
        <p:spPr/>
        <p:txBody>
          <a:bodyPr/>
          <a:lstStyle/>
          <a:p>
            <a:r>
              <a:rPr lang="en-US" dirty="0"/>
              <a:t>An End to End Example</a:t>
            </a:r>
          </a:p>
        </p:txBody>
      </p:sp>
      <p:sp>
        <p:nvSpPr>
          <p:cNvPr id="81" name="Rectangle 80">
            <a:extLst>
              <a:ext uri="{FF2B5EF4-FFF2-40B4-BE49-F238E27FC236}">
                <a16:creationId xmlns:a16="http://schemas.microsoft.com/office/drawing/2014/main" id="{486E566E-26D7-5BEC-73E3-6812E6F3F800}"/>
              </a:ext>
            </a:extLst>
          </p:cNvPr>
          <p:cNvSpPr/>
          <p:nvPr/>
        </p:nvSpPr>
        <p:spPr>
          <a:xfrm>
            <a:off x="1232453" y="2061012"/>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3200" dirty="0">
                <a:solidFill>
                  <a:schemeClr val="bg2"/>
                </a:solidFill>
                <a:effectLst/>
                <a:ea typeface="Calibri" panose="020F0502020204030204" pitchFamily="34" charset="0"/>
                <a:cs typeface="Times New Roman" panose="02020603050405020304" pitchFamily="18" charset="0"/>
              </a:rPr>
              <a:t>This </a:t>
            </a:r>
            <a:r>
              <a:rPr lang="en-US" sz="3200" dirty="0">
                <a:solidFill>
                  <a:schemeClr val="bg2"/>
                </a:solidFill>
                <a:ea typeface="Calibri" panose="020F0502020204030204" pitchFamily="34" charset="0"/>
                <a:cs typeface="Times New Roman" panose="02020603050405020304" pitchFamily="18" charset="0"/>
              </a:rPr>
              <a:t>shows</a:t>
            </a:r>
            <a:r>
              <a:rPr lang="en-US" sz="3200" dirty="0">
                <a:solidFill>
                  <a:schemeClr val="bg2"/>
                </a:solidFill>
                <a:effectLst/>
                <a:ea typeface="Calibri" panose="020F0502020204030204" pitchFamily="34" charset="0"/>
                <a:cs typeface="Times New Roman" panose="02020603050405020304" pitchFamily="18" charset="0"/>
              </a:rPr>
              <a:t> the general flow of a Spark application:</a:t>
            </a:r>
          </a:p>
          <a:p>
            <a:pPr marL="0" marR="0" algn="ctr">
              <a:spcBef>
                <a:spcPts val="0"/>
              </a:spcBef>
              <a:spcAft>
                <a:spcPts val="0"/>
              </a:spcAft>
            </a:pPr>
            <a:r>
              <a:rPr lang="en-US" sz="2800" dirty="0">
                <a:solidFill>
                  <a:schemeClr val="bg2"/>
                </a:solidFill>
                <a:ea typeface="Calibri" panose="020F0502020204030204" pitchFamily="34" charset="0"/>
                <a:cs typeface="Times New Roman" panose="02020603050405020304" pitchFamily="18" charset="0"/>
              </a:rPr>
              <a:t>read</a:t>
            </a:r>
            <a:r>
              <a:rPr kumimoji="0" lang="en-US" altLang="en-US" sz="2800" i="0" u="none" strike="noStrike" kern="1200" cap="none" spc="0" normalizeH="0" baseline="0" noProof="0" dirty="0">
                <a:ln>
                  <a:noFill/>
                </a:ln>
                <a:solidFill>
                  <a:srgbClr val="F8F8F8"/>
                </a:solidFill>
                <a:effectLst/>
                <a:uLnTx/>
                <a:uFillTx/>
                <a:latin typeface="Arial"/>
                <a:ea typeface="+mn-ea"/>
                <a:cs typeface="+mn-cs"/>
              </a:rPr>
              <a:t> → dataframe →((transform → dataframe)</a:t>
            </a:r>
            <a:r>
              <a:rPr lang="en-US" altLang="en-US" sz="2800" baseline="-25000" dirty="0">
                <a:solidFill>
                  <a:srgbClr val="F8F8F8"/>
                </a:solidFill>
                <a:latin typeface="Arial"/>
              </a:rPr>
              <a:t> repeat</a:t>
            </a:r>
            <a:r>
              <a:rPr kumimoji="0" lang="en-US" altLang="en-US" sz="2800" i="0" u="none" strike="noStrike" kern="1200" cap="none" spc="0" normalizeH="0" baseline="0" noProof="0" dirty="0">
                <a:ln>
                  <a:noFill/>
                </a:ln>
                <a:solidFill>
                  <a:srgbClr val="F8F8F8"/>
                </a:solidFill>
                <a:effectLst/>
                <a:uLnTx/>
                <a:uFillTx/>
                <a:latin typeface="Arial"/>
                <a:ea typeface="+mn-ea"/>
                <a:cs typeface="+mn-cs"/>
              </a:rPr>
              <a:t> → action → result)</a:t>
            </a:r>
            <a:r>
              <a:rPr kumimoji="0" lang="en-US" altLang="en-US" sz="2800" i="0" u="none" strike="noStrike" kern="1200" cap="none" spc="0" normalizeH="0" baseline="-25000" noProof="0" dirty="0">
                <a:ln>
                  <a:noFill/>
                </a:ln>
                <a:solidFill>
                  <a:srgbClr val="F8F8F8"/>
                </a:solidFill>
                <a:effectLst/>
                <a:uLnTx/>
                <a:uFillTx/>
                <a:latin typeface="Arial"/>
                <a:ea typeface="+mn-ea"/>
                <a:cs typeface="+mn-cs"/>
              </a:rPr>
              <a:t>repeat</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82" name="Rectangle 81">
            <a:extLst>
              <a:ext uri="{FF2B5EF4-FFF2-40B4-BE49-F238E27FC236}">
                <a16:creationId xmlns:a16="http://schemas.microsoft.com/office/drawing/2014/main" id="{245AAB19-D5C8-1E17-C701-479E7233AA90}"/>
              </a:ext>
              <a:ext uri="{C183D7F6-B498-43B3-948B-1728B52AA6E4}">
                <adec:decorative xmlns:adec="http://schemas.microsoft.com/office/drawing/2017/decorative" val="1"/>
              </a:ext>
            </a:extLst>
          </p:cNvPr>
          <p:cNvSpPr/>
          <p:nvPr/>
        </p:nvSpPr>
        <p:spPr>
          <a:xfrm>
            <a:off x="-1" y="2061012"/>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dirty="0">
              <a:solidFill>
                <a:schemeClr val="bg2"/>
              </a:solidFill>
            </a:endParaRPr>
          </a:p>
        </p:txBody>
      </p:sp>
      <p:pic>
        <p:nvPicPr>
          <p:cNvPr id="5" name="Picture 4" descr="The image illustrates the data processing workflow in Apache Spark, showing how datasets are read, transformed, and processed to produce results. Here’s a detailed description:&#10;&#10;1. **Datasets**:&#10;   - Various data sources are depicted, including:&#10;     - CSV files&#10;     - JSON files&#10;     - Parquet files&#10;     - Databases&#10;&#10;2. **Transformation (read)**:&#10;   - The process starts with reading the data from these sources into Spark.&#10;   - This read operation is the first transformation step.&#10;&#10;3. **Execution Plan**:&#10;   - After the initial read transformation, an execution plan is created.&#10;   - This plan is updated as more transformations are applied.&#10;&#10;4. **Transformation**:&#10;   - Additional transformations are applied to the data.&#10;   - Each transformation step updates the execution plan.&#10;   - Transformations can include filtering, mapping, joining, etc.&#10;&#10;5. **DataFrame**:&#10;   - The result of the transformations is a DataFrame, a distributed collection of data organized into named columns.&#10;   - The DataFrame represents the intermediate result before any actions are performed.&#10;&#10;6. **Action(s)**:&#10;   - Actions are operations that trigger the execution of the transformations.&#10;   - Examples of actions include `write` (to save the data) and `show` (to display the data).&#10;&#10;7. **Execute Plan**:&#10;   - The execution plan is executed when an action is called.&#10;   - This involves optimizing and running the series of transformations to produce the final result.&#10;&#10;8. **Write Result / Show Result**:&#10;   - The results of the execution can be written to a file or database.&#10;   - Alternatively, the results can be displayed to the user.&#10;&#10;This workflow demonstrates the lazy evaluation model of Spark, where transformations build up an execution plan that is only executed when an action is performed, ensuring efficient and optimized data processing.">
            <a:extLst>
              <a:ext uri="{FF2B5EF4-FFF2-40B4-BE49-F238E27FC236}">
                <a16:creationId xmlns:a16="http://schemas.microsoft.com/office/drawing/2014/main" id="{9D9EFBA6-BDB8-014F-0750-43C4C70D7E45}"/>
              </a:ext>
            </a:extLst>
          </p:cNvPr>
          <p:cNvPicPr>
            <a:picLocks noChangeAspect="1"/>
          </p:cNvPicPr>
          <p:nvPr/>
        </p:nvPicPr>
        <p:blipFill rotWithShape="1">
          <a:blip r:embed="rId2"/>
          <a:srcRect r="1014" b="358"/>
          <a:stretch/>
        </p:blipFill>
        <p:spPr>
          <a:xfrm>
            <a:off x="1937905" y="3610842"/>
            <a:ext cx="12313123" cy="5829339"/>
          </a:xfrm>
          <a:prstGeom prst="rect">
            <a:avLst/>
          </a:prstGeom>
        </p:spPr>
      </p:pic>
    </p:spTree>
    <p:extLst>
      <p:ext uri="{BB962C8B-B14F-4D97-AF65-F5344CB8AC3E}">
        <p14:creationId xmlns:p14="http://schemas.microsoft.com/office/powerpoint/2010/main" val="15433358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1627B-D529-D748-A10F-F0E67BC13912}"/>
              </a:ext>
            </a:extLst>
          </p:cNvPr>
          <p:cNvSpPr>
            <a:spLocks noGrp="1"/>
          </p:cNvSpPr>
          <p:nvPr>
            <p:ph type="title"/>
          </p:nvPr>
        </p:nvSpPr>
        <p:spPr/>
        <p:txBody>
          <a:bodyPr>
            <a:normAutofit/>
          </a:bodyPr>
          <a:lstStyle/>
          <a:p>
            <a:r>
              <a:rPr lang="en-US" dirty="0"/>
              <a:t>An End to End Example</a:t>
            </a:r>
          </a:p>
        </p:txBody>
      </p:sp>
      <p:sp>
        <p:nvSpPr>
          <p:cNvPr id="3" name="Content Placeholder 2">
            <a:extLst>
              <a:ext uri="{FF2B5EF4-FFF2-40B4-BE49-F238E27FC236}">
                <a16:creationId xmlns:a16="http://schemas.microsoft.com/office/drawing/2014/main" id="{FF12AB8D-62B4-EF4E-8BD7-57A9DF65282C}"/>
              </a:ext>
            </a:extLst>
          </p:cNvPr>
          <p:cNvSpPr>
            <a:spLocks noGrp="1"/>
          </p:cNvSpPr>
          <p:nvPr>
            <p:ph idx="1"/>
          </p:nvPr>
        </p:nvSpPr>
        <p:spPr/>
        <p:txBody>
          <a:bodyPr>
            <a:normAutofit/>
          </a:bodyPr>
          <a:lstStyle/>
          <a:p>
            <a:r>
              <a:rPr lang="en-US" dirty="0"/>
              <a:t>Here will will work an example step by step using some car data</a:t>
            </a:r>
          </a:p>
          <a:p>
            <a:r>
              <a:rPr lang="en-US" dirty="0"/>
              <a:t>The data source holding the car data is a file in CSV format with a header row</a:t>
            </a:r>
          </a:p>
          <a:p>
            <a:r>
              <a:rPr lang="en-US" dirty="0"/>
              <a:t>The name of this file is “/Users/nachdaph/auto-mpg.csv”</a:t>
            </a:r>
          </a:p>
          <a:p>
            <a:endParaRPr lang="en-US" sz="2400" dirty="0"/>
          </a:p>
          <a:p>
            <a:pPr marL="0" indent="0">
              <a:buNone/>
            </a:pPr>
            <a:endParaRPr lang="en-US" dirty="0"/>
          </a:p>
        </p:txBody>
      </p:sp>
      <p:sp>
        <p:nvSpPr>
          <p:cNvPr id="5" name="Slide Number Placeholder 4">
            <a:extLst>
              <a:ext uri="{FF2B5EF4-FFF2-40B4-BE49-F238E27FC236}">
                <a16:creationId xmlns:a16="http://schemas.microsoft.com/office/drawing/2014/main" id="{3B2AA691-287D-A34E-9FBC-C88D5B07D344}"/>
              </a:ext>
            </a:extLst>
          </p:cNvPr>
          <p:cNvSpPr>
            <a:spLocks noGrp="1"/>
          </p:cNvSpPr>
          <p:nvPr>
            <p:ph type="sldNum" sz="quarter" idx="4294967295"/>
          </p:nvPr>
        </p:nvSpPr>
        <p:spPr>
          <a:xfrm>
            <a:off x="16154400" y="26988"/>
            <a:ext cx="2133600" cy="493712"/>
          </a:xfrm>
          <a:prstGeom prst="rect">
            <a:avLst/>
          </a:prstGeom>
        </p:spPr>
        <p:txBody>
          <a:bodyPr/>
          <a:lstStyle/>
          <a:p>
            <a:pPr defTabSz="1371600" fontAlgn="auto">
              <a:spcBef>
                <a:spcPts val="0"/>
              </a:spcBef>
              <a:spcAft>
                <a:spcPts val="0"/>
              </a:spcAft>
            </a:pPr>
            <a:fld id="{9AA7C465-8597-4488-B68C-958448427716}" type="slidenum">
              <a:rPr lang="en-US">
                <a:latin typeface="Arial"/>
                <a:ea typeface="+mn-ea"/>
              </a:rPr>
              <a:pPr defTabSz="1371600" fontAlgn="auto">
                <a:spcBef>
                  <a:spcPts val="0"/>
                </a:spcBef>
                <a:spcAft>
                  <a:spcPts val="0"/>
                </a:spcAft>
              </a:pPr>
              <a:t>44</a:t>
            </a:fld>
            <a:endParaRPr lang="en-US" dirty="0">
              <a:latin typeface="Arial"/>
              <a:ea typeface="+mn-ea"/>
            </a:endParaRPr>
          </a:p>
        </p:txBody>
      </p:sp>
      <p:sp>
        <p:nvSpPr>
          <p:cNvPr id="10" name="TextBox 9">
            <a:extLst>
              <a:ext uri="{FF2B5EF4-FFF2-40B4-BE49-F238E27FC236}">
                <a16:creationId xmlns:a16="http://schemas.microsoft.com/office/drawing/2014/main" id="{4289AB24-FBC6-357C-3F70-CA0677A2B2E5}"/>
              </a:ext>
            </a:extLst>
          </p:cNvPr>
          <p:cNvSpPr txBox="1"/>
          <p:nvPr/>
        </p:nvSpPr>
        <p:spPr>
          <a:xfrm>
            <a:off x="1098550" y="6076383"/>
            <a:ext cx="9144000" cy="2862322"/>
          </a:xfrm>
          <a:prstGeom prst="rect">
            <a:avLst/>
          </a:prstGeom>
          <a:noFill/>
        </p:spPr>
        <p:txBody>
          <a:bodyPr wrap="square">
            <a:spAutoFit/>
          </a:bodyPr>
          <a:lstStyle/>
          <a:p>
            <a:r>
              <a:rPr lang="en-US" dirty="0">
                <a:solidFill>
                  <a:srgbClr val="000000"/>
                </a:solidFill>
                <a:effectLst/>
                <a:latin typeface="Menlo" panose="020B0609030804020204" pitchFamily="49" charset="0"/>
              </a:rPr>
              <a:t>+----+---------+----------+---------+------------------+</a:t>
            </a:r>
          </a:p>
          <a:p>
            <a:r>
              <a:rPr lang="en-US" dirty="0">
                <a:solidFill>
                  <a:srgbClr val="000000"/>
                </a:solidFill>
                <a:effectLst/>
                <a:latin typeface="Menlo" panose="020B0609030804020204" pitchFamily="49" charset="0"/>
              </a:rPr>
              <a:t>| mpg|cylinders|horsepower|modelyear|           carname|</a:t>
            </a:r>
          </a:p>
          <a:p>
            <a:r>
              <a:rPr lang="en-US" dirty="0">
                <a:solidFill>
                  <a:srgbClr val="000000"/>
                </a:solidFill>
                <a:effectLst/>
                <a:latin typeface="Menlo" panose="020B0609030804020204" pitchFamily="49" charset="0"/>
              </a:rPr>
              <a:t>+----+---------+----------+---------+------------------+</a:t>
            </a:r>
          </a:p>
          <a:p>
            <a:r>
              <a:rPr lang="en-US" dirty="0">
                <a:solidFill>
                  <a:srgbClr val="000000"/>
                </a:solidFill>
                <a:effectLst/>
                <a:latin typeface="Menlo" panose="020B0609030804020204" pitchFamily="49" charset="0"/>
              </a:rPr>
              <a:t>|18.0|        6|      88.0|       71|      ford mustang|</a:t>
            </a:r>
          </a:p>
          <a:p>
            <a:r>
              <a:rPr lang="en-US" dirty="0">
                <a:solidFill>
                  <a:srgbClr val="000000"/>
                </a:solidFill>
                <a:effectLst/>
                <a:latin typeface="Menlo" panose="020B0609030804020204" pitchFamily="49" charset="0"/>
              </a:rPr>
              <a:t>|18.0|        6|     105.0|       73|  plymouth valiant|</a:t>
            </a:r>
          </a:p>
          <a:p>
            <a:r>
              <a:rPr lang="en-US" dirty="0">
                <a:solidFill>
                  <a:srgbClr val="000000"/>
                </a:solidFill>
                <a:effectLst/>
                <a:latin typeface="Menlo" panose="020B0609030804020204" pitchFamily="49" charset="0"/>
              </a:rPr>
              <a:t>|15.0|        8|     150.0|       73| dodge dart custom|</a:t>
            </a:r>
          </a:p>
          <a:p>
            <a:r>
              <a:rPr lang="en-US" dirty="0">
                <a:solidFill>
                  <a:srgbClr val="000000"/>
                </a:solidFill>
                <a:effectLst/>
                <a:latin typeface="Menlo" panose="020B0609030804020204" pitchFamily="49" charset="0"/>
              </a:rPr>
              <a:t>|23.5|        6|     110.0|       81|chevrolet citation|</a:t>
            </a:r>
          </a:p>
          <a:p>
            <a:r>
              <a:rPr lang="en-US" dirty="0">
                <a:solidFill>
                  <a:srgbClr val="000000"/>
                </a:solidFill>
                <a:effectLst/>
                <a:latin typeface="Menlo" panose="020B0609030804020204" pitchFamily="49" charset="0"/>
              </a:rPr>
              <a:t>|37.7|        4|      62.0|       81|     toyota tercel|</a:t>
            </a:r>
          </a:p>
          <a:p>
            <a:r>
              <a:rPr lang="en-US" dirty="0">
                <a:solidFill>
                  <a:srgbClr val="000000"/>
                </a:solidFill>
                <a:effectLst/>
                <a:latin typeface="Menlo" panose="020B0609030804020204" pitchFamily="49" charset="0"/>
              </a:rPr>
              <a:t>|38.0|        4|      67.0|       82|     datsun 310 gx|</a:t>
            </a:r>
          </a:p>
          <a:p>
            <a:r>
              <a:rPr lang="en-US"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27518745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24C60-8630-D3F3-ECF9-801677A7EA87}"/>
              </a:ext>
            </a:extLst>
          </p:cNvPr>
          <p:cNvSpPr>
            <a:spLocks noGrp="1"/>
          </p:cNvSpPr>
          <p:nvPr>
            <p:ph type="title"/>
          </p:nvPr>
        </p:nvSpPr>
        <p:spPr/>
        <p:txBody>
          <a:bodyPr/>
          <a:lstStyle/>
          <a:p>
            <a:r>
              <a:rPr lang="en-US" dirty="0"/>
              <a:t>An End to End Example</a:t>
            </a:r>
          </a:p>
        </p:txBody>
      </p:sp>
      <p:sp>
        <p:nvSpPr>
          <p:cNvPr id="3" name="Content Placeholder 2">
            <a:extLst>
              <a:ext uri="{FF2B5EF4-FFF2-40B4-BE49-F238E27FC236}">
                <a16:creationId xmlns:a16="http://schemas.microsoft.com/office/drawing/2014/main" id="{12A6ADCA-8C38-3F08-EBE4-C5F67F96C018}"/>
              </a:ext>
            </a:extLst>
          </p:cNvPr>
          <p:cNvSpPr>
            <a:spLocks noGrp="1"/>
          </p:cNvSpPr>
          <p:nvPr>
            <p:ph idx="1"/>
          </p:nvPr>
        </p:nvSpPr>
        <p:spPr>
          <a:xfrm>
            <a:off x="1098550" y="2050699"/>
            <a:ext cx="16084552" cy="4202183"/>
          </a:xfrm>
        </p:spPr>
        <p:txBody>
          <a:bodyPr/>
          <a:lstStyle/>
          <a:p>
            <a:r>
              <a:rPr lang="en-US" sz="2400" dirty="0"/>
              <a:t>We first create a SparkSession instance and assign it to the variable ‘spark’</a:t>
            </a:r>
          </a:p>
          <a:p>
            <a:pPr lvl="1"/>
            <a:r>
              <a:rPr lang="en-US" sz="2000" dirty="0"/>
              <a:t>This is our Spark driver which will control execution of our Spark program</a:t>
            </a:r>
          </a:p>
          <a:p>
            <a:pPr lvl="1"/>
            <a:r>
              <a:rPr lang="en-US" sz="2000" dirty="0"/>
              <a:t>The master() method specifies we will execute our program locally, using one CPU core, which is useful for debugging</a:t>
            </a:r>
          </a:p>
          <a:p>
            <a:r>
              <a:rPr lang="en-US" sz="2400" dirty="0"/>
              <a:t>In order to read this data in, we will use a DataFrameReader that is associated with our SparkSession</a:t>
            </a:r>
          </a:p>
          <a:p>
            <a:pPr lvl="1"/>
            <a:r>
              <a:rPr lang="en-US" sz="2000" dirty="0"/>
              <a:t>In doing so, we will specify the file format as well as other options</a:t>
            </a:r>
          </a:p>
          <a:p>
            <a:pPr lvl="1"/>
            <a:r>
              <a:rPr lang="en-US" sz="2000" dirty="0"/>
              <a:t>In our case, we want Spark to infer the schema (column types) by inspecting the data file</a:t>
            </a:r>
          </a:p>
          <a:p>
            <a:r>
              <a:rPr lang="en-US" sz="2400" dirty="0"/>
              <a:t>We also want to specify that the first row is the header in the file, we’ll specify that as an option too.</a:t>
            </a:r>
          </a:p>
          <a:p>
            <a:endParaRPr lang="en-US" dirty="0"/>
          </a:p>
        </p:txBody>
      </p:sp>
      <p:sp>
        <p:nvSpPr>
          <p:cNvPr id="5" name="TextBox 4">
            <a:extLst>
              <a:ext uri="{FF2B5EF4-FFF2-40B4-BE49-F238E27FC236}">
                <a16:creationId xmlns:a16="http://schemas.microsoft.com/office/drawing/2014/main" id="{5507BF97-5434-9AE1-1297-FFDD9385E850}"/>
              </a:ext>
            </a:extLst>
          </p:cNvPr>
          <p:cNvSpPr txBox="1"/>
          <p:nvPr/>
        </p:nvSpPr>
        <p:spPr>
          <a:xfrm>
            <a:off x="1689652" y="6483596"/>
            <a:ext cx="15036247" cy="3170099"/>
          </a:xfrm>
          <a:prstGeom prst="rect">
            <a:avLst/>
          </a:prstGeom>
          <a:noFill/>
        </p:spPr>
        <p:txBody>
          <a:bodyPr wrap="square">
            <a:spAutoFit/>
          </a:bodyPr>
          <a:lstStyle/>
          <a:p>
            <a:r>
              <a:rPr lang="en-US" sz="2000" dirty="0">
                <a:solidFill>
                  <a:srgbClr val="000000"/>
                </a:solidFill>
                <a:latin typeface="Menlo" panose="020B0609030804020204" pitchFamily="49" charset="0"/>
              </a:rPr>
              <a:t>import </a:t>
            </a:r>
            <a:r>
              <a:rPr lang="en-US" sz="2000" dirty="0" err="1">
                <a:solidFill>
                  <a:srgbClr val="000000"/>
                </a:solidFill>
                <a:latin typeface="Menlo" panose="020B0609030804020204" pitchFamily="49" charset="0"/>
              </a:rPr>
              <a:t>pyspark</a:t>
            </a:r>
            <a:endParaRPr lang="en-US" sz="2000" dirty="0">
              <a:solidFill>
                <a:srgbClr val="000000"/>
              </a:solidFill>
              <a:latin typeface="Menlo" panose="020B0609030804020204" pitchFamily="49" charset="0"/>
            </a:endParaRPr>
          </a:p>
          <a:p>
            <a:r>
              <a:rPr lang="en-US" sz="2000" dirty="0">
                <a:solidFill>
                  <a:srgbClr val="000000"/>
                </a:solidFill>
                <a:latin typeface="Menlo" panose="020B0609030804020204" pitchFamily="49" charset="0"/>
              </a:rPr>
              <a:t>from </a:t>
            </a:r>
            <a:r>
              <a:rPr lang="en-US" sz="2000" dirty="0" err="1">
                <a:solidFill>
                  <a:srgbClr val="000000"/>
                </a:solidFill>
                <a:latin typeface="Menlo" panose="020B0609030804020204" pitchFamily="49" charset="0"/>
              </a:rPr>
              <a:t>pyspark.sql</a:t>
            </a:r>
            <a:r>
              <a:rPr lang="en-US" sz="2000" dirty="0">
                <a:solidFill>
                  <a:srgbClr val="000000"/>
                </a:solidFill>
                <a:latin typeface="Menlo" panose="020B0609030804020204" pitchFamily="49" charset="0"/>
              </a:rPr>
              <a:t> import SparkSession</a:t>
            </a:r>
          </a:p>
          <a:p>
            <a:r>
              <a:rPr lang="en-US" sz="2000" dirty="0">
                <a:solidFill>
                  <a:srgbClr val="000000"/>
                </a:solidFill>
                <a:latin typeface="Menlo" panose="020B0609030804020204" pitchFamily="49" charset="0"/>
              </a:rPr>
              <a:t>from </a:t>
            </a:r>
            <a:r>
              <a:rPr lang="en-US" sz="2000" dirty="0" err="1">
                <a:solidFill>
                  <a:srgbClr val="000000"/>
                </a:solidFill>
                <a:latin typeface="Menlo" panose="020B0609030804020204" pitchFamily="49" charset="0"/>
              </a:rPr>
              <a:t>pyspark.sql.functions</a:t>
            </a:r>
            <a:r>
              <a:rPr lang="en-US" sz="2000" dirty="0">
                <a:solidFill>
                  <a:srgbClr val="000000"/>
                </a:solidFill>
                <a:latin typeface="Menlo" panose="020B0609030804020204" pitchFamily="49" charset="0"/>
              </a:rPr>
              <a:t> import col</a:t>
            </a:r>
          </a:p>
          <a:p>
            <a:endParaRPr lang="en-US" sz="2000" dirty="0">
              <a:solidFill>
                <a:srgbClr val="000000"/>
              </a:solidFill>
              <a:latin typeface="Menlo" panose="020B0609030804020204" pitchFamily="49" charset="0"/>
            </a:endParaRPr>
          </a:p>
          <a:p>
            <a:r>
              <a:rPr lang="en-US" sz="2000" dirty="0">
                <a:solidFill>
                  <a:srgbClr val="000000"/>
                </a:solidFill>
                <a:latin typeface="Menlo" panose="020B0609030804020204" pitchFamily="49" charset="0"/>
              </a:rPr>
              <a:t>s</a:t>
            </a:r>
            <a:r>
              <a:rPr lang="en-US" sz="2000" dirty="0">
                <a:solidFill>
                  <a:srgbClr val="000000"/>
                </a:solidFill>
                <a:effectLst/>
                <a:latin typeface="Menlo" panose="020B0609030804020204" pitchFamily="49" charset="0"/>
              </a:rPr>
              <a:t>park = </a:t>
            </a:r>
            <a:r>
              <a:rPr lang="en-US" sz="2000" dirty="0" err="1">
                <a:solidFill>
                  <a:srgbClr val="000000"/>
                </a:solidFill>
                <a:effectLst/>
                <a:latin typeface="Menlo" panose="020B0609030804020204" pitchFamily="49" charset="0"/>
              </a:rPr>
              <a:t>SparkSession</a:t>
            </a:r>
            <a:r>
              <a:rPr lang="en-US" sz="2000" dirty="0" err="1">
                <a:solidFill>
                  <a:srgbClr val="000000"/>
                </a:solidFill>
                <a:latin typeface="Menlo" panose="020B0609030804020204" pitchFamily="49" charset="0"/>
              </a:rPr>
              <a:t>.master</a:t>
            </a:r>
            <a:r>
              <a:rPr lang="en-US" sz="2000" dirty="0">
                <a:solidFill>
                  <a:srgbClr val="000000"/>
                </a:solidFill>
                <a:latin typeface="Menlo" panose="020B0609030804020204" pitchFamily="49" charset="0"/>
              </a:rPr>
              <a:t>('local[1]').</a:t>
            </a:r>
            <a:r>
              <a:rPr lang="en-US" sz="2000" dirty="0" err="1">
                <a:solidFill>
                  <a:srgbClr val="000000"/>
                </a:solidFill>
                <a:latin typeface="Menlo" panose="020B0609030804020204" pitchFamily="49" charset="0"/>
              </a:rPr>
              <a:t>appName</a:t>
            </a:r>
            <a:r>
              <a:rPr lang="en-US" sz="2000" dirty="0">
                <a:solidFill>
                  <a:srgbClr val="000000"/>
                </a:solidFill>
                <a:latin typeface="Menlo" panose="020B0609030804020204" pitchFamily="49" charset="0"/>
              </a:rPr>
              <a:t>(‘demo').</a:t>
            </a:r>
            <a:r>
              <a:rPr lang="en-US" sz="2000" dirty="0" err="1">
                <a:solidFill>
                  <a:srgbClr val="000000"/>
                </a:solidFill>
                <a:latin typeface="Menlo" panose="020B0609030804020204" pitchFamily="49" charset="0"/>
              </a:rPr>
              <a:t>getOrCreate</a:t>
            </a:r>
            <a:r>
              <a:rPr lang="en-US" sz="2000" dirty="0">
                <a:solidFill>
                  <a:srgbClr val="000000"/>
                </a:solidFill>
                <a:latin typeface="Menlo" panose="020B0609030804020204" pitchFamily="49" charset="0"/>
              </a:rPr>
              <a:t>()</a:t>
            </a:r>
          </a:p>
          <a:p>
            <a:endParaRPr lang="en-US" sz="2000" dirty="0">
              <a:solidFill>
                <a:srgbClr val="000000"/>
              </a:solidFill>
              <a:effectLst/>
              <a:latin typeface="Menlo" panose="020B0609030804020204" pitchFamily="49" charset="0"/>
            </a:endParaRPr>
          </a:p>
          <a:p>
            <a:r>
              <a:rPr lang="en-US" sz="2000" dirty="0">
                <a:solidFill>
                  <a:srgbClr val="000000"/>
                </a:solidFill>
                <a:effectLst/>
                <a:latin typeface="Menlo" panose="020B0609030804020204" pitchFamily="49" charset="0"/>
              </a:rPr>
              <a:t>df = spark.read.format("csv")\</a:t>
            </a:r>
          </a:p>
          <a:p>
            <a:r>
              <a:rPr lang="en-US" sz="2000" dirty="0">
                <a:solidFill>
                  <a:srgbClr val="000000"/>
                </a:solidFill>
                <a:latin typeface="Menlo" panose="020B0609030804020204" pitchFamily="49" charset="0"/>
              </a:rPr>
              <a:t>   </a:t>
            </a:r>
            <a:r>
              <a:rPr lang="en-US" sz="2000" dirty="0">
                <a:solidFill>
                  <a:srgbClr val="000000"/>
                </a:solidFill>
                <a:effectLst/>
                <a:latin typeface="Menlo" panose="020B0609030804020204" pitchFamily="49" charset="0"/>
              </a:rPr>
              <a:t>.option("header", 'true’)\</a:t>
            </a:r>
          </a:p>
          <a:p>
            <a:r>
              <a:rPr lang="en-US" sz="2000" dirty="0">
                <a:solidFill>
                  <a:srgbClr val="000000"/>
                </a:solidFill>
                <a:latin typeface="Menlo" panose="020B0609030804020204" pitchFamily="49" charset="0"/>
              </a:rPr>
              <a:t>   </a:t>
            </a:r>
            <a:r>
              <a:rPr lang="en-US" sz="2000" dirty="0">
                <a:solidFill>
                  <a:srgbClr val="000000"/>
                </a:solidFill>
                <a:effectLst/>
                <a:latin typeface="Menlo" panose="020B0609030804020204" pitchFamily="49" charset="0"/>
              </a:rPr>
              <a:t>.option("inferSchema", True)\</a:t>
            </a:r>
          </a:p>
          <a:p>
            <a:r>
              <a:rPr lang="en-US" sz="2000" dirty="0">
                <a:solidFill>
                  <a:srgbClr val="000000"/>
                </a:solidFill>
                <a:latin typeface="Menlo" panose="020B0609030804020204" pitchFamily="49" charset="0"/>
              </a:rPr>
              <a:t>   </a:t>
            </a:r>
            <a:r>
              <a:rPr lang="en-US" sz="2000" dirty="0">
                <a:solidFill>
                  <a:srgbClr val="000000"/>
                </a:solidFill>
                <a:effectLst/>
                <a:latin typeface="Menlo" panose="020B0609030804020204" pitchFamily="49" charset="0"/>
              </a:rPr>
              <a:t>.load("/Users/nachdaph/auto-mpg.csv")</a:t>
            </a:r>
            <a:endParaRPr lang="en-US"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5184445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CCA5-A169-A73B-8CDA-1A097D66EA0A}"/>
              </a:ext>
            </a:extLst>
          </p:cNvPr>
          <p:cNvSpPr>
            <a:spLocks noGrp="1"/>
          </p:cNvSpPr>
          <p:nvPr>
            <p:ph type="title"/>
          </p:nvPr>
        </p:nvSpPr>
        <p:spPr/>
        <p:txBody>
          <a:bodyPr/>
          <a:lstStyle/>
          <a:p>
            <a:r>
              <a:rPr lang="en-US" dirty="0"/>
              <a:t>An End to End Example</a:t>
            </a:r>
          </a:p>
        </p:txBody>
      </p:sp>
      <p:sp>
        <p:nvSpPr>
          <p:cNvPr id="3" name="Content Placeholder 2">
            <a:extLst>
              <a:ext uri="{FF2B5EF4-FFF2-40B4-BE49-F238E27FC236}">
                <a16:creationId xmlns:a16="http://schemas.microsoft.com/office/drawing/2014/main" id="{2F1CEC8F-6D08-D562-8032-A48C87CA0E06}"/>
              </a:ext>
            </a:extLst>
          </p:cNvPr>
          <p:cNvSpPr>
            <a:spLocks noGrp="1"/>
          </p:cNvSpPr>
          <p:nvPr>
            <p:ph idx="1"/>
          </p:nvPr>
        </p:nvSpPr>
        <p:spPr>
          <a:xfrm>
            <a:off x="1098550" y="2050699"/>
            <a:ext cx="16084552" cy="4727788"/>
          </a:xfrm>
        </p:spPr>
        <p:txBody>
          <a:bodyPr/>
          <a:lstStyle/>
          <a:p>
            <a:r>
              <a:rPr lang="en-US" sz="3600" dirty="0"/>
              <a:t>Each of these DataFrames have a set of columns with an unspecified number of rows</a:t>
            </a:r>
          </a:p>
          <a:p>
            <a:r>
              <a:rPr lang="en-US" sz="3600" dirty="0"/>
              <a:t>The reason the number of rows is “unspecified” is because reading data is a transformation, and is therefore a lazy operation</a:t>
            </a:r>
          </a:p>
          <a:p>
            <a:r>
              <a:rPr lang="en-US" sz="3600" dirty="0"/>
              <a:t>If we perform the head() action on the DataFrame, first the file will be read and then the results are output</a:t>
            </a:r>
          </a:p>
          <a:p>
            <a:endParaRPr lang="en-US" dirty="0"/>
          </a:p>
          <a:p>
            <a:endParaRPr lang="en-US" dirty="0"/>
          </a:p>
        </p:txBody>
      </p:sp>
      <p:sp>
        <p:nvSpPr>
          <p:cNvPr id="5" name="TextBox 4">
            <a:extLst>
              <a:ext uri="{FF2B5EF4-FFF2-40B4-BE49-F238E27FC236}">
                <a16:creationId xmlns:a16="http://schemas.microsoft.com/office/drawing/2014/main" id="{7832B457-186D-CCB2-2B32-CE7D817AEBD6}"/>
              </a:ext>
            </a:extLst>
          </p:cNvPr>
          <p:cNvSpPr txBox="1"/>
          <p:nvPr/>
        </p:nvSpPr>
        <p:spPr>
          <a:xfrm>
            <a:off x="1259095" y="7273214"/>
            <a:ext cx="15763461" cy="830997"/>
          </a:xfrm>
          <a:prstGeom prst="rect">
            <a:avLst/>
          </a:prstGeom>
          <a:noFill/>
        </p:spPr>
        <p:txBody>
          <a:bodyPr wrap="square">
            <a:spAutoFit/>
          </a:bodyPr>
          <a:lstStyle/>
          <a:p>
            <a:r>
              <a:rPr lang="en-US" sz="2400" dirty="0">
                <a:solidFill>
                  <a:srgbClr val="000000"/>
                </a:solidFill>
                <a:effectLst/>
                <a:latin typeface="Menlo" panose="020B0609030804020204" pitchFamily="49" charset="0"/>
              </a:rPr>
              <a:t>df.head()</a:t>
            </a:r>
          </a:p>
          <a:p>
            <a:r>
              <a:rPr lang="en-US" sz="2400" dirty="0">
                <a:solidFill>
                  <a:srgbClr val="000000"/>
                </a:solidFill>
                <a:effectLst/>
                <a:latin typeface="Menlo" panose="020B0609030804020204" pitchFamily="49" charset="0"/>
              </a:rPr>
              <a:t>Row(mpg=18.0, cylinders=6, horsepower=88.0, modelyear=71, carname='ford mustang')</a:t>
            </a:r>
          </a:p>
        </p:txBody>
      </p:sp>
    </p:spTree>
    <p:extLst>
      <p:ext uri="{BB962C8B-B14F-4D97-AF65-F5344CB8AC3E}">
        <p14:creationId xmlns:p14="http://schemas.microsoft.com/office/powerpoint/2010/main" val="2623714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2E80-8132-529D-6208-409D8A72607B}"/>
              </a:ext>
            </a:extLst>
          </p:cNvPr>
          <p:cNvSpPr>
            <a:spLocks noGrp="1"/>
          </p:cNvSpPr>
          <p:nvPr>
            <p:ph type="title"/>
          </p:nvPr>
        </p:nvSpPr>
        <p:spPr/>
        <p:txBody>
          <a:bodyPr/>
          <a:lstStyle/>
          <a:p>
            <a:r>
              <a:rPr lang="en-US" dirty="0"/>
              <a:t>An End to End Example</a:t>
            </a:r>
          </a:p>
        </p:txBody>
      </p:sp>
      <p:sp>
        <p:nvSpPr>
          <p:cNvPr id="3" name="Content Placeholder 2">
            <a:extLst>
              <a:ext uri="{FF2B5EF4-FFF2-40B4-BE49-F238E27FC236}">
                <a16:creationId xmlns:a16="http://schemas.microsoft.com/office/drawing/2014/main" id="{3EF7BA7E-9B16-A52A-2E54-B429A653F1AD}"/>
              </a:ext>
            </a:extLst>
          </p:cNvPr>
          <p:cNvSpPr>
            <a:spLocks noGrp="1"/>
          </p:cNvSpPr>
          <p:nvPr>
            <p:ph idx="1"/>
          </p:nvPr>
        </p:nvSpPr>
        <p:spPr>
          <a:xfrm>
            <a:off x="1098550" y="2050699"/>
            <a:ext cx="16084552" cy="5582553"/>
          </a:xfrm>
        </p:spPr>
        <p:txBody>
          <a:bodyPr/>
          <a:lstStyle/>
          <a:p>
            <a:r>
              <a:rPr lang="en-US" sz="3600" dirty="0"/>
              <a:t>Let’s define some more transformations! </a:t>
            </a:r>
          </a:p>
          <a:p>
            <a:r>
              <a:rPr lang="en-US" sz="3600" dirty="0"/>
              <a:t>Now we will filter our data according to the ‘mpg’ column which is a double type</a:t>
            </a:r>
          </a:p>
          <a:p>
            <a:r>
              <a:rPr lang="en-US" sz="3600" dirty="0"/>
              <a:t>Nothing happens to the data when we call filter because it’s just a transformation</a:t>
            </a:r>
          </a:p>
          <a:p>
            <a:r>
              <a:rPr lang="en-US" sz="3600" dirty="0"/>
              <a:t>However, Spark is building up an execution plan for how it will execute this across the cluster</a:t>
            </a:r>
          </a:p>
          <a:p>
            <a:endParaRPr lang="en-US" dirty="0"/>
          </a:p>
          <a:p>
            <a:endParaRPr lang="en-US" dirty="0"/>
          </a:p>
        </p:txBody>
      </p:sp>
      <p:sp>
        <p:nvSpPr>
          <p:cNvPr id="5" name="TextBox 4">
            <a:extLst>
              <a:ext uri="{FF2B5EF4-FFF2-40B4-BE49-F238E27FC236}">
                <a16:creationId xmlns:a16="http://schemas.microsoft.com/office/drawing/2014/main" id="{0B235486-C542-032E-AB57-81C62B64D250}"/>
              </a:ext>
            </a:extLst>
          </p:cNvPr>
          <p:cNvSpPr txBox="1"/>
          <p:nvPr/>
        </p:nvSpPr>
        <p:spPr>
          <a:xfrm>
            <a:off x="2107096" y="8051635"/>
            <a:ext cx="9144000" cy="461665"/>
          </a:xfrm>
          <a:prstGeom prst="rect">
            <a:avLst/>
          </a:prstGeom>
          <a:noFill/>
        </p:spPr>
        <p:txBody>
          <a:bodyPr wrap="square">
            <a:spAutoFit/>
          </a:bodyPr>
          <a:lstStyle/>
          <a:p>
            <a:r>
              <a:rPr lang="en-US" sz="2400" dirty="0">
                <a:solidFill>
                  <a:srgbClr val="000000"/>
                </a:solidFill>
                <a:effectLst/>
                <a:latin typeface="Menlo" panose="020B0609030804020204" pitchFamily="49" charset="0"/>
              </a:rPr>
              <a:t>df2 = df.filter(</a:t>
            </a:r>
            <a:r>
              <a:rPr lang="en-US" sz="2400" dirty="0" err="1">
                <a:solidFill>
                  <a:srgbClr val="000000"/>
                </a:solidFill>
                <a:effectLst/>
                <a:latin typeface="Menlo" panose="020B0609030804020204" pitchFamily="49" charset="0"/>
              </a:rPr>
              <a:t>df</a:t>
            </a:r>
            <a:r>
              <a:rPr lang="en-US" sz="2400" dirty="0">
                <a:solidFill>
                  <a:srgbClr val="000000"/>
                </a:solidFill>
                <a:effectLst/>
                <a:latin typeface="Menlo" panose="020B0609030804020204" pitchFamily="49" charset="0"/>
              </a:rPr>
              <a:t>['mpg'] &lt; 25)</a:t>
            </a:r>
          </a:p>
        </p:txBody>
      </p:sp>
    </p:spTree>
    <p:extLst>
      <p:ext uri="{BB962C8B-B14F-4D97-AF65-F5344CB8AC3E}">
        <p14:creationId xmlns:p14="http://schemas.microsoft.com/office/powerpoint/2010/main" val="19044125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92E80-8132-529D-6208-409D8A72607B}"/>
              </a:ext>
            </a:extLst>
          </p:cNvPr>
          <p:cNvSpPr>
            <a:spLocks noGrp="1"/>
          </p:cNvSpPr>
          <p:nvPr>
            <p:ph type="title"/>
          </p:nvPr>
        </p:nvSpPr>
        <p:spPr/>
        <p:txBody>
          <a:bodyPr/>
          <a:lstStyle/>
          <a:p>
            <a:r>
              <a:rPr lang="en-US" dirty="0"/>
              <a:t>An End to End Example</a:t>
            </a:r>
          </a:p>
        </p:txBody>
      </p:sp>
      <p:sp>
        <p:nvSpPr>
          <p:cNvPr id="3" name="Content Placeholder 2">
            <a:extLst>
              <a:ext uri="{FF2B5EF4-FFF2-40B4-BE49-F238E27FC236}">
                <a16:creationId xmlns:a16="http://schemas.microsoft.com/office/drawing/2014/main" id="{3EF7BA7E-9B16-A52A-2E54-B429A653F1AD}"/>
              </a:ext>
            </a:extLst>
          </p:cNvPr>
          <p:cNvSpPr>
            <a:spLocks noGrp="1"/>
          </p:cNvSpPr>
          <p:nvPr>
            <p:ph idx="1"/>
          </p:nvPr>
        </p:nvSpPr>
        <p:spPr>
          <a:xfrm>
            <a:off x="1098550" y="2050699"/>
            <a:ext cx="16084552" cy="2660449"/>
          </a:xfrm>
        </p:spPr>
        <p:txBody>
          <a:bodyPr/>
          <a:lstStyle/>
          <a:p>
            <a:r>
              <a:rPr lang="en-US" sz="3600"/>
              <a:t>Let’s </a:t>
            </a:r>
            <a:r>
              <a:rPr lang="en-US" sz="3600" dirty="0"/>
              <a:t>cause our filter transformation to execute by applying an action to the DataFrame df2</a:t>
            </a:r>
          </a:p>
          <a:p>
            <a:r>
              <a:rPr lang="en-US" sz="3600" dirty="0"/>
              <a:t>Our action will display the DataFrame content</a:t>
            </a:r>
          </a:p>
          <a:p>
            <a:endParaRPr lang="en-US" dirty="0"/>
          </a:p>
          <a:p>
            <a:endParaRPr lang="en-US" dirty="0"/>
          </a:p>
        </p:txBody>
      </p:sp>
      <p:sp>
        <p:nvSpPr>
          <p:cNvPr id="8" name="TextBox 7">
            <a:extLst>
              <a:ext uri="{FF2B5EF4-FFF2-40B4-BE49-F238E27FC236}">
                <a16:creationId xmlns:a16="http://schemas.microsoft.com/office/drawing/2014/main" id="{8D736CA1-13B3-7B6A-F6F3-1CB6CDFE5FEE}"/>
              </a:ext>
            </a:extLst>
          </p:cNvPr>
          <p:cNvSpPr txBox="1"/>
          <p:nvPr/>
        </p:nvSpPr>
        <p:spPr>
          <a:xfrm>
            <a:off x="1868557" y="5287043"/>
            <a:ext cx="9144000" cy="2585323"/>
          </a:xfrm>
          <a:prstGeom prst="rect">
            <a:avLst/>
          </a:prstGeom>
          <a:noFill/>
        </p:spPr>
        <p:txBody>
          <a:bodyPr wrap="square">
            <a:spAutoFit/>
          </a:bodyPr>
          <a:lstStyle/>
          <a:p>
            <a:r>
              <a:rPr lang="en-US" dirty="0">
                <a:solidFill>
                  <a:srgbClr val="000000"/>
                </a:solidFill>
                <a:effectLst/>
                <a:latin typeface="Menlo" panose="020B0609030804020204" pitchFamily="49" charset="0"/>
              </a:rPr>
              <a:t>df2.show()</a:t>
            </a:r>
          </a:p>
          <a:p>
            <a:r>
              <a:rPr lang="en-US" dirty="0">
                <a:solidFill>
                  <a:srgbClr val="000000"/>
                </a:solidFill>
                <a:effectLst/>
                <a:latin typeface="Menlo" panose="020B0609030804020204" pitchFamily="49" charset="0"/>
              </a:rPr>
              <a:t>+----+---------+----------+---------+------------------+</a:t>
            </a:r>
          </a:p>
          <a:p>
            <a:r>
              <a:rPr lang="en-US" dirty="0">
                <a:solidFill>
                  <a:srgbClr val="000000"/>
                </a:solidFill>
                <a:effectLst/>
                <a:latin typeface="Menlo" panose="020B0609030804020204" pitchFamily="49" charset="0"/>
              </a:rPr>
              <a:t>| mpg|cylinders|horsepower|modelyear|           carname|</a:t>
            </a:r>
          </a:p>
          <a:p>
            <a:r>
              <a:rPr lang="en-US" dirty="0">
                <a:solidFill>
                  <a:srgbClr val="000000"/>
                </a:solidFill>
                <a:effectLst/>
                <a:latin typeface="Menlo" panose="020B0609030804020204" pitchFamily="49" charset="0"/>
              </a:rPr>
              <a:t>+----+---------+----------+---------+------------------+</a:t>
            </a:r>
          </a:p>
          <a:p>
            <a:r>
              <a:rPr lang="en-US" dirty="0">
                <a:solidFill>
                  <a:srgbClr val="000000"/>
                </a:solidFill>
                <a:effectLst/>
                <a:latin typeface="Menlo" panose="020B0609030804020204" pitchFamily="49" charset="0"/>
              </a:rPr>
              <a:t>|18.0|        6|      88.0|       71|      ford mustang|</a:t>
            </a:r>
          </a:p>
          <a:p>
            <a:r>
              <a:rPr lang="en-US" dirty="0">
                <a:solidFill>
                  <a:srgbClr val="000000"/>
                </a:solidFill>
                <a:effectLst/>
                <a:latin typeface="Menlo" panose="020B0609030804020204" pitchFamily="49" charset="0"/>
              </a:rPr>
              <a:t>|18.0|        6|     105.0|       73|  plymouth valiant|</a:t>
            </a:r>
          </a:p>
          <a:p>
            <a:r>
              <a:rPr lang="en-US" dirty="0">
                <a:solidFill>
                  <a:srgbClr val="000000"/>
                </a:solidFill>
                <a:effectLst/>
                <a:latin typeface="Menlo" panose="020B0609030804020204" pitchFamily="49" charset="0"/>
              </a:rPr>
              <a:t>|15.0|        8|     150.0|       73| dodge dart custom|</a:t>
            </a:r>
          </a:p>
          <a:p>
            <a:r>
              <a:rPr lang="en-US" dirty="0">
                <a:solidFill>
                  <a:srgbClr val="000000"/>
                </a:solidFill>
                <a:effectLst/>
                <a:latin typeface="Menlo" panose="020B0609030804020204" pitchFamily="49" charset="0"/>
              </a:rPr>
              <a:t>|23.5|        6|     110.0|       81|chevrolet citation|</a:t>
            </a:r>
          </a:p>
          <a:p>
            <a:r>
              <a:rPr lang="en-US" dirty="0">
                <a:solidFill>
                  <a:srgbClr val="000000"/>
                </a:solidFill>
                <a:effectLst/>
                <a:latin typeface="Menlo" panose="020B0609030804020204" pitchFamily="49" charset="0"/>
              </a:rPr>
              <a:t>+----+---------+----------+---------+------------------+</a:t>
            </a:r>
          </a:p>
        </p:txBody>
      </p:sp>
    </p:spTree>
    <p:custDataLst>
      <p:tags r:id="rId1"/>
    </p:custDataLst>
    <p:extLst>
      <p:ext uri="{BB962C8B-B14F-4D97-AF65-F5344CB8AC3E}">
        <p14:creationId xmlns:p14="http://schemas.microsoft.com/office/powerpoint/2010/main" val="25486133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0745026E-D7BE-4C74-83D0-05CBD4C43A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91097</TotalTime>
  <Words>3435</Words>
  <Application>Microsoft Office PowerPoint</Application>
  <PresentationFormat>Custom</PresentationFormat>
  <Paragraphs>403</Paragraphs>
  <Slides>48</Slides>
  <Notes>1</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Breeze</vt:lpstr>
      <vt:lpstr>Module 4: Lesson 3 Spark Concepts</vt:lpstr>
      <vt:lpstr>Spark Execution Architecture</vt:lpstr>
      <vt:lpstr>Spark Execution Architecture</vt:lpstr>
      <vt:lpstr>Spark Execution Architecture Cluster Deploy Mode</vt:lpstr>
      <vt:lpstr>Spark Execution Architecture Client Deploy Mode</vt:lpstr>
      <vt:lpstr>Data Representation</vt:lpstr>
      <vt:lpstr>Resilient Distributed Datasets (RDD) A distributed collection of data organized into a sequence of elements</vt:lpstr>
      <vt:lpstr>Resilient Distributed Datasets (RDD)</vt:lpstr>
      <vt:lpstr>RDD and Partitions </vt:lpstr>
      <vt:lpstr>Resilient Distributed Datasets (RDD)</vt:lpstr>
      <vt:lpstr>MapReduce File Based Processing</vt:lpstr>
      <vt:lpstr>Data Sharing is Slow in MapReduce</vt:lpstr>
      <vt:lpstr>Spark Adaptive (In Memory and File Based Processing)  </vt:lpstr>
      <vt:lpstr>Data Sharing is Faster in Spark</vt:lpstr>
      <vt:lpstr>Iterative Algorithms: Spark vs MapReduce </vt:lpstr>
      <vt:lpstr>Resilient Distributed Dataset (RDD)</vt:lpstr>
      <vt:lpstr>Resilient Distributed Dataset (RDD)</vt:lpstr>
      <vt:lpstr>Resilient Distributed Datasets (RDD)</vt:lpstr>
      <vt:lpstr>Data Locality with RDDs</vt:lpstr>
      <vt:lpstr>Resilient Distributed Dataset (RDD)</vt:lpstr>
      <vt:lpstr>RDD Fault Tolerance</vt:lpstr>
      <vt:lpstr>DataFrame</vt:lpstr>
      <vt:lpstr>DataFrame A distributed collection of data organized into named columns</vt:lpstr>
      <vt:lpstr>DataFrames</vt:lpstr>
      <vt:lpstr>DataFrame</vt:lpstr>
      <vt:lpstr>DataFrame API</vt:lpstr>
      <vt:lpstr>DataFrame API</vt:lpstr>
      <vt:lpstr>DataFrame API</vt:lpstr>
      <vt:lpstr>DataFrame Performance</vt:lpstr>
      <vt:lpstr>Datasets</vt:lpstr>
      <vt:lpstr>Transformations and Actions</vt:lpstr>
      <vt:lpstr>Transformations</vt:lpstr>
      <vt:lpstr>Transformations</vt:lpstr>
      <vt:lpstr>Transformations</vt:lpstr>
      <vt:lpstr>Transformations</vt:lpstr>
      <vt:lpstr>Actions</vt:lpstr>
      <vt:lpstr>Actions</vt:lpstr>
      <vt:lpstr>Actions</vt:lpstr>
      <vt:lpstr>Lazy Evaluation</vt:lpstr>
      <vt:lpstr>Lazy Evaluation</vt:lpstr>
      <vt:lpstr>Catalyst Optimizer</vt:lpstr>
      <vt:lpstr>Partitions</vt:lpstr>
      <vt:lpstr>An End to End Example</vt:lpstr>
      <vt:lpstr>An End to End Example</vt:lpstr>
      <vt:lpstr>An End to End Example</vt:lpstr>
      <vt:lpstr>An End to End Example</vt:lpstr>
      <vt:lpstr>An End to End Example</vt:lpstr>
      <vt:lpstr>An End to End Example</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359</cp:revision>
  <cp:lastPrinted>2023-12-28T21:37:41Z</cp:lastPrinted>
  <dcterms:created xsi:type="dcterms:W3CDTF">2019-02-13T16:04:21Z</dcterms:created>
  <dcterms:modified xsi:type="dcterms:W3CDTF">2024-07-09T19:48:26Z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78FE6B3A-D47D-428F-ABC4-1C2500148E12</vt:lpwstr>
  </property>
  <property fmtid="{D5CDD505-2E9C-101B-9397-08002B2CF9AE}" pid="4" name="ArticulatePath">
    <vt:lpwstr>Module 4 04012024</vt:lpwstr>
  </property>
  <property fmtid="{D5CDD505-2E9C-101B-9397-08002B2CF9AE}" pid="5" name="MediaServiceImageTags">
    <vt:lpwstr/>
  </property>
</Properties>
</file>