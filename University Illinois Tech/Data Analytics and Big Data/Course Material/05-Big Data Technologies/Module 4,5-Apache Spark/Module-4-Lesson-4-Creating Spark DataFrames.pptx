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8"/>
  </p:notesMasterIdLst>
  <p:sldIdLst>
    <p:sldId id="898" r:id="rId5"/>
    <p:sldId id="928" r:id="rId6"/>
    <p:sldId id="1000" r:id="rId7"/>
    <p:sldId id="1001" r:id="rId8"/>
    <p:sldId id="1002" r:id="rId9"/>
    <p:sldId id="844" r:id="rId10"/>
    <p:sldId id="845" r:id="rId11"/>
    <p:sldId id="847" r:id="rId12"/>
    <p:sldId id="848" r:id="rId13"/>
    <p:sldId id="930" r:id="rId14"/>
    <p:sldId id="851" r:id="rId15"/>
    <p:sldId id="852" r:id="rId16"/>
    <p:sldId id="853" r:id="rId17"/>
    <p:sldId id="933" r:id="rId18"/>
    <p:sldId id="1003" r:id="rId19"/>
    <p:sldId id="883" r:id="rId20"/>
    <p:sldId id="1004" r:id="rId21"/>
    <p:sldId id="880" r:id="rId22"/>
    <p:sldId id="882" r:id="rId23"/>
    <p:sldId id="1005" r:id="rId24"/>
    <p:sldId id="1006" r:id="rId25"/>
    <p:sldId id="888" r:id="rId26"/>
    <p:sldId id="895" r:id="rId27"/>
  </p:sldIdLst>
  <p:sldSz cx="18288000" cy="10287000"/>
  <p:notesSz cx="6858000" cy="9144000"/>
  <p:custDataLst>
    <p:tags r:id="rId29"/>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8"/>
    <a:srgbClr val="E1F8FF"/>
    <a:srgbClr val="E0F8FF"/>
    <a:srgbClr val="BABABA"/>
    <a:srgbClr val="0070C0"/>
    <a:srgbClr val="959595"/>
    <a:srgbClr val="E98D0A"/>
    <a:srgbClr val="969696"/>
    <a:srgbClr val="3F4F6C"/>
    <a:srgbClr val="C507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BA72DF-071A-64C8-C38E-1B6947D9D715}" v="20" dt="2024-06-21T18:29:00.3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88"/>
    <p:restoredTop sz="95726" autoAdjust="0"/>
  </p:normalViewPr>
  <p:slideViewPr>
    <p:cSldViewPr snapToGrid="0" snapToObjects="1">
      <p:cViewPr varScale="1">
        <p:scale>
          <a:sx n="71" d="100"/>
          <a:sy n="71" d="100"/>
        </p:scale>
        <p:origin x="918" y="78"/>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18BA72DF-071A-64C8-C38E-1B6947D9D715}"/>
    <pc:docChg chg="modSld">
      <pc:chgData name="Allison Mulshine" userId="S::allison.mulshine@collegiseducation.com::5f656d52-c555-4e5e-9a5b-18226766ffe3" providerId="AD" clId="Web-{18BA72DF-071A-64C8-C38E-1B6947D9D715}" dt="2024-06-21T18:29:00.392" v="18"/>
      <pc:docMkLst>
        <pc:docMk/>
      </pc:docMkLst>
      <pc:sldChg chg="addSp modSp">
        <pc:chgData name="Allison Mulshine" userId="S::allison.mulshine@collegiseducation.com::5f656d52-c555-4e5e-9a5b-18226766ffe3" providerId="AD" clId="Web-{18BA72DF-071A-64C8-C38E-1B6947D9D715}" dt="2024-06-21T18:25:42.112" v="1"/>
        <pc:sldMkLst>
          <pc:docMk/>
          <pc:sldMk cId="2933331500" sldId="847"/>
        </pc:sldMkLst>
        <pc:spChg chg="mod">
          <ac:chgData name="Allison Mulshine" userId="S::allison.mulshine@collegiseducation.com::5f656d52-c555-4e5e-9a5b-18226766ffe3" providerId="AD" clId="Web-{18BA72DF-071A-64C8-C38E-1B6947D9D715}" dt="2024-06-21T18:25:42.112" v="1"/>
          <ac:spMkLst>
            <pc:docMk/>
            <pc:sldMk cId="2933331500" sldId="847"/>
            <ac:spMk id="7" creationId="{CDFC5A82-4F4E-76F5-BB1B-6E9652A4C66E}"/>
          </ac:spMkLst>
        </pc:spChg>
        <pc:grpChg chg="add">
          <ac:chgData name="Allison Mulshine" userId="S::allison.mulshine@collegiseducation.com::5f656d52-c555-4e5e-9a5b-18226766ffe3" providerId="AD" clId="Web-{18BA72DF-071A-64C8-C38E-1B6947D9D715}" dt="2024-06-21T18:25:29.675" v="0"/>
          <ac:grpSpMkLst>
            <pc:docMk/>
            <pc:sldMk cId="2933331500" sldId="847"/>
            <ac:grpSpMk id="15" creationId="{D835BAB7-13BD-1CBB-B2D4-A674D1166578}"/>
          </ac:grpSpMkLst>
        </pc:grpChg>
      </pc:sldChg>
      <pc:sldChg chg="modSp">
        <pc:chgData name="Allison Mulshine" userId="S::allison.mulshine@collegiseducation.com::5f656d52-c555-4e5e-9a5b-18226766ffe3" providerId="AD" clId="Web-{18BA72DF-071A-64C8-C38E-1B6947D9D715}" dt="2024-06-21T18:26:34.878" v="2"/>
        <pc:sldMkLst>
          <pc:docMk/>
          <pc:sldMk cId="2512108647" sldId="1003"/>
        </pc:sldMkLst>
        <pc:graphicFrameChg chg="mod">
          <ac:chgData name="Allison Mulshine" userId="S::allison.mulshine@collegiseducation.com::5f656d52-c555-4e5e-9a5b-18226766ffe3" providerId="AD" clId="Web-{18BA72DF-071A-64C8-C38E-1B6947D9D715}" dt="2024-06-21T18:26:34.878" v="2"/>
          <ac:graphicFrameMkLst>
            <pc:docMk/>
            <pc:sldMk cId="2512108647" sldId="1003"/>
            <ac:graphicFrameMk id="16" creationId="{618E5F47-9438-9B29-F507-C8B333BB838C}"/>
          </ac:graphicFrameMkLst>
        </pc:graphicFrameChg>
      </pc:sldChg>
      <pc:sldChg chg="modSp">
        <pc:chgData name="Allison Mulshine" userId="S::allison.mulshine@collegiseducation.com::5f656d52-c555-4e5e-9a5b-18226766ffe3" providerId="AD" clId="Web-{18BA72DF-071A-64C8-C38E-1B6947D9D715}" dt="2024-06-21T18:27:18.065" v="16"/>
        <pc:sldMkLst>
          <pc:docMk/>
          <pc:sldMk cId="3584239504" sldId="1004"/>
        </pc:sldMkLst>
        <pc:graphicFrameChg chg="mod modGraphic">
          <ac:chgData name="Allison Mulshine" userId="S::allison.mulshine@collegiseducation.com::5f656d52-c555-4e5e-9a5b-18226766ffe3" providerId="AD" clId="Web-{18BA72DF-071A-64C8-C38E-1B6947D9D715}" dt="2024-06-21T18:27:18.065" v="16"/>
          <ac:graphicFrameMkLst>
            <pc:docMk/>
            <pc:sldMk cId="3584239504" sldId="1004"/>
            <ac:graphicFrameMk id="10" creationId="{EC9DAB4A-D565-7782-A4E7-2896F519576B}"/>
          </ac:graphicFrameMkLst>
        </pc:graphicFrameChg>
      </pc:sldChg>
      <pc:sldChg chg="modSp">
        <pc:chgData name="Allison Mulshine" userId="S::allison.mulshine@collegiseducation.com::5f656d52-c555-4e5e-9a5b-18226766ffe3" providerId="AD" clId="Web-{18BA72DF-071A-64C8-C38E-1B6947D9D715}" dt="2024-06-21T18:28:20.971" v="17"/>
        <pc:sldMkLst>
          <pc:docMk/>
          <pc:sldMk cId="291783458" sldId="1005"/>
        </pc:sldMkLst>
        <pc:graphicFrameChg chg="mod">
          <ac:chgData name="Allison Mulshine" userId="S::allison.mulshine@collegiseducation.com::5f656d52-c555-4e5e-9a5b-18226766ffe3" providerId="AD" clId="Web-{18BA72DF-071A-64C8-C38E-1B6947D9D715}" dt="2024-06-21T18:28:20.971" v="17"/>
          <ac:graphicFrameMkLst>
            <pc:docMk/>
            <pc:sldMk cId="291783458" sldId="1005"/>
            <ac:graphicFrameMk id="16" creationId="{618E5F47-9438-9B29-F507-C8B333BB838C}"/>
          </ac:graphicFrameMkLst>
        </pc:graphicFrameChg>
      </pc:sldChg>
      <pc:sldChg chg="modSp">
        <pc:chgData name="Allison Mulshine" userId="S::allison.mulshine@collegiseducation.com::5f656d52-c555-4e5e-9a5b-18226766ffe3" providerId="AD" clId="Web-{18BA72DF-071A-64C8-C38E-1B6947D9D715}" dt="2024-06-21T18:29:00.392" v="18"/>
        <pc:sldMkLst>
          <pc:docMk/>
          <pc:sldMk cId="2377584618" sldId="1006"/>
        </pc:sldMkLst>
        <pc:graphicFrameChg chg="mod">
          <ac:chgData name="Allison Mulshine" userId="S::allison.mulshine@collegiseducation.com::5f656d52-c555-4e5e-9a5b-18226766ffe3" providerId="AD" clId="Web-{18BA72DF-071A-64C8-C38E-1B6947D9D715}" dt="2024-06-21T18:29:00.392" v="18"/>
          <ac:graphicFrameMkLst>
            <pc:docMk/>
            <pc:sldMk cId="2377584618" sldId="1006"/>
            <ac:graphicFrameMk id="16" creationId="{618E5F47-9438-9B29-F507-C8B333BB838C}"/>
          </ac:graphicFrameMkLst>
        </pc:graphicFrameChg>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png"/></Relationships>
</file>

<file path=ppt/diagrams/_rels/data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png"/></Relationships>
</file>

<file path=ppt/diagrams/_rels/data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png"/></Relationships>
</file>

<file path=ppt/diagrams/_rels/drawing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png"/></Relationships>
</file>

<file path=ppt/diagrams/_rels/drawing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png"/></Relationships>
</file>

<file path=ppt/diagrams/_rels/drawing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D0BB63-F3DB-7A4D-9E9E-D3BCBD2E7EB3}"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A38895C2-01F9-6245-91B5-24143C38A9C7}">
      <dgm:prSet phldrT="[Text]" custT="1"/>
      <dgm:spPr/>
      <dgm:t>
        <a:bodyPr/>
        <a:lstStyle/>
        <a:p>
          <a:pPr>
            <a:lnSpc>
              <a:spcPct val="100000"/>
            </a:lnSpc>
            <a:defRPr b="1"/>
          </a:pPr>
          <a:r>
            <a:rPr lang="en-US" sz="2800" b="1" i="0" dirty="0">
              <a:solidFill>
                <a:srgbClr val="374151"/>
              </a:solidFill>
              <a:effectLst/>
              <a:latin typeface="+mn-lt"/>
            </a:rPr>
            <a:t>Columnar     Storage</a:t>
          </a:r>
          <a:endParaRPr lang="en-US" sz="2800" dirty="0">
            <a:latin typeface="+mn-lt"/>
          </a:endParaRPr>
        </a:p>
      </dgm:t>
    </dgm:pt>
    <dgm:pt modelId="{4E7FF56D-46AD-054E-9A98-96B3BA155886}" type="parTrans" cxnId="{D3B5A944-F001-C443-B5F2-2B9F33291B32}">
      <dgm:prSet/>
      <dgm:spPr/>
      <dgm:t>
        <a:bodyPr/>
        <a:lstStyle/>
        <a:p>
          <a:endParaRPr lang="en-US" sz="3600">
            <a:latin typeface="+mn-lt"/>
          </a:endParaRPr>
        </a:p>
      </dgm:t>
    </dgm:pt>
    <dgm:pt modelId="{705E8EE7-BF08-CB4D-BD5C-3C2188954C5C}" type="sibTrans" cxnId="{D3B5A944-F001-C443-B5F2-2B9F33291B32}">
      <dgm:prSet/>
      <dgm:spPr/>
      <dgm:t>
        <a:bodyPr/>
        <a:lstStyle/>
        <a:p>
          <a:endParaRPr lang="en-US" sz="3600">
            <a:latin typeface="+mn-lt"/>
          </a:endParaRPr>
        </a:p>
      </dgm:t>
    </dgm:pt>
    <dgm:pt modelId="{DF4CF6E3-C9A0-294A-A6A2-E4217212C43B}">
      <dgm:prSet custT="1"/>
      <dgm:spPr/>
      <dgm:t>
        <a:bodyPr/>
        <a:lstStyle/>
        <a:p>
          <a:pPr>
            <a:lnSpc>
              <a:spcPct val="100000"/>
            </a:lnSpc>
          </a:pPr>
          <a:endParaRPr lang="en-US" sz="1700" b="0" i="0" dirty="0">
            <a:solidFill>
              <a:srgbClr val="374151"/>
            </a:solidFill>
            <a:effectLst/>
            <a:latin typeface="+mn-lt"/>
          </a:endParaRPr>
        </a:p>
        <a:p>
          <a:pPr>
            <a:lnSpc>
              <a:spcPct val="100000"/>
            </a:lnSpc>
          </a:pPr>
          <a:r>
            <a:rPr lang="en-US" sz="2400" b="0" i="0" dirty="0">
              <a:solidFill>
                <a:srgbClr val="374151"/>
              </a:solidFill>
              <a:effectLst/>
              <a:latin typeface="+mn-lt"/>
            </a:rPr>
            <a:t>Parquet is a columnar storage file format that organizes data in a way that optimizes for efficient reading and processing of specific columns, enhancing query performance.</a:t>
          </a:r>
        </a:p>
      </dgm:t>
    </dgm:pt>
    <dgm:pt modelId="{26BCC1A2-50B1-6E47-8757-2223D9122EAE}" type="parTrans" cxnId="{C6FA9118-A918-9347-B501-89D3F5AAFE4F}">
      <dgm:prSet/>
      <dgm:spPr/>
      <dgm:t>
        <a:bodyPr/>
        <a:lstStyle/>
        <a:p>
          <a:endParaRPr lang="en-US">
            <a:latin typeface="+mn-lt"/>
          </a:endParaRPr>
        </a:p>
      </dgm:t>
    </dgm:pt>
    <dgm:pt modelId="{BD4BE7A0-E0B1-954B-8FA5-527233E832D4}" type="sibTrans" cxnId="{C6FA9118-A918-9347-B501-89D3F5AAFE4F}">
      <dgm:prSet/>
      <dgm:spPr/>
      <dgm:t>
        <a:bodyPr/>
        <a:lstStyle/>
        <a:p>
          <a:endParaRPr lang="en-US">
            <a:latin typeface="+mn-lt"/>
          </a:endParaRPr>
        </a:p>
      </dgm:t>
    </dgm:pt>
    <dgm:pt modelId="{090FD3A5-C9F1-414B-8684-E91C554EA63D}">
      <dgm:prSet custT="1"/>
      <dgm:spPr/>
      <dgm:t>
        <a:bodyPr/>
        <a:lstStyle/>
        <a:p>
          <a:pPr>
            <a:lnSpc>
              <a:spcPct val="100000"/>
            </a:lnSpc>
            <a:defRPr b="1"/>
          </a:pPr>
          <a:r>
            <a:rPr lang="en-US" sz="2800" b="1" i="0" dirty="0">
              <a:solidFill>
                <a:srgbClr val="374151"/>
              </a:solidFill>
              <a:effectLst/>
              <a:latin typeface="+mn-lt"/>
            </a:rPr>
            <a:t>Compression Techniques</a:t>
          </a:r>
          <a:endParaRPr lang="en-US" sz="2800" b="1" dirty="0">
            <a:solidFill>
              <a:srgbClr val="374151"/>
            </a:solidFill>
            <a:latin typeface="+mn-lt"/>
          </a:endParaRPr>
        </a:p>
      </dgm:t>
    </dgm:pt>
    <dgm:pt modelId="{C38CB926-C8AF-404D-8BF4-A618A1E3F112}" type="parTrans" cxnId="{1DCD7F39-FBEC-9F43-8C75-918C187CACFB}">
      <dgm:prSet/>
      <dgm:spPr/>
      <dgm:t>
        <a:bodyPr/>
        <a:lstStyle/>
        <a:p>
          <a:endParaRPr lang="en-US">
            <a:latin typeface="+mn-lt"/>
          </a:endParaRPr>
        </a:p>
      </dgm:t>
    </dgm:pt>
    <dgm:pt modelId="{63F100E8-4655-D447-96E7-613FB4E8F8DC}" type="sibTrans" cxnId="{1DCD7F39-FBEC-9F43-8C75-918C187CACFB}">
      <dgm:prSet/>
      <dgm:spPr/>
      <dgm:t>
        <a:bodyPr/>
        <a:lstStyle/>
        <a:p>
          <a:endParaRPr lang="en-US">
            <a:latin typeface="+mn-lt"/>
          </a:endParaRPr>
        </a:p>
      </dgm:t>
    </dgm:pt>
    <dgm:pt modelId="{F10F663E-695E-D644-BD60-19FCA145D349}">
      <dgm:prSet custT="1"/>
      <dgm:spPr/>
      <dgm:t>
        <a:bodyPr/>
        <a:lstStyle/>
        <a:p>
          <a:pPr>
            <a:lnSpc>
              <a:spcPct val="100000"/>
            </a:lnSpc>
          </a:pPr>
          <a:endParaRPr lang="en-US" sz="1700" b="0" i="0" dirty="0">
            <a:solidFill>
              <a:srgbClr val="374151"/>
            </a:solidFill>
            <a:effectLst/>
            <a:latin typeface="+mn-lt"/>
          </a:endParaRPr>
        </a:p>
        <a:p>
          <a:pPr>
            <a:lnSpc>
              <a:spcPct val="100000"/>
            </a:lnSpc>
          </a:pPr>
          <a:r>
            <a:rPr lang="en-US" sz="2400" b="0" i="0" dirty="0">
              <a:solidFill>
                <a:srgbClr val="374151"/>
              </a:solidFill>
              <a:effectLst/>
              <a:latin typeface="+mn-lt"/>
            </a:rPr>
            <a:t>It employs sophisticated compression techniques to minimize storage space requirements, enabling faster data transfer and reducing the overall storage costs.</a:t>
          </a:r>
        </a:p>
      </dgm:t>
    </dgm:pt>
    <dgm:pt modelId="{72799F3E-0CAD-0D44-AF64-A140F59A59DC}" type="parTrans" cxnId="{13CE65C6-6FF2-1048-B5FC-8824108B3629}">
      <dgm:prSet/>
      <dgm:spPr/>
      <dgm:t>
        <a:bodyPr/>
        <a:lstStyle/>
        <a:p>
          <a:endParaRPr lang="en-US">
            <a:latin typeface="+mn-lt"/>
          </a:endParaRPr>
        </a:p>
      </dgm:t>
    </dgm:pt>
    <dgm:pt modelId="{528B0AA2-7DF0-9F49-A3AB-8B82350E5E7D}" type="sibTrans" cxnId="{13CE65C6-6FF2-1048-B5FC-8824108B3629}">
      <dgm:prSet/>
      <dgm:spPr/>
      <dgm:t>
        <a:bodyPr/>
        <a:lstStyle/>
        <a:p>
          <a:endParaRPr lang="en-US">
            <a:latin typeface="+mn-lt"/>
          </a:endParaRPr>
        </a:p>
      </dgm:t>
    </dgm:pt>
    <dgm:pt modelId="{97890A8A-F981-E445-B6CD-CCA36E81C061}">
      <dgm:prSet/>
      <dgm:spPr/>
      <dgm:t>
        <a:bodyPr/>
        <a:lstStyle/>
        <a:p>
          <a:pPr>
            <a:lnSpc>
              <a:spcPct val="100000"/>
            </a:lnSpc>
            <a:defRPr b="1"/>
          </a:pPr>
          <a:r>
            <a:rPr lang="en-US" b="1" i="0" dirty="0">
              <a:solidFill>
                <a:srgbClr val="374151"/>
              </a:solidFill>
              <a:effectLst/>
              <a:latin typeface="+mn-lt"/>
            </a:rPr>
            <a:t>Cross-Platform Compatibility</a:t>
          </a:r>
          <a:endParaRPr lang="en-US" b="1" dirty="0">
            <a:solidFill>
              <a:srgbClr val="374151"/>
            </a:solidFill>
            <a:latin typeface="+mn-lt"/>
          </a:endParaRPr>
        </a:p>
      </dgm:t>
    </dgm:pt>
    <dgm:pt modelId="{CE7E124D-9E86-5348-B978-A5B5D2F31474}" type="parTrans" cxnId="{8B97CB59-A39A-FF48-A7D7-90A2629C1A2D}">
      <dgm:prSet/>
      <dgm:spPr/>
      <dgm:t>
        <a:bodyPr/>
        <a:lstStyle/>
        <a:p>
          <a:endParaRPr lang="en-US">
            <a:latin typeface="+mn-lt"/>
          </a:endParaRPr>
        </a:p>
      </dgm:t>
    </dgm:pt>
    <dgm:pt modelId="{108729BE-5C12-A945-A0BD-D38866E3C9F6}" type="sibTrans" cxnId="{8B97CB59-A39A-FF48-A7D7-90A2629C1A2D}">
      <dgm:prSet/>
      <dgm:spPr/>
      <dgm:t>
        <a:bodyPr/>
        <a:lstStyle/>
        <a:p>
          <a:endParaRPr lang="en-US">
            <a:latin typeface="+mn-lt"/>
          </a:endParaRPr>
        </a:p>
      </dgm:t>
    </dgm:pt>
    <dgm:pt modelId="{A83D5D98-FB89-3F45-897B-27F97EC5DB61}">
      <dgm:prSet custT="1"/>
      <dgm:spPr/>
      <dgm:t>
        <a:bodyPr/>
        <a:lstStyle/>
        <a:p>
          <a:pPr>
            <a:lnSpc>
              <a:spcPct val="100000"/>
            </a:lnSpc>
          </a:pPr>
          <a:endParaRPr lang="en-US" sz="1700" b="0" i="0" dirty="0">
            <a:solidFill>
              <a:srgbClr val="374151"/>
            </a:solidFill>
            <a:effectLst/>
            <a:latin typeface="+mn-lt"/>
          </a:endParaRPr>
        </a:p>
        <a:p>
          <a:pPr>
            <a:lnSpc>
              <a:spcPct val="100000"/>
            </a:lnSpc>
          </a:pPr>
          <a:r>
            <a:rPr lang="en-US" sz="2400" b="0" i="0" dirty="0">
              <a:solidFill>
                <a:srgbClr val="374151"/>
              </a:solidFill>
              <a:effectLst/>
              <a:latin typeface="+mn-lt"/>
            </a:rPr>
            <a:t>As an open standard, Parquet is designed for interoperability across various data processing frameworks and programming languages. This makes it a versatile choice for diverse big data ecosystems.</a:t>
          </a:r>
        </a:p>
      </dgm:t>
    </dgm:pt>
    <dgm:pt modelId="{DE2E0E74-5941-0C44-937C-FA7EE5080CC1}" type="parTrans" cxnId="{AAF52DEE-26F1-9B49-89EB-205806F84E9E}">
      <dgm:prSet/>
      <dgm:spPr/>
      <dgm:t>
        <a:bodyPr/>
        <a:lstStyle/>
        <a:p>
          <a:endParaRPr lang="en-US">
            <a:latin typeface="+mn-lt"/>
          </a:endParaRPr>
        </a:p>
      </dgm:t>
    </dgm:pt>
    <dgm:pt modelId="{74E1D28E-024A-8143-84CB-2181444210D1}" type="sibTrans" cxnId="{AAF52DEE-26F1-9B49-89EB-205806F84E9E}">
      <dgm:prSet/>
      <dgm:spPr/>
      <dgm:t>
        <a:bodyPr/>
        <a:lstStyle/>
        <a:p>
          <a:endParaRPr lang="en-US">
            <a:latin typeface="+mn-lt"/>
          </a:endParaRPr>
        </a:p>
      </dgm:t>
    </dgm:pt>
    <dgm:pt modelId="{FE9F43BB-BDAE-F643-9FA0-A4E56B2CC94B}">
      <dgm:prSet/>
      <dgm:spPr/>
      <dgm:t>
        <a:bodyPr/>
        <a:lstStyle/>
        <a:p>
          <a:pPr>
            <a:lnSpc>
              <a:spcPct val="100000"/>
            </a:lnSpc>
            <a:defRPr b="1"/>
          </a:pPr>
          <a:r>
            <a:rPr lang="en-US" b="1" i="0" dirty="0">
              <a:solidFill>
                <a:srgbClr val="374151"/>
              </a:solidFill>
              <a:effectLst/>
              <a:latin typeface="+mn-lt"/>
            </a:rPr>
            <a:t>Used in Big </a:t>
          </a:r>
          <a:r>
            <a:rPr lang="en-US" b="1" i="0">
              <a:solidFill>
                <a:srgbClr val="374151"/>
              </a:solidFill>
              <a:effectLst/>
              <a:latin typeface="+mn-lt"/>
            </a:rPr>
            <a:t>Data Ecosystems</a:t>
          </a:r>
          <a:r>
            <a:rPr lang="en-US" b="0" i="0">
              <a:solidFill>
                <a:srgbClr val="374151"/>
              </a:solidFill>
              <a:effectLst/>
              <a:latin typeface="+mn-lt"/>
            </a:rPr>
            <a:t> </a:t>
          </a:r>
          <a:endParaRPr lang="en-US" b="0" i="0" dirty="0">
            <a:solidFill>
              <a:srgbClr val="374151"/>
            </a:solidFill>
            <a:effectLst/>
            <a:latin typeface="+mn-lt"/>
          </a:endParaRPr>
        </a:p>
      </dgm:t>
    </dgm:pt>
    <dgm:pt modelId="{E0ED0952-A8D4-8E42-A59B-97EDD45158C7}" type="parTrans" cxnId="{329A5870-D50E-8847-BBE3-4D5FB98E031D}">
      <dgm:prSet/>
      <dgm:spPr/>
      <dgm:t>
        <a:bodyPr/>
        <a:lstStyle/>
        <a:p>
          <a:endParaRPr lang="en-US">
            <a:latin typeface="+mn-lt"/>
          </a:endParaRPr>
        </a:p>
      </dgm:t>
    </dgm:pt>
    <dgm:pt modelId="{0356C9E5-550F-1441-887C-2280878E4AD6}" type="sibTrans" cxnId="{329A5870-D50E-8847-BBE3-4D5FB98E031D}">
      <dgm:prSet/>
      <dgm:spPr/>
      <dgm:t>
        <a:bodyPr/>
        <a:lstStyle/>
        <a:p>
          <a:endParaRPr lang="en-US">
            <a:latin typeface="+mn-lt"/>
          </a:endParaRPr>
        </a:p>
      </dgm:t>
    </dgm:pt>
    <dgm:pt modelId="{3F2F76EC-2E9B-B249-A648-B661498C921B}">
      <dgm:prSet custT="1"/>
      <dgm:spPr/>
      <dgm:t>
        <a:bodyPr/>
        <a:lstStyle/>
        <a:p>
          <a:pPr>
            <a:lnSpc>
              <a:spcPct val="100000"/>
            </a:lnSpc>
          </a:pPr>
          <a:endParaRPr lang="en-US" sz="1700" b="0" i="0" dirty="0">
            <a:solidFill>
              <a:srgbClr val="374151"/>
            </a:solidFill>
            <a:effectLst/>
            <a:latin typeface="+mn-lt"/>
          </a:endParaRPr>
        </a:p>
        <a:p>
          <a:pPr>
            <a:lnSpc>
              <a:spcPct val="100000"/>
            </a:lnSpc>
          </a:pPr>
          <a:r>
            <a:rPr lang="en-US" sz="2400" b="0" i="0" dirty="0">
              <a:solidFill>
                <a:srgbClr val="374151"/>
              </a:solidFill>
              <a:effectLst/>
              <a:latin typeface="+mn-lt"/>
            </a:rPr>
            <a:t>Parquet is widely adopted in big data processing frameworks like Apache Spark, Apache Hive, and Apache Impala due to its efficiency in handling large datasets and its compatibility with distributed computing environments.</a:t>
          </a:r>
        </a:p>
      </dgm:t>
    </dgm:pt>
    <dgm:pt modelId="{D69C7B57-D08C-7546-BC87-D99E0494949E}" type="parTrans" cxnId="{11A5AA23-2A72-9D46-85C1-4C318B957A76}">
      <dgm:prSet/>
      <dgm:spPr/>
      <dgm:t>
        <a:bodyPr/>
        <a:lstStyle/>
        <a:p>
          <a:endParaRPr lang="en-US">
            <a:latin typeface="+mn-lt"/>
          </a:endParaRPr>
        </a:p>
      </dgm:t>
    </dgm:pt>
    <dgm:pt modelId="{F39BE9A0-CF7D-5F43-BCA4-FFC53623AA46}" type="sibTrans" cxnId="{11A5AA23-2A72-9D46-85C1-4C318B957A76}">
      <dgm:prSet/>
      <dgm:spPr/>
      <dgm:t>
        <a:bodyPr/>
        <a:lstStyle/>
        <a:p>
          <a:endParaRPr lang="en-US">
            <a:latin typeface="+mn-lt"/>
          </a:endParaRPr>
        </a:p>
      </dgm:t>
    </dgm:pt>
    <dgm:pt modelId="{DA14DB78-971D-423E-ABBC-4C0BFC9A4508}" type="pres">
      <dgm:prSet presAssocID="{F0D0BB63-F3DB-7A4D-9E9E-D3BCBD2E7EB3}" presName="root" presStyleCnt="0">
        <dgm:presLayoutVars>
          <dgm:dir/>
          <dgm:resizeHandles val="exact"/>
        </dgm:presLayoutVars>
      </dgm:prSet>
      <dgm:spPr/>
    </dgm:pt>
    <dgm:pt modelId="{D1EA3809-354C-42AA-B040-8B295724B5DA}" type="pres">
      <dgm:prSet presAssocID="{A38895C2-01F9-6245-91B5-24143C38A9C7}" presName="compNode" presStyleCnt="0"/>
      <dgm:spPr/>
    </dgm:pt>
    <dgm:pt modelId="{9AD6AE34-E008-4F80-8A65-14EF5C53FC2D}" type="pres">
      <dgm:prSet presAssocID="{A38895C2-01F9-6245-91B5-24143C38A9C7}" presName="iconRect" presStyleLbl="node1" presStyleIdx="0" presStyleCnt="4" custFlipHor="1" custScaleX="9200" custScaleY="4313" custLinFactY="-100000" custLinFactNeighborY="-190106"/>
      <dgm:spPr>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ug under Magnifying Glass"/>
        </a:ext>
      </dgm:extLst>
    </dgm:pt>
    <dgm:pt modelId="{89D15706-1ACF-4311-A552-57407E4CF56A}" type="pres">
      <dgm:prSet presAssocID="{A38895C2-01F9-6245-91B5-24143C38A9C7}" presName="iconSpace" presStyleCnt="0"/>
      <dgm:spPr/>
    </dgm:pt>
    <dgm:pt modelId="{A3F5AACB-4941-4375-9257-3C08269C058D}" type="pres">
      <dgm:prSet presAssocID="{A38895C2-01F9-6245-91B5-24143C38A9C7}" presName="parTx" presStyleLbl="revTx" presStyleIdx="0" presStyleCnt="8">
        <dgm:presLayoutVars>
          <dgm:chMax val="0"/>
          <dgm:chPref val="0"/>
        </dgm:presLayoutVars>
      </dgm:prSet>
      <dgm:spPr/>
    </dgm:pt>
    <dgm:pt modelId="{724F3C0A-F258-4B19-BFF0-3970C1C1C86F}" type="pres">
      <dgm:prSet presAssocID="{A38895C2-01F9-6245-91B5-24143C38A9C7}" presName="txSpace" presStyleCnt="0"/>
      <dgm:spPr/>
    </dgm:pt>
    <dgm:pt modelId="{FE93FDF4-82DA-45FA-9A1E-C612D39D3B6A}" type="pres">
      <dgm:prSet presAssocID="{A38895C2-01F9-6245-91B5-24143C38A9C7}" presName="desTx" presStyleLbl="revTx" presStyleIdx="1" presStyleCnt="8">
        <dgm:presLayoutVars/>
      </dgm:prSet>
      <dgm:spPr/>
    </dgm:pt>
    <dgm:pt modelId="{E498811C-808C-435A-95EB-9D224CF52F01}" type="pres">
      <dgm:prSet presAssocID="{705E8EE7-BF08-CB4D-BD5C-3C2188954C5C}" presName="sibTrans" presStyleCnt="0"/>
      <dgm:spPr/>
    </dgm:pt>
    <dgm:pt modelId="{CFC0C022-C876-9D43-9C7D-0852DDDA81FF}" type="pres">
      <dgm:prSet presAssocID="{090FD3A5-C9F1-414B-8684-E91C554EA63D}" presName="compNode" presStyleCnt="0"/>
      <dgm:spPr/>
    </dgm:pt>
    <dgm:pt modelId="{46041DBD-3618-484C-B587-79A579F39D96}" type="pres">
      <dgm:prSet presAssocID="{090FD3A5-C9F1-414B-8684-E91C554EA63D}" presName="iconRect" presStyleLbl="node1" presStyleIdx="1" presStyleCnt="4" custFlipVert="1" custScaleY="14470"/>
      <dgm:spPr>
        <a:solidFill>
          <a:schemeClr val="bg2"/>
        </a:solidFill>
        <a:ln>
          <a:solidFill>
            <a:schemeClr val="bg2"/>
          </a:solidFill>
        </a:ln>
      </dgm:spPr>
    </dgm:pt>
    <dgm:pt modelId="{5A2969AC-3055-B048-9B81-0DC82D81EBEA}" type="pres">
      <dgm:prSet presAssocID="{090FD3A5-C9F1-414B-8684-E91C554EA63D}" presName="iconSpace" presStyleCnt="0"/>
      <dgm:spPr/>
    </dgm:pt>
    <dgm:pt modelId="{35F1E6A0-B560-CA44-BD83-F636FE406EB8}" type="pres">
      <dgm:prSet presAssocID="{090FD3A5-C9F1-414B-8684-E91C554EA63D}" presName="parTx" presStyleLbl="revTx" presStyleIdx="2" presStyleCnt="8">
        <dgm:presLayoutVars>
          <dgm:chMax val="0"/>
          <dgm:chPref val="0"/>
        </dgm:presLayoutVars>
      </dgm:prSet>
      <dgm:spPr/>
    </dgm:pt>
    <dgm:pt modelId="{A01DCEF9-6D46-E546-A108-492B13613DF2}" type="pres">
      <dgm:prSet presAssocID="{090FD3A5-C9F1-414B-8684-E91C554EA63D}" presName="txSpace" presStyleCnt="0"/>
      <dgm:spPr/>
    </dgm:pt>
    <dgm:pt modelId="{5B2D3ED2-FB03-4844-81A5-CC36DD41F6F3}" type="pres">
      <dgm:prSet presAssocID="{090FD3A5-C9F1-414B-8684-E91C554EA63D}" presName="desTx" presStyleLbl="revTx" presStyleIdx="3" presStyleCnt="8">
        <dgm:presLayoutVars/>
      </dgm:prSet>
      <dgm:spPr/>
    </dgm:pt>
    <dgm:pt modelId="{4AF23CD9-CE0E-E84C-BBD9-718BEA3BCAC6}" type="pres">
      <dgm:prSet presAssocID="{63F100E8-4655-D447-96E7-613FB4E8F8DC}" presName="sibTrans" presStyleCnt="0"/>
      <dgm:spPr/>
    </dgm:pt>
    <dgm:pt modelId="{950D1418-5E22-F94F-9AF2-140377AA4700}" type="pres">
      <dgm:prSet presAssocID="{97890A8A-F981-E445-B6CD-CCA36E81C061}" presName="compNode" presStyleCnt="0"/>
      <dgm:spPr/>
    </dgm:pt>
    <dgm:pt modelId="{A6C6E55B-E12D-EB49-8DFE-5F226C480823}" type="pres">
      <dgm:prSet presAssocID="{97890A8A-F981-E445-B6CD-CCA36E81C061}" presName="iconRect" presStyleLbl="node1" presStyleIdx="2" presStyleCnt="4" custFlipVert="1" custScaleY="2274"/>
      <dgm:spPr>
        <a:solidFill>
          <a:schemeClr val="bg2"/>
        </a:solidFill>
        <a:ln>
          <a:solidFill>
            <a:schemeClr val="bg2"/>
          </a:solidFill>
        </a:ln>
      </dgm:spPr>
    </dgm:pt>
    <dgm:pt modelId="{9C733B0A-EE59-DB48-A1F5-D12D0B2759B6}" type="pres">
      <dgm:prSet presAssocID="{97890A8A-F981-E445-B6CD-CCA36E81C061}" presName="iconSpace" presStyleCnt="0"/>
      <dgm:spPr/>
    </dgm:pt>
    <dgm:pt modelId="{2A07E2F9-15F9-6F46-93AB-09ABDF2CD465}" type="pres">
      <dgm:prSet presAssocID="{97890A8A-F981-E445-B6CD-CCA36E81C061}" presName="parTx" presStyleLbl="revTx" presStyleIdx="4" presStyleCnt="8">
        <dgm:presLayoutVars>
          <dgm:chMax val="0"/>
          <dgm:chPref val="0"/>
        </dgm:presLayoutVars>
      </dgm:prSet>
      <dgm:spPr/>
    </dgm:pt>
    <dgm:pt modelId="{5748BCB9-8B47-4D43-B66E-FD01A5055170}" type="pres">
      <dgm:prSet presAssocID="{97890A8A-F981-E445-B6CD-CCA36E81C061}" presName="txSpace" presStyleCnt="0"/>
      <dgm:spPr/>
    </dgm:pt>
    <dgm:pt modelId="{C13A5158-85AE-044F-933A-CA289D5435CC}" type="pres">
      <dgm:prSet presAssocID="{97890A8A-F981-E445-B6CD-CCA36E81C061}" presName="desTx" presStyleLbl="revTx" presStyleIdx="5" presStyleCnt="8">
        <dgm:presLayoutVars/>
      </dgm:prSet>
      <dgm:spPr/>
    </dgm:pt>
    <dgm:pt modelId="{9FE25CEB-FA9F-DE45-AAD0-F09D1D2AD443}" type="pres">
      <dgm:prSet presAssocID="{108729BE-5C12-A945-A0BD-D38866E3C9F6}" presName="sibTrans" presStyleCnt="0"/>
      <dgm:spPr/>
    </dgm:pt>
    <dgm:pt modelId="{F84DEB65-E166-674C-8300-39EA5CDEC0E7}" type="pres">
      <dgm:prSet presAssocID="{FE9F43BB-BDAE-F643-9FA0-A4E56B2CC94B}" presName="compNode" presStyleCnt="0"/>
      <dgm:spPr/>
    </dgm:pt>
    <dgm:pt modelId="{0A8063DD-D1B8-924B-B6D9-B89B32D01CA5}" type="pres">
      <dgm:prSet presAssocID="{FE9F43BB-BDAE-F643-9FA0-A4E56B2CC94B}" presName="iconRect" presStyleLbl="node1" presStyleIdx="3" presStyleCnt="4"/>
      <dgm:spPr>
        <a:solidFill>
          <a:schemeClr val="bg2"/>
        </a:solidFill>
        <a:ln>
          <a:solidFill>
            <a:schemeClr val="bg2"/>
          </a:solidFill>
        </a:ln>
      </dgm:spPr>
    </dgm:pt>
    <dgm:pt modelId="{BB6CDD83-89FA-1043-BA42-45BD0A51559C}" type="pres">
      <dgm:prSet presAssocID="{FE9F43BB-BDAE-F643-9FA0-A4E56B2CC94B}" presName="iconSpace" presStyleCnt="0"/>
      <dgm:spPr/>
    </dgm:pt>
    <dgm:pt modelId="{92C2DA11-69C1-4347-BEBE-2A51EDA99BDA}" type="pres">
      <dgm:prSet presAssocID="{FE9F43BB-BDAE-F643-9FA0-A4E56B2CC94B}" presName="parTx" presStyleLbl="revTx" presStyleIdx="6" presStyleCnt="8">
        <dgm:presLayoutVars>
          <dgm:chMax val="0"/>
          <dgm:chPref val="0"/>
        </dgm:presLayoutVars>
      </dgm:prSet>
      <dgm:spPr/>
    </dgm:pt>
    <dgm:pt modelId="{CA80B79B-5EE9-F742-A075-79CC93C9FD97}" type="pres">
      <dgm:prSet presAssocID="{FE9F43BB-BDAE-F643-9FA0-A4E56B2CC94B}" presName="txSpace" presStyleCnt="0"/>
      <dgm:spPr/>
    </dgm:pt>
    <dgm:pt modelId="{1B63803F-FCBE-3B46-82F6-23BDCF8F4150}" type="pres">
      <dgm:prSet presAssocID="{FE9F43BB-BDAE-F643-9FA0-A4E56B2CC94B}" presName="desTx" presStyleLbl="revTx" presStyleIdx="7" presStyleCnt="8">
        <dgm:presLayoutVars/>
      </dgm:prSet>
      <dgm:spPr/>
    </dgm:pt>
  </dgm:ptLst>
  <dgm:cxnLst>
    <dgm:cxn modelId="{C6FA9118-A918-9347-B501-89D3F5AAFE4F}" srcId="{A38895C2-01F9-6245-91B5-24143C38A9C7}" destId="{DF4CF6E3-C9A0-294A-A6A2-E4217212C43B}" srcOrd="0" destOrd="0" parTransId="{26BCC1A2-50B1-6E47-8757-2223D9122EAE}" sibTransId="{BD4BE7A0-E0B1-954B-8FA5-527233E832D4}"/>
    <dgm:cxn modelId="{EEAA6A23-A310-A345-9177-38CE9F8E0F19}" type="presOf" srcId="{97890A8A-F981-E445-B6CD-CCA36E81C061}" destId="{2A07E2F9-15F9-6F46-93AB-09ABDF2CD465}" srcOrd="0" destOrd="0" presId="urn:microsoft.com/office/officeart/2018/5/layout/CenteredIconLabelDescriptionList"/>
    <dgm:cxn modelId="{11A5AA23-2A72-9D46-85C1-4C318B957A76}" srcId="{FE9F43BB-BDAE-F643-9FA0-A4E56B2CC94B}" destId="{3F2F76EC-2E9B-B249-A648-B661498C921B}" srcOrd="0" destOrd="0" parTransId="{D69C7B57-D08C-7546-BC87-D99E0494949E}" sibTransId="{F39BE9A0-CF7D-5F43-BCA4-FFC53623AA46}"/>
    <dgm:cxn modelId="{0DE6592E-2283-EB42-AF40-764CBF4A0840}" type="presOf" srcId="{090FD3A5-C9F1-414B-8684-E91C554EA63D}" destId="{35F1E6A0-B560-CA44-BD83-F636FE406EB8}" srcOrd="0" destOrd="0" presId="urn:microsoft.com/office/officeart/2018/5/layout/CenteredIconLabelDescriptionList"/>
    <dgm:cxn modelId="{1DCD7F39-FBEC-9F43-8C75-918C187CACFB}" srcId="{F0D0BB63-F3DB-7A4D-9E9E-D3BCBD2E7EB3}" destId="{090FD3A5-C9F1-414B-8684-E91C554EA63D}" srcOrd="1" destOrd="0" parTransId="{C38CB926-C8AF-404D-8BF4-A618A1E3F112}" sibTransId="{63F100E8-4655-D447-96E7-613FB4E8F8DC}"/>
    <dgm:cxn modelId="{A223745C-024B-4BB6-8489-B64E0CE9C5B3}" type="presOf" srcId="{A38895C2-01F9-6245-91B5-24143C38A9C7}" destId="{A3F5AACB-4941-4375-9257-3C08269C058D}" srcOrd="0" destOrd="0" presId="urn:microsoft.com/office/officeart/2018/5/layout/CenteredIconLabelDescriptionList"/>
    <dgm:cxn modelId="{D3B5A944-F001-C443-B5F2-2B9F33291B32}" srcId="{F0D0BB63-F3DB-7A4D-9E9E-D3BCBD2E7EB3}" destId="{A38895C2-01F9-6245-91B5-24143C38A9C7}" srcOrd="0" destOrd="0" parTransId="{4E7FF56D-46AD-054E-9A98-96B3BA155886}" sibTransId="{705E8EE7-BF08-CB4D-BD5C-3C2188954C5C}"/>
    <dgm:cxn modelId="{D4336E47-35EC-2B4F-BCFA-156F6FDBB8BF}" type="presOf" srcId="{A83D5D98-FB89-3F45-897B-27F97EC5DB61}" destId="{C13A5158-85AE-044F-933A-CA289D5435CC}" srcOrd="0" destOrd="0" presId="urn:microsoft.com/office/officeart/2018/5/layout/CenteredIconLabelDescriptionList"/>
    <dgm:cxn modelId="{60351B48-1119-E94D-8D85-857BA21A465E}" type="presOf" srcId="{F10F663E-695E-D644-BD60-19FCA145D349}" destId="{5B2D3ED2-FB03-4844-81A5-CC36DD41F6F3}" srcOrd="0" destOrd="0" presId="urn:microsoft.com/office/officeart/2018/5/layout/CenteredIconLabelDescriptionList"/>
    <dgm:cxn modelId="{329A5870-D50E-8847-BBE3-4D5FB98E031D}" srcId="{F0D0BB63-F3DB-7A4D-9E9E-D3BCBD2E7EB3}" destId="{FE9F43BB-BDAE-F643-9FA0-A4E56B2CC94B}" srcOrd="3" destOrd="0" parTransId="{E0ED0952-A8D4-8E42-A59B-97EDD45158C7}" sibTransId="{0356C9E5-550F-1441-887C-2280878E4AD6}"/>
    <dgm:cxn modelId="{36632171-50F1-894D-A04F-C16FB29A0531}" type="presOf" srcId="{FE9F43BB-BDAE-F643-9FA0-A4E56B2CC94B}" destId="{92C2DA11-69C1-4347-BEBE-2A51EDA99BDA}" srcOrd="0" destOrd="0" presId="urn:microsoft.com/office/officeart/2018/5/layout/CenteredIconLabelDescriptionList"/>
    <dgm:cxn modelId="{63D5C358-F98A-492D-8528-12CA4FC1EACC}" type="presOf" srcId="{F0D0BB63-F3DB-7A4D-9E9E-D3BCBD2E7EB3}" destId="{DA14DB78-971D-423E-ABBC-4C0BFC9A4508}" srcOrd="0" destOrd="0" presId="urn:microsoft.com/office/officeart/2018/5/layout/CenteredIconLabelDescriptionList"/>
    <dgm:cxn modelId="{8B97CB59-A39A-FF48-A7D7-90A2629C1A2D}" srcId="{F0D0BB63-F3DB-7A4D-9E9E-D3BCBD2E7EB3}" destId="{97890A8A-F981-E445-B6CD-CCA36E81C061}" srcOrd="2" destOrd="0" parTransId="{CE7E124D-9E86-5348-B978-A5B5D2F31474}" sibTransId="{108729BE-5C12-A945-A0BD-D38866E3C9F6}"/>
    <dgm:cxn modelId="{7BB7E89D-0765-8142-989C-4D62CC940207}" type="presOf" srcId="{DF4CF6E3-C9A0-294A-A6A2-E4217212C43B}" destId="{FE93FDF4-82DA-45FA-9A1E-C612D39D3B6A}" srcOrd="0" destOrd="0" presId="urn:microsoft.com/office/officeart/2018/5/layout/CenteredIconLabelDescriptionList"/>
    <dgm:cxn modelId="{B94C72BC-2D56-794A-921C-1A272B45964E}" type="presOf" srcId="{3F2F76EC-2E9B-B249-A648-B661498C921B}" destId="{1B63803F-FCBE-3B46-82F6-23BDCF8F4150}" srcOrd="0" destOrd="0" presId="urn:microsoft.com/office/officeart/2018/5/layout/CenteredIconLabelDescriptionList"/>
    <dgm:cxn modelId="{13CE65C6-6FF2-1048-B5FC-8824108B3629}" srcId="{090FD3A5-C9F1-414B-8684-E91C554EA63D}" destId="{F10F663E-695E-D644-BD60-19FCA145D349}" srcOrd="0" destOrd="0" parTransId="{72799F3E-0CAD-0D44-AF64-A140F59A59DC}" sibTransId="{528B0AA2-7DF0-9F49-A3AB-8B82350E5E7D}"/>
    <dgm:cxn modelId="{AAF52DEE-26F1-9B49-89EB-205806F84E9E}" srcId="{97890A8A-F981-E445-B6CD-CCA36E81C061}" destId="{A83D5D98-FB89-3F45-897B-27F97EC5DB61}" srcOrd="0" destOrd="0" parTransId="{DE2E0E74-5941-0C44-937C-FA7EE5080CC1}" sibTransId="{74E1D28E-024A-8143-84CB-2181444210D1}"/>
    <dgm:cxn modelId="{B5542B11-3024-4A82-8846-89E2189AA203}" type="presParOf" srcId="{DA14DB78-971D-423E-ABBC-4C0BFC9A4508}" destId="{D1EA3809-354C-42AA-B040-8B295724B5DA}" srcOrd="0" destOrd="0" presId="urn:microsoft.com/office/officeart/2018/5/layout/CenteredIconLabelDescriptionList"/>
    <dgm:cxn modelId="{D8751ED9-B8E9-40E0-9EAD-F9082BCEB719}" type="presParOf" srcId="{D1EA3809-354C-42AA-B040-8B295724B5DA}" destId="{9AD6AE34-E008-4F80-8A65-14EF5C53FC2D}" srcOrd="0" destOrd="0" presId="urn:microsoft.com/office/officeart/2018/5/layout/CenteredIconLabelDescriptionList"/>
    <dgm:cxn modelId="{396F3037-A9F6-4C68-8B8C-8D7A3C0893BD}" type="presParOf" srcId="{D1EA3809-354C-42AA-B040-8B295724B5DA}" destId="{89D15706-1ACF-4311-A552-57407E4CF56A}" srcOrd="1" destOrd="0" presId="urn:microsoft.com/office/officeart/2018/5/layout/CenteredIconLabelDescriptionList"/>
    <dgm:cxn modelId="{79DE9D17-58A0-43AB-82C8-E16ECD55F502}" type="presParOf" srcId="{D1EA3809-354C-42AA-B040-8B295724B5DA}" destId="{A3F5AACB-4941-4375-9257-3C08269C058D}" srcOrd="2" destOrd="0" presId="urn:microsoft.com/office/officeart/2018/5/layout/CenteredIconLabelDescriptionList"/>
    <dgm:cxn modelId="{9B50341E-FA5F-4E9C-B18E-D96D54ABF79A}" type="presParOf" srcId="{D1EA3809-354C-42AA-B040-8B295724B5DA}" destId="{724F3C0A-F258-4B19-BFF0-3970C1C1C86F}" srcOrd="3" destOrd="0" presId="urn:microsoft.com/office/officeart/2018/5/layout/CenteredIconLabelDescriptionList"/>
    <dgm:cxn modelId="{57AB5D18-33B5-480C-B20E-52B586E1F249}" type="presParOf" srcId="{D1EA3809-354C-42AA-B040-8B295724B5DA}" destId="{FE93FDF4-82DA-45FA-9A1E-C612D39D3B6A}" srcOrd="4" destOrd="0" presId="urn:microsoft.com/office/officeart/2018/5/layout/CenteredIconLabelDescriptionList"/>
    <dgm:cxn modelId="{C1216ACB-3135-4684-A1C5-A4D57FAD19DA}" type="presParOf" srcId="{DA14DB78-971D-423E-ABBC-4C0BFC9A4508}" destId="{E498811C-808C-435A-95EB-9D224CF52F01}" srcOrd="1" destOrd="0" presId="urn:microsoft.com/office/officeart/2018/5/layout/CenteredIconLabelDescriptionList"/>
    <dgm:cxn modelId="{B0B379AB-F42C-5F44-9F39-64E4B143198D}" type="presParOf" srcId="{DA14DB78-971D-423E-ABBC-4C0BFC9A4508}" destId="{CFC0C022-C876-9D43-9C7D-0852DDDA81FF}" srcOrd="2" destOrd="0" presId="urn:microsoft.com/office/officeart/2018/5/layout/CenteredIconLabelDescriptionList"/>
    <dgm:cxn modelId="{C0F3504E-7A2A-3D43-A125-676E5FF734B4}" type="presParOf" srcId="{CFC0C022-C876-9D43-9C7D-0852DDDA81FF}" destId="{46041DBD-3618-484C-B587-79A579F39D96}" srcOrd="0" destOrd="0" presId="urn:microsoft.com/office/officeart/2018/5/layout/CenteredIconLabelDescriptionList"/>
    <dgm:cxn modelId="{F63BE5A6-41AF-E149-A6C9-8C37B0D36665}" type="presParOf" srcId="{CFC0C022-C876-9D43-9C7D-0852DDDA81FF}" destId="{5A2969AC-3055-B048-9B81-0DC82D81EBEA}" srcOrd="1" destOrd="0" presId="urn:microsoft.com/office/officeart/2018/5/layout/CenteredIconLabelDescriptionList"/>
    <dgm:cxn modelId="{A2CF1793-5DC9-AD4C-B9B5-695868BEBAAF}" type="presParOf" srcId="{CFC0C022-C876-9D43-9C7D-0852DDDA81FF}" destId="{35F1E6A0-B560-CA44-BD83-F636FE406EB8}" srcOrd="2" destOrd="0" presId="urn:microsoft.com/office/officeart/2018/5/layout/CenteredIconLabelDescriptionList"/>
    <dgm:cxn modelId="{B49263D9-6972-9649-A9F1-9640C1F85F15}" type="presParOf" srcId="{CFC0C022-C876-9D43-9C7D-0852DDDA81FF}" destId="{A01DCEF9-6D46-E546-A108-492B13613DF2}" srcOrd="3" destOrd="0" presId="urn:microsoft.com/office/officeart/2018/5/layout/CenteredIconLabelDescriptionList"/>
    <dgm:cxn modelId="{AF0DFB0C-4A0C-F74C-A671-EC8D5A5E6DBE}" type="presParOf" srcId="{CFC0C022-C876-9D43-9C7D-0852DDDA81FF}" destId="{5B2D3ED2-FB03-4844-81A5-CC36DD41F6F3}" srcOrd="4" destOrd="0" presId="urn:microsoft.com/office/officeart/2018/5/layout/CenteredIconLabelDescriptionList"/>
    <dgm:cxn modelId="{F593C996-385B-1B42-A0D3-599BCC5692BE}" type="presParOf" srcId="{DA14DB78-971D-423E-ABBC-4C0BFC9A4508}" destId="{4AF23CD9-CE0E-E84C-BBD9-718BEA3BCAC6}" srcOrd="3" destOrd="0" presId="urn:microsoft.com/office/officeart/2018/5/layout/CenteredIconLabelDescriptionList"/>
    <dgm:cxn modelId="{F287A042-99E8-B34F-83B0-C55E8214D781}" type="presParOf" srcId="{DA14DB78-971D-423E-ABBC-4C0BFC9A4508}" destId="{950D1418-5E22-F94F-9AF2-140377AA4700}" srcOrd="4" destOrd="0" presId="urn:microsoft.com/office/officeart/2018/5/layout/CenteredIconLabelDescriptionList"/>
    <dgm:cxn modelId="{D1EE50BF-AB0B-C34B-8969-256FCD3975C9}" type="presParOf" srcId="{950D1418-5E22-F94F-9AF2-140377AA4700}" destId="{A6C6E55B-E12D-EB49-8DFE-5F226C480823}" srcOrd="0" destOrd="0" presId="urn:microsoft.com/office/officeart/2018/5/layout/CenteredIconLabelDescriptionList"/>
    <dgm:cxn modelId="{4FC5D2BB-7463-834E-866A-83A36A2B47D7}" type="presParOf" srcId="{950D1418-5E22-F94F-9AF2-140377AA4700}" destId="{9C733B0A-EE59-DB48-A1F5-D12D0B2759B6}" srcOrd="1" destOrd="0" presId="urn:microsoft.com/office/officeart/2018/5/layout/CenteredIconLabelDescriptionList"/>
    <dgm:cxn modelId="{09A140C6-E7F7-BA45-96DC-B2D7F939ED71}" type="presParOf" srcId="{950D1418-5E22-F94F-9AF2-140377AA4700}" destId="{2A07E2F9-15F9-6F46-93AB-09ABDF2CD465}" srcOrd="2" destOrd="0" presId="urn:microsoft.com/office/officeart/2018/5/layout/CenteredIconLabelDescriptionList"/>
    <dgm:cxn modelId="{B4CA2DC1-513D-9B4D-9308-31A6C1BDF223}" type="presParOf" srcId="{950D1418-5E22-F94F-9AF2-140377AA4700}" destId="{5748BCB9-8B47-4D43-B66E-FD01A5055170}" srcOrd="3" destOrd="0" presId="urn:microsoft.com/office/officeart/2018/5/layout/CenteredIconLabelDescriptionList"/>
    <dgm:cxn modelId="{5A9D1D38-5320-9B41-AC64-A850B4F7D8B7}" type="presParOf" srcId="{950D1418-5E22-F94F-9AF2-140377AA4700}" destId="{C13A5158-85AE-044F-933A-CA289D5435CC}" srcOrd="4" destOrd="0" presId="urn:microsoft.com/office/officeart/2018/5/layout/CenteredIconLabelDescriptionList"/>
    <dgm:cxn modelId="{DF59C521-1DFB-9C4A-9054-87E580D71C92}" type="presParOf" srcId="{DA14DB78-971D-423E-ABBC-4C0BFC9A4508}" destId="{9FE25CEB-FA9F-DE45-AAD0-F09D1D2AD443}" srcOrd="5" destOrd="0" presId="urn:microsoft.com/office/officeart/2018/5/layout/CenteredIconLabelDescriptionList"/>
    <dgm:cxn modelId="{A756B37E-93F4-E844-B931-1B40637365C4}" type="presParOf" srcId="{DA14DB78-971D-423E-ABBC-4C0BFC9A4508}" destId="{F84DEB65-E166-674C-8300-39EA5CDEC0E7}" srcOrd="6" destOrd="0" presId="urn:microsoft.com/office/officeart/2018/5/layout/CenteredIconLabelDescriptionList"/>
    <dgm:cxn modelId="{5DA21940-90D7-4542-8C45-0D3A5C44CEB7}" type="presParOf" srcId="{F84DEB65-E166-674C-8300-39EA5CDEC0E7}" destId="{0A8063DD-D1B8-924B-B6D9-B89B32D01CA5}" srcOrd="0" destOrd="0" presId="urn:microsoft.com/office/officeart/2018/5/layout/CenteredIconLabelDescriptionList"/>
    <dgm:cxn modelId="{DE9DD75F-0657-D344-88D1-4270EE711F7C}" type="presParOf" srcId="{F84DEB65-E166-674C-8300-39EA5CDEC0E7}" destId="{BB6CDD83-89FA-1043-BA42-45BD0A51559C}" srcOrd="1" destOrd="0" presId="urn:microsoft.com/office/officeart/2018/5/layout/CenteredIconLabelDescriptionList"/>
    <dgm:cxn modelId="{491C490E-45A0-2743-B65A-9D3328472F74}" type="presParOf" srcId="{F84DEB65-E166-674C-8300-39EA5CDEC0E7}" destId="{92C2DA11-69C1-4347-BEBE-2A51EDA99BDA}" srcOrd="2" destOrd="0" presId="urn:microsoft.com/office/officeart/2018/5/layout/CenteredIconLabelDescriptionList"/>
    <dgm:cxn modelId="{3E9F4B7B-7579-8C4B-AB4E-93578E2B280B}" type="presParOf" srcId="{F84DEB65-E166-674C-8300-39EA5CDEC0E7}" destId="{CA80B79B-5EE9-F742-A075-79CC93C9FD97}" srcOrd="3" destOrd="0" presId="urn:microsoft.com/office/officeart/2018/5/layout/CenteredIconLabelDescriptionList"/>
    <dgm:cxn modelId="{2402F600-667F-C841-9D8B-12E5C5D7D65A}" type="presParOf" srcId="{F84DEB65-E166-674C-8300-39EA5CDEC0E7}" destId="{1B63803F-FCBE-3B46-82F6-23BDCF8F4150}" srcOrd="4" destOrd="0" presId="urn:microsoft.com/office/officeart/2018/5/layout/CenteredIconLabelDescription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D0BB63-F3DB-7A4D-9E9E-D3BCBD2E7EB3}"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A38895C2-01F9-6245-91B5-24143C38A9C7}">
      <dgm:prSet phldrT="[Text]" custT="1"/>
      <dgm:spPr/>
      <dgm:t>
        <a:bodyPr/>
        <a:lstStyle/>
        <a:p>
          <a:pPr>
            <a:lnSpc>
              <a:spcPct val="100000"/>
            </a:lnSpc>
            <a:defRPr b="1"/>
          </a:pPr>
          <a:r>
            <a:rPr lang="en-US" sz="2800" b="1" i="0" dirty="0">
              <a:solidFill>
                <a:srgbClr val="1F1F1F"/>
              </a:solidFill>
              <a:effectLst/>
              <a:latin typeface="+mn-lt"/>
            </a:rPr>
            <a:t>Enhanced Query Performance</a:t>
          </a:r>
          <a:endParaRPr lang="en-US" sz="2800" b="1" dirty="0">
            <a:latin typeface="+mn-lt"/>
          </a:endParaRPr>
        </a:p>
      </dgm:t>
    </dgm:pt>
    <dgm:pt modelId="{705E8EE7-BF08-CB4D-BD5C-3C2188954C5C}" type="sibTrans" cxnId="{D3B5A944-F001-C443-B5F2-2B9F33291B32}">
      <dgm:prSet/>
      <dgm:spPr/>
      <dgm:t>
        <a:bodyPr/>
        <a:lstStyle/>
        <a:p>
          <a:endParaRPr lang="en-US" sz="3600">
            <a:latin typeface="+mn-lt"/>
          </a:endParaRPr>
        </a:p>
      </dgm:t>
    </dgm:pt>
    <dgm:pt modelId="{4E7FF56D-46AD-054E-9A98-96B3BA155886}" type="parTrans" cxnId="{D3B5A944-F001-C443-B5F2-2B9F33291B32}">
      <dgm:prSet/>
      <dgm:spPr/>
      <dgm:t>
        <a:bodyPr/>
        <a:lstStyle/>
        <a:p>
          <a:endParaRPr lang="en-US" sz="3600">
            <a:latin typeface="+mn-lt"/>
          </a:endParaRPr>
        </a:p>
      </dgm:t>
    </dgm:pt>
    <dgm:pt modelId="{DF4CF6E3-C9A0-294A-A6A2-E4217212C43B}">
      <dgm:prSet custT="1"/>
      <dgm:spPr/>
      <dgm:t>
        <a:bodyPr/>
        <a:lstStyle/>
        <a:p>
          <a:pPr>
            <a:lnSpc>
              <a:spcPct val="100000"/>
            </a:lnSpc>
          </a:pPr>
          <a:endParaRPr lang="en-US" sz="1700" b="0" i="0" dirty="0">
            <a:solidFill>
              <a:srgbClr val="374151"/>
            </a:solidFill>
            <a:effectLst/>
            <a:latin typeface="+mn-lt"/>
          </a:endParaRPr>
        </a:p>
        <a:p>
          <a:pPr>
            <a:lnSpc>
              <a:spcPct val="100000"/>
            </a:lnSpc>
          </a:pPr>
          <a:r>
            <a:rPr lang="en-US" sz="2400" b="0" i="0" dirty="0">
              <a:solidFill>
                <a:srgbClr val="1F1F1F"/>
              </a:solidFill>
              <a:effectLst/>
              <a:latin typeface="+mn-lt"/>
            </a:rPr>
            <a:t>Unlike row-based formats, Parquet's columnar organization facilitates targeted data retrieval. This significantly reduces I/O operations and processing overhead, resulting in demonstrably faster queries, especially when focusing on specific columns.</a:t>
          </a:r>
          <a:endParaRPr lang="en-US" sz="2400" b="0" i="0" dirty="0">
            <a:solidFill>
              <a:srgbClr val="374151"/>
            </a:solidFill>
            <a:effectLst/>
            <a:latin typeface="+mn-lt"/>
          </a:endParaRPr>
        </a:p>
      </dgm:t>
    </dgm:pt>
    <dgm:pt modelId="{BD4BE7A0-E0B1-954B-8FA5-527233E832D4}" type="sibTrans" cxnId="{C6FA9118-A918-9347-B501-89D3F5AAFE4F}">
      <dgm:prSet/>
      <dgm:spPr/>
      <dgm:t>
        <a:bodyPr/>
        <a:lstStyle/>
        <a:p>
          <a:endParaRPr lang="en-US">
            <a:latin typeface="+mn-lt"/>
          </a:endParaRPr>
        </a:p>
      </dgm:t>
    </dgm:pt>
    <dgm:pt modelId="{26BCC1A2-50B1-6E47-8757-2223D9122EAE}" type="parTrans" cxnId="{C6FA9118-A918-9347-B501-89D3F5AAFE4F}">
      <dgm:prSet/>
      <dgm:spPr/>
      <dgm:t>
        <a:bodyPr/>
        <a:lstStyle/>
        <a:p>
          <a:endParaRPr lang="en-US">
            <a:latin typeface="+mn-lt"/>
          </a:endParaRPr>
        </a:p>
      </dgm:t>
    </dgm:pt>
    <dgm:pt modelId="{090FD3A5-C9F1-414B-8684-E91C554EA63D}">
      <dgm:prSet custT="1"/>
      <dgm:spPr/>
      <dgm:t>
        <a:bodyPr/>
        <a:lstStyle/>
        <a:p>
          <a:pPr>
            <a:lnSpc>
              <a:spcPct val="100000"/>
            </a:lnSpc>
            <a:defRPr b="1"/>
          </a:pPr>
          <a:r>
            <a:rPr lang="en-US" sz="2800" b="1" i="0" dirty="0">
              <a:solidFill>
                <a:srgbClr val="1F1F1F"/>
              </a:solidFill>
              <a:effectLst/>
              <a:latin typeface="+mn-lt"/>
            </a:rPr>
            <a:t>Optimized Storage Footprint</a:t>
          </a:r>
          <a:endParaRPr lang="en-US" sz="2800" b="1" dirty="0">
            <a:solidFill>
              <a:srgbClr val="374151"/>
            </a:solidFill>
            <a:latin typeface="+mn-lt"/>
          </a:endParaRPr>
        </a:p>
      </dgm:t>
    </dgm:pt>
    <dgm:pt modelId="{63F100E8-4655-D447-96E7-613FB4E8F8DC}" type="sibTrans" cxnId="{1DCD7F39-FBEC-9F43-8C75-918C187CACFB}">
      <dgm:prSet/>
      <dgm:spPr/>
      <dgm:t>
        <a:bodyPr/>
        <a:lstStyle/>
        <a:p>
          <a:endParaRPr lang="en-US">
            <a:latin typeface="+mn-lt"/>
          </a:endParaRPr>
        </a:p>
      </dgm:t>
    </dgm:pt>
    <dgm:pt modelId="{C38CB926-C8AF-404D-8BF4-A618A1E3F112}" type="parTrans" cxnId="{1DCD7F39-FBEC-9F43-8C75-918C187CACFB}">
      <dgm:prSet/>
      <dgm:spPr/>
      <dgm:t>
        <a:bodyPr/>
        <a:lstStyle/>
        <a:p>
          <a:endParaRPr lang="en-US">
            <a:latin typeface="+mn-lt"/>
          </a:endParaRPr>
        </a:p>
      </dgm:t>
    </dgm:pt>
    <dgm:pt modelId="{F10F663E-695E-D644-BD60-19FCA145D349}">
      <dgm:prSet custT="1"/>
      <dgm:spPr/>
      <dgm:t>
        <a:bodyPr/>
        <a:lstStyle/>
        <a:p>
          <a:pPr>
            <a:lnSpc>
              <a:spcPct val="100000"/>
            </a:lnSpc>
          </a:pPr>
          <a:endParaRPr lang="en-US" sz="1700" b="0" i="0" dirty="0">
            <a:solidFill>
              <a:srgbClr val="374151"/>
            </a:solidFill>
            <a:effectLst/>
            <a:latin typeface="+mn-lt"/>
          </a:endParaRPr>
        </a:p>
        <a:p>
          <a:pPr>
            <a:lnSpc>
              <a:spcPct val="100000"/>
            </a:lnSpc>
          </a:pPr>
          <a:r>
            <a:rPr lang="en-US" sz="2400" b="0" i="0" dirty="0">
              <a:solidFill>
                <a:srgbClr val="1F1F1F"/>
              </a:solidFill>
              <a:effectLst/>
              <a:latin typeface="+mn-lt"/>
            </a:rPr>
            <a:t>Parquet leverages sophisticated compression techniques to achieve substantial file size reductions. This translates to reduced storage costs, faster data transfer times, and improved overall storage efficiency.</a:t>
          </a:r>
          <a:endParaRPr lang="en-US" sz="2400" b="0" i="0" dirty="0">
            <a:solidFill>
              <a:srgbClr val="374151"/>
            </a:solidFill>
            <a:effectLst/>
            <a:latin typeface="+mn-lt"/>
          </a:endParaRPr>
        </a:p>
      </dgm:t>
    </dgm:pt>
    <dgm:pt modelId="{528B0AA2-7DF0-9F49-A3AB-8B82350E5E7D}" type="sibTrans" cxnId="{13CE65C6-6FF2-1048-B5FC-8824108B3629}">
      <dgm:prSet/>
      <dgm:spPr/>
      <dgm:t>
        <a:bodyPr/>
        <a:lstStyle/>
        <a:p>
          <a:endParaRPr lang="en-US">
            <a:latin typeface="+mn-lt"/>
          </a:endParaRPr>
        </a:p>
      </dgm:t>
    </dgm:pt>
    <dgm:pt modelId="{72799F3E-0CAD-0D44-AF64-A140F59A59DC}" type="parTrans" cxnId="{13CE65C6-6FF2-1048-B5FC-8824108B3629}">
      <dgm:prSet/>
      <dgm:spPr/>
      <dgm:t>
        <a:bodyPr/>
        <a:lstStyle/>
        <a:p>
          <a:endParaRPr lang="en-US">
            <a:latin typeface="+mn-lt"/>
          </a:endParaRPr>
        </a:p>
      </dgm:t>
    </dgm:pt>
    <dgm:pt modelId="{97890A8A-F981-E445-B6CD-CCA36E81C061}">
      <dgm:prSet/>
      <dgm:spPr/>
      <dgm:t>
        <a:bodyPr/>
        <a:lstStyle/>
        <a:p>
          <a:pPr>
            <a:lnSpc>
              <a:spcPct val="100000"/>
            </a:lnSpc>
            <a:defRPr b="1"/>
          </a:pPr>
          <a:r>
            <a:rPr lang="en-US" b="1" i="0" dirty="0">
              <a:solidFill>
                <a:srgbClr val="1F1F1F"/>
              </a:solidFill>
              <a:effectLst/>
              <a:latin typeface="+mn-lt"/>
            </a:rPr>
            <a:t>Granular Data Management</a:t>
          </a:r>
          <a:endParaRPr lang="en-US" b="1" dirty="0">
            <a:solidFill>
              <a:srgbClr val="374151"/>
            </a:solidFill>
            <a:latin typeface="+mn-lt"/>
          </a:endParaRPr>
        </a:p>
      </dgm:t>
    </dgm:pt>
    <dgm:pt modelId="{108729BE-5C12-A945-A0BD-D38866E3C9F6}" type="sibTrans" cxnId="{8B97CB59-A39A-FF48-A7D7-90A2629C1A2D}">
      <dgm:prSet/>
      <dgm:spPr/>
      <dgm:t>
        <a:bodyPr/>
        <a:lstStyle/>
        <a:p>
          <a:endParaRPr lang="en-US">
            <a:latin typeface="+mn-lt"/>
          </a:endParaRPr>
        </a:p>
      </dgm:t>
    </dgm:pt>
    <dgm:pt modelId="{CE7E124D-9E86-5348-B978-A5B5D2F31474}" type="parTrans" cxnId="{8B97CB59-A39A-FF48-A7D7-90A2629C1A2D}">
      <dgm:prSet/>
      <dgm:spPr/>
      <dgm:t>
        <a:bodyPr/>
        <a:lstStyle/>
        <a:p>
          <a:endParaRPr lang="en-US">
            <a:latin typeface="+mn-lt"/>
          </a:endParaRPr>
        </a:p>
      </dgm:t>
    </dgm:pt>
    <dgm:pt modelId="{A83D5D98-FB89-3F45-897B-27F97EC5DB61}">
      <dgm:prSet custT="1"/>
      <dgm:spPr/>
      <dgm:t>
        <a:bodyPr/>
        <a:lstStyle/>
        <a:p>
          <a:pPr>
            <a:lnSpc>
              <a:spcPct val="100000"/>
            </a:lnSpc>
          </a:pPr>
          <a:endParaRPr lang="en-US" sz="1700" b="0" i="0" dirty="0">
            <a:solidFill>
              <a:srgbClr val="374151"/>
            </a:solidFill>
            <a:effectLst/>
            <a:latin typeface="+mn-lt"/>
          </a:endParaRPr>
        </a:p>
        <a:p>
          <a:pPr>
            <a:lnSpc>
              <a:spcPct val="100000"/>
            </a:lnSpc>
          </a:pPr>
          <a:r>
            <a:rPr lang="en-US" sz="2400" b="0" i="0" dirty="0">
              <a:solidFill>
                <a:srgbClr val="1F1F1F"/>
              </a:solidFill>
              <a:effectLst/>
              <a:latin typeface="+mn-lt"/>
            </a:rPr>
            <a:t>Parquet boasts comprehensive metadata encompassing schema, compression, and row group locations. This metadata acts as a valuable resource, simplifying data comprehension, analysis, and optimization task</a:t>
          </a:r>
          <a:endParaRPr lang="en-US" sz="2400" b="0" i="0" dirty="0">
            <a:solidFill>
              <a:srgbClr val="374151"/>
            </a:solidFill>
            <a:effectLst/>
            <a:latin typeface="+mn-lt"/>
          </a:endParaRPr>
        </a:p>
      </dgm:t>
    </dgm:pt>
    <dgm:pt modelId="{74E1D28E-024A-8143-84CB-2181444210D1}" type="sibTrans" cxnId="{AAF52DEE-26F1-9B49-89EB-205806F84E9E}">
      <dgm:prSet/>
      <dgm:spPr/>
      <dgm:t>
        <a:bodyPr/>
        <a:lstStyle/>
        <a:p>
          <a:endParaRPr lang="en-US">
            <a:latin typeface="+mn-lt"/>
          </a:endParaRPr>
        </a:p>
      </dgm:t>
    </dgm:pt>
    <dgm:pt modelId="{DE2E0E74-5941-0C44-937C-FA7EE5080CC1}" type="parTrans" cxnId="{AAF52DEE-26F1-9B49-89EB-205806F84E9E}">
      <dgm:prSet/>
      <dgm:spPr/>
      <dgm:t>
        <a:bodyPr/>
        <a:lstStyle/>
        <a:p>
          <a:endParaRPr lang="en-US">
            <a:latin typeface="+mn-lt"/>
          </a:endParaRPr>
        </a:p>
      </dgm:t>
    </dgm:pt>
    <dgm:pt modelId="{DA14DB78-971D-423E-ABBC-4C0BFC9A4508}" type="pres">
      <dgm:prSet presAssocID="{F0D0BB63-F3DB-7A4D-9E9E-D3BCBD2E7EB3}" presName="root" presStyleCnt="0">
        <dgm:presLayoutVars>
          <dgm:dir/>
          <dgm:resizeHandles val="exact"/>
        </dgm:presLayoutVars>
      </dgm:prSet>
      <dgm:spPr/>
    </dgm:pt>
    <dgm:pt modelId="{D1EA3809-354C-42AA-B040-8B295724B5DA}" type="pres">
      <dgm:prSet presAssocID="{A38895C2-01F9-6245-91B5-24143C38A9C7}" presName="compNode" presStyleCnt="0"/>
      <dgm:spPr/>
    </dgm:pt>
    <dgm:pt modelId="{9AD6AE34-E008-4F80-8A65-14EF5C53FC2D}" type="pres">
      <dgm:prSet presAssocID="{A38895C2-01F9-6245-91B5-24143C38A9C7}" presName="iconRect" presStyleLbl="node1" presStyleIdx="0" presStyleCnt="3" custFlipHor="1" custScaleX="9200" custScaleY="4313" custLinFactY="-100000" custLinFactNeighborY="-190106"/>
      <dgm:spPr>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ug under Magnifying Glass"/>
        </a:ext>
      </dgm:extLst>
    </dgm:pt>
    <dgm:pt modelId="{89D15706-1ACF-4311-A552-57407E4CF56A}" type="pres">
      <dgm:prSet presAssocID="{A38895C2-01F9-6245-91B5-24143C38A9C7}" presName="iconSpace" presStyleCnt="0"/>
      <dgm:spPr/>
    </dgm:pt>
    <dgm:pt modelId="{A3F5AACB-4941-4375-9257-3C08269C058D}" type="pres">
      <dgm:prSet presAssocID="{A38895C2-01F9-6245-91B5-24143C38A9C7}" presName="parTx" presStyleLbl="revTx" presStyleIdx="0" presStyleCnt="6">
        <dgm:presLayoutVars>
          <dgm:chMax val="0"/>
          <dgm:chPref val="0"/>
        </dgm:presLayoutVars>
      </dgm:prSet>
      <dgm:spPr/>
    </dgm:pt>
    <dgm:pt modelId="{724F3C0A-F258-4B19-BFF0-3970C1C1C86F}" type="pres">
      <dgm:prSet presAssocID="{A38895C2-01F9-6245-91B5-24143C38A9C7}" presName="txSpace" presStyleCnt="0"/>
      <dgm:spPr/>
    </dgm:pt>
    <dgm:pt modelId="{FE93FDF4-82DA-45FA-9A1E-C612D39D3B6A}" type="pres">
      <dgm:prSet presAssocID="{A38895C2-01F9-6245-91B5-24143C38A9C7}" presName="desTx" presStyleLbl="revTx" presStyleIdx="1" presStyleCnt="6">
        <dgm:presLayoutVars/>
      </dgm:prSet>
      <dgm:spPr/>
    </dgm:pt>
    <dgm:pt modelId="{E498811C-808C-435A-95EB-9D224CF52F01}" type="pres">
      <dgm:prSet presAssocID="{705E8EE7-BF08-CB4D-BD5C-3C2188954C5C}" presName="sibTrans" presStyleCnt="0"/>
      <dgm:spPr/>
    </dgm:pt>
    <dgm:pt modelId="{CFC0C022-C876-9D43-9C7D-0852DDDA81FF}" type="pres">
      <dgm:prSet presAssocID="{090FD3A5-C9F1-414B-8684-E91C554EA63D}" presName="compNode" presStyleCnt="0"/>
      <dgm:spPr/>
    </dgm:pt>
    <dgm:pt modelId="{46041DBD-3618-484C-B587-79A579F39D96}" type="pres">
      <dgm:prSet presAssocID="{090FD3A5-C9F1-414B-8684-E91C554EA63D}" presName="iconRect" presStyleLbl="node1" presStyleIdx="1" presStyleCnt="3" custFlipVert="1" custScaleY="14470"/>
      <dgm:spPr>
        <a:solidFill>
          <a:schemeClr val="bg2"/>
        </a:solidFill>
        <a:ln>
          <a:solidFill>
            <a:schemeClr val="bg2"/>
          </a:solidFill>
        </a:ln>
      </dgm:spPr>
    </dgm:pt>
    <dgm:pt modelId="{5A2969AC-3055-B048-9B81-0DC82D81EBEA}" type="pres">
      <dgm:prSet presAssocID="{090FD3A5-C9F1-414B-8684-E91C554EA63D}" presName="iconSpace" presStyleCnt="0"/>
      <dgm:spPr/>
    </dgm:pt>
    <dgm:pt modelId="{35F1E6A0-B560-CA44-BD83-F636FE406EB8}" type="pres">
      <dgm:prSet presAssocID="{090FD3A5-C9F1-414B-8684-E91C554EA63D}" presName="parTx" presStyleLbl="revTx" presStyleIdx="2" presStyleCnt="6">
        <dgm:presLayoutVars>
          <dgm:chMax val="0"/>
          <dgm:chPref val="0"/>
        </dgm:presLayoutVars>
      </dgm:prSet>
      <dgm:spPr/>
    </dgm:pt>
    <dgm:pt modelId="{A01DCEF9-6D46-E546-A108-492B13613DF2}" type="pres">
      <dgm:prSet presAssocID="{090FD3A5-C9F1-414B-8684-E91C554EA63D}" presName="txSpace" presStyleCnt="0"/>
      <dgm:spPr/>
    </dgm:pt>
    <dgm:pt modelId="{5B2D3ED2-FB03-4844-81A5-CC36DD41F6F3}" type="pres">
      <dgm:prSet presAssocID="{090FD3A5-C9F1-414B-8684-E91C554EA63D}" presName="desTx" presStyleLbl="revTx" presStyleIdx="3" presStyleCnt="6">
        <dgm:presLayoutVars/>
      </dgm:prSet>
      <dgm:spPr/>
    </dgm:pt>
    <dgm:pt modelId="{4AF23CD9-CE0E-E84C-BBD9-718BEA3BCAC6}" type="pres">
      <dgm:prSet presAssocID="{63F100E8-4655-D447-96E7-613FB4E8F8DC}" presName="sibTrans" presStyleCnt="0"/>
      <dgm:spPr/>
    </dgm:pt>
    <dgm:pt modelId="{950D1418-5E22-F94F-9AF2-140377AA4700}" type="pres">
      <dgm:prSet presAssocID="{97890A8A-F981-E445-B6CD-CCA36E81C061}" presName="compNode" presStyleCnt="0"/>
      <dgm:spPr/>
    </dgm:pt>
    <dgm:pt modelId="{A6C6E55B-E12D-EB49-8DFE-5F226C480823}" type="pres">
      <dgm:prSet presAssocID="{97890A8A-F981-E445-B6CD-CCA36E81C061}" presName="iconRect" presStyleLbl="node1" presStyleIdx="2" presStyleCnt="3" custFlipVert="1" custScaleY="2274"/>
      <dgm:spPr>
        <a:solidFill>
          <a:schemeClr val="bg2"/>
        </a:solidFill>
        <a:ln>
          <a:solidFill>
            <a:schemeClr val="bg2"/>
          </a:solidFill>
        </a:ln>
      </dgm:spPr>
    </dgm:pt>
    <dgm:pt modelId="{9C733B0A-EE59-DB48-A1F5-D12D0B2759B6}" type="pres">
      <dgm:prSet presAssocID="{97890A8A-F981-E445-B6CD-CCA36E81C061}" presName="iconSpace" presStyleCnt="0"/>
      <dgm:spPr/>
    </dgm:pt>
    <dgm:pt modelId="{2A07E2F9-15F9-6F46-93AB-09ABDF2CD465}" type="pres">
      <dgm:prSet presAssocID="{97890A8A-F981-E445-B6CD-CCA36E81C061}" presName="parTx" presStyleLbl="revTx" presStyleIdx="4" presStyleCnt="6">
        <dgm:presLayoutVars>
          <dgm:chMax val="0"/>
          <dgm:chPref val="0"/>
        </dgm:presLayoutVars>
      </dgm:prSet>
      <dgm:spPr/>
    </dgm:pt>
    <dgm:pt modelId="{5748BCB9-8B47-4D43-B66E-FD01A5055170}" type="pres">
      <dgm:prSet presAssocID="{97890A8A-F981-E445-B6CD-CCA36E81C061}" presName="txSpace" presStyleCnt="0"/>
      <dgm:spPr/>
    </dgm:pt>
    <dgm:pt modelId="{C13A5158-85AE-044F-933A-CA289D5435CC}" type="pres">
      <dgm:prSet presAssocID="{97890A8A-F981-E445-B6CD-CCA36E81C061}" presName="desTx" presStyleLbl="revTx" presStyleIdx="5" presStyleCnt="6">
        <dgm:presLayoutVars/>
      </dgm:prSet>
      <dgm:spPr/>
    </dgm:pt>
  </dgm:ptLst>
  <dgm:cxnLst>
    <dgm:cxn modelId="{C6FA9118-A918-9347-B501-89D3F5AAFE4F}" srcId="{A38895C2-01F9-6245-91B5-24143C38A9C7}" destId="{DF4CF6E3-C9A0-294A-A6A2-E4217212C43B}" srcOrd="0" destOrd="0" parTransId="{26BCC1A2-50B1-6E47-8757-2223D9122EAE}" sibTransId="{BD4BE7A0-E0B1-954B-8FA5-527233E832D4}"/>
    <dgm:cxn modelId="{EEAA6A23-A310-A345-9177-38CE9F8E0F19}" type="presOf" srcId="{97890A8A-F981-E445-B6CD-CCA36E81C061}" destId="{2A07E2F9-15F9-6F46-93AB-09ABDF2CD465}" srcOrd="0" destOrd="0" presId="urn:microsoft.com/office/officeart/2018/5/layout/CenteredIconLabelDescriptionList"/>
    <dgm:cxn modelId="{0DE6592E-2283-EB42-AF40-764CBF4A0840}" type="presOf" srcId="{090FD3A5-C9F1-414B-8684-E91C554EA63D}" destId="{35F1E6A0-B560-CA44-BD83-F636FE406EB8}" srcOrd="0" destOrd="0" presId="urn:microsoft.com/office/officeart/2018/5/layout/CenteredIconLabelDescriptionList"/>
    <dgm:cxn modelId="{1DCD7F39-FBEC-9F43-8C75-918C187CACFB}" srcId="{F0D0BB63-F3DB-7A4D-9E9E-D3BCBD2E7EB3}" destId="{090FD3A5-C9F1-414B-8684-E91C554EA63D}" srcOrd="1" destOrd="0" parTransId="{C38CB926-C8AF-404D-8BF4-A618A1E3F112}" sibTransId="{63F100E8-4655-D447-96E7-613FB4E8F8DC}"/>
    <dgm:cxn modelId="{A223745C-024B-4BB6-8489-B64E0CE9C5B3}" type="presOf" srcId="{A38895C2-01F9-6245-91B5-24143C38A9C7}" destId="{A3F5AACB-4941-4375-9257-3C08269C058D}" srcOrd="0" destOrd="0" presId="urn:microsoft.com/office/officeart/2018/5/layout/CenteredIconLabelDescriptionList"/>
    <dgm:cxn modelId="{D3B5A944-F001-C443-B5F2-2B9F33291B32}" srcId="{F0D0BB63-F3DB-7A4D-9E9E-D3BCBD2E7EB3}" destId="{A38895C2-01F9-6245-91B5-24143C38A9C7}" srcOrd="0" destOrd="0" parTransId="{4E7FF56D-46AD-054E-9A98-96B3BA155886}" sibTransId="{705E8EE7-BF08-CB4D-BD5C-3C2188954C5C}"/>
    <dgm:cxn modelId="{D4336E47-35EC-2B4F-BCFA-156F6FDBB8BF}" type="presOf" srcId="{A83D5D98-FB89-3F45-897B-27F97EC5DB61}" destId="{C13A5158-85AE-044F-933A-CA289D5435CC}" srcOrd="0" destOrd="0" presId="urn:microsoft.com/office/officeart/2018/5/layout/CenteredIconLabelDescriptionList"/>
    <dgm:cxn modelId="{60351B48-1119-E94D-8D85-857BA21A465E}" type="presOf" srcId="{F10F663E-695E-D644-BD60-19FCA145D349}" destId="{5B2D3ED2-FB03-4844-81A5-CC36DD41F6F3}" srcOrd="0" destOrd="0" presId="urn:microsoft.com/office/officeart/2018/5/layout/CenteredIconLabelDescriptionList"/>
    <dgm:cxn modelId="{63D5C358-F98A-492D-8528-12CA4FC1EACC}" type="presOf" srcId="{F0D0BB63-F3DB-7A4D-9E9E-D3BCBD2E7EB3}" destId="{DA14DB78-971D-423E-ABBC-4C0BFC9A4508}" srcOrd="0" destOrd="0" presId="urn:microsoft.com/office/officeart/2018/5/layout/CenteredIconLabelDescriptionList"/>
    <dgm:cxn modelId="{8B97CB59-A39A-FF48-A7D7-90A2629C1A2D}" srcId="{F0D0BB63-F3DB-7A4D-9E9E-D3BCBD2E7EB3}" destId="{97890A8A-F981-E445-B6CD-CCA36E81C061}" srcOrd="2" destOrd="0" parTransId="{CE7E124D-9E86-5348-B978-A5B5D2F31474}" sibTransId="{108729BE-5C12-A945-A0BD-D38866E3C9F6}"/>
    <dgm:cxn modelId="{7BB7E89D-0765-8142-989C-4D62CC940207}" type="presOf" srcId="{DF4CF6E3-C9A0-294A-A6A2-E4217212C43B}" destId="{FE93FDF4-82DA-45FA-9A1E-C612D39D3B6A}" srcOrd="0" destOrd="0" presId="urn:microsoft.com/office/officeart/2018/5/layout/CenteredIconLabelDescriptionList"/>
    <dgm:cxn modelId="{13CE65C6-6FF2-1048-B5FC-8824108B3629}" srcId="{090FD3A5-C9F1-414B-8684-E91C554EA63D}" destId="{F10F663E-695E-D644-BD60-19FCA145D349}" srcOrd="0" destOrd="0" parTransId="{72799F3E-0CAD-0D44-AF64-A140F59A59DC}" sibTransId="{528B0AA2-7DF0-9F49-A3AB-8B82350E5E7D}"/>
    <dgm:cxn modelId="{AAF52DEE-26F1-9B49-89EB-205806F84E9E}" srcId="{97890A8A-F981-E445-B6CD-CCA36E81C061}" destId="{A83D5D98-FB89-3F45-897B-27F97EC5DB61}" srcOrd="0" destOrd="0" parTransId="{DE2E0E74-5941-0C44-937C-FA7EE5080CC1}" sibTransId="{74E1D28E-024A-8143-84CB-2181444210D1}"/>
    <dgm:cxn modelId="{B5542B11-3024-4A82-8846-89E2189AA203}" type="presParOf" srcId="{DA14DB78-971D-423E-ABBC-4C0BFC9A4508}" destId="{D1EA3809-354C-42AA-B040-8B295724B5DA}" srcOrd="0" destOrd="0" presId="urn:microsoft.com/office/officeart/2018/5/layout/CenteredIconLabelDescriptionList"/>
    <dgm:cxn modelId="{D8751ED9-B8E9-40E0-9EAD-F9082BCEB719}" type="presParOf" srcId="{D1EA3809-354C-42AA-B040-8B295724B5DA}" destId="{9AD6AE34-E008-4F80-8A65-14EF5C53FC2D}" srcOrd="0" destOrd="0" presId="urn:microsoft.com/office/officeart/2018/5/layout/CenteredIconLabelDescriptionList"/>
    <dgm:cxn modelId="{396F3037-A9F6-4C68-8B8C-8D7A3C0893BD}" type="presParOf" srcId="{D1EA3809-354C-42AA-B040-8B295724B5DA}" destId="{89D15706-1ACF-4311-A552-57407E4CF56A}" srcOrd="1" destOrd="0" presId="urn:microsoft.com/office/officeart/2018/5/layout/CenteredIconLabelDescriptionList"/>
    <dgm:cxn modelId="{79DE9D17-58A0-43AB-82C8-E16ECD55F502}" type="presParOf" srcId="{D1EA3809-354C-42AA-B040-8B295724B5DA}" destId="{A3F5AACB-4941-4375-9257-3C08269C058D}" srcOrd="2" destOrd="0" presId="urn:microsoft.com/office/officeart/2018/5/layout/CenteredIconLabelDescriptionList"/>
    <dgm:cxn modelId="{9B50341E-FA5F-4E9C-B18E-D96D54ABF79A}" type="presParOf" srcId="{D1EA3809-354C-42AA-B040-8B295724B5DA}" destId="{724F3C0A-F258-4B19-BFF0-3970C1C1C86F}" srcOrd="3" destOrd="0" presId="urn:microsoft.com/office/officeart/2018/5/layout/CenteredIconLabelDescriptionList"/>
    <dgm:cxn modelId="{57AB5D18-33B5-480C-B20E-52B586E1F249}" type="presParOf" srcId="{D1EA3809-354C-42AA-B040-8B295724B5DA}" destId="{FE93FDF4-82DA-45FA-9A1E-C612D39D3B6A}" srcOrd="4" destOrd="0" presId="urn:microsoft.com/office/officeart/2018/5/layout/CenteredIconLabelDescriptionList"/>
    <dgm:cxn modelId="{C1216ACB-3135-4684-A1C5-A4D57FAD19DA}" type="presParOf" srcId="{DA14DB78-971D-423E-ABBC-4C0BFC9A4508}" destId="{E498811C-808C-435A-95EB-9D224CF52F01}" srcOrd="1" destOrd="0" presId="urn:microsoft.com/office/officeart/2018/5/layout/CenteredIconLabelDescriptionList"/>
    <dgm:cxn modelId="{B0B379AB-F42C-5F44-9F39-64E4B143198D}" type="presParOf" srcId="{DA14DB78-971D-423E-ABBC-4C0BFC9A4508}" destId="{CFC0C022-C876-9D43-9C7D-0852DDDA81FF}" srcOrd="2" destOrd="0" presId="urn:microsoft.com/office/officeart/2018/5/layout/CenteredIconLabelDescriptionList"/>
    <dgm:cxn modelId="{C0F3504E-7A2A-3D43-A125-676E5FF734B4}" type="presParOf" srcId="{CFC0C022-C876-9D43-9C7D-0852DDDA81FF}" destId="{46041DBD-3618-484C-B587-79A579F39D96}" srcOrd="0" destOrd="0" presId="urn:microsoft.com/office/officeart/2018/5/layout/CenteredIconLabelDescriptionList"/>
    <dgm:cxn modelId="{F63BE5A6-41AF-E149-A6C9-8C37B0D36665}" type="presParOf" srcId="{CFC0C022-C876-9D43-9C7D-0852DDDA81FF}" destId="{5A2969AC-3055-B048-9B81-0DC82D81EBEA}" srcOrd="1" destOrd="0" presId="urn:microsoft.com/office/officeart/2018/5/layout/CenteredIconLabelDescriptionList"/>
    <dgm:cxn modelId="{A2CF1793-5DC9-AD4C-B9B5-695868BEBAAF}" type="presParOf" srcId="{CFC0C022-C876-9D43-9C7D-0852DDDA81FF}" destId="{35F1E6A0-B560-CA44-BD83-F636FE406EB8}" srcOrd="2" destOrd="0" presId="urn:microsoft.com/office/officeart/2018/5/layout/CenteredIconLabelDescriptionList"/>
    <dgm:cxn modelId="{B49263D9-6972-9649-A9F1-9640C1F85F15}" type="presParOf" srcId="{CFC0C022-C876-9D43-9C7D-0852DDDA81FF}" destId="{A01DCEF9-6D46-E546-A108-492B13613DF2}" srcOrd="3" destOrd="0" presId="urn:microsoft.com/office/officeart/2018/5/layout/CenteredIconLabelDescriptionList"/>
    <dgm:cxn modelId="{AF0DFB0C-4A0C-F74C-A671-EC8D5A5E6DBE}" type="presParOf" srcId="{CFC0C022-C876-9D43-9C7D-0852DDDA81FF}" destId="{5B2D3ED2-FB03-4844-81A5-CC36DD41F6F3}" srcOrd="4" destOrd="0" presId="urn:microsoft.com/office/officeart/2018/5/layout/CenteredIconLabelDescriptionList"/>
    <dgm:cxn modelId="{F593C996-385B-1B42-A0D3-599BCC5692BE}" type="presParOf" srcId="{DA14DB78-971D-423E-ABBC-4C0BFC9A4508}" destId="{4AF23CD9-CE0E-E84C-BBD9-718BEA3BCAC6}" srcOrd="3" destOrd="0" presId="urn:microsoft.com/office/officeart/2018/5/layout/CenteredIconLabelDescriptionList"/>
    <dgm:cxn modelId="{F287A042-99E8-B34F-83B0-C55E8214D781}" type="presParOf" srcId="{DA14DB78-971D-423E-ABBC-4C0BFC9A4508}" destId="{950D1418-5E22-F94F-9AF2-140377AA4700}" srcOrd="4" destOrd="0" presId="urn:microsoft.com/office/officeart/2018/5/layout/CenteredIconLabelDescriptionList"/>
    <dgm:cxn modelId="{D1EE50BF-AB0B-C34B-8969-256FCD3975C9}" type="presParOf" srcId="{950D1418-5E22-F94F-9AF2-140377AA4700}" destId="{A6C6E55B-E12D-EB49-8DFE-5F226C480823}" srcOrd="0" destOrd="0" presId="urn:microsoft.com/office/officeart/2018/5/layout/CenteredIconLabelDescriptionList"/>
    <dgm:cxn modelId="{4FC5D2BB-7463-834E-866A-83A36A2B47D7}" type="presParOf" srcId="{950D1418-5E22-F94F-9AF2-140377AA4700}" destId="{9C733B0A-EE59-DB48-A1F5-D12D0B2759B6}" srcOrd="1" destOrd="0" presId="urn:microsoft.com/office/officeart/2018/5/layout/CenteredIconLabelDescriptionList"/>
    <dgm:cxn modelId="{09A140C6-E7F7-BA45-96DC-B2D7F939ED71}" type="presParOf" srcId="{950D1418-5E22-F94F-9AF2-140377AA4700}" destId="{2A07E2F9-15F9-6F46-93AB-09ABDF2CD465}" srcOrd="2" destOrd="0" presId="urn:microsoft.com/office/officeart/2018/5/layout/CenteredIconLabelDescriptionList"/>
    <dgm:cxn modelId="{B4CA2DC1-513D-9B4D-9308-31A6C1BDF223}" type="presParOf" srcId="{950D1418-5E22-F94F-9AF2-140377AA4700}" destId="{5748BCB9-8B47-4D43-B66E-FD01A5055170}" srcOrd="3" destOrd="0" presId="urn:microsoft.com/office/officeart/2018/5/layout/CenteredIconLabelDescriptionList"/>
    <dgm:cxn modelId="{5A9D1D38-5320-9B41-AC64-A850B4F7D8B7}" type="presParOf" srcId="{950D1418-5E22-F94F-9AF2-140377AA4700}" destId="{C13A5158-85AE-044F-933A-CA289D5435CC}" srcOrd="4" destOrd="0" presId="urn:microsoft.com/office/officeart/2018/5/layout/CenteredIconLabelDescription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0D0BB63-F3DB-7A4D-9E9E-D3BCBD2E7EB3}"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A38895C2-01F9-6245-91B5-24143C38A9C7}">
      <dgm:prSet phldrT="[Text]" custT="1"/>
      <dgm:spPr/>
      <dgm:t>
        <a:bodyPr/>
        <a:lstStyle/>
        <a:p>
          <a:pPr>
            <a:lnSpc>
              <a:spcPct val="100000"/>
            </a:lnSpc>
            <a:defRPr b="1"/>
          </a:pPr>
          <a:r>
            <a:rPr lang="en-US" sz="2800" b="1" i="0" dirty="0">
              <a:solidFill>
                <a:srgbClr val="1F1F1F"/>
              </a:solidFill>
              <a:effectLst/>
              <a:latin typeface="+mn-lt"/>
            </a:rPr>
            <a:t>Scalability for Big Data</a:t>
          </a:r>
          <a:endParaRPr lang="en-US" sz="2800" b="1" dirty="0">
            <a:latin typeface="+mn-lt"/>
          </a:endParaRPr>
        </a:p>
      </dgm:t>
    </dgm:pt>
    <dgm:pt modelId="{705E8EE7-BF08-CB4D-BD5C-3C2188954C5C}" type="sibTrans" cxnId="{D3B5A944-F001-C443-B5F2-2B9F33291B32}">
      <dgm:prSet/>
      <dgm:spPr/>
      <dgm:t>
        <a:bodyPr/>
        <a:lstStyle/>
        <a:p>
          <a:endParaRPr lang="en-US" sz="3600">
            <a:latin typeface="+mn-lt"/>
          </a:endParaRPr>
        </a:p>
      </dgm:t>
    </dgm:pt>
    <dgm:pt modelId="{4E7FF56D-46AD-054E-9A98-96B3BA155886}" type="parTrans" cxnId="{D3B5A944-F001-C443-B5F2-2B9F33291B32}">
      <dgm:prSet/>
      <dgm:spPr/>
      <dgm:t>
        <a:bodyPr/>
        <a:lstStyle/>
        <a:p>
          <a:endParaRPr lang="en-US" sz="3600">
            <a:latin typeface="+mn-lt"/>
          </a:endParaRPr>
        </a:p>
      </dgm:t>
    </dgm:pt>
    <dgm:pt modelId="{DF4CF6E3-C9A0-294A-A6A2-E4217212C43B}">
      <dgm:prSet custT="1"/>
      <dgm:spPr/>
      <dgm:t>
        <a:bodyPr/>
        <a:lstStyle/>
        <a:p>
          <a:pPr>
            <a:lnSpc>
              <a:spcPct val="100000"/>
            </a:lnSpc>
          </a:pPr>
          <a:endParaRPr lang="en-US" sz="1700" b="0" i="0" dirty="0">
            <a:solidFill>
              <a:srgbClr val="374151"/>
            </a:solidFill>
            <a:effectLst/>
            <a:latin typeface="+mn-lt"/>
          </a:endParaRPr>
        </a:p>
        <a:p>
          <a:pPr>
            <a:lnSpc>
              <a:spcPct val="100000"/>
            </a:lnSpc>
          </a:pPr>
          <a:r>
            <a:rPr lang="en-US" sz="2400" b="0" i="0" dirty="0">
              <a:solidFill>
                <a:srgbClr val="1F1F1F"/>
              </a:solidFill>
              <a:effectLst/>
              <a:latin typeface="+mn-lt"/>
            </a:rPr>
            <a:t>Parquet is ideally suited for large-scale data environments. Its efficient handling of massive datasets makes it a popular choice for data warehouses and analytical scenarios requiring high performance and scalability.</a:t>
          </a:r>
          <a:endParaRPr lang="en-US" sz="2400" b="0" i="0" dirty="0">
            <a:solidFill>
              <a:srgbClr val="374151"/>
            </a:solidFill>
            <a:effectLst/>
            <a:latin typeface="+mn-lt"/>
          </a:endParaRPr>
        </a:p>
      </dgm:t>
    </dgm:pt>
    <dgm:pt modelId="{BD4BE7A0-E0B1-954B-8FA5-527233E832D4}" type="sibTrans" cxnId="{C6FA9118-A918-9347-B501-89D3F5AAFE4F}">
      <dgm:prSet/>
      <dgm:spPr/>
      <dgm:t>
        <a:bodyPr/>
        <a:lstStyle/>
        <a:p>
          <a:endParaRPr lang="en-US">
            <a:latin typeface="+mn-lt"/>
          </a:endParaRPr>
        </a:p>
      </dgm:t>
    </dgm:pt>
    <dgm:pt modelId="{26BCC1A2-50B1-6E47-8757-2223D9122EAE}" type="parTrans" cxnId="{C6FA9118-A918-9347-B501-89D3F5AAFE4F}">
      <dgm:prSet/>
      <dgm:spPr/>
      <dgm:t>
        <a:bodyPr/>
        <a:lstStyle/>
        <a:p>
          <a:endParaRPr lang="en-US">
            <a:latin typeface="+mn-lt"/>
          </a:endParaRPr>
        </a:p>
      </dgm:t>
    </dgm:pt>
    <dgm:pt modelId="{090FD3A5-C9F1-414B-8684-E91C554EA63D}">
      <dgm:prSet custT="1"/>
      <dgm:spPr/>
      <dgm:t>
        <a:bodyPr/>
        <a:lstStyle/>
        <a:p>
          <a:pPr>
            <a:lnSpc>
              <a:spcPct val="100000"/>
            </a:lnSpc>
            <a:defRPr b="1"/>
          </a:pPr>
          <a:r>
            <a:rPr lang="en-US" sz="2800" b="1" i="0" dirty="0">
              <a:solidFill>
                <a:srgbClr val="1F1F1F"/>
              </a:solidFill>
              <a:effectLst/>
              <a:latin typeface="+mn-lt"/>
            </a:rPr>
            <a:t>Partitioning and Parallel Processing</a:t>
          </a:r>
          <a:endParaRPr lang="en-US" sz="2800" b="1" dirty="0">
            <a:solidFill>
              <a:srgbClr val="374151"/>
            </a:solidFill>
            <a:latin typeface="+mn-lt"/>
          </a:endParaRPr>
        </a:p>
      </dgm:t>
    </dgm:pt>
    <dgm:pt modelId="{63F100E8-4655-D447-96E7-613FB4E8F8DC}" type="sibTrans" cxnId="{1DCD7F39-FBEC-9F43-8C75-918C187CACFB}">
      <dgm:prSet/>
      <dgm:spPr/>
      <dgm:t>
        <a:bodyPr/>
        <a:lstStyle/>
        <a:p>
          <a:endParaRPr lang="en-US">
            <a:latin typeface="+mn-lt"/>
          </a:endParaRPr>
        </a:p>
      </dgm:t>
    </dgm:pt>
    <dgm:pt modelId="{C38CB926-C8AF-404D-8BF4-A618A1E3F112}" type="parTrans" cxnId="{1DCD7F39-FBEC-9F43-8C75-918C187CACFB}">
      <dgm:prSet/>
      <dgm:spPr/>
      <dgm:t>
        <a:bodyPr/>
        <a:lstStyle/>
        <a:p>
          <a:endParaRPr lang="en-US">
            <a:latin typeface="+mn-lt"/>
          </a:endParaRPr>
        </a:p>
      </dgm:t>
    </dgm:pt>
    <dgm:pt modelId="{F10F663E-695E-D644-BD60-19FCA145D349}">
      <dgm:prSet custT="1"/>
      <dgm:spPr/>
      <dgm:t>
        <a:bodyPr/>
        <a:lstStyle/>
        <a:p>
          <a:pPr>
            <a:lnSpc>
              <a:spcPct val="100000"/>
            </a:lnSpc>
          </a:pPr>
          <a:endParaRPr lang="en-US" sz="1700" b="0" i="0" dirty="0">
            <a:solidFill>
              <a:srgbClr val="374151"/>
            </a:solidFill>
            <a:effectLst/>
            <a:latin typeface="+mn-lt"/>
          </a:endParaRPr>
        </a:p>
        <a:p>
          <a:pPr>
            <a:lnSpc>
              <a:spcPct val="100000"/>
            </a:lnSpc>
          </a:pPr>
          <a:r>
            <a:rPr lang="en-US" sz="2400" b="0" i="0" dirty="0">
              <a:solidFill>
                <a:srgbClr val="1F1F1F"/>
              </a:solidFill>
              <a:effectLst/>
              <a:latin typeface="+mn-lt"/>
            </a:rPr>
            <a:t>Parquet supports data partitioning, enabling efficient querying and parallel processing. This further enhances performance and scalability, particularly for big data workloads involving large datasets and complex operations</a:t>
          </a:r>
          <a:endParaRPr lang="en-US" sz="2400" b="0" i="0" dirty="0">
            <a:solidFill>
              <a:srgbClr val="374151"/>
            </a:solidFill>
            <a:effectLst/>
            <a:latin typeface="+mn-lt"/>
          </a:endParaRPr>
        </a:p>
      </dgm:t>
    </dgm:pt>
    <dgm:pt modelId="{528B0AA2-7DF0-9F49-A3AB-8B82350E5E7D}" type="sibTrans" cxnId="{13CE65C6-6FF2-1048-B5FC-8824108B3629}">
      <dgm:prSet/>
      <dgm:spPr/>
      <dgm:t>
        <a:bodyPr/>
        <a:lstStyle/>
        <a:p>
          <a:endParaRPr lang="en-US">
            <a:latin typeface="+mn-lt"/>
          </a:endParaRPr>
        </a:p>
      </dgm:t>
    </dgm:pt>
    <dgm:pt modelId="{72799F3E-0CAD-0D44-AF64-A140F59A59DC}" type="parTrans" cxnId="{13CE65C6-6FF2-1048-B5FC-8824108B3629}">
      <dgm:prSet/>
      <dgm:spPr/>
      <dgm:t>
        <a:bodyPr/>
        <a:lstStyle/>
        <a:p>
          <a:endParaRPr lang="en-US">
            <a:latin typeface="+mn-lt"/>
          </a:endParaRPr>
        </a:p>
      </dgm:t>
    </dgm:pt>
    <dgm:pt modelId="{97890A8A-F981-E445-B6CD-CCA36E81C061}">
      <dgm:prSet/>
      <dgm:spPr/>
      <dgm:t>
        <a:bodyPr/>
        <a:lstStyle/>
        <a:p>
          <a:pPr>
            <a:lnSpc>
              <a:spcPct val="100000"/>
            </a:lnSpc>
            <a:defRPr b="1"/>
          </a:pPr>
          <a:r>
            <a:rPr lang="en-US" b="1" i="0" dirty="0">
              <a:solidFill>
                <a:srgbClr val="1F1F1F"/>
              </a:solidFill>
              <a:effectLst/>
              <a:latin typeface="+mn-lt"/>
            </a:rPr>
            <a:t>Interoperability Across Languages</a:t>
          </a:r>
          <a:endParaRPr lang="en-US" b="1" dirty="0">
            <a:solidFill>
              <a:srgbClr val="374151"/>
            </a:solidFill>
            <a:latin typeface="+mn-lt"/>
          </a:endParaRPr>
        </a:p>
      </dgm:t>
    </dgm:pt>
    <dgm:pt modelId="{108729BE-5C12-A945-A0BD-D38866E3C9F6}" type="sibTrans" cxnId="{8B97CB59-A39A-FF48-A7D7-90A2629C1A2D}">
      <dgm:prSet/>
      <dgm:spPr/>
      <dgm:t>
        <a:bodyPr/>
        <a:lstStyle/>
        <a:p>
          <a:endParaRPr lang="en-US">
            <a:latin typeface="+mn-lt"/>
          </a:endParaRPr>
        </a:p>
      </dgm:t>
    </dgm:pt>
    <dgm:pt modelId="{CE7E124D-9E86-5348-B978-A5B5D2F31474}" type="parTrans" cxnId="{8B97CB59-A39A-FF48-A7D7-90A2629C1A2D}">
      <dgm:prSet/>
      <dgm:spPr/>
      <dgm:t>
        <a:bodyPr/>
        <a:lstStyle/>
        <a:p>
          <a:endParaRPr lang="en-US">
            <a:latin typeface="+mn-lt"/>
          </a:endParaRPr>
        </a:p>
      </dgm:t>
    </dgm:pt>
    <dgm:pt modelId="{A83D5D98-FB89-3F45-897B-27F97EC5DB61}">
      <dgm:prSet custT="1"/>
      <dgm:spPr/>
      <dgm:t>
        <a:bodyPr/>
        <a:lstStyle/>
        <a:p>
          <a:pPr>
            <a:lnSpc>
              <a:spcPct val="100000"/>
            </a:lnSpc>
          </a:pPr>
          <a:endParaRPr lang="en-US" sz="1700" b="0" i="0" dirty="0">
            <a:solidFill>
              <a:srgbClr val="374151"/>
            </a:solidFill>
            <a:effectLst/>
            <a:latin typeface="+mn-lt"/>
          </a:endParaRPr>
        </a:p>
        <a:p>
          <a:pPr>
            <a:lnSpc>
              <a:spcPct val="100000"/>
            </a:lnSpc>
          </a:pPr>
          <a:r>
            <a:rPr lang="en-US" sz="2400" b="0" i="0" dirty="0">
              <a:solidFill>
                <a:srgbClr val="1F1F1F"/>
              </a:solidFill>
              <a:effectLst/>
              <a:latin typeface="+mn-lt"/>
            </a:rPr>
            <a:t>Parquet is readily accessible through various programming languages. This fosters cross-platform data exchange and collaboration, facilitating teamwork and data sharing in diverse ecosystems.</a:t>
          </a:r>
          <a:endParaRPr lang="en-US" sz="2400" b="0" i="0" dirty="0">
            <a:solidFill>
              <a:srgbClr val="374151"/>
            </a:solidFill>
            <a:effectLst/>
            <a:latin typeface="+mn-lt"/>
          </a:endParaRPr>
        </a:p>
      </dgm:t>
    </dgm:pt>
    <dgm:pt modelId="{74E1D28E-024A-8143-84CB-2181444210D1}" type="sibTrans" cxnId="{AAF52DEE-26F1-9B49-89EB-205806F84E9E}">
      <dgm:prSet/>
      <dgm:spPr/>
      <dgm:t>
        <a:bodyPr/>
        <a:lstStyle/>
        <a:p>
          <a:endParaRPr lang="en-US">
            <a:latin typeface="+mn-lt"/>
          </a:endParaRPr>
        </a:p>
      </dgm:t>
    </dgm:pt>
    <dgm:pt modelId="{DE2E0E74-5941-0C44-937C-FA7EE5080CC1}" type="parTrans" cxnId="{AAF52DEE-26F1-9B49-89EB-205806F84E9E}">
      <dgm:prSet/>
      <dgm:spPr/>
      <dgm:t>
        <a:bodyPr/>
        <a:lstStyle/>
        <a:p>
          <a:endParaRPr lang="en-US">
            <a:latin typeface="+mn-lt"/>
          </a:endParaRPr>
        </a:p>
      </dgm:t>
    </dgm:pt>
    <dgm:pt modelId="{DA14DB78-971D-423E-ABBC-4C0BFC9A4508}" type="pres">
      <dgm:prSet presAssocID="{F0D0BB63-F3DB-7A4D-9E9E-D3BCBD2E7EB3}" presName="root" presStyleCnt="0">
        <dgm:presLayoutVars>
          <dgm:dir/>
          <dgm:resizeHandles val="exact"/>
        </dgm:presLayoutVars>
      </dgm:prSet>
      <dgm:spPr/>
    </dgm:pt>
    <dgm:pt modelId="{D1EA3809-354C-42AA-B040-8B295724B5DA}" type="pres">
      <dgm:prSet presAssocID="{A38895C2-01F9-6245-91B5-24143C38A9C7}" presName="compNode" presStyleCnt="0"/>
      <dgm:spPr/>
    </dgm:pt>
    <dgm:pt modelId="{9AD6AE34-E008-4F80-8A65-14EF5C53FC2D}" type="pres">
      <dgm:prSet presAssocID="{A38895C2-01F9-6245-91B5-24143C38A9C7}" presName="iconRect" presStyleLbl="node1" presStyleIdx="0" presStyleCnt="3" custFlipHor="1" custScaleX="9200" custScaleY="4313" custLinFactY="-100000" custLinFactNeighborY="-190106"/>
      <dgm:spPr>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ug under Magnifying Glass"/>
        </a:ext>
      </dgm:extLst>
    </dgm:pt>
    <dgm:pt modelId="{89D15706-1ACF-4311-A552-57407E4CF56A}" type="pres">
      <dgm:prSet presAssocID="{A38895C2-01F9-6245-91B5-24143C38A9C7}" presName="iconSpace" presStyleCnt="0"/>
      <dgm:spPr/>
    </dgm:pt>
    <dgm:pt modelId="{A3F5AACB-4941-4375-9257-3C08269C058D}" type="pres">
      <dgm:prSet presAssocID="{A38895C2-01F9-6245-91B5-24143C38A9C7}" presName="parTx" presStyleLbl="revTx" presStyleIdx="0" presStyleCnt="6">
        <dgm:presLayoutVars>
          <dgm:chMax val="0"/>
          <dgm:chPref val="0"/>
        </dgm:presLayoutVars>
      </dgm:prSet>
      <dgm:spPr/>
    </dgm:pt>
    <dgm:pt modelId="{724F3C0A-F258-4B19-BFF0-3970C1C1C86F}" type="pres">
      <dgm:prSet presAssocID="{A38895C2-01F9-6245-91B5-24143C38A9C7}" presName="txSpace" presStyleCnt="0"/>
      <dgm:spPr/>
    </dgm:pt>
    <dgm:pt modelId="{FE93FDF4-82DA-45FA-9A1E-C612D39D3B6A}" type="pres">
      <dgm:prSet presAssocID="{A38895C2-01F9-6245-91B5-24143C38A9C7}" presName="desTx" presStyleLbl="revTx" presStyleIdx="1" presStyleCnt="6">
        <dgm:presLayoutVars/>
      </dgm:prSet>
      <dgm:spPr/>
    </dgm:pt>
    <dgm:pt modelId="{E498811C-808C-435A-95EB-9D224CF52F01}" type="pres">
      <dgm:prSet presAssocID="{705E8EE7-BF08-CB4D-BD5C-3C2188954C5C}" presName="sibTrans" presStyleCnt="0"/>
      <dgm:spPr/>
    </dgm:pt>
    <dgm:pt modelId="{CFC0C022-C876-9D43-9C7D-0852DDDA81FF}" type="pres">
      <dgm:prSet presAssocID="{090FD3A5-C9F1-414B-8684-E91C554EA63D}" presName="compNode" presStyleCnt="0"/>
      <dgm:spPr/>
    </dgm:pt>
    <dgm:pt modelId="{46041DBD-3618-484C-B587-79A579F39D96}" type="pres">
      <dgm:prSet presAssocID="{090FD3A5-C9F1-414B-8684-E91C554EA63D}" presName="iconRect" presStyleLbl="node1" presStyleIdx="1" presStyleCnt="3" custFlipVert="1" custScaleY="14470"/>
      <dgm:spPr>
        <a:solidFill>
          <a:schemeClr val="bg2"/>
        </a:solidFill>
        <a:ln>
          <a:solidFill>
            <a:schemeClr val="bg2"/>
          </a:solidFill>
        </a:ln>
      </dgm:spPr>
    </dgm:pt>
    <dgm:pt modelId="{5A2969AC-3055-B048-9B81-0DC82D81EBEA}" type="pres">
      <dgm:prSet presAssocID="{090FD3A5-C9F1-414B-8684-E91C554EA63D}" presName="iconSpace" presStyleCnt="0"/>
      <dgm:spPr/>
    </dgm:pt>
    <dgm:pt modelId="{35F1E6A0-B560-CA44-BD83-F636FE406EB8}" type="pres">
      <dgm:prSet presAssocID="{090FD3A5-C9F1-414B-8684-E91C554EA63D}" presName="parTx" presStyleLbl="revTx" presStyleIdx="2" presStyleCnt="6">
        <dgm:presLayoutVars>
          <dgm:chMax val="0"/>
          <dgm:chPref val="0"/>
        </dgm:presLayoutVars>
      </dgm:prSet>
      <dgm:spPr/>
    </dgm:pt>
    <dgm:pt modelId="{A01DCEF9-6D46-E546-A108-492B13613DF2}" type="pres">
      <dgm:prSet presAssocID="{090FD3A5-C9F1-414B-8684-E91C554EA63D}" presName="txSpace" presStyleCnt="0"/>
      <dgm:spPr/>
    </dgm:pt>
    <dgm:pt modelId="{5B2D3ED2-FB03-4844-81A5-CC36DD41F6F3}" type="pres">
      <dgm:prSet presAssocID="{090FD3A5-C9F1-414B-8684-E91C554EA63D}" presName="desTx" presStyleLbl="revTx" presStyleIdx="3" presStyleCnt="6">
        <dgm:presLayoutVars/>
      </dgm:prSet>
      <dgm:spPr/>
    </dgm:pt>
    <dgm:pt modelId="{4AF23CD9-CE0E-E84C-BBD9-718BEA3BCAC6}" type="pres">
      <dgm:prSet presAssocID="{63F100E8-4655-D447-96E7-613FB4E8F8DC}" presName="sibTrans" presStyleCnt="0"/>
      <dgm:spPr/>
    </dgm:pt>
    <dgm:pt modelId="{950D1418-5E22-F94F-9AF2-140377AA4700}" type="pres">
      <dgm:prSet presAssocID="{97890A8A-F981-E445-B6CD-CCA36E81C061}" presName="compNode" presStyleCnt="0"/>
      <dgm:spPr/>
    </dgm:pt>
    <dgm:pt modelId="{A6C6E55B-E12D-EB49-8DFE-5F226C480823}" type="pres">
      <dgm:prSet presAssocID="{97890A8A-F981-E445-B6CD-CCA36E81C061}" presName="iconRect" presStyleLbl="node1" presStyleIdx="2" presStyleCnt="3" custFlipVert="1" custScaleY="2274"/>
      <dgm:spPr>
        <a:solidFill>
          <a:schemeClr val="bg2"/>
        </a:solidFill>
        <a:ln>
          <a:solidFill>
            <a:schemeClr val="bg2"/>
          </a:solidFill>
        </a:ln>
      </dgm:spPr>
    </dgm:pt>
    <dgm:pt modelId="{9C733B0A-EE59-DB48-A1F5-D12D0B2759B6}" type="pres">
      <dgm:prSet presAssocID="{97890A8A-F981-E445-B6CD-CCA36E81C061}" presName="iconSpace" presStyleCnt="0"/>
      <dgm:spPr/>
    </dgm:pt>
    <dgm:pt modelId="{2A07E2F9-15F9-6F46-93AB-09ABDF2CD465}" type="pres">
      <dgm:prSet presAssocID="{97890A8A-F981-E445-B6CD-CCA36E81C061}" presName="parTx" presStyleLbl="revTx" presStyleIdx="4" presStyleCnt="6">
        <dgm:presLayoutVars>
          <dgm:chMax val="0"/>
          <dgm:chPref val="0"/>
        </dgm:presLayoutVars>
      </dgm:prSet>
      <dgm:spPr/>
    </dgm:pt>
    <dgm:pt modelId="{5748BCB9-8B47-4D43-B66E-FD01A5055170}" type="pres">
      <dgm:prSet presAssocID="{97890A8A-F981-E445-B6CD-CCA36E81C061}" presName="txSpace" presStyleCnt="0"/>
      <dgm:spPr/>
    </dgm:pt>
    <dgm:pt modelId="{C13A5158-85AE-044F-933A-CA289D5435CC}" type="pres">
      <dgm:prSet presAssocID="{97890A8A-F981-E445-B6CD-CCA36E81C061}" presName="desTx" presStyleLbl="revTx" presStyleIdx="5" presStyleCnt="6">
        <dgm:presLayoutVars/>
      </dgm:prSet>
      <dgm:spPr/>
    </dgm:pt>
  </dgm:ptLst>
  <dgm:cxnLst>
    <dgm:cxn modelId="{C6FA9118-A918-9347-B501-89D3F5AAFE4F}" srcId="{A38895C2-01F9-6245-91B5-24143C38A9C7}" destId="{DF4CF6E3-C9A0-294A-A6A2-E4217212C43B}" srcOrd="0" destOrd="0" parTransId="{26BCC1A2-50B1-6E47-8757-2223D9122EAE}" sibTransId="{BD4BE7A0-E0B1-954B-8FA5-527233E832D4}"/>
    <dgm:cxn modelId="{EEAA6A23-A310-A345-9177-38CE9F8E0F19}" type="presOf" srcId="{97890A8A-F981-E445-B6CD-CCA36E81C061}" destId="{2A07E2F9-15F9-6F46-93AB-09ABDF2CD465}" srcOrd="0" destOrd="0" presId="urn:microsoft.com/office/officeart/2018/5/layout/CenteredIconLabelDescriptionList"/>
    <dgm:cxn modelId="{0DE6592E-2283-EB42-AF40-764CBF4A0840}" type="presOf" srcId="{090FD3A5-C9F1-414B-8684-E91C554EA63D}" destId="{35F1E6A0-B560-CA44-BD83-F636FE406EB8}" srcOrd="0" destOrd="0" presId="urn:microsoft.com/office/officeart/2018/5/layout/CenteredIconLabelDescriptionList"/>
    <dgm:cxn modelId="{1DCD7F39-FBEC-9F43-8C75-918C187CACFB}" srcId="{F0D0BB63-F3DB-7A4D-9E9E-D3BCBD2E7EB3}" destId="{090FD3A5-C9F1-414B-8684-E91C554EA63D}" srcOrd="1" destOrd="0" parTransId="{C38CB926-C8AF-404D-8BF4-A618A1E3F112}" sibTransId="{63F100E8-4655-D447-96E7-613FB4E8F8DC}"/>
    <dgm:cxn modelId="{A223745C-024B-4BB6-8489-B64E0CE9C5B3}" type="presOf" srcId="{A38895C2-01F9-6245-91B5-24143C38A9C7}" destId="{A3F5AACB-4941-4375-9257-3C08269C058D}" srcOrd="0" destOrd="0" presId="urn:microsoft.com/office/officeart/2018/5/layout/CenteredIconLabelDescriptionList"/>
    <dgm:cxn modelId="{D3B5A944-F001-C443-B5F2-2B9F33291B32}" srcId="{F0D0BB63-F3DB-7A4D-9E9E-D3BCBD2E7EB3}" destId="{A38895C2-01F9-6245-91B5-24143C38A9C7}" srcOrd="0" destOrd="0" parTransId="{4E7FF56D-46AD-054E-9A98-96B3BA155886}" sibTransId="{705E8EE7-BF08-CB4D-BD5C-3C2188954C5C}"/>
    <dgm:cxn modelId="{D4336E47-35EC-2B4F-BCFA-156F6FDBB8BF}" type="presOf" srcId="{A83D5D98-FB89-3F45-897B-27F97EC5DB61}" destId="{C13A5158-85AE-044F-933A-CA289D5435CC}" srcOrd="0" destOrd="0" presId="urn:microsoft.com/office/officeart/2018/5/layout/CenteredIconLabelDescriptionList"/>
    <dgm:cxn modelId="{60351B48-1119-E94D-8D85-857BA21A465E}" type="presOf" srcId="{F10F663E-695E-D644-BD60-19FCA145D349}" destId="{5B2D3ED2-FB03-4844-81A5-CC36DD41F6F3}" srcOrd="0" destOrd="0" presId="urn:microsoft.com/office/officeart/2018/5/layout/CenteredIconLabelDescriptionList"/>
    <dgm:cxn modelId="{63D5C358-F98A-492D-8528-12CA4FC1EACC}" type="presOf" srcId="{F0D0BB63-F3DB-7A4D-9E9E-D3BCBD2E7EB3}" destId="{DA14DB78-971D-423E-ABBC-4C0BFC9A4508}" srcOrd="0" destOrd="0" presId="urn:microsoft.com/office/officeart/2018/5/layout/CenteredIconLabelDescriptionList"/>
    <dgm:cxn modelId="{8B97CB59-A39A-FF48-A7D7-90A2629C1A2D}" srcId="{F0D0BB63-F3DB-7A4D-9E9E-D3BCBD2E7EB3}" destId="{97890A8A-F981-E445-B6CD-CCA36E81C061}" srcOrd="2" destOrd="0" parTransId="{CE7E124D-9E86-5348-B978-A5B5D2F31474}" sibTransId="{108729BE-5C12-A945-A0BD-D38866E3C9F6}"/>
    <dgm:cxn modelId="{7BB7E89D-0765-8142-989C-4D62CC940207}" type="presOf" srcId="{DF4CF6E3-C9A0-294A-A6A2-E4217212C43B}" destId="{FE93FDF4-82DA-45FA-9A1E-C612D39D3B6A}" srcOrd="0" destOrd="0" presId="urn:microsoft.com/office/officeart/2018/5/layout/CenteredIconLabelDescriptionList"/>
    <dgm:cxn modelId="{13CE65C6-6FF2-1048-B5FC-8824108B3629}" srcId="{090FD3A5-C9F1-414B-8684-E91C554EA63D}" destId="{F10F663E-695E-D644-BD60-19FCA145D349}" srcOrd="0" destOrd="0" parTransId="{72799F3E-0CAD-0D44-AF64-A140F59A59DC}" sibTransId="{528B0AA2-7DF0-9F49-A3AB-8B82350E5E7D}"/>
    <dgm:cxn modelId="{AAF52DEE-26F1-9B49-89EB-205806F84E9E}" srcId="{97890A8A-F981-E445-B6CD-CCA36E81C061}" destId="{A83D5D98-FB89-3F45-897B-27F97EC5DB61}" srcOrd="0" destOrd="0" parTransId="{DE2E0E74-5941-0C44-937C-FA7EE5080CC1}" sibTransId="{74E1D28E-024A-8143-84CB-2181444210D1}"/>
    <dgm:cxn modelId="{B5542B11-3024-4A82-8846-89E2189AA203}" type="presParOf" srcId="{DA14DB78-971D-423E-ABBC-4C0BFC9A4508}" destId="{D1EA3809-354C-42AA-B040-8B295724B5DA}" srcOrd="0" destOrd="0" presId="urn:microsoft.com/office/officeart/2018/5/layout/CenteredIconLabelDescriptionList"/>
    <dgm:cxn modelId="{D8751ED9-B8E9-40E0-9EAD-F9082BCEB719}" type="presParOf" srcId="{D1EA3809-354C-42AA-B040-8B295724B5DA}" destId="{9AD6AE34-E008-4F80-8A65-14EF5C53FC2D}" srcOrd="0" destOrd="0" presId="urn:microsoft.com/office/officeart/2018/5/layout/CenteredIconLabelDescriptionList"/>
    <dgm:cxn modelId="{396F3037-A9F6-4C68-8B8C-8D7A3C0893BD}" type="presParOf" srcId="{D1EA3809-354C-42AA-B040-8B295724B5DA}" destId="{89D15706-1ACF-4311-A552-57407E4CF56A}" srcOrd="1" destOrd="0" presId="urn:microsoft.com/office/officeart/2018/5/layout/CenteredIconLabelDescriptionList"/>
    <dgm:cxn modelId="{79DE9D17-58A0-43AB-82C8-E16ECD55F502}" type="presParOf" srcId="{D1EA3809-354C-42AA-B040-8B295724B5DA}" destId="{A3F5AACB-4941-4375-9257-3C08269C058D}" srcOrd="2" destOrd="0" presId="urn:microsoft.com/office/officeart/2018/5/layout/CenteredIconLabelDescriptionList"/>
    <dgm:cxn modelId="{9B50341E-FA5F-4E9C-B18E-D96D54ABF79A}" type="presParOf" srcId="{D1EA3809-354C-42AA-B040-8B295724B5DA}" destId="{724F3C0A-F258-4B19-BFF0-3970C1C1C86F}" srcOrd="3" destOrd="0" presId="urn:microsoft.com/office/officeart/2018/5/layout/CenteredIconLabelDescriptionList"/>
    <dgm:cxn modelId="{57AB5D18-33B5-480C-B20E-52B586E1F249}" type="presParOf" srcId="{D1EA3809-354C-42AA-B040-8B295724B5DA}" destId="{FE93FDF4-82DA-45FA-9A1E-C612D39D3B6A}" srcOrd="4" destOrd="0" presId="urn:microsoft.com/office/officeart/2018/5/layout/CenteredIconLabelDescriptionList"/>
    <dgm:cxn modelId="{C1216ACB-3135-4684-A1C5-A4D57FAD19DA}" type="presParOf" srcId="{DA14DB78-971D-423E-ABBC-4C0BFC9A4508}" destId="{E498811C-808C-435A-95EB-9D224CF52F01}" srcOrd="1" destOrd="0" presId="urn:microsoft.com/office/officeart/2018/5/layout/CenteredIconLabelDescriptionList"/>
    <dgm:cxn modelId="{B0B379AB-F42C-5F44-9F39-64E4B143198D}" type="presParOf" srcId="{DA14DB78-971D-423E-ABBC-4C0BFC9A4508}" destId="{CFC0C022-C876-9D43-9C7D-0852DDDA81FF}" srcOrd="2" destOrd="0" presId="urn:microsoft.com/office/officeart/2018/5/layout/CenteredIconLabelDescriptionList"/>
    <dgm:cxn modelId="{C0F3504E-7A2A-3D43-A125-676E5FF734B4}" type="presParOf" srcId="{CFC0C022-C876-9D43-9C7D-0852DDDA81FF}" destId="{46041DBD-3618-484C-B587-79A579F39D96}" srcOrd="0" destOrd="0" presId="urn:microsoft.com/office/officeart/2018/5/layout/CenteredIconLabelDescriptionList"/>
    <dgm:cxn modelId="{F63BE5A6-41AF-E149-A6C9-8C37B0D36665}" type="presParOf" srcId="{CFC0C022-C876-9D43-9C7D-0852DDDA81FF}" destId="{5A2969AC-3055-B048-9B81-0DC82D81EBEA}" srcOrd="1" destOrd="0" presId="urn:microsoft.com/office/officeart/2018/5/layout/CenteredIconLabelDescriptionList"/>
    <dgm:cxn modelId="{A2CF1793-5DC9-AD4C-B9B5-695868BEBAAF}" type="presParOf" srcId="{CFC0C022-C876-9D43-9C7D-0852DDDA81FF}" destId="{35F1E6A0-B560-CA44-BD83-F636FE406EB8}" srcOrd="2" destOrd="0" presId="urn:microsoft.com/office/officeart/2018/5/layout/CenteredIconLabelDescriptionList"/>
    <dgm:cxn modelId="{B49263D9-6972-9649-A9F1-9640C1F85F15}" type="presParOf" srcId="{CFC0C022-C876-9D43-9C7D-0852DDDA81FF}" destId="{A01DCEF9-6D46-E546-A108-492B13613DF2}" srcOrd="3" destOrd="0" presId="urn:microsoft.com/office/officeart/2018/5/layout/CenteredIconLabelDescriptionList"/>
    <dgm:cxn modelId="{AF0DFB0C-4A0C-F74C-A671-EC8D5A5E6DBE}" type="presParOf" srcId="{CFC0C022-C876-9D43-9C7D-0852DDDA81FF}" destId="{5B2D3ED2-FB03-4844-81A5-CC36DD41F6F3}" srcOrd="4" destOrd="0" presId="urn:microsoft.com/office/officeart/2018/5/layout/CenteredIconLabelDescriptionList"/>
    <dgm:cxn modelId="{F593C996-385B-1B42-A0D3-599BCC5692BE}" type="presParOf" srcId="{DA14DB78-971D-423E-ABBC-4C0BFC9A4508}" destId="{4AF23CD9-CE0E-E84C-BBD9-718BEA3BCAC6}" srcOrd="3" destOrd="0" presId="urn:microsoft.com/office/officeart/2018/5/layout/CenteredIconLabelDescriptionList"/>
    <dgm:cxn modelId="{F287A042-99E8-B34F-83B0-C55E8214D781}" type="presParOf" srcId="{DA14DB78-971D-423E-ABBC-4C0BFC9A4508}" destId="{950D1418-5E22-F94F-9AF2-140377AA4700}" srcOrd="4" destOrd="0" presId="urn:microsoft.com/office/officeart/2018/5/layout/CenteredIconLabelDescriptionList"/>
    <dgm:cxn modelId="{D1EE50BF-AB0B-C34B-8969-256FCD3975C9}" type="presParOf" srcId="{950D1418-5E22-F94F-9AF2-140377AA4700}" destId="{A6C6E55B-E12D-EB49-8DFE-5F226C480823}" srcOrd="0" destOrd="0" presId="urn:microsoft.com/office/officeart/2018/5/layout/CenteredIconLabelDescriptionList"/>
    <dgm:cxn modelId="{4FC5D2BB-7463-834E-866A-83A36A2B47D7}" type="presParOf" srcId="{950D1418-5E22-F94F-9AF2-140377AA4700}" destId="{9C733B0A-EE59-DB48-A1F5-D12D0B2759B6}" srcOrd="1" destOrd="0" presId="urn:microsoft.com/office/officeart/2018/5/layout/CenteredIconLabelDescriptionList"/>
    <dgm:cxn modelId="{09A140C6-E7F7-BA45-96DC-B2D7F939ED71}" type="presParOf" srcId="{950D1418-5E22-F94F-9AF2-140377AA4700}" destId="{2A07E2F9-15F9-6F46-93AB-09ABDF2CD465}" srcOrd="2" destOrd="0" presId="urn:microsoft.com/office/officeart/2018/5/layout/CenteredIconLabelDescriptionList"/>
    <dgm:cxn modelId="{B4CA2DC1-513D-9B4D-9308-31A6C1BDF223}" type="presParOf" srcId="{950D1418-5E22-F94F-9AF2-140377AA4700}" destId="{5748BCB9-8B47-4D43-B66E-FD01A5055170}" srcOrd="3" destOrd="0" presId="urn:microsoft.com/office/officeart/2018/5/layout/CenteredIconLabelDescriptionList"/>
    <dgm:cxn modelId="{5A9D1D38-5320-9B41-AC64-A850B4F7D8B7}" type="presParOf" srcId="{950D1418-5E22-F94F-9AF2-140377AA4700}" destId="{C13A5158-85AE-044F-933A-CA289D5435CC}" srcOrd="4" destOrd="0" presId="urn:microsoft.com/office/officeart/2018/5/layout/CenteredIconLabelDescription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6AE34-E008-4F80-8A65-14EF5C53FC2D}">
      <dsp:nvSpPr>
        <dsp:cNvPr id="0" name=""/>
        <dsp:cNvSpPr/>
      </dsp:nvSpPr>
      <dsp:spPr>
        <a:xfrm flipH="1">
          <a:off x="1719249" y="929315"/>
          <a:ext cx="10210" cy="2244"/>
        </a:xfrm>
        <a:prstGeom prst="rect">
          <a:avLst/>
        </a:prstGeom>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A3F5AACB-4941-4375-9257-3C08269C058D}">
      <dsp:nvSpPr>
        <dsp:cNvPr id="0" name=""/>
        <dsp:cNvSpPr/>
      </dsp:nvSpPr>
      <dsp:spPr>
        <a:xfrm>
          <a:off x="995" y="1394399"/>
          <a:ext cx="3446718" cy="823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b="1" i="0" kern="1200" dirty="0">
              <a:solidFill>
                <a:srgbClr val="374151"/>
              </a:solidFill>
              <a:effectLst/>
              <a:latin typeface="+mn-lt"/>
            </a:rPr>
            <a:t>Columnar     Storage</a:t>
          </a:r>
          <a:endParaRPr lang="en-US" sz="2800" kern="1200" dirty="0">
            <a:latin typeface="+mn-lt"/>
          </a:endParaRPr>
        </a:p>
      </dsp:txBody>
      <dsp:txXfrm>
        <a:off x="995" y="1394399"/>
        <a:ext cx="3446718" cy="823981"/>
      </dsp:txXfrm>
    </dsp:sp>
    <dsp:sp modelId="{FE93FDF4-82DA-45FA-9A1E-C612D39D3B6A}">
      <dsp:nvSpPr>
        <dsp:cNvPr id="0" name=""/>
        <dsp:cNvSpPr/>
      </dsp:nvSpPr>
      <dsp:spPr>
        <a:xfrm>
          <a:off x="995" y="2351870"/>
          <a:ext cx="3446718" cy="4223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endParaRPr lang="en-US" sz="1700" b="0" i="0" kern="1200" dirty="0">
            <a:solidFill>
              <a:srgbClr val="374151"/>
            </a:solidFill>
            <a:effectLst/>
            <a:latin typeface="+mn-lt"/>
          </a:endParaRPr>
        </a:p>
        <a:p>
          <a:pPr marL="0" lvl="0" indent="0" algn="ctr" defTabSz="755650">
            <a:lnSpc>
              <a:spcPct val="100000"/>
            </a:lnSpc>
            <a:spcBef>
              <a:spcPct val="0"/>
            </a:spcBef>
            <a:spcAft>
              <a:spcPct val="35000"/>
            </a:spcAft>
            <a:buNone/>
          </a:pPr>
          <a:r>
            <a:rPr lang="en-US" sz="2400" b="0" i="0" kern="1200" dirty="0">
              <a:solidFill>
                <a:srgbClr val="374151"/>
              </a:solidFill>
              <a:effectLst/>
              <a:latin typeface="+mn-lt"/>
            </a:rPr>
            <a:t>Parquet is a columnar storage file format that organizes data in a way that optimizes for efficient reading and processing of specific columns, enhancing query performance.</a:t>
          </a:r>
        </a:p>
      </dsp:txBody>
      <dsp:txXfrm>
        <a:off x="995" y="2351870"/>
        <a:ext cx="3446718" cy="4223237"/>
      </dsp:txXfrm>
    </dsp:sp>
    <dsp:sp modelId="{46041DBD-3618-484C-B587-79A579F39D96}">
      <dsp:nvSpPr>
        <dsp:cNvPr id="0" name=""/>
        <dsp:cNvSpPr/>
      </dsp:nvSpPr>
      <dsp:spPr>
        <a:xfrm flipV="1">
          <a:off x="5718757" y="1078936"/>
          <a:ext cx="110984" cy="7528"/>
        </a:xfrm>
        <a:prstGeom prst="rect">
          <a:avLst/>
        </a:prstGeom>
        <a:solidFill>
          <a:schemeClr val="bg2"/>
        </a:solidFill>
        <a:ln w="25400" cap="flat" cmpd="dbl"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sp>
    <dsp:sp modelId="{35F1E6A0-B560-CA44-BD83-F636FE406EB8}">
      <dsp:nvSpPr>
        <dsp:cNvPr id="0" name=""/>
        <dsp:cNvSpPr/>
      </dsp:nvSpPr>
      <dsp:spPr>
        <a:xfrm>
          <a:off x="4050890" y="1395720"/>
          <a:ext cx="3446718" cy="823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b="1" i="0" kern="1200" dirty="0">
              <a:solidFill>
                <a:srgbClr val="374151"/>
              </a:solidFill>
              <a:effectLst/>
              <a:latin typeface="+mn-lt"/>
            </a:rPr>
            <a:t>Compression Techniques</a:t>
          </a:r>
          <a:endParaRPr lang="en-US" sz="2800" b="1" kern="1200" dirty="0">
            <a:solidFill>
              <a:srgbClr val="374151"/>
            </a:solidFill>
            <a:latin typeface="+mn-lt"/>
          </a:endParaRPr>
        </a:p>
      </dsp:txBody>
      <dsp:txXfrm>
        <a:off x="4050890" y="1395720"/>
        <a:ext cx="3446718" cy="823981"/>
      </dsp:txXfrm>
    </dsp:sp>
    <dsp:sp modelId="{5B2D3ED2-FB03-4844-81A5-CC36DD41F6F3}">
      <dsp:nvSpPr>
        <dsp:cNvPr id="0" name=""/>
        <dsp:cNvSpPr/>
      </dsp:nvSpPr>
      <dsp:spPr>
        <a:xfrm>
          <a:off x="4050890" y="2353191"/>
          <a:ext cx="3446718" cy="4223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endParaRPr lang="en-US" sz="1700" b="0" i="0" kern="1200" dirty="0">
            <a:solidFill>
              <a:srgbClr val="374151"/>
            </a:solidFill>
            <a:effectLst/>
            <a:latin typeface="+mn-lt"/>
          </a:endParaRPr>
        </a:p>
        <a:p>
          <a:pPr marL="0" lvl="0" indent="0" algn="ctr" defTabSz="755650">
            <a:lnSpc>
              <a:spcPct val="100000"/>
            </a:lnSpc>
            <a:spcBef>
              <a:spcPct val="0"/>
            </a:spcBef>
            <a:spcAft>
              <a:spcPct val="35000"/>
            </a:spcAft>
            <a:buNone/>
          </a:pPr>
          <a:r>
            <a:rPr lang="en-US" sz="2400" b="0" i="0" kern="1200" dirty="0">
              <a:solidFill>
                <a:srgbClr val="374151"/>
              </a:solidFill>
              <a:effectLst/>
              <a:latin typeface="+mn-lt"/>
            </a:rPr>
            <a:t>It employs sophisticated compression techniques to minimize storage space requirements, enabling faster data transfer and reducing the overall storage costs.</a:t>
          </a:r>
        </a:p>
      </dsp:txBody>
      <dsp:txXfrm>
        <a:off x="4050890" y="2353191"/>
        <a:ext cx="3446718" cy="4223237"/>
      </dsp:txXfrm>
    </dsp:sp>
    <dsp:sp modelId="{A6C6E55B-E12D-EB49-8DFE-5F226C480823}">
      <dsp:nvSpPr>
        <dsp:cNvPr id="0" name=""/>
        <dsp:cNvSpPr/>
      </dsp:nvSpPr>
      <dsp:spPr>
        <a:xfrm flipV="1">
          <a:off x="9768652" y="1086812"/>
          <a:ext cx="110984" cy="623"/>
        </a:xfrm>
        <a:prstGeom prst="rect">
          <a:avLst/>
        </a:prstGeom>
        <a:solidFill>
          <a:schemeClr val="bg2"/>
        </a:solidFill>
        <a:ln w="25400" cap="flat" cmpd="dbl"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sp>
    <dsp:sp modelId="{2A07E2F9-15F9-6F46-93AB-09ABDF2CD465}">
      <dsp:nvSpPr>
        <dsp:cNvPr id="0" name=""/>
        <dsp:cNvSpPr/>
      </dsp:nvSpPr>
      <dsp:spPr>
        <a:xfrm>
          <a:off x="8100784" y="1387844"/>
          <a:ext cx="3446718" cy="823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b="1" i="0" kern="1200" dirty="0">
              <a:solidFill>
                <a:srgbClr val="374151"/>
              </a:solidFill>
              <a:effectLst/>
              <a:latin typeface="+mn-lt"/>
            </a:rPr>
            <a:t>Cross-Platform Compatibility</a:t>
          </a:r>
          <a:endParaRPr lang="en-US" sz="2800" b="1" kern="1200" dirty="0">
            <a:solidFill>
              <a:srgbClr val="374151"/>
            </a:solidFill>
            <a:latin typeface="+mn-lt"/>
          </a:endParaRPr>
        </a:p>
      </dsp:txBody>
      <dsp:txXfrm>
        <a:off x="8100784" y="1387844"/>
        <a:ext cx="3446718" cy="823981"/>
      </dsp:txXfrm>
    </dsp:sp>
    <dsp:sp modelId="{C13A5158-85AE-044F-933A-CA289D5435CC}">
      <dsp:nvSpPr>
        <dsp:cNvPr id="0" name=""/>
        <dsp:cNvSpPr/>
      </dsp:nvSpPr>
      <dsp:spPr>
        <a:xfrm>
          <a:off x="8100784" y="2345316"/>
          <a:ext cx="3446718" cy="4223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endParaRPr lang="en-US" sz="1700" b="0" i="0" kern="1200" dirty="0">
            <a:solidFill>
              <a:srgbClr val="374151"/>
            </a:solidFill>
            <a:effectLst/>
            <a:latin typeface="+mn-lt"/>
          </a:endParaRPr>
        </a:p>
        <a:p>
          <a:pPr marL="0" lvl="0" indent="0" algn="ctr" defTabSz="755650">
            <a:lnSpc>
              <a:spcPct val="100000"/>
            </a:lnSpc>
            <a:spcBef>
              <a:spcPct val="0"/>
            </a:spcBef>
            <a:spcAft>
              <a:spcPct val="35000"/>
            </a:spcAft>
            <a:buNone/>
          </a:pPr>
          <a:r>
            <a:rPr lang="en-US" sz="2400" b="0" i="0" kern="1200" dirty="0">
              <a:solidFill>
                <a:srgbClr val="374151"/>
              </a:solidFill>
              <a:effectLst/>
              <a:latin typeface="+mn-lt"/>
            </a:rPr>
            <a:t>As an open standard, Parquet is designed for interoperability across various data processing frameworks and programming languages. This makes it a versatile choice for diverse big data ecosystems.</a:t>
          </a:r>
        </a:p>
      </dsp:txBody>
      <dsp:txXfrm>
        <a:off x="8100784" y="2345316"/>
        <a:ext cx="3446718" cy="4223237"/>
      </dsp:txXfrm>
    </dsp:sp>
    <dsp:sp modelId="{0A8063DD-D1B8-924B-B6D9-B89B32D01CA5}">
      <dsp:nvSpPr>
        <dsp:cNvPr id="0" name=""/>
        <dsp:cNvSpPr/>
      </dsp:nvSpPr>
      <dsp:spPr>
        <a:xfrm>
          <a:off x="13818546" y="1080109"/>
          <a:ext cx="110984" cy="27432"/>
        </a:xfrm>
        <a:prstGeom prst="rect">
          <a:avLst/>
        </a:prstGeom>
        <a:solidFill>
          <a:schemeClr val="bg2"/>
        </a:solidFill>
        <a:ln w="25400" cap="flat" cmpd="dbl"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sp>
    <dsp:sp modelId="{92C2DA11-69C1-4347-BEBE-2A51EDA99BDA}">
      <dsp:nvSpPr>
        <dsp:cNvPr id="0" name=""/>
        <dsp:cNvSpPr/>
      </dsp:nvSpPr>
      <dsp:spPr>
        <a:xfrm>
          <a:off x="12150679" y="1394546"/>
          <a:ext cx="3446718" cy="823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b="1" i="0" kern="1200" dirty="0">
              <a:solidFill>
                <a:srgbClr val="374151"/>
              </a:solidFill>
              <a:effectLst/>
              <a:latin typeface="+mn-lt"/>
            </a:rPr>
            <a:t>Used in Big </a:t>
          </a:r>
          <a:r>
            <a:rPr lang="en-US" sz="2800" b="1" i="0" kern="1200">
              <a:solidFill>
                <a:srgbClr val="374151"/>
              </a:solidFill>
              <a:effectLst/>
              <a:latin typeface="+mn-lt"/>
            </a:rPr>
            <a:t>Data Ecosystems</a:t>
          </a:r>
          <a:r>
            <a:rPr lang="en-US" sz="2800" b="0" i="0" kern="1200">
              <a:solidFill>
                <a:srgbClr val="374151"/>
              </a:solidFill>
              <a:effectLst/>
              <a:latin typeface="+mn-lt"/>
            </a:rPr>
            <a:t> </a:t>
          </a:r>
          <a:endParaRPr lang="en-US" sz="2800" b="0" i="0" kern="1200" dirty="0">
            <a:solidFill>
              <a:srgbClr val="374151"/>
            </a:solidFill>
            <a:effectLst/>
            <a:latin typeface="+mn-lt"/>
          </a:endParaRPr>
        </a:p>
      </dsp:txBody>
      <dsp:txXfrm>
        <a:off x="12150679" y="1394546"/>
        <a:ext cx="3446718" cy="823981"/>
      </dsp:txXfrm>
    </dsp:sp>
    <dsp:sp modelId="{1B63803F-FCBE-3B46-82F6-23BDCF8F4150}">
      <dsp:nvSpPr>
        <dsp:cNvPr id="0" name=""/>
        <dsp:cNvSpPr/>
      </dsp:nvSpPr>
      <dsp:spPr>
        <a:xfrm>
          <a:off x="12150679" y="2352018"/>
          <a:ext cx="3446718" cy="4223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endParaRPr lang="en-US" sz="1700" b="0" i="0" kern="1200" dirty="0">
            <a:solidFill>
              <a:srgbClr val="374151"/>
            </a:solidFill>
            <a:effectLst/>
            <a:latin typeface="+mn-lt"/>
          </a:endParaRPr>
        </a:p>
        <a:p>
          <a:pPr marL="0" lvl="0" indent="0" algn="ctr" defTabSz="755650">
            <a:lnSpc>
              <a:spcPct val="100000"/>
            </a:lnSpc>
            <a:spcBef>
              <a:spcPct val="0"/>
            </a:spcBef>
            <a:spcAft>
              <a:spcPct val="35000"/>
            </a:spcAft>
            <a:buNone/>
          </a:pPr>
          <a:r>
            <a:rPr lang="en-US" sz="2400" b="0" i="0" kern="1200" dirty="0">
              <a:solidFill>
                <a:srgbClr val="374151"/>
              </a:solidFill>
              <a:effectLst/>
              <a:latin typeface="+mn-lt"/>
            </a:rPr>
            <a:t>Parquet is widely adopted in big data processing frameworks like Apache Spark, Apache Hive, and Apache Impala due to its efficiency in handling large datasets and its compatibility with distributed computing environments.</a:t>
          </a:r>
        </a:p>
      </dsp:txBody>
      <dsp:txXfrm>
        <a:off x="12150679" y="2352018"/>
        <a:ext cx="3446718" cy="42232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6AE34-E008-4F80-8A65-14EF5C53FC2D}">
      <dsp:nvSpPr>
        <dsp:cNvPr id="0" name=""/>
        <dsp:cNvSpPr/>
      </dsp:nvSpPr>
      <dsp:spPr>
        <a:xfrm flipH="1">
          <a:off x="2721755" y="2126999"/>
          <a:ext cx="12797" cy="2812"/>
        </a:xfrm>
        <a:prstGeom prst="rect">
          <a:avLst/>
        </a:prstGeom>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A3F5AACB-4941-4375-9257-3C08269C058D}">
      <dsp:nvSpPr>
        <dsp:cNvPr id="0" name=""/>
        <dsp:cNvSpPr/>
      </dsp:nvSpPr>
      <dsp:spPr>
        <a:xfrm>
          <a:off x="570263" y="2461174"/>
          <a:ext cx="4315781" cy="83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b="1" i="0" kern="1200" dirty="0">
              <a:solidFill>
                <a:srgbClr val="1F1F1F"/>
              </a:solidFill>
              <a:effectLst/>
              <a:latin typeface="+mn-lt"/>
            </a:rPr>
            <a:t>Enhanced Query Performance</a:t>
          </a:r>
          <a:endParaRPr lang="en-US" sz="2800" b="1" kern="1200" dirty="0">
            <a:latin typeface="+mn-lt"/>
          </a:endParaRPr>
        </a:p>
      </dsp:txBody>
      <dsp:txXfrm>
        <a:off x="570263" y="2461174"/>
        <a:ext cx="4315781" cy="830250"/>
      </dsp:txXfrm>
    </dsp:sp>
    <dsp:sp modelId="{FE93FDF4-82DA-45FA-9A1E-C612D39D3B6A}">
      <dsp:nvSpPr>
        <dsp:cNvPr id="0" name=""/>
        <dsp:cNvSpPr/>
      </dsp:nvSpPr>
      <dsp:spPr>
        <a:xfrm>
          <a:off x="570263" y="3343041"/>
          <a:ext cx="4315781" cy="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endParaRPr lang="en-US" sz="1700" b="0" i="0" kern="1200" dirty="0">
            <a:solidFill>
              <a:srgbClr val="374151"/>
            </a:solidFill>
            <a:effectLst/>
            <a:latin typeface="+mn-lt"/>
          </a:endParaRPr>
        </a:p>
        <a:p>
          <a:pPr marL="0" lvl="0" indent="0" algn="ctr" defTabSz="755650">
            <a:lnSpc>
              <a:spcPct val="100000"/>
            </a:lnSpc>
            <a:spcBef>
              <a:spcPct val="0"/>
            </a:spcBef>
            <a:spcAft>
              <a:spcPct val="35000"/>
            </a:spcAft>
            <a:buNone/>
          </a:pPr>
          <a:r>
            <a:rPr lang="en-US" sz="2400" b="0" i="0" kern="1200" dirty="0">
              <a:solidFill>
                <a:srgbClr val="1F1F1F"/>
              </a:solidFill>
              <a:effectLst/>
              <a:latin typeface="+mn-lt"/>
            </a:rPr>
            <a:t>Unlike row-based formats, Parquet's columnar organization facilitates targeted data retrieval. This significantly reduces I/O operations and processing overhead, resulting in demonstrably faster queries, especially when focusing on specific columns.</a:t>
          </a:r>
          <a:endParaRPr lang="en-US" sz="2400" b="0" i="0" kern="1200" dirty="0">
            <a:solidFill>
              <a:srgbClr val="374151"/>
            </a:solidFill>
            <a:effectLst/>
            <a:latin typeface="+mn-lt"/>
          </a:endParaRPr>
        </a:p>
      </dsp:txBody>
      <dsp:txXfrm>
        <a:off x="570263" y="3343041"/>
        <a:ext cx="4315781" cy="76014"/>
      </dsp:txXfrm>
    </dsp:sp>
    <dsp:sp modelId="{46041DBD-3618-484C-B587-79A579F39D96}">
      <dsp:nvSpPr>
        <dsp:cNvPr id="0" name=""/>
        <dsp:cNvSpPr/>
      </dsp:nvSpPr>
      <dsp:spPr>
        <a:xfrm flipV="1">
          <a:off x="7729645" y="2314529"/>
          <a:ext cx="139104" cy="9436"/>
        </a:xfrm>
        <a:prstGeom prst="rect">
          <a:avLst/>
        </a:prstGeom>
        <a:solidFill>
          <a:schemeClr val="bg2"/>
        </a:solidFill>
        <a:ln w="25400" cap="flat" cmpd="dbl"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sp>
    <dsp:sp modelId="{35F1E6A0-B560-CA44-BD83-F636FE406EB8}">
      <dsp:nvSpPr>
        <dsp:cNvPr id="0" name=""/>
        <dsp:cNvSpPr/>
      </dsp:nvSpPr>
      <dsp:spPr>
        <a:xfrm>
          <a:off x="5641306" y="2462830"/>
          <a:ext cx="4315781" cy="83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b="1" i="0" kern="1200" dirty="0">
              <a:solidFill>
                <a:srgbClr val="1F1F1F"/>
              </a:solidFill>
              <a:effectLst/>
              <a:latin typeface="+mn-lt"/>
            </a:rPr>
            <a:t>Optimized Storage Footprint</a:t>
          </a:r>
          <a:endParaRPr lang="en-US" sz="2800" b="1" kern="1200" dirty="0">
            <a:solidFill>
              <a:srgbClr val="374151"/>
            </a:solidFill>
            <a:latin typeface="+mn-lt"/>
          </a:endParaRPr>
        </a:p>
      </dsp:txBody>
      <dsp:txXfrm>
        <a:off x="5641306" y="2462830"/>
        <a:ext cx="4315781" cy="830250"/>
      </dsp:txXfrm>
    </dsp:sp>
    <dsp:sp modelId="{5B2D3ED2-FB03-4844-81A5-CC36DD41F6F3}">
      <dsp:nvSpPr>
        <dsp:cNvPr id="0" name=""/>
        <dsp:cNvSpPr/>
      </dsp:nvSpPr>
      <dsp:spPr>
        <a:xfrm>
          <a:off x="5641306" y="3344697"/>
          <a:ext cx="4315781" cy="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endParaRPr lang="en-US" sz="1700" b="0" i="0" kern="1200" dirty="0">
            <a:solidFill>
              <a:srgbClr val="374151"/>
            </a:solidFill>
            <a:effectLst/>
            <a:latin typeface="+mn-lt"/>
          </a:endParaRPr>
        </a:p>
        <a:p>
          <a:pPr marL="0" lvl="0" indent="0" algn="ctr" defTabSz="755650">
            <a:lnSpc>
              <a:spcPct val="100000"/>
            </a:lnSpc>
            <a:spcBef>
              <a:spcPct val="0"/>
            </a:spcBef>
            <a:spcAft>
              <a:spcPct val="35000"/>
            </a:spcAft>
            <a:buNone/>
          </a:pPr>
          <a:r>
            <a:rPr lang="en-US" sz="2400" b="0" i="0" kern="1200" dirty="0">
              <a:solidFill>
                <a:srgbClr val="1F1F1F"/>
              </a:solidFill>
              <a:effectLst/>
              <a:latin typeface="+mn-lt"/>
            </a:rPr>
            <a:t>Parquet leverages sophisticated compression techniques to achieve substantial file size reductions. This translates to reduced storage costs, faster data transfer times, and improved overall storage efficiency.</a:t>
          </a:r>
          <a:endParaRPr lang="en-US" sz="2400" b="0" i="0" kern="1200" dirty="0">
            <a:solidFill>
              <a:srgbClr val="374151"/>
            </a:solidFill>
            <a:effectLst/>
            <a:latin typeface="+mn-lt"/>
          </a:endParaRPr>
        </a:p>
      </dsp:txBody>
      <dsp:txXfrm>
        <a:off x="5641306" y="3344697"/>
        <a:ext cx="4315781" cy="76014"/>
      </dsp:txXfrm>
    </dsp:sp>
    <dsp:sp modelId="{A6C6E55B-E12D-EB49-8DFE-5F226C480823}">
      <dsp:nvSpPr>
        <dsp:cNvPr id="0" name=""/>
        <dsp:cNvSpPr/>
      </dsp:nvSpPr>
      <dsp:spPr>
        <a:xfrm flipV="1">
          <a:off x="12800687" y="2324400"/>
          <a:ext cx="139104" cy="781"/>
        </a:xfrm>
        <a:prstGeom prst="rect">
          <a:avLst/>
        </a:prstGeom>
        <a:solidFill>
          <a:schemeClr val="bg2"/>
        </a:solidFill>
        <a:ln w="25400" cap="flat" cmpd="dbl"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sp>
    <dsp:sp modelId="{2A07E2F9-15F9-6F46-93AB-09ABDF2CD465}">
      <dsp:nvSpPr>
        <dsp:cNvPr id="0" name=""/>
        <dsp:cNvSpPr/>
      </dsp:nvSpPr>
      <dsp:spPr>
        <a:xfrm>
          <a:off x="10712349" y="2452959"/>
          <a:ext cx="4315781" cy="83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b="1" i="0" kern="1200" dirty="0">
              <a:solidFill>
                <a:srgbClr val="1F1F1F"/>
              </a:solidFill>
              <a:effectLst/>
              <a:latin typeface="+mn-lt"/>
            </a:rPr>
            <a:t>Granular Data Management</a:t>
          </a:r>
          <a:endParaRPr lang="en-US" sz="2800" b="1" kern="1200" dirty="0">
            <a:solidFill>
              <a:srgbClr val="374151"/>
            </a:solidFill>
            <a:latin typeface="+mn-lt"/>
          </a:endParaRPr>
        </a:p>
      </dsp:txBody>
      <dsp:txXfrm>
        <a:off x="10712349" y="2452959"/>
        <a:ext cx="4315781" cy="830250"/>
      </dsp:txXfrm>
    </dsp:sp>
    <dsp:sp modelId="{C13A5158-85AE-044F-933A-CA289D5435CC}">
      <dsp:nvSpPr>
        <dsp:cNvPr id="0" name=""/>
        <dsp:cNvSpPr/>
      </dsp:nvSpPr>
      <dsp:spPr>
        <a:xfrm>
          <a:off x="10712349" y="3334826"/>
          <a:ext cx="4315781" cy="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endParaRPr lang="en-US" sz="1700" b="0" i="0" kern="1200" dirty="0">
            <a:solidFill>
              <a:srgbClr val="374151"/>
            </a:solidFill>
            <a:effectLst/>
            <a:latin typeface="+mn-lt"/>
          </a:endParaRPr>
        </a:p>
        <a:p>
          <a:pPr marL="0" lvl="0" indent="0" algn="ctr" defTabSz="755650">
            <a:lnSpc>
              <a:spcPct val="100000"/>
            </a:lnSpc>
            <a:spcBef>
              <a:spcPct val="0"/>
            </a:spcBef>
            <a:spcAft>
              <a:spcPct val="35000"/>
            </a:spcAft>
            <a:buNone/>
          </a:pPr>
          <a:r>
            <a:rPr lang="en-US" sz="2400" b="0" i="0" kern="1200" dirty="0">
              <a:solidFill>
                <a:srgbClr val="1F1F1F"/>
              </a:solidFill>
              <a:effectLst/>
              <a:latin typeface="+mn-lt"/>
            </a:rPr>
            <a:t>Parquet boasts comprehensive metadata encompassing schema, compression, and row group locations. This metadata acts as a valuable resource, simplifying data comprehension, analysis, and optimization task</a:t>
          </a:r>
          <a:endParaRPr lang="en-US" sz="2400" b="0" i="0" kern="1200" dirty="0">
            <a:solidFill>
              <a:srgbClr val="374151"/>
            </a:solidFill>
            <a:effectLst/>
            <a:latin typeface="+mn-lt"/>
          </a:endParaRPr>
        </a:p>
      </dsp:txBody>
      <dsp:txXfrm>
        <a:off x="10712349" y="3334826"/>
        <a:ext cx="4315781" cy="760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6AE34-E008-4F80-8A65-14EF5C53FC2D}">
      <dsp:nvSpPr>
        <dsp:cNvPr id="0" name=""/>
        <dsp:cNvSpPr/>
      </dsp:nvSpPr>
      <dsp:spPr>
        <a:xfrm flipH="1">
          <a:off x="2721755" y="2126999"/>
          <a:ext cx="12797" cy="2812"/>
        </a:xfrm>
        <a:prstGeom prst="rect">
          <a:avLst/>
        </a:prstGeom>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A3F5AACB-4941-4375-9257-3C08269C058D}">
      <dsp:nvSpPr>
        <dsp:cNvPr id="0" name=""/>
        <dsp:cNvSpPr/>
      </dsp:nvSpPr>
      <dsp:spPr>
        <a:xfrm>
          <a:off x="570263" y="2461174"/>
          <a:ext cx="4315781" cy="83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b="1" i="0" kern="1200" dirty="0">
              <a:solidFill>
                <a:srgbClr val="1F1F1F"/>
              </a:solidFill>
              <a:effectLst/>
              <a:latin typeface="+mn-lt"/>
            </a:rPr>
            <a:t>Scalability for Big Data</a:t>
          </a:r>
          <a:endParaRPr lang="en-US" sz="2800" b="1" kern="1200" dirty="0">
            <a:latin typeface="+mn-lt"/>
          </a:endParaRPr>
        </a:p>
      </dsp:txBody>
      <dsp:txXfrm>
        <a:off x="570263" y="2461174"/>
        <a:ext cx="4315781" cy="830250"/>
      </dsp:txXfrm>
    </dsp:sp>
    <dsp:sp modelId="{FE93FDF4-82DA-45FA-9A1E-C612D39D3B6A}">
      <dsp:nvSpPr>
        <dsp:cNvPr id="0" name=""/>
        <dsp:cNvSpPr/>
      </dsp:nvSpPr>
      <dsp:spPr>
        <a:xfrm>
          <a:off x="570263" y="3343041"/>
          <a:ext cx="4315781" cy="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endParaRPr lang="en-US" sz="1700" b="0" i="0" kern="1200" dirty="0">
            <a:solidFill>
              <a:srgbClr val="374151"/>
            </a:solidFill>
            <a:effectLst/>
            <a:latin typeface="+mn-lt"/>
          </a:endParaRPr>
        </a:p>
        <a:p>
          <a:pPr marL="0" lvl="0" indent="0" algn="ctr" defTabSz="755650">
            <a:lnSpc>
              <a:spcPct val="100000"/>
            </a:lnSpc>
            <a:spcBef>
              <a:spcPct val="0"/>
            </a:spcBef>
            <a:spcAft>
              <a:spcPct val="35000"/>
            </a:spcAft>
            <a:buNone/>
          </a:pPr>
          <a:r>
            <a:rPr lang="en-US" sz="2400" b="0" i="0" kern="1200" dirty="0">
              <a:solidFill>
                <a:srgbClr val="1F1F1F"/>
              </a:solidFill>
              <a:effectLst/>
              <a:latin typeface="+mn-lt"/>
            </a:rPr>
            <a:t>Parquet is ideally suited for large-scale data environments. Its efficient handling of massive datasets makes it a popular choice for data warehouses and analytical scenarios requiring high performance and scalability.</a:t>
          </a:r>
          <a:endParaRPr lang="en-US" sz="2400" b="0" i="0" kern="1200" dirty="0">
            <a:solidFill>
              <a:srgbClr val="374151"/>
            </a:solidFill>
            <a:effectLst/>
            <a:latin typeface="+mn-lt"/>
          </a:endParaRPr>
        </a:p>
      </dsp:txBody>
      <dsp:txXfrm>
        <a:off x="570263" y="3343041"/>
        <a:ext cx="4315781" cy="76014"/>
      </dsp:txXfrm>
    </dsp:sp>
    <dsp:sp modelId="{46041DBD-3618-484C-B587-79A579F39D96}">
      <dsp:nvSpPr>
        <dsp:cNvPr id="0" name=""/>
        <dsp:cNvSpPr/>
      </dsp:nvSpPr>
      <dsp:spPr>
        <a:xfrm flipV="1">
          <a:off x="7043935" y="2270580"/>
          <a:ext cx="1510523" cy="31658"/>
        </a:xfrm>
        <a:prstGeom prst="rect">
          <a:avLst/>
        </a:prstGeom>
        <a:solidFill>
          <a:schemeClr val="bg2"/>
        </a:solidFill>
        <a:ln w="25400" cap="flat" cmpd="dbl"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sp>
    <dsp:sp modelId="{35F1E6A0-B560-CA44-BD83-F636FE406EB8}">
      <dsp:nvSpPr>
        <dsp:cNvPr id="0" name=""/>
        <dsp:cNvSpPr/>
      </dsp:nvSpPr>
      <dsp:spPr>
        <a:xfrm>
          <a:off x="5641306" y="2506779"/>
          <a:ext cx="4315781" cy="83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b="1" i="0" kern="1200" dirty="0">
              <a:solidFill>
                <a:srgbClr val="1F1F1F"/>
              </a:solidFill>
              <a:effectLst/>
              <a:latin typeface="+mn-lt"/>
            </a:rPr>
            <a:t>Partitioning and Parallel Processing</a:t>
          </a:r>
          <a:endParaRPr lang="en-US" sz="2800" b="1" kern="1200" dirty="0">
            <a:solidFill>
              <a:srgbClr val="374151"/>
            </a:solidFill>
            <a:latin typeface="+mn-lt"/>
          </a:endParaRPr>
        </a:p>
      </dsp:txBody>
      <dsp:txXfrm>
        <a:off x="5641306" y="2506779"/>
        <a:ext cx="4315781" cy="830250"/>
      </dsp:txXfrm>
    </dsp:sp>
    <dsp:sp modelId="{5B2D3ED2-FB03-4844-81A5-CC36DD41F6F3}">
      <dsp:nvSpPr>
        <dsp:cNvPr id="0" name=""/>
        <dsp:cNvSpPr/>
      </dsp:nvSpPr>
      <dsp:spPr>
        <a:xfrm>
          <a:off x="5641306" y="3388646"/>
          <a:ext cx="4315781" cy="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endParaRPr lang="en-US" sz="1700" b="0" i="0" kern="1200" dirty="0">
            <a:solidFill>
              <a:srgbClr val="374151"/>
            </a:solidFill>
            <a:effectLst/>
            <a:latin typeface="+mn-lt"/>
          </a:endParaRPr>
        </a:p>
        <a:p>
          <a:pPr marL="0" lvl="0" indent="0" algn="ctr" defTabSz="755650">
            <a:lnSpc>
              <a:spcPct val="100000"/>
            </a:lnSpc>
            <a:spcBef>
              <a:spcPct val="0"/>
            </a:spcBef>
            <a:spcAft>
              <a:spcPct val="35000"/>
            </a:spcAft>
            <a:buNone/>
          </a:pPr>
          <a:r>
            <a:rPr lang="en-US" sz="2400" b="0" i="0" kern="1200" dirty="0">
              <a:solidFill>
                <a:srgbClr val="1F1F1F"/>
              </a:solidFill>
              <a:effectLst/>
              <a:latin typeface="+mn-lt"/>
            </a:rPr>
            <a:t>Parquet supports data partitioning, enabling efficient querying and parallel processing. This further enhances performance and scalability, particularly for big data workloads involving large datasets and complex operations</a:t>
          </a:r>
          <a:endParaRPr lang="en-US" sz="2400" b="0" i="0" kern="1200" dirty="0">
            <a:solidFill>
              <a:srgbClr val="374151"/>
            </a:solidFill>
            <a:effectLst/>
            <a:latin typeface="+mn-lt"/>
          </a:endParaRPr>
        </a:p>
      </dsp:txBody>
      <dsp:txXfrm>
        <a:off x="5641306" y="3388646"/>
        <a:ext cx="4315781" cy="76014"/>
      </dsp:txXfrm>
    </dsp:sp>
    <dsp:sp modelId="{A6C6E55B-E12D-EB49-8DFE-5F226C480823}">
      <dsp:nvSpPr>
        <dsp:cNvPr id="0" name=""/>
        <dsp:cNvSpPr/>
      </dsp:nvSpPr>
      <dsp:spPr>
        <a:xfrm flipV="1">
          <a:off x="12114978" y="2324400"/>
          <a:ext cx="1510523" cy="781"/>
        </a:xfrm>
        <a:prstGeom prst="rect">
          <a:avLst/>
        </a:prstGeom>
        <a:solidFill>
          <a:schemeClr val="bg2"/>
        </a:solidFill>
        <a:ln w="25400" cap="flat" cmpd="dbl"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sp>
    <dsp:sp modelId="{2A07E2F9-15F9-6F46-93AB-09ABDF2CD465}">
      <dsp:nvSpPr>
        <dsp:cNvPr id="0" name=""/>
        <dsp:cNvSpPr/>
      </dsp:nvSpPr>
      <dsp:spPr>
        <a:xfrm>
          <a:off x="10712349" y="2452959"/>
          <a:ext cx="4315781" cy="83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b="1" i="0" kern="1200" dirty="0">
              <a:solidFill>
                <a:srgbClr val="1F1F1F"/>
              </a:solidFill>
              <a:effectLst/>
              <a:latin typeface="+mn-lt"/>
            </a:rPr>
            <a:t>Interoperability Across Languages</a:t>
          </a:r>
          <a:endParaRPr lang="en-US" sz="2800" b="1" kern="1200" dirty="0">
            <a:solidFill>
              <a:srgbClr val="374151"/>
            </a:solidFill>
            <a:latin typeface="+mn-lt"/>
          </a:endParaRPr>
        </a:p>
      </dsp:txBody>
      <dsp:txXfrm>
        <a:off x="10712349" y="2452959"/>
        <a:ext cx="4315781" cy="830250"/>
      </dsp:txXfrm>
    </dsp:sp>
    <dsp:sp modelId="{C13A5158-85AE-044F-933A-CA289D5435CC}">
      <dsp:nvSpPr>
        <dsp:cNvPr id="0" name=""/>
        <dsp:cNvSpPr/>
      </dsp:nvSpPr>
      <dsp:spPr>
        <a:xfrm>
          <a:off x="10712349" y="3334826"/>
          <a:ext cx="4315781" cy="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endParaRPr lang="en-US" sz="1700" b="0" i="0" kern="1200" dirty="0">
            <a:solidFill>
              <a:srgbClr val="374151"/>
            </a:solidFill>
            <a:effectLst/>
            <a:latin typeface="+mn-lt"/>
          </a:endParaRPr>
        </a:p>
        <a:p>
          <a:pPr marL="0" lvl="0" indent="0" algn="ctr" defTabSz="755650">
            <a:lnSpc>
              <a:spcPct val="100000"/>
            </a:lnSpc>
            <a:spcBef>
              <a:spcPct val="0"/>
            </a:spcBef>
            <a:spcAft>
              <a:spcPct val="35000"/>
            </a:spcAft>
            <a:buNone/>
          </a:pPr>
          <a:r>
            <a:rPr lang="en-US" sz="2400" b="0" i="0" kern="1200" dirty="0">
              <a:solidFill>
                <a:srgbClr val="1F1F1F"/>
              </a:solidFill>
              <a:effectLst/>
              <a:latin typeface="+mn-lt"/>
            </a:rPr>
            <a:t>Parquet is readily accessible through various programming languages. This fosters cross-platform data exchange and collaboration, facilitating teamwork and data sharing in diverse ecosystems.</a:t>
          </a:r>
          <a:endParaRPr lang="en-US" sz="2400" b="0" i="0" kern="1200" dirty="0">
            <a:solidFill>
              <a:srgbClr val="374151"/>
            </a:solidFill>
            <a:effectLst/>
            <a:latin typeface="+mn-lt"/>
          </a:endParaRPr>
        </a:p>
      </dsp:txBody>
      <dsp:txXfrm>
        <a:off x="10712349" y="3334826"/>
        <a:ext cx="4315781" cy="76014"/>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6/21/2024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CA1B2D-91A0-C5A0-A577-CB1060733B0D}"/>
              </a:ext>
            </a:extLst>
          </p:cNvPr>
          <p:cNvSpPr>
            <a:spLocks noGrp="1"/>
          </p:cNvSpPr>
          <p:nvPr>
            <p:ph type="dt" sz="half" idx="10"/>
          </p:nvPr>
        </p:nvSpPr>
        <p:spPr/>
        <p:txBody>
          <a:bodyPr/>
          <a:lstStyle/>
          <a:p>
            <a:fld id="{E251FD5A-47F3-7A42-9DEC-F1C89DC0E539}" type="datetimeFigureOut">
              <a:rPr lang="en-US" smtClean="0"/>
              <a:t>6/21/2024</a:t>
            </a:fld>
            <a:endParaRPr lang="en-US" dirty="0"/>
          </a:p>
        </p:txBody>
      </p:sp>
      <p:sp>
        <p:nvSpPr>
          <p:cNvPr id="3" name="Footer Placeholder 2">
            <a:extLst>
              <a:ext uri="{FF2B5EF4-FFF2-40B4-BE49-F238E27FC236}">
                <a16:creationId xmlns:a16="http://schemas.microsoft.com/office/drawing/2014/main" id="{125DCA34-8EAF-2F4C-A973-971DE3FA740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64203A-6871-B7A0-6812-ECB7856C866B}"/>
              </a:ext>
            </a:extLst>
          </p:cNvPr>
          <p:cNvSpPr>
            <a:spLocks noGrp="1"/>
          </p:cNvSpPr>
          <p:nvPr>
            <p:ph type="sldNum" sz="quarter" idx="12"/>
          </p:nvPr>
        </p:nvSpPr>
        <p:spPr/>
        <p:txBody>
          <a:bodyPr/>
          <a:lstStyle/>
          <a:p>
            <a:fld id="{4443CBA9-CC61-CC46-91C3-2044A25EBE9F}" type="slidenum">
              <a:rPr lang="en-US" smtClean="0"/>
              <a:t>‹#›</a:t>
            </a:fld>
            <a:endParaRPr lang="en-US" dirty="0"/>
          </a:p>
        </p:txBody>
      </p:sp>
    </p:spTree>
    <p:extLst>
      <p:ext uri="{BB962C8B-B14F-4D97-AF65-F5344CB8AC3E}">
        <p14:creationId xmlns:p14="http://schemas.microsoft.com/office/powerpoint/2010/main" val="17236704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spark.apache.org/docs/latest/api/python/reference/pyspark.sql/api/pyspark.sql.DataFrame.html#pyspark.sql.DataFram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124E-2AFD-8B0F-2A0E-4F4FC4AEE7C8}"/>
              </a:ext>
            </a:extLst>
          </p:cNvPr>
          <p:cNvSpPr>
            <a:spLocks noGrp="1"/>
          </p:cNvSpPr>
          <p:nvPr>
            <p:ph type="ctrTitle"/>
          </p:nvPr>
        </p:nvSpPr>
        <p:spPr/>
        <p:txBody>
          <a:bodyPr/>
          <a:lstStyle/>
          <a:p>
            <a:r>
              <a:rPr lang="en-US" dirty="0"/>
              <a:t>Module 4: Lesson 4 </a:t>
            </a:r>
            <a:br>
              <a:rPr lang="en-US" dirty="0"/>
            </a:br>
            <a:r>
              <a:rPr lang="en-US" dirty="0"/>
              <a:t>Creating Spark DataFrames</a:t>
            </a:r>
          </a:p>
        </p:txBody>
      </p:sp>
    </p:spTree>
    <p:custDataLst>
      <p:tags r:id="rId1"/>
    </p:custDataLst>
    <p:extLst>
      <p:ext uri="{BB962C8B-B14F-4D97-AF65-F5344CB8AC3E}">
        <p14:creationId xmlns:p14="http://schemas.microsoft.com/office/powerpoint/2010/main" val="2446399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D6C2C-4DD4-9A5D-B7D4-DDC892F7BF5E}"/>
              </a:ext>
            </a:extLst>
          </p:cNvPr>
          <p:cNvSpPr>
            <a:spLocks noGrp="1"/>
          </p:cNvSpPr>
          <p:nvPr>
            <p:ph type="title"/>
          </p:nvPr>
        </p:nvSpPr>
        <p:spPr/>
        <p:txBody>
          <a:bodyPr/>
          <a:lstStyle/>
          <a:p>
            <a:r>
              <a:rPr lang="en-US" dirty="0"/>
              <a:t>Creating DataFrames</a:t>
            </a:r>
          </a:p>
        </p:txBody>
      </p:sp>
      <p:sp>
        <p:nvSpPr>
          <p:cNvPr id="3" name="Content Placeholder 2">
            <a:extLst>
              <a:ext uri="{FF2B5EF4-FFF2-40B4-BE49-F238E27FC236}">
                <a16:creationId xmlns:a16="http://schemas.microsoft.com/office/drawing/2014/main" id="{D56B0ECA-FD0C-985D-ABDC-80DEBE1F615F}"/>
              </a:ext>
            </a:extLst>
          </p:cNvPr>
          <p:cNvSpPr>
            <a:spLocks noGrp="1"/>
          </p:cNvSpPr>
          <p:nvPr>
            <p:ph idx="1"/>
          </p:nvPr>
        </p:nvSpPr>
        <p:spPr/>
        <p:txBody>
          <a:bodyPr/>
          <a:lstStyle/>
          <a:p>
            <a:pPr marL="0" indent="0" algn="l">
              <a:buNone/>
            </a:pPr>
            <a:r>
              <a:rPr lang="en-US" b="0" i="0" dirty="0">
                <a:solidFill>
                  <a:srgbClr val="404040"/>
                </a:solidFill>
                <a:effectLst/>
              </a:rPr>
              <a:t>There are two general ways to create a DataFrame in Spark:</a:t>
            </a:r>
          </a:p>
          <a:p>
            <a:pPr marL="742950" indent="-742950" algn="l">
              <a:buFont typeface="+mj-lt"/>
              <a:buAutoNum type="arabicPeriod"/>
            </a:pPr>
            <a:r>
              <a:rPr lang="en-US" sz="3600" b="0" i="0" dirty="0">
                <a:solidFill>
                  <a:srgbClr val="404040"/>
                </a:solidFill>
                <a:effectLst/>
              </a:rPr>
              <a:t>Create a DataFrame from an already existing RDD, Python list or pandas.DataFrame using SparkSession.createDataFrame()</a:t>
            </a:r>
          </a:p>
          <a:p>
            <a:pPr marL="742950" indent="-742950" algn="l">
              <a:buFont typeface="+mj-lt"/>
              <a:buAutoNum type="arabicPeriod"/>
            </a:pPr>
            <a:r>
              <a:rPr lang="en-US" sz="3600" dirty="0">
                <a:solidFill>
                  <a:srgbClr val="404040"/>
                </a:solidFill>
              </a:rPr>
              <a:t>L</a:t>
            </a:r>
            <a:r>
              <a:rPr lang="en-US" sz="3600" b="0" i="0" dirty="0">
                <a:solidFill>
                  <a:srgbClr val="404040"/>
                </a:solidFill>
                <a:effectLst/>
              </a:rPr>
              <a:t>oad a DataFrame from external storage systems (data sources) such as a local file, HDFS file, or S3 object using the DataFrameReader available via the SparkSession.read attribute</a:t>
            </a:r>
          </a:p>
        </p:txBody>
      </p:sp>
    </p:spTree>
    <p:extLst>
      <p:ext uri="{BB962C8B-B14F-4D97-AF65-F5344CB8AC3E}">
        <p14:creationId xmlns:p14="http://schemas.microsoft.com/office/powerpoint/2010/main" val="2106726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Creating DataFrames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Calibri" panose="020F0502020204030204" pitchFamily="34" charset="0"/>
                <a:cs typeface="Times New Roman" panose="02020603050405020304" pitchFamily="18" charset="0"/>
              </a:rPr>
              <a:t>Create a DataFrame from an RDD, a list or a pandas.DataFrame.</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schemeClr val="tx1"/>
                </a:solidFill>
                <a:effectLst/>
                <a:uLnTx/>
                <a:uFillTx/>
                <a:latin typeface="Arial"/>
                <a:ea typeface="+mn-ea"/>
                <a:cs typeface="+mn-cs"/>
              </a:rPr>
              <a:t>SparkSession.createDataFrame(data, schema) → DataFrame</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chemeClr val="tx1"/>
                </a:solidFill>
                <a:effectLst/>
                <a:uLnTx/>
                <a:uFillTx/>
                <a:latin typeface="Arial"/>
                <a:ea typeface="+mn-ea"/>
                <a:cs typeface="+mn-cs"/>
              </a:rPr>
              <a:t>data is an RDD, a list or a pandas.DataFrame</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mn-ea"/>
                <a:cs typeface="+mn-cs"/>
              </a:rPr>
              <a:t>When schema is a list of column names [“id”, “name”], the type of each column will be inferred from data</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C40724"/>
              </a:solidFill>
              <a:effectLst/>
              <a:uLnTx/>
              <a:uFillTx/>
              <a:latin typeface="Arial"/>
              <a:ea typeface="+mn-ea"/>
              <a:cs typeface="+mn-cs"/>
            </a:endParaRPr>
          </a:p>
        </p:txBody>
      </p:sp>
      <p:sp>
        <p:nvSpPr>
          <p:cNvPr id="13" name="Rectangle 12">
            <a:extLst>
              <a:ext uri="{FF2B5EF4-FFF2-40B4-BE49-F238E27FC236}">
                <a16:creationId xmlns:a16="http://schemas.microsoft.com/office/drawing/2014/main" id="{0C8781AD-82B3-30B5-7D07-45800FC20FCF}"/>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mn-ea"/>
                <a:cs typeface="+mn-cs"/>
              </a:rPr>
              <a:t>When schema is a datatype string holding column names and column types (“id int, name string”), the type of each column must match that of the actual data</a:t>
            </a: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C40724"/>
              </a:solidFill>
              <a:effectLst/>
              <a:uLnTx/>
              <a:uFillTx/>
              <a:latin typeface="Arial"/>
              <a:ea typeface="+mn-ea"/>
              <a:cs typeface="+mn-cs"/>
            </a:endParaRPr>
          </a:p>
        </p:txBody>
      </p:sp>
    </p:spTree>
    <p:extLst>
      <p:ext uri="{BB962C8B-B14F-4D97-AF65-F5344CB8AC3E}">
        <p14:creationId xmlns:p14="http://schemas.microsoft.com/office/powerpoint/2010/main" val="2378655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30E01-E9F2-A112-F0CF-445BD74CB51A}"/>
              </a:ext>
            </a:extLst>
          </p:cNvPr>
          <p:cNvSpPr>
            <a:spLocks noGrp="1"/>
          </p:cNvSpPr>
          <p:nvPr>
            <p:ph type="title"/>
          </p:nvPr>
        </p:nvSpPr>
        <p:spPr/>
        <p:txBody>
          <a:bodyPr/>
          <a:lstStyle/>
          <a:p>
            <a:r>
              <a:rPr lang="en-US" dirty="0"/>
              <a:t>Creating a DataFrame from a List</a:t>
            </a:r>
          </a:p>
        </p:txBody>
      </p:sp>
      <p:sp>
        <p:nvSpPr>
          <p:cNvPr id="6" name="TextBox 5">
            <a:extLst>
              <a:ext uri="{FF2B5EF4-FFF2-40B4-BE49-F238E27FC236}">
                <a16:creationId xmlns:a16="http://schemas.microsoft.com/office/drawing/2014/main" id="{E37ECDE3-9AF4-6070-7138-B8F18949EBD8}"/>
              </a:ext>
            </a:extLst>
          </p:cNvPr>
          <p:cNvSpPr txBox="1"/>
          <p:nvPr/>
        </p:nvSpPr>
        <p:spPr>
          <a:xfrm>
            <a:off x="400050" y="5505451"/>
            <a:ext cx="18059400" cy="341632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list = [("sam", 32), ("jack", 41)]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df = spark.createDataFrame(list, ["name", "id"])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df.show()</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|name| id|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 sam| 32|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|jack| 41|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a:t>
            </a:r>
            <a:endParaRPr kumimoji="0" lang="en-US" sz="28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endParaRPr>
          </a:p>
        </p:txBody>
      </p:sp>
      <p:sp>
        <p:nvSpPr>
          <p:cNvPr id="7" name="Rectangle 6">
            <a:extLst>
              <a:ext uri="{FF2B5EF4-FFF2-40B4-BE49-F238E27FC236}">
                <a16:creationId xmlns:a16="http://schemas.microsoft.com/office/drawing/2014/main" id="{830AC780-0165-F183-6B04-13BC101DB5EB}"/>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Calibri" panose="020F0502020204030204" pitchFamily="34" charset="0"/>
                <a:cs typeface="Times New Roman" panose="02020603050405020304" pitchFamily="18" charset="0"/>
              </a:rPr>
              <a:t>In PySpark, we often need to create a DataFrame from a list to introduce reference data, or for testing or learning purposes</a:t>
            </a:r>
          </a:p>
        </p:txBody>
      </p:sp>
      <p:sp>
        <p:nvSpPr>
          <p:cNvPr id="8" name="Rectangle 7">
            <a:extLst>
              <a:ext uri="{FF2B5EF4-FFF2-40B4-BE49-F238E27FC236}">
                <a16:creationId xmlns:a16="http://schemas.microsoft.com/office/drawing/2014/main" id="{C23B3231-8577-A5CF-6E6C-C252AFB13AB9}"/>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chemeClr val="tx1"/>
                </a:solidFill>
                <a:effectLst/>
                <a:uLnTx/>
                <a:uFillTx/>
                <a:latin typeface="Arial"/>
                <a:ea typeface="+mn-ea"/>
                <a:cs typeface="+mn-cs"/>
              </a:rPr>
              <a:t>Provide a list of column names and let Spark infers the column type</a:t>
            </a:r>
          </a:p>
        </p:txBody>
      </p:sp>
      <p:sp>
        <p:nvSpPr>
          <p:cNvPr id="9" name="Rectangle 8">
            <a:extLst>
              <a:ext uri="{FF2B5EF4-FFF2-40B4-BE49-F238E27FC236}">
                <a16:creationId xmlns:a16="http://schemas.microsoft.com/office/drawing/2014/main" id="{5D6B4A15-996F-37B9-482B-1FEC0627CDAD}"/>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10" name="Rectangle 9">
            <a:extLst>
              <a:ext uri="{FF2B5EF4-FFF2-40B4-BE49-F238E27FC236}">
                <a16:creationId xmlns:a16="http://schemas.microsoft.com/office/drawing/2014/main" id="{C2F58104-F053-7972-7F69-498D6B33741B}"/>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4" name="TextBox 3">
            <a:extLst>
              <a:ext uri="{FF2B5EF4-FFF2-40B4-BE49-F238E27FC236}">
                <a16:creationId xmlns:a16="http://schemas.microsoft.com/office/drawing/2014/main" id="{A26FE2B7-6DA9-90D9-1AF5-77B84AE21D15}"/>
              </a:ext>
            </a:extLst>
          </p:cNvPr>
          <p:cNvSpPr txBox="1"/>
          <p:nvPr/>
        </p:nvSpPr>
        <p:spPr>
          <a:xfrm>
            <a:off x="10433602" y="5431663"/>
            <a:ext cx="6787598" cy="156966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df.printSchema()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root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 |-- name: string (nullable = true)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 |-- id: long (nullable = true)</a:t>
            </a:r>
          </a:p>
        </p:txBody>
      </p:sp>
    </p:spTree>
    <p:extLst>
      <p:ext uri="{BB962C8B-B14F-4D97-AF65-F5344CB8AC3E}">
        <p14:creationId xmlns:p14="http://schemas.microsoft.com/office/powerpoint/2010/main" val="3497383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30E01-E9F2-A112-F0CF-445BD74CB51A}"/>
              </a:ext>
            </a:extLst>
          </p:cNvPr>
          <p:cNvSpPr>
            <a:spLocks noGrp="1"/>
          </p:cNvSpPr>
          <p:nvPr>
            <p:ph type="title"/>
          </p:nvPr>
        </p:nvSpPr>
        <p:spPr/>
        <p:txBody>
          <a:bodyPr/>
          <a:lstStyle/>
          <a:p>
            <a:r>
              <a:rPr lang="en-US" dirty="0"/>
              <a:t>Creating a DataFrame from a List</a:t>
            </a:r>
          </a:p>
        </p:txBody>
      </p:sp>
      <p:sp>
        <p:nvSpPr>
          <p:cNvPr id="6" name="TextBox 5">
            <a:extLst>
              <a:ext uri="{FF2B5EF4-FFF2-40B4-BE49-F238E27FC236}">
                <a16:creationId xmlns:a16="http://schemas.microsoft.com/office/drawing/2014/main" id="{E37ECDE3-9AF4-6070-7138-B8F18949EBD8}"/>
              </a:ext>
            </a:extLst>
          </p:cNvPr>
          <p:cNvSpPr txBox="1"/>
          <p:nvPr/>
        </p:nvSpPr>
        <p:spPr>
          <a:xfrm>
            <a:off x="616226" y="3954335"/>
            <a:ext cx="18059400" cy="341632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list = [("sam", 32), ("jack", 41)]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df = spark.createDataFrame(list, "name string, id integer")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err="1">
                <a:ln>
                  <a:noFill/>
                </a:ln>
                <a:solidFill>
                  <a:srgbClr val="000000"/>
                </a:solidFill>
                <a:effectLst/>
                <a:uLnTx/>
                <a:uFillTx/>
                <a:latin typeface="Menlo" panose="020B0609030804020204" pitchFamily="49" charset="0"/>
                <a:ea typeface="ＭＳ Ｐゴシック" panose="020B0600070205080204" pitchFamily="34" charset="-128"/>
                <a:cs typeface="+mn-cs"/>
              </a:rPr>
              <a:t>df.show</a:t>
            </a: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|name| id|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 sam| 32|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|jack| 41|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a:t>
            </a:r>
            <a:endParaRPr kumimoji="0" lang="en-US" sz="28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endParaRPr>
          </a:p>
        </p:txBody>
      </p:sp>
      <p:sp>
        <p:nvSpPr>
          <p:cNvPr id="7" name="Rectangle 6">
            <a:extLst>
              <a:ext uri="{FF2B5EF4-FFF2-40B4-BE49-F238E27FC236}">
                <a16:creationId xmlns:a16="http://schemas.microsoft.com/office/drawing/2014/main" id="{830AC780-0165-F183-6B04-13BC101DB5EB}"/>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en-US" sz="2800" dirty="0">
                <a:solidFill>
                  <a:srgbClr val="F8F8F8"/>
                </a:solidFill>
                <a:latin typeface="Arial"/>
              </a:rPr>
              <a:t>Or</a:t>
            </a:r>
            <a:r>
              <a:rPr kumimoji="0" lang="en-US" altLang="en-US" sz="2800" b="0" i="0" u="none" strike="noStrike" kern="1200" cap="none" spc="0" normalizeH="0" baseline="0" noProof="0" dirty="0">
                <a:ln>
                  <a:noFill/>
                </a:ln>
                <a:solidFill>
                  <a:srgbClr val="F8F8F8"/>
                </a:solidFill>
                <a:effectLst/>
                <a:uLnTx/>
                <a:uFillTx/>
                <a:latin typeface="Arial"/>
                <a:ea typeface="+mn-ea"/>
                <a:cs typeface="+mn-cs"/>
              </a:rPr>
              <a:t> provide a datatype string of both column names and types</a:t>
            </a:r>
          </a:p>
        </p:txBody>
      </p:sp>
      <p:sp>
        <p:nvSpPr>
          <p:cNvPr id="9" name="Rectangle 8">
            <a:extLst>
              <a:ext uri="{FF2B5EF4-FFF2-40B4-BE49-F238E27FC236}">
                <a16:creationId xmlns:a16="http://schemas.microsoft.com/office/drawing/2014/main" id="{5D6B4A15-996F-37B9-482B-1FEC0627CDAD}"/>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4" name="TextBox 3">
            <a:extLst>
              <a:ext uri="{FF2B5EF4-FFF2-40B4-BE49-F238E27FC236}">
                <a16:creationId xmlns:a16="http://schemas.microsoft.com/office/drawing/2014/main" id="{A26FE2B7-6DA9-90D9-1AF5-77B84AE21D15}"/>
              </a:ext>
            </a:extLst>
          </p:cNvPr>
          <p:cNvSpPr txBox="1"/>
          <p:nvPr/>
        </p:nvSpPr>
        <p:spPr>
          <a:xfrm>
            <a:off x="616226" y="7317613"/>
            <a:ext cx="6787598" cy="156966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df.printSchema()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root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 |-- name: string (nullable = true)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 |-- id: </a:t>
            </a:r>
            <a:r>
              <a:rPr kumimoji="0" lang="en-US" sz="2400" b="0" i="0" u="none" strike="noStrike" kern="1200" cap="none" spc="0" normalizeH="0" baseline="0" noProof="0" dirty="0">
                <a:ln>
                  <a:noFill/>
                </a:ln>
                <a:solidFill>
                  <a:srgbClr val="0070C0"/>
                </a:solidFill>
                <a:effectLst/>
                <a:uLnTx/>
                <a:uFillTx/>
                <a:latin typeface="Menlo" panose="020B0609030804020204" pitchFamily="49" charset="0"/>
                <a:ea typeface="ＭＳ Ｐゴシック" panose="020B0600070205080204" pitchFamily="34" charset="-128"/>
                <a:cs typeface="+mn-cs"/>
              </a:rPr>
              <a:t>integer</a:t>
            </a:r>
            <a:r>
              <a:rPr kumimoji="0" lang="en-US" sz="2400" b="0" i="0" u="none" strike="noStrike" kern="1200" cap="none" spc="0" normalizeH="0" baseline="0" noProof="0" dirty="0">
                <a:ln>
                  <a:noFill/>
                </a:ln>
                <a:solidFill>
                  <a:srgbClr val="000000"/>
                </a:solidFill>
                <a:effectLst/>
                <a:uLnTx/>
                <a:uFillTx/>
                <a:latin typeface="Menlo" panose="020B0609030804020204" pitchFamily="49" charset="0"/>
                <a:ea typeface="ＭＳ Ｐゴシック" panose="020B0600070205080204" pitchFamily="34" charset="-128"/>
                <a:cs typeface="+mn-cs"/>
              </a:rPr>
              <a:t> (nullable = true)</a:t>
            </a:r>
          </a:p>
        </p:txBody>
      </p:sp>
    </p:spTree>
    <p:extLst>
      <p:ext uri="{BB962C8B-B14F-4D97-AF65-F5344CB8AC3E}">
        <p14:creationId xmlns:p14="http://schemas.microsoft.com/office/powerpoint/2010/main" val="2774853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Data Sources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mn-ea"/>
                <a:cs typeface="+mn-cs"/>
              </a:rPr>
              <a:t>One of Spark’s greatest strengths is the ability to read and write from different kinds of data sources</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chemeClr val="tx1"/>
                </a:solidFill>
                <a:effectLst/>
                <a:uLnTx/>
                <a:uFillTx/>
                <a:latin typeface="Arial"/>
                <a:ea typeface="+mn-ea"/>
                <a:cs typeface="+mn-cs"/>
              </a:rPr>
              <a:t>Spark has six “core” data sources and hundreds of external data sources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chemeClr val="tx1"/>
                </a:solidFill>
                <a:effectLst/>
                <a:uLnTx/>
                <a:uFillTx/>
                <a:latin typeface="Arial"/>
                <a:ea typeface="+mn-ea"/>
                <a:cs typeface="+mn-cs"/>
              </a:rPr>
              <a:t>written by the community</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graphicFrame>
        <p:nvGraphicFramePr>
          <p:cNvPr id="10" name="Table 11">
            <a:extLst>
              <a:ext uri="{FF2B5EF4-FFF2-40B4-BE49-F238E27FC236}">
                <a16:creationId xmlns:a16="http://schemas.microsoft.com/office/drawing/2014/main" id="{407C4CA2-B8DD-54DE-5967-ACDDA71ACCDE}"/>
              </a:ext>
            </a:extLst>
          </p:cNvPr>
          <p:cNvGraphicFramePr>
            <a:graphicFrameLocks noGrp="1"/>
          </p:cNvGraphicFramePr>
          <p:nvPr>
            <p:extLst>
              <p:ext uri="{D42A27DB-BD31-4B8C-83A1-F6EECF244321}">
                <p14:modId xmlns:p14="http://schemas.microsoft.com/office/powerpoint/2010/main" val="925782306"/>
              </p:ext>
            </p:extLst>
          </p:nvPr>
        </p:nvGraphicFramePr>
        <p:xfrm>
          <a:off x="2044147" y="5467350"/>
          <a:ext cx="12904305" cy="1493520"/>
        </p:xfrm>
        <a:graphic>
          <a:graphicData uri="http://schemas.openxmlformats.org/drawingml/2006/table">
            <a:tbl>
              <a:tblPr firstRow="1" bandRow="1">
                <a:tableStyleId>{5C22544A-7EE6-4342-B048-85BDC9FD1C3A}</a:tableStyleId>
              </a:tblPr>
              <a:tblGrid>
                <a:gridCol w="4301435">
                  <a:extLst>
                    <a:ext uri="{9D8B030D-6E8A-4147-A177-3AD203B41FA5}">
                      <a16:colId xmlns:a16="http://schemas.microsoft.com/office/drawing/2014/main" val="2266204934"/>
                    </a:ext>
                  </a:extLst>
                </a:gridCol>
                <a:gridCol w="4301435">
                  <a:extLst>
                    <a:ext uri="{9D8B030D-6E8A-4147-A177-3AD203B41FA5}">
                      <a16:colId xmlns:a16="http://schemas.microsoft.com/office/drawing/2014/main" val="2754882315"/>
                    </a:ext>
                  </a:extLst>
                </a:gridCol>
                <a:gridCol w="4301435">
                  <a:extLst>
                    <a:ext uri="{9D8B030D-6E8A-4147-A177-3AD203B41FA5}">
                      <a16:colId xmlns:a16="http://schemas.microsoft.com/office/drawing/2014/main" val="2550666980"/>
                    </a:ext>
                  </a:extLst>
                </a:gridCol>
              </a:tblGrid>
              <a:tr h="0">
                <a:tc gridSpan="3">
                  <a:txBody>
                    <a:bodyPr/>
                    <a:lstStyle/>
                    <a:p>
                      <a:pPr algn="ctr"/>
                      <a:r>
                        <a:rPr lang="en-US" sz="2400" dirty="0">
                          <a:solidFill>
                            <a:schemeClr val="tx1"/>
                          </a:solidFill>
                        </a:rPr>
                        <a:t>Six Core Data Sources</a:t>
                      </a:r>
                    </a:p>
                  </a:txBody>
                  <a:tcPr>
                    <a:solidFill>
                      <a:srgbClr val="959595"/>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734557984"/>
                  </a:ext>
                </a:extLst>
              </a:tr>
              <a:tr h="370840">
                <a:tc>
                  <a:txBody>
                    <a:bodyPr/>
                    <a:lstStyle/>
                    <a:p>
                      <a:pPr algn="ctr"/>
                      <a:r>
                        <a:rPr lang="en-US" sz="2800" kern="1200" dirty="0">
                          <a:solidFill>
                            <a:schemeClr val="dk1"/>
                          </a:solidFill>
                          <a:effectLst/>
                          <a:latin typeface="+mn-lt"/>
                          <a:ea typeface="+mn-ea"/>
                          <a:cs typeface="+mn-cs"/>
                        </a:rPr>
                        <a:t>CSV</a:t>
                      </a:r>
                    </a:p>
                  </a:txBody>
                  <a:tcPr/>
                </a:tc>
                <a:tc>
                  <a:txBody>
                    <a:bodyPr/>
                    <a:lstStyle/>
                    <a:p>
                      <a:pPr algn="ctr"/>
                      <a:r>
                        <a:rPr lang="en-US" sz="2800" dirty="0"/>
                        <a:t>JSON</a:t>
                      </a:r>
                    </a:p>
                  </a:txBody>
                  <a:tcPr/>
                </a:tc>
                <a:tc>
                  <a:txBody>
                    <a:bodyPr/>
                    <a:lstStyle/>
                    <a:p>
                      <a:pPr algn="ctr"/>
                      <a:r>
                        <a:rPr lang="en-US" sz="2800" dirty="0"/>
                        <a:t>Parquet</a:t>
                      </a:r>
                    </a:p>
                  </a:txBody>
                  <a:tcPr/>
                </a:tc>
                <a:extLst>
                  <a:ext uri="{0D108BD9-81ED-4DB2-BD59-A6C34878D82A}">
                    <a16:rowId xmlns:a16="http://schemas.microsoft.com/office/drawing/2014/main" val="33963801"/>
                  </a:ext>
                </a:extLst>
              </a:tr>
              <a:tr h="370840">
                <a:tc>
                  <a:txBody>
                    <a:bodyPr/>
                    <a:lstStyle/>
                    <a:p>
                      <a:pPr algn="ctr"/>
                      <a:r>
                        <a:rPr lang="en-US" sz="2800" dirty="0"/>
                        <a:t>ORC</a:t>
                      </a:r>
                    </a:p>
                  </a:txBody>
                  <a:tcPr/>
                </a:tc>
                <a:tc>
                  <a:txBody>
                    <a:bodyPr/>
                    <a:lstStyle/>
                    <a:p>
                      <a:pPr algn="ctr"/>
                      <a:r>
                        <a:rPr lang="en-US" sz="2800" dirty="0"/>
                        <a:t>JDBC/ODBC connections</a:t>
                      </a:r>
                    </a:p>
                  </a:txBody>
                  <a:tcPr/>
                </a:tc>
                <a:tc>
                  <a:txBody>
                    <a:bodyPr/>
                    <a:lstStyle/>
                    <a:p>
                      <a:pPr algn="ctr"/>
                      <a:r>
                        <a:rPr lang="en-US" sz="2800" dirty="0"/>
                        <a:t>Plain-text files</a:t>
                      </a:r>
                    </a:p>
                  </a:txBody>
                  <a:tcPr/>
                </a:tc>
                <a:extLst>
                  <a:ext uri="{0D108BD9-81ED-4DB2-BD59-A6C34878D82A}">
                    <a16:rowId xmlns:a16="http://schemas.microsoft.com/office/drawing/2014/main" val="3986175944"/>
                  </a:ext>
                </a:extLst>
              </a:tr>
            </a:tbl>
          </a:graphicData>
        </a:graphic>
      </p:graphicFrame>
    </p:spTree>
    <p:extLst>
      <p:ext uri="{BB962C8B-B14F-4D97-AF65-F5344CB8AC3E}">
        <p14:creationId xmlns:p14="http://schemas.microsoft.com/office/powerpoint/2010/main" val="3267386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Read API Structure</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mn-ea"/>
                <a:cs typeface="+mn-cs"/>
              </a:rPr>
              <a:t>The foundation for reading data in Spark is the DataFrameReader class </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Arial"/>
                <a:ea typeface="+mn-ea"/>
                <a:cs typeface="+mn-cs"/>
              </a:rPr>
              <a:t>We access an instance of this class associated with our SparkSession via the read attribute</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grpSp>
        <p:nvGrpSpPr>
          <p:cNvPr id="7" name="Group 6">
            <a:extLst>
              <a:ext uri="{FF2B5EF4-FFF2-40B4-BE49-F238E27FC236}">
                <a16:creationId xmlns:a16="http://schemas.microsoft.com/office/drawing/2014/main" id="{BE2EDACC-F1A2-750E-D2D2-F16BB6866CD8}"/>
              </a:ext>
            </a:extLst>
          </p:cNvPr>
          <p:cNvGrpSpPr/>
          <p:nvPr/>
        </p:nvGrpSpPr>
        <p:grpSpPr>
          <a:xfrm>
            <a:off x="5054600" y="5467350"/>
            <a:ext cx="9893853" cy="1314450"/>
            <a:chOff x="0" y="5467350"/>
            <a:chExt cx="14948453" cy="1314450"/>
          </a:xfrm>
        </p:grpSpPr>
        <p:sp>
          <p:nvSpPr>
            <p:cNvPr id="3" name="Rectangle 2">
              <a:extLst>
                <a:ext uri="{FF2B5EF4-FFF2-40B4-BE49-F238E27FC236}">
                  <a16:creationId xmlns:a16="http://schemas.microsoft.com/office/drawing/2014/main" id="{41FF124F-06B1-8D13-0025-B3C457E202E4}"/>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schemeClr val="tx1"/>
                  </a:solidFill>
                  <a:effectLst/>
                  <a:uLnTx/>
                  <a:uFillTx/>
                  <a:latin typeface="Arial"/>
                  <a:ea typeface="+mn-ea"/>
                  <a:cs typeface="+mn-cs"/>
                </a:rPr>
                <a:t>SparkSession.read</a:t>
              </a:r>
            </a:p>
          </p:txBody>
        </p:sp>
        <p:sp>
          <p:nvSpPr>
            <p:cNvPr id="6" name="Rectangle 5">
              <a:extLst>
                <a:ext uri="{FF2B5EF4-FFF2-40B4-BE49-F238E27FC236}">
                  <a16:creationId xmlns:a16="http://schemas.microsoft.com/office/drawing/2014/main" id="{C9779C2F-60F3-02A4-7CB3-A25069090B9B}"/>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800" b="0" i="0" u="none" strike="noStrike" kern="1200" cap="none" spc="0" normalizeH="0" baseline="0" noProof="0" dirty="0">
                <a:ln>
                  <a:noFill/>
                </a:ln>
                <a:solidFill>
                  <a:srgbClr val="F8F8F8"/>
                </a:solidFill>
                <a:effectLst/>
                <a:uLnTx/>
                <a:uFillTx/>
                <a:latin typeface="Arial"/>
                <a:ea typeface="+mn-ea"/>
                <a:cs typeface="+mn-cs"/>
              </a:endParaRPr>
            </a:p>
          </p:txBody>
        </p:sp>
      </p:grpSp>
    </p:spTree>
    <p:extLst>
      <p:ext uri="{BB962C8B-B14F-4D97-AF65-F5344CB8AC3E}">
        <p14:creationId xmlns:p14="http://schemas.microsoft.com/office/powerpoint/2010/main" val="2948072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Read API Structure</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8F8F8"/>
                </a:solidFill>
                <a:effectLst/>
                <a:uLnTx/>
                <a:uFillTx/>
                <a:latin typeface="Arial"/>
                <a:ea typeface="Calibri" panose="020F0502020204030204" pitchFamily="34" charset="0"/>
                <a:cs typeface="Times New Roman" panose="02020603050405020304" pitchFamily="18" charset="0"/>
              </a:rPr>
              <a:t>Each data source has a specific set of values that determine how the data is read into Spark</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chemeClr val="tx1"/>
                </a:solidFill>
                <a:effectLst/>
                <a:uLnTx/>
                <a:uFillTx/>
                <a:latin typeface="Arial"/>
                <a:ea typeface="+mn-ea"/>
                <a:cs typeface="+mn-cs"/>
              </a:rPr>
              <a:t>At a minimum, you must supply the DataFrameReader with (1) a path from which to read the data source, (2) the format of the data source, (3) an  (optional) schema, and (4) a series of options</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dirty="0">
                <a:ln>
                  <a:noFill/>
                </a:ln>
                <a:solidFill>
                  <a:schemeClr val="tx1"/>
                </a:solidFill>
                <a:effectLst/>
                <a:uLnTx/>
                <a:uFillTx/>
                <a:latin typeface="Arial"/>
                <a:ea typeface="+mn-ea"/>
                <a:cs typeface="+mn-cs"/>
              </a:rPr>
              <a:t>Here’s an example of the overall layout:</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8F8F8"/>
              </a:solidFill>
              <a:effectLst/>
              <a:uLnTx/>
              <a:uFillTx/>
              <a:latin typeface="Arial"/>
              <a:ea typeface="+mn-ea"/>
              <a:cs typeface="+mn-cs"/>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8F8F8"/>
              </a:solidFill>
              <a:effectLst/>
              <a:uLnTx/>
              <a:uFillTx/>
              <a:latin typeface="Arial"/>
              <a:ea typeface="+mn-ea"/>
              <a:cs typeface="+mn-cs"/>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F8F8F8"/>
              </a:solidFill>
              <a:effectLst/>
              <a:uLnTx/>
              <a:uFillTx/>
              <a:latin typeface="Arial"/>
              <a:ea typeface="+mn-ea"/>
              <a:cs typeface="+mn-cs"/>
            </a:endParaRPr>
          </a:p>
        </p:txBody>
      </p:sp>
      <p:grpSp>
        <p:nvGrpSpPr>
          <p:cNvPr id="15" name="Group 14">
            <a:extLst>
              <a:ext uri="{FF2B5EF4-FFF2-40B4-BE49-F238E27FC236}">
                <a16:creationId xmlns:a16="http://schemas.microsoft.com/office/drawing/2014/main" id="{D835BAB7-13BD-1CBB-B2D4-A674D1166578}"/>
              </a:ext>
            </a:extLst>
          </p:cNvPr>
          <p:cNvGrpSpPr/>
          <p:nvPr/>
        </p:nvGrpSpPr>
        <p:grpSpPr>
          <a:xfrm>
            <a:off x="958850" y="6276975"/>
            <a:ext cx="12773301" cy="3189536"/>
            <a:chOff x="958850" y="6276975"/>
            <a:chExt cx="12773301" cy="3189536"/>
          </a:xfrm>
        </p:grpSpPr>
        <p:sp>
          <p:nvSpPr>
            <p:cNvPr id="12" name="TextBox 11">
              <a:extLst>
                <a:ext uri="{FF2B5EF4-FFF2-40B4-BE49-F238E27FC236}">
                  <a16:creationId xmlns:a16="http://schemas.microsoft.com/office/drawing/2014/main" id="{CB06E5A5-D79F-B371-41EE-200CAD54A127}"/>
                </a:ext>
              </a:extLst>
            </p:cNvPr>
            <p:cNvSpPr txBox="1"/>
            <p:nvPr/>
          </p:nvSpPr>
          <p:spPr>
            <a:xfrm>
              <a:off x="958850" y="6502152"/>
              <a:ext cx="9156700" cy="2246769"/>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spark.read.format("csv") \</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.option("inferSchema", ”false")\</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.option("path", "path/to/file(s)")\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.schema(someSchema)\</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.load()</a:t>
              </a:r>
              <a:endParaRPr kumimoji="0" lang="en-US" sz="20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endParaRPr>
            </a:p>
          </p:txBody>
        </p:sp>
        <p:sp>
          <p:nvSpPr>
            <p:cNvPr id="7" name="Rectangular Callout 6" descr="The image provides a code snippet and an explanation of how to read data into a Spark DataFrame from a CSV file. Here’s a detailed description:&#10;&#10;1. **Code Snippet**:&#10;   ```python&#10;   spark.read.format(&quot;csv&quot;) \&#10;       .option(&quot;inferSchema&quot;, &quot;false&quot;) \&#10;       .option(&quot;path&quot;, &quot;path/to/file(s)&quot;) \&#10;       .schema(someSchema) \&#10;       .load()&#10;   ```&#10;&#10;2. **Components**:&#10;   - **Format**:&#10;     - `.format(&quot;csv&quot;)`: Specifies that the data source format is CSV.&#10;   - **Option**:&#10;     - `.option(&quot;inferSchema&quot;, &quot;false&quot;)`: An option to not infer the schema automatically.&#10;   - **Path**:&#10;     - `.option(&quot;path&quot;, &quot;path/to/file(s)&quot;)`: Specifies the path to the file or files to be read.&#10;   - **Schema**:&#10;     - `.schema(someSchema)`: Provides a predefined schema for the DataFrame.&#10;   - **Load**:&#10;     - `.load()`: Executes the read operation and loads the data from the specified path into a DataFrame.&#10;&#10;3. **Explanation**:&#10;   - The code loads data from a CSV file located at the specified path and returns it as a DataFrame.&#10;   - It uses options to specify the file path and whether to infer the schema.&#10;   - A predefined schema is applied to the DataFrame.&#10;&#10;This process demonstrates how to configure and execute a read operation in Spark, transforming raw data from a CSV file into a structured DataFrame for further processing.">
              <a:extLst>
                <a:ext uri="{FF2B5EF4-FFF2-40B4-BE49-F238E27FC236}">
                  <a16:creationId xmlns:a16="http://schemas.microsoft.com/office/drawing/2014/main" id="{CDFC5A82-4F4E-76F5-BB1B-6E9652A4C66E}"/>
                </a:ext>
              </a:extLst>
            </p:cNvPr>
            <p:cNvSpPr/>
            <p:nvPr/>
          </p:nvSpPr>
          <p:spPr>
            <a:xfrm>
              <a:off x="11960501" y="6276975"/>
              <a:ext cx="1771650" cy="523875"/>
            </a:xfrm>
            <a:prstGeom prst="wedgeRectCallout">
              <a:avLst>
                <a:gd name="adj1" fmla="val -342293"/>
                <a:gd name="adj2" fmla="val 25995"/>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8F8F8"/>
                  </a:solidFill>
                  <a:effectLst/>
                  <a:uLnTx/>
                  <a:uFillTx/>
                  <a:latin typeface="Arial"/>
                  <a:ea typeface="+mn-ea"/>
                  <a:cs typeface="+mn-cs"/>
                </a:rPr>
                <a:t>Format</a:t>
              </a:r>
            </a:p>
          </p:txBody>
        </p:sp>
        <p:sp>
          <p:nvSpPr>
            <p:cNvPr id="10" name="Rectangular Callout 9">
              <a:extLst>
                <a:ext uri="{FF2B5EF4-FFF2-40B4-BE49-F238E27FC236}">
                  <a16:creationId xmlns:a16="http://schemas.microsoft.com/office/drawing/2014/main" id="{B8342084-38B9-8F25-5091-35280E77C152}"/>
                </a:ext>
              </a:extLst>
            </p:cNvPr>
            <p:cNvSpPr/>
            <p:nvPr/>
          </p:nvSpPr>
          <p:spPr>
            <a:xfrm>
              <a:off x="11960501" y="7019925"/>
              <a:ext cx="1771650" cy="523875"/>
            </a:xfrm>
            <a:prstGeom prst="wedgeRectCallout">
              <a:avLst>
                <a:gd name="adj1" fmla="val -245519"/>
                <a:gd name="adj2" fmla="val -24914"/>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8F8F8"/>
                  </a:solidFill>
                  <a:effectLst/>
                  <a:uLnTx/>
                  <a:uFillTx/>
                  <a:latin typeface="Arial"/>
                  <a:ea typeface="+mn-ea"/>
                  <a:cs typeface="+mn-cs"/>
                </a:rPr>
                <a:t>Option</a:t>
              </a:r>
            </a:p>
          </p:txBody>
        </p:sp>
        <p:sp>
          <p:nvSpPr>
            <p:cNvPr id="11" name="Rectangular Callout 10">
              <a:extLst>
                <a:ext uri="{FF2B5EF4-FFF2-40B4-BE49-F238E27FC236}">
                  <a16:creationId xmlns:a16="http://schemas.microsoft.com/office/drawing/2014/main" id="{ABE2EC3E-585E-96B2-6BD8-C4DBDDDD21B9}"/>
                </a:ext>
              </a:extLst>
            </p:cNvPr>
            <p:cNvSpPr/>
            <p:nvPr/>
          </p:nvSpPr>
          <p:spPr>
            <a:xfrm>
              <a:off x="11960501" y="7726680"/>
              <a:ext cx="1771650" cy="523875"/>
            </a:xfrm>
            <a:prstGeom prst="wedgeRectCallout">
              <a:avLst>
                <a:gd name="adj1" fmla="val -207885"/>
                <a:gd name="adj2" fmla="val -75823"/>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8F8F8"/>
                  </a:solidFill>
                  <a:effectLst/>
                  <a:uLnTx/>
                  <a:uFillTx/>
                  <a:latin typeface="Arial"/>
                  <a:ea typeface="+mn-ea"/>
                  <a:cs typeface="+mn-cs"/>
                </a:rPr>
                <a:t>Path</a:t>
              </a:r>
            </a:p>
          </p:txBody>
        </p:sp>
        <p:sp>
          <p:nvSpPr>
            <p:cNvPr id="13" name="Rectangular Callout 12">
              <a:extLst>
                <a:ext uri="{FF2B5EF4-FFF2-40B4-BE49-F238E27FC236}">
                  <a16:creationId xmlns:a16="http://schemas.microsoft.com/office/drawing/2014/main" id="{43D9E8A0-17BD-C2D3-A9A2-CF3F9A9F3911}"/>
                </a:ext>
              </a:extLst>
            </p:cNvPr>
            <p:cNvSpPr/>
            <p:nvPr/>
          </p:nvSpPr>
          <p:spPr>
            <a:xfrm>
              <a:off x="11960501" y="8433435"/>
              <a:ext cx="1771650" cy="523875"/>
            </a:xfrm>
            <a:prstGeom prst="wedgeRectCallout">
              <a:avLst>
                <a:gd name="adj1" fmla="val -379928"/>
                <a:gd name="adj2" fmla="val -119459"/>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8F8F8"/>
                  </a:solidFill>
                  <a:effectLst/>
                  <a:uLnTx/>
                  <a:uFillTx/>
                  <a:latin typeface="Arial"/>
                  <a:ea typeface="+mn-ea"/>
                  <a:cs typeface="+mn-cs"/>
                </a:rPr>
                <a:t>Schema</a:t>
              </a:r>
            </a:p>
          </p:txBody>
        </p:sp>
        <p:sp>
          <p:nvSpPr>
            <p:cNvPr id="14" name="Rectangular Callout 13">
              <a:extLst>
                <a:ext uri="{FF2B5EF4-FFF2-40B4-BE49-F238E27FC236}">
                  <a16:creationId xmlns:a16="http://schemas.microsoft.com/office/drawing/2014/main" id="{265C5253-20FC-B076-3C12-21FD9C353A54}"/>
                </a:ext>
              </a:extLst>
            </p:cNvPr>
            <p:cNvSpPr/>
            <p:nvPr/>
          </p:nvSpPr>
          <p:spPr>
            <a:xfrm>
              <a:off x="5901152" y="8748921"/>
              <a:ext cx="4061998" cy="717590"/>
            </a:xfrm>
            <a:prstGeom prst="wedgeRectCallout">
              <a:avLst>
                <a:gd name="adj1" fmla="val -114879"/>
                <a:gd name="adj2" fmla="val -86510"/>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8F8F8"/>
                  </a:solidFill>
                  <a:effectLst/>
                  <a:uLnTx/>
                  <a:uFillTx/>
                  <a:latin typeface="Arial"/>
                  <a:ea typeface="+mn-ea"/>
                  <a:cs typeface="+mn-cs"/>
                </a:rPr>
                <a:t>Loads data from a data source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8F8F8"/>
                  </a:solidFill>
                  <a:effectLst/>
                  <a:uLnTx/>
                  <a:uFillTx/>
                  <a:latin typeface="Arial"/>
                  <a:ea typeface="+mn-ea"/>
                  <a:cs typeface="+mn-cs"/>
                </a:rPr>
                <a:t>and returns it as a </a:t>
              </a:r>
              <a:r>
                <a:rPr kumimoji="0" lang="en-US" sz="2000" b="0" i="0" u="sng" strike="noStrike" kern="1200" cap="none" spc="0" normalizeH="0" baseline="0" noProof="0" dirty="0">
                  <a:ln>
                    <a:noFill/>
                  </a:ln>
                  <a:solidFill>
                    <a:srgbClr val="F8F8F8"/>
                  </a:solidFill>
                  <a:effectLst/>
                  <a:uLnTx/>
                  <a:uFillTx/>
                  <a:latin typeface="Arial"/>
                  <a:ea typeface="+mn-ea"/>
                  <a:cs typeface="+mn-cs"/>
                  <a:hlinkClick r:id="rId2" tooltip="pyspark.sql.DataFrame">
                    <a:extLst>
                      <a:ext uri="{A12FA001-AC4F-418D-AE19-62706E023703}">
                        <ahyp:hlinkClr xmlns:ahyp="http://schemas.microsoft.com/office/drawing/2018/hyperlinkcolor" val="tx"/>
                      </a:ext>
                    </a:extLst>
                  </a:hlinkClick>
                </a:rPr>
                <a:t>DataFrame</a:t>
              </a:r>
              <a:endParaRPr kumimoji="0" lang="en-US" sz="2000" b="0" i="0" u="none" strike="noStrike" kern="1200" cap="none" spc="0" normalizeH="0" baseline="0" noProof="0" dirty="0">
                <a:ln>
                  <a:noFill/>
                </a:ln>
                <a:solidFill>
                  <a:srgbClr val="F8F8F8"/>
                </a:solidFill>
                <a:effectLst/>
                <a:uLnTx/>
                <a:uFillTx/>
                <a:latin typeface="Arial"/>
                <a:ea typeface="+mn-ea"/>
                <a:cs typeface="+mn-cs"/>
              </a:endParaRPr>
            </a:p>
          </p:txBody>
        </p:sp>
      </p:grpSp>
    </p:spTree>
    <p:extLst>
      <p:ext uri="{BB962C8B-B14F-4D97-AF65-F5344CB8AC3E}">
        <p14:creationId xmlns:p14="http://schemas.microsoft.com/office/powerpoint/2010/main" val="2933331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Read API Structure</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Calibri" panose="020F0502020204030204" pitchFamily="34" charset="0"/>
                <a:cs typeface="Times New Roman" panose="02020603050405020304" pitchFamily="18" charset="0"/>
              </a:rPr>
              <a:t>There are many alternative (shorthand) ways of coding a data source read operation: </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7" name="TextBox 6">
            <a:extLst>
              <a:ext uri="{FF2B5EF4-FFF2-40B4-BE49-F238E27FC236}">
                <a16:creationId xmlns:a16="http://schemas.microsoft.com/office/drawing/2014/main" id="{E57CA5FD-997D-0B16-CB32-5CFA374D60C6}"/>
              </a:ext>
            </a:extLst>
          </p:cNvPr>
          <p:cNvSpPr txBox="1"/>
          <p:nvPr/>
        </p:nvSpPr>
        <p:spPr>
          <a:xfrm>
            <a:off x="1098550" y="3824386"/>
            <a:ext cx="7448827" cy="2308324"/>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spark.read.format("csv")\</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.option("mode", "FAILFAST")\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.option("inferSchema", ”false")\</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.option("path", "path/to/file(s)")\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.schema(someSchema)\</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.load()</a:t>
            </a:r>
            <a:endParaRPr kumimoji="0" lang="en-US" sz="20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34B4ABF0-69D4-41F7-78DA-3E42E5378222}"/>
              </a:ext>
            </a:extLst>
          </p:cNvPr>
          <p:cNvSpPr txBox="1"/>
          <p:nvPr/>
        </p:nvSpPr>
        <p:spPr>
          <a:xfrm>
            <a:off x="8547377" y="3824386"/>
            <a:ext cx="7448826" cy="2308324"/>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spark.read.format("csv")\</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a:t>
            </a:r>
            <a:r>
              <a:rPr kumimoji="0" lang="en-US" sz="2400" b="0" i="0" u="none" strike="noStrike" kern="1200" cap="none" spc="0" normalizeH="0" baseline="0" noProof="0" dirty="0">
                <a:ln>
                  <a:noFill/>
                </a:ln>
                <a:solidFill>
                  <a:srgbClr val="0070C0"/>
                </a:solidFill>
                <a:effectLst/>
                <a:uLnTx/>
                <a:uFillTx/>
                <a:latin typeface="Courier" pitchFamily="2" charset="0"/>
                <a:ea typeface="Calibri" panose="020F0502020204030204" pitchFamily="34" charset="0"/>
                <a:cs typeface="Times New Roman" panose="02020603050405020304" pitchFamily="18" charset="0"/>
              </a:rPr>
              <a:t>.mode("FAILFAST")\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.option("inferSchema", ”false")\</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.option("path", "path/to/file(s)")\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.schema(</a:t>
            </a:r>
            <a:r>
              <a:rPr kumimoji="0" lang="en-US" sz="2400" b="0" i="0" u="none" strike="noStrike" kern="1200" cap="none" spc="0" normalizeH="0" baseline="0" noProof="0" dirty="0" err="1">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someSchema</a:t>
            </a:r>
            <a:r>
              <a:rPr kumimoji="0" lang="en-US" sz="2400" b="0" i="0" u="none" strike="noStrike" kern="1200" cap="none" spc="0" normalizeH="0" baseline="0" noProof="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a:t>
            </a:r>
            <a:endPar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.load()</a:t>
            </a:r>
            <a:endParaRPr kumimoji="0" lang="en-US" sz="20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E40AA0CF-7FFE-2B32-3258-25AFAD464CE8}"/>
              </a:ext>
            </a:extLst>
          </p:cNvPr>
          <p:cNvSpPr txBox="1"/>
          <p:nvPr/>
        </p:nvSpPr>
        <p:spPr>
          <a:xfrm>
            <a:off x="1232453" y="6544249"/>
            <a:ext cx="7029174" cy="1938992"/>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spark.read</a:t>
            </a:r>
            <a:r>
              <a:rPr kumimoji="0" lang="en-US" sz="2400" b="0" i="0" u="none" strike="noStrike" kern="1200" cap="none" spc="0" normalizeH="0" baseline="0" noProof="0" dirty="0">
                <a:ln>
                  <a:noFill/>
                </a:ln>
                <a:solidFill>
                  <a:srgbClr val="0070C0"/>
                </a:solidFill>
                <a:effectLst/>
                <a:uLnTx/>
                <a:uFillTx/>
                <a:latin typeface="Courier" pitchFamily="2" charset="0"/>
                <a:ea typeface="Calibri" panose="020F0502020204030204" pitchFamily="34" charset="0"/>
                <a:cs typeface="Times New Roman" panose="02020603050405020304" pitchFamily="18" charset="0"/>
              </a:rPr>
              <a:t>.mode("FAILFAST")\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.option("inferSchema", ”false")\</a:t>
            </a:r>
            <a:endParaRPr kumimoji="0" lang="en-US" sz="2400" b="0" i="0" u="none" strike="noStrike" kern="1200" cap="none" spc="0" normalizeH="0" baseline="0" noProof="0" dirty="0">
              <a:ln>
                <a:noFill/>
              </a:ln>
              <a:solidFill>
                <a:srgbClr val="0070C0"/>
              </a:solidFill>
              <a:effectLst/>
              <a:uLnTx/>
              <a:uFillTx/>
              <a:latin typeface="Courier" pitchFamily="2"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.schema(someSchema)\</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Courier" pitchFamily="2" charset="0"/>
                <a:ea typeface="Calibri" panose="020F0502020204030204" pitchFamily="34" charset="0"/>
                <a:cs typeface="Times New Roman" panose="02020603050405020304" pitchFamily="18" charset="0"/>
              </a:rPr>
              <a:t>   .csv(""path/to/file(s)")</a:t>
            </a:r>
            <a:endPar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a:t>
            </a:r>
            <a:endParaRPr kumimoji="0" lang="en-US" sz="20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EEAA3043-A844-DA35-F7B2-F0D6018AAFC3}"/>
              </a:ext>
            </a:extLst>
          </p:cNvPr>
          <p:cNvSpPr txBox="1"/>
          <p:nvPr/>
        </p:nvSpPr>
        <p:spPr>
          <a:xfrm>
            <a:off x="8467728" y="6544249"/>
            <a:ext cx="8715374" cy="1200329"/>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spark.read</a:t>
            </a:r>
            <a:r>
              <a:rPr kumimoji="0" lang="en-US" sz="2400" b="0" i="0" u="none" strike="noStrike" kern="1200" cap="none" spc="0" normalizeH="0" baseline="0" noProof="0" dirty="0">
                <a:ln>
                  <a:noFill/>
                </a:ln>
                <a:solidFill>
                  <a:srgbClr val="0070C0"/>
                </a:solidFill>
                <a:effectLst/>
                <a:uLnTx/>
                <a:uFillTx/>
                <a:latin typeface="Courier" pitchFamily="2" charset="0"/>
                <a:ea typeface="Calibri" panose="020F0502020204030204" pitchFamily="34" charset="0"/>
                <a:cs typeface="Times New Roman" panose="02020603050405020304" pitchFamily="18" charset="0"/>
              </a:rPr>
              <a:t>.mode("FAILFAST")\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.schema(someSchema)\</a:t>
            </a:r>
            <a:endParaRPr kumimoji="0" lang="en-US" sz="2400" b="0" i="0" u="none" strike="noStrike" kern="1200" cap="none" spc="0" normalizeH="0" baseline="0" noProof="0" dirty="0">
              <a:ln>
                <a:noFill/>
              </a:ln>
              <a:solidFill>
                <a:srgbClr val="0070C0"/>
              </a:solidFill>
              <a:effectLst/>
              <a:uLnTx/>
              <a:uFillTx/>
              <a:latin typeface="Courier" pitchFamily="2"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Courier" pitchFamily="2" charset="0"/>
                <a:ea typeface="Calibri" panose="020F0502020204030204" pitchFamily="34" charset="0"/>
                <a:cs typeface="Times New Roman" panose="02020603050405020304" pitchFamily="18" charset="0"/>
              </a:rPr>
              <a:t>   .csv(""path/to/file(s)”, inferSchema=false)</a:t>
            </a:r>
          </a:p>
        </p:txBody>
      </p:sp>
    </p:spTree>
    <p:extLst>
      <p:ext uri="{BB962C8B-B14F-4D97-AF65-F5344CB8AC3E}">
        <p14:creationId xmlns:p14="http://schemas.microsoft.com/office/powerpoint/2010/main" val="2134091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Read API Structure</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Calibri" panose="020F0502020204030204" pitchFamily="34" charset="0"/>
                <a:cs typeface="Times New Roman" panose="02020603050405020304" pitchFamily="18" charset="0"/>
              </a:rPr>
              <a:t>The core interface for reading data is as follows:</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schemeClr val="tx1"/>
                </a:solidFill>
                <a:effectLst/>
                <a:uLnTx/>
                <a:uFillTx/>
                <a:latin typeface="Arial"/>
                <a:ea typeface="+mn-ea"/>
                <a:cs typeface="+mn-cs"/>
              </a:rPr>
              <a:t>DataFrameReader.format(...).option("key", "value").schema(...).load()</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chemeClr val="tx1"/>
                </a:solidFill>
                <a:effectLst/>
                <a:uLnTx/>
                <a:uFillTx/>
                <a:latin typeface="Arial"/>
                <a:ea typeface="+mn-ea"/>
                <a:cs typeface="+mn-cs"/>
              </a:rPr>
              <a:t>format – used to indicate the type of the data source (CSV, ORC, etc.) to read from. format is optional because by default Spark will use the Parquet format</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mn-ea"/>
                <a:cs typeface="+mn-cs"/>
              </a:rPr>
              <a:t>option – allows you to set key value configurations to parameterize how you will read data </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C40724"/>
              </a:solidFill>
              <a:effectLst/>
              <a:uLnTx/>
              <a:uFillTx/>
              <a:latin typeface="Arial"/>
              <a:ea typeface="+mn-ea"/>
              <a:cs typeface="+mn-cs"/>
            </a:endParaRPr>
          </a:p>
        </p:txBody>
      </p:sp>
      <p:sp>
        <p:nvSpPr>
          <p:cNvPr id="13" name="Rectangle 12">
            <a:extLst>
              <a:ext uri="{FF2B5EF4-FFF2-40B4-BE49-F238E27FC236}">
                <a16:creationId xmlns:a16="http://schemas.microsoft.com/office/drawing/2014/main" id="{0C8781AD-82B3-30B5-7D07-45800FC20FCF}"/>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mn-ea"/>
                <a:cs typeface="+mn-cs"/>
              </a:rPr>
              <a:t>schema – allows you to specify the column names and types for data source. Optional if the data source provides a schema or if you use schema inference</a:t>
            </a: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C40724"/>
              </a:solidFill>
              <a:effectLst/>
              <a:uLnTx/>
              <a:uFillTx/>
              <a:latin typeface="Arial"/>
              <a:ea typeface="+mn-ea"/>
              <a:cs typeface="+mn-cs"/>
            </a:endParaRPr>
          </a:p>
        </p:txBody>
      </p:sp>
    </p:spTree>
    <p:extLst>
      <p:ext uri="{BB962C8B-B14F-4D97-AF65-F5344CB8AC3E}">
        <p14:creationId xmlns:p14="http://schemas.microsoft.com/office/powerpoint/2010/main" val="1129909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CE00B-641B-6E6B-DF50-29E50600D03B}"/>
              </a:ext>
            </a:extLst>
          </p:cNvPr>
          <p:cNvSpPr>
            <a:spLocks noGrp="1"/>
          </p:cNvSpPr>
          <p:nvPr>
            <p:ph type="title"/>
          </p:nvPr>
        </p:nvSpPr>
        <p:spPr/>
        <p:txBody>
          <a:bodyPr/>
          <a:lstStyle/>
          <a:p>
            <a:r>
              <a:rPr lang="en-US" dirty="0"/>
              <a:t>Reading CSV Data Sources</a:t>
            </a:r>
          </a:p>
        </p:txBody>
      </p:sp>
      <p:sp>
        <p:nvSpPr>
          <p:cNvPr id="4" name="Rectangle 3">
            <a:extLst>
              <a:ext uri="{FF2B5EF4-FFF2-40B4-BE49-F238E27FC236}">
                <a16:creationId xmlns:a16="http://schemas.microsoft.com/office/drawing/2014/main" id="{41B5FF05-3BBD-F34F-04D1-0F17BA2EDFFC}"/>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rgbClr val="F8F8F8"/>
                </a:solidFill>
                <a:effectLst/>
                <a:uLnTx/>
                <a:uFillTx/>
                <a:latin typeface="Arial"/>
                <a:ea typeface="+mn-ea"/>
                <a:cs typeface="+mn-cs"/>
              </a:rPr>
              <a:t>CSV stands for comma separated values</a:t>
            </a:r>
          </a:p>
        </p:txBody>
      </p:sp>
      <p:sp>
        <p:nvSpPr>
          <p:cNvPr id="5" name="Rectangle 4">
            <a:extLst>
              <a:ext uri="{FF2B5EF4-FFF2-40B4-BE49-F238E27FC236}">
                <a16:creationId xmlns:a16="http://schemas.microsoft.com/office/drawing/2014/main" id="{6A2B4A0B-34BE-006A-A84F-4AA061148832}"/>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6" name="Rectangle 5">
            <a:extLst>
              <a:ext uri="{FF2B5EF4-FFF2-40B4-BE49-F238E27FC236}">
                <a16:creationId xmlns:a16="http://schemas.microsoft.com/office/drawing/2014/main" id="{AE033C3C-FE5F-D799-26F8-AC9542C0BC57}"/>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chemeClr val="tx1"/>
                </a:solidFill>
                <a:effectLst/>
                <a:uLnTx/>
                <a:uFillTx/>
                <a:latin typeface="Arial"/>
                <a:ea typeface="+mn-ea"/>
                <a:cs typeface="+mn-cs"/>
              </a:rPr>
              <a:t>Because of its age and wide use, this format has many variations in its core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chemeClr val="tx1"/>
                </a:solidFill>
                <a:effectLst/>
                <a:uLnTx/>
                <a:uFillTx/>
                <a:latin typeface="Arial"/>
                <a:ea typeface="+mn-ea"/>
                <a:cs typeface="+mn-cs"/>
              </a:rPr>
              <a:t>structure:</a:t>
            </a:r>
          </a:p>
        </p:txBody>
      </p:sp>
      <p:sp>
        <p:nvSpPr>
          <p:cNvPr id="7" name="Rectangle 6">
            <a:extLst>
              <a:ext uri="{FF2B5EF4-FFF2-40B4-BE49-F238E27FC236}">
                <a16:creationId xmlns:a16="http://schemas.microsoft.com/office/drawing/2014/main" id="{18798D00-DDE7-96D8-4921-41A7CA89F9CE}"/>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chemeClr val="tx1"/>
                </a:solidFill>
                <a:effectLst/>
                <a:uLnTx/>
                <a:uFillTx/>
                <a:latin typeface="Arial"/>
                <a:ea typeface="+mn-ea"/>
                <a:cs typeface="+mn-cs"/>
              </a:rPr>
              <a:t>Separators are not always commas, some records may span over multiple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chemeClr val="tx1"/>
                </a:solidFill>
                <a:effectLst/>
                <a:uLnTx/>
                <a:uFillTx/>
                <a:latin typeface="Arial"/>
                <a:ea typeface="+mn-ea"/>
                <a:cs typeface="+mn-cs"/>
              </a:rPr>
              <a:t>lines, a header record might hold column names, there are various ways of escaping the separator, etc.</a:t>
            </a:r>
          </a:p>
        </p:txBody>
      </p:sp>
      <p:sp>
        <p:nvSpPr>
          <p:cNvPr id="8" name="Rectangle 7">
            <a:extLst>
              <a:ext uri="{FF2B5EF4-FFF2-40B4-BE49-F238E27FC236}">
                <a16:creationId xmlns:a16="http://schemas.microsoft.com/office/drawing/2014/main" id="{5F604D68-98C7-6DC2-8065-9C36C8AB21D5}"/>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9" name="Rectangle 8">
            <a:extLst>
              <a:ext uri="{FF2B5EF4-FFF2-40B4-BE49-F238E27FC236}">
                <a16:creationId xmlns:a16="http://schemas.microsoft.com/office/drawing/2014/main" id="{BE6B1649-319F-98C0-F2B6-79C8A807F30F}"/>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10" name="Rectangle 9">
            <a:extLst>
              <a:ext uri="{FF2B5EF4-FFF2-40B4-BE49-F238E27FC236}">
                <a16:creationId xmlns:a16="http://schemas.microsoft.com/office/drawing/2014/main" id="{F5483773-4F5B-1A6C-5A1A-3698F342B125}"/>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mn-ea"/>
                <a:cs typeface="+mn-cs"/>
              </a:rPr>
              <a:t>As a result the CSV reader offers a large number of options to work around these issues</a:t>
            </a:r>
          </a:p>
        </p:txBody>
      </p:sp>
      <p:sp>
        <p:nvSpPr>
          <p:cNvPr id="11" name="Rectangle 10">
            <a:extLst>
              <a:ext uri="{FF2B5EF4-FFF2-40B4-BE49-F238E27FC236}">
                <a16:creationId xmlns:a16="http://schemas.microsoft.com/office/drawing/2014/main" id="{DC7EC223-7DB2-156E-0272-24609E5AD474}"/>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C40724"/>
              </a:solidFill>
              <a:effectLst/>
              <a:uLnTx/>
              <a:uFillTx/>
              <a:latin typeface="Arial"/>
              <a:ea typeface="+mn-ea"/>
              <a:cs typeface="+mn-cs"/>
            </a:endParaRPr>
          </a:p>
        </p:txBody>
      </p:sp>
    </p:spTree>
    <p:extLst>
      <p:ext uri="{BB962C8B-B14F-4D97-AF65-F5344CB8AC3E}">
        <p14:creationId xmlns:p14="http://schemas.microsoft.com/office/powerpoint/2010/main" val="460659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C360-B9D0-9BBB-B305-8C0CCAC27E4C}"/>
              </a:ext>
            </a:extLst>
          </p:cNvPr>
          <p:cNvSpPr>
            <a:spLocks noGrp="1"/>
          </p:cNvSpPr>
          <p:nvPr>
            <p:ph type="title"/>
          </p:nvPr>
        </p:nvSpPr>
        <p:spPr/>
        <p:txBody>
          <a:bodyPr/>
          <a:lstStyle/>
          <a:p>
            <a:r>
              <a:rPr lang="en-US" dirty="0"/>
              <a:t>Reading CSV Data Sources – Some Options</a:t>
            </a:r>
          </a:p>
        </p:txBody>
      </p:sp>
      <p:graphicFrame>
        <p:nvGraphicFramePr>
          <p:cNvPr id="4" name="Table 3">
            <a:extLst>
              <a:ext uri="{FF2B5EF4-FFF2-40B4-BE49-F238E27FC236}">
                <a16:creationId xmlns:a16="http://schemas.microsoft.com/office/drawing/2014/main" id="{566A134F-50FC-E6A1-EFB0-34C1976A6FAD}"/>
              </a:ext>
            </a:extLst>
          </p:cNvPr>
          <p:cNvGraphicFramePr>
            <a:graphicFrameLocks noGrp="1"/>
          </p:cNvGraphicFramePr>
          <p:nvPr/>
        </p:nvGraphicFramePr>
        <p:xfrm>
          <a:off x="1098550" y="2209800"/>
          <a:ext cx="16084553" cy="4917833"/>
        </p:xfrm>
        <a:graphic>
          <a:graphicData uri="http://schemas.openxmlformats.org/drawingml/2006/table">
            <a:tbl>
              <a:tblPr firstRow="1" firstCol="1" bandRow="1">
                <a:tableStyleId>{5202B0CA-FC54-4496-8BCA-5EF66A818D29}</a:tableStyleId>
              </a:tblPr>
              <a:tblGrid>
                <a:gridCol w="3516831">
                  <a:extLst>
                    <a:ext uri="{9D8B030D-6E8A-4147-A177-3AD203B41FA5}">
                      <a16:colId xmlns:a16="http://schemas.microsoft.com/office/drawing/2014/main" val="2676329802"/>
                    </a:ext>
                  </a:extLst>
                </a:gridCol>
                <a:gridCol w="2375003">
                  <a:extLst>
                    <a:ext uri="{9D8B030D-6E8A-4147-A177-3AD203B41FA5}">
                      <a16:colId xmlns:a16="http://schemas.microsoft.com/office/drawing/2014/main" val="28658802"/>
                    </a:ext>
                  </a:extLst>
                </a:gridCol>
                <a:gridCol w="10192719">
                  <a:extLst>
                    <a:ext uri="{9D8B030D-6E8A-4147-A177-3AD203B41FA5}">
                      <a16:colId xmlns:a16="http://schemas.microsoft.com/office/drawing/2014/main" val="1087378393"/>
                    </a:ext>
                  </a:extLst>
                </a:gridCol>
              </a:tblGrid>
              <a:tr h="498111">
                <a:tc>
                  <a:txBody>
                    <a:bodyPr/>
                    <a:lstStyle/>
                    <a:p>
                      <a:pPr marL="0" marR="0" algn="ctr">
                        <a:spcBef>
                          <a:spcPts val="0"/>
                        </a:spcBef>
                        <a:spcAft>
                          <a:spcPts val="0"/>
                        </a:spcAft>
                      </a:pPr>
                      <a:r>
                        <a:rPr lang="en-US" sz="2400" b="1" dirty="0">
                          <a:solidFill>
                            <a:schemeClr val="bg2"/>
                          </a:solidFill>
                          <a:effectLst/>
                        </a:rPr>
                        <a:t>Option Name</a:t>
                      </a:r>
                      <a:endParaRPr lang="en-US" sz="2400" dirty="0">
                        <a:solidFill>
                          <a:schemeClr val="bg2"/>
                        </a:solidFill>
                        <a:effectLst/>
                        <a:latin typeface="+mn-lt"/>
                        <a:ea typeface="Calibri" panose="020F0502020204030204" pitchFamily="34" charset="0"/>
                        <a:cs typeface="Times New Roman" panose="02020603050405020304" pitchFamily="18" charset="0"/>
                      </a:endParaRPr>
                    </a:p>
                  </a:txBody>
                  <a:tcPr marL="123825" marR="123825" marT="57150" marB="57150" anchor="ctr"/>
                </a:tc>
                <a:tc>
                  <a:txBody>
                    <a:bodyPr/>
                    <a:lstStyle/>
                    <a:p>
                      <a:pPr marL="0" marR="0" algn="ctr">
                        <a:spcBef>
                          <a:spcPts val="0"/>
                        </a:spcBef>
                        <a:spcAft>
                          <a:spcPts val="0"/>
                        </a:spcAft>
                      </a:pPr>
                      <a:r>
                        <a:rPr lang="en-US" sz="2400" b="1" dirty="0">
                          <a:solidFill>
                            <a:schemeClr val="bg2"/>
                          </a:solidFill>
                          <a:effectLst/>
                        </a:rPr>
                        <a:t>Default</a:t>
                      </a:r>
                      <a:endParaRPr lang="en-US" sz="2400" dirty="0">
                        <a:solidFill>
                          <a:schemeClr val="bg2"/>
                        </a:solidFill>
                        <a:effectLst/>
                        <a:latin typeface="+mn-lt"/>
                        <a:ea typeface="Calibri" panose="020F0502020204030204" pitchFamily="34" charset="0"/>
                        <a:cs typeface="Times New Roman" panose="02020603050405020304" pitchFamily="18" charset="0"/>
                      </a:endParaRPr>
                    </a:p>
                  </a:txBody>
                  <a:tcPr marL="123825" marR="123825" marT="57150" marB="57150" anchor="ctr"/>
                </a:tc>
                <a:tc>
                  <a:txBody>
                    <a:bodyPr/>
                    <a:lstStyle/>
                    <a:p>
                      <a:pPr marL="0" marR="0" algn="ctr">
                        <a:spcBef>
                          <a:spcPts val="0"/>
                        </a:spcBef>
                        <a:spcAft>
                          <a:spcPts val="0"/>
                        </a:spcAft>
                      </a:pPr>
                      <a:r>
                        <a:rPr lang="en-US" sz="2400" b="1" dirty="0">
                          <a:solidFill>
                            <a:schemeClr val="bg2"/>
                          </a:solidFill>
                          <a:effectLst/>
                        </a:rPr>
                        <a:t>Meaning</a:t>
                      </a:r>
                      <a:endParaRPr lang="en-US" sz="2400" dirty="0">
                        <a:solidFill>
                          <a:schemeClr val="bg2"/>
                        </a:solidFill>
                        <a:effectLst/>
                        <a:latin typeface="+mn-lt"/>
                        <a:ea typeface="Calibri" panose="020F0502020204030204" pitchFamily="34" charset="0"/>
                        <a:cs typeface="Times New Roman" panose="02020603050405020304" pitchFamily="18" charset="0"/>
                      </a:endParaRPr>
                    </a:p>
                  </a:txBody>
                  <a:tcPr marL="123825" marR="123825" marT="57150" marB="57150" anchor="ctr"/>
                </a:tc>
                <a:extLst>
                  <a:ext uri="{0D108BD9-81ED-4DB2-BD59-A6C34878D82A}">
                    <a16:rowId xmlns:a16="http://schemas.microsoft.com/office/drawing/2014/main" val="2177944611"/>
                  </a:ext>
                </a:extLst>
              </a:tr>
              <a:tr h="860373">
                <a:tc>
                  <a:txBody>
                    <a:bodyPr/>
                    <a:lstStyle/>
                    <a:p>
                      <a:pPr marL="0" marR="0">
                        <a:spcBef>
                          <a:spcPts val="0"/>
                        </a:spcBef>
                        <a:spcAft>
                          <a:spcPts val="0"/>
                        </a:spcAft>
                      </a:pPr>
                      <a:r>
                        <a:rPr lang="en-US" sz="2400" dirty="0">
                          <a:solidFill>
                            <a:schemeClr val="tx1"/>
                          </a:solidFill>
                          <a:effectLst/>
                        </a:rPr>
                        <a:t>sep</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tc>
                  <a:txBody>
                    <a:bodyPr/>
                    <a:lstStyle/>
                    <a:p>
                      <a:pPr marL="0" marR="0">
                        <a:spcBef>
                          <a:spcPts val="0"/>
                        </a:spcBef>
                        <a:spcAft>
                          <a:spcPts val="0"/>
                        </a:spcAft>
                      </a:pPr>
                      <a:r>
                        <a:rPr lang="en-US" sz="2400" dirty="0">
                          <a:solidFill>
                            <a:schemeClr val="tx1"/>
                          </a:solidFill>
                          <a:effectLst/>
                        </a:rPr>
                        <a:t>,</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tc>
                  <a:txBody>
                    <a:bodyPr/>
                    <a:lstStyle/>
                    <a:p>
                      <a:pPr marL="0" marR="0">
                        <a:spcBef>
                          <a:spcPts val="0"/>
                        </a:spcBef>
                        <a:spcAft>
                          <a:spcPts val="0"/>
                        </a:spcAft>
                      </a:pPr>
                      <a:r>
                        <a:rPr lang="en-US" sz="2400" dirty="0">
                          <a:solidFill>
                            <a:schemeClr val="tx1"/>
                          </a:solidFill>
                          <a:effectLst/>
                        </a:rPr>
                        <a:t>Sets a separator for each field and value. This separator can be one or more characters.</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extLst>
                  <a:ext uri="{0D108BD9-81ED-4DB2-BD59-A6C34878D82A}">
                    <a16:rowId xmlns:a16="http://schemas.microsoft.com/office/drawing/2014/main" val="4242930681"/>
                  </a:ext>
                </a:extLst>
              </a:tr>
              <a:tr h="860373">
                <a:tc>
                  <a:txBody>
                    <a:bodyPr/>
                    <a:lstStyle/>
                    <a:p>
                      <a:pPr marL="0" marR="0">
                        <a:spcBef>
                          <a:spcPts val="0"/>
                        </a:spcBef>
                        <a:spcAft>
                          <a:spcPts val="0"/>
                        </a:spcAft>
                      </a:pPr>
                      <a:r>
                        <a:rPr lang="en-US" sz="2400" dirty="0">
                          <a:solidFill>
                            <a:schemeClr val="tx1"/>
                          </a:solidFill>
                          <a:effectLst/>
                        </a:rPr>
                        <a:t>escape</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tc>
                  <a:txBody>
                    <a:bodyPr/>
                    <a:lstStyle/>
                    <a:p>
                      <a:pPr marL="0" marR="0">
                        <a:spcBef>
                          <a:spcPts val="0"/>
                        </a:spcBef>
                        <a:spcAft>
                          <a:spcPts val="0"/>
                        </a:spcAft>
                      </a:pPr>
                      <a:r>
                        <a:rPr lang="en-US" sz="2400" dirty="0">
                          <a:solidFill>
                            <a:schemeClr val="tx1"/>
                          </a:solidFill>
                          <a:effectLst/>
                        </a:rPr>
                        <a:t>\</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tc>
                  <a:txBody>
                    <a:bodyPr/>
                    <a:lstStyle/>
                    <a:p>
                      <a:pPr marL="0" marR="0">
                        <a:spcBef>
                          <a:spcPts val="0"/>
                        </a:spcBef>
                        <a:spcAft>
                          <a:spcPts val="0"/>
                        </a:spcAft>
                      </a:pPr>
                      <a:r>
                        <a:rPr lang="en-US" sz="2400" dirty="0">
                          <a:solidFill>
                            <a:schemeClr val="tx1"/>
                          </a:solidFill>
                          <a:effectLst/>
                        </a:rPr>
                        <a:t>Sets a single character used for escaping quotes inside an already quoted value.</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extLst>
                  <a:ext uri="{0D108BD9-81ED-4DB2-BD59-A6C34878D82A}">
                    <a16:rowId xmlns:a16="http://schemas.microsoft.com/office/drawing/2014/main" val="1565594860"/>
                  </a:ext>
                </a:extLst>
              </a:tr>
              <a:tr h="978230">
                <a:tc>
                  <a:txBody>
                    <a:bodyPr/>
                    <a:lstStyle/>
                    <a:p>
                      <a:pPr marL="0" marR="0">
                        <a:spcBef>
                          <a:spcPts val="0"/>
                        </a:spcBef>
                        <a:spcAft>
                          <a:spcPts val="0"/>
                        </a:spcAft>
                      </a:pPr>
                      <a:r>
                        <a:rPr lang="en-US" sz="2400" dirty="0">
                          <a:solidFill>
                            <a:schemeClr val="tx1"/>
                          </a:solidFill>
                          <a:effectLst/>
                        </a:rPr>
                        <a:t>header</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tc>
                  <a:txBody>
                    <a:bodyPr/>
                    <a:lstStyle/>
                    <a:p>
                      <a:pPr marL="0" marR="0">
                        <a:spcBef>
                          <a:spcPts val="0"/>
                        </a:spcBef>
                        <a:spcAft>
                          <a:spcPts val="0"/>
                        </a:spcAft>
                      </a:pPr>
                      <a:r>
                        <a:rPr lang="en-US" sz="2400" dirty="0">
                          <a:solidFill>
                            <a:schemeClr val="tx1"/>
                          </a:solidFill>
                          <a:effectLst/>
                        </a:rPr>
                        <a:t>false</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tc>
                  <a:txBody>
                    <a:bodyPr/>
                    <a:lstStyle/>
                    <a:p>
                      <a:pPr marL="0" marR="0">
                        <a:spcBef>
                          <a:spcPts val="0"/>
                        </a:spcBef>
                        <a:spcAft>
                          <a:spcPts val="0"/>
                        </a:spcAft>
                      </a:pPr>
                      <a:r>
                        <a:rPr lang="en-US" sz="2400" dirty="0">
                          <a:solidFill>
                            <a:schemeClr val="tx1"/>
                          </a:solidFill>
                          <a:effectLst/>
                        </a:rPr>
                        <a:t>Uses the first record/line as names of columns</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extLst>
                  <a:ext uri="{0D108BD9-81ED-4DB2-BD59-A6C34878D82A}">
                    <a16:rowId xmlns:a16="http://schemas.microsoft.com/office/drawing/2014/main" val="2430181402"/>
                  </a:ext>
                </a:extLst>
              </a:tr>
              <a:tr h="860373">
                <a:tc>
                  <a:txBody>
                    <a:bodyPr/>
                    <a:lstStyle/>
                    <a:p>
                      <a:pPr marL="0" marR="0">
                        <a:spcBef>
                          <a:spcPts val="0"/>
                        </a:spcBef>
                        <a:spcAft>
                          <a:spcPts val="0"/>
                        </a:spcAft>
                      </a:pPr>
                      <a:r>
                        <a:rPr lang="en-US" sz="2400" dirty="0">
                          <a:solidFill>
                            <a:schemeClr val="tx1"/>
                          </a:solidFill>
                          <a:effectLst/>
                        </a:rPr>
                        <a:t>inferSchema</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tc>
                  <a:txBody>
                    <a:bodyPr/>
                    <a:lstStyle/>
                    <a:p>
                      <a:pPr marL="0" marR="0">
                        <a:spcBef>
                          <a:spcPts val="0"/>
                        </a:spcBef>
                        <a:spcAft>
                          <a:spcPts val="0"/>
                        </a:spcAft>
                      </a:pPr>
                      <a:r>
                        <a:rPr lang="en-US" sz="2400" dirty="0">
                          <a:solidFill>
                            <a:schemeClr val="tx1"/>
                          </a:solidFill>
                          <a:effectLst/>
                        </a:rPr>
                        <a:t>false</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tc>
                  <a:txBody>
                    <a:bodyPr/>
                    <a:lstStyle/>
                    <a:p>
                      <a:pPr marL="0" marR="0">
                        <a:spcBef>
                          <a:spcPts val="0"/>
                        </a:spcBef>
                        <a:spcAft>
                          <a:spcPts val="0"/>
                        </a:spcAft>
                      </a:pPr>
                      <a:r>
                        <a:rPr lang="en-US" sz="2400" dirty="0">
                          <a:solidFill>
                            <a:schemeClr val="tx1"/>
                          </a:solidFill>
                          <a:effectLst/>
                        </a:rPr>
                        <a:t>Infers the input schema automatically from data. It requires one extra pass over the data. CSV built-in functions ignore this option.</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extLst>
                  <a:ext uri="{0D108BD9-81ED-4DB2-BD59-A6C34878D82A}">
                    <a16:rowId xmlns:a16="http://schemas.microsoft.com/office/drawing/2014/main" val="526886723"/>
                  </a:ext>
                </a:extLst>
              </a:tr>
              <a:tr h="860373">
                <a:tc>
                  <a:txBody>
                    <a:bodyPr/>
                    <a:lstStyle/>
                    <a:p>
                      <a:pPr marL="0" marR="0">
                        <a:spcBef>
                          <a:spcPts val="0"/>
                        </a:spcBef>
                        <a:spcAft>
                          <a:spcPts val="0"/>
                        </a:spcAft>
                      </a:pPr>
                      <a:r>
                        <a:rPr lang="en-US" sz="2400" dirty="0">
                          <a:solidFill>
                            <a:schemeClr val="tx1"/>
                          </a:solidFill>
                          <a:effectLst/>
                        </a:rPr>
                        <a:t>multiLine</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tc>
                  <a:txBody>
                    <a:bodyPr/>
                    <a:lstStyle/>
                    <a:p>
                      <a:pPr marL="0" marR="0">
                        <a:spcBef>
                          <a:spcPts val="0"/>
                        </a:spcBef>
                        <a:spcAft>
                          <a:spcPts val="0"/>
                        </a:spcAft>
                      </a:pPr>
                      <a:r>
                        <a:rPr lang="en-US" sz="2400" dirty="0">
                          <a:solidFill>
                            <a:schemeClr val="tx1"/>
                          </a:solidFill>
                          <a:effectLst/>
                        </a:rPr>
                        <a:t>false</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tc>
                  <a:txBody>
                    <a:bodyPr/>
                    <a:lstStyle/>
                    <a:p>
                      <a:pPr marL="0" marR="0">
                        <a:spcBef>
                          <a:spcPts val="0"/>
                        </a:spcBef>
                        <a:spcAft>
                          <a:spcPts val="0"/>
                        </a:spcAft>
                      </a:pPr>
                      <a:r>
                        <a:rPr lang="en-US" sz="2400" dirty="0">
                          <a:solidFill>
                            <a:schemeClr val="tx1"/>
                          </a:solidFill>
                          <a:effectLst/>
                        </a:rPr>
                        <a:t>Parse one record, which may span multiple lines, per file. CSV built-in functions ignore this option.</a:t>
                      </a:r>
                      <a:endParaRPr lang="en-US" sz="2400" dirty="0">
                        <a:solidFill>
                          <a:schemeClr val="tx1"/>
                        </a:solidFill>
                        <a:effectLst/>
                        <a:latin typeface="+mn-lt"/>
                        <a:ea typeface="Calibri" panose="020F0502020204030204" pitchFamily="34" charset="0"/>
                        <a:cs typeface="Times New Roman" panose="02020603050405020304" pitchFamily="18" charset="0"/>
                      </a:endParaRPr>
                    </a:p>
                  </a:txBody>
                  <a:tcPr marL="123825" marR="123825" marT="57150" marB="57150" anchor="ctr"/>
                </a:tc>
                <a:extLst>
                  <a:ext uri="{0D108BD9-81ED-4DB2-BD59-A6C34878D82A}">
                    <a16:rowId xmlns:a16="http://schemas.microsoft.com/office/drawing/2014/main" val="2422536779"/>
                  </a:ext>
                </a:extLst>
              </a:tr>
            </a:tbl>
          </a:graphicData>
        </a:graphic>
      </p:graphicFrame>
    </p:spTree>
    <p:extLst>
      <p:ext uri="{BB962C8B-B14F-4D97-AF65-F5344CB8AC3E}">
        <p14:creationId xmlns:p14="http://schemas.microsoft.com/office/powerpoint/2010/main" val="626591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CE00B-641B-6E6B-DF50-29E50600D03B}"/>
              </a:ext>
            </a:extLst>
          </p:cNvPr>
          <p:cNvSpPr>
            <a:spLocks noGrp="1"/>
          </p:cNvSpPr>
          <p:nvPr>
            <p:ph type="title"/>
          </p:nvPr>
        </p:nvSpPr>
        <p:spPr/>
        <p:txBody>
          <a:bodyPr/>
          <a:lstStyle/>
          <a:p>
            <a:r>
              <a:rPr lang="en-US" dirty="0"/>
              <a:t>Reading CSV Data Sources</a:t>
            </a:r>
          </a:p>
        </p:txBody>
      </p:sp>
      <p:sp>
        <p:nvSpPr>
          <p:cNvPr id="4" name="Rectangle 3">
            <a:extLst>
              <a:ext uri="{FF2B5EF4-FFF2-40B4-BE49-F238E27FC236}">
                <a16:creationId xmlns:a16="http://schemas.microsoft.com/office/drawing/2014/main" id="{41B5FF05-3BBD-F34F-04D1-0F17BA2EDFFC}"/>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rgbClr val="F8F8F8"/>
                </a:solidFill>
                <a:effectLst/>
                <a:uLnTx/>
                <a:uFillTx/>
                <a:latin typeface="Arial"/>
                <a:ea typeface="+mn-ea"/>
                <a:cs typeface="+mn-cs"/>
              </a:rPr>
              <a:t>Read a CSV data source where there is a header row, the field separator is a ‘|’, and we want to have Spark infer the schema</a:t>
            </a:r>
          </a:p>
        </p:txBody>
      </p:sp>
      <p:sp>
        <p:nvSpPr>
          <p:cNvPr id="5" name="Rectangle 4">
            <a:extLst>
              <a:ext uri="{FF2B5EF4-FFF2-40B4-BE49-F238E27FC236}">
                <a16:creationId xmlns:a16="http://schemas.microsoft.com/office/drawing/2014/main" id="{6A2B4A0B-34BE-006A-A84F-4AA061148832}"/>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12" name="TextBox 11">
            <a:extLst>
              <a:ext uri="{FF2B5EF4-FFF2-40B4-BE49-F238E27FC236}">
                <a16:creationId xmlns:a16="http://schemas.microsoft.com/office/drawing/2014/main" id="{AD270767-79B2-5E02-CF8F-E42FC434C50E}"/>
              </a:ext>
            </a:extLst>
          </p:cNvPr>
          <p:cNvSpPr txBox="1"/>
          <p:nvPr/>
        </p:nvSpPr>
        <p:spPr>
          <a:xfrm>
            <a:off x="4564064" y="4728686"/>
            <a:ext cx="9153524" cy="2308324"/>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spark.read.format("csv") \</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.option("inferSchema", ”true")\</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.option("path", "path/to/file(s)")\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.option(“header”, “true”)\</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.option(“sep”, ‘|’)\</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   .load()</a:t>
            </a:r>
            <a:endParaRPr kumimoji="0" lang="en-US" sz="20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00034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Parquet Data Sources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Calibri" panose="020F0502020204030204" pitchFamily="34" charset="0"/>
                <a:cs typeface="Times New Roman" panose="02020603050405020304" pitchFamily="18" charset="0"/>
              </a:rPr>
              <a:t>Parquet is an open-source file format created by Cloudera and Twitter in 2013:</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chemeClr val="tx1"/>
                </a:solidFill>
                <a:effectLst/>
                <a:uLnTx/>
                <a:uFillTx/>
                <a:latin typeface="Arial"/>
                <a:ea typeface="+mn-ea"/>
                <a:cs typeface="+mn-cs"/>
              </a:rPr>
              <a:t>It stores data records in columnar rather than row-wise format</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chemeClr val="tx1"/>
                </a:solidFill>
                <a:effectLst/>
                <a:uLnTx/>
                <a:uFillTx/>
                <a:latin typeface="Arial"/>
                <a:ea typeface="+mn-ea"/>
                <a:cs typeface="+mn-cs"/>
              </a:rPr>
              <a:t>Compared to traditional row-wise approaches, Parquet is more efficient in terms of storage and performance</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mn-ea"/>
                <a:cs typeface="+mn-cs"/>
              </a:rPr>
              <a:t>It provides columnar compression which reduces I/O overhead and saves storage</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C40724"/>
              </a:solidFill>
              <a:effectLst/>
              <a:uLnTx/>
              <a:uFillTx/>
              <a:latin typeface="Arial"/>
              <a:ea typeface="+mn-ea"/>
              <a:cs typeface="+mn-cs"/>
            </a:endParaRPr>
          </a:p>
        </p:txBody>
      </p:sp>
      <p:sp>
        <p:nvSpPr>
          <p:cNvPr id="13" name="Rectangle 12">
            <a:extLst>
              <a:ext uri="{FF2B5EF4-FFF2-40B4-BE49-F238E27FC236}">
                <a16:creationId xmlns:a16="http://schemas.microsoft.com/office/drawing/2014/main" id="{0C8781AD-82B3-30B5-7D07-45800FC20FCF}"/>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mn-ea"/>
                <a:cs typeface="+mn-cs"/>
              </a:rPr>
              <a:t>It allows efficiently reading certain select columns from a data file with many columns</a:t>
            </a: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C40724"/>
              </a:solidFill>
              <a:effectLst/>
              <a:uLnTx/>
              <a:uFillTx/>
              <a:latin typeface="Arial"/>
              <a:ea typeface="+mn-ea"/>
              <a:cs typeface="+mn-cs"/>
            </a:endParaRPr>
          </a:p>
        </p:txBody>
      </p:sp>
    </p:spTree>
    <p:extLst>
      <p:ext uri="{BB962C8B-B14F-4D97-AF65-F5344CB8AC3E}">
        <p14:creationId xmlns:p14="http://schemas.microsoft.com/office/powerpoint/2010/main" val="2820973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5664-0D67-95B0-79C7-11B7CA4B0FED}"/>
              </a:ext>
            </a:extLst>
          </p:cNvPr>
          <p:cNvSpPr>
            <a:spLocks noGrp="1"/>
          </p:cNvSpPr>
          <p:nvPr>
            <p:ph type="title"/>
          </p:nvPr>
        </p:nvSpPr>
        <p:spPr/>
        <p:txBody>
          <a:bodyPr>
            <a:normAutofit/>
          </a:bodyPr>
          <a:lstStyle/>
          <a:p>
            <a:r>
              <a:rPr lang="en-US" dirty="0"/>
              <a:t>Parquet Data Source</a:t>
            </a:r>
          </a:p>
        </p:txBody>
      </p:sp>
      <p:graphicFrame>
        <p:nvGraphicFramePr>
          <p:cNvPr id="16" name="Content Placeholder 6" descr="The image outlines the key features and advantages of the Parquet file format in big data processing. Here’s a detailed description:&#10;&#10;1. **Columnar Storage**:&#10;   - Parquet is a columnar storage file format that organizes data in a way that optimizes for efficient reading and processing of specific columns.&#10;   - This enhances query performance by allowing selective access to necessary columns without reading the entire dataset.&#10;&#10;2. **Compression Techniques**:&#10;   - Parquet employs sophisticated compression techniques to minimize storage space requirements.&#10;   - This enables faster data transfer and reduces overall storage costs by compressing the data effectively.&#10;&#10;3. **Cross-Platform Compatibility**:&#10;   - As an open standard, Parquet is designed for interoperability across various data processing frameworks and programming languages.&#10;   - This makes it a versatile choice for diverse big data ecosystems, allowing seamless data exchange between different systems.&#10;&#10;4. **Used in Big Data Ecosystems**:&#10;   - Parquet is widely adopted in big data processing frameworks such as Apache Spark, Apache Hive, and Apache Impala.&#10;   - Its efficiency in handling large datasets and compatibility with distributed computing environments makes it a preferred choice in big data ecosystems.&#10;&#10;These features collectively contribute to Parquet's popularity and effectiveness in managing and processing large-scale data efficiently.">
            <a:extLst>
              <a:ext uri="{FF2B5EF4-FFF2-40B4-BE49-F238E27FC236}">
                <a16:creationId xmlns:a16="http://schemas.microsoft.com/office/drawing/2014/main" id="{618E5F47-9438-9B29-F507-C8B333BB838C}"/>
              </a:ext>
            </a:extLst>
          </p:cNvPr>
          <p:cNvGraphicFramePr>
            <a:graphicFrameLocks noGrp="1"/>
          </p:cNvGraphicFramePr>
          <p:nvPr>
            <p:ph idx="1"/>
            <p:extLst>
              <p:ext uri="{D42A27DB-BD31-4B8C-83A1-F6EECF244321}">
                <p14:modId xmlns:p14="http://schemas.microsoft.com/office/powerpoint/2010/main" val="2930182709"/>
              </p:ext>
            </p:extLst>
          </p:nvPr>
        </p:nvGraphicFramePr>
        <p:xfrm>
          <a:off x="1098550" y="1419423"/>
          <a:ext cx="15598394" cy="76553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2108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BC31F-49F0-987F-BDB6-FCCAE514D4BE}"/>
              </a:ext>
            </a:extLst>
          </p:cNvPr>
          <p:cNvSpPr>
            <a:spLocks noGrp="1"/>
          </p:cNvSpPr>
          <p:nvPr>
            <p:ph type="title"/>
          </p:nvPr>
        </p:nvSpPr>
        <p:spPr/>
        <p:txBody>
          <a:bodyPr/>
          <a:lstStyle/>
          <a:p>
            <a: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Parquet Data Sources</a:t>
            </a:r>
            <a:b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8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Row-Wise Versus Columnar Storage Format</a:t>
            </a:r>
            <a:endParaRPr lang="en-US" dirty="0"/>
          </a:p>
        </p:txBody>
      </p:sp>
      <p:sp>
        <p:nvSpPr>
          <p:cNvPr id="3" name="Content Placeholder 2">
            <a:extLst>
              <a:ext uri="{FF2B5EF4-FFF2-40B4-BE49-F238E27FC236}">
                <a16:creationId xmlns:a16="http://schemas.microsoft.com/office/drawing/2014/main" id="{1C2BB0A0-897B-3A41-8DE9-A9CA46BE198F}"/>
              </a:ext>
            </a:extLst>
          </p:cNvPr>
          <p:cNvSpPr>
            <a:spLocks noGrp="1"/>
          </p:cNvSpPr>
          <p:nvPr>
            <p:ph idx="1"/>
          </p:nvPr>
        </p:nvSpPr>
        <p:spPr/>
        <p:txBody>
          <a:bodyPr/>
          <a:lstStyle/>
          <a:p>
            <a:pPr marL="0" indent="0" algn="l">
              <a:buNone/>
            </a:pPr>
            <a:r>
              <a:rPr lang="en-US" b="0" i="0" dirty="0">
                <a:solidFill>
                  <a:srgbClr val="242424"/>
                </a:solidFill>
                <a:effectLst/>
              </a:rPr>
              <a:t>Primarily there are only two ways how the data stores in the files.:</a:t>
            </a:r>
          </a:p>
          <a:p>
            <a:pPr marL="742950" indent="-742950" algn="l">
              <a:buFont typeface="+mj-lt"/>
              <a:buAutoNum type="arabicPeriod"/>
            </a:pPr>
            <a:r>
              <a:rPr lang="en-US" b="0" i="0" dirty="0">
                <a:solidFill>
                  <a:srgbClr val="242424"/>
                </a:solidFill>
                <a:effectLst/>
              </a:rPr>
              <a:t>Row oriented storage</a:t>
            </a:r>
            <a:endParaRPr lang="en-US" dirty="0">
              <a:solidFill>
                <a:srgbClr val="242424"/>
              </a:solidFill>
            </a:endParaRPr>
          </a:p>
          <a:p>
            <a:pPr marL="742950" indent="-742950" algn="l">
              <a:buFont typeface="+mj-lt"/>
              <a:buAutoNum type="arabicPeriod"/>
            </a:pPr>
            <a:r>
              <a:rPr lang="en-US" b="0" i="0" dirty="0">
                <a:solidFill>
                  <a:srgbClr val="242424"/>
                </a:solidFill>
                <a:effectLst/>
              </a:rPr>
              <a:t>Column oriented storage</a:t>
            </a:r>
            <a:endParaRPr lang="en-US" dirty="0"/>
          </a:p>
        </p:txBody>
      </p:sp>
    </p:spTree>
    <p:extLst>
      <p:ext uri="{BB962C8B-B14F-4D97-AF65-F5344CB8AC3E}">
        <p14:creationId xmlns:p14="http://schemas.microsoft.com/office/powerpoint/2010/main" val="1157517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A81EA-FE90-10A6-4737-CC5287FED4D7}"/>
              </a:ext>
            </a:extLst>
          </p:cNvPr>
          <p:cNvSpPr>
            <a:spLocks noGrp="1"/>
          </p:cNvSpPr>
          <p:nvPr>
            <p:ph type="title"/>
          </p:nvPr>
        </p:nvSpPr>
        <p:spPr/>
        <p:txBody>
          <a:bodyPr/>
          <a:lstStyle/>
          <a:p>
            <a:r>
              <a:rPr lang="en-US" dirty="0"/>
              <a:t>Parquet Data Sources</a:t>
            </a:r>
            <a:br>
              <a:rPr lang="en-US" dirty="0"/>
            </a:br>
            <a:r>
              <a:rPr lang="en-US" sz="4800" dirty="0"/>
              <a:t>Row-Wise Versus Columnar Storage Format</a:t>
            </a:r>
            <a:endParaRPr lang="en-US" dirty="0"/>
          </a:p>
        </p:txBody>
      </p:sp>
      <p:graphicFrame>
        <p:nvGraphicFramePr>
          <p:cNvPr id="8" name="Table 4">
            <a:extLst>
              <a:ext uri="{FF2B5EF4-FFF2-40B4-BE49-F238E27FC236}">
                <a16:creationId xmlns:a16="http://schemas.microsoft.com/office/drawing/2014/main" id="{C8B0F532-3639-5200-D11E-8C075917239D}"/>
              </a:ext>
            </a:extLst>
          </p:cNvPr>
          <p:cNvGraphicFramePr>
            <a:graphicFrameLocks noGrp="1"/>
          </p:cNvGraphicFramePr>
          <p:nvPr/>
        </p:nvGraphicFramePr>
        <p:xfrm>
          <a:off x="2514600" y="2603500"/>
          <a:ext cx="4629150" cy="1981200"/>
        </p:xfrm>
        <a:graphic>
          <a:graphicData uri="http://schemas.openxmlformats.org/drawingml/2006/table">
            <a:tbl>
              <a:tblPr firstRow="1" bandRow="1">
                <a:tableStyleId>{5C22544A-7EE6-4342-B048-85BDC9FD1C3A}</a:tableStyleId>
              </a:tblPr>
              <a:tblGrid>
                <a:gridCol w="1208286">
                  <a:extLst>
                    <a:ext uri="{9D8B030D-6E8A-4147-A177-3AD203B41FA5}">
                      <a16:colId xmlns:a16="http://schemas.microsoft.com/office/drawing/2014/main" val="1804671577"/>
                    </a:ext>
                  </a:extLst>
                </a:gridCol>
                <a:gridCol w="1208286">
                  <a:extLst>
                    <a:ext uri="{9D8B030D-6E8A-4147-A177-3AD203B41FA5}">
                      <a16:colId xmlns:a16="http://schemas.microsoft.com/office/drawing/2014/main" val="3311533055"/>
                    </a:ext>
                  </a:extLst>
                </a:gridCol>
                <a:gridCol w="1129827">
                  <a:extLst>
                    <a:ext uri="{9D8B030D-6E8A-4147-A177-3AD203B41FA5}">
                      <a16:colId xmlns:a16="http://schemas.microsoft.com/office/drawing/2014/main" val="1534059809"/>
                    </a:ext>
                  </a:extLst>
                </a:gridCol>
                <a:gridCol w="1082751">
                  <a:extLst>
                    <a:ext uri="{9D8B030D-6E8A-4147-A177-3AD203B41FA5}">
                      <a16:colId xmlns:a16="http://schemas.microsoft.com/office/drawing/2014/main" val="822481267"/>
                    </a:ext>
                  </a:extLst>
                </a:gridCol>
              </a:tblGrid>
              <a:tr h="370840">
                <a:tc>
                  <a:txBody>
                    <a:bodyPr/>
                    <a:lstStyle/>
                    <a:p>
                      <a:endParaRPr lang="en-US" sz="2000" dirty="0">
                        <a:solidFill>
                          <a:schemeClr val="bg2"/>
                        </a:solidFill>
                      </a:endParaRPr>
                    </a:p>
                  </a:txBody>
                  <a:tcPr/>
                </a:tc>
                <a:tc>
                  <a:txBody>
                    <a:bodyPr/>
                    <a:lstStyle/>
                    <a:p>
                      <a:r>
                        <a:rPr lang="en-US" sz="2000" dirty="0">
                          <a:solidFill>
                            <a:schemeClr val="bg2"/>
                          </a:solidFill>
                        </a:rPr>
                        <a:t>Name</a:t>
                      </a:r>
                    </a:p>
                  </a:txBody>
                  <a:tcPr/>
                </a:tc>
                <a:tc>
                  <a:txBody>
                    <a:bodyPr/>
                    <a:lstStyle/>
                    <a:p>
                      <a:r>
                        <a:rPr lang="en-US" sz="2000" dirty="0">
                          <a:solidFill>
                            <a:schemeClr val="bg2"/>
                          </a:solidFill>
                        </a:rPr>
                        <a:t>City</a:t>
                      </a:r>
                    </a:p>
                  </a:txBody>
                  <a:tcPr/>
                </a:tc>
                <a:tc>
                  <a:txBody>
                    <a:bodyPr/>
                    <a:lstStyle/>
                    <a:p>
                      <a:r>
                        <a:rPr lang="en-US" sz="2000" dirty="0">
                          <a:solidFill>
                            <a:schemeClr val="bg2"/>
                          </a:solidFill>
                        </a:rPr>
                        <a:t>State</a:t>
                      </a:r>
                    </a:p>
                  </a:txBody>
                  <a:tcPr/>
                </a:tc>
                <a:extLst>
                  <a:ext uri="{0D108BD9-81ED-4DB2-BD59-A6C34878D82A}">
                    <a16:rowId xmlns:a16="http://schemas.microsoft.com/office/drawing/2014/main" val="997217986"/>
                  </a:ext>
                </a:extLst>
              </a:tr>
              <a:tr h="370840">
                <a:tc>
                  <a:txBody>
                    <a:bodyPr/>
                    <a:lstStyle/>
                    <a:p>
                      <a:r>
                        <a:rPr lang="en-US" sz="2000" dirty="0">
                          <a:solidFill>
                            <a:schemeClr val="tx1"/>
                          </a:solidFill>
                        </a:rPr>
                        <a:t>Row 1</a:t>
                      </a:r>
                    </a:p>
                  </a:txBody>
                  <a:tcPr>
                    <a:solidFill>
                      <a:schemeClr val="bg2">
                        <a:lumMod val="90000"/>
                      </a:schemeClr>
                    </a:solidFill>
                  </a:tcPr>
                </a:tc>
                <a:tc>
                  <a:txBody>
                    <a:bodyPr/>
                    <a:lstStyle/>
                    <a:p>
                      <a:r>
                        <a:rPr lang="en-US" sz="2000" dirty="0">
                          <a:solidFill>
                            <a:schemeClr val="tx1"/>
                          </a:solidFill>
                        </a:rPr>
                        <a:t>Afzal</a:t>
                      </a:r>
                    </a:p>
                  </a:txBody>
                  <a:tcPr>
                    <a:solidFill>
                      <a:schemeClr val="bg2"/>
                    </a:solidFill>
                  </a:tcPr>
                </a:tc>
                <a:tc>
                  <a:txBody>
                    <a:bodyPr/>
                    <a:lstStyle/>
                    <a:p>
                      <a:r>
                        <a:rPr lang="en-US" sz="2000" dirty="0">
                          <a:solidFill>
                            <a:schemeClr val="tx1"/>
                          </a:solidFill>
                        </a:rPr>
                        <a:t>Skokie</a:t>
                      </a:r>
                    </a:p>
                  </a:txBody>
                  <a:tcPr>
                    <a:solidFill>
                      <a:schemeClr val="bg2"/>
                    </a:solidFill>
                  </a:tcPr>
                </a:tc>
                <a:tc>
                  <a:txBody>
                    <a:bodyPr/>
                    <a:lstStyle/>
                    <a:p>
                      <a:r>
                        <a:rPr lang="en-US" sz="2000" dirty="0">
                          <a:solidFill>
                            <a:schemeClr val="tx1"/>
                          </a:solidFill>
                        </a:rPr>
                        <a:t>IL</a:t>
                      </a:r>
                    </a:p>
                  </a:txBody>
                  <a:tcPr>
                    <a:solidFill>
                      <a:schemeClr val="bg2"/>
                    </a:solidFill>
                  </a:tcPr>
                </a:tc>
                <a:extLst>
                  <a:ext uri="{0D108BD9-81ED-4DB2-BD59-A6C34878D82A}">
                    <a16:rowId xmlns:a16="http://schemas.microsoft.com/office/drawing/2014/main" val="1382751626"/>
                  </a:ext>
                </a:extLst>
              </a:tr>
              <a:tr h="370840">
                <a:tc>
                  <a:txBody>
                    <a:bodyPr/>
                    <a:lstStyle/>
                    <a:p>
                      <a:r>
                        <a:rPr lang="en-US" sz="2000" dirty="0">
                          <a:solidFill>
                            <a:schemeClr val="tx1"/>
                          </a:solidFill>
                        </a:rPr>
                        <a:t>Row 2</a:t>
                      </a:r>
                    </a:p>
                  </a:txBody>
                  <a:tcPr>
                    <a:solidFill>
                      <a:schemeClr val="bg2">
                        <a:lumMod val="90000"/>
                      </a:schemeClr>
                    </a:solidFill>
                  </a:tcPr>
                </a:tc>
                <a:tc>
                  <a:txBody>
                    <a:bodyPr/>
                    <a:lstStyle/>
                    <a:p>
                      <a:r>
                        <a:rPr lang="en-US" sz="2000" dirty="0">
                          <a:solidFill>
                            <a:schemeClr val="tx1"/>
                          </a:solidFill>
                        </a:rPr>
                        <a:t>Sam</a:t>
                      </a:r>
                    </a:p>
                  </a:txBody>
                  <a:tcPr>
                    <a:solidFill>
                      <a:schemeClr val="bg2"/>
                    </a:solidFill>
                  </a:tcPr>
                </a:tc>
                <a:tc>
                  <a:txBody>
                    <a:bodyPr/>
                    <a:lstStyle/>
                    <a:p>
                      <a:r>
                        <a:rPr lang="en-US" sz="2000" dirty="0">
                          <a:solidFill>
                            <a:schemeClr val="tx1"/>
                          </a:solidFill>
                        </a:rPr>
                        <a:t>Chicago</a:t>
                      </a:r>
                    </a:p>
                  </a:txBody>
                  <a:tcPr>
                    <a:solidFill>
                      <a:schemeClr val="bg2"/>
                    </a:solidFill>
                  </a:tcPr>
                </a:tc>
                <a:tc>
                  <a:txBody>
                    <a:bodyPr/>
                    <a:lstStyle/>
                    <a:p>
                      <a:r>
                        <a:rPr lang="en-US" sz="2000" dirty="0">
                          <a:solidFill>
                            <a:schemeClr val="tx1"/>
                          </a:solidFill>
                        </a:rPr>
                        <a:t>IL</a:t>
                      </a:r>
                    </a:p>
                  </a:txBody>
                  <a:tcPr>
                    <a:solidFill>
                      <a:schemeClr val="bg2"/>
                    </a:solidFill>
                  </a:tcPr>
                </a:tc>
                <a:extLst>
                  <a:ext uri="{0D108BD9-81ED-4DB2-BD59-A6C34878D82A}">
                    <a16:rowId xmlns:a16="http://schemas.microsoft.com/office/drawing/2014/main" val="2742820672"/>
                  </a:ext>
                </a:extLst>
              </a:tr>
              <a:tr h="370840">
                <a:tc>
                  <a:txBody>
                    <a:bodyPr/>
                    <a:lstStyle/>
                    <a:p>
                      <a:r>
                        <a:rPr lang="en-US" sz="2000" dirty="0">
                          <a:solidFill>
                            <a:schemeClr val="tx1"/>
                          </a:solidFill>
                        </a:rPr>
                        <a:t>Row 3</a:t>
                      </a:r>
                    </a:p>
                  </a:txBody>
                  <a:tcPr>
                    <a:solidFill>
                      <a:schemeClr val="bg2">
                        <a:lumMod val="90000"/>
                      </a:schemeClr>
                    </a:solidFill>
                  </a:tcPr>
                </a:tc>
                <a:tc>
                  <a:txBody>
                    <a:bodyPr/>
                    <a:lstStyle/>
                    <a:p>
                      <a:r>
                        <a:rPr lang="en-US" sz="2000" dirty="0">
                          <a:solidFill>
                            <a:schemeClr val="tx1"/>
                          </a:solidFill>
                        </a:rPr>
                        <a:t>Ayesha</a:t>
                      </a:r>
                    </a:p>
                  </a:txBody>
                  <a:tcPr>
                    <a:solidFill>
                      <a:schemeClr val="bg2"/>
                    </a:solidFill>
                  </a:tcPr>
                </a:tc>
                <a:tc>
                  <a:txBody>
                    <a:bodyPr/>
                    <a:lstStyle/>
                    <a:p>
                      <a:r>
                        <a:rPr lang="en-US" sz="2000" dirty="0">
                          <a:solidFill>
                            <a:schemeClr val="tx1"/>
                          </a:solidFill>
                        </a:rPr>
                        <a:t>Dallas</a:t>
                      </a:r>
                    </a:p>
                  </a:txBody>
                  <a:tcPr>
                    <a:solidFill>
                      <a:schemeClr val="bg2"/>
                    </a:solidFill>
                  </a:tcPr>
                </a:tc>
                <a:tc>
                  <a:txBody>
                    <a:bodyPr/>
                    <a:lstStyle/>
                    <a:p>
                      <a:r>
                        <a:rPr lang="en-US" sz="2000" dirty="0">
                          <a:solidFill>
                            <a:schemeClr val="tx1"/>
                          </a:solidFill>
                        </a:rPr>
                        <a:t>TX</a:t>
                      </a:r>
                    </a:p>
                  </a:txBody>
                  <a:tcPr>
                    <a:solidFill>
                      <a:schemeClr val="bg2"/>
                    </a:solidFill>
                  </a:tcPr>
                </a:tc>
                <a:extLst>
                  <a:ext uri="{0D108BD9-81ED-4DB2-BD59-A6C34878D82A}">
                    <a16:rowId xmlns:a16="http://schemas.microsoft.com/office/drawing/2014/main" val="68367862"/>
                  </a:ext>
                </a:extLst>
              </a:tr>
              <a:tr h="370840">
                <a:tc>
                  <a:txBody>
                    <a:bodyPr/>
                    <a:lstStyle/>
                    <a:p>
                      <a:endParaRPr lang="en-US" sz="2000" dirty="0">
                        <a:solidFill>
                          <a:schemeClr val="tx1"/>
                        </a:solidFill>
                      </a:endParaRPr>
                    </a:p>
                  </a:txBody>
                  <a:tcPr>
                    <a:solidFill>
                      <a:schemeClr val="bg2"/>
                    </a:solidFill>
                  </a:tcPr>
                </a:tc>
                <a:tc>
                  <a:txBody>
                    <a:bodyPr/>
                    <a:lstStyle/>
                    <a:p>
                      <a:r>
                        <a:rPr lang="en-US" sz="2000" dirty="0">
                          <a:solidFill>
                            <a:schemeClr val="tx1"/>
                          </a:solidFill>
                        </a:rPr>
                        <a:t>Col 1</a:t>
                      </a:r>
                    </a:p>
                  </a:txBody>
                  <a:tcPr>
                    <a:solidFill>
                      <a:schemeClr val="bg2">
                        <a:lumMod val="90000"/>
                      </a:schemeClr>
                    </a:solidFill>
                  </a:tcPr>
                </a:tc>
                <a:tc>
                  <a:txBody>
                    <a:bodyPr/>
                    <a:lstStyle/>
                    <a:p>
                      <a:r>
                        <a:rPr lang="en-US" sz="2000" dirty="0">
                          <a:solidFill>
                            <a:schemeClr val="tx1"/>
                          </a:solidFill>
                        </a:rPr>
                        <a:t>Col 2</a:t>
                      </a:r>
                    </a:p>
                  </a:txBody>
                  <a:tcPr>
                    <a:solidFill>
                      <a:schemeClr val="bg2">
                        <a:lumMod val="90000"/>
                      </a:schemeClr>
                    </a:solidFill>
                  </a:tcPr>
                </a:tc>
                <a:tc>
                  <a:txBody>
                    <a:bodyPr/>
                    <a:lstStyle/>
                    <a:p>
                      <a:r>
                        <a:rPr lang="en-US" sz="2000" dirty="0">
                          <a:solidFill>
                            <a:schemeClr val="tx1"/>
                          </a:solidFill>
                        </a:rPr>
                        <a:t>Col 3</a:t>
                      </a:r>
                    </a:p>
                  </a:txBody>
                  <a:tcPr>
                    <a:solidFill>
                      <a:schemeClr val="bg2">
                        <a:lumMod val="90000"/>
                      </a:schemeClr>
                    </a:solidFill>
                  </a:tcPr>
                </a:tc>
                <a:extLst>
                  <a:ext uri="{0D108BD9-81ED-4DB2-BD59-A6C34878D82A}">
                    <a16:rowId xmlns:a16="http://schemas.microsoft.com/office/drawing/2014/main" val="1874238653"/>
                  </a:ext>
                </a:extLst>
              </a:tr>
            </a:tbl>
          </a:graphicData>
        </a:graphic>
      </p:graphicFrame>
      <p:graphicFrame>
        <p:nvGraphicFramePr>
          <p:cNvPr id="9" name="Table 5">
            <a:extLst>
              <a:ext uri="{FF2B5EF4-FFF2-40B4-BE49-F238E27FC236}">
                <a16:creationId xmlns:a16="http://schemas.microsoft.com/office/drawing/2014/main" id="{BFE0552E-E116-BDB1-D392-A351D14A8268}"/>
              </a:ext>
            </a:extLst>
          </p:cNvPr>
          <p:cNvGraphicFramePr>
            <a:graphicFrameLocks noGrp="1"/>
          </p:cNvGraphicFramePr>
          <p:nvPr/>
        </p:nvGraphicFramePr>
        <p:xfrm>
          <a:off x="2152649" y="5672242"/>
          <a:ext cx="12192003" cy="436292"/>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4058906923"/>
                    </a:ext>
                  </a:extLst>
                </a:gridCol>
                <a:gridCol w="1354667">
                  <a:extLst>
                    <a:ext uri="{9D8B030D-6E8A-4147-A177-3AD203B41FA5}">
                      <a16:colId xmlns:a16="http://schemas.microsoft.com/office/drawing/2014/main" val="1884587288"/>
                    </a:ext>
                  </a:extLst>
                </a:gridCol>
                <a:gridCol w="1354667">
                  <a:extLst>
                    <a:ext uri="{9D8B030D-6E8A-4147-A177-3AD203B41FA5}">
                      <a16:colId xmlns:a16="http://schemas.microsoft.com/office/drawing/2014/main" val="1493255949"/>
                    </a:ext>
                  </a:extLst>
                </a:gridCol>
                <a:gridCol w="1354667">
                  <a:extLst>
                    <a:ext uri="{9D8B030D-6E8A-4147-A177-3AD203B41FA5}">
                      <a16:colId xmlns:a16="http://schemas.microsoft.com/office/drawing/2014/main" val="3093346798"/>
                    </a:ext>
                  </a:extLst>
                </a:gridCol>
                <a:gridCol w="1354667">
                  <a:extLst>
                    <a:ext uri="{9D8B030D-6E8A-4147-A177-3AD203B41FA5}">
                      <a16:colId xmlns:a16="http://schemas.microsoft.com/office/drawing/2014/main" val="3876386131"/>
                    </a:ext>
                  </a:extLst>
                </a:gridCol>
                <a:gridCol w="1354667">
                  <a:extLst>
                    <a:ext uri="{9D8B030D-6E8A-4147-A177-3AD203B41FA5}">
                      <a16:colId xmlns:a16="http://schemas.microsoft.com/office/drawing/2014/main" val="507663793"/>
                    </a:ext>
                  </a:extLst>
                </a:gridCol>
                <a:gridCol w="1354667">
                  <a:extLst>
                    <a:ext uri="{9D8B030D-6E8A-4147-A177-3AD203B41FA5}">
                      <a16:colId xmlns:a16="http://schemas.microsoft.com/office/drawing/2014/main" val="2663622158"/>
                    </a:ext>
                  </a:extLst>
                </a:gridCol>
                <a:gridCol w="1354667">
                  <a:extLst>
                    <a:ext uri="{9D8B030D-6E8A-4147-A177-3AD203B41FA5}">
                      <a16:colId xmlns:a16="http://schemas.microsoft.com/office/drawing/2014/main" val="1649339113"/>
                    </a:ext>
                  </a:extLst>
                </a:gridCol>
                <a:gridCol w="1354667">
                  <a:extLst>
                    <a:ext uri="{9D8B030D-6E8A-4147-A177-3AD203B41FA5}">
                      <a16:colId xmlns:a16="http://schemas.microsoft.com/office/drawing/2014/main" val="3698762921"/>
                    </a:ext>
                  </a:extLst>
                </a:gridCol>
              </a:tblGrid>
              <a:tr h="436292">
                <a:tc>
                  <a:txBody>
                    <a:bodyPr/>
                    <a:lstStyle/>
                    <a:p>
                      <a:r>
                        <a:rPr lang="en-US" sz="2000" dirty="0">
                          <a:solidFill>
                            <a:schemeClr val="tx1"/>
                          </a:solidFill>
                        </a:rPr>
                        <a:t>Afzal</a:t>
                      </a:r>
                    </a:p>
                  </a:txBody>
                  <a:tcPr>
                    <a:solidFill>
                      <a:schemeClr val="bg2"/>
                    </a:solidFill>
                  </a:tcPr>
                </a:tc>
                <a:tc>
                  <a:txBody>
                    <a:bodyPr/>
                    <a:lstStyle/>
                    <a:p>
                      <a:r>
                        <a:rPr lang="en-US" sz="2000" dirty="0">
                          <a:solidFill>
                            <a:schemeClr val="tx1"/>
                          </a:solidFill>
                        </a:rPr>
                        <a:t>Skokie</a:t>
                      </a:r>
                    </a:p>
                  </a:txBody>
                  <a:tcPr>
                    <a:solidFill>
                      <a:schemeClr val="bg2"/>
                    </a:solidFill>
                  </a:tcPr>
                </a:tc>
                <a:tc>
                  <a:txBody>
                    <a:bodyPr/>
                    <a:lstStyle/>
                    <a:p>
                      <a:r>
                        <a:rPr lang="en-US" sz="2000" dirty="0">
                          <a:solidFill>
                            <a:schemeClr val="tx1"/>
                          </a:solidFill>
                        </a:rPr>
                        <a:t>IL</a:t>
                      </a:r>
                    </a:p>
                  </a:txBody>
                  <a:tcPr>
                    <a:solidFill>
                      <a:schemeClr val="bg2"/>
                    </a:solidFill>
                  </a:tcPr>
                </a:tc>
                <a:tc>
                  <a:txBody>
                    <a:bodyPr/>
                    <a:lstStyle/>
                    <a:p>
                      <a:r>
                        <a:rPr lang="en-US" sz="2000" dirty="0">
                          <a:solidFill>
                            <a:schemeClr val="tx1"/>
                          </a:solidFill>
                        </a:rPr>
                        <a:t>Sam</a:t>
                      </a:r>
                    </a:p>
                  </a:txBody>
                  <a:tcPr>
                    <a:solidFill>
                      <a:schemeClr val="bg2"/>
                    </a:solidFill>
                  </a:tcPr>
                </a:tc>
                <a:tc>
                  <a:txBody>
                    <a:bodyPr/>
                    <a:lstStyle/>
                    <a:p>
                      <a:r>
                        <a:rPr lang="en-US" sz="2000" dirty="0">
                          <a:solidFill>
                            <a:schemeClr val="tx1"/>
                          </a:solidFill>
                        </a:rPr>
                        <a:t>Chicago</a:t>
                      </a:r>
                    </a:p>
                  </a:txBody>
                  <a:tcPr>
                    <a:solidFill>
                      <a:schemeClr val="bg2"/>
                    </a:solidFill>
                  </a:tcPr>
                </a:tc>
                <a:tc>
                  <a:txBody>
                    <a:bodyPr/>
                    <a:lstStyle/>
                    <a:p>
                      <a:r>
                        <a:rPr lang="en-US" sz="2000" dirty="0">
                          <a:solidFill>
                            <a:schemeClr val="tx1"/>
                          </a:solidFill>
                        </a:rPr>
                        <a:t>IL</a:t>
                      </a:r>
                    </a:p>
                  </a:txBody>
                  <a:tcPr>
                    <a:solidFill>
                      <a:schemeClr val="bg2"/>
                    </a:solidFill>
                  </a:tcPr>
                </a:tc>
                <a:tc>
                  <a:txBody>
                    <a:bodyPr/>
                    <a:lstStyle/>
                    <a:p>
                      <a:r>
                        <a:rPr lang="en-US" sz="2000" dirty="0">
                          <a:solidFill>
                            <a:schemeClr val="tx1"/>
                          </a:solidFill>
                        </a:rPr>
                        <a:t>Ayesha</a:t>
                      </a:r>
                    </a:p>
                  </a:txBody>
                  <a:tcPr>
                    <a:solidFill>
                      <a:schemeClr val="bg2"/>
                    </a:solidFill>
                  </a:tcPr>
                </a:tc>
                <a:tc>
                  <a:txBody>
                    <a:bodyPr/>
                    <a:lstStyle/>
                    <a:p>
                      <a:r>
                        <a:rPr lang="en-US" sz="2000" dirty="0">
                          <a:solidFill>
                            <a:schemeClr val="tx1"/>
                          </a:solidFill>
                        </a:rPr>
                        <a:t>Dallas</a:t>
                      </a:r>
                    </a:p>
                  </a:txBody>
                  <a:tcPr>
                    <a:solidFill>
                      <a:schemeClr val="bg2"/>
                    </a:solidFill>
                  </a:tcPr>
                </a:tc>
                <a:tc>
                  <a:txBody>
                    <a:bodyPr/>
                    <a:lstStyle/>
                    <a:p>
                      <a:r>
                        <a:rPr lang="en-US" sz="2000" dirty="0">
                          <a:solidFill>
                            <a:schemeClr val="tx1"/>
                          </a:solidFill>
                        </a:rPr>
                        <a:t>TX</a:t>
                      </a:r>
                    </a:p>
                  </a:txBody>
                  <a:tcPr>
                    <a:solidFill>
                      <a:schemeClr val="bg2"/>
                    </a:solidFill>
                  </a:tcPr>
                </a:tc>
                <a:extLst>
                  <a:ext uri="{0D108BD9-81ED-4DB2-BD59-A6C34878D82A}">
                    <a16:rowId xmlns:a16="http://schemas.microsoft.com/office/drawing/2014/main" val="1238491952"/>
                  </a:ext>
                </a:extLst>
              </a:tr>
            </a:tbl>
          </a:graphicData>
        </a:graphic>
      </p:graphicFrame>
      <p:graphicFrame>
        <p:nvGraphicFramePr>
          <p:cNvPr id="10" name="Table 9">
            <a:extLst>
              <a:ext uri="{FF2B5EF4-FFF2-40B4-BE49-F238E27FC236}">
                <a16:creationId xmlns:a16="http://schemas.microsoft.com/office/drawing/2014/main" id="{EC9DAB4A-D565-7782-A4E7-2896F519576B}"/>
              </a:ext>
            </a:extLst>
          </p:cNvPr>
          <p:cNvGraphicFramePr>
            <a:graphicFrameLocks noGrp="1"/>
          </p:cNvGraphicFramePr>
          <p:nvPr>
            <p:extLst>
              <p:ext uri="{D42A27DB-BD31-4B8C-83A1-F6EECF244321}">
                <p14:modId xmlns:p14="http://schemas.microsoft.com/office/powerpoint/2010/main" val="3191178936"/>
              </p:ext>
            </p:extLst>
          </p:nvPr>
        </p:nvGraphicFramePr>
        <p:xfrm>
          <a:off x="2152650" y="7800009"/>
          <a:ext cx="12192003" cy="872583"/>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4058906923"/>
                    </a:ext>
                  </a:extLst>
                </a:gridCol>
                <a:gridCol w="1354667">
                  <a:extLst>
                    <a:ext uri="{9D8B030D-6E8A-4147-A177-3AD203B41FA5}">
                      <a16:colId xmlns:a16="http://schemas.microsoft.com/office/drawing/2014/main" val="1884587288"/>
                    </a:ext>
                  </a:extLst>
                </a:gridCol>
                <a:gridCol w="1354667">
                  <a:extLst>
                    <a:ext uri="{9D8B030D-6E8A-4147-A177-3AD203B41FA5}">
                      <a16:colId xmlns:a16="http://schemas.microsoft.com/office/drawing/2014/main" val="1493255949"/>
                    </a:ext>
                  </a:extLst>
                </a:gridCol>
                <a:gridCol w="1354667">
                  <a:extLst>
                    <a:ext uri="{9D8B030D-6E8A-4147-A177-3AD203B41FA5}">
                      <a16:colId xmlns:a16="http://schemas.microsoft.com/office/drawing/2014/main" val="3093346798"/>
                    </a:ext>
                  </a:extLst>
                </a:gridCol>
                <a:gridCol w="1354667">
                  <a:extLst>
                    <a:ext uri="{9D8B030D-6E8A-4147-A177-3AD203B41FA5}">
                      <a16:colId xmlns:a16="http://schemas.microsoft.com/office/drawing/2014/main" val="3876386131"/>
                    </a:ext>
                  </a:extLst>
                </a:gridCol>
                <a:gridCol w="1354667">
                  <a:extLst>
                    <a:ext uri="{9D8B030D-6E8A-4147-A177-3AD203B41FA5}">
                      <a16:colId xmlns:a16="http://schemas.microsoft.com/office/drawing/2014/main" val="507663793"/>
                    </a:ext>
                  </a:extLst>
                </a:gridCol>
                <a:gridCol w="1354667">
                  <a:extLst>
                    <a:ext uri="{9D8B030D-6E8A-4147-A177-3AD203B41FA5}">
                      <a16:colId xmlns:a16="http://schemas.microsoft.com/office/drawing/2014/main" val="2663622158"/>
                    </a:ext>
                  </a:extLst>
                </a:gridCol>
                <a:gridCol w="1354667">
                  <a:extLst>
                    <a:ext uri="{9D8B030D-6E8A-4147-A177-3AD203B41FA5}">
                      <a16:colId xmlns:a16="http://schemas.microsoft.com/office/drawing/2014/main" val="1649339113"/>
                    </a:ext>
                  </a:extLst>
                </a:gridCol>
                <a:gridCol w="1354667">
                  <a:extLst>
                    <a:ext uri="{9D8B030D-6E8A-4147-A177-3AD203B41FA5}">
                      <a16:colId xmlns:a16="http://schemas.microsoft.com/office/drawing/2014/main" val="3698762921"/>
                    </a:ext>
                  </a:extLst>
                </a:gridCol>
              </a:tblGrid>
              <a:tr h="436292">
                <a:tc>
                  <a:txBody>
                    <a:bodyPr/>
                    <a:lstStyle/>
                    <a:p>
                      <a:r>
                        <a:rPr lang="en-US" sz="2000" dirty="0"/>
                        <a:t>Afzal</a:t>
                      </a:r>
                    </a:p>
                  </a:txBody>
                  <a:tcPr>
                    <a:solidFill>
                      <a:schemeClr val="bg2"/>
                    </a:solidFill>
                  </a:tcPr>
                </a:tc>
                <a:tc>
                  <a:txBody>
                    <a:bodyPr/>
                    <a:lstStyle/>
                    <a:p>
                      <a:r>
                        <a:rPr lang="en-US" sz="2000" dirty="0"/>
                        <a:t>Sam</a:t>
                      </a:r>
                    </a:p>
                  </a:txBody>
                  <a:tcPr>
                    <a:solidFill>
                      <a:schemeClr val="bg2"/>
                    </a:solidFill>
                  </a:tcPr>
                </a:tc>
                <a:tc>
                  <a:txBody>
                    <a:bodyPr/>
                    <a:lstStyle/>
                    <a:p>
                      <a:r>
                        <a:rPr lang="en-US" sz="2000" dirty="0"/>
                        <a:t>Ayesha</a:t>
                      </a:r>
                    </a:p>
                  </a:txBody>
                  <a:tcPr>
                    <a:solidFill>
                      <a:schemeClr val="bg2"/>
                    </a:solidFill>
                  </a:tcPr>
                </a:tc>
                <a:tc>
                  <a:txBody>
                    <a:bodyPr/>
                    <a:lstStyle/>
                    <a:p>
                      <a:r>
                        <a:rPr lang="en-US" sz="2000" dirty="0"/>
                        <a:t>Skokie</a:t>
                      </a:r>
                    </a:p>
                  </a:txBody>
                  <a:tcPr>
                    <a:solidFill>
                      <a:schemeClr val="bg2"/>
                    </a:solidFill>
                  </a:tcPr>
                </a:tc>
                <a:tc>
                  <a:txBody>
                    <a:bodyPr/>
                    <a:lstStyle/>
                    <a:p>
                      <a:r>
                        <a:rPr lang="en-US" sz="2000" dirty="0"/>
                        <a:t>Chicago</a:t>
                      </a:r>
                    </a:p>
                  </a:txBody>
                  <a:tcPr>
                    <a:solidFill>
                      <a:schemeClr val="bg2"/>
                    </a:solidFill>
                  </a:tcPr>
                </a:tc>
                <a:tc>
                  <a:txBody>
                    <a:bodyPr/>
                    <a:lstStyle/>
                    <a:p>
                      <a:r>
                        <a:rPr lang="en-US" sz="2000" dirty="0"/>
                        <a:t>Dallas</a:t>
                      </a:r>
                    </a:p>
                  </a:txBody>
                  <a:tcPr>
                    <a:solidFill>
                      <a:schemeClr val="bg2"/>
                    </a:solidFill>
                  </a:tcPr>
                </a:tc>
                <a:tc>
                  <a:txBody>
                    <a:bodyPr/>
                    <a:lstStyle/>
                    <a:p>
                      <a:r>
                        <a:rPr lang="en-US" sz="2000" dirty="0"/>
                        <a:t>IL</a:t>
                      </a:r>
                    </a:p>
                  </a:txBody>
                  <a:tcPr>
                    <a:solidFill>
                      <a:schemeClr val="bg2"/>
                    </a:solidFill>
                  </a:tcPr>
                </a:tc>
                <a:tc>
                  <a:txBody>
                    <a:bodyPr/>
                    <a:lstStyle/>
                    <a:p>
                      <a:r>
                        <a:rPr lang="en-US" sz="2000" dirty="0"/>
                        <a:t>IL</a:t>
                      </a:r>
                    </a:p>
                  </a:txBody>
                  <a:tcPr>
                    <a:solidFill>
                      <a:schemeClr val="bg2"/>
                    </a:solidFill>
                  </a:tcPr>
                </a:tc>
                <a:tc>
                  <a:txBody>
                    <a:bodyPr/>
                    <a:lstStyle/>
                    <a:p>
                      <a:r>
                        <a:rPr lang="en-US" sz="2000" dirty="0"/>
                        <a:t>TX</a:t>
                      </a:r>
                    </a:p>
                  </a:txBody>
                  <a:tcPr>
                    <a:solidFill>
                      <a:schemeClr val="bg2"/>
                    </a:solidFill>
                  </a:tcPr>
                </a:tc>
                <a:extLst>
                  <a:ext uri="{0D108BD9-81ED-4DB2-BD59-A6C34878D82A}">
                    <a16:rowId xmlns:a16="http://schemas.microsoft.com/office/drawing/2014/main" val="1238491952"/>
                  </a:ext>
                </a:extLst>
              </a:tr>
              <a:tr h="436291">
                <a:tc>
                  <a:txBody>
                    <a:bodyPr/>
                    <a:lstStyle/>
                    <a:p>
                      <a:pPr lvl="0">
                        <a:buNone/>
                      </a:pPr>
                      <a:endParaRPr lang="en-US" sz="2000" dirty="0"/>
                    </a:p>
                  </a:txBody>
                  <a:tcPr>
                    <a:solidFill>
                      <a:schemeClr val="bg2"/>
                    </a:solidFill>
                  </a:tcPr>
                </a:tc>
                <a:tc>
                  <a:txBody>
                    <a:bodyPr/>
                    <a:lstStyle/>
                    <a:p>
                      <a:pPr lvl="0">
                        <a:buNone/>
                      </a:pPr>
                      <a:endParaRPr lang="en-US" sz="2000" dirty="0"/>
                    </a:p>
                  </a:txBody>
                  <a:tcPr>
                    <a:solidFill>
                      <a:schemeClr val="bg2"/>
                    </a:solidFill>
                  </a:tcPr>
                </a:tc>
                <a:tc>
                  <a:txBody>
                    <a:bodyPr/>
                    <a:lstStyle/>
                    <a:p>
                      <a:pPr lvl="0">
                        <a:buNone/>
                      </a:pPr>
                      <a:endParaRPr lang="en-US" sz="2000" dirty="0"/>
                    </a:p>
                  </a:txBody>
                  <a:tcPr>
                    <a:solidFill>
                      <a:schemeClr val="bg2"/>
                    </a:solidFill>
                  </a:tcPr>
                </a:tc>
                <a:tc>
                  <a:txBody>
                    <a:bodyPr/>
                    <a:lstStyle/>
                    <a:p>
                      <a:pPr lvl="0">
                        <a:buNone/>
                      </a:pPr>
                      <a:endParaRPr lang="en-US" sz="2000" dirty="0"/>
                    </a:p>
                  </a:txBody>
                  <a:tcPr>
                    <a:solidFill>
                      <a:schemeClr val="bg2"/>
                    </a:solidFill>
                  </a:tcPr>
                </a:tc>
                <a:tc>
                  <a:txBody>
                    <a:bodyPr/>
                    <a:lstStyle/>
                    <a:p>
                      <a:pPr lvl="0">
                        <a:buNone/>
                      </a:pPr>
                      <a:endParaRPr lang="en-US" sz="2000" dirty="0"/>
                    </a:p>
                  </a:txBody>
                  <a:tcPr>
                    <a:solidFill>
                      <a:schemeClr val="bg2"/>
                    </a:solidFill>
                  </a:tcPr>
                </a:tc>
                <a:tc>
                  <a:txBody>
                    <a:bodyPr/>
                    <a:lstStyle/>
                    <a:p>
                      <a:pPr lvl="0">
                        <a:buNone/>
                      </a:pPr>
                      <a:endParaRPr lang="en-US" sz="2000" dirty="0"/>
                    </a:p>
                  </a:txBody>
                  <a:tcPr>
                    <a:solidFill>
                      <a:schemeClr val="bg2"/>
                    </a:solidFill>
                  </a:tcPr>
                </a:tc>
                <a:tc>
                  <a:txBody>
                    <a:bodyPr/>
                    <a:lstStyle/>
                    <a:p>
                      <a:pPr lvl="0">
                        <a:buNone/>
                      </a:pPr>
                      <a:endParaRPr lang="en-US" sz="2000" dirty="0"/>
                    </a:p>
                  </a:txBody>
                  <a:tcPr>
                    <a:solidFill>
                      <a:schemeClr val="bg2"/>
                    </a:solidFill>
                  </a:tcPr>
                </a:tc>
                <a:tc>
                  <a:txBody>
                    <a:bodyPr/>
                    <a:lstStyle/>
                    <a:p>
                      <a:pPr lvl="0">
                        <a:buNone/>
                      </a:pPr>
                      <a:endParaRPr lang="en-US" sz="2000" dirty="0"/>
                    </a:p>
                  </a:txBody>
                  <a:tcPr>
                    <a:solidFill>
                      <a:schemeClr val="bg2"/>
                    </a:solidFill>
                  </a:tcPr>
                </a:tc>
                <a:tc>
                  <a:txBody>
                    <a:bodyPr/>
                    <a:lstStyle/>
                    <a:p>
                      <a:pPr lvl="0">
                        <a:buNone/>
                      </a:pPr>
                      <a:endParaRPr lang="en-US" sz="2000" dirty="0"/>
                    </a:p>
                  </a:txBody>
                  <a:tcPr>
                    <a:solidFill>
                      <a:schemeClr val="bg2"/>
                    </a:solidFill>
                  </a:tcPr>
                </a:tc>
                <a:extLst>
                  <a:ext uri="{0D108BD9-81ED-4DB2-BD59-A6C34878D82A}">
                    <a16:rowId xmlns:a16="http://schemas.microsoft.com/office/drawing/2014/main" val="2593978736"/>
                  </a:ext>
                </a:extLst>
              </a:tr>
            </a:tbl>
          </a:graphicData>
        </a:graphic>
      </p:graphicFrame>
      <p:sp>
        <p:nvSpPr>
          <p:cNvPr id="11" name="Left Brace 10">
            <a:extLst>
              <a:ext uri="{FF2B5EF4-FFF2-40B4-BE49-F238E27FC236}">
                <a16:creationId xmlns:a16="http://schemas.microsoft.com/office/drawing/2014/main" id="{2240D4AA-CCD1-BA07-43B6-E47F5E9B73FE}"/>
              </a:ext>
            </a:extLst>
          </p:cNvPr>
          <p:cNvSpPr/>
          <p:nvPr/>
        </p:nvSpPr>
        <p:spPr>
          <a:xfrm rot="16200000">
            <a:off x="3953805" y="4541692"/>
            <a:ext cx="436292" cy="400050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Left Brace 11">
            <a:extLst>
              <a:ext uri="{FF2B5EF4-FFF2-40B4-BE49-F238E27FC236}">
                <a16:creationId xmlns:a16="http://schemas.microsoft.com/office/drawing/2014/main" id="{5255C61A-5243-8A3C-5904-F5E9F0835663}"/>
              </a:ext>
            </a:extLst>
          </p:cNvPr>
          <p:cNvSpPr/>
          <p:nvPr/>
        </p:nvSpPr>
        <p:spPr>
          <a:xfrm rot="16200000">
            <a:off x="8030504" y="4541692"/>
            <a:ext cx="436292" cy="400050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Left Brace 12">
            <a:extLst>
              <a:ext uri="{FF2B5EF4-FFF2-40B4-BE49-F238E27FC236}">
                <a16:creationId xmlns:a16="http://schemas.microsoft.com/office/drawing/2014/main" id="{9A8B1DB8-988D-107D-46FA-D67643002CFB}"/>
              </a:ext>
            </a:extLst>
          </p:cNvPr>
          <p:cNvSpPr/>
          <p:nvPr/>
        </p:nvSpPr>
        <p:spPr>
          <a:xfrm rot="16200000">
            <a:off x="12107203" y="4541692"/>
            <a:ext cx="436292" cy="400050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TextBox 13">
            <a:extLst>
              <a:ext uri="{FF2B5EF4-FFF2-40B4-BE49-F238E27FC236}">
                <a16:creationId xmlns:a16="http://schemas.microsoft.com/office/drawing/2014/main" id="{93DB3B55-6C47-C58C-BB94-A47021058AFF}"/>
              </a:ext>
            </a:extLst>
          </p:cNvPr>
          <p:cNvSpPr txBox="1"/>
          <p:nvPr/>
        </p:nvSpPr>
        <p:spPr>
          <a:xfrm>
            <a:off x="3752605" y="6961800"/>
            <a:ext cx="838691"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Row 1</a:t>
            </a:r>
          </a:p>
        </p:txBody>
      </p:sp>
      <p:sp>
        <p:nvSpPr>
          <p:cNvPr id="15" name="TextBox 14">
            <a:extLst>
              <a:ext uri="{FF2B5EF4-FFF2-40B4-BE49-F238E27FC236}">
                <a16:creationId xmlns:a16="http://schemas.microsoft.com/office/drawing/2014/main" id="{93549FD4-1780-E240-48F8-A83501555717}"/>
              </a:ext>
            </a:extLst>
          </p:cNvPr>
          <p:cNvSpPr txBox="1"/>
          <p:nvPr/>
        </p:nvSpPr>
        <p:spPr>
          <a:xfrm>
            <a:off x="7829304" y="6859635"/>
            <a:ext cx="838691"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Row 2</a:t>
            </a:r>
          </a:p>
        </p:txBody>
      </p:sp>
      <p:sp>
        <p:nvSpPr>
          <p:cNvPr id="16" name="TextBox 15">
            <a:extLst>
              <a:ext uri="{FF2B5EF4-FFF2-40B4-BE49-F238E27FC236}">
                <a16:creationId xmlns:a16="http://schemas.microsoft.com/office/drawing/2014/main" id="{4E288B16-3947-6725-FF71-21F1D7A352D4}"/>
              </a:ext>
            </a:extLst>
          </p:cNvPr>
          <p:cNvSpPr txBox="1"/>
          <p:nvPr/>
        </p:nvSpPr>
        <p:spPr>
          <a:xfrm>
            <a:off x="11906003" y="6798900"/>
            <a:ext cx="838691"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Row 3</a:t>
            </a:r>
          </a:p>
        </p:txBody>
      </p:sp>
      <p:sp>
        <p:nvSpPr>
          <p:cNvPr id="17" name="Left Brace 16">
            <a:extLst>
              <a:ext uri="{FF2B5EF4-FFF2-40B4-BE49-F238E27FC236}">
                <a16:creationId xmlns:a16="http://schemas.microsoft.com/office/drawing/2014/main" id="{B0DCA034-111F-892D-C551-CACEE09BDEE2}"/>
              </a:ext>
            </a:extLst>
          </p:cNvPr>
          <p:cNvSpPr/>
          <p:nvPr/>
        </p:nvSpPr>
        <p:spPr>
          <a:xfrm rot="16200000">
            <a:off x="3972857" y="6669459"/>
            <a:ext cx="436292" cy="400050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Left Brace 17">
            <a:extLst>
              <a:ext uri="{FF2B5EF4-FFF2-40B4-BE49-F238E27FC236}">
                <a16:creationId xmlns:a16="http://schemas.microsoft.com/office/drawing/2014/main" id="{78820332-8BE1-E88E-6459-2F6AA7CE781B}"/>
              </a:ext>
            </a:extLst>
          </p:cNvPr>
          <p:cNvSpPr/>
          <p:nvPr/>
        </p:nvSpPr>
        <p:spPr>
          <a:xfrm rot="16200000">
            <a:off x="8049556" y="6669459"/>
            <a:ext cx="436292" cy="400050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Left Brace 18">
            <a:extLst>
              <a:ext uri="{FF2B5EF4-FFF2-40B4-BE49-F238E27FC236}">
                <a16:creationId xmlns:a16="http://schemas.microsoft.com/office/drawing/2014/main" id="{06151CD1-4243-AA0A-9783-E0422785B31B}"/>
              </a:ext>
            </a:extLst>
          </p:cNvPr>
          <p:cNvSpPr/>
          <p:nvPr/>
        </p:nvSpPr>
        <p:spPr>
          <a:xfrm rot="16200000">
            <a:off x="12126255" y="6669459"/>
            <a:ext cx="436292" cy="400050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Box 19">
            <a:extLst>
              <a:ext uri="{FF2B5EF4-FFF2-40B4-BE49-F238E27FC236}">
                <a16:creationId xmlns:a16="http://schemas.microsoft.com/office/drawing/2014/main" id="{28F47BA7-B378-38D7-C98C-63234D322C12}"/>
              </a:ext>
            </a:extLst>
          </p:cNvPr>
          <p:cNvSpPr txBox="1"/>
          <p:nvPr/>
        </p:nvSpPr>
        <p:spPr>
          <a:xfrm>
            <a:off x="3771657" y="9089567"/>
            <a:ext cx="723275"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Col 1</a:t>
            </a:r>
          </a:p>
        </p:txBody>
      </p:sp>
      <p:sp>
        <p:nvSpPr>
          <p:cNvPr id="21" name="TextBox 20">
            <a:extLst>
              <a:ext uri="{FF2B5EF4-FFF2-40B4-BE49-F238E27FC236}">
                <a16:creationId xmlns:a16="http://schemas.microsoft.com/office/drawing/2014/main" id="{31A26668-3208-260D-C5B0-2E311F8F78E4}"/>
              </a:ext>
            </a:extLst>
          </p:cNvPr>
          <p:cNvSpPr txBox="1"/>
          <p:nvPr/>
        </p:nvSpPr>
        <p:spPr>
          <a:xfrm>
            <a:off x="7848356" y="8987402"/>
            <a:ext cx="723275"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Col 2</a:t>
            </a:r>
          </a:p>
        </p:txBody>
      </p:sp>
      <p:sp>
        <p:nvSpPr>
          <p:cNvPr id="22" name="TextBox 21">
            <a:extLst>
              <a:ext uri="{FF2B5EF4-FFF2-40B4-BE49-F238E27FC236}">
                <a16:creationId xmlns:a16="http://schemas.microsoft.com/office/drawing/2014/main" id="{B52AA6BB-A27E-0117-FB36-75395ECE3401}"/>
              </a:ext>
            </a:extLst>
          </p:cNvPr>
          <p:cNvSpPr txBox="1"/>
          <p:nvPr/>
        </p:nvSpPr>
        <p:spPr>
          <a:xfrm>
            <a:off x="11925055" y="8926667"/>
            <a:ext cx="723275"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Col 3</a:t>
            </a:r>
          </a:p>
        </p:txBody>
      </p:sp>
      <p:sp>
        <p:nvSpPr>
          <p:cNvPr id="23" name="TextBox 22">
            <a:extLst>
              <a:ext uri="{FF2B5EF4-FFF2-40B4-BE49-F238E27FC236}">
                <a16:creationId xmlns:a16="http://schemas.microsoft.com/office/drawing/2014/main" id="{86970FCB-6A64-27C8-133A-2F591B8B759A}"/>
              </a:ext>
            </a:extLst>
          </p:cNvPr>
          <p:cNvSpPr txBox="1"/>
          <p:nvPr/>
        </p:nvSpPr>
        <p:spPr>
          <a:xfrm>
            <a:off x="1447800" y="2093689"/>
            <a:ext cx="5540299"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If you have a DataFrame like this:</a:t>
            </a:r>
          </a:p>
        </p:txBody>
      </p:sp>
      <p:sp>
        <p:nvSpPr>
          <p:cNvPr id="25" name="TextBox 24">
            <a:extLst>
              <a:ext uri="{FF2B5EF4-FFF2-40B4-BE49-F238E27FC236}">
                <a16:creationId xmlns:a16="http://schemas.microsoft.com/office/drawing/2014/main" id="{CE34CCCE-281F-C552-7783-B5AF0419DC7E}"/>
              </a:ext>
            </a:extLst>
          </p:cNvPr>
          <p:cNvSpPr txBox="1"/>
          <p:nvPr/>
        </p:nvSpPr>
        <p:spPr>
          <a:xfrm>
            <a:off x="1447799" y="5113845"/>
            <a:ext cx="10477255" cy="52322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 row–wise storage format rows are contiguous in the file:</a:t>
            </a:r>
          </a:p>
        </p:txBody>
      </p:sp>
      <p:sp>
        <p:nvSpPr>
          <p:cNvPr id="26" name="TextBox 25">
            <a:extLst>
              <a:ext uri="{FF2B5EF4-FFF2-40B4-BE49-F238E27FC236}">
                <a16:creationId xmlns:a16="http://schemas.microsoft.com/office/drawing/2014/main" id="{5A4423C7-7788-07AA-FBFC-A3A7B24A9B7F}"/>
              </a:ext>
            </a:extLst>
          </p:cNvPr>
          <p:cNvSpPr txBox="1"/>
          <p:nvPr/>
        </p:nvSpPr>
        <p:spPr>
          <a:xfrm>
            <a:off x="1447799" y="7244557"/>
            <a:ext cx="11296895" cy="52322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While in columnar storage format columns are contiguous in the file:</a:t>
            </a:r>
          </a:p>
        </p:txBody>
      </p:sp>
    </p:spTree>
    <p:extLst>
      <p:ext uri="{BB962C8B-B14F-4D97-AF65-F5344CB8AC3E}">
        <p14:creationId xmlns:p14="http://schemas.microsoft.com/office/powerpoint/2010/main" val="3584239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BB07C-E107-F0C9-7316-0A8DD9A24B97}"/>
              </a:ext>
            </a:extLst>
          </p:cNvPr>
          <p:cNvSpPr>
            <a:spLocks noGrp="1"/>
          </p:cNvSpPr>
          <p:nvPr>
            <p:ph type="title"/>
          </p:nvPr>
        </p:nvSpPr>
        <p:spPr/>
        <p:txBody>
          <a:bodyPr/>
          <a:lstStyle/>
          <a:p>
            <a:r>
              <a:rPr lang="en-US" dirty="0"/>
              <a:t>Parquet Data Sources</a:t>
            </a:r>
            <a:b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8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Row-Wise Versus Columnar Storage Format</a:t>
            </a:r>
            <a:endParaRPr lang="en-US" dirty="0"/>
          </a:p>
        </p:txBody>
      </p:sp>
      <p:sp>
        <p:nvSpPr>
          <p:cNvPr id="3" name="Content Placeholder 2">
            <a:extLst>
              <a:ext uri="{FF2B5EF4-FFF2-40B4-BE49-F238E27FC236}">
                <a16:creationId xmlns:a16="http://schemas.microsoft.com/office/drawing/2014/main" id="{9AC9284B-58FD-FDA3-EB03-CDBC4C58D71E}"/>
              </a:ext>
            </a:extLst>
          </p:cNvPr>
          <p:cNvSpPr>
            <a:spLocks noGrp="1"/>
          </p:cNvSpPr>
          <p:nvPr>
            <p:ph idx="1"/>
          </p:nvPr>
        </p:nvSpPr>
        <p:spPr/>
        <p:txBody>
          <a:bodyPr/>
          <a:lstStyle/>
          <a:p>
            <a:r>
              <a:rPr lang="en-US" dirty="0"/>
              <a:t>This makes columnar storage more efficient when querying a few columns from the DataFrame</a:t>
            </a:r>
          </a:p>
          <a:p>
            <a:r>
              <a:rPr lang="en-US" dirty="0"/>
              <a:t>No need to read whole records and discard unwanted columns, but only read the required columns</a:t>
            </a:r>
          </a:p>
        </p:txBody>
      </p:sp>
    </p:spTree>
    <p:extLst>
      <p:ext uri="{BB962C8B-B14F-4D97-AF65-F5344CB8AC3E}">
        <p14:creationId xmlns:p14="http://schemas.microsoft.com/office/powerpoint/2010/main" val="59559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F5F6D-8052-A26D-7740-512D38B18938}"/>
              </a:ext>
            </a:extLst>
          </p:cNvPr>
          <p:cNvSpPr>
            <a:spLocks noGrp="1"/>
          </p:cNvSpPr>
          <p:nvPr>
            <p:ph type="title"/>
          </p:nvPr>
        </p:nvSpPr>
        <p:spPr/>
        <p:txBody>
          <a:bodyPr/>
          <a:lstStyle/>
          <a:p>
            <a: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Parquet Data Sources</a:t>
            </a:r>
            <a:b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8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Row-Wise Versus Columnar Storage Format</a:t>
            </a:r>
            <a:endParaRPr lang="en-US" dirty="0"/>
          </a:p>
        </p:txBody>
      </p:sp>
      <p:sp>
        <p:nvSpPr>
          <p:cNvPr id="3" name="Content Placeholder 2">
            <a:extLst>
              <a:ext uri="{FF2B5EF4-FFF2-40B4-BE49-F238E27FC236}">
                <a16:creationId xmlns:a16="http://schemas.microsoft.com/office/drawing/2014/main" id="{E4DED73D-CBA8-8A9A-F7D5-DA8FE4441787}"/>
              </a:ext>
            </a:extLst>
          </p:cNvPr>
          <p:cNvSpPr>
            <a:spLocks noGrp="1"/>
          </p:cNvSpPr>
          <p:nvPr>
            <p:ph idx="1"/>
          </p:nvPr>
        </p:nvSpPr>
        <p:spPr>
          <a:xfrm>
            <a:off x="1098550" y="2050699"/>
            <a:ext cx="16084552" cy="3903534"/>
          </a:xfrm>
        </p:spPr>
        <p:txBody>
          <a:bodyPr/>
          <a:lstStyle/>
          <a:p>
            <a:r>
              <a:rPr kumimoji="0" lang="en-US" altLang="en-US" sz="3200" b="0" i="0" u="none" strike="noStrike" cap="none" normalizeH="0" baseline="0" dirty="0">
                <a:ln>
                  <a:noFill/>
                </a:ln>
                <a:solidFill>
                  <a:srgbClr val="1B3139"/>
                </a:solidFill>
                <a:effectLst/>
              </a:rPr>
              <a:t>Parquet has helped its users reduce storage requirements by at least one-third on large datasets</a:t>
            </a:r>
          </a:p>
          <a:p>
            <a:r>
              <a:rPr kumimoji="0" lang="en-US" altLang="en-US" sz="3200" b="0" i="0" u="none" strike="noStrike" cap="none" normalizeH="0" baseline="0" dirty="0">
                <a:ln>
                  <a:noFill/>
                </a:ln>
                <a:solidFill>
                  <a:srgbClr val="1B3139"/>
                </a:solidFill>
                <a:effectLst/>
              </a:rPr>
              <a:t>The following table compares the savings as well as the speedup obtained by converting data into Parquet from CSV [Source: Databricks]</a:t>
            </a:r>
          </a:p>
          <a:p>
            <a:endParaRPr lang="en-US" dirty="0"/>
          </a:p>
        </p:txBody>
      </p:sp>
      <p:graphicFrame>
        <p:nvGraphicFramePr>
          <p:cNvPr id="4" name="Content Placeholder 5">
            <a:extLst>
              <a:ext uri="{FF2B5EF4-FFF2-40B4-BE49-F238E27FC236}">
                <a16:creationId xmlns:a16="http://schemas.microsoft.com/office/drawing/2014/main" id="{62E9E21D-B429-989D-CA6A-09E52488FBE7}"/>
              </a:ext>
            </a:extLst>
          </p:cNvPr>
          <p:cNvGraphicFramePr>
            <a:graphicFrameLocks/>
          </p:cNvGraphicFramePr>
          <p:nvPr/>
        </p:nvGraphicFramePr>
        <p:xfrm>
          <a:off x="1098552" y="5544820"/>
          <a:ext cx="16084550" cy="2753431"/>
        </p:xfrm>
        <a:graphic>
          <a:graphicData uri="http://schemas.openxmlformats.org/drawingml/2006/table">
            <a:tbl>
              <a:tblPr>
                <a:tableStyleId>{D7AC3CCA-C797-4891-BE02-D94E43425B78}</a:tableStyleId>
              </a:tblPr>
              <a:tblGrid>
                <a:gridCol w="3216910">
                  <a:extLst>
                    <a:ext uri="{9D8B030D-6E8A-4147-A177-3AD203B41FA5}">
                      <a16:colId xmlns:a16="http://schemas.microsoft.com/office/drawing/2014/main" val="4248516503"/>
                    </a:ext>
                  </a:extLst>
                </a:gridCol>
                <a:gridCol w="3216910">
                  <a:extLst>
                    <a:ext uri="{9D8B030D-6E8A-4147-A177-3AD203B41FA5}">
                      <a16:colId xmlns:a16="http://schemas.microsoft.com/office/drawing/2014/main" val="4117222355"/>
                    </a:ext>
                  </a:extLst>
                </a:gridCol>
                <a:gridCol w="3216910">
                  <a:extLst>
                    <a:ext uri="{9D8B030D-6E8A-4147-A177-3AD203B41FA5}">
                      <a16:colId xmlns:a16="http://schemas.microsoft.com/office/drawing/2014/main" val="3370241037"/>
                    </a:ext>
                  </a:extLst>
                </a:gridCol>
                <a:gridCol w="3216910">
                  <a:extLst>
                    <a:ext uri="{9D8B030D-6E8A-4147-A177-3AD203B41FA5}">
                      <a16:colId xmlns:a16="http://schemas.microsoft.com/office/drawing/2014/main" val="3103622072"/>
                    </a:ext>
                  </a:extLst>
                </a:gridCol>
                <a:gridCol w="3216910">
                  <a:extLst>
                    <a:ext uri="{9D8B030D-6E8A-4147-A177-3AD203B41FA5}">
                      <a16:colId xmlns:a16="http://schemas.microsoft.com/office/drawing/2014/main" val="73236099"/>
                    </a:ext>
                  </a:extLst>
                </a:gridCol>
              </a:tblGrid>
              <a:tr h="0">
                <a:tc>
                  <a:txBody>
                    <a:bodyPr/>
                    <a:lstStyle/>
                    <a:p>
                      <a:pPr algn="ctr" fontAlgn="t"/>
                      <a:r>
                        <a:rPr lang="en-US" sz="2800" dirty="0">
                          <a:effectLst/>
                        </a:rPr>
                        <a:t>Dataset</a:t>
                      </a:r>
                    </a:p>
                  </a:txBody>
                  <a:tcPr marL="48372" marR="48372" marT="48372" marB="48372"/>
                </a:tc>
                <a:tc>
                  <a:txBody>
                    <a:bodyPr/>
                    <a:lstStyle/>
                    <a:p>
                      <a:pPr algn="ctr" fontAlgn="t"/>
                      <a:r>
                        <a:rPr lang="en-US" sz="2800" dirty="0">
                          <a:effectLst/>
                        </a:rPr>
                        <a:t>Size on Amazon S3</a:t>
                      </a:r>
                    </a:p>
                  </a:txBody>
                  <a:tcPr marL="48372" marR="48372" marT="48372" marB="48372"/>
                </a:tc>
                <a:tc>
                  <a:txBody>
                    <a:bodyPr/>
                    <a:lstStyle/>
                    <a:p>
                      <a:pPr algn="ctr" fontAlgn="t"/>
                      <a:r>
                        <a:rPr lang="en-US" sz="2800" dirty="0">
                          <a:effectLst/>
                        </a:rPr>
                        <a:t>Query Run Time</a:t>
                      </a:r>
                    </a:p>
                  </a:txBody>
                  <a:tcPr marL="48372" marR="48372" marT="48372" marB="48372"/>
                </a:tc>
                <a:tc>
                  <a:txBody>
                    <a:bodyPr/>
                    <a:lstStyle/>
                    <a:p>
                      <a:pPr algn="ctr" fontAlgn="t"/>
                      <a:r>
                        <a:rPr lang="en-US" sz="2800" dirty="0">
                          <a:effectLst/>
                        </a:rPr>
                        <a:t>Data Scanned</a:t>
                      </a:r>
                    </a:p>
                  </a:txBody>
                  <a:tcPr marL="48372" marR="48372" marT="48372" marB="48372"/>
                </a:tc>
                <a:tc>
                  <a:txBody>
                    <a:bodyPr/>
                    <a:lstStyle/>
                    <a:p>
                      <a:pPr algn="ctr" fontAlgn="t"/>
                      <a:r>
                        <a:rPr lang="en-US" sz="2800" dirty="0">
                          <a:effectLst/>
                        </a:rPr>
                        <a:t>Cost</a:t>
                      </a:r>
                    </a:p>
                  </a:txBody>
                  <a:tcPr marL="48372" marR="48372" marT="48372" marB="48372"/>
                </a:tc>
                <a:extLst>
                  <a:ext uri="{0D108BD9-81ED-4DB2-BD59-A6C34878D82A}">
                    <a16:rowId xmlns:a16="http://schemas.microsoft.com/office/drawing/2014/main" val="399177113"/>
                  </a:ext>
                </a:extLst>
              </a:tr>
              <a:tr h="530193">
                <a:tc>
                  <a:txBody>
                    <a:bodyPr/>
                    <a:lstStyle/>
                    <a:p>
                      <a:pPr algn="l" fontAlgn="t"/>
                      <a:r>
                        <a:rPr lang="en-US" sz="2800" dirty="0">
                          <a:effectLst/>
                        </a:rPr>
                        <a:t>CSV file</a:t>
                      </a:r>
                    </a:p>
                  </a:txBody>
                  <a:tcPr marL="48372" marR="48372" marT="48372" marB="48372">
                    <a:solidFill>
                      <a:schemeClr val="bg2"/>
                    </a:solidFill>
                  </a:tcPr>
                </a:tc>
                <a:tc>
                  <a:txBody>
                    <a:bodyPr/>
                    <a:lstStyle/>
                    <a:p>
                      <a:pPr algn="l" fontAlgn="t"/>
                      <a:r>
                        <a:rPr lang="en-US" sz="2800" dirty="0">
                          <a:effectLst/>
                        </a:rPr>
                        <a:t>1 TB</a:t>
                      </a:r>
                    </a:p>
                  </a:txBody>
                  <a:tcPr marL="48372" marR="48372" marT="48372" marB="48372">
                    <a:solidFill>
                      <a:schemeClr val="bg2"/>
                    </a:solidFill>
                  </a:tcPr>
                </a:tc>
                <a:tc>
                  <a:txBody>
                    <a:bodyPr/>
                    <a:lstStyle/>
                    <a:p>
                      <a:pPr algn="l" fontAlgn="t"/>
                      <a:r>
                        <a:rPr lang="en-US" sz="2800" dirty="0">
                          <a:effectLst/>
                        </a:rPr>
                        <a:t>236 seconds</a:t>
                      </a:r>
                    </a:p>
                  </a:txBody>
                  <a:tcPr marL="48372" marR="48372" marT="48372" marB="48372">
                    <a:solidFill>
                      <a:schemeClr val="bg2"/>
                    </a:solidFill>
                  </a:tcPr>
                </a:tc>
                <a:tc>
                  <a:txBody>
                    <a:bodyPr/>
                    <a:lstStyle/>
                    <a:p>
                      <a:pPr algn="l" fontAlgn="t"/>
                      <a:r>
                        <a:rPr lang="en-US" sz="2800" dirty="0">
                          <a:effectLst/>
                        </a:rPr>
                        <a:t>1.15 TB</a:t>
                      </a:r>
                    </a:p>
                  </a:txBody>
                  <a:tcPr marL="48372" marR="48372" marT="48372" marB="48372">
                    <a:solidFill>
                      <a:schemeClr val="bg2"/>
                    </a:solidFill>
                  </a:tcPr>
                </a:tc>
                <a:tc>
                  <a:txBody>
                    <a:bodyPr/>
                    <a:lstStyle/>
                    <a:p>
                      <a:pPr algn="l" fontAlgn="t"/>
                      <a:r>
                        <a:rPr lang="en-US" sz="2800" dirty="0">
                          <a:effectLst/>
                        </a:rPr>
                        <a:t>$5.75</a:t>
                      </a:r>
                    </a:p>
                  </a:txBody>
                  <a:tcPr marL="48372" marR="48372" marT="48372" marB="48372">
                    <a:solidFill>
                      <a:schemeClr val="bg2"/>
                    </a:solidFill>
                  </a:tcPr>
                </a:tc>
                <a:extLst>
                  <a:ext uri="{0D108BD9-81ED-4DB2-BD59-A6C34878D82A}">
                    <a16:rowId xmlns:a16="http://schemas.microsoft.com/office/drawing/2014/main" val="2321182871"/>
                  </a:ext>
                </a:extLst>
              </a:tr>
              <a:tr h="749590">
                <a:tc>
                  <a:txBody>
                    <a:bodyPr/>
                    <a:lstStyle/>
                    <a:p>
                      <a:pPr algn="l" fontAlgn="t"/>
                      <a:r>
                        <a:rPr lang="en-US" sz="2800" dirty="0">
                          <a:effectLst/>
                        </a:rPr>
                        <a:t>Parquet file</a:t>
                      </a:r>
                    </a:p>
                  </a:txBody>
                  <a:tcPr marL="48372" marR="48372" marT="48372" marB="48372">
                    <a:solidFill>
                      <a:schemeClr val="bg2"/>
                    </a:solidFill>
                  </a:tcPr>
                </a:tc>
                <a:tc>
                  <a:txBody>
                    <a:bodyPr/>
                    <a:lstStyle/>
                    <a:p>
                      <a:pPr algn="l" fontAlgn="t"/>
                      <a:r>
                        <a:rPr lang="en-US" sz="2800" dirty="0">
                          <a:effectLst/>
                        </a:rPr>
                        <a:t>130 GB</a:t>
                      </a:r>
                    </a:p>
                  </a:txBody>
                  <a:tcPr marL="48372" marR="48372" marT="48372" marB="48372">
                    <a:solidFill>
                      <a:schemeClr val="bg2"/>
                    </a:solidFill>
                  </a:tcPr>
                </a:tc>
                <a:tc>
                  <a:txBody>
                    <a:bodyPr/>
                    <a:lstStyle/>
                    <a:p>
                      <a:pPr algn="l" fontAlgn="t"/>
                      <a:r>
                        <a:rPr lang="en-US" sz="2800" dirty="0">
                          <a:effectLst/>
                        </a:rPr>
                        <a:t>6.78 seconds</a:t>
                      </a:r>
                    </a:p>
                  </a:txBody>
                  <a:tcPr marL="48372" marR="48372" marT="48372" marB="48372">
                    <a:solidFill>
                      <a:schemeClr val="bg2"/>
                    </a:solidFill>
                  </a:tcPr>
                </a:tc>
                <a:tc>
                  <a:txBody>
                    <a:bodyPr/>
                    <a:lstStyle/>
                    <a:p>
                      <a:pPr algn="l" fontAlgn="t"/>
                      <a:r>
                        <a:rPr lang="en-US" sz="2800" dirty="0">
                          <a:effectLst/>
                        </a:rPr>
                        <a:t>2.51 GB</a:t>
                      </a:r>
                    </a:p>
                  </a:txBody>
                  <a:tcPr marL="48372" marR="48372" marT="48372" marB="48372">
                    <a:solidFill>
                      <a:schemeClr val="bg2"/>
                    </a:solidFill>
                  </a:tcPr>
                </a:tc>
                <a:tc>
                  <a:txBody>
                    <a:bodyPr/>
                    <a:lstStyle/>
                    <a:p>
                      <a:pPr algn="l" fontAlgn="t"/>
                      <a:r>
                        <a:rPr lang="en-US" sz="2800" dirty="0">
                          <a:effectLst/>
                        </a:rPr>
                        <a:t>$0.01</a:t>
                      </a:r>
                    </a:p>
                  </a:txBody>
                  <a:tcPr marL="48372" marR="48372" marT="48372" marB="48372">
                    <a:solidFill>
                      <a:schemeClr val="bg2"/>
                    </a:solidFill>
                  </a:tcPr>
                </a:tc>
                <a:extLst>
                  <a:ext uri="{0D108BD9-81ED-4DB2-BD59-A6C34878D82A}">
                    <a16:rowId xmlns:a16="http://schemas.microsoft.com/office/drawing/2014/main" val="2692282655"/>
                  </a:ext>
                </a:extLst>
              </a:tr>
              <a:tr h="223291">
                <a:tc>
                  <a:txBody>
                    <a:bodyPr/>
                    <a:lstStyle/>
                    <a:p>
                      <a:pPr algn="l" fontAlgn="t"/>
                      <a:r>
                        <a:rPr lang="en-US" sz="2800" dirty="0">
                          <a:effectLst/>
                        </a:rPr>
                        <a:t>Savings</a:t>
                      </a:r>
                    </a:p>
                  </a:txBody>
                  <a:tcPr marL="48372" marR="48372" marT="48372" marB="48372">
                    <a:solidFill>
                      <a:schemeClr val="bg2"/>
                    </a:solidFill>
                  </a:tcPr>
                </a:tc>
                <a:tc>
                  <a:txBody>
                    <a:bodyPr/>
                    <a:lstStyle/>
                    <a:p>
                      <a:pPr algn="l" fontAlgn="t"/>
                      <a:r>
                        <a:rPr lang="en-US" sz="2800" dirty="0">
                          <a:effectLst/>
                        </a:rPr>
                        <a:t>87% less when using Parquet</a:t>
                      </a:r>
                    </a:p>
                  </a:txBody>
                  <a:tcPr marL="48372" marR="48372" marT="48372" marB="48372">
                    <a:solidFill>
                      <a:schemeClr val="bg2"/>
                    </a:solidFill>
                  </a:tcPr>
                </a:tc>
                <a:tc>
                  <a:txBody>
                    <a:bodyPr/>
                    <a:lstStyle/>
                    <a:p>
                      <a:pPr algn="l" fontAlgn="t"/>
                      <a:r>
                        <a:rPr lang="en-US" sz="2800" dirty="0">
                          <a:effectLst/>
                        </a:rPr>
                        <a:t>34x faster</a:t>
                      </a:r>
                    </a:p>
                  </a:txBody>
                  <a:tcPr marL="48372" marR="48372" marT="48372" marB="48372">
                    <a:solidFill>
                      <a:schemeClr val="bg2"/>
                    </a:solidFill>
                  </a:tcPr>
                </a:tc>
                <a:tc>
                  <a:txBody>
                    <a:bodyPr/>
                    <a:lstStyle/>
                    <a:p>
                      <a:pPr algn="l" fontAlgn="t"/>
                      <a:r>
                        <a:rPr lang="en-US" sz="2800" dirty="0">
                          <a:effectLst/>
                        </a:rPr>
                        <a:t>99% less data scanned</a:t>
                      </a:r>
                    </a:p>
                  </a:txBody>
                  <a:tcPr marL="48372" marR="48372" marT="48372" marB="48372">
                    <a:solidFill>
                      <a:schemeClr val="bg2"/>
                    </a:solidFill>
                  </a:tcPr>
                </a:tc>
                <a:tc>
                  <a:txBody>
                    <a:bodyPr/>
                    <a:lstStyle/>
                    <a:p>
                      <a:pPr algn="l" fontAlgn="t"/>
                      <a:r>
                        <a:rPr lang="en-US" sz="2800" dirty="0">
                          <a:effectLst/>
                        </a:rPr>
                        <a:t>99.7% savings</a:t>
                      </a:r>
                    </a:p>
                  </a:txBody>
                  <a:tcPr marL="48372" marR="48372" marT="48372" marB="48372">
                    <a:solidFill>
                      <a:schemeClr val="bg2"/>
                    </a:solidFill>
                  </a:tcPr>
                </a:tc>
                <a:extLst>
                  <a:ext uri="{0D108BD9-81ED-4DB2-BD59-A6C34878D82A}">
                    <a16:rowId xmlns:a16="http://schemas.microsoft.com/office/drawing/2014/main" val="1670399795"/>
                  </a:ext>
                </a:extLst>
              </a:tr>
            </a:tbl>
          </a:graphicData>
        </a:graphic>
      </p:graphicFrame>
    </p:spTree>
    <p:extLst>
      <p:ext uri="{BB962C8B-B14F-4D97-AF65-F5344CB8AC3E}">
        <p14:creationId xmlns:p14="http://schemas.microsoft.com/office/powerpoint/2010/main" val="454483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5664-0D67-95B0-79C7-11B7CA4B0FED}"/>
              </a:ext>
            </a:extLst>
          </p:cNvPr>
          <p:cNvSpPr>
            <a:spLocks noGrp="1"/>
          </p:cNvSpPr>
          <p:nvPr>
            <p:ph type="title"/>
          </p:nvPr>
        </p:nvSpPr>
        <p:spPr/>
        <p:txBody>
          <a:bodyPr>
            <a:normAutofit fontScale="90000"/>
          </a:bodyPr>
          <a:lstStyle/>
          <a:p>
            <a:r>
              <a:rPr lang="en-US" dirty="0"/>
              <a:t>Parquet Data Source</a:t>
            </a:r>
            <a:br>
              <a:rPr lang="en-US" dirty="0"/>
            </a:br>
            <a:r>
              <a:rPr lang="en-US" sz="4900" dirty="0"/>
              <a:t>Benefits</a:t>
            </a:r>
            <a:endParaRPr lang="en-US" dirty="0"/>
          </a:p>
        </p:txBody>
      </p:sp>
      <p:graphicFrame>
        <p:nvGraphicFramePr>
          <p:cNvPr id="16" name="Content Placeholder 6" descr="The image elaborates on the advantages of using the Parquet file format in data processing. Here’s a detailed description:&#10;&#10;1. **Enhanced Query Performance**:&#10;   - Unlike row-based formats, Parquet’s columnar organization facilitates targeted data retrieval.&#10;   - This significantly reduces I/O operations and processing overhead, resulting in demonstrably faster queries, especially when focusing on specific columns.&#10;&#10;2. **Optimized Storage Footprint**:&#10;   - Parquet leverages sophisticated compression techniques to achieve substantial file size reductions.&#10;   - This translates to reduced storage costs, faster data transfer times, and improved overall storage efficiency.&#10;&#10;3. **Granular Data Management**:&#10;   - Parquet boasts comprehensive metadata encompassing schema, compression, and row group locations.&#10;   - This metadata acts as a valuable resource, simplifying data comprehension, analysis, and optimization tasks.&#10;&#10;These features highlight Parquet's efficiency in query performance, storage optimization, and data management, making it a preferred choice for handling large-scale data in various data processing environments.">
            <a:extLst>
              <a:ext uri="{FF2B5EF4-FFF2-40B4-BE49-F238E27FC236}">
                <a16:creationId xmlns:a16="http://schemas.microsoft.com/office/drawing/2014/main" id="{618E5F47-9438-9B29-F507-C8B333BB838C}"/>
              </a:ext>
            </a:extLst>
          </p:cNvPr>
          <p:cNvGraphicFramePr>
            <a:graphicFrameLocks noGrp="1"/>
          </p:cNvGraphicFramePr>
          <p:nvPr>
            <p:ph idx="1"/>
          </p:nvPr>
        </p:nvGraphicFramePr>
        <p:xfrm>
          <a:off x="1098550" y="698543"/>
          <a:ext cx="15598394" cy="57352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783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5664-0D67-95B0-79C7-11B7CA4B0FED}"/>
              </a:ext>
            </a:extLst>
          </p:cNvPr>
          <p:cNvSpPr>
            <a:spLocks noGrp="1"/>
          </p:cNvSpPr>
          <p:nvPr>
            <p:ph type="title"/>
          </p:nvPr>
        </p:nvSpPr>
        <p:spPr/>
        <p:txBody>
          <a:bodyPr>
            <a:normAutofit fontScale="90000"/>
          </a:bodyPr>
          <a:lstStyle/>
          <a:p>
            <a:r>
              <a:rPr lang="en-US" dirty="0"/>
              <a:t>Parquet Data Source</a:t>
            </a:r>
            <a:br>
              <a:rPr lang="en-US" dirty="0"/>
            </a:br>
            <a:r>
              <a:rPr lang="en-US" sz="4900" dirty="0"/>
              <a:t>Benefits</a:t>
            </a:r>
            <a:endParaRPr lang="en-US" dirty="0"/>
          </a:p>
        </p:txBody>
      </p:sp>
      <p:graphicFrame>
        <p:nvGraphicFramePr>
          <p:cNvPr id="16" name="Content Placeholder 6" descr="The image highlights additional advantages of using the Parquet file format in data processing, specifically focusing on scalability, partitioning, and interoperability. Here’s a detailed description:&#10;&#10;1. **Scalability for Big Data**:&#10;   - Parquet is ideally suited for large-scale data environments.&#10;   - Its efficient handling of massive datasets makes it a popular choice for data warehouses and analytical scenarios requiring high performance and scalability.&#10;&#10;2. **Partitioning and Parallel Processing**:&#10;   - Parquet supports data partitioning, enabling efficient querying and parallel processing.&#10;   - This further enhances performance and scalability, particularly for big data workloads involving large datasets and complex operations.&#10;&#10;3. **Interoperability Across Languages**:&#10;   - Parquet is readily accessible through various programming languages.&#10;   - This fosters cross-platform data exchange and collaboration, facilitating teamwork and data sharing in diverse ecosystems.&#10;&#10;These features underscore Parquet's capability to efficiently manage and process large datasets, support parallel operations, and seamlessly integrate with multiple programming environments, making it a versatile and powerful tool for big data applications.">
            <a:extLst>
              <a:ext uri="{FF2B5EF4-FFF2-40B4-BE49-F238E27FC236}">
                <a16:creationId xmlns:a16="http://schemas.microsoft.com/office/drawing/2014/main" id="{618E5F47-9438-9B29-F507-C8B333BB838C}"/>
              </a:ext>
            </a:extLst>
          </p:cNvPr>
          <p:cNvGraphicFramePr>
            <a:graphicFrameLocks noGrp="1"/>
          </p:cNvGraphicFramePr>
          <p:nvPr>
            <p:ph idx="1"/>
          </p:nvPr>
        </p:nvGraphicFramePr>
        <p:xfrm>
          <a:off x="1098550" y="698543"/>
          <a:ext cx="15598394" cy="57352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7584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A6A01-F50B-CEC5-0504-52ED5CB432F1}"/>
              </a:ext>
            </a:extLst>
          </p:cNvPr>
          <p:cNvSpPr>
            <a:spLocks noGrp="1"/>
          </p:cNvSpPr>
          <p:nvPr>
            <p:ph type="title"/>
          </p:nvPr>
        </p:nvSpPr>
        <p:spPr/>
        <p:txBody>
          <a:bodyPr/>
          <a:lstStyle/>
          <a:p>
            <a:r>
              <a:rPr lang="en-US" dirty="0"/>
              <a:t>Parquet Data Source</a:t>
            </a:r>
            <a:br>
              <a:rPr lang="en-US" dirty="0"/>
            </a:br>
            <a:r>
              <a:rPr lang="en-US" sz="4900" dirty="0"/>
              <a:t>Best Practices</a:t>
            </a:r>
            <a:endParaRPr lang="en-US" dirty="0"/>
          </a:p>
        </p:txBody>
      </p:sp>
      <p:sp>
        <p:nvSpPr>
          <p:cNvPr id="3" name="Content Placeholder 2">
            <a:extLst>
              <a:ext uri="{FF2B5EF4-FFF2-40B4-BE49-F238E27FC236}">
                <a16:creationId xmlns:a16="http://schemas.microsoft.com/office/drawing/2014/main" id="{981D3CCD-5B7D-956B-CB0C-D6D11C832929}"/>
              </a:ext>
            </a:extLst>
          </p:cNvPr>
          <p:cNvSpPr>
            <a:spLocks noGrp="1"/>
          </p:cNvSpPr>
          <p:nvPr>
            <p:ph idx="1"/>
          </p:nvPr>
        </p:nvSpPr>
        <p:spPr/>
        <p:txBody>
          <a:bodyPr/>
          <a:lstStyle/>
          <a:p>
            <a:pPr algn="l"/>
            <a:r>
              <a:rPr lang="en-US" b="0" i="0" dirty="0">
                <a:effectLst/>
              </a:rPr>
              <a:t>While this isn’t a comprehensive list, a few signs that you should be storing data in Parquet include:</a:t>
            </a:r>
          </a:p>
          <a:p>
            <a:pPr marL="742950" indent="-742950" algn="l">
              <a:buFont typeface="+mj-lt"/>
              <a:buAutoNum type="arabicPeriod"/>
            </a:pPr>
            <a:r>
              <a:rPr lang="en-US" i="0" dirty="0">
                <a:solidFill>
                  <a:srgbClr val="0D0F33"/>
                </a:solidFill>
                <a:effectLst/>
              </a:rPr>
              <a:t>When you’re working with very large amounts of data</a:t>
            </a:r>
            <a:endParaRPr lang="en-US" dirty="0">
              <a:solidFill>
                <a:srgbClr val="0D0F33"/>
              </a:solidFill>
            </a:endParaRPr>
          </a:p>
          <a:p>
            <a:pPr marL="742950" indent="-742950" algn="l">
              <a:buFont typeface="+mj-lt"/>
              <a:buAutoNum type="arabicPeriod"/>
            </a:pPr>
            <a:r>
              <a:rPr lang="en-US" i="0" dirty="0">
                <a:solidFill>
                  <a:srgbClr val="0D0F33"/>
                </a:solidFill>
                <a:effectLst/>
              </a:rPr>
              <a:t>When your full dataset has many columns, but you only need to access a subset. </a:t>
            </a:r>
          </a:p>
          <a:p>
            <a:pPr marL="742950" indent="-742950" algn="l">
              <a:buFont typeface="+mj-lt"/>
              <a:buAutoNum type="arabicPeriod"/>
            </a:pPr>
            <a:r>
              <a:rPr lang="en-US" i="0" dirty="0">
                <a:effectLst/>
              </a:rPr>
              <a:t>When you want multiple services to consume the same data from object storage. </a:t>
            </a:r>
            <a:endParaRPr lang="en-US" dirty="0"/>
          </a:p>
        </p:txBody>
      </p:sp>
    </p:spTree>
    <p:extLst>
      <p:ext uri="{BB962C8B-B14F-4D97-AF65-F5344CB8AC3E}">
        <p14:creationId xmlns:p14="http://schemas.microsoft.com/office/powerpoint/2010/main" val="3251033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30E01-E9F2-A112-F0CF-445BD74CB51A}"/>
              </a:ext>
            </a:extLst>
          </p:cNvPr>
          <p:cNvSpPr>
            <a:spLocks noGrp="1"/>
          </p:cNvSpPr>
          <p:nvPr>
            <p:ph type="title"/>
          </p:nvPr>
        </p:nvSpPr>
        <p:spPr/>
        <p:txBody>
          <a:bodyPr/>
          <a:lstStyle/>
          <a:p>
            <a:r>
              <a:rPr lang="en-US" dirty="0"/>
              <a:t>Reading Parquet Data Sources</a:t>
            </a:r>
          </a:p>
        </p:txBody>
      </p:sp>
      <p:sp>
        <p:nvSpPr>
          <p:cNvPr id="6" name="TextBox 5">
            <a:extLst>
              <a:ext uri="{FF2B5EF4-FFF2-40B4-BE49-F238E27FC236}">
                <a16:creationId xmlns:a16="http://schemas.microsoft.com/office/drawing/2014/main" id="{E37ECDE3-9AF4-6070-7138-B8F18949EBD8}"/>
              </a:ext>
            </a:extLst>
          </p:cNvPr>
          <p:cNvSpPr txBox="1"/>
          <p:nvPr/>
        </p:nvSpPr>
        <p:spPr>
          <a:xfrm>
            <a:off x="4567238" y="6174713"/>
            <a:ext cx="9153524" cy="1384995"/>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spark.read.format(”parquet") \</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.option("path", "path/to/file(s)")\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rPr>
              <a:t>.load()</a:t>
            </a:r>
            <a:endParaRPr kumimoji="0" lang="en-US" sz="2400" b="0" i="0" u="none" strike="noStrike" kern="1200" cap="none" spc="0" normalizeH="0" baseline="0" noProof="0" dirty="0">
              <a:ln>
                <a:noFill/>
              </a:ln>
              <a:solidFill>
                <a:prstClr val="black"/>
              </a:solidFill>
              <a:effectLst/>
              <a:uLnTx/>
              <a:uFillTx/>
              <a:latin typeface="Courier" pitchFamily="2"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830AC780-0165-F183-6B04-13BC101DB5EB}"/>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Arial"/>
                <a:ea typeface="Calibri" panose="020F0502020204030204" pitchFamily="34" charset="0"/>
                <a:cs typeface="Times New Roman" panose="02020603050405020304" pitchFamily="18" charset="0"/>
              </a:rPr>
              <a:t>Parquet has very few options because it contains its own schema information and other descriptive metadata</a:t>
            </a:r>
          </a:p>
        </p:txBody>
      </p:sp>
      <p:sp>
        <p:nvSpPr>
          <p:cNvPr id="8" name="Rectangle 7">
            <a:extLst>
              <a:ext uri="{FF2B5EF4-FFF2-40B4-BE49-F238E27FC236}">
                <a16:creationId xmlns:a16="http://schemas.microsoft.com/office/drawing/2014/main" id="{C23B3231-8577-A5CF-6E6C-C252AFB13AB9}"/>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chemeClr val="tx1"/>
                </a:solidFill>
                <a:effectLst/>
                <a:uLnTx/>
                <a:uFillTx/>
                <a:latin typeface="Arial"/>
                <a:ea typeface="+mn-ea"/>
                <a:cs typeface="+mn-cs"/>
              </a:rPr>
              <a:t>No schema inference is needed because the schema is built in to the file format itself</a:t>
            </a:r>
          </a:p>
        </p:txBody>
      </p:sp>
      <p:sp>
        <p:nvSpPr>
          <p:cNvPr id="9" name="Rectangle 8">
            <a:extLst>
              <a:ext uri="{FF2B5EF4-FFF2-40B4-BE49-F238E27FC236}">
                <a16:creationId xmlns:a16="http://schemas.microsoft.com/office/drawing/2014/main" id="{5D6B4A15-996F-37B9-482B-1FEC0627CDAD}"/>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
        <p:nvSpPr>
          <p:cNvPr id="10" name="Rectangle 9">
            <a:extLst>
              <a:ext uri="{FF2B5EF4-FFF2-40B4-BE49-F238E27FC236}">
                <a16:creationId xmlns:a16="http://schemas.microsoft.com/office/drawing/2014/main" id="{C2F58104-F053-7972-7F69-498D6B33741B}"/>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8F8F8"/>
              </a:solidFill>
              <a:effectLst/>
              <a:uLnTx/>
              <a:uFillTx/>
              <a:latin typeface="Arial"/>
              <a:ea typeface="+mn-ea"/>
              <a:cs typeface="+mn-cs"/>
            </a:endParaRPr>
          </a:p>
        </p:txBody>
      </p:sp>
    </p:spTree>
    <p:custDataLst>
      <p:tags r:id="rId1"/>
    </p:custDataLst>
    <p:extLst>
      <p:ext uri="{BB962C8B-B14F-4D97-AF65-F5344CB8AC3E}">
        <p14:creationId xmlns:p14="http://schemas.microsoft.com/office/powerpoint/2010/main" val="9805651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2.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3.xml><?xml version="1.0" encoding="utf-8"?>
<ds:datastoreItem xmlns:ds="http://schemas.openxmlformats.org/officeDocument/2006/customXml" ds:itemID="{09B4292D-AFBC-4D1F-B7DC-D99307F77D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87079</TotalTime>
  <Words>1963</Words>
  <Application>Microsoft Office PowerPoint</Application>
  <PresentationFormat>Custom</PresentationFormat>
  <Paragraphs>260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Breeze</vt:lpstr>
      <vt:lpstr>Module 4: Lesson 4  Creating Spark DataFrames</vt:lpstr>
      <vt:lpstr>Creating DataFrames</vt:lpstr>
      <vt:lpstr>Creating DataFrames</vt:lpstr>
      <vt:lpstr>Creating a DataFrame from a List</vt:lpstr>
      <vt:lpstr>Creating a DataFrame from a List</vt:lpstr>
      <vt:lpstr>Data Sources</vt:lpstr>
      <vt:lpstr>Read API Structure</vt:lpstr>
      <vt:lpstr>Read API Structure</vt:lpstr>
      <vt:lpstr>Read API Structure</vt:lpstr>
      <vt:lpstr>Read API Structure</vt:lpstr>
      <vt:lpstr>Reading CSV Data Sources</vt:lpstr>
      <vt:lpstr>Reading CSV Data Sources – Some Options</vt:lpstr>
      <vt:lpstr>Reading CSV Data Sources</vt:lpstr>
      <vt:lpstr>Parquet Data Sources</vt:lpstr>
      <vt:lpstr>Parquet Data Source</vt:lpstr>
      <vt:lpstr>Parquet Data Sources Row-Wise Versus Columnar Storage Format</vt:lpstr>
      <vt:lpstr>Parquet Data Sources Row-Wise Versus Columnar Storage Format</vt:lpstr>
      <vt:lpstr>Parquet Data Sources Row-Wise Versus Columnar Storage Format</vt:lpstr>
      <vt:lpstr>Parquet Data Sources Row-Wise Versus Columnar Storage Format</vt:lpstr>
      <vt:lpstr>Parquet Data Source Benefits</vt:lpstr>
      <vt:lpstr>Parquet Data Source Benefits</vt:lpstr>
      <vt:lpstr>Parquet Data Source Best Practices</vt:lpstr>
      <vt:lpstr>Reading Parquet Data Sources</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Joseph Rosen</cp:lastModifiedBy>
  <cp:revision>302</cp:revision>
  <cp:lastPrinted>2023-12-28T21:37:41Z</cp:lastPrinted>
  <dcterms:created xsi:type="dcterms:W3CDTF">2019-02-13T16:04:21Z</dcterms:created>
  <dcterms:modified xsi:type="dcterms:W3CDTF">2024-06-21T18:29:00Z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BC87DABA-E606-49D0-873E-7DE7E87BE2AD</vt:lpwstr>
  </property>
  <property fmtid="{D5CDD505-2E9C-101B-9397-08002B2CF9AE}" pid="4" name="ArticulatePath">
    <vt:lpwstr>Module 4 04012024</vt:lpwstr>
  </property>
  <property fmtid="{D5CDD505-2E9C-101B-9397-08002B2CF9AE}" pid="5" name="MediaServiceImageTags">
    <vt:lpwstr/>
  </property>
</Properties>
</file>