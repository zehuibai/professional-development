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6"/>
  </p:notesMasterIdLst>
  <p:sldIdLst>
    <p:sldId id="940" r:id="rId5"/>
    <p:sldId id="826" r:id="rId6"/>
    <p:sldId id="770" r:id="rId7"/>
    <p:sldId id="771" r:id="rId8"/>
    <p:sldId id="772" r:id="rId9"/>
    <p:sldId id="834" r:id="rId10"/>
    <p:sldId id="773" r:id="rId11"/>
    <p:sldId id="963" r:id="rId12"/>
    <p:sldId id="774" r:id="rId13"/>
    <p:sldId id="962" r:id="rId14"/>
    <p:sldId id="259" r:id="rId15"/>
    <p:sldId id="765" r:id="rId16"/>
    <p:sldId id="766" r:id="rId17"/>
    <p:sldId id="767" r:id="rId18"/>
    <p:sldId id="768" r:id="rId19"/>
    <p:sldId id="803" r:id="rId20"/>
    <p:sldId id="827" r:id="rId21"/>
    <p:sldId id="828" r:id="rId22"/>
    <p:sldId id="829" r:id="rId23"/>
    <p:sldId id="964" r:id="rId24"/>
    <p:sldId id="965" r:id="rId25"/>
  </p:sldIdLst>
  <p:sldSz cx="18288000" cy="10287000"/>
  <p:notesSz cx="9144000" cy="6858000"/>
  <p:custDataLst>
    <p:tags r:id="rId27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BABA"/>
    <a:srgbClr val="0070C0"/>
    <a:srgbClr val="959595"/>
    <a:srgbClr val="E98D0A"/>
    <a:srgbClr val="969696"/>
    <a:srgbClr val="3F4F6C"/>
    <a:srgbClr val="C50724"/>
    <a:srgbClr val="7C7C7C"/>
    <a:srgbClr val="DFDFDF"/>
    <a:srgbClr val="FFA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9"/>
    <p:restoredTop sz="91693"/>
  </p:normalViewPr>
  <p:slideViewPr>
    <p:cSldViewPr snapToGrid="0" snapToObjects="1">
      <p:cViewPr varScale="1">
        <p:scale>
          <a:sx n="68" d="100"/>
          <a:sy n="68" d="100"/>
        </p:scale>
        <p:origin x="654" y="78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A1B2D-91A0-C5A0-A577-CB106073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FD5A-47F3-7A42-9DEC-F1C89DC0E539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DCA34-8EAF-2F4C-A973-971DE3FA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203A-6871-B7A0-6812-ECB7856C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CBA9-CC61-CC46-91C3-2044A25EB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7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5: Lesson 1 </a:t>
            </a:r>
            <a:br>
              <a:rPr lang="en-US" dirty="0"/>
            </a:br>
            <a:r>
              <a:rPr lang="en-US" sz="5400" dirty="0"/>
              <a:t>Transformations – Rows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6084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The function takes one or more column names as input and returns a new target DataFrame with only the selected columns from the source DataFrame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DataFrame.select(*cols)→ DataFrame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cols can be a strings (column names), an expression (</a:t>
            </a:r>
            <a:r>
              <a:rPr lang="en-US" altLang="en-US" sz="2800" i="1" dirty="0">
                <a:solidFill>
                  <a:schemeClr val="tx1"/>
                </a:solidFill>
              </a:rPr>
              <a:t>class pyspark.sql.Column</a:t>
            </a:r>
            <a:r>
              <a:rPr lang="en-US" altLang="en-US" sz="2800" dirty="0">
                <a:solidFill>
                  <a:schemeClr val="tx1"/>
                </a:solidFill>
              </a:rPr>
              <a:t>) or a list. If one of the column names is ‘*’, that column name is expanded to include all columns in the source DataFrame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The select() function can also be used to add new (calculated) columns to the target DataFrame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77994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1E650-AC8C-E339-BBEF-2059296726D9}"/>
              </a:ext>
            </a:extLst>
          </p:cNvPr>
          <p:cNvSpPr txBox="1"/>
          <p:nvPr/>
        </p:nvSpPr>
        <p:spPr>
          <a:xfrm>
            <a:off x="491987" y="6022033"/>
            <a:ext cx="125829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 mpg|cylinders|horsepower|modelyear|             carname|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|29.0|        4|     49.00|       73|            fiat 128|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|32.0|        4|     61.00|       74|          datsun 710|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|19.8|        6|     85.00|       79|    mercury zephyr 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|44.3|        4|     48.00|       80|vw rabbit c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|36.4|        5|     67.00|       80| audi 5000s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|31.6|        4|     74.00|       81|           mazda 626|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CE0E0-1453-E26F-B3E3-16EF8782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Single or Multiple Columns</a:t>
            </a:r>
          </a:p>
        </p:txBody>
      </p:sp>
      <p:sp>
        <p:nvSpPr>
          <p:cNvPr id="8" name="Circular Arrow 7">
            <a:extLst>
              <a:ext uri="{FF2B5EF4-FFF2-40B4-BE49-F238E27FC236}">
                <a16:creationId xmlns:a16="http://schemas.microsoft.com/office/drawing/2014/main" id="{E4D636BC-4D74-0194-260D-B86D5BE02174}"/>
              </a:ext>
            </a:extLst>
          </p:cNvPr>
          <p:cNvSpPr/>
          <p:nvPr/>
        </p:nvSpPr>
        <p:spPr>
          <a:xfrm>
            <a:off x="8191500" y="4819650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A4316-488D-7C96-63A2-52CF23FF915D}"/>
              </a:ext>
            </a:extLst>
          </p:cNvPr>
          <p:cNvSpPr txBox="1"/>
          <p:nvPr/>
        </p:nvSpPr>
        <p:spPr>
          <a:xfrm>
            <a:off x="3200400" y="3694836"/>
            <a:ext cx="11315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targetDF = srcDF.select(col('cylinders'), col('mpg’))</a:t>
            </a: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targetDF = srcDF.select(srcDF['cylinders'], srcDF['mpg'])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C42406-A54F-61E3-C291-005EA4407120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Columns can be referred to by Column expression. If so, the arguments provided to a select() must all be of this form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6B7E30-6421-DC21-4539-9804E342C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4" name="Rectangular Callout 3">
            <a:extLst>
              <a:ext uri="{FF2B5EF4-FFF2-40B4-BE49-F238E27FC236}">
                <a16:creationId xmlns:a16="http://schemas.microsoft.com/office/drawing/2014/main" id="{28A5E57E-30CC-3E4D-5E49-CEA776A8CA5D}"/>
              </a:ext>
            </a:extLst>
          </p:cNvPr>
          <p:cNvSpPr/>
          <p:nvPr/>
        </p:nvSpPr>
        <p:spPr>
          <a:xfrm>
            <a:off x="346628" y="4648200"/>
            <a:ext cx="2381250" cy="990600"/>
          </a:xfrm>
          <a:prstGeom prst="wedgeRectCallout">
            <a:avLst>
              <a:gd name="adj1" fmla="val 70367"/>
              <a:gd name="adj2" fmla="val -83654"/>
            </a:avLst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Columns in the target DataFrame are in this order</a:t>
            </a:r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90453EDD-7E5E-9204-6554-69E0BE696ABD}"/>
              </a:ext>
            </a:extLst>
          </p:cNvPr>
          <p:cNvSpPr/>
          <p:nvPr/>
        </p:nvSpPr>
        <p:spPr>
          <a:xfrm>
            <a:off x="14215028" y="5216099"/>
            <a:ext cx="2815672" cy="990600"/>
          </a:xfrm>
          <a:prstGeom prst="wedgeRectCallout">
            <a:avLst>
              <a:gd name="adj1" fmla="val -191936"/>
              <a:gd name="adj2" fmla="val -99630"/>
            </a:avLst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  <a:effectLst/>
              </a:rPr>
              <a:t>srcDF['cylinders’] </a:t>
            </a:r>
          </a:p>
          <a:p>
            <a:pPr algn="ctr"/>
            <a:r>
              <a:rPr lang="en-US" sz="2000" dirty="0">
                <a:solidFill>
                  <a:schemeClr val="bg2"/>
                </a:solidFill>
                <a:effectLst/>
              </a:rPr>
              <a:t>is equivalent to </a:t>
            </a:r>
          </a:p>
          <a:p>
            <a:pPr algn="ctr"/>
            <a:r>
              <a:rPr lang="en-US" sz="2000" dirty="0">
                <a:solidFill>
                  <a:schemeClr val="bg2"/>
                </a:solidFill>
                <a:effectLst/>
              </a:rPr>
              <a:t>col('cylinders')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FD4DA-1B03-622A-958C-1871932668A4}"/>
              </a:ext>
            </a:extLst>
          </p:cNvPr>
          <p:cNvSpPr txBox="1"/>
          <p:nvPr/>
        </p:nvSpPr>
        <p:spPr>
          <a:xfrm>
            <a:off x="9140826" y="6022033"/>
            <a:ext cx="45862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|cylinders| mpg|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4|29.0|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4|32.0|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6|19.8|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4|44.3|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5|36.4|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4|31.6|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</a:t>
            </a:r>
          </a:p>
        </p:txBody>
      </p:sp>
    </p:spTree>
    <p:extLst>
      <p:ext uri="{BB962C8B-B14F-4D97-AF65-F5344CB8AC3E}">
        <p14:creationId xmlns:p14="http://schemas.microsoft.com/office/powerpoint/2010/main" val="2818149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1E650-AC8C-E339-BBEF-2059296726D9}"/>
              </a:ext>
            </a:extLst>
          </p:cNvPr>
          <p:cNvSpPr txBox="1"/>
          <p:nvPr/>
        </p:nvSpPr>
        <p:spPr>
          <a:xfrm>
            <a:off x="491987" y="6022033"/>
            <a:ext cx="125829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 mpg|cylinders|horsepower|modelyear|             carname|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|29.0|        4|     49.00|       73|            fiat 128|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|32.0|        4|     61.00|       74|          datsun 710|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|19.8|        6|     85.00|       79|    mercury zephyr 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|44.3|        4|     48.00|       80|vw rabbit c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|36.4|        5|     67.00|       80| audi 5000s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|31.6|        4|     74.00|       81|           mazda 626|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CE0E0-1453-E26F-B3E3-16EF8782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Single or Multiple Columns</a:t>
            </a:r>
          </a:p>
        </p:txBody>
      </p:sp>
      <p:sp>
        <p:nvSpPr>
          <p:cNvPr id="8" name="Circular Arrow 7">
            <a:extLst>
              <a:ext uri="{FF2B5EF4-FFF2-40B4-BE49-F238E27FC236}">
                <a16:creationId xmlns:a16="http://schemas.microsoft.com/office/drawing/2014/main" id="{E4D636BC-4D74-0194-260D-B86D5BE02174}"/>
              </a:ext>
            </a:extLst>
          </p:cNvPr>
          <p:cNvSpPr/>
          <p:nvPr/>
        </p:nvSpPr>
        <p:spPr>
          <a:xfrm>
            <a:off x="8191500" y="4819650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A4316-488D-7C96-63A2-52CF23FF915D}"/>
              </a:ext>
            </a:extLst>
          </p:cNvPr>
          <p:cNvSpPr txBox="1"/>
          <p:nvPr/>
        </p:nvSpPr>
        <p:spPr>
          <a:xfrm>
            <a:off x="4648200" y="4209186"/>
            <a:ext cx="8343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targetDF = srcDF.select('cylinders', 'mpg’)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C42406-A54F-61E3-C291-005EA4407120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Columns can be referred to by a string name. If so, the arguments provided to a select() must all </a:t>
            </a:r>
            <a:r>
              <a:rPr lang="en-US" sz="2800" dirty="0">
                <a:solidFill>
                  <a:schemeClr val="bg2"/>
                </a:solidFill>
              </a:rPr>
              <a:t>be of this </a:t>
            </a:r>
            <a:r>
              <a:rPr lang="en-US" sz="2800" i="0" dirty="0">
                <a:solidFill>
                  <a:schemeClr val="bg2"/>
                </a:solidFill>
                <a:effectLst/>
              </a:rPr>
              <a:t>form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6B7E30-6421-DC21-4539-9804E342C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FD4DA-1B03-622A-958C-1871932668A4}"/>
              </a:ext>
            </a:extLst>
          </p:cNvPr>
          <p:cNvSpPr txBox="1"/>
          <p:nvPr/>
        </p:nvSpPr>
        <p:spPr>
          <a:xfrm>
            <a:off x="9140826" y="6022033"/>
            <a:ext cx="45862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|cylinders| mpg|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4|29.0|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4|32.0|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6|19.8|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4|44.3|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5|36.4|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4|31.6|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</a:t>
            </a:r>
          </a:p>
        </p:txBody>
      </p:sp>
    </p:spTree>
    <p:extLst>
      <p:ext uri="{BB962C8B-B14F-4D97-AF65-F5344CB8AC3E}">
        <p14:creationId xmlns:p14="http://schemas.microsoft.com/office/powerpoint/2010/main" val="3360210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1E650-AC8C-E339-BBEF-2059296726D9}"/>
              </a:ext>
            </a:extLst>
          </p:cNvPr>
          <p:cNvSpPr txBox="1"/>
          <p:nvPr/>
        </p:nvSpPr>
        <p:spPr>
          <a:xfrm>
            <a:off x="491987" y="6155383"/>
            <a:ext cx="125829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 mpg|cylinders|horsepower|modelyear|             carname|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|29.0|        4|     49.00|       73|            fiat 128|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|32.0|        4|     61.00|       74|          datsun 710|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|19.8|        6|     85.00|       79|    mercury zephyr 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|44.3|        4|     48.00|       80|vw rabbit c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|36.4|        5|     67.00|       80| audi 5000s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|31.6|        4|     74.00|       81|           mazda 626|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CE0E0-1453-E26F-B3E3-16EF8782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All Columns</a:t>
            </a:r>
          </a:p>
        </p:txBody>
      </p:sp>
      <p:sp>
        <p:nvSpPr>
          <p:cNvPr id="8" name="Circular Arrow 7">
            <a:extLst>
              <a:ext uri="{FF2B5EF4-FFF2-40B4-BE49-F238E27FC236}">
                <a16:creationId xmlns:a16="http://schemas.microsoft.com/office/drawing/2014/main" id="{E4D636BC-4D74-0194-260D-B86D5BE02174}"/>
              </a:ext>
            </a:extLst>
          </p:cNvPr>
          <p:cNvSpPr/>
          <p:nvPr/>
        </p:nvSpPr>
        <p:spPr>
          <a:xfrm>
            <a:off x="8191500" y="5181600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A4316-488D-7C96-63A2-52CF23FF915D}"/>
              </a:ext>
            </a:extLst>
          </p:cNvPr>
          <p:cNvSpPr txBox="1"/>
          <p:nvPr/>
        </p:nvSpPr>
        <p:spPr>
          <a:xfrm>
            <a:off x="5505450" y="3904386"/>
            <a:ext cx="6667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targetDF = srcDF.select(‘*’)</a:t>
            </a: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targetDF = srcDF.select(col(‘*’))</a:t>
            </a: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targetDF = srcDF.select(srcDF[‘*’])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C42406-A54F-61E3-C291-005EA4407120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If one of the columns arguments is ‘*’, that column argument is expanded to include all columns in the source DataFrame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6B7E30-6421-DC21-4539-9804E342C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95140-BDB8-72A6-BBD3-959537586DD2}"/>
              </a:ext>
            </a:extLst>
          </p:cNvPr>
          <p:cNvSpPr txBox="1"/>
          <p:nvPr/>
        </p:nvSpPr>
        <p:spPr>
          <a:xfrm>
            <a:off x="8873987" y="6155383"/>
            <a:ext cx="84996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 mpg|cylinders|horsepower|modelyear|             carname|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|29.0|        4|     49.00|       73|            fiat 128|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|32.0|        4|     61.00|       74|          datsun 710|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|19.8|        6|     85.00|       79|    mercury zephyr 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|44.3|        4|     48.00|       80|vw rabbit c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|36.4|        5|     67.00|       80| audi 5000s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|31.6|        4|     74.00|       81|           mazda 626|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3194325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Returns a sampled subset of of the rows of a DataFrame as a new DataFrame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DataFrame.sample(withReplacement=None, fraction=None, seed=None)→ DataFrame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01015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withReplacement - Sample with replacement or not (default False).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624964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bg2"/>
                </a:solidFill>
              </a:rPr>
              <a:t>fraction - fraction of rows to generate, range [0.0, 1.0] (required parameter)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8781AD-82B3-30B5-7D07-45800FC20FCF}"/>
              </a:ext>
            </a:extLst>
          </p:cNvPr>
          <p:cNvSpPr/>
          <p:nvPr/>
        </p:nvSpPr>
        <p:spPr>
          <a:xfrm>
            <a:off x="1262933" y="7526655"/>
            <a:ext cx="1371600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seed - seed for sampling (default a random seed)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AC3EB0-949C-4C3A-4E8D-AFEE364D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72311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CE0E0-1453-E26F-B3E3-16EF8782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Without Replacement</a:t>
            </a:r>
          </a:p>
        </p:txBody>
      </p:sp>
      <p:sp>
        <p:nvSpPr>
          <p:cNvPr id="8" name="Circular Arrow 7">
            <a:extLst>
              <a:ext uri="{FF2B5EF4-FFF2-40B4-BE49-F238E27FC236}">
                <a16:creationId xmlns:a16="http://schemas.microsoft.com/office/drawing/2014/main" id="{E4D636BC-4D74-0194-260D-B86D5BE02174}"/>
              </a:ext>
            </a:extLst>
          </p:cNvPr>
          <p:cNvSpPr/>
          <p:nvPr/>
        </p:nvSpPr>
        <p:spPr>
          <a:xfrm>
            <a:off x="5978389" y="4954649"/>
            <a:ext cx="1295400" cy="2434095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C42406-A54F-61E3-C291-005EA4407120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Create a target DataFrame with a sample size of half the rows of the source DataFrame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6B7E30-6421-DC21-4539-9804E342C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DCC574-FB4E-98D2-8243-D982E37EBDB2}"/>
              </a:ext>
            </a:extLst>
          </p:cNvPr>
          <p:cNvSpPr txBox="1"/>
          <p:nvPr/>
        </p:nvSpPr>
        <p:spPr>
          <a:xfrm>
            <a:off x="842447" y="5989204"/>
            <a:ext cx="587899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|21.5|       110|          mazda rx-4|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|43.1|        48|vw rabbit custom ...|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66|         ford fiesta|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  52|    mazda glc deluxe|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|39.4|        70|      datsun b210 gx|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60|    honda civic cvcc|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A5D5B2-2E20-D0EB-0E0E-F425061D7A45}"/>
              </a:ext>
            </a:extLst>
          </p:cNvPr>
          <p:cNvSpPr txBox="1"/>
          <p:nvPr/>
        </p:nvSpPr>
        <p:spPr>
          <a:xfrm>
            <a:off x="7024689" y="6213555"/>
            <a:ext cx="56205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66|     ford fiesta|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|39.4|        70|  datsun b210 gx|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60|honda civic cvcc|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CB4201-4C46-7044-AC3B-C2F815C287E6}"/>
              </a:ext>
            </a:extLst>
          </p:cNvPr>
          <p:cNvSpPr txBox="1"/>
          <p:nvPr/>
        </p:nvSpPr>
        <p:spPr>
          <a:xfrm>
            <a:off x="4118737" y="4239578"/>
            <a:ext cx="5205410" cy="479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targetDf.srcDF.sample(0.5)</a:t>
            </a:r>
          </a:p>
        </p:txBody>
      </p:sp>
    </p:spTree>
    <p:extLst>
      <p:ext uri="{BB962C8B-B14F-4D97-AF65-F5344CB8AC3E}">
        <p14:creationId xmlns:p14="http://schemas.microsoft.com/office/powerpoint/2010/main" val="1913795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1E650-AC8C-E339-BBEF-2059296726D9}"/>
              </a:ext>
            </a:extLst>
          </p:cNvPr>
          <p:cNvSpPr txBox="1"/>
          <p:nvPr/>
        </p:nvSpPr>
        <p:spPr>
          <a:xfrm>
            <a:off x="491987" y="6319743"/>
            <a:ext cx="125829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 mpg|cylinders|horsepower|modelyear|             carname|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|29.0|        4|     49.00|       73|            fiat 128|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|32.0|        4|     61.00|       74|          datsun 710|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|19.8|        6|     85.00|       79|    mercury zephyr 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|44.3|        4|     48.00|       80|vw rabbit c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|36.4|        5|     67.00|       80| audi 5000s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|31.6|        4|     74.00|       81|           mazda 626|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CE0E0-1453-E26F-B3E3-16EF8782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Select to Include a New Column</a:t>
            </a:r>
          </a:p>
        </p:txBody>
      </p:sp>
      <p:sp>
        <p:nvSpPr>
          <p:cNvPr id="8" name="Circular Arrow 7">
            <a:extLst>
              <a:ext uri="{FF2B5EF4-FFF2-40B4-BE49-F238E27FC236}">
                <a16:creationId xmlns:a16="http://schemas.microsoft.com/office/drawing/2014/main" id="{E4D636BC-4D74-0194-260D-B86D5BE02174}"/>
              </a:ext>
            </a:extLst>
          </p:cNvPr>
          <p:cNvSpPr/>
          <p:nvPr/>
        </p:nvSpPr>
        <p:spPr>
          <a:xfrm>
            <a:off x="8191500" y="4899839"/>
            <a:ext cx="1295400" cy="2223977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A4316-488D-7C96-63A2-52CF23FF915D}"/>
              </a:ext>
            </a:extLst>
          </p:cNvPr>
          <p:cNvSpPr txBox="1"/>
          <p:nvPr/>
        </p:nvSpPr>
        <p:spPr>
          <a:xfrm>
            <a:off x="546653" y="3771036"/>
            <a:ext cx="166339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col, 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concat</a:t>
            </a:r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targetDF = srcDF.select(col('cylinders'), col('mpg'), concat(col('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modelyear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'),col('carname')))</a:t>
            </a:r>
          </a:p>
          <a:p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C42406-A54F-61E3-C291-005EA4407120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It is possible to add a new column to the target DataFrame using the select() function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6B7E30-6421-DC21-4539-9804E342C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FBB45-18D3-A280-8D65-2AE98878BC33}"/>
              </a:ext>
            </a:extLst>
          </p:cNvPr>
          <p:cNvSpPr txBox="1"/>
          <p:nvPr/>
        </p:nvSpPr>
        <p:spPr>
          <a:xfrm>
            <a:off x="9140826" y="6335013"/>
            <a:ext cx="63388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|cylinders| mpg|concat(modelyear, carname)|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4|29.0|                73fiat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4|32.0|              74datsun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6|19.8|        79mercury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4|44.3|      80vw rabbit c (di...|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5|36.4|      80audi 5000s (die...|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4|31.6|               81mazda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+---------+----+--------------------------+</a:t>
            </a:r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DE6BD5DD-34A2-6817-E437-0C5328892957}"/>
              </a:ext>
            </a:extLst>
          </p:cNvPr>
          <p:cNvSpPr/>
          <p:nvPr/>
        </p:nvSpPr>
        <p:spPr>
          <a:xfrm>
            <a:off x="15050744" y="4951453"/>
            <a:ext cx="2815672" cy="990600"/>
          </a:xfrm>
          <a:prstGeom prst="wedgeRectCallout">
            <a:avLst>
              <a:gd name="adj1" fmla="val -112274"/>
              <a:gd name="adj2" fmla="val 95148"/>
            </a:avLst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  <a:effectLst/>
              </a:rPr>
              <a:t>Pyspark creates its own new column name</a:t>
            </a:r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799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1E650-AC8C-E339-BBEF-2059296726D9}"/>
              </a:ext>
            </a:extLst>
          </p:cNvPr>
          <p:cNvSpPr txBox="1"/>
          <p:nvPr/>
        </p:nvSpPr>
        <p:spPr>
          <a:xfrm>
            <a:off x="491987" y="6022033"/>
            <a:ext cx="125829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 mpg|cylinders|horsepower|modelyear|             carname|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|29.0|        4|     49.00|       73|            fiat 128|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|32.0|        4|     61.00|       74|          datsun 710|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|19.8|        6|     85.00|       79|    mercury zephyr 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|44.3|        4|     48.00|       80|vw rabbit c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|36.4|        5|     67.00|       80| audi 5000s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|31.6|        4|     74.00|       81|           mazda 626|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CE0E0-1453-E26F-B3E3-16EF8782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Select to Include a New Column</a:t>
            </a:r>
          </a:p>
        </p:txBody>
      </p:sp>
      <p:sp>
        <p:nvSpPr>
          <p:cNvPr id="8" name="Circular Arrow 7">
            <a:extLst>
              <a:ext uri="{FF2B5EF4-FFF2-40B4-BE49-F238E27FC236}">
                <a16:creationId xmlns:a16="http://schemas.microsoft.com/office/drawing/2014/main" id="{E4D636BC-4D74-0194-260D-B86D5BE02174}"/>
              </a:ext>
            </a:extLst>
          </p:cNvPr>
          <p:cNvSpPr/>
          <p:nvPr/>
        </p:nvSpPr>
        <p:spPr>
          <a:xfrm>
            <a:off x="8191500" y="5027429"/>
            <a:ext cx="1295400" cy="2010207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A4316-488D-7C96-63A2-52CF23FF915D}"/>
              </a:ext>
            </a:extLst>
          </p:cNvPr>
          <p:cNvSpPr txBox="1"/>
          <p:nvPr/>
        </p:nvSpPr>
        <p:spPr>
          <a:xfrm>
            <a:off x="3175419" y="3885384"/>
            <a:ext cx="119308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col, concat, lit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targetDF = srcDF.select(col('cylinders'), col('mpg’), \</a:t>
            </a: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concat(col('modelyear’),  col('carname')).alias('newcol'))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C42406-A54F-61E3-C291-005EA4407120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Use the Column function alias() to provide a user chosen name for a new column. Note, we will other ways to name or rename a column later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6B7E30-6421-DC21-4539-9804E342C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7AFB3C-340F-5AFE-8947-7FD67B7C452E}"/>
              </a:ext>
            </a:extLst>
          </p:cNvPr>
          <p:cNvSpPr txBox="1"/>
          <p:nvPr/>
        </p:nvSpPr>
        <p:spPr>
          <a:xfrm>
            <a:off x="9140826" y="6022033"/>
            <a:ext cx="536733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|cylinders| mpg|              newcol|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4|29.0|         73fiat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4|32.0|       74datsun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6|19.8| 79mercury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4|44.3|80vw rabbit c (d...|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5|36.4|80audi 5000s (di...|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4|31.6|        81mazda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715175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This function returns</a:t>
            </a:r>
            <a:r>
              <a:rPr lang="en-US" sz="2800" i="0" dirty="0">
                <a:solidFill>
                  <a:schemeClr val="bg2"/>
                </a:solidFill>
                <a:effectLst/>
              </a:rPr>
              <a:t> a target DataFrame holding rows from a source DataFrame each of which meets a certain condition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DataFrame.filter(condition) → DataFrame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condition is a Boolean expression evaluated for each row in the source DataFrame. If condition is true  for that row, it will appear in the target DataFrame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Additionally, Spark SQL also provides support for HiveQL, a SQL-like language specific to Apache Hive (another Hadoop SQL query engine)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86057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1E650-AC8C-E339-BBEF-2059296726D9}"/>
              </a:ext>
            </a:extLst>
          </p:cNvPr>
          <p:cNvSpPr txBox="1"/>
          <p:nvPr/>
        </p:nvSpPr>
        <p:spPr>
          <a:xfrm>
            <a:off x="491987" y="6022033"/>
            <a:ext cx="125829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 mpg|cylinders|horsepower|modelyear|             carname|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|29.0|        4|     49.00|       73|            fiat 128|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|32.0|        4|     61.00|       74|          datsun 710|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|19.8|        6|     85.00|       79|    mercury zephyr 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|44.3|        4|     48.00|       80|vw rabbit c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|36.4|        5|     67.00|       80| audi 5000s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|31.6|        4|     74.00|       81|           mazda 626|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CE0E0-1453-E26F-B3E3-16EF8782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Using a Comparison Operator</a:t>
            </a:r>
          </a:p>
        </p:txBody>
      </p:sp>
      <p:sp>
        <p:nvSpPr>
          <p:cNvPr id="8" name="Circular Arrow 7">
            <a:extLst>
              <a:ext uri="{FF2B5EF4-FFF2-40B4-BE49-F238E27FC236}">
                <a16:creationId xmlns:a16="http://schemas.microsoft.com/office/drawing/2014/main" id="{E4D636BC-4D74-0194-260D-B86D5BE02174}"/>
              </a:ext>
            </a:extLst>
          </p:cNvPr>
          <p:cNvSpPr/>
          <p:nvPr/>
        </p:nvSpPr>
        <p:spPr>
          <a:xfrm>
            <a:off x="8191500" y="4819650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23148-92E0-3B4A-85B3-231E7716BB41}"/>
              </a:ext>
            </a:extLst>
          </p:cNvPr>
          <p:cNvSpPr txBox="1"/>
          <p:nvPr/>
        </p:nvSpPr>
        <p:spPr>
          <a:xfrm>
            <a:off x="8972550" y="6391365"/>
            <a:ext cx="9144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mpg|cylinders|horsepower|modelyear|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  6|     85.00|       79|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        5|     67.00|       80|audi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        4|     74.00|       81|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+----+---------+----------+---------+-------------------+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A4316-488D-7C96-63A2-52CF23FF915D}"/>
              </a:ext>
            </a:extLst>
          </p:cNvPr>
          <p:cNvSpPr txBox="1"/>
          <p:nvPr/>
        </p:nvSpPr>
        <p:spPr>
          <a:xfrm>
            <a:off x="4286250" y="3942486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targetDF = srcDF.filter(col('horsepower') &gt; 65)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C42406-A54F-61E3-C291-005EA4407120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Comparison operators include: </a:t>
            </a:r>
          </a:p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&lt;, &gt;, &lt;=,</a:t>
            </a:r>
            <a:r>
              <a:rPr lang="en-US" sz="2800" dirty="0">
                <a:solidFill>
                  <a:schemeClr val="bg2"/>
                </a:solidFill>
              </a:rPr>
              <a:t>  </a:t>
            </a:r>
            <a:r>
              <a:rPr lang="en-US" sz="2800" i="0" dirty="0">
                <a:solidFill>
                  <a:schemeClr val="bg2"/>
                </a:solidFill>
                <a:effectLst/>
              </a:rPr>
              <a:t>&gt;=,</a:t>
            </a:r>
            <a:r>
              <a:rPr lang="en-US" sz="2800" dirty="0">
                <a:solidFill>
                  <a:schemeClr val="bg2"/>
                </a:solidFill>
              </a:rPr>
              <a:t>  </a:t>
            </a:r>
            <a:r>
              <a:rPr lang="en-US" sz="2800" i="0" dirty="0">
                <a:solidFill>
                  <a:schemeClr val="bg2"/>
                </a:solidFill>
                <a:effectLst/>
              </a:rPr>
              <a:t>==, !=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6B7E30-6421-DC21-4539-9804E342C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933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1E650-AC8C-E339-BBEF-2059296726D9}"/>
              </a:ext>
            </a:extLst>
          </p:cNvPr>
          <p:cNvSpPr txBox="1"/>
          <p:nvPr/>
        </p:nvSpPr>
        <p:spPr>
          <a:xfrm>
            <a:off x="491987" y="6022033"/>
            <a:ext cx="125829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 mpg|cylinders|horsepower|modelyear|             carname|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|29.0|        4|     49.00|       73|            fiat 128|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|32.0|        4|     61.00|       74|          datsun 710|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|19.8|        6|     85.00|       79|    mercury zephyr 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|44.3|        4|     48.00|       80|vw rabbit c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|36.4|        5|     67.00|       80| audi 5000s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|31.6|        4|     74.00|       81|           mazda 626|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CE0E0-1453-E26F-B3E3-16EF8782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500" dirty="0"/>
              <a:t>Filter Using a Boolean Valued Column Function</a:t>
            </a:r>
          </a:p>
        </p:txBody>
      </p:sp>
      <p:sp>
        <p:nvSpPr>
          <p:cNvPr id="8" name="Circular Arrow 7">
            <a:extLst>
              <a:ext uri="{FF2B5EF4-FFF2-40B4-BE49-F238E27FC236}">
                <a16:creationId xmlns:a16="http://schemas.microsoft.com/office/drawing/2014/main" id="{E4D636BC-4D74-0194-260D-B86D5BE02174}"/>
              </a:ext>
            </a:extLst>
          </p:cNvPr>
          <p:cNvSpPr/>
          <p:nvPr/>
        </p:nvSpPr>
        <p:spPr>
          <a:xfrm>
            <a:off x="8191500" y="4819650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A4316-488D-7C96-63A2-52CF23FF915D}"/>
              </a:ext>
            </a:extLst>
          </p:cNvPr>
          <p:cNvSpPr txBox="1"/>
          <p:nvPr/>
        </p:nvSpPr>
        <p:spPr>
          <a:xfrm>
            <a:off x="3943350" y="3942486"/>
            <a:ext cx="97345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targetDF = srcDF.filter(col('mpg').between(19, 29))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C42406-A54F-61E3-C291-005EA4407120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Boolean valued column functions include: 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be</a:t>
            </a:r>
            <a:r>
              <a:rPr lang="en-US" sz="2800" i="0" dirty="0">
                <a:solidFill>
                  <a:schemeClr val="bg2"/>
                </a:solidFill>
                <a:effectLst/>
              </a:rPr>
              <a:t>tween(), contains(),endswith(), isin(), isNull(), isNotNull(), startswith(), etc.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6B7E30-6421-DC21-4539-9804E342C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43DDA-EFB6-3EC2-A8F5-F90C759FCF30}"/>
              </a:ext>
            </a:extLst>
          </p:cNvPr>
          <p:cNvSpPr txBox="1"/>
          <p:nvPr/>
        </p:nvSpPr>
        <p:spPr>
          <a:xfrm>
            <a:off x="9140826" y="6648451"/>
            <a:ext cx="91535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mpg|cylinders|horsepower|modelyear|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        4|     49.00|       73|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  6|     85.00|       79|mercury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1575200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1E650-AC8C-E339-BBEF-2059296726D9}"/>
              </a:ext>
            </a:extLst>
          </p:cNvPr>
          <p:cNvSpPr txBox="1"/>
          <p:nvPr/>
        </p:nvSpPr>
        <p:spPr>
          <a:xfrm>
            <a:off x="491987" y="6022033"/>
            <a:ext cx="125829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 mpg|cylinders|horsepower|modelyear|             carname|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|29.0|        4|     49.00|       73|            fiat 128|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|32.0|        4|     61.00|       74|          datsun 710|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|19.8|        6|     85.00|       79|    mercury zephyr 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|44.3|        4|     48.00|       80|vw rabbit c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|36.4|        5|     67.00|       80| audi 5000s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|31.6|        4|     74.00|       81|           mazda 626|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CE0E0-1453-E26F-B3E3-16EF8782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500" dirty="0"/>
              <a:t>Filter Using a Boolean Valued Column Function</a:t>
            </a:r>
          </a:p>
        </p:txBody>
      </p:sp>
      <p:sp>
        <p:nvSpPr>
          <p:cNvPr id="8" name="Circular Arrow 7">
            <a:extLst>
              <a:ext uri="{FF2B5EF4-FFF2-40B4-BE49-F238E27FC236}">
                <a16:creationId xmlns:a16="http://schemas.microsoft.com/office/drawing/2014/main" id="{E4D636BC-4D74-0194-260D-B86D5BE02174}"/>
              </a:ext>
            </a:extLst>
          </p:cNvPr>
          <p:cNvSpPr/>
          <p:nvPr/>
        </p:nvSpPr>
        <p:spPr>
          <a:xfrm>
            <a:off x="8191500" y="4819650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A4316-488D-7C96-63A2-52CF23FF915D}"/>
              </a:ext>
            </a:extLst>
          </p:cNvPr>
          <p:cNvSpPr txBox="1"/>
          <p:nvPr/>
        </p:nvSpPr>
        <p:spPr>
          <a:xfrm>
            <a:off x="3838299" y="3910753"/>
            <a:ext cx="100301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targetDF = srcDF.filter(col('carname').contains('z'))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C42406-A54F-61E3-C291-005EA4407120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Boolean valued column functions include: 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be</a:t>
            </a:r>
            <a:r>
              <a:rPr lang="en-US" sz="2800" i="0" dirty="0">
                <a:solidFill>
                  <a:schemeClr val="bg2"/>
                </a:solidFill>
                <a:effectLst/>
              </a:rPr>
              <a:t>tween(), contains(),endswith(), isin(), isNull(), isNotNull(), startswith(), etc.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6B7E30-6421-DC21-4539-9804E342C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43DDA-EFB6-3EC2-A8F5-F90C759FCF30}"/>
              </a:ext>
            </a:extLst>
          </p:cNvPr>
          <p:cNvSpPr txBox="1"/>
          <p:nvPr/>
        </p:nvSpPr>
        <p:spPr>
          <a:xfrm>
            <a:off x="9140826" y="6648451"/>
            <a:ext cx="91535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mpg|cylinders|horsepower|modelyear|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|31.6|        4|     74.00|       81|          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mazda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  6|     85.00|       79|mercury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+----+---------+----------+---------+----------------+</a:t>
            </a:r>
          </a:p>
        </p:txBody>
      </p:sp>
      <p:sp>
        <p:nvSpPr>
          <p:cNvPr id="4" name="Rectangular Callout 3">
            <a:extLst>
              <a:ext uri="{FF2B5EF4-FFF2-40B4-BE49-F238E27FC236}">
                <a16:creationId xmlns:a16="http://schemas.microsoft.com/office/drawing/2014/main" id="{49F46DB6-8041-D036-9CA9-B6DFD818BEF1}"/>
              </a:ext>
            </a:extLst>
          </p:cNvPr>
          <p:cNvSpPr/>
          <p:nvPr/>
        </p:nvSpPr>
        <p:spPr>
          <a:xfrm>
            <a:off x="13258800" y="5314950"/>
            <a:ext cx="2381250" cy="990600"/>
          </a:xfrm>
          <a:prstGeom prst="wedgeRectCallout">
            <a:avLst>
              <a:gd name="adj1" fmla="val -96833"/>
              <a:gd name="adj2" fmla="val -95192"/>
            </a:avLst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Match a substring</a:t>
            </a:r>
          </a:p>
        </p:txBody>
      </p:sp>
    </p:spTree>
    <p:extLst>
      <p:ext uri="{BB962C8B-B14F-4D97-AF65-F5344CB8AC3E}">
        <p14:creationId xmlns:p14="http://schemas.microsoft.com/office/powerpoint/2010/main" val="2599830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1E650-AC8C-E339-BBEF-2059296726D9}"/>
              </a:ext>
            </a:extLst>
          </p:cNvPr>
          <p:cNvSpPr txBox="1"/>
          <p:nvPr/>
        </p:nvSpPr>
        <p:spPr>
          <a:xfrm>
            <a:off x="491987" y="6022033"/>
            <a:ext cx="125829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 mpg|cylinders|horsepower|modelyear|             carname|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|29.0|        4|     49.00|       73|            fiat 128|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|32.0|        4|     61.00|       74|          datsun 710|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|19.8|        6|     85.00|       79|    mercury zephyr 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|44.3|        4|     48.00|       80|vw rabbit c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|36.4|        5|     67.00|       80| audi 5000s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|31.6|        4|     74.00|       81|           mazda 626|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CE0E0-1453-E26F-B3E3-16EF8782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500" dirty="0"/>
              <a:t>Filter Using Multiple Conditions</a:t>
            </a:r>
          </a:p>
        </p:txBody>
      </p:sp>
      <p:sp>
        <p:nvSpPr>
          <p:cNvPr id="8" name="Circular Arrow 7">
            <a:extLst>
              <a:ext uri="{FF2B5EF4-FFF2-40B4-BE49-F238E27FC236}">
                <a16:creationId xmlns:a16="http://schemas.microsoft.com/office/drawing/2014/main" id="{E4D636BC-4D74-0194-260D-B86D5BE02174}"/>
              </a:ext>
            </a:extLst>
          </p:cNvPr>
          <p:cNvSpPr/>
          <p:nvPr/>
        </p:nvSpPr>
        <p:spPr>
          <a:xfrm>
            <a:off x="8191500" y="4819650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A4316-488D-7C96-63A2-52CF23FF915D}"/>
              </a:ext>
            </a:extLst>
          </p:cNvPr>
          <p:cNvSpPr txBox="1"/>
          <p:nvPr/>
        </p:nvSpPr>
        <p:spPr>
          <a:xfrm>
            <a:off x="2390499" y="3910753"/>
            <a:ext cx="129828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targetDF = srcDF.filter((col('horsepower') &gt; 65) &amp; (col('mpg') &gt; 20))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C42406-A54F-61E3-C291-005EA4407120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Logical operators connecting multiple simple conditions: 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AND (&amp;), OR (|), NOT (~)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6B7E30-6421-DC21-4539-9804E342C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5C2855-6D0A-6838-7CD8-7E0E6AD85CAF}"/>
              </a:ext>
            </a:extLst>
          </p:cNvPr>
          <p:cNvSpPr txBox="1"/>
          <p:nvPr/>
        </p:nvSpPr>
        <p:spPr>
          <a:xfrm>
            <a:off x="9140826" y="6576031"/>
            <a:ext cx="91535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mpg|cylinders|horsepower|modelyear|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        5|     67.00|       80|audi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        4|     74.00|       81|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341971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1E650-AC8C-E339-BBEF-2059296726D9}"/>
              </a:ext>
            </a:extLst>
          </p:cNvPr>
          <p:cNvSpPr txBox="1"/>
          <p:nvPr/>
        </p:nvSpPr>
        <p:spPr>
          <a:xfrm>
            <a:off x="491987" y="6022033"/>
            <a:ext cx="125829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 mpg|cylinders|horsepower|modelyear|             carname|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|29.0|        4|     49.00|       73|            fiat 128|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|32.0|        4|     61.00|       74|          datsun 710|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|20.8|        6|     85.00|       79|    mercury zephyr 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|44.3|        4|     48.00|       80|vw rabbit c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|36.4|        5|     67.00|       80| audi 5000s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|31.6|        4|     74.00|       81|           mazda 626|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CE0E0-1453-E26F-B3E3-16EF8782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500" dirty="0"/>
              <a:t>Filter Using Multiple Conditions</a:t>
            </a:r>
          </a:p>
        </p:txBody>
      </p:sp>
      <p:sp>
        <p:nvSpPr>
          <p:cNvPr id="8" name="Circular Arrow 7">
            <a:extLst>
              <a:ext uri="{FF2B5EF4-FFF2-40B4-BE49-F238E27FC236}">
                <a16:creationId xmlns:a16="http://schemas.microsoft.com/office/drawing/2014/main" id="{E4D636BC-4D74-0194-260D-B86D5BE02174}"/>
              </a:ext>
            </a:extLst>
          </p:cNvPr>
          <p:cNvSpPr/>
          <p:nvPr/>
        </p:nvSpPr>
        <p:spPr>
          <a:xfrm>
            <a:off x="8191500" y="4819650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A4316-488D-7C96-63A2-52CF23FF915D}"/>
              </a:ext>
            </a:extLst>
          </p:cNvPr>
          <p:cNvSpPr txBox="1"/>
          <p:nvPr/>
        </p:nvSpPr>
        <p:spPr>
          <a:xfrm>
            <a:off x="2390499" y="3910753"/>
            <a:ext cx="134400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targetDF = srcDF.filter((col('horsepower') &gt; 65) &amp; ~ (col('mpg') &gt; 20))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C42406-A54F-61E3-C291-005EA4407120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Logical operators connecting multiple simple conditions: 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AND (&amp;), OR (|), NOT (~)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6B7E30-6421-DC21-4539-9804E342C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31362F-4579-01AB-5DFA-332829B6917F}"/>
              </a:ext>
            </a:extLst>
          </p:cNvPr>
          <p:cNvSpPr txBox="1"/>
          <p:nvPr/>
        </p:nvSpPr>
        <p:spPr>
          <a:xfrm>
            <a:off x="9140826" y="6762750"/>
            <a:ext cx="91535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mpg|cylinders|horsepower|modelyear|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  6|     85.00|       79|mercury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688551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Returns a new DataFrame sorted by the specified column(s)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DataFrame.sort(*cols) → DataFrame</a:t>
            </a:r>
          </a:p>
          <a:p>
            <a:pPr algn="ctr"/>
            <a:r>
              <a:rPr lang="en-US" altLang="en-US" sz="2800" b="1" dirty="0">
                <a:solidFill>
                  <a:schemeClr val="tx1"/>
                </a:solidFill>
              </a:rPr>
              <a:t>DataFrame.orderBy(*cols) → DataFrame (alias)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cols are one or more Columns to sort by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Column.asc() – Sort a Column in ascending order (default)</a:t>
            </a:r>
          </a:p>
          <a:p>
            <a:pPr algn="ctr"/>
            <a:r>
              <a:rPr lang="en-US" sz="2800" dirty="0">
                <a:solidFill>
                  <a:schemeClr val="bg2"/>
                </a:solidFill>
              </a:rPr>
              <a:t>Column.desc() – Sort a Column in descending order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65197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Sorting One Column – sort()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Sort the column ‘mpg’ ascending (default)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6004291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3649234" y="4022760"/>
            <a:ext cx="78764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targetDF = srcDF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.sort(col('mpg'))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8D0C9-55CC-6313-77E8-40BBEE00C194}"/>
              </a:ext>
            </a:extLst>
          </p:cNvPr>
          <p:cNvSpPr txBox="1"/>
          <p:nvPr/>
        </p:nvSpPr>
        <p:spPr>
          <a:xfrm>
            <a:off x="1151304" y="6021933"/>
            <a:ext cx="58626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9A0F25-241A-06FA-B9AF-9E85691121BF}"/>
              </a:ext>
            </a:extLst>
          </p:cNvPr>
          <p:cNvSpPr txBox="1"/>
          <p:nvPr/>
        </p:nvSpPr>
        <p:spPr>
          <a:xfrm>
            <a:off x="7013941" y="6021933"/>
            <a:ext cx="637698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85.0|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      49.0|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      74.0|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      61.0|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      67.0|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      48.0|vw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1787422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Sorting Multiple Columns – sort()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Sort by the columns ‘modelyear’ and then ‘engine-name’, both ascending (default)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7258050" y="499061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3122639" y="4069720"/>
            <a:ext cx="113163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targetDF = srcDF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.sort(col('modelyear'), col('engine-name'))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8469C0-AFB0-08A5-E843-D35032D700B1}"/>
              </a:ext>
            </a:extLst>
          </p:cNvPr>
          <p:cNvSpPr txBox="1"/>
          <p:nvPr/>
        </p:nvSpPr>
        <p:spPr>
          <a:xfrm>
            <a:off x="616226" y="6181873"/>
            <a:ext cx="744378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+----+---------+--------------------+-----------+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mpg|modelyear|             carname|engine-name|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+----+---------+--------------------+-----------+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  73|            fiat 128|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  74|          datsun 710|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  80|vw rabbit c (diesel)|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  81|           mazda 626|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  80| audi 5000s (diesel)|         v5|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  79|    mercury zephyr 6|         v6|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     NULL|                NULL|         v8|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+----+---------+--------------------+-----------+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A21A87-23CC-B453-54BD-4A8B2A0B2951}"/>
              </a:ext>
            </a:extLst>
          </p:cNvPr>
          <p:cNvSpPr txBox="1"/>
          <p:nvPr/>
        </p:nvSpPr>
        <p:spPr>
          <a:xfrm>
            <a:off x="8183842" y="6212413"/>
            <a:ext cx="744378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+----+---------+--------------------+-----------+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mpg|modelyear|             carname|engine-name|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+----+---------+--------------------+-----------+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     NULL|                NULL|         v8|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  73|            fiat 128|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  74|          datsun 710|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  79|    mercury zephyr 6|         v6|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  80|vw rabbit c (diesel)|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  80| audi 5000s (diesel)|         v5|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  81|           mazda 626|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+----+---------+--------------------+-----------+</a:t>
            </a:r>
          </a:p>
        </p:txBody>
      </p:sp>
    </p:spTree>
    <p:extLst>
      <p:ext uri="{BB962C8B-B14F-4D97-AF65-F5344CB8AC3E}">
        <p14:creationId xmlns:p14="http://schemas.microsoft.com/office/powerpoint/2010/main" val="3873586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Sorting Multiple Columns – sort(), asc(), desc()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Sort by the columns ‘modelyear’ ascending and then ‘engine-name’ descending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7258050" y="499061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2193497" y="4021037"/>
            <a:ext cx="134801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targetDF = srcDF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.sort(col('modelyear’).asc(), col('engine-name’).desc())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8469C0-AFB0-08A5-E843-D35032D700B1}"/>
              </a:ext>
            </a:extLst>
          </p:cNvPr>
          <p:cNvSpPr txBox="1"/>
          <p:nvPr/>
        </p:nvSpPr>
        <p:spPr>
          <a:xfrm>
            <a:off x="616226" y="6181873"/>
            <a:ext cx="744378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+----+---------+--------------------+-----------+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mpg|modelyear|             carname|engine-name|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+----+---------+--------------------+-----------+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  73|            fiat 128|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  74|          datsun 710|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  80|vw rabbit c (diesel)|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  81|           mazda 626|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  80| audi 5000s (diesel)|         v5|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  79|    mercury zephyr 6|         v6|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     NULL|                NULL|         v8|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+----+---------+--------------------+-----------+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3533C-AEE0-A1C4-2CA1-3462D1C3F78F}"/>
              </a:ext>
            </a:extLst>
          </p:cNvPr>
          <p:cNvSpPr txBox="1"/>
          <p:nvPr/>
        </p:nvSpPr>
        <p:spPr>
          <a:xfrm>
            <a:off x="8291513" y="6181873"/>
            <a:ext cx="744378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+----+---------+--------------------+-----------+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mpg|modelyear|             carname|engine-name|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+----+---------+--------------------+-----------+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     NULL|                NULL|         v8|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  73|            fiat 128|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  74|          datsun 710|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  79|    mercury zephyr 6|         v6|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  80| audi 5000s (diesel)|         v5|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  80|vw rabbit c (diesel)|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  81|           mazda 626|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+----+---------+--------------------+-----------+</a:t>
            </a:r>
          </a:p>
        </p:txBody>
      </p:sp>
    </p:spTree>
    <p:extLst>
      <p:ext uri="{BB962C8B-B14F-4D97-AF65-F5344CB8AC3E}">
        <p14:creationId xmlns:p14="http://schemas.microsoft.com/office/powerpoint/2010/main" val="698599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Returns a target DataFrame with (at most) the number of source DataFrame rows indicated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DataFrame.limit(num)→ DataFrame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num is the number of rows to include in the target DataFrame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This is useful to check a large DataFrame to determine if a transformation has produced </a:t>
            </a:r>
            <a:r>
              <a:rPr lang="en-US" sz="2800">
                <a:solidFill>
                  <a:schemeClr val="bg2"/>
                </a:solidFill>
              </a:rPr>
              <a:t>the expected </a:t>
            </a:r>
            <a:r>
              <a:rPr lang="en-US" sz="2800" dirty="0">
                <a:solidFill>
                  <a:schemeClr val="bg2"/>
                </a:solidFill>
              </a:rPr>
              <a:t>result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29555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Limit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Create a target DataFrame holding at most four rows of the source DataFrame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6185834" y="5066862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5050133" y="4598276"/>
            <a:ext cx="5553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targetDF = srcDF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.limit(4)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EDE013-8992-F267-5219-C97AF22F0AA2}"/>
              </a:ext>
            </a:extLst>
          </p:cNvPr>
          <p:cNvSpPr txBox="1"/>
          <p:nvPr/>
        </p:nvSpPr>
        <p:spPr>
          <a:xfrm>
            <a:off x="1098550" y="6207930"/>
            <a:ext cx="555363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|21.5|       110|          mazda rx-4|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|43.1|        48|vw rabbit custom ...|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66|         ford fiesta|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  52|    mazda glc deluxe|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|39.4|        70|      datsun b210 gx|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60|    honda civic cvcc|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AA948F-F1F7-1109-EE7C-2D3380B40120}"/>
              </a:ext>
            </a:extLst>
          </p:cNvPr>
          <p:cNvSpPr txBox="1"/>
          <p:nvPr/>
        </p:nvSpPr>
        <p:spPr>
          <a:xfrm>
            <a:off x="7014882" y="6207930"/>
            <a:ext cx="57687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|21.5|       110|          mazda rx-4|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|43.1|        48|vw rabbit custom ...|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66|         ford fiesta|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  52|    mazda glc deluxe|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04017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F31605-6079-4C3D-8DCA-D4AFF54D8E4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86854</TotalTime>
  <Words>3189</Words>
  <Application>Microsoft Office PowerPoint</Application>
  <PresentationFormat>Custom</PresentationFormat>
  <Paragraphs>383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Menlo</vt:lpstr>
      <vt:lpstr>Wingdings 2</vt:lpstr>
      <vt:lpstr>Breeze</vt:lpstr>
      <vt:lpstr>Module 5: Lesson 1  Transformations – Rows</vt:lpstr>
      <vt:lpstr>Select</vt:lpstr>
      <vt:lpstr>Select Single or Multiple Columns</vt:lpstr>
      <vt:lpstr>Select Single or Multiple Columns</vt:lpstr>
      <vt:lpstr>Select All Columns</vt:lpstr>
      <vt:lpstr>Sample</vt:lpstr>
      <vt:lpstr>Sample Without Replacement</vt:lpstr>
      <vt:lpstr>Use Select to Include a New Column</vt:lpstr>
      <vt:lpstr>Use Select to Include a New Column</vt:lpstr>
      <vt:lpstr>Filter</vt:lpstr>
      <vt:lpstr>Filter Using a Comparison Operator</vt:lpstr>
      <vt:lpstr>Filter Using a Boolean Valued Column Function</vt:lpstr>
      <vt:lpstr>Filter Using a Boolean Valued Column Function</vt:lpstr>
      <vt:lpstr>Filter Using Multiple Conditions</vt:lpstr>
      <vt:lpstr>Filter Using Multiple Conditions</vt:lpstr>
      <vt:lpstr>Sorting</vt:lpstr>
      <vt:lpstr>Sorting One Column – sort()</vt:lpstr>
      <vt:lpstr>Sorting Multiple Columns – sort()</vt:lpstr>
      <vt:lpstr>Sorting Multiple Columns – sort(), asc(), desc()</vt:lpstr>
      <vt:lpstr>Limit</vt:lpstr>
      <vt:lpstr>Limit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Joseph Rosen</cp:lastModifiedBy>
  <cp:revision>285</cp:revision>
  <cp:lastPrinted>2024-01-03T15:49:50Z</cp:lastPrinted>
  <dcterms:created xsi:type="dcterms:W3CDTF">2019-02-13T16:04:21Z</dcterms:created>
  <dcterms:modified xsi:type="dcterms:W3CDTF">2024-06-23T13:56:47Z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43A215DA-29B1-4374-A937-B5BD6248598B</vt:lpwstr>
  </property>
  <property fmtid="{D5CDD505-2E9C-101B-9397-08002B2CF9AE}" pid="4" name="ArticulatePath">
    <vt:lpwstr>Module 5 01042024</vt:lpwstr>
  </property>
</Properties>
</file>