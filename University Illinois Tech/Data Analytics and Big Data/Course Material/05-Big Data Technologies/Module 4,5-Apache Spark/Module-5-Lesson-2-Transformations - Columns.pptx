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4"/>
  </p:sldMasterIdLst>
  <p:notesMasterIdLst>
    <p:notesMasterId r:id="rId22"/>
  </p:notesMasterIdLst>
  <p:sldIdLst>
    <p:sldId id="939" r:id="rId5"/>
    <p:sldId id="968" r:id="rId6"/>
    <p:sldId id="806" r:id="rId7"/>
    <p:sldId id="804" r:id="rId8"/>
    <p:sldId id="807" r:id="rId9"/>
    <p:sldId id="808" r:id="rId10"/>
    <p:sldId id="810" r:id="rId11"/>
    <p:sldId id="812" r:id="rId12"/>
    <p:sldId id="813" r:id="rId13"/>
    <p:sldId id="814" r:id="rId14"/>
    <p:sldId id="815" r:id="rId15"/>
    <p:sldId id="816" r:id="rId16"/>
    <p:sldId id="817" r:id="rId17"/>
    <p:sldId id="818" r:id="rId18"/>
    <p:sldId id="819" r:id="rId19"/>
    <p:sldId id="820" r:id="rId20"/>
    <p:sldId id="821" r:id="rId21"/>
  </p:sldIdLst>
  <p:sldSz cx="18288000" cy="10287000"/>
  <p:notesSz cx="9144000" cy="6858000"/>
  <p:custDataLst>
    <p:tags r:id="rId23"/>
  </p:custDataLst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ABABA"/>
    <a:srgbClr val="0070C0"/>
    <a:srgbClr val="959595"/>
    <a:srgbClr val="E98D0A"/>
    <a:srgbClr val="969696"/>
    <a:srgbClr val="3F4F6C"/>
    <a:srgbClr val="C50724"/>
    <a:srgbClr val="7C7C7C"/>
    <a:srgbClr val="DFDFDF"/>
    <a:srgbClr val="FFA8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19"/>
    <p:restoredTop sz="91693"/>
  </p:normalViewPr>
  <p:slideViewPr>
    <p:cSldViewPr snapToGrid="0" snapToObjects="1">
      <p:cViewPr varScale="1">
        <p:scale>
          <a:sx n="30" d="100"/>
          <a:sy n="30" d="100"/>
        </p:scale>
        <p:origin x="53" y="974"/>
      </p:cViewPr>
      <p:guideLst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gs" Target="tags/tag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D919ED-7EBC-0349-92FD-49744747E976}" type="datetimeFigureOut">
              <a:rPr lang="en-US" smtClean="0"/>
              <a:t>6/16/2024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71147B-6250-B74A-893B-83F308D48E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14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A486D6-E442-077A-EEB3-88D208F2FC4C}"/>
              </a:ext>
            </a:extLst>
          </p:cNvPr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748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2593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6114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CA1B2D-91A0-C5A0-A577-CB1060733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FD5A-47F3-7A42-9DEC-F1C89DC0E539}" type="datetimeFigureOut">
              <a:rPr lang="en-US" smtClean="0"/>
              <a:t>6/16/2024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5DCA34-8EAF-2F4C-A973-971DE3FA7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64203A-6871-B7A0-6812-ECB7856C8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3CBA9-CC61-CC46-91C3-2044A25EBE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670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482098A7-74DB-47EC-8637-CFD1F5FF8EA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30E7C49-5D51-22BD-9218-005012D508B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>
            <a:extLst>
              <a:ext uri="{FF2B5EF4-FFF2-40B4-BE49-F238E27FC236}">
                <a16:creationId xmlns:a16="http://schemas.microsoft.com/office/drawing/2014/main" id="{42D74730-BBC2-6B47-9AEF-9E8FDE440A0D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4" r:id="rId2"/>
    <p:sldLayoutId id="2147483675" r:id="rId3"/>
    <p:sldLayoutId id="2147483677" r:id="rId4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ＭＳ Ｐゴシック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itchFamily="2" charset="2"/>
        <a:buChar char=""/>
        <a:defRPr sz="48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itchFamily="2" charset="2"/>
        <a:buChar char=""/>
        <a:defRPr sz="44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itchFamily="2" charset="2"/>
        <a:buChar char=""/>
        <a:defRPr sz="40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6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7124E-2AFD-8B0F-2A0E-4F4FC4AEE7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Module 5: Lesson 2 </a:t>
            </a:r>
            <a:br>
              <a:rPr lang="en-US" dirty="0"/>
            </a:br>
            <a:r>
              <a:rPr lang="en-US" sz="6000" dirty="0"/>
              <a:t>Transformations – Columns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7069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4BA2E-D9CC-2C39-CC88-C18088FAB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Modifying Columns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AFF48F-88D7-36EF-3D3C-89AD220846E7}"/>
              </a:ext>
            </a:extLst>
          </p:cNvPr>
          <p:cNvSpPr/>
          <p:nvPr/>
        </p:nvSpPr>
        <p:spPr>
          <a:xfrm>
            <a:off x="1232453" y="2446020"/>
            <a:ext cx="13716000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800" i="0" dirty="0">
                <a:solidFill>
                  <a:schemeClr val="bg2"/>
                </a:solidFill>
                <a:effectLst/>
              </a:rPr>
              <a:t>withColumn()</a:t>
            </a:r>
            <a:endParaRPr lang="en-US" sz="2800" dirty="0">
              <a:solidFill>
                <a:schemeClr val="bg2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D4DE36-52C0-CB95-BACC-337A00B1A90C}"/>
              </a:ext>
            </a:extLst>
          </p:cNvPr>
          <p:cNvSpPr/>
          <p:nvPr/>
        </p:nvSpPr>
        <p:spPr>
          <a:xfrm>
            <a:off x="1232453" y="3743325"/>
            <a:ext cx="13715999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800" dirty="0">
                <a:solidFill>
                  <a:schemeClr val="tx1"/>
                </a:solidFill>
              </a:rPr>
              <a:t>alias()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AAFCEC-8CFD-2586-37E2-FB68E05134D6}"/>
              </a:ext>
            </a:extLst>
          </p:cNvPr>
          <p:cNvSpPr/>
          <p:nvPr/>
        </p:nvSpPr>
        <p:spPr>
          <a:xfrm>
            <a:off x="1232453" y="5010150"/>
            <a:ext cx="13716000" cy="103822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800" dirty="0">
                <a:solidFill>
                  <a:schemeClr val="tx1"/>
                </a:solidFill>
              </a:rPr>
              <a:t>cast()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65C159-5C92-BCA3-41C6-866AA4775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446020"/>
            <a:ext cx="1232454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BC379E-337C-E555-73C1-C466E4248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743325"/>
            <a:ext cx="1232454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198E06-907F-EDB8-3165-65181847C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010150"/>
            <a:ext cx="1234440" cy="103822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800" dirty="0">
              <a:solidFill>
                <a:schemeClr val="bg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BFD7CE-AB6F-124F-FD61-7AB8ADFC99E3}"/>
              </a:ext>
            </a:extLst>
          </p:cNvPr>
          <p:cNvSpPr/>
          <p:nvPr/>
        </p:nvSpPr>
        <p:spPr>
          <a:xfrm>
            <a:off x="1232453" y="6249640"/>
            <a:ext cx="13716000" cy="103822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chemeClr val="bg2"/>
                </a:solidFill>
              </a:rPr>
              <a:t>withColumnRenamed()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145B75-5BEF-663B-2CA4-F20ABD4D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6249640"/>
            <a:ext cx="1234440" cy="103822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8781AD-82B3-30B5-7D07-45800FC20FCF}"/>
              </a:ext>
            </a:extLst>
          </p:cNvPr>
          <p:cNvSpPr/>
          <p:nvPr/>
        </p:nvSpPr>
        <p:spPr>
          <a:xfrm>
            <a:off x="1262933" y="7526655"/>
            <a:ext cx="13716000" cy="1038225"/>
          </a:xfrm>
          <a:prstGeom prst="rect">
            <a:avLst/>
          </a:prstGeom>
          <a:solidFill>
            <a:srgbClr val="1770C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2"/>
                </a:solidFill>
              </a:rPr>
              <a:t>drop()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AC3EB0-949C-4C3A-4E8D-AFEE364D83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79" y="7526655"/>
            <a:ext cx="1234440" cy="1038225"/>
          </a:xfrm>
          <a:prstGeom prst="rect">
            <a:avLst/>
          </a:prstGeom>
          <a:solidFill>
            <a:srgbClr val="1770C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28125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CE00B-641B-6E6B-DF50-29E50600D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Adding Columns – withColumn()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B5FF05-3BBD-F34F-04D1-0F17BA2EDFFC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i="0" dirty="0">
                <a:solidFill>
                  <a:schemeClr val="bg2"/>
                </a:solidFill>
                <a:effectLst/>
              </a:rPr>
              <a:t>Returns a new DataFrame by adding a column or replacing the existing column that has the same name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2B4A0B-34BE-006A-A84F-4AA0611488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033C3C-FE5F-D799-26F8-AC9542C0BC57}"/>
              </a:ext>
            </a:extLst>
          </p:cNvPr>
          <p:cNvSpPr/>
          <p:nvPr/>
        </p:nvSpPr>
        <p:spPr>
          <a:xfrm>
            <a:off x="1232453" y="3895725"/>
            <a:ext cx="13715999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800" b="1" dirty="0">
                <a:solidFill>
                  <a:schemeClr val="tx1"/>
                </a:solidFill>
              </a:rPr>
              <a:t>DataFrame.withColumn(colName, col) → DataFrame</a:t>
            </a:r>
            <a:endParaRPr lang="en-US" sz="2800" b="1" i="0" dirty="0">
              <a:solidFill>
                <a:schemeClr val="tx1"/>
              </a:solidFill>
              <a:effectLst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798D00-DDE7-96D8-4921-41A7CA89F9CE}"/>
              </a:ext>
            </a:extLst>
          </p:cNvPr>
          <p:cNvSpPr/>
          <p:nvPr/>
        </p:nvSpPr>
        <p:spPr>
          <a:xfrm>
            <a:off x="1232453" y="5467350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800" dirty="0">
                <a:solidFill>
                  <a:schemeClr val="tx1"/>
                </a:solidFill>
              </a:rPr>
              <a:t>colName is a string (name of the new column)</a:t>
            </a:r>
          </a:p>
          <a:p>
            <a:pPr algn="ctr"/>
            <a:r>
              <a:rPr lang="en-US" altLang="en-US" sz="2800" dirty="0">
                <a:solidFill>
                  <a:schemeClr val="tx1"/>
                </a:solidFill>
              </a:rPr>
              <a:t>col is a a Column expression for the new column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604D68-98C7-6DC2-8065-9C36C8AB21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895725"/>
            <a:ext cx="1232454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6B1649-319F-98C0-F2B6-79C8A807F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46735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800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483773-4F5B-1A6C-5A1A-3698F342B125}"/>
              </a:ext>
            </a:extLst>
          </p:cNvPr>
          <p:cNvSpPr/>
          <p:nvPr/>
        </p:nvSpPr>
        <p:spPr>
          <a:xfrm>
            <a:off x="1232453" y="7038975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800" dirty="0">
                <a:solidFill>
                  <a:schemeClr val="bg2"/>
                </a:solidFill>
              </a:rPr>
              <a:t>The column expression must be an expression over this DataFrame; attempting to add a column from some other DataFrame will raise an error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7EC223-7DB2-156E-0272-24609E5AD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704212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73366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9EE15-66E3-69A3-5D37-132F479E4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Adding Columns – withColumn()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8F6A-4FC8-6BFB-9CD7-ABD85C4B5D9C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i="0" dirty="0">
                <a:solidFill>
                  <a:schemeClr val="bg2"/>
                </a:solidFill>
                <a:effectLst/>
              </a:rPr>
              <a:t>Add a new calculated column (using values from another column)</a:t>
            </a:r>
            <a:endParaRPr lang="en-US" sz="2800" i="1" dirty="0">
              <a:solidFill>
                <a:schemeClr val="bg2"/>
              </a:solidFill>
              <a:effectLst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D98593-C879-21F2-8A02-5EBB8886B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7" name="Circular Arrow 6">
            <a:extLst>
              <a:ext uri="{FF2B5EF4-FFF2-40B4-BE49-F238E27FC236}">
                <a16:creationId xmlns:a16="http://schemas.microsoft.com/office/drawing/2014/main" id="{EC48AAB0-BCED-2F8B-FCBA-5D5CB9B35AB9}"/>
              </a:ext>
            </a:extLst>
          </p:cNvPr>
          <p:cNvSpPr/>
          <p:nvPr/>
        </p:nvSpPr>
        <p:spPr>
          <a:xfrm>
            <a:off x="6591300" y="4933464"/>
            <a:ext cx="1295400" cy="1943100"/>
          </a:xfrm>
          <a:prstGeom prst="circular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F3AF4B-47A4-7E7C-489B-06F72E196AB2}"/>
              </a:ext>
            </a:extLst>
          </p:cNvPr>
          <p:cNvSpPr txBox="1"/>
          <p:nvPr/>
        </p:nvSpPr>
        <p:spPr>
          <a:xfrm>
            <a:off x="2324100" y="4341422"/>
            <a:ext cx="98107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targetDF = srcDF</a:t>
            </a:r>
            <a:r>
              <a:rPr lang="en-US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.withColumn(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’mpg2’, </a:t>
            </a:r>
            <a:r>
              <a:rPr lang="en-US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col('mpg') + 1)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08D0C9-55CC-6313-77E8-40BBEE00C194}"/>
              </a:ext>
            </a:extLst>
          </p:cNvPr>
          <p:cNvSpPr txBox="1"/>
          <p:nvPr/>
        </p:nvSpPr>
        <p:spPr>
          <a:xfrm>
            <a:off x="938213" y="6028218"/>
            <a:ext cx="586263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mpg|horsepower|             carname|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|29.0|     49.00|            fiat 128|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|32.0|     61.00|          datsun 710|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|44.3|     48.00|vw rabbit c (diesel)|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|31.6|     74.00|           mazda 626|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|36.4|     67.00| audi 5000s (diesel)|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|19.8|     85.00|    mercury zephyr 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|NULL|      NULL|                NULL|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674A86-8A43-670F-5FC4-3BE6B4B1397C}"/>
              </a:ext>
            </a:extLst>
          </p:cNvPr>
          <p:cNvSpPr txBox="1"/>
          <p:nvPr/>
        </p:nvSpPr>
        <p:spPr>
          <a:xfrm>
            <a:off x="8285716" y="6039708"/>
            <a:ext cx="666273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mpg|horsepower|             carname|mpg2|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|29.0|      49.0|            fiat 128|30.0|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|32.0|      61.0|          datsun 710|33.0|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|44.3|      48.0|vw rabbit c (diesel)|45.3|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|31.6|      74.0|           mazda 626|32.6|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|36.4|      67.0| audi 5000s (diesel)|37.4|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|19.8|      85.0|    mercury zephyr 6|20.8|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|NULL|      NULL|                NULL|NULL|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+----+----------+--------------------+----+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0160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9EE15-66E3-69A3-5D37-132F479E4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Adding Columns – withColumn()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8F6A-4FC8-6BFB-9CD7-ABD85C4B5D9C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i="0" dirty="0">
                <a:solidFill>
                  <a:schemeClr val="bg2"/>
                </a:solidFill>
                <a:effectLst/>
              </a:rPr>
              <a:t>Add a new column holding a literal value</a:t>
            </a:r>
          </a:p>
          <a:p>
            <a:pPr marL="0" indent="0" algn="ctr">
              <a:buNone/>
            </a:pPr>
            <a:r>
              <a:rPr lang="en-US" sz="2800" b="1" i="1" dirty="0">
                <a:solidFill>
                  <a:schemeClr val="bg2"/>
                </a:solidFill>
                <a:effectLst/>
              </a:rPr>
              <a:t>pyspark.sql.functions.lit(col)</a:t>
            </a:r>
            <a:r>
              <a:rPr lang="en-US" altLang="en-US" sz="2800" b="1" dirty="0">
                <a:solidFill>
                  <a:schemeClr val="bg2"/>
                </a:solidFill>
              </a:rPr>
              <a:t> → Column </a:t>
            </a:r>
            <a:r>
              <a:rPr lang="en-US" altLang="en-US" sz="2800" dirty="0">
                <a:solidFill>
                  <a:schemeClr val="bg2"/>
                </a:solidFill>
              </a:rPr>
              <a:t>(Creates a Column of literal value)</a:t>
            </a:r>
            <a:endParaRPr lang="en-US" sz="2800" i="1" dirty="0">
              <a:solidFill>
                <a:schemeClr val="bg2"/>
              </a:solidFill>
              <a:effectLst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D98593-C879-21F2-8A02-5EBB8886B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7" name="Circular Arrow 6">
            <a:extLst>
              <a:ext uri="{FF2B5EF4-FFF2-40B4-BE49-F238E27FC236}">
                <a16:creationId xmlns:a16="http://schemas.microsoft.com/office/drawing/2014/main" id="{EC48AAB0-BCED-2F8B-FCBA-5D5CB9B35AB9}"/>
              </a:ext>
            </a:extLst>
          </p:cNvPr>
          <p:cNvSpPr/>
          <p:nvPr/>
        </p:nvSpPr>
        <p:spPr>
          <a:xfrm>
            <a:off x="6591300" y="4933464"/>
            <a:ext cx="1295400" cy="1943100"/>
          </a:xfrm>
          <a:prstGeom prst="circular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F3AF4B-47A4-7E7C-489B-06F72E196AB2}"/>
              </a:ext>
            </a:extLst>
          </p:cNvPr>
          <p:cNvSpPr txBox="1"/>
          <p:nvPr/>
        </p:nvSpPr>
        <p:spPr>
          <a:xfrm>
            <a:off x="3140869" y="4130678"/>
            <a:ext cx="82867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from pyspark.sql.functions import col, lit</a:t>
            </a:r>
          </a:p>
          <a:p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targetDF = srcDF</a:t>
            </a:r>
            <a:r>
              <a:rPr lang="en-US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.withColumn('one', lit(1.0))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08D0C9-55CC-6313-77E8-40BBEE00C194}"/>
              </a:ext>
            </a:extLst>
          </p:cNvPr>
          <p:cNvSpPr txBox="1"/>
          <p:nvPr/>
        </p:nvSpPr>
        <p:spPr>
          <a:xfrm>
            <a:off x="938213" y="6028218"/>
            <a:ext cx="586263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mpg|horsepower|             carname|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|29.0|     49.00|            fiat 128|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|32.0|     61.00|          datsun 710|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|44.3|     48.00|vw rabbit c (diesel)|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|31.6|     74.00|           mazda 626|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|36.4|     67.00| audi 5000s (diesel)|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|19.8|     85.00|    mercury zephyr 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|NULL|      NULL|                NULL|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C157A6-A4D6-50C1-6015-2BA0F1A0B441}"/>
              </a:ext>
            </a:extLst>
          </p:cNvPr>
          <p:cNvSpPr txBox="1"/>
          <p:nvPr/>
        </p:nvSpPr>
        <p:spPr>
          <a:xfrm>
            <a:off x="7886700" y="6028218"/>
            <a:ext cx="692943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mpg|horsepower|             carname|one|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|29.0|      49.0|            fiat 128|1.0|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|32.0|      61.0|          datsun 710|1.0|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|44.3|      48.0|vw rabbit c (diesel)|1.0|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|31.6|      74.0|           mazda 626|1.0|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|36.4|      67.0| audi 5000s (diesel)|1.0|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|19.8|      85.0|    mercury zephyr 6|1.0|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|NULL|      NULL|                NULL|1.0|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+----+----------+--------------------+---+</a:t>
            </a:r>
          </a:p>
        </p:txBody>
      </p:sp>
    </p:spTree>
    <p:extLst>
      <p:ext uri="{BB962C8B-B14F-4D97-AF65-F5344CB8AC3E}">
        <p14:creationId xmlns:p14="http://schemas.microsoft.com/office/powerpoint/2010/main" val="2185779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9EE15-66E3-69A3-5D37-132F479E4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Adding Columns – select()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8F6A-4FC8-6BFB-9CD7-ABD85C4B5D9C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bg2"/>
                </a:solidFill>
              </a:rPr>
              <a:t>Y</a:t>
            </a:r>
            <a:r>
              <a:rPr lang="en-US" sz="2800" i="0" dirty="0">
                <a:solidFill>
                  <a:schemeClr val="bg2"/>
                </a:solidFill>
                <a:effectLst/>
              </a:rPr>
              <a:t>ou can also add one </a:t>
            </a:r>
            <a:r>
              <a:rPr lang="en-US" sz="2800" i="0" u="sng" dirty="0">
                <a:solidFill>
                  <a:schemeClr val="bg2"/>
                </a:solidFill>
                <a:effectLst/>
              </a:rPr>
              <a:t>or more</a:t>
            </a:r>
            <a:r>
              <a:rPr lang="en-US" sz="2800" i="0" dirty="0">
                <a:solidFill>
                  <a:schemeClr val="bg2"/>
                </a:solidFill>
                <a:effectLst/>
              </a:rPr>
              <a:t> columns using select()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D98593-C879-21F2-8A02-5EBB8886B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7" name="Circular Arrow 6">
            <a:extLst>
              <a:ext uri="{FF2B5EF4-FFF2-40B4-BE49-F238E27FC236}">
                <a16:creationId xmlns:a16="http://schemas.microsoft.com/office/drawing/2014/main" id="{EC48AAB0-BCED-2F8B-FCBA-5D5CB9B35AB9}"/>
              </a:ext>
            </a:extLst>
          </p:cNvPr>
          <p:cNvSpPr/>
          <p:nvPr/>
        </p:nvSpPr>
        <p:spPr>
          <a:xfrm>
            <a:off x="6591300" y="4933464"/>
            <a:ext cx="1295400" cy="1943100"/>
          </a:xfrm>
          <a:prstGeom prst="circular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F3AF4B-47A4-7E7C-489B-06F72E196AB2}"/>
              </a:ext>
            </a:extLst>
          </p:cNvPr>
          <p:cNvSpPr txBox="1"/>
          <p:nvPr/>
        </p:nvSpPr>
        <p:spPr>
          <a:xfrm>
            <a:off x="2347913" y="4104168"/>
            <a:ext cx="982503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from pyspark.sql.functions import col, alias</a:t>
            </a:r>
          </a:p>
          <a:p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targetDF = srcDF.select(col('*'), (col('mpg') + 2))</a:t>
            </a:r>
            <a:endParaRPr lang="en-US" sz="2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08D0C9-55CC-6313-77E8-40BBEE00C194}"/>
              </a:ext>
            </a:extLst>
          </p:cNvPr>
          <p:cNvSpPr txBox="1"/>
          <p:nvPr/>
        </p:nvSpPr>
        <p:spPr>
          <a:xfrm>
            <a:off x="938213" y="6028218"/>
            <a:ext cx="586263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mpg|horsepower|             carname|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|29.0|     49.00|            fiat 128|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|32.0|     61.00|          datsun 710|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|44.3|     48.00|vw rabbit c (diesel)|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|31.6|     74.00|           mazda 626|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|36.4|     67.00| audi 5000s (diesel)|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|19.8|     85.00|    mercury zephyr 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|NULL|      NULL|                NULL|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344C62-244F-21C3-240C-06D8053155EA}"/>
              </a:ext>
            </a:extLst>
          </p:cNvPr>
          <p:cNvSpPr txBox="1"/>
          <p:nvPr/>
        </p:nvSpPr>
        <p:spPr>
          <a:xfrm>
            <a:off x="7886700" y="6028217"/>
            <a:ext cx="692943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mpg|horsepower|             carname|(mpg + 2)|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|29.0|      49.0|            fiat 128|     31.0|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|32.0|      61.0|          datsun 710|     34.0|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|44.3|      48.0|vw rabbit c (diesel)|     46.3|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|31.6|      74.0|           mazda 626|     33.6|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|36.4|      67.0| audi 5000s (diesel)|     38.4|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|19.8|      85.0|    mercury zephyr 6|     21.8|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|NULL|      NULL|                NULL|     NULL|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+----+----------+--------------------+---------+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82930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9EE15-66E3-69A3-5D37-132F479E4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Modifying Columns – withColumn()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8F6A-4FC8-6BFB-9CD7-ABD85C4B5D9C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bg2"/>
                </a:solidFill>
              </a:rPr>
              <a:t>withColumn() returns a new DataFrame by adding a column </a:t>
            </a:r>
            <a:r>
              <a:rPr lang="en-US" sz="2800" u="sng" dirty="0">
                <a:solidFill>
                  <a:schemeClr val="bg2"/>
                </a:solidFill>
              </a:rPr>
              <a:t>or replacing the existing column that has the same name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D98593-C879-21F2-8A02-5EBB8886B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7" name="Circular Arrow 6">
            <a:extLst>
              <a:ext uri="{FF2B5EF4-FFF2-40B4-BE49-F238E27FC236}">
                <a16:creationId xmlns:a16="http://schemas.microsoft.com/office/drawing/2014/main" id="{EC48AAB0-BCED-2F8B-FCBA-5D5CB9B35AB9}"/>
              </a:ext>
            </a:extLst>
          </p:cNvPr>
          <p:cNvSpPr/>
          <p:nvPr/>
        </p:nvSpPr>
        <p:spPr>
          <a:xfrm>
            <a:off x="6591300" y="4933464"/>
            <a:ext cx="1295400" cy="1943100"/>
          </a:xfrm>
          <a:prstGeom prst="circular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F3AF4B-47A4-7E7C-489B-06F72E196AB2}"/>
              </a:ext>
            </a:extLst>
          </p:cNvPr>
          <p:cNvSpPr txBox="1"/>
          <p:nvPr/>
        </p:nvSpPr>
        <p:spPr>
          <a:xfrm>
            <a:off x="2347913" y="4104168"/>
            <a:ext cx="982503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from pyspark.sql.functions import col</a:t>
            </a:r>
          </a:p>
          <a:p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targetDF = srcDF.withColumn('mpg', col('mpg') / 2)</a:t>
            </a:r>
            <a:endParaRPr lang="en-US" sz="2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08D0C9-55CC-6313-77E8-40BBEE00C194}"/>
              </a:ext>
            </a:extLst>
          </p:cNvPr>
          <p:cNvSpPr txBox="1"/>
          <p:nvPr/>
        </p:nvSpPr>
        <p:spPr>
          <a:xfrm>
            <a:off x="938213" y="6028218"/>
            <a:ext cx="586263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mpg|horsepower|             carname|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|29.0|     49.00|            fiat 128|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|32.0|     61.00|          datsun 710|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|44.3|     48.00|vw rabbit c (diesel)|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|31.6|     74.00|           mazda 626|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|36.4|     67.00| audi 5000s (diesel)|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|19.8|     85.00|    mercury zephyr 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|NULL|      NULL|                NULL|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CD906F-B621-3CCB-CA35-63B959779158}"/>
              </a:ext>
            </a:extLst>
          </p:cNvPr>
          <p:cNvSpPr txBox="1"/>
          <p:nvPr/>
        </p:nvSpPr>
        <p:spPr>
          <a:xfrm>
            <a:off x="8058149" y="6028217"/>
            <a:ext cx="586263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+-----+----------+--------------------+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mpg|horsepower|             carname|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+-----+----------+--------------------+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14.5|      49.0|            fiat 128|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16.0|      61.0|          datsun 710|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|22.15|      48.0|vw rabbit c (diesel)|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15.8|      74.0|           mazda 626|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18.2|      67.0| audi 5000s (diesel)|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9.9|      85.0|    mercury zephyr 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NULL|      NULL|                NULL|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+-----+----------+--------------------+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67392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9EE15-66E3-69A3-5D37-132F479E4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Modifying Columns – when(), otherwise()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8F6A-4FC8-6BFB-9CD7-ABD85C4B5D9C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bg2"/>
                </a:solidFill>
              </a:rPr>
              <a:t>when() is a function that returns a Column type and otherwise() is a function of Column, if otherwise() is not used, it returns a None/NULL value.</a:t>
            </a:r>
            <a:endParaRPr lang="en-US" sz="2800" u="sng" dirty="0">
              <a:solidFill>
                <a:schemeClr val="bg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D98593-C879-21F2-8A02-5EBB8886B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7" name="Circular Arrow 6">
            <a:extLst>
              <a:ext uri="{FF2B5EF4-FFF2-40B4-BE49-F238E27FC236}">
                <a16:creationId xmlns:a16="http://schemas.microsoft.com/office/drawing/2014/main" id="{EC48AAB0-BCED-2F8B-FCBA-5D5CB9B35AB9}"/>
              </a:ext>
            </a:extLst>
          </p:cNvPr>
          <p:cNvSpPr/>
          <p:nvPr/>
        </p:nvSpPr>
        <p:spPr>
          <a:xfrm>
            <a:off x="6591300" y="4933464"/>
            <a:ext cx="1295400" cy="1943100"/>
          </a:xfrm>
          <a:prstGeom prst="circular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F3AF4B-47A4-7E7C-489B-06F72E196AB2}"/>
              </a:ext>
            </a:extLst>
          </p:cNvPr>
          <p:cNvSpPr txBox="1"/>
          <p:nvPr/>
        </p:nvSpPr>
        <p:spPr>
          <a:xfrm>
            <a:off x="1232453" y="4052032"/>
            <a:ext cx="1529238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from pyspark.sql.functions import col, when</a:t>
            </a:r>
          </a:p>
          <a:p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targetDF = srcDF.withColumn('mpg', when(col('mpg') &lt; 35.0, 35.0).otherwise(40.0))</a:t>
            </a:r>
            <a:endParaRPr lang="en-US" sz="2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08D0C9-55CC-6313-77E8-40BBEE00C194}"/>
              </a:ext>
            </a:extLst>
          </p:cNvPr>
          <p:cNvSpPr txBox="1"/>
          <p:nvPr/>
        </p:nvSpPr>
        <p:spPr>
          <a:xfrm>
            <a:off x="938213" y="6028218"/>
            <a:ext cx="586263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mpg|horsepower|             carname|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|29.0|     49.00|            fiat 128|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|32.0|     61.00|          datsun 710|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|44.3|     48.00|vw rabbit c (diesel)|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|31.6|     74.00|           mazda 626|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|36.4|     67.00| audi 5000s (diesel)|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|19.8|     85.00|    mercury zephyr 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|NULL|      NULL|                NULL|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398ED7-F218-FA0D-5867-B6543DA93C41}"/>
              </a:ext>
            </a:extLst>
          </p:cNvPr>
          <p:cNvSpPr txBox="1"/>
          <p:nvPr/>
        </p:nvSpPr>
        <p:spPr>
          <a:xfrm>
            <a:off x="7696198" y="6047268"/>
            <a:ext cx="584358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mpg|horsepower|             carname|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|35.0|      49.0|            fiat 128|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|35.0|      61.0|          datsun 710|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|40.0|      48.0|vw rabbit c (diesel)|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|35.0|      74.0|           mazda 626|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|40.0|      67.0| audi 5000s (diesel)|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|35.0|      85.0|    mercury zephyr 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|40.0|      NULL|                NULL|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85643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9EE15-66E3-69A3-5D37-132F479E4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Other Uses – when(), otherwise()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8F6A-4FC8-6BFB-9CD7-ABD85C4B5D9C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bg2"/>
                </a:solidFill>
              </a:rPr>
              <a:t>Create a new column using withColumn()</a:t>
            </a:r>
            <a:endParaRPr lang="en-US" sz="2800" u="sng" dirty="0">
              <a:solidFill>
                <a:schemeClr val="bg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D98593-C879-21F2-8A02-5EBB8886B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7" name="Circular Arrow 6">
            <a:extLst>
              <a:ext uri="{FF2B5EF4-FFF2-40B4-BE49-F238E27FC236}">
                <a16:creationId xmlns:a16="http://schemas.microsoft.com/office/drawing/2014/main" id="{EC48AAB0-BCED-2F8B-FCBA-5D5CB9B35AB9}"/>
              </a:ext>
            </a:extLst>
          </p:cNvPr>
          <p:cNvSpPr/>
          <p:nvPr/>
        </p:nvSpPr>
        <p:spPr>
          <a:xfrm>
            <a:off x="6591300" y="4933464"/>
            <a:ext cx="1295400" cy="1943100"/>
          </a:xfrm>
          <a:prstGeom prst="circular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F3AF4B-47A4-7E7C-489B-06F72E196AB2}"/>
              </a:ext>
            </a:extLst>
          </p:cNvPr>
          <p:cNvSpPr txBox="1"/>
          <p:nvPr/>
        </p:nvSpPr>
        <p:spPr>
          <a:xfrm>
            <a:off x="1232453" y="4052032"/>
            <a:ext cx="1595064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from pyspark.sql.functions import col, when</a:t>
            </a:r>
          </a:p>
          <a:p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targetDF = srcDF.withColumn('newmpg', when(col('mpg') &lt; 35.0, 35.0).otherwise(40.0))</a:t>
            </a:r>
          </a:p>
          <a:p>
            <a:endParaRPr lang="en-US" sz="2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08D0C9-55CC-6313-77E8-40BBEE00C194}"/>
              </a:ext>
            </a:extLst>
          </p:cNvPr>
          <p:cNvSpPr txBox="1"/>
          <p:nvPr/>
        </p:nvSpPr>
        <p:spPr>
          <a:xfrm>
            <a:off x="938213" y="6028218"/>
            <a:ext cx="586263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mpg|horsepower|             carname|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|29.0|     49.00|            fiat 128|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|32.0|     61.00|          datsun 710|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|44.3|     48.00|vw rabbit c (diesel)|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|31.6|     74.00|           mazda 626|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|36.4|     67.00| audi 5000s (diesel)|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|19.8|     85.00|    mercury zephyr 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|NULL|      NULL|                NULL|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D6C98B-4AB2-03C2-540A-764B6E7B0A04}"/>
              </a:ext>
            </a:extLst>
          </p:cNvPr>
          <p:cNvSpPr txBox="1"/>
          <p:nvPr/>
        </p:nvSpPr>
        <p:spPr>
          <a:xfrm>
            <a:off x="7886700" y="6077808"/>
            <a:ext cx="656748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mpg|horsepower|             carname|newmpg|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|29.0|      49.0|            fiat 128|  35.0|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|32.0|      61.0|          datsun 710|  35.0|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|44.3|      48.0|vw rabbit c (diesel)|  40.0|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|31.6|      74.0|           mazda 626|  35.0|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|36.4|      67.0| audi 5000s (diesel)|  40.0|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|19.8|      85.0|    mercury zephyr 6|  35.0|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|NULL|      NULL|                NULL|  40.0|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+----+----------+--------------------+------+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88143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9EE15-66E3-69A3-5D37-132F479E4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Other Uses – when(), otherwise()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8F6A-4FC8-6BFB-9CD7-ABD85C4B5D9C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bg2"/>
                </a:solidFill>
              </a:rPr>
              <a:t>Create a new column using select()</a:t>
            </a:r>
            <a:endParaRPr lang="en-US" sz="2800" u="sng" dirty="0">
              <a:solidFill>
                <a:schemeClr val="bg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D98593-C879-21F2-8A02-5EBB8886B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7" name="Circular Arrow 6">
            <a:extLst>
              <a:ext uri="{FF2B5EF4-FFF2-40B4-BE49-F238E27FC236}">
                <a16:creationId xmlns:a16="http://schemas.microsoft.com/office/drawing/2014/main" id="{EC48AAB0-BCED-2F8B-FCBA-5D5CB9B35AB9}"/>
              </a:ext>
            </a:extLst>
          </p:cNvPr>
          <p:cNvSpPr/>
          <p:nvPr/>
        </p:nvSpPr>
        <p:spPr>
          <a:xfrm>
            <a:off x="5238750" y="4933464"/>
            <a:ext cx="1295400" cy="1943100"/>
          </a:xfrm>
          <a:prstGeom prst="circular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F3AF4B-47A4-7E7C-489B-06F72E196AB2}"/>
              </a:ext>
            </a:extLst>
          </p:cNvPr>
          <p:cNvSpPr txBox="1"/>
          <p:nvPr/>
        </p:nvSpPr>
        <p:spPr>
          <a:xfrm>
            <a:off x="1232453" y="4052032"/>
            <a:ext cx="1595064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from pyspark.sql.functions import col, when</a:t>
            </a:r>
          </a:p>
          <a:p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targetDF = srcDF.select(col('*'), when(col('mpg') &lt; 35.0, 35.0).otherwise(40.0))</a:t>
            </a:r>
          </a:p>
          <a:p>
            <a:endParaRPr lang="en-US" sz="2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08D0C9-55CC-6313-77E8-40BBEE00C194}"/>
              </a:ext>
            </a:extLst>
          </p:cNvPr>
          <p:cNvSpPr txBox="1"/>
          <p:nvPr/>
        </p:nvSpPr>
        <p:spPr>
          <a:xfrm>
            <a:off x="385763" y="6021933"/>
            <a:ext cx="586263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mpg|horsepower|             carname|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|29.0|     49.00|            fiat 128|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|32.0|     61.00|          datsun 710|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|44.3|     48.00|vw rabbit c (diesel)|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|31.6|     74.00|           mazda 626|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|36.4|     67.00| audi 5000s (diesel)|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|19.8|     85.00|    mercury zephyr 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|NULL|      NULL|                NULL|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B9550F-E23D-FAF5-EC43-780DA7159B84}"/>
              </a:ext>
            </a:extLst>
          </p:cNvPr>
          <p:cNvSpPr txBox="1"/>
          <p:nvPr/>
        </p:nvSpPr>
        <p:spPr>
          <a:xfrm>
            <a:off x="5862970" y="6055296"/>
            <a:ext cx="1266245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+----+----------+--------------------+----------------------------------------------+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mpg|horsepower|             carname|CASE WHEN (mpg &lt; 35.0) THEN 35.0 ELSE 40.0 END|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+----+----------+--------------------+----------------------------------------------+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|29.0|      49.0|            fiat 128|                                          35.0|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|32.0|      61.0|          datsun 710|                                          35.0|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|44.3|      48.0|vw rabbit c (diesel)|                                          40.0|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|31.6|      74.0|           mazda 626|                                          35.0|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|36.4|      67.0| audi 5000s (diesel)|                                          40.0|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|19.8|      85.0|    mercury zephyr 6|                                          35.0|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|NULL|      NULL|                NULL|                                          40.0|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+----+----------+--------------------+----------------------------------------------+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534783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CE00B-641B-6E6B-DF50-29E50600D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Modifying Columns – alias(), cast()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B5FF05-3BBD-F34F-04D1-0F17BA2EDFFC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b="1" i="0" dirty="0">
                <a:solidFill>
                  <a:schemeClr val="bg2"/>
                </a:solidFill>
                <a:effectLst/>
              </a:rPr>
              <a:t>Column.alias(alias)</a:t>
            </a:r>
            <a:r>
              <a:rPr lang="en-US" altLang="en-US" sz="2800" b="1" dirty="0">
                <a:solidFill>
                  <a:schemeClr val="bg2"/>
                </a:solidFill>
              </a:rPr>
              <a:t> → Column</a:t>
            </a:r>
          </a:p>
          <a:p>
            <a:pPr marL="0" indent="0" algn="ctr">
              <a:buNone/>
            </a:pPr>
            <a:r>
              <a:rPr lang="en-US" sz="2400" i="0" dirty="0">
                <a:solidFill>
                  <a:schemeClr val="bg2"/>
                </a:solidFill>
                <a:effectLst/>
              </a:rPr>
              <a:t>Returns this column aliased with a new name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2B4A0B-34BE-006A-A84F-4AA0611488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033C3C-FE5F-D799-26F8-AC9542C0BC57}"/>
              </a:ext>
            </a:extLst>
          </p:cNvPr>
          <p:cNvSpPr/>
          <p:nvPr/>
        </p:nvSpPr>
        <p:spPr>
          <a:xfrm>
            <a:off x="1232453" y="3895725"/>
            <a:ext cx="13715999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tx1"/>
                </a:solidFill>
              </a:rPr>
              <a:t>alias is a string with the new column name</a:t>
            </a:r>
            <a:endParaRPr lang="en-US" sz="2800" i="0" dirty="0">
              <a:solidFill>
                <a:schemeClr val="tx1"/>
              </a:solidFill>
              <a:effectLst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798D00-DDE7-96D8-4921-41A7CA89F9CE}"/>
              </a:ext>
            </a:extLst>
          </p:cNvPr>
          <p:cNvSpPr/>
          <p:nvPr/>
        </p:nvSpPr>
        <p:spPr>
          <a:xfrm>
            <a:off x="1232453" y="5467350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b="1" i="0" dirty="0">
                <a:solidFill>
                  <a:schemeClr val="tx1"/>
                </a:solidFill>
                <a:effectLst/>
              </a:rPr>
              <a:t>Column.cast(dataType)</a:t>
            </a:r>
            <a:r>
              <a:rPr lang="en-US" altLang="en-US" sz="2800" b="1" dirty="0">
                <a:solidFill>
                  <a:schemeClr val="tx1"/>
                </a:solidFill>
              </a:rPr>
              <a:t>→ Column</a:t>
            </a:r>
          </a:p>
          <a:p>
            <a:pPr marL="0" indent="0" algn="ctr">
              <a:buNone/>
            </a:pPr>
            <a:r>
              <a:rPr lang="en-US" altLang="en-US" sz="2400" dirty="0">
                <a:solidFill>
                  <a:schemeClr val="tx1"/>
                </a:solidFill>
              </a:rPr>
              <a:t>Casts the column into type dataType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604D68-98C7-6DC2-8065-9C36C8AB21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895725"/>
            <a:ext cx="1232454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6B1649-319F-98C0-F2B6-79C8A807F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46735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800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483773-4F5B-1A6C-5A1A-3698F342B125}"/>
              </a:ext>
            </a:extLst>
          </p:cNvPr>
          <p:cNvSpPr/>
          <p:nvPr/>
        </p:nvSpPr>
        <p:spPr>
          <a:xfrm>
            <a:off x="1232453" y="7038975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i="0" dirty="0">
                <a:solidFill>
                  <a:schemeClr val="bg2"/>
                </a:solidFill>
                <a:effectLst/>
              </a:rPr>
              <a:t>Datatype includes IntegerType(), FloatType(), DoubleType(), StringType(), etc.</a:t>
            </a:r>
          </a:p>
          <a:p>
            <a:pPr marL="0" indent="0" algn="ctr">
              <a:buNone/>
            </a:pPr>
            <a:r>
              <a:rPr lang="en-US" sz="2800" dirty="0">
                <a:solidFill>
                  <a:schemeClr val="bg2"/>
                </a:solidFill>
              </a:rPr>
              <a:t>String representations are often possible: ‘integer’, ‘float’, ‘double’, ‘string’, etc.</a:t>
            </a:r>
            <a:endParaRPr lang="en-US" sz="2800" i="0" dirty="0">
              <a:solidFill>
                <a:schemeClr val="bg2"/>
              </a:solidFill>
              <a:effectLst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7EC223-7DB2-156E-0272-24609E5AD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704212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046173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9EE15-66E3-69A3-5D37-132F479E4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Modifying Columns – alias()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8F6A-4FC8-6BFB-9CD7-ABD85C4B5D9C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bg2"/>
                </a:solidFill>
              </a:rPr>
              <a:t>Create a new column using select() and change the new column’s name from the default name provided by spark (‘CASE WHEN (mpg &lt; 35.0) THEN 35.0 ELSE 40.0 END’) </a:t>
            </a:r>
            <a:endParaRPr lang="en-US" sz="2400" u="sng" dirty="0">
              <a:solidFill>
                <a:schemeClr val="bg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D98593-C879-21F2-8A02-5EBB8886B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7" name="Circular Arrow 6">
            <a:extLst>
              <a:ext uri="{FF2B5EF4-FFF2-40B4-BE49-F238E27FC236}">
                <a16:creationId xmlns:a16="http://schemas.microsoft.com/office/drawing/2014/main" id="{EC48AAB0-BCED-2F8B-FCBA-5D5CB9B35AB9}"/>
              </a:ext>
            </a:extLst>
          </p:cNvPr>
          <p:cNvSpPr/>
          <p:nvPr/>
        </p:nvSpPr>
        <p:spPr>
          <a:xfrm>
            <a:off x="5884208" y="4933464"/>
            <a:ext cx="1295400" cy="1943100"/>
          </a:xfrm>
          <a:prstGeom prst="circular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F3AF4B-47A4-7E7C-489B-06F72E196AB2}"/>
              </a:ext>
            </a:extLst>
          </p:cNvPr>
          <p:cNvSpPr txBox="1"/>
          <p:nvPr/>
        </p:nvSpPr>
        <p:spPr>
          <a:xfrm>
            <a:off x="1007407" y="4052032"/>
            <a:ext cx="150214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from pyspark.sql.functions import col, when</a:t>
            </a:r>
          </a:p>
          <a:p>
            <a:r>
              <a:rPr lang="en-US" sz="2000" dirty="0">
                <a:solidFill>
                  <a:srgbClr val="000000"/>
                </a:solidFill>
                <a:latin typeface="Menlo" panose="020B0609030804020204" pitchFamily="49" charset="0"/>
              </a:rPr>
              <a:t>targetDF = srcDF. select(col('*'), when(col('mpg') &lt; 35.0, 35.0).otherwise(40.0).alias('newmpg'))</a:t>
            </a:r>
            <a:endParaRPr lang="en-US" sz="2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08D0C9-55CC-6313-77E8-40BBEE00C194}"/>
              </a:ext>
            </a:extLst>
          </p:cNvPr>
          <p:cNvSpPr txBox="1"/>
          <p:nvPr/>
        </p:nvSpPr>
        <p:spPr>
          <a:xfrm>
            <a:off x="1031221" y="6021933"/>
            <a:ext cx="586263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mpg|horsepower|             carname|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|29.0|     49.00|            fiat 128|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|32.0|     61.00|          datsun 710|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|44.3|     48.00|vw rabbit c (diesel)|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|31.6|     74.00|           mazda 626|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|36.4|     67.00| audi 5000s (diesel)|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|19.8|     85.00|    mercury zephyr 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|NULL|      NULL|                NULL|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31FE29-4F1C-B92A-4786-FCAC85B7A0F5}"/>
              </a:ext>
            </a:extLst>
          </p:cNvPr>
          <p:cNvSpPr txBox="1"/>
          <p:nvPr/>
        </p:nvSpPr>
        <p:spPr>
          <a:xfrm>
            <a:off x="6893858" y="6066083"/>
            <a:ext cx="677703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mpg|horsepower|             carname|newmpg|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|29.0|      49.0|            fiat 128|  35.0|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|32.0|      61.0|          datsun 710|  35.0|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|44.3|      48.0|vw rabbit c (diesel)|  40.0|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|31.6|      74.0|           mazda 626|  35.0|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|36.4|      67.0| audi 5000s (diesel)|  40.0|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|19.8|      85.0|    mercury zephyr 6|  35.0|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|NULL|      NULL|                NULL|  40.0|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+----+----------+--------------------+------+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666557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9EE15-66E3-69A3-5D37-132F479E4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Modifying Columns – cast()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8F6A-4FC8-6BFB-9CD7-ABD85C4B5D9C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bg2"/>
                </a:solidFill>
              </a:rPr>
              <a:t>Change the type of the horsepower column from double (DoubleType()) to integer (IntegerType())</a:t>
            </a:r>
            <a:endParaRPr lang="en-US" sz="2800" u="sng" dirty="0">
              <a:solidFill>
                <a:schemeClr val="bg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D98593-C879-21F2-8A02-5EBB8886B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7" name="Circular Arrow 6">
            <a:extLst>
              <a:ext uri="{FF2B5EF4-FFF2-40B4-BE49-F238E27FC236}">
                <a16:creationId xmlns:a16="http://schemas.microsoft.com/office/drawing/2014/main" id="{EC48AAB0-BCED-2F8B-FCBA-5D5CB9B35AB9}"/>
              </a:ext>
            </a:extLst>
          </p:cNvPr>
          <p:cNvSpPr/>
          <p:nvPr/>
        </p:nvSpPr>
        <p:spPr>
          <a:xfrm>
            <a:off x="5579407" y="5166545"/>
            <a:ext cx="1295400" cy="1943100"/>
          </a:xfrm>
          <a:prstGeom prst="circular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F3AF4B-47A4-7E7C-489B-06F72E196AB2}"/>
              </a:ext>
            </a:extLst>
          </p:cNvPr>
          <p:cNvSpPr txBox="1"/>
          <p:nvPr/>
        </p:nvSpPr>
        <p:spPr>
          <a:xfrm>
            <a:off x="1294280" y="3747232"/>
            <a:ext cx="1294167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from pyspark.sql.functions import col</a:t>
            </a:r>
            <a:endParaRPr lang="en-US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from pyspark.sql.types import IntegerType</a:t>
            </a:r>
          </a:p>
          <a:p>
            <a:r>
              <a:rPr lang="en-US" sz="2000" dirty="0">
                <a:solidFill>
                  <a:srgbClr val="000000"/>
                </a:solidFill>
                <a:latin typeface="Menlo" panose="020B0609030804020204" pitchFamily="49" charset="0"/>
              </a:rPr>
              <a:t>targetDF = srcDF.withColumn('horsepower', col('horsepower').cast('integer’))</a:t>
            </a:r>
          </a:p>
          <a:p>
            <a:r>
              <a:rPr lang="en-US" sz="2000" dirty="0">
                <a:solidFill>
                  <a:srgbClr val="000000"/>
                </a:solidFill>
                <a:latin typeface="Menlo" panose="020B0609030804020204" pitchFamily="49" charset="0"/>
              </a:rPr>
              <a:t>targetDF = srcDF.withColumn('horsepower', col('horsepower').cast(IntegerType()))</a:t>
            </a:r>
            <a:endParaRPr lang="en-US" sz="2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08D0C9-55CC-6313-77E8-40BBEE00C194}"/>
              </a:ext>
            </a:extLst>
          </p:cNvPr>
          <p:cNvSpPr txBox="1"/>
          <p:nvPr/>
        </p:nvSpPr>
        <p:spPr>
          <a:xfrm>
            <a:off x="726420" y="6201227"/>
            <a:ext cx="586263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mpg|horsepower|             carname|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|29.0|     49.00|            fiat 128|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|32.0|     61.00|          datsun 710|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|44.3|     48.00|vw rabbit c (diesel)|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|31.6|     74.00|           mazda 626|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|36.4|     67.00| audi 5000s (diesel)|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|19.8|     85.00|    mercury zephyr 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|NULL|      NULL|                NULL|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C9F827-28CB-5C75-6D8B-B4F3FCEC5FF4}"/>
              </a:ext>
            </a:extLst>
          </p:cNvPr>
          <p:cNvSpPr txBox="1"/>
          <p:nvPr/>
        </p:nvSpPr>
        <p:spPr>
          <a:xfrm>
            <a:off x="6874807" y="6220277"/>
            <a:ext cx="565308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mpg|horsepower|             carname|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|29.0|        49|            fiat 128|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|32.0|        61|          datsun 710|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|44.3|        48|vw rabbit c (diesel)|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|31.6|        74|           mazda 626|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|36.4|        67| audi 5000s (diesel)|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|19.8|        85|    mercury zephyr 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|NULL|      NULL|                NULL|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819911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CE00B-641B-6E6B-DF50-29E50600D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Modifying Columns – withColumnRenamed()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B5FF05-3BBD-F34F-04D1-0F17BA2EDFFC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i="0" dirty="0">
                <a:solidFill>
                  <a:schemeClr val="bg2"/>
                </a:solidFill>
                <a:effectLst/>
              </a:rPr>
              <a:t>Returns a new DataFrame by renaming an existing column</a:t>
            </a:r>
            <a:endParaRPr lang="en-US" sz="2400" i="0" dirty="0">
              <a:solidFill>
                <a:schemeClr val="bg2"/>
              </a:solidFill>
              <a:effectLst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2B4A0B-34BE-006A-A84F-4AA0611488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033C3C-FE5F-D799-26F8-AC9542C0BC57}"/>
              </a:ext>
            </a:extLst>
          </p:cNvPr>
          <p:cNvSpPr/>
          <p:nvPr/>
        </p:nvSpPr>
        <p:spPr>
          <a:xfrm>
            <a:off x="1232453" y="3895725"/>
            <a:ext cx="13715999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1"/>
                </a:solidFill>
              </a:rPr>
              <a:t>DataFrame.withColumnRenamed(existing, new) → DataFrame</a:t>
            </a:r>
            <a:endParaRPr lang="en-US" sz="2800" b="1" i="0" dirty="0">
              <a:solidFill>
                <a:schemeClr val="tx1"/>
              </a:solidFill>
              <a:effectLst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798D00-DDE7-96D8-4921-41A7CA89F9CE}"/>
              </a:ext>
            </a:extLst>
          </p:cNvPr>
          <p:cNvSpPr/>
          <p:nvPr/>
        </p:nvSpPr>
        <p:spPr>
          <a:xfrm>
            <a:off x="1232453" y="5467350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tx1"/>
                </a:solidFill>
              </a:rPr>
              <a:t>existing is a s</a:t>
            </a:r>
            <a:r>
              <a:rPr lang="en-US" sz="2800" i="0" dirty="0">
                <a:solidFill>
                  <a:schemeClr val="tx1"/>
                </a:solidFill>
                <a:effectLst/>
              </a:rPr>
              <a:t>tring, the name of the existing column to rename</a:t>
            </a:r>
          </a:p>
          <a:p>
            <a:pPr marL="0" indent="0" algn="ctr">
              <a:buNone/>
            </a:pPr>
            <a:r>
              <a:rPr lang="en-US" sz="2800" dirty="0">
                <a:solidFill>
                  <a:schemeClr val="tx1"/>
                </a:solidFill>
              </a:rPr>
              <a:t>new is a s</a:t>
            </a:r>
            <a:r>
              <a:rPr lang="en-US" sz="2800" i="0" dirty="0">
                <a:solidFill>
                  <a:schemeClr val="tx1"/>
                </a:solidFill>
                <a:effectLst/>
              </a:rPr>
              <a:t>tring, the new name of the column</a:t>
            </a:r>
            <a:endParaRPr lang="en-US" altLang="en-US" sz="28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604D68-98C7-6DC2-8065-9C36C8AB21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895725"/>
            <a:ext cx="1232454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6B1649-319F-98C0-F2B6-79C8A807F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46735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800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483773-4F5B-1A6C-5A1A-3698F342B125}"/>
              </a:ext>
            </a:extLst>
          </p:cNvPr>
          <p:cNvSpPr/>
          <p:nvPr/>
        </p:nvSpPr>
        <p:spPr>
          <a:xfrm>
            <a:off x="1232453" y="7038975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i="0" dirty="0">
                <a:solidFill>
                  <a:schemeClr val="bg2"/>
                </a:solidFill>
                <a:effectLst/>
              </a:rPr>
              <a:t>This is a no-op if the schema doesn’t contain the given column name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7EC223-7DB2-156E-0272-24609E5AD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704212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000250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9EE15-66E3-69A3-5D37-132F479E4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Modifying Columns – withColumnRenamed()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8F6A-4FC8-6BFB-9CD7-ABD85C4B5D9C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bg2"/>
                </a:solidFill>
              </a:rPr>
              <a:t>Change the name of the ‘mpg’ column to ‘milesPerGallon’</a:t>
            </a:r>
            <a:endParaRPr lang="en-US" sz="2800" u="sng" dirty="0">
              <a:solidFill>
                <a:schemeClr val="bg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D98593-C879-21F2-8A02-5EBB8886B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7" name="Circular Arrow 6">
            <a:extLst>
              <a:ext uri="{FF2B5EF4-FFF2-40B4-BE49-F238E27FC236}">
                <a16:creationId xmlns:a16="http://schemas.microsoft.com/office/drawing/2014/main" id="{EC48AAB0-BCED-2F8B-FCBA-5D5CB9B35AB9}"/>
              </a:ext>
            </a:extLst>
          </p:cNvPr>
          <p:cNvSpPr/>
          <p:nvPr/>
        </p:nvSpPr>
        <p:spPr>
          <a:xfrm>
            <a:off x="5238750" y="4933464"/>
            <a:ext cx="1295400" cy="1943100"/>
          </a:xfrm>
          <a:prstGeom prst="circular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F3AF4B-47A4-7E7C-489B-06F72E196AB2}"/>
              </a:ext>
            </a:extLst>
          </p:cNvPr>
          <p:cNvSpPr txBox="1"/>
          <p:nvPr/>
        </p:nvSpPr>
        <p:spPr>
          <a:xfrm>
            <a:off x="1238250" y="4265067"/>
            <a:ext cx="9296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from pyspark.sql.functions import col</a:t>
            </a:r>
            <a:endParaRPr lang="en-US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Menlo" panose="020B0609030804020204" pitchFamily="49" charset="0"/>
              </a:rPr>
              <a:t>targetDF = srcDF.withColumnRenamed('mpg', 'milesPerGallon')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08D0C9-55CC-6313-77E8-40BBEE00C194}"/>
              </a:ext>
            </a:extLst>
          </p:cNvPr>
          <p:cNvSpPr txBox="1"/>
          <p:nvPr/>
        </p:nvSpPr>
        <p:spPr>
          <a:xfrm>
            <a:off x="385763" y="6021933"/>
            <a:ext cx="586263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mpg|horsepower|             carname|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|29.0|     49.00|            fiat 128|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|32.0|     61.00|          datsun 710|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|44.3|     48.00|vw rabbit c (diesel)|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|31.6|     74.00|           mazda 626|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|36.4|     67.00| audi 5000s (diesel)|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|19.8|     85.00|    mercury zephyr 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|NULL|      NULL|                NULL|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6C49BB-6791-D554-76BA-C251DB63413A}"/>
              </a:ext>
            </a:extLst>
          </p:cNvPr>
          <p:cNvSpPr txBox="1"/>
          <p:nvPr/>
        </p:nvSpPr>
        <p:spPr>
          <a:xfrm>
            <a:off x="6248400" y="6021933"/>
            <a:ext cx="719613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+--------------+----------+--------------------+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|milesPerGallon|horsepower|             carname|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+--------------+----------+--------------------+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    29.0|      49.0|            fiat 128|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    32.0|      61.0|          datsun 710|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    44.3|      48.0|vw rabbit c (diesel)|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    31.6|      74.0|           mazda 626|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    36.4|      67.0| audi 5000s (diesel)|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    19.8|      85.0|    mercury zephyr 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    NULL|      NULL|                NULL|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+--------------+----------+--------------------+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242229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CE00B-641B-6E6B-DF50-29E50600D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Modifying Columns – drop()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B5FF05-3BBD-F34F-04D1-0F17BA2EDFFC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i="0" dirty="0">
                <a:solidFill>
                  <a:schemeClr val="bg2"/>
                </a:solidFill>
                <a:effectLst/>
              </a:rPr>
              <a:t>Returns a new DataFrame without the specified column(s)</a:t>
            </a:r>
            <a:endParaRPr lang="en-US" sz="2400" i="0" dirty="0">
              <a:solidFill>
                <a:schemeClr val="bg2"/>
              </a:solidFill>
              <a:effectLst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2B4A0B-34BE-006A-A84F-4AA0611488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033C3C-FE5F-D799-26F8-AC9542C0BC57}"/>
              </a:ext>
            </a:extLst>
          </p:cNvPr>
          <p:cNvSpPr/>
          <p:nvPr/>
        </p:nvSpPr>
        <p:spPr>
          <a:xfrm>
            <a:off x="1232453" y="3895725"/>
            <a:ext cx="13715999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1"/>
                </a:solidFill>
              </a:rPr>
              <a:t>DataFrame.drop(*cols) → DataFrame</a:t>
            </a:r>
            <a:endParaRPr lang="en-US" sz="2800" b="1" i="0" dirty="0">
              <a:solidFill>
                <a:schemeClr val="tx1"/>
              </a:solidFill>
              <a:effectLst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798D00-DDE7-96D8-4921-41A7CA89F9CE}"/>
              </a:ext>
            </a:extLst>
          </p:cNvPr>
          <p:cNvSpPr/>
          <p:nvPr/>
        </p:nvSpPr>
        <p:spPr>
          <a:xfrm>
            <a:off x="1232453" y="5467350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tx1"/>
                </a:solidFill>
              </a:rPr>
              <a:t>cols are the name(s) of the column(s), or the Column(s) to drop</a:t>
            </a:r>
            <a:endParaRPr lang="en-US" altLang="en-US" sz="28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604D68-98C7-6DC2-8065-9C36C8AB21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895725"/>
            <a:ext cx="1232454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6B1649-319F-98C0-F2B6-79C8A807F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46735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800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483773-4F5B-1A6C-5A1A-3698F342B125}"/>
              </a:ext>
            </a:extLst>
          </p:cNvPr>
          <p:cNvSpPr/>
          <p:nvPr/>
        </p:nvSpPr>
        <p:spPr>
          <a:xfrm>
            <a:off x="1232453" y="7038975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i="0" dirty="0">
                <a:solidFill>
                  <a:schemeClr val="bg2"/>
                </a:solidFill>
                <a:effectLst/>
              </a:rPr>
              <a:t>This is a no-op if the schema doesn’t contain the given column name(s)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7EC223-7DB2-156E-0272-24609E5AD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704212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722482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9EE15-66E3-69A3-5D37-132F479E4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Modifying Columns – drop()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8F6A-4FC8-6BFB-9CD7-ABD85C4B5D9C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bg2"/>
                </a:solidFill>
              </a:rPr>
              <a:t>Drop the column horsepower</a:t>
            </a:r>
            <a:endParaRPr lang="en-US" sz="2800" u="sng" dirty="0">
              <a:solidFill>
                <a:schemeClr val="bg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D98593-C879-21F2-8A02-5EBB8886B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7" name="Circular Arrow 6">
            <a:extLst>
              <a:ext uri="{FF2B5EF4-FFF2-40B4-BE49-F238E27FC236}">
                <a16:creationId xmlns:a16="http://schemas.microsoft.com/office/drawing/2014/main" id="{EC48AAB0-BCED-2F8B-FCBA-5D5CB9B35AB9}"/>
              </a:ext>
            </a:extLst>
          </p:cNvPr>
          <p:cNvSpPr/>
          <p:nvPr/>
        </p:nvSpPr>
        <p:spPr>
          <a:xfrm>
            <a:off x="5686985" y="4933464"/>
            <a:ext cx="1295400" cy="1943100"/>
          </a:xfrm>
          <a:prstGeom prst="circular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F3AF4B-47A4-7E7C-489B-06F72E196AB2}"/>
              </a:ext>
            </a:extLst>
          </p:cNvPr>
          <p:cNvSpPr txBox="1"/>
          <p:nvPr/>
        </p:nvSpPr>
        <p:spPr>
          <a:xfrm>
            <a:off x="2930336" y="4137625"/>
            <a:ext cx="6629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from pyspark.sql.functions import col</a:t>
            </a:r>
            <a:endParaRPr lang="en-US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Menlo" panose="020B0609030804020204" pitchFamily="49" charset="0"/>
              </a:rPr>
              <a:t>targetDF = srcDF. drop(col('horsepower'))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08D0C9-55CC-6313-77E8-40BBEE00C194}"/>
              </a:ext>
            </a:extLst>
          </p:cNvPr>
          <p:cNvSpPr txBox="1"/>
          <p:nvPr/>
        </p:nvSpPr>
        <p:spPr>
          <a:xfrm>
            <a:off x="385763" y="6021933"/>
            <a:ext cx="586263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mpg|horsepower|             carname|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|29.0|     49.00|            fiat 128|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|32.0|     61.00|          datsun 710|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|44.3|     48.00|vw rabbit c (diesel)|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|31.6|     74.00|           mazda 626|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|36.4|     67.00| audi 5000s (diesel)|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|19.8|     85.00|    mercury zephyr 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|NULL|      NULL|                NULL|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0FE771-22A9-6F40-49D1-BEDAA1ED2B07}"/>
              </a:ext>
            </a:extLst>
          </p:cNvPr>
          <p:cNvSpPr txBox="1"/>
          <p:nvPr/>
        </p:nvSpPr>
        <p:spPr>
          <a:xfrm>
            <a:off x="6847682" y="6052473"/>
            <a:ext cx="458628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mpg|             carname|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|29.0|            fiat 128|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|32.0|          datsun 710|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|44.3|vw rabbit c (diesel)|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|31.6|           mazda 626|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|36.4| audi 5000s (diesel)|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|19.8|    mercury zephyr 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|NULL|                NULL|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+----+--------------------+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0766291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LTECH_Template_2019 (1)  -  Compatibility Mode" id="{96DF2388-B785-2045-9157-84F6A1D402CB}" vid="{FA40E05E-1420-CD4F-AB4E-3CD2BC76CD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6dd4d27a79178d964495491d99d85ab0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5371f2543c27c65efb9018a9acd511a8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Props1.xml><?xml version="1.0" encoding="utf-8"?>
<ds:datastoreItem xmlns:ds="http://schemas.openxmlformats.org/officeDocument/2006/customXml" ds:itemID="{0E86B767-A50D-4D88-85EB-C9C48DA02388}"/>
</file>

<file path=customXml/itemProps2.xml><?xml version="1.0" encoding="utf-8"?>
<ds:datastoreItem xmlns:ds="http://schemas.openxmlformats.org/officeDocument/2006/customXml" ds:itemID="{BFA838ED-C12F-4A42-8E88-98BAC73D214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C6A4EEA-2556-441D-B20B-0657893061DE}">
  <ds:schemaRefs>
    <ds:schemaRef ds:uri="http://schemas.microsoft.com/office/2006/metadata/properties"/>
    <ds:schemaRef ds:uri="http://schemas.microsoft.com/office/infopath/2007/PartnerControls"/>
    <ds:schemaRef ds:uri="5e41b080-9453-459c-bb93-b19be7335f42"/>
    <ds:schemaRef ds:uri="4e58ebf2-e4df-4cd3-9186-1e42b3ede12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85582</TotalTime>
  <Words>2492</Words>
  <Application>Microsoft Office PowerPoint</Application>
  <PresentationFormat>Custom</PresentationFormat>
  <Paragraphs>320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Menlo</vt:lpstr>
      <vt:lpstr>Wingdings 2</vt:lpstr>
      <vt:lpstr>Breeze</vt:lpstr>
      <vt:lpstr>Module 5: Lesson 2  Transformations – Columns</vt:lpstr>
      <vt:lpstr>Modifying Columns</vt:lpstr>
      <vt:lpstr>Adding Columns – withColumn()</vt:lpstr>
      <vt:lpstr>Adding Columns – withColumn()</vt:lpstr>
      <vt:lpstr>Adding Columns – withColumn()</vt:lpstr>
      <vt:lpstr>Adding Columns – select()</vt:lpstr>
      <vt:lpstr>Modifying Columns – withColumn()</vt:lpstr>
      <vt:lpstr>Modifying Columns – when(), otherwise()</vt:lpstr>
      <vt:lpstr>Other Uses – when(), otherwise()</vt:lpstr>
      <vt:lpstr>Other Uses – when(), otherwise()</vt:lpstr>
      <vt:lpstr>Modifying Columns – alias(), cast()</vt:lpstr>
      <vt:lpstr>Modifying Columns – alias()</vt:lpstr>
      <vt:lpstr>Modifying Columns – cast()</vt:lpstr>
      <vt:lpstr>Modifying Columns – withColumnRenamed()</vt:lpstr>
      <vt:lpstr>Modifying Columns – withColumnRenamed()</vt:lpstr>
      <vt:lpstr>Modifying Columns – drop()</vt:lpstr>
      <vt:lpstr>Modifying Columns – drop()</vt:lpstr>
    </vt:vector>
  </TitlesOfParts>
  <Manager/>
  <Company>Illinois Institute of Technology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subject/>
  <dc:creator>Sandra Laporte</dc:creator>
  <cp:keywords/>
  <dc:description/>
  <cp:lastModifiedBy>Joseph Rosen</cp:lastModifiedBy>
  <cp:revision>283</cp:revision>
  <cp:lastPrinted>2024-01-03T15:49:50Z</cp:lastPrinted>
  <dcterms:created xsi:type="dcterms:W3CDTF">2019-02-13T16:04:21Z</dcterms:created>
  <dcterms:modified xsi:type="dcterms:W3CDTF">2024-06-17T01:57:08Z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ArticulateGUID">
    <vt:lpwstr>B1FEC236-87F8-405E-B663-A1ED891F25E6</vt:lpwstr>
  </property>
  <property fmtid="{D5CDD505-2E9C-101B-9397-08002B2CF9AE}" pid="4" name="ArticulatePath">
    <vt:lpwstr>Module 5 01042024</vt:lpwstr>
  </property>
</Properties>
</file>