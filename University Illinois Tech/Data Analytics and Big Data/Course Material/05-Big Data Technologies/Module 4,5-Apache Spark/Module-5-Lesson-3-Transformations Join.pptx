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5"/>
  </p:notesMasterIdLst>
  <p:sldIdLst>
    <p:sldId id="941" r:id="rId5"/>
    <p:sldId id="779" r:id="rId6"/>
    <p:sldId id="942" r:id="rId7"/>
    <p:sldId id="943" r:id="rId8"/>
    <p:sldId id="780" r:id="rId9"/>
    <p:sldId id="781" r:id="rId10"/>
    <p:sldId id="764" r:id="rId11"/>
    <p:sldId id="782" r:id="rId12"/>
    <p:sldId id="784" r:id="rId13"/>
    <p:sldId id="785" r:id="rId14"/>
  </p:sldIdLst>
  <p:sldSz cx="18288000" cy="10287000"/>
  <p:notesSz cx="9144000" cy="6858000"/>
  <p:custDataLst>
    <p:tags r:id="rId16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ABA"/>
    <a:srgbClr val="0070C0"/>
    <a:srgbClr val="959595"/>
    <a:srgbClr val="E98D0A"/>
    <a:srgbClr val="969696"/>
    <a:srgbClr val="3F4F6C"/>
    <a:srgbClr val="C50724"/>
    <a:srgbClr val="7C7C7C"/>
    <a:srgbClr val="DFDFDF"/>
    <a:srgbClr val="FFA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893F7E-799A-C9A6-485D-AD01BDF099D0}" v="5" dt="2024-09-17T20:12:29.9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9"/>
    <p:restoredTop sz="96283" autoAdjust="0"/>
  </p:normalViewPr>
  <p:slideViewPr>
    <p:cSldViewPr snapToGrid="0" snapToObjects="1">
      <p:cViewPr varScale="1">
        <p:scale>
          <a:sx n="72" d="100"/>
          <a:sy n="72" d="100"/>
        </p:scale>
        <p:origin x="1338" y="8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y Tseng" userId="b031a71b-ea40-479f-9c0f-e713aa008bfa" providerId="ADAL" clId="{6BB4C0A3-A8BE-438B-8204-C477759ACC87}"/>
    <pc:docChg chg="addSld delSld modSld">
      <pc:chgData name="Judy Tseng" userId="b031a71b-ea40-479f-9c0f-e713aa008bfa" providerId="ADAL" clId="{6BB4C0A3-A8BE-438B-8204-C477759ACC87}" dt="2024-09-06T19:26:25.914" v="4" actId="47"/>
      <pc:docMkLst>
        <pc:docMk/>
      </pc:docMkLst>
      <pc:sldChg chg="del">
        <pc:chgData name="Judy Tseng" userId="b031a71b-ea40-479f-9c0f-e713aa008bfa" providerId="ADAL" clId="{6BB4C0A3-A8BE-438B-8204-C477759ACC87}" dt="2024-09-06T19:25:00.588" v="1" actId="47"/>
        <pc:sldMkLst>
          <pc:docMk/>
          <pc:sldMk cId="2988880191" sldId="777"/>
        </pc:sldMkLst>
      </pc:sldChg>
      <pc:sldChg chg="del">
        <pc:chgData name="Judy Tseng" userId="b031a71b-ea40-479f-9c0f-e713aa008bfa" providerId="ADAL" clId="{6BB4C0A3-A8BE-438B-8204-C477759ACC87}" dt="2024-09-06T19:26:25.914" v="4" actId="47"/>
        <pc:sldMkLst>
          <pc:docMk/>
          <pc:sldMk cId="1830791500" sldId="778"/>
        </pc:sldMkLst>
      </pc:sldChg>
      <pc:sldChg chg="modSp add mod">
        <pc:chgData name="Judy Tseng" userId="b031a71b-ea40-479f-9c0f-e713aa008bfa" providerId="ADAL" clId="{6BB4C0A3-A8BE-438B-8204-C477759ACC87}" dt="2024-09-06T19:25:08.273" v="2" actId="962"/>
        <pc:sldMkLst>
          <pc:docMk/>
          <pc:sldMk cId="2408333683" sldId="942"/>
        </pc:sldMkLst>
        <pc:spChg chg="mod">
          <ac:chgData name="Judy Tseng" userId="b031a71b-ea40-479f-9c0f-e713aa008bfa" providerId="ADAL" clId="{6BB4C0A3-A8BE-438B-8204-C477759ACC87}" dt="2024-09-06T19:25:08.273" v="2" actId="962"/>
          <ac:spMkLst>
            <pc:docMk/>
            <pc:sldMk cId="2408333683" sldId="942"/>
            <ac:spMk id="6" creationId="{5D6B2154-4402-1204-19DF-9409BE2AA1D2}"/>
          </ac:spMkLst>
        </pc:spChg>
      </pc:sldChg>
      <pc:sldChg chg="add">
        <pc:chgData name="Judy Tseng" userId="b031a71b-ea40-479f-9c0f-e713aa008bfa" providerId="ADAL" clId="{6BB4C0A3-A8BE-438B-8204-C477759ACC87}" dt="2024-09-06T19:26:23.503" v="3"/>
        <pc:sldMkLst>
          <pc:docMk/>
          <pc:sldMk cId="725503746" sldId="943"/>
        </pc:sldMkLst>
      </pc:sldChg>
    </pc:docChg>
  </pc:docChgLst>
  <pc:docChgLst>
    <pc:chgData clId="Web-{4F893F7E-799A-C9A6-485D-AD01BDF099D0}"/>
    <pc:docChg chg="modSld">
      <pc:chgData name="" userId="" providerId="" clId="Web-{4F893F7E-799A-C9A6-485D-AD01BDF099D0}" dt="2024-09-17T20:12:28.421" v="2" actId="20577"/>
      <pc:docMkLst>
        <pc:docMk/>
      </pc:docMkLst>
      <pc:sldChg chg="modSp">
        <pc:chgData name="" userId="" providerId="" clId="Web-{4F893F7E-799A-C9A6-485D-AD01BDF099D0}" dt="2024-09-17T20:12:28.421" v="2" actId="20577"/>
        <pc:sldMkLst>
          <pc:docMk/>
          <pc:sldMk cId="3850932549" sldId="941"/>
        </pc:sldMkLst>
        <pc:spChg chg="mod">
          <ac:chgData name="" userId="" providerId="" clId="Web-{4F893F7E-799A-C9A6-485D-AD01BDF099D0}" dt="2024-09-17T20:12:28.421" v="2" actId="20577"/>
          <ac:spMkLst>
            <pc:docMk/>
            <pc:sldMk cId="3850932549" sldId="941"/>
            <ac:spMk id="2" creationId="{AAF7124E-2AFD-8B0F-2A0E-4F4FC4AEE7C8}"/>
          </ac:spMkLst>
        </pc:spChg>
      </pc:sldChg>
    </pc:docChg>
  </pc:docChgLst>
  <pc:docChgLst>
    <pc:chgData name="Judy Tseng" userId="S::judy.tseng@collegiseducation.com::b031a71b-ea40-479f-9c0f-e713aa008bfa" providerId="AD" clId="Web-{4F893F7E-799A-C9A6-485D-AD01BDF099D0}"/>
    <pc:docChg chg="modSld">
      <pc:chgData name="Judy Tseng" userId="S::judy.tseng@collegiseducation.com::b031a71b-ea40-479f-9c0f-e713aa008bfa" providerId="AD" clId="Web-{4F893F7E-799A-C9A6-485D-AD01BDF099D0}" dt="2024-09-17T20:12:29.921" v="1" actId="20577"/>
      <pc:docMkLst>
        <pc:docMk/>
      </pc:docMkLst>
      <pc:sldChg chg="modSp">
        <pc:chgData name="Judy Tseng" userId="S::judy.tseng@collegiseducation.com::b031a71b-ea40-479f-9c0f-e713aa008bfa" providerId="AD" clId="Web-{4F893F7E-799A-C9A6-485D-AD01BDF099D0}" dt="2024-09-17T20:12:29.921" v="1" actId="20577"/>
        <pc:sldMkLst>
          <pc:docMk/>
          <pc:sldMk cId="3850932549" sldId="941"/>
        </pc:sldMkLst>
        <pc:spChg chg="mod">
          <ac:chgData name="Judy Tseng" userId="S::judy.tseng@collegiseducation.com::b031a71b-ea40-479f-9c0f-e713aa008bfa" providerId="AD" clId="Web-{4F893F7E-799A-C9A6-485D-AD01BDF099D0}" dt="2024-09-17T20:12:29.921" v="1" actId="20577"/>
          <ac:spMkLst>
            <pc:docMk/>
            <pc:sldMk cId="3850932549" sldId="941"/>
            <ac:spMk id="2" creationId="{AAF7124E-2AFD-8B0F-2A0E-4F4FC4AEE7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1147B-6250-B74A-893B-83F308D48E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30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Module 5: Lesson 3 </a:t>
            </a:r>
            <a:br>
              <a:rPr lang="en-US" dirty="0"/>
            </a:br>
            <a:r>
              <a:rPr lang="en-US" sz="6000"/>
              <a:t>Transformations – Join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0932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The function returns a new target DataFrame which is the join of two source DataFrames based on a join expression and join type (inner, outer, etc.)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DataFrame.join(other, on=None, how=None)→ DataFrame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other is a source DataFrame (the right side of the join)</a:t>
            </a:r>
          </a:p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on is the join expression (left_df_column operator right_df_column)</a:t>
            </a:r>
          </a:p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how indicates the join type: inner, outer, left_outer, right_outer, etc.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operator:</a:t>
            </a:r>
          </a:p>
          <a:p>
            <a:pPr algn="ctr"/>
            <a:r>
              <a:rPr lang="en-US" sz="2800" dirty="0">
                <a:solidFill>
                  <a:schemeClr val="bg2"/>
                </a:solidFill>
              </a:rPr>
              <a:t>equi-join:  ==</a:t>
            </a:r>
          </a:p>
          <a:p>
            <a:pPr algn="ctr"/>
            <a:r>
              <a:rPr lang="en-US" sz="2800" dirty="0">
                <a:solidFill>
                  <a:schemeClr val="bg2"/>
                </a:solidFill>
              </a:rPr>
              <a:t>comparative join (generally not recommended): &lt;, &gt;, &lt;=, &gt;=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0180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2F1A-AE42-8B65-D4FD-6EBF1B6D2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F64D95-7CF9-E5EA-E222-00FC9F21B303}"/>
              </a:ext>
            </a:extLst>
          </p:cNvPr>
          <p:cNvSpPr txBox="1"/>
          <p:nvPr/>
        </p:nvSpPr>
        <p:spPr>
          <a:xfrm>
            <a:off x="11695420" y="3631453"/>
            <a:ext cx="2496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joinType = ‘inner’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D393A8-D93F-112E-3B55-4C0F990947BF}"/>
              </a:ext>
            </a:extLst>
          </p:cNvPr>
          <p:cNvSpPr txBox="1"/>
          <p:nvPr/>
        </p:nvSpPr>
        <p:spPr>
          <a:xfrm>
            <a:off x="11396459" y="5978829"/>
            <a:ext cx="3094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joinType = ‘left_outer’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0DC031-2787-ABA5-26EA-2CA55577FD9A}"/>
              </a:ext>
            </a:extLst>
          </p:cNvPr>
          <p:cNvSpPr txBox="1"/>
          <p:nvPr/>
        </p:nvSpPr>
        <p:spPr>
          <a:xfrm>
            <a:off x="11291366" y="8104086"/>
            <a:ext cx="3304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joinType = ‘right_outer’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26DDE3-23A9-C86B-FA0C-5AA282B56F83}"/>
              </a:ext>
            </a:extLst>
          </p:cNvPr>
          <p:cNvSpPr/>
          <p:nvPr/>
        </p:nvSpPr>
        <p:spPr>
          <a:xfrm>
            <a:off x="1232453" y="2007108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2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joinExpression = leftDF[‘l_id’] == rightDF[‘r_id’]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2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joinedDF = leftDF.join(rightDF, joinExpression, joinType)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B2154-4402-1204-19DF-9409BE2A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007108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5" name="Picture 4" descr="The image illustrates the concept of SQL joins, specifically the differences between inner join, left (outer) join, and right (outer) join. Here is a description of each type:&#10;&#10;1. **Inner Join**:&#10;   - Matches rows from the left table and the right table based on a specified condition.&#10;   - Only includes rows where there is a match in both tables.&#10;   - If there is no match, no output is generated.&#10;&#10;2. **Left (Outer) Join**:&#10;   - Includes all rows from the left table and the matching rows from the right table.&#10;   - If there is no match, the result includes the rows from the left table with `nulls` for columns from the right table.&#10;&#10;3. **Right (Outer) Join**:&#10;   - Includes all rows from the right table and the matching rows from the left table.&#10;   - If there is no match, the result includes the rows from the right table with `nulls` for columns from the left table.&#10;&#10;This visual representation is helpful for understanding how different joins operate in SQL to combine data from two tables based on specific conditions.&#10;">
            <a:extLst>
              <a:ext uri="{FF2B5EF4-FFF2-40B4-BE49-F238E27FC236}">
                <a16:creationId xmlns:a16="http://schemas.microsoft.com/office/drawing/2014/main" id="{9ED2F933-1325-DC6F-AE6F-36B7678BB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0" y="3339642"/>
            <a:ext cx="7724330" cy="640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33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2F1A-AE42-8B65-D4FD-6EBF1B6D2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F64D95-7CF9-E5EA-E222-00FC9F21B303}"/>
              </a:ext>
            </a:extLst>
          </p:cNvPr>
          <p:cNvSpPr txBox="1"/>
          <p:nvPr/>
        </p:nvSpPr>
        <p:spPr>
          <a:xfrm>
            <a:off x="11695420" y="3631453"/>
            <a:ext cx="2618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joinType = ‘outer’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D393A8-D93F-112E-3B55-4C0F990947BF}"/>
              </a:ext>
            </a:extLst>
          </p:cNvPr>
          <p:cNvSpPr txBox="1"/>
          <p:nvPr/>
        </p:nvSpPr>
        <p:spPr>
          <a:xfrm>
            <a:off x="11396459" y="5978829"/>
            <a:ext cx="3053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joinType = ‘left_semi’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0DC031-2787-ABA5-26EA-2CA55577FD9A}"/>
              </a:ext>
            </a:extLst>
          </p:cNvPr>
          <p:cNvSpPr txBox="1"/>
          <p:nvPr/>
        </p:nvSpPr>
        <p:spPr>
          <a:xfrm>
            <a:off x="11291366" y="8104086"/>
            <a:ext cx="2899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joinType = ‘left_anti’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26DDE3-23A9-C86B-FA0C-5AA282B56F83}"/>
              </a:ext>
            </a:extLst>
          </p:cNvPr>
          <p:cNvSpPr/>
          <p:nvPr/>
        </p:nvSpPr>
        <p:spPr>
          <a:xfrm>
            <a:off x="1232453" y="2007108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2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joinExpression = leftDF[‘l_id’] == rightDF[‘r_id’]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2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joinedDF = leftDF.join(rightDF, joinExpression, joinType)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B2154-4402-1204-19DF-9409BE2A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007108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pic>
        <p:nvPicPr>
          <p:cNvPr id="5" name="Picture 4" descr="The image illustrates the concept of SQL joins, specifically full (outer) join, left semi join, and left anti join. Here is a description of each type:&#10;&#10;1. **Full (Outer) Join**:&#10;   - Includes all rows from both the left and right tables.&#10;   - If there is a match, the result includes the matching rows from both tables.&#10;   - If there is no match, the result includes all rows from the left table with `nulls` for columns from the right table and all rows from the right table with `nulls` for columns from the left table.&#10;&#10;2. **Left Semi Join**:&#10;   - Includes rows from the left table that have a match in the right table.&#10;   - Only rows from the left table are included in the result.&#10;   - If there is no match, no output is generated.&#10;&#10;3. **Left Anti Join**:&#10;   - Includes rows from the left table that do not have a match in the right table.&#10;   - Only rows from the left table are included in the result.&#10;   - If there is a match, no output is generated.&#10;&#10;This visual representation is helpful for understanding how different joins operate in SQL to combine data from two tables based on specific conditions.&#10;">
            <a:extLst>
              <a:ext uri="{FF2B5EF4-FFF2-40B4-BE49-F238E27FC236}">
                <a16:creationId xmlns:a16="http://schemas.microsoft.com/office/drawing/2014/main" id="{109DC2D6-E3F0-2E2D-AA25-0B6C28C7E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257" y="3631453"/>
            <a:ext cx="7431855" cy="614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03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77369C-E890-6D01-F560-F2B379C8F220}"/>
              </a:ext>
            </a:extLst>
          </p:cNvPr>
          <p:cNvSpPr/>
          <p:nvPr/>
        </p:nvSpPr>
        <p:spPr>
          <a:xfrm>
            <a:off x="7716270" y="6946035"/>
            <a:ext cx="914400" cy="3657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63AF4A-D19C-36DB-1F1E-4E5AC8110664}"/>
              </a:ext>
            </a:extLst>
          </p:cNvPr>
          <p:cNvSpPr/>
          <p:nvPr/>
        </p:nvSpPr>
        <p:spPr>
          <a:xfrm>
            <a:off x="8748722" y="6935692"/>
            <a:ext cx="1234440" cy="3657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4E55A6-F839-CD51-5EA6-31CB1637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93440" cy="1551434"/>
          </a:xfrm>
        </p:spPr>
        <p:txBody>
          <a:bodyPr/>
          <a:lstStyle/>
          <a:p>
            <a:r>
              <a:rPr lang="en-US" dirty="0"/>
              <a:t>Using an Inner Join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6C7A48-2F1B-FF53-7447-196969AFF988}"/>
              </a:ext>
            </a:extLst>
          </p:cNvPr>
          <p:cNvSpPr/>
          <p:nvPr/>
        </p:nvSpPr>
        <p:spPr>
          <a:xfrm>
            <a:off x="1232453" y="2019307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  <a:latin typeface="Courier" pitchFamily="2" charset="0"/>
              </a:rPr>
              <a:t>joinType = ‘inner’</a:t>
            </a:r>
          </a:p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  <a:latin typeface="Courier" pitchFamily="2" charset="0"/>
              </a:rPr>
              <a:t>joinExpression = leftDF[‘cylinders’] == rightDF</a:t>
            </a:r>
            <a:r>
              <a:rPr lang="en-US" sz="2800" dirty="0">
                <a:solidFill>
                  <a:schemeClr val="bg2"/>
                </a:solidFill>
                <a:latin typeface="Courier" pitchFamily="2" charset="0"/>
              </a:rPr>
              <a:t>[‘cyl-count’]</a:t>
            </a:r>
          </a:p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  <a:latin typeface="Courier" pitchFamily="2" charset="0"/>
              </a:rPr>
              <a:t>targetDF = leftDF.join(rightDF, joinExpression, joinType)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CCEA3C-BD86-C545-C551-E0B15EE6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019307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2BA3A4-4131-ADFB-5984-01AE8DEF9073}"/>
              </a:ext>
            </a:extLst>
          </p:cNvPr>
          <p:cNvSpPr txBox="1"/>
          <p:nvPr/>
        </p:nvSpPr>
        <p:spPr>
          <a:xfrm>
            <a:off x="2134130" y="3676019"/>
            <a:ext cx="83776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302B8-5753-534D-23ED-BC74C82011AA}"/>
              </a:ext>
            </a:extLst>
          </p:cNvPr>
          <p:cNvSpPr txBox="1"/>
          <p:nvPr/>
        </p:nvSpPr>
        <p:spPr>
          <a:xfrm>
            <a:off x="12367260" y="3785747"/>
            <a:ext cx="45857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|cyl-count|engine-name|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8|         v8|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5|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+---------+-----------+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8F7CBE-0D0A-6A94-C79F-098E62D525B1}"/>
              </a:ext>
            </a:extLst>
          </p:cNvPr>
          <p:cNvSpPr txBox="1"/>
          <p:nvPr/>
        </p:nvSpPr>
        <p:spPr>
          <a:xfrm>
            <a:off x="2152418" y="6666357"/>
            <a:ext cx="1169159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+----+---------+----------+---------+--------------------+---------+-----------+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mpg|cylinders|horsepower|modelyear|             carname|cyl-count|engine-name|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+----+---------+----------+---------+--------------------+---------+-----------+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  4|     49.00|       73|            fiat 128|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  4|     61.00|       74|          datsun 710|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  6|     85.00|       79|    mercury zephyr 6|       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        4|     48.00|       80|vw rabbit c (diesel)|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  5|     67.00|       80| audi 5000s (diesel)|        5|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  4|     74.00|       81|           mazda 626|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+----+---------+----------+---------+--------------------+---------+-----------+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DE130E-B3D9-10A3-C5B1-7402156F3EC5}"/>
              </a:ext>
            </a:extLst>
          </p:cNvPr>
          <p:cNvSpPr/>
          <p:nvPr/>
        </p:nvSpPr>
        <p:spPr>
          <a:xfrm>
            <a:off x="901676" y="4629203"/>
            <a:ext cx="1232454" cy="621411"/>
          </a:xfrm>
          <a:prstGeom prst="rect">
            <a:avLst/>
          </a:prstGeom>
          <a:solidFill>
            <a:srgbClr val="C507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leftDF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622154-44E9-9BD3-131E-F0E161012F22}"/>
              </a:ext>
            </a:extLst>
          </p:cNvPr>
          <p:cNvSpPr/>
          <p:nvPr/>
        </p:nvSpPr>
        <p:spPr>
          <a:xfrm>
            <a:off x="11134806" y="4629203"/>
            <a:ext cx="1232454" cy="621411"/>
          </a:xfrm>
          <a:prstGeom prst="rect">
            <a:avLst/>
          </a:prstGeom>
          <a:solidFill>
            <a:srgbClr val="3F4F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rightDF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6886F-489C-EAC3-CB03-7D7279C04BA1}"/>
              </a:ext>
            </a:extLst>
          </p:cNvPr>
          <p:cNvSpPr/>
          <p:nvPr/>
        </p:nvSpPr>
        <p:spPr>
          <a:xfrm>
            <a:off x="901676" y="7665727"/>
            <a:ext cx="1232454" cy="621411"/>
          </a:xfrm>
          <a:prstGeom prst="rect">
            <a:avLst/>
          </a:prstGeom>
          <a:solidFill>
            <a:srgbClr val="E98D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targeDF</a:t>
            </a:r>
          </a:p>
        </p:txBody>
      </p:sp>
      <p:sp>
        <p:nvSpPr>
          <p:cNvPr id="15" name="Rectangular Callout 14">
            <a:extLst>
              <a:ext uri="{FF2B5EF4-FFF2-40B4-BE49-F238E27FC236}">
                <a16:creationId xmlns:a16="http://schemas.microsoft.com/office/drawing/2014/main" id="{3793629B-3B32-69EB-6120-D43CF2B9B4B5}"/>
              </a:ext>
            </a:extLst>
          </p:cNvPr>
          <p:cNvSpPr/>
          <p:nvPr/>
        </p:nvSpPr>
        <p:spPr>
          <a:xfrm>
            <a:off x="14136624" y="7219431"/>
            <a:ext cx="2904744" cy="990600"/>
          </a:xfrm>
          <a:prstGeom prst="wedgeRectCallout">
            <a:avLst>
              <a:gd name="adj1" fmla="val -182619"/>
              <a:gd name="adj2" fmla="val -55461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Both join columns are included in the final join DataFrame </a:t>
            </a:r>
          </a:p>
        </p:txBody>
      </p:sp>
    </p:spTree>
    <p:extLst>
      <p:ext uri="{BB962C8B-B14F-4D97-AF65-F5344CB8AC3E}">
        <p14:creationId xmlns:p14="http://schemas.microsoft.com/office/powerpoint/2010/main" val="280739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2C08D05-746B-6F4A-6171-0F9FEB7EB0E5}"/>
              </a:ext>
            </a:extLst>
          </p:cNvPr>
          <p:cNvSpPr/>
          <p:nvPr/>
        </p:nvSpPr>
        <p:spPr>
          <a:xfrm>
            <a:off x="7716270" y="6946035"/>
            <a:ext cx="914400" cy="3657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996C8A-93A8-CBF0-F243-8D0AD6E363DC}"/>
              </a:ext>
            </a:extLst>
          </p:cNvPr>
          <p:cNvSpPr/>
          <p:nvPr/>
        </p:nvSpPr>
        <p:spPr>
          <a:xfrm>
            <a:off x="8748722" y="6935692"/>
            <a:ext cx="1234440" cy="3657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4E55A6-F839-CD51-5EA6-31CB1637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93440" cy="1551434"/>
          </a:xfrm>
        </p:spPr>
        <p:txBody>
          <a:bodyPr/>
          <a:lstStyle/>
          <a:p>
            <a:r>
              <a:rPr lang="en-US" dirty="0"/>
              <a:t>Using an Outer Join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6C7A48-2F1B-FF53-7447-196969AFF988}"/>
              </a:ext>
            </a:extLst>
          </p:cNvPr>
          <p:cNvSpPr/>
          <p:nvPr/>
        </p:nvSpPr>
        <p:spPr>
          <a:xfrm>
            <a:off x="1232453" y="1929662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  <a:latin typeface="Courier" pitchFamily="2" charset="0"/>
              </a:rPr>
              <a:t>joinType = ‘</a:t>
            </a:r>
            <a:r>
              <a:rPr lang="en-US" sz="2800" dirty="0">
                <a:solidFill>
                  <a:schemeClr val="bg2"/>
                </a:solidFill>
                <a:latin typeface="Courier" pitchFamily="2" charset="0"/>
              </a:rPr>
              <a:t>outer</a:t>
            </a:r>
            <a:r>
              <a:rPr lang="en-US" sz="2800" i="0" dirty="0">
                <a:solidFill>
                  <a:schemeClr val="bg2"/>
                </a:solidFill>
                <a:effectLst/>
                <a:latin typeface="Courier" pitchFamily="2" charset="0"/>
              </a:rPr>
              <a:t>’</a:t>
            </a:r>
          </a:p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  <a:latin typeface="Courier" pitchFamily="2" charset="0"/>
              </a:rPr>
              <a:t>joinExpression = leftDF[‘cylinders’] == rightDF</a:t>
            </a:r>
            <a:r>
              <a:rPr lang="en-US" sz="2800" dirty="0">
                <a:solidFill>
                  <a:schemeClr val="bg2"/>
                </a:solidFill>
                <a:latin typeface="Courier" pitchFamily="2" charset="0"/>
              </a:rPr>
              <a:t>[‘cyl-count’]</a:t>
            </a:r>
          </a:p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  <a:latin typeface="Courier" pitchFamily="2" charset="0"/>
              </a:rPr>
              <a:t>targetDF = leftDF.join(rightDF, joinExpression, joinType)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CCEA3C-BD86-C545-C551-E0B15EE6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1929662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2BA3A4-4131-ADFB-5984-01AE8DEF9073}"/>
              </a:ext>
            </a:extLst>
          </p:cNvPr>
          <p:cNvSpPr txBox="1"/>
          <p:nvPr/>
        </p:nvSpPr>
        <p:spPr>
          <a:xfrm>
            <a:off x="2134130" y="3586374"/>
            <a:ext cx="83776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302B8-5753-534D-23ED-BC74C82011AA}"/>
              </a:ext>
            </a:extLst>
          </p:cNvPr>
          <p:cNvSpPr txBox="1"/>
          <p:nvPr/>
        </p:nvSpPr>
        <p:spPr>
          <a:xfrm>
            <a:off x="12367260" y="3696102"/>
            <a:ext cx="45857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|cyl-count|engine-name|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8|         v8|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5|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+---------+-----------+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DE130E-B3D9-10A3-C5B1-7402156F3EC5}"/>
              </a:ext>
            </a:extLst>
          </p:cNvPr>
          <p:cNvSpPr/>
          <p:nvPr/>
        </p:nvSpPr>
        <p:spPr>
          <a:xfrm>
            <a:off x="901676" y="4539558"/>
            <a:ext cx="1232454" cy="621411"/>
          </a:xfrm>
          <a:prstGeom prst="rect">
            <a:avLst/>
          </a:prstGeom>
          <a:solidFill>
            <a:srgbClr val="C507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leftDF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622154-44E9-9BD3-131E-F0E161012F22}"/>
              </a:ext>
            </a:extLst>
          </p:cNvPr>
          <p:cNvSpPr/>
          <p:nvPr/>
        </p:nvSpPr>
        <p:spPr>
          <a:xfrm>
            <a:off x="11134806" y="4539558"/>
            <a:ext cx="1232454" cy="621411"/>
          </a:xfrm>
          <a:prstGeom prst="rect">
            <a:avLst/>
          </a:prstGeom>
          <a:solidFill>
            <a:srgbClr val="3F4F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rightDF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6886F-489C-EAC3-CB03-7D7279C04BA1}"/>
              </a:ext>
            </a:extLst>
          </p:cNvPr>
          <p:cNvSpPr/>
          <p:nvPr/>
        </p:nvSpPr>
        <p:spPr>
          <a:xfrm>
            <a:off x="901676" y="7576082"/>
            <a:ext cx="1232454" cy="621411"/>
          </a:xfrm>
          <a:prstGeom prst="rect">
            <a:avLst/>
          </a:prstGeom>
          <a:solidFill>
            <a:srgbClr val="E98D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targeDF</a:t>
            </a:r>
          </a:p>
        </p:txBody>
      </p:sp>
      <p:sp>
        <p:nvSpPr>
          <p:cNvPr id="15" name="Rectangular Callout 14">
            <a:extLst>
              <a:ext uri="{FF2B5EF4-FFF2-40B4-BE49-F238E27FC236}">
                <a16:creationId xmlns:a16="http://schemas.microsoft.com/office/drawing/2014/main" id="{3793629B-3B32-69EB-6120-D43CF2B9B4B5}"/>
              </a:ext>
            </a:extLst>
          </p:cNvPr>
          <p:cNvSpPr/>
          <p:nvPr/>
        </p:nvSpPr>
        <p:spPr>
          <a:xfrm>
            <a:off x="14136624" y="7129786"/>
            <a:ext cx="2904744" cy="990600"/>
          </a:xfrm>
          <a:prstGeom prst="wedgeRectCallout">
            <a:avLst>
              <a:gd name="adj1" fmla="val -75766"/>
              <a:gd name="adj2" fmla="val -61961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Both join columns are included in the final join DataFrame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C44BF-EE54-A613-1BFA-B3EA431E41C4}"/>
              </a:ext>
            </a:extLst>
          </p:cNvPr>
          <p:cNvSpPr txBox="1"/>
          <p:nvPr/>
        </p:nvSpPr>
        <p:spPr>
          <a:xfrm>
            <a:off x="2134130" y="6591256"/>
            <a:ext cx="1246479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+----+---------+----------+---------+--------------------+---------+-----------+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mpg|cylinders|horsepower|modelyear|             carname|cyl-count|engine-name|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+----+---------+----------+---------+--------------------+---------+-----------+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  4|     49.00|       73|            fiat 128|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  4|     61.00|       74|          datsun 710|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        4|     48.00|       80|vw rabbit c (diesel)|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  4|     74.00|       81|           mazda 626|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  5|     67.00|       80| audi 5000s (diesel)|        5|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  6|     85.00|       79|    mercury zephyr 6|       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     NULL|      NULL|     NULL|                NULL|        8|         v8|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+----+---------+----------+---------+--------------------+---------+-----------+</a:t>
            </a:r>
          </a:p>
        </p:txBody>
      </p:sp>
    </p:spTree>
    <p:extLst>
      <p:ext uri="{BB962C8B-B14F-4D97-AF65-F5344CB8AC3E}">
        <p14:creationId xmlns:p14="http://schemas.microsoft.com/office/powerpoint/2010/main" val="1381412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What if Two Columns Have the Same Name?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The two join keys have the same names: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joinType = ‘inner’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joinExpression = leftDF[‘someName’] == rightDF[‘someName’]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targetDF = leftDF.join(rightDF, joinExpression, joinType)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Or two non-join columns have the same name</a:t>
            </a:r>
            <a:endParaRPr lang="en-US" sz="280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This makes it difficult to refer to a specific column when the target DataFrame (after a join operation) has duplicate column names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50555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D18EC6-7BA4-7FBA-AEB6-BBC61B59A5A0}"/>
              </a:ext>
            </a:extLst>
          </p:cNvPr>
          <p:cNvSpPr/>
          <p:nvPr/>
        </p:nvSpPr>
        <p:spPr>
          <a:xfrm>
            <a:off x="7654019" y="7283423"/>
            <a:ext cx="1234440" cy="3657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5EC038-172B-80C6-32F9-B675A3F95379}"/>
              </a:ext>
            </a:extLst>
          </p:cNvPr>
          <p:cNvSpPr/>
          <p:nvPr/>
        </p:nvSpPr>
        <p:spPr>
          <a:xfrm>
            <a:off x="2848050" y="7255129"/>
            <a:ext cx="914400" cy="3657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4E55A6-F839-CD51-5EA6-31CB1637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93440" cy="1551434"/>
          </a:xfrm>
        </p:spPr>
        <p:txBody>
          <a:bodyPr/>
          <a:lstStyle/>
          <a:p>
            <a:r>
              <a:rPr lang="en-US" sz="5400" dirty="0"/>
              <a:t>What if Two Columns Have the Same Name?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6C7A48-2F1B-FF53-7447-196969AFF988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  <a:latin typeface="Courier" pitchFamily="2" charset="0"/>
              </a:rPr>
              <a:t>joinType = ‘inner’</a:t>
            </a:r>
          </a:p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  <a:latin typeface="Courier" pitchFamily="2" charset="0"/>
              </a:rPr>
              <a:t>joinExpression = leftDF[‘cylinders’] == rightDF</a:t>
            </a:r>
            <a:r>
              <a:rPr lang="en-US" sz="2800" dirty="0">
                <a:solidFill>
                  <a:schemeClr val="bg2"/>
                </a:solidFill>
                <a:latin typeface="Courier" pitchFamily="2" charset="0"/>
              </a:rPr>
              <a:t>[‘cylinders’]</a:t>
            </a:r>
          </a:p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  <a:latin typeface="Courier" pitchFamily="2" charset="0"/>
              </a:rPr>
              <a:t>targetDF = leftDF.join(rightDF, joinExpression, joinType)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CCEA3C-BD86-C545-C551-E0B15EE6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2BA3A4-4131-ADFB-5984-01AE8DEF9073}"/>
              </a:ext>
            </a:extLst>
          </p:cNvPr>
          <p:cNvSpPr txBox="1"/>
          <p:nvPr/>
        </p:nvSpPr>
        <p:spPr>
          <a:xfrm>
            <a:off x="2134130" y="3980812"/>
            <a:ext cx="83776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302B8-5753-534D-23ED-BC74C82011AA}"/>
              </a:ext>
            </a:extLst>
          </p:cNvPr>
          <p:cNvSpPr txBox="1"/>
          <p:nvPr/>
        </p:nvSpPr>
        <p:spPr>
          <a:xfrm>
            <a:off x="12367260" y="4090540"/>
            <a:ext cx="45857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|cyl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inders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8|         v8|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5|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+---------+-----------+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8F7CBE-0D0A-6A94-C79F-098E62D525B1}"/>
              </a:ext>
            </a:extLst>
          </p:cNvPr>
          <p:cNvSpPr txBox="1"/>
          <p:nvPr/>
        </p:nvSpPr>
        <p:spPr>
          <a:xfrm>
            <a:off x="2152418" y="6971150"/>
            <a:ext cx="1169159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+----+---------+----------+---------+--------------------+---------+-----------+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mpg|cylinders|horsepower|modelyear|             carname|cylinders|engine-name|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+----+---------+----------+---------+--------------------+---------+-----------+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  4|     49.00|       73|            fiat 128|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  4|     61.00|       74|          datsun 710|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  6|     85.00|       79|    mercury zephyr 6|       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        4|     48.00|       80|vw rabbit c (diesel)|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  5|     67.00|       80| audi 5000s (diesel)|        5|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  4|     74.00|       81|           mazda 626|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+----+---------+----------+---------+--------------------+---------+-----------+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DE130E-B3D9-10A3-C5B1-7402156F3EC5}"/>
              </a:ext>
            </a:extLst>
          </p:cNvPr>
          <p:cNvSpPr/>
          <p:nvPr/>
        </p:nvSpPr>
        <p:spPr>
          <a:xfrm>
            <a:off x="901676" y="4933996"/>
            <a:ext cx="1232454" cy="621411"/>
          </a:xfrm>
          <a:prstGeom prst="rect">
            <a:avLst/>
          </a:prstGeom>
          <a:solidFill>
            <a:srgbClr val="C507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leftDF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622154-44E9-9BD3-131E-F0E161012F22}"/>
              </a:ext>
            </a:extLst>
          </p:cNvPr>
          <p:cNvSpPr/>
          <p:nvPr/>
        </p:nvSpPr>
        <p:spPr>
          <a:xfrm>
            <a:off x="11134806" y="4933996"/>
            <a:ext cx="1232454" cy="621411"/>
          </a:xfrm>
          <a:prstGeom prst="rect">
            <a:avLst/>
          </a:prstGeom>
          <a:solidFill>
            <a:srgbClr val="3F4F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rightDF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6886F-489C-EAC3-CB03-7D7279C04BA1}"/>
              </a:ext>
            </a:extLst>
          </p:cNvPr>
          <p:cNvSpPr/>
          <p:nvPr/>
        </p:nvSpPr>
        <p:spPr>
          <a:xfrm>
            <a:off x="901676" y="7970520"/>
            <a:ext cx="1232454" cy="621411"/>
          </a:xfrm>
          <a:prstGeom prst="rect">
            <a:avLst/>
          </a:prstGeom>
          <a:solidFill>
            <a:srgbClr val="E98D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targeDF</a:t>
            </a:r>
          </a:p>
        </p:txBody>
      </p:sp>
      <p:sp>
        <p:nvSpPr>
          <p:cNvPr id="15" name="Rectangular Callout 14">
            <a:extLst>
              <a:ext uri="{FF2B5EF4-FFF2-40B4-BE49-F238E27FC236}">
                <a16:creationId xmlns:a16="http://schemas.microsoft.com/office/drawing/2014/main" id="{3793629B-3B32-69EB-6120-D43CF2B9B4B5}"/>
              </a:ext>
            </a:extLst>
          </p:cNvPr>
          <p:cNvSpPr/>
          <p:nvPr/>
        </p:nvSpPr>
        <p:spPr>
          <a:xfrm>
            <a:off x="14136624" y="7524224"/>
            <a:ext cx="2904744" cy="990600"/>
          </a:xfrm>
          <a:prstGeom prst="wedgeRectCallout">
            <a:avLst>
              <a:gd name="adj1" fmla="val -187053"/>
              <a:gd name="adj2" fmla="val -58061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Two join columns have the same name</a:t>
            </a:r>
          </a:p>
        </p:txBody>
      </p:sp>
    </p:spTree>
    <p:extLst>
      <p:ext uri="{BB962C8B-B14F-4D97-AF65-F5344CB8AC3E}">
        <p14:creationId xmlns:p14="http://schemas.microsoft.com/office/powerpoint/2010/main" val="1113789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Approaches for Handling Duplicate Column Names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Rename a column before the join:</a:t>
            </a:r>
          </a:p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newRIghtDF = rightDF.withColumnRenamed(‘oldName’, ‘newName’)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Drop the Column after a join:</a:t>
            </a:r>
          </a:p>
          <a:p>
            <a:pPr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targetDF = leftDF.join(rightDF, joinExpression, joinType)</a:t>
            </a:r>
          </a:p>
          <a:p>
            <a:pPr algn="ctr"/>
            <a:r>
              <a:rPr lang="en-US" altLang="en-US" sz="2800" dirty="0">
                <a:solidFill>
                  <a:schemeClr val="tx1"/>
                </a:solidFill>
                <a:latin typeface="Courier" pitchFamily="2" charset="0"/>
              </a:rPr>
              <a:t>target2DF = </a:t>
            </a:r>
            <a:r>
              <a:rPr lang="en-US" altLang="en-US" sz="2800" dirty="0" err="1">
                <a:solidFill>
                  <a:schemeClr val="tx1"/>
                </a:solidFill>
                <a:latin typeface="Courier" pitchFamily="2" charset="0"/>
              </a:rPr>
              <a:t>targetDF.drop</a:t>
            </a:r>
            <a:r>
              <a:rPr lang="en-US" altLang="en-US" sz="2800" dirty="0">
                <a:solidFill>
                  <a:schemeClr val="tx1"/>
                </a:solidFill>
                <a:latin typeface="Courier" pitchFamily="2" charset="0"/>
              </a:rPr>
              <a:t>(</a:t>
            </a:r>
            <a:r>
              <a:rPr lang="en-US" altLang="en-US" sz="2800" dirty="0" err="1">
                <a:solidFill>
                  <a:schemeClr val="tx1"/>
                </a:solidFill>
                <a:latin typeface="Courier" pitchFamily="2" charset="0"/>
              </a:rPr>
              <a:t>leftDF</a:t>
            </a:r>
            <a:r>
              <a:rPr lang="en-US" altLang="en-US" sz="2800" dirty="0">
                <a:solidFill>
                  <a:schemeClr val="tx1"/>
                </a:solidFill>
                <a:latin typeface="Courier" pitchFamily="2" charset="0"/>
              </a:rPr>
              <a:t>[‘</a:t>
            </a:r>
            <a:r>
              <a:rPr lang="en-US" altLang="en-US" sz="2800" dirty="0" err="1">
                <a:solidFill>
                  <a:schemeClr val="tx1"/>
                </a:solidFill>
                <a:latin typeface="Courier" pitchFamily="2" charset="0"/>
              </a:rPr>
              <a:t>dupName</a:t>
            </a:r>
            <a:r>
              <a:rPr lang="en-US" altLang="en-US" sz="2800" dirty="0">
                <a:solidFill>
                  <a:schemeClr val="tx1"/>
                </a:solidFill>
                <a:latin typeface="Courier" pitchFamily="2" charset="0"/>
              </a:rPr>
              <a:t>’])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Use a join expression which automatically removes one of the duplicate columns:</a:t>
            </a:r>
          </a:p>
          <a:p>
            <a:pPr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targetDF = leftDF.join(rightDF, ‘dupName’, joinType)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225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E55A6-F839-CD51-5EA6-31CB1637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93440" cy="1551434"/>
          </a:xfrm>
        </p:spPr>
        <p:txBody>
          <a:bodyPr/>
          <a:lstStyle/>
          <a:p>
            <a:r>
              <a:rPr lang="en-US" sz="5400" dirty="0"/>
              <a:t>What if Two Columns Have the Same Name?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6C7A48-2F1B-FF53-7447-196969AFF988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  <a:latin typeface="Courier" pitchFamily="2" charset="0"/>
              </a:rPr>
              <a:t>joinType = ‘inner’</a:t>
            </a:r>
          </a:p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  <a:latin typeface="Courier" pitchFamily="2" charset="0"/>
              </a:rPr>
              <a:t>joinExpression = ‘cylinders’</a:t>
            </a:r>
            <a:endParaRPr lang="en-US" sz="2800" dirty="0">
              <a:solidFill>
                <a:schemeClr val="bg2"/>
              </a:solidFill>
              <a:latin typeface="Courier" pitchFamily="2" charset="0"/>
            </a:endParaRPr>
          </a:p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  <a:latin typeface="Courier" pitchFamily="2" charset="0"/>
              </a:rPr>
              <a:t>targetDF = leftDF.join(rightDF, joinExpression, joinType)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CCEA3C-BD86-C545-C551-E0B15EE6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2BA3A4-4131-ADFB-5984-01AE8DEF9073}"/>
              </a:ext>
            </a:extLst>
          </p:cNvPr>
          <p:cNvSpPr txBox="1"/>
          <p:nvPr/>
        </p:nvSpPr>
        <p:spPr>
          <a:xfrm>
            <a:off x="2134130" y="3980812"/>
            <a:ext cx="83776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 mpg|cylinders|horsepower|modelyear|             carname|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|29.0|        4|     49.00|       73|            fiat 128|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|32.0|        4|     61.00|       74|          datsun 710|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|19.8|        6|     85.00|       79|    mercury zephyr 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|44.3|        4|     48.00|       80|vw rabbit c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|36.4|        5|     67.00|       80| audi 5000s (diesel)|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|31.6|        4|     74.00|       81|           mazda 626|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+----+---------+----------+---------+--------------------+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302B8-5753-534D-23ED-BC74C82011AA}"/>
              </a:ext>
            </a:extLst>
          </p:cNvPr>
          <p:cNvSpPr txBox="1"/>
          <p:nvPr/>
        </p:nvSpPr>
        <p:spPr>
          <a:xfrm>
            <a:off x="12367260" y="4090540"/>
            <a:ext cx="45857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|cyl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inders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8|         v8|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5|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+---------+-----------+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DE130E-B3D9-10A3-C5B1-7402156F3EC5}"/>
              </a:ext>
            </a:extLst>
          </p:cNvPr>
          <p:cNvSpPr/>
          <p:nvPr/>
        </p:nvSpPr>
        <p:spPr>
          <a:xfrm>
            <a:off x="901676" y="4933996"/>
            <a:ext cx="1232454" cy="621411"/>
          </a:xfrm>
          <a:prstGeom prst="rect">
            <a:avLst/>
          </a:prstGeom>
          <a:solidFill>
            <a:srgbClr val="C507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leftDF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622154-44E9-9BD3-131E-F0E161012F22}"/>
              </a:ext>
            </a:extLst>
          </p:cNvPr>
          <p:cNvSpPr/>
          <p:nvPr/>
        </p:nvSpPr>
        <p:spPr>
          <a:xfrm>
            <a:off x="11134806" y="4933996"/>
            <a:ext cx="1232454" cy="621411"/>
          </a:xfrm>
          <a:prstGeom prst="rect">
            <a:avLst/>
          </a:prstGeom>
          <a:solidFill>
            <a:srgbClr val="3F4F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rightDF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6886F-489C-EAC3-CB03-7D7279C04BA1}"/>
              </a:ext>
            </a:extLst>
          </p:cNvPr>
          <p:cNvSpPr/>
          <p:nvPr/>
        </p:nvSpPr>
        <p:spPr>
          <a:xfrm>
            <a:off x="901676" y="7970520"/>
            <a:ext cx="1232454" cy="621411"/>
          </a:xfrm>
          <a:prstGeom prst="rect">
            <a:avLst/>
          </a:prstGeom>
          <a:solidFill>
            <a:srgbClr val="E98D0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targeDF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8577C3-772A-5F08-EA2E-51B247EB5D7B}"/>
              </a:ext>
            </a:extLst>
          </p:cNvPr>
          <p:cNvSpPr txBox="1"/>
          <p:nvPr/>
        </p:nvSpPr>
        <p:spPr>
          <a:xfrm>
            <a:off x="2134130" y="6850853"/>
            <a:ext cx="131262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|cylinders| mpg|horsepower|modelyear|             carname|engine-name|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+---------+----+----------+---------+--------------------+-----------+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4|29.0|     49.00|       73|            fiat 128|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4|32.0|     61.00|       74|          datsun 710|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6|19.8|     85.00|       79|    mercury zephyr 6|         v6|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4|44.3|     48.00|       80|vw rabbit c (diesel)|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5|36.4|     67.00|       80| audi 5000s (diesel)|         v5|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      4|31.6|     74.00|       81|           mazda 626|         v4|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+---------+----+----------+---------+--------------------+-----------+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56323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0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A8D42D-2ECC-4C10-A6D1-99DFB0DC5F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documentManagement/types"/>
    <ds:schemaRef ds:uri="5e41b080-9453-459c-bb93-b19be7335f42"/>
    <ds:schemaRef ds:uri="http://schemas.microsoft.com/office/2006/metadata/properties"/>
    <ds:schemaRef ds:uri="http://schemas.openxmlformats.org/package/2006/metadata/core-properties"/>
    <ds:schemaRef ds:uri="4e58ebf2-e4df-4cd3-9186-1e42b3ede124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86416</TotalTime>
  <Words>1495</Words>
  <Application>Microsoft Office PowerPoint</Application>
  <PresentationFormat>Custom</PresentationFormat>
  <Paragraphs>182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Breeze</vt:lpstr>
      <vt:lpstr>Module 5: Lesson 3  Transformations – Join</vt:lpstr>
      <vt:lpstr>Join</vt:lpstr>
      <vt:lpstr>Join</vt:lpstr>
      <vt:lpstr>Join</vt:lpstr>
      <vt:lpstr>Using an Inner Join</vt:lpstr>
      <vt:lpstr>Using an Outer Join</vt:lpstr>
      <vt:lpstr>What if Two Columns Have the Same Name?</vt:lpstr>
      <vt:lpstr>What if Two Columns Have the Same Name?</vt:lpstr>
      <vt:lpstr>Approaches for Handling Duplicate Column Names</vt:lpstr>
      <vt:lpstr>What if Two Columns Have the Same Name?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Judy Tseng</cp:lastModifiedBy>
  <cp:revision>289</cp:revision>
  <cp:lastPrinted>2024-01-03T15:49:50Z</cp:lastPrinted>
  <dcterms:created xsi:type="dcterms:W3CDTF">2019-02-13T16:04:21Z</dcterms:created>
  <dcterms:modified xsi:type="dcterms:W3CDTF">2024-09-17T20:12:33Z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BEAC4C60-ED7C-4932-BFDA-F64655CC83A4</vt:lpwstr>
  </property>
  <property fmtid="{D5CDD505-2E9C-101B-9397-08002B2CF9AE}" pid="4" name="ArticulatePath">
    <vt:lpwstr>Module 5 01042024</vt:lpwstr>
  </property>
  <property fmtid="{D5CDD505-2E9C-101B-9397-08002B2CF9AE}" pid="5" name="MediaServiceImageTags">
    <vt:lpwstr/>
  </property>
</Properties>
</file>