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0"/>
  </p:notesMasterIdLst>
  <p:sldIdLst>
    <p:sldId id="938" r:id="rId5"/>
    <p:sldId id="769" r:id="rId6"/>
    <p:sldId id="787" r:id="rId7"/>
    <p:sldId id="786" r:id="rId8"/>
    <p:sldId id="791" r:id="rId9"/>
    <p:sldId id="792" r:id="rId10"/>
    <p:sldId id="567" r:id="rId11"/>
    <p:sldId id="793" r:id="rId12"/>
    <p:sldId id="794" r:id="rId13"/>
    <p:sldId id="795" r:id="rId14"/>
    <p:sldId id="796" r:id="rId15"/>
    <p:sldId id="797" r:id="rId16"/>
    <p:sldId id="798" r:id="rId17"/>
    <p:sldId id="799" r:id="rId18"/>
    <p:sldId id="800" r:id="rId19"/>
  </p:sldIdLst>
  <p:sldSz cx="18288000" cy="10287000"/>
  <p:notesSz cx="9144000" cy="6858000"/>
  <p:custDataLst>
    <p:tags r:id="rId21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9"/>
    <p:restoredTop sz="91693"/>
  </p:normalViewPr>
  <p:slideViewPr>
    <p:cSldViewPr snapToGrid="0" snapToObjects="1">
      <p:cViewPr varScale="1">
        <p:scale>
          <a:sx n="68" d="100"/>
          <a:sy n="68" d="100"/>
        </p:scale>
        <p:origin x="654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147B-6250-B74A-893B-83F308D48EF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42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5: </a:t>
            </a:r>
            <a:r>
              <a:rPr lang="en-US"/>
              <a:t>Lesson 4 </a:t>
            </a:r>
            <a:br>
              <a:rPr lang="en-US" dirty="0"/>
            </a:br>
            <a:r>
              <a:rPr lang="en-US" sz="6000" dirty="0"/>
              <a:t>Transformations – Aggregations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896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Spark aggregations provide methods for condensing large datasets into concise summaries, enabling efficient extraction of key statistical indicators and trends.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A rich assortment of built-in aggregate functions caters to varied analytical needs. From calculating central tendency measures like mean and median to identifying extreme values with min and max.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Aggregations often involve organizing data into defined groups based on shared characteristics to facilitate subgroup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Spark aggregations are a powerful tool for data exploration, quickly condensing vast datasets into key insights that guide hypothesis formation and direct further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76092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Spark offers three general categories of data aggregations: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</a:t>
            </a:r>
          </a:p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Summarizes various characteristics of a DataFrame as a whole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b="1" dirty="0">
                <a:solidFill>
                  <a:schemeClr val="tx1"/>
                </a:solidFill>
              </a:rPr>
              <a:t>Aggregation (Column) Functions</a:t>
            </a:r>
          </a:p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Summarizes various characteristics of one or more DataFrame columns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/>
                </a:solidFill>
              </a:rPr>
              <a:t>Groupings</a:t>
            </a:r>
          </a:p>
          <a:p>
            <a:pPr algn="ctr"/>
            <a:r>
              <a:rPr lang="en-US" sz="2800" dirty="0">
                <a:solidFill>
                  <a:schemeClr val="bg2"/>
                </a:solidFill>
              </a:rPr>
              <a:t>Summarizes various characteristics of DataFrame rows that share the same value for one or more columns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2568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DataFrame Aggregations – summary()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Computes specified statistics for numeric and string columns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DataFrame.summary(*statistics) → DataFrame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Available statistics are: - count - mean - stddev - min - max - arbitrary approximate percentiles specified as a percentage (e.g., 75%)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If no statistics are given, this function computes count, mean, stddev, min, approximate quartiles (percentiles at 25%, 50%, and 75%), and max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41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DataFrame Aggregations – summary()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If no statistics are given, this function computes count, mean, stddev, min, approximate quartiles (percentiles at 25%, 50%, and 75%), and max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4F97B4-DF36-DA1D-0F0E-93EADAD53EF7}"/>
              </a:ext>
            </a:extLst>
          </p:cNvPr>
          <p:cNvSpPr txBox="1"/>
          <p:nvPr/>
        </p:nvSpPr>
        <p:spPr>
          <a:xfrm>
            <a:off x="616226" y="5792896"/>
            <a:ext cx="58245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CFCF43-0354-233E-0390-F49E9C268912}"/>
              </a:ext>
            </a:extLst>
          </p:cNvPr>
          <p:cNvSpPr txBox="1"/>
          <p:nvPr/>
        </p:nvSpPr>
        <p:spPr>
          <a:xfrm>
            <a:off x="7036077" y="5654397"/>
            <a:ext cx="99565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+-------+-----------------+------------------+--------------------+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|summary|              mpg|        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+-------+-----------------+------------------+--------------------+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count|                6|                 6|                  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mean|32.18333333333334|              64.0|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stddev|8.104916203556128|14.422205101855958|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min|             19.8|             48.00|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25%|             29.0|              49.0|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50%|             31.6|              61.0|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75%|             36.4|              74.0|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max|             44.3|             85.00|vw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+-------+-----------------+------------------+--------------------+</a:t>
            </a:r>
          </a:p>
        </p:txBody>
      </p:sp>
      <p:sp>
        <p:nvSpPr>
          <p:cNvPr id="19" name="Circular Arrow 18">
            <a:extLst>
              <a:ext uri="{FF2B5EF4-FFF2-40B4-BE49-F238E27FC236}">
                <a16:creationId xmlns:a16="http://schemas.microsoft.com/office/drawing/2014/main" id="{780F35E7-777D-2447-F979-90A37E6F4C84}"/>
              </a:ext>
            </a:extLst>
          </p:cNvPr>
          <p:cNvSpPr/>
          <p:nvPr/>
        </p:nvSpPr>
        <p:spPr>
          <a:xfrm>
            <a:off x="5864282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A11998-7959-198F-7AFC-0ECF934B94BA}"/>
              </a:ext>
            </a:extLst>
          </p:cNvPr>
          <p:cNvSpPr txBox="1"/>
          <p:nvPr/>
        </p:nvSpPr>
        <p:spPr>
          <a:xfrm>
            <a:off x="3905403" y="4240232"/>
            <a:ext cx="52957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summaryDF = srcDF.summary()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1" name="Rectangular Callout 20">
            <a:extLst>
              <a:ext uri="{FF2B5EF4-FFF2-40B4-BE49-F238E27FC236}">
                <a16:creationId xmlns:a16="http://schemas.microsoft.com/office/drawing/2014/main" id="{399AF4C3-C958-39D0-27CB-A27CAEC1C751}"/>
              </a:ext>
            </a:extLst>
          </p:cNvPr>
          <p:cNvSpPr/>
          <p:nvPr/>
        </p:nvSpPr>
        <p:spPr>
          <a:xfrm>
            <a:off x="11525250" y="3886200"/>
            <a:ext cx="5105095" cy="990600"/>
          </a:xfrm>
          <a:prstGeom prst="wedgeRectCallout">
            <a:avLst>
              <a:gd name="adj1" fmla="val -63799"/>
              <a:gd name="adj2" fmla="val 225961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  <a:effectLst/>
              </a:rPr>
              <a:t>When columns are counted rather than whole rows, null values are excluded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38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DataFrame Aggregations – summary()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If no statistics are given, this function computes count, mean, stddev, min, approximate quartiles (percentiles at 25%, 50%, and 75%), and max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4F97B4-DF36-DA1D-0F0E-93EADAD53EF7}"/>
              </a:ext>
            </a:extLst>
          </p:cNvPr>
          <p:cNvSpPr txBox="1"/>
          <p:nvPr/>
        </p:nvSpPr>
        <p:spPr>
          <a:xfrm>
            <a:off x="616226" y="5792896"/>
            <a:ext cx="58245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9" name="Circular Arrow 18">
            <a:extLst>
              <a:ext uri="{FF2B5EF4-FFF2-40B4-BE49-F238E27FC236}">
                <a16:creationId xmlns:a16="http://schemas.microsoft.com/office/drawing/2014/main" id="{780F35E7-777D-2447-F979-90A37E6F4C84}"/>
              </a:ext>
            </a:extLst>
          </p:cNvPr>
          <p:cNvSpPr/>
          <p:nvPr/>
        </p:nvSpPr>
        <p:spPr>
          <a:xfrm>
            <a:off x="5864282" y="4819650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A11998-7959-198F-7AFC-0ECF934B94BA}"/>
              </a:ext>
            </a:extLst>
          </p:cNvPr>
          <p:cNvSpPr txBox="1"/>
          <p:nvPr/>
        </p:nvSpPr>
        <p:spPr>
          <a:xfrm>
            <a:off x="1066953" y="4139147"/>
            <a:ext cx="109668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summaryDF = srcDF.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summary('min', 'max', 'mean', 'stddev')</a:t>
            </a:r>
          </a:p>
          <a:p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2782E-E6C1-D184-0755-1AF4CA2FC3A0}"/>
              </a:ext>
            </a:extLst>
          </p:cNvPr>
          <p:cNvSpPr txBox="1"/>
          <p:nvPr/>
        </p:nvSpPr>
        <p:spPr>
          <a:xfrm>
            <a:off x="6637502" y="6208394"/>
            <a:ext cx="97754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+-------+-----------------+------------------+--------------------+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|summary|              mpg|        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+-------+-----------------+------------------+--------------------+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min|             19.8|             48.00|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max|             44.3|             85.00|vw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mean|32.18333333333334|              64.0|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stddev|8.104916203556128|14.422205101855958|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+-------+-----------------+------------------+--------------------+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56402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DataFrame Aggregations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corr(col1, col2)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cov(col1, col2)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crosstab(col1, col2)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Calculates the Pearson correlation coefficient of two columns of a DataFrame as a double value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Calculate the sample covariance for the given columns, specified by their names, as a double value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Computes a pair-wise frequency table of the given columns. Also known as a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2117454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(Column) Functions – count()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pyspark.sql.functions.count(col: ColumnOrName) → pyspark.sql.column.Column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Returns the number of non-null values for a Column as a new Column</a:t>
            </a:r>
            <a:endParaRPr lang="en-US" sz="2800" i="1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7161743" y="544189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494368" y="4815185"/>
            <a:ext cx="12706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countDF = srcDF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.select(count(col('mpg')), count(col('horsepower')))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86BE4DE5-29A5-836B-BB6A-AA60954D1274}"/>
              </a:ext>
            </a:extLst>
          </p:cNvPr>
          <p:cNvSpPr/>
          <p:nvPr/>
        </p:nvSpPr>
        <p:spPr>
          <a:xfrm>
            <a:off x="11619105" y="5893304"/>
            <a:ext cx="5563997" cy="990600"/>
          </a:xfrm>
          <a:prstGeom prst="wedgeRectCallout">
            <a:avLst>
              <a:gd name="adj1" fmla="val -77883"/>
              <a:gd name="adj2" fmla="val -95193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Can only use aggregation functions as arguments to select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0EBFC-A736-A888-6031-A5C888B84FCA}"/>
              </a:ext>
            </a:extLst>
          </p:cNvPr>
          <p:cNvSpPr txBox="1"/>
          <p:nvPr/>
        </p:nvSpPr>
        <p:spPr>
          <a:xfrm>
            <a:off x="1088574" y="6393239"/>
            <a:ext cx="556399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37B364-3050-C64D-F023-A7A4D1AF1CDB}"/>
              </a:ext>
            </a:extLst>
          </p:cNvPr>
          <p:cNvSpPr txBox="1"/>
          <p:nvPr/>
        </p:nvSpPr>
        <p:spPr>
          <a:xfrm>
            <a:off x="8820151" y="7192638"/>
            <a:ext cx="11487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+----------+-----------------+                                                 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|count(mpg)|count(horsepower)|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+----------+-----------------+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6|               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+----------+-----------------+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229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Aggregation (Column) Functions – min(), max()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pyspark.sql.functions.min(col: ColumnOrName) → pyspark.sql.column.Column</a:t>
            </a:r>
          </a:p>
          <a:p>
            <a:pPr algn="ctr"/>
            <a:r>
              <a:rPr lang="en-US" sz="2800" i="0" dirty="0">
                <a:solidFill>
                  <a:schemeClr val="bg2"/>
                </a:solidFill>
                <a:effectLst/>
              </a:rPr>
              <a:t>pyspark.sql.functions.max(col: ColumnOrName) → pyspark.sql.column.Column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Returns the  min/max value for a Column as a new Column</a:t>
            </a:r>
            <a:endParaRPr lang="en-US" sz="2800" i="1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7161743" y="544189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494368" y="4815185"/>
            <a:ext cx="12706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minMaxDF = srcDF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.select(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min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(col('mpg')), 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max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('horsepower'))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0EBFC-A736-A888-6031-A5C888B84FCA}"/>
              </a:ext>
            </a:extLst>
          </p:cNvPr>
          <p:cNvSpPr txBox="1"/>
          <p:nvPr/>
        </p:nvSpPr>
        <p:spPr>
          <a:xfrm>
            <a:off x="1088574" y="6393239"/>
            <a:ext cx="556399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A1840-9D4E-3A09-0A21-68B2282F9F87}"/>
              </a:ext>
            </a:extLst>
          </p:cNvPr>
          <p:cNvSpPr txBox="1"/>
          <p:nvPr/>
        </p:nvSpPr>
        <p:spPr>
          <a:xfrm>
            <a:off x="8484661" y="7378582"/>
            <a:ext cx="91535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+--------+---------------+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|min(mpg)|max(horsepower)|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+--------+---------------+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19.8|          85.00|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+--------+---------------+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560189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sz="6000" dirty="0"/>
              <a:t>Aggregation (Column) Functions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5910566"/>
            <a:ext cx="445008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avg(col: ColumnOrName)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mean(col: ColumnOrName)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stddev_samp(col: ColumnOrName)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792480" y="5910566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sum(col: ColumnOrName)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Returns the average of the values in a Column as a Column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Returns the average of the values in a Column as a Column. An alias of avg()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Returns the unbiased sample standard deviation of a Column as a Column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4541519" y="5910566"/>
            <a:ext cx="1200912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R</a:t>
            </a:r>
            <a:r>
              <a:rPr lang="en-US" sz="2400" b="0" i="0" dirty="0">
                <a:solidFill>
                  <a:schemeClr val="bg2"/>
                </a:solidFill>
                <a:effectLst/>
              </a:rPr>
              <a:t>eturns the sum of all values in a Column as a Column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141AAE-90DD-30A6-A9B4-8198A5CD83A0}"/>
              </a:ext>
            </a:extLst>
          </p:cNvPr>
          <p:cNvSpPr/>
          <p:nvPr/>
        </p:nvSpPr>
        <p:spPr>
          <a:xfrm>
            <a:off x="16214" y="7074641"/>
            <a:ext cx="445008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06BA78-B778-C7B9-D84F-6119BD8CAFBC}"/>
              </a:ext>
            </a:extLst>
          </p:cNvPr>
          <p:cNvSpPr/>
          <p:nvPr/>
        </p:nvSpPr>
        <p:spPr>
          <a:xfrm>
            <a:off x="808694" y="7074641"/>
            <a:ext cx="3657600" cy="1042416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var_samp(col: ColumnOrName)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4E9B69-8B38-86C0-837F-B26D9C5DD71F}"/>
              </a:ext>
            </a:extLst>
          </p:cNvPr>
          <p:cNvSpPr/>
          <p:nvPr/>
        </p:nvSpPr>
        <p:spPr>
          <a:xfrm>
            <a:off x="4557733" y="7074641"/>
            <a:ext cx="1200912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R</a:t>
            </a:r>
            <a:r>
              <a:rPr lang="en-US" sz="2400" b="0" i="0" dirty="0">
                <a:solidFill>
                  <a:schemeClr val="bg2"/>
                </a:solidFill>
                <a:effectLst/>
              </a:rPr>
              <a:t>eturns the unbiased sample variance of the values in a Column as a Column</a:t>
            </a:r>
            <a:endParaRPr 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00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Groupings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Spark data grouping enables dividing large datasets into distinct subsets based on shared characteristics or attributes:</a:t>
            </a:r>
          </a:p>
          <a:p>
            <a:pPr marL="0" indent="0" algn="ctr">
              <a:buNone/>
            </a:pPr>
            <a:r>
              <a:rPr lang="en-US" sz="2800" b="1" i="0" dirty="0">
                <a:solidFill>
                  <a:schemeClr val="bg2"/>
                </a:solidFill>
                <a:effectLst/>
              </a:rPr>
              <a:t>DataFrame.groupBy(*cols).aggregation-function()</a:t>
            </a:r>
            <a:r>
              <a:rPr lang="en-US" altLang="en-US" sz="2800" b="1" dirty="0">
                <a:solidFill>
                  <a:schemeClr val="bg2"/>
                </a:solidFill>
              </a:rPr>
              <a:t> → DataFrame</a:t>
            </a:r>
            <a:endParaRPr lang="en-US" sz="2800" b="1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By grouping data by categorical variables (e.g., product categories, geographic regions), you can investigate trends and patterns within each category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Data grouping often serves as a precursor to aggregations</a:t>
            </a:r>
          </a:p>
          <a:p>
            <a:pPr algn="ctr"/>
            <a:r>
              <a:rPr lang="en-US" altLang="en-US" sz="2800" b="1" dirty="0">
                <a:solidFill>
                  <a:schemeClr val="tx1"/>
                </a:solidFill>
              </a:rPr>
              <a:t>DataFrame.groupBy(*cols).agg(*exprs) → DataFrame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Calculating statistics like means, medians, and counts becomes more meaningful when applied to smaller, cohesive subgroups, revealing nuances within the broader data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1102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Groupings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Spark data grouping enables dividing large datasets into distinct subsets based on shared characteristics or attributes</a:t>
            </a:r>
            <a:r>
              <a:rPr lang="en-US" sz="2800" dirty="0">
                <a:solidFill>
                  <a:schemeClr val="bg2"/>
                </a:solidFill>
              </a:rPr>
              <a:t>:</a:t>
            </a:r>
            <a:endParaRPr lang="en-US" sz="280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i="0" dirty="0">
                <a:solidFill>
                  <a:schemeClr val="tx1"/>
                </a:solidFill>
                <a:effectLst/>
              </a:rPr>
              <a:t>DataFrame.groupBy(*cols)</a:t>
            </a:r>
            <a:r>
              <a:rPr lang="en-US" altLang="en-US" sz="2800" b="1" dirty="0">
                <a:solidFill>
                  <a:schemeClr val="tx1"/>
                </a:solidFill>
              </a:rPr>
              <a:t> → GroupedData</a:t>
            </a:r>
            <a:endParaRPr lang="en-US" sz="2800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Data grouping serves as a precursor to aggregations</a:t>
            </a:r>
          </a:p>
          <a:p>
            <a:pPr algn="ctr"/>
            <a:r>
              <a:rPr lang="en-US" altLang="en-US" sz="2800" b="1" dirty="0">
                <a:solidFill>
                  <a:schemeClr val="tx1"/>
                </a:solidFill>
              </a:rPr>
              <a:t>DataFrame.groupBy(*cols).</a:t>
            </a:r>
            <a:r>
              <a:rPr lang="en-US" altLang="en-US" sz="2800" b="1" dirty="0" err="1">
                <a:solidFill>
                  <a:schemeClr val="tx1"/>
                </a:solidFill>
              </a:rPr>
              <a:t>agg</a:t>
            </a:r>
            <a:r>
              <a:rPr lang="en-US" altLang="en-US" sz="2800" b="1" dirty="0">
                <a:solidFill>
                  <a:schemeClr val="tx1"/>
                </a:solidFill>
              </a:rPr>
              <a:t>(...) → DataFrame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b="1" dirty="0">
                <a:solidFill>
                  <a:schemeClr val="bg2"/>
                </a:solidFill>
              </a:rPr>
              <a:t>DataFrame.groupBy(*cols).agg-fun() → DataFrame</a:t>
            </a:r>
          </a:p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where agg-fun() includes agg(), count(), max(), mean(), min(), sum(), etc.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07167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Groupings – GroupedData.count()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i="0" dirty="0">
                <a:solidFill>
                  <a:schemeClr val="bg2"/>
                </a:solidFill>
                <a:effectLst/>
              </a:rPr>
              <a:t>GroupedData.count()</a:t>
            </a:r>
            <a:r>
              <a:rPr lang="en-US" altLang="en-US" sz="2800" b="1" dirty="0">
                <a:solidFill>
                  <a:schemeClr val="bg2"/>
                </a:solidFill>
              </a:rPr>
              <a:t> → DataFrame</a:t>
            </a:r>
            <a:endParaRPr lang="en-US" sz="2800" b="1" i="0" dirty="0">
              <a:solidFill>
                <a:schemeClr val="bg2"/>
              </a:solidFill>
              <a:effectLst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Counts the number of records for each group</a:t>
            </a:r>
            <a:endParaRPr lang="en-US" sz="2800" i="1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11143188" y="544189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7476063" y="4845109"/>
            <a:ext cx="8716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aggDF = srcDF.groupBy('engine-name').count()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A5A8A1-AB6C-BBBF-A421-9062D6BE95E7}"/>
              </a:ext>
            </a:extLst>
          </p:cNvPr>
          <p:cNvSpPr txBox="1"/>
          <p:nvPr/>
        </p:nvSpPr>
        <p:spPr>
          <a:xfrm>
            <a:off x="1009646" y="6648451"/>
            <a:ext cx="105537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|cylinders| mpg|horsepower|modelyear|             carname|engine-name|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4|29.0|     49.00|       73|            fiat 128|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4|32.0|     61.00|       74|          datsun 710|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4|44.3|     48.00|       80|vw rabbit c (diesel)|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4|31.6|     74.00|       81|           mazda 626|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5|36.4|     67.00|       80| audi 5000s (diesel)|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6|19.8|     85.00|       79|    mercury zephyr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8|NULL|      NULL|     NULL|                NULL|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ED8A70-1143-CBED-768A-6E1A174BDD07}"/>
              </a:ext>
            </a:extLst>
          </p:cNvPr>
          <p:cNvSpPr txBox="1"/>
          <p:nvPr/>
        </p:nvSpPr>
        <p:spPr>
          <a:xfrm>
            <a:off x="12482508" y="6795009"/>
            <a:ext cx="35956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|engine-name|count|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v5|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v6|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v8|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v4|    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+-----------+-----+</a:t>
            </a:r>
          </a:p>
        </p:txBody>
      </p:sp>
    </p:spTree>
    <p:extLst>
      <p:ext uri="{BB962C8B-B14F-4D97-AF65-F5344CB8AC3E}">
        <p14:creationId xmlns:p14="http://schemas.microsoft.com/office/powerpoint/2010/main" val="168573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Groupings – GroupedData.count()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i="0" dirty="0">
                <a:solidFill>
                  <a:schemeClr val="bg2"/>
                </a:solidFill>
                <a:effectLst/>
              </a:rPr>
              <a:t>GroupedData.count()</a:t>
            </a:r>
            <a:r>
              <a:rPr lang="en-US" altLang="en-US" sz="2800" b="1" dirty="0">
                <a:solidFill>
                  <a:schemeClr val="bg2"/>
                </a:solidFill>
              </a:rPr>
              <a:t> → DataFrame</a:t>
            </a:r>
            <a:endParaRPr lang="en-US" sz="2800" b="1" i="0" dirty="0">
              <a:solidFill>
                <a:schemeClr val="bg2"/>
              </a:solidFill>
              <a:effectLst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Counts the number of records for each group</a:t>
            </a:r>
            <a:endParaRPr lang="en-US" sz="2800" i="1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10192936" y="469894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5488643" y="4102159"/>
            <a:ext cx="10782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aggDF = srcDF.groupBy('engine-name’, ‘modelyear’).count()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A5A8A1-AB6C-BBBF-A421-9062D6BE95E7}"/>
              </a:ext>
            </a:extLst>
          </p:cNvPr>
          <p:cNvSpPr txBox="1"/>
          <p:nvPr/>
        </p:nvSpPr>
        <p:spPr>
          <a:xfrm>
            <a:off x="400051" y="5905501"/>
            <a:ext cx="105537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|cylinders| mpg|horsepower|modelyear|             carname|engine-name|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4|29.0|     49.00|       73|            fiat 128|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4|32.0|     61.00|       74|          datsun 710|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4|44.3|     48.00|       80|vw rabbit c (diesel)|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4|31.6|     74.00|       81|           mazda 626|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5|36.4|     67.00|       80| audi 5000s (diesel)|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6|19.8|     85.00|       79|    mercury zephyr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8|NULL|      NULL|     NULL|                NULL|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A4A53-FA26-B2F5-13DC-7049CEF12983}"/>
              </a:ext>
            </a:extLst>
          </p:cNvPr>
          <p:cNvSpPr txBox="1"/>
          <p:nvPr/>
        </p:nvSpPr>
        <p:spPr>
          <a:xfrm>
            <a:off x="11568113" y="6020350"/>
            <a:ext cx="45862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+-----------+---------+-----+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|engine-name|modelyear|count|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+-----------+---------+-----+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v4|       73|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v5|       80|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v4|       80|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v6|       79|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v4|       81|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v8|     NULL|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v4|       74|    1|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+-----------+---------+-----+</a:t>
            </a:r>
          </a:p>
        </p:txBody>
      </p:sp>
    </p:spTree>
    <p:extLst>
      <p:ext uri="{BB962C8B-B14F-4D97-AF65-F5344CB8AC3E}">
        <p14:creationId xmlns:p14="http://schemas.microsoft.com/office/powerpoint/2010/main" val="369713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Groupings – GroupedData.agg()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i="0" dirty="0">
                <a:solidFill>
                  <a:schemeClr val="bg2"/>
                </a:solidFill>
                <a:effectLst/>
              </a:rPr>
              <a:t>GroupedData.</a:t>
            </a:r>
            <a:r>
              <a:rPr lang="en-US" sz="2800" b="1" dirty="0">
                <a:solidFill>
                  <a:schemeClr val="bg2"/>
                </a:solidFill>
              </a:rPr>
              <a:t>agg</a:t>
            </a:r>
            <a:r>
              <a:rPr lang="en-US" sz="2800" b="1" i="0" dirty="0">
                <a:solidFill>
                  <a:schemeClr val="bg2"/>
                </a:solidFill>
                <a:effectLst/>
              </a:rPr>
              <a:t>(*exprs)</a:t>
            </a:r>
            <a:r>
              <a:rPr lang="en-US" altLang="en-US" sz="2800" b="1" dirty="0">
                <a:solidFill>
                  <a:schemeClr val="bg2"/>
                </a:solidFill>
              </a:rPr>
              <a:t> → DataFrame</a:t>
            </a:r>
            <a:endParaRPr lang="en-US" sz="2800" b="1" i="0" dirty="0">
              <a:solidFill>
                <a:schemeClr val="bg2"/>
              </a:solidFill>
              <a:effectLst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Used to calculate more than one aggregate at a time on grouped DataFrame</a:t>
            </a:r>
            <a:endParaRPr lang="en-US" sz="2800" i="1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9763686" y="4751627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057400" y="4102467"/>
            <a:ext cx="15735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aggDF = srcDF.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groupBy('engine-name').agg(min('mpg'), max('mpg'), min('modelyear'))</a:t>
            </a:r>
          </a:p>
          <a:p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A5A8A1-AB6C-BBBF-A421-9062D6BE95E7}"/>
              </a:ext>
            </a:extLst>
          </p:cNvPr>
          <p:cNvSpPr txBox="1"/>
          <p:nvPr/>
        </p:nvSpPr>
        <p:spPr>
          <a:xfrm>
            <a:off x="400051" y="5905501"/>
            <a:ext cx="105537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|cylinders| mpg|horsepower|modelyear|             carname|engine-name|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4|29.0|     49.00|       73|            fiat 128|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4|32.0|     61.00|       74|          datsun 710|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4|44.3|     48.00|       80|vw rabbit c (diesel)|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4|31.6|     74.00|       81|           mazda 626|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5|36.4|     67.00|       80| audi 5000s (diesel)|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6|19.8|     85.00|       79|    mercury zephyr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8|NULL|      NULL|     NULL|                NULL|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C3BD3-3627-1FE7-6E84-F76BA2A473BE}"/>
              </a:ext>
            </a:extLst>
          </p:cNvPr>
          <p:cNvSpPr txBox="1"/>
          <p:nvPr/>
        </p:nvSpPr>
        <p:spPr>
          <a:xfrm>
            <a:off x="10720670" y="6320999"/>
            <a:ext cx="67770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+-----------+--------+--------+--------------+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|engine-name|min(mpg)|max(mpg)|min(modelyear)|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+-----------+--------+--------+--------------+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v4|    29.0|    44.3|            73|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v5|    36.4|    36.4|            80|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v6|    19.8|    19.8|            79|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v8|    NULL|    NULL|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+-----------+--------+--------+--------------+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19245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0339FECF-9A8E-47B9-8216-564A6227D264}"/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85490</TotalTime>
  <Words>1875</Words>
  <Application>Microsoft Office PowerPoint</Application>
  <PresentationFormat>Custom</PresentationFormat>
  <Paragraphs>215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Menlo</vt:lpstr>
      <vt:lpstr>Wingdings 2</vt:lpstr>
      <vt:lpstr>Breeze</vt:lpstr>
      <vt:lpstr>Module 5: Lesson 4  Transformations – Aggregations</vt:lpstr>
      <vt:lpstr>Aggregations</vt:lpstr>
      <vt:lpstr>Aggregations</vt:lpstr>
      <vt:lpstr>DataFrame Aggregations – summary()</vt:lpstr>
      <vt:lpstr>DataFrame Aggregations – summary()</vt:lpstr>
      <vt:lpstr>DataFrame Aggregations – summary()</vt:lpstr>
      <vt:lpstr>Other DataFrame Aggregations</vt:lpstr>
      <vt:lpstr>Aggregation (Column) Functions – count()</vt:lpstr>
      <vt:lpstr>Aggregation (Column) Functions – min(), max()</vt:lpstr>
      <vt:lpstr>Other Aggregation (Column) Functions </vt:lpstr>
      <vt:lpstr>Groupings</vt:lpstr>
      <vt:lpstr>Groupings</vt:lpstr>
      <vt:lpstr>Groupings – GroupedData.count()</vt:lpstr>
      <vt:lpstr>Groupings – GroupedData.count()</vt:lpstr>
      <vt:lpstr>Groupings – GroupedData.agg()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284</cp:revision>
  <cp:lastPrinted>2024-01-03T15:49:50Z</cp:lastPrinted>
  <dcterms:created xsi:type="dcterms:W3CDTF">2019-02-13T16:04:21Z</dcterms:created>
  <dcterms:modified xsi:type="dcterms:W3CDTF">2024-06-23T18:00:51Z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916C8C04-72A5-4A19-AAC3-76679D2CCDC7</vt:lpwstr>
  </property>
  <property fmtid="{D5CDD505-2E9C-101B-9397-08002B2CF9AE}" pid="4" name="ArticulatePath">
    <vt:lpwstr>Module 5 01042024</vt:lpwstr>
  </property>
</Properties>
</file>