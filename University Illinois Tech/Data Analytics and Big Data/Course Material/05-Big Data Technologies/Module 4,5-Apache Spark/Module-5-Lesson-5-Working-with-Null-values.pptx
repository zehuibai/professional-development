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7"/>
  </p:notesMasterIdLst>
  <p:sldIdLst>
    <p:sldId id="953" r:id="rId5"/>
    <p:sldId id="822" r:id="rId6"/>
    <p:sldId id="954" r:id="rId7"/>
    <p:sldId id="823" r:id="rId8"/>
    <p:sldId id="824" r:id="rId9"/>
    <p:sldId id="825" r:id="rId10"/>
    <p:sldId id="956" r:id="rId11"/>
    <p:sldId id="957" r:id="rId12"/>
    <p:sldId id="958" r:id="rId13"/>
    <p:sldId id="959" r:id="rId14"/>
    <p:sldId id="960" r:id="rId15"/>
    <p:sldId id="961" r:id="rId16"/>
  </p:sldIdLst>
  <p:sldSz cx="18288000" cy="10287000"/>
  <p:notesSz cx="9144000" cy="6858000"/>
  <p:custDataLst>
    <p:tags r:id="rId18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ABA"/>
    <a:srgbClr val="0070C0"/>
    <a:srgbClr val="959595"/>
    <a:srgbClr val="E98D0A"/>
    <a:srgbClr val="969696"/>
    <a:srgbClr val="3F4F6C"/>
    <a:srgbClr val="C50724"/>
    <a:srgbClr val="7C7C7C"/>
    <a:srgbClr val="DFDFDF"/>
    <a:srgbClr val="FFA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9"/>
    <p:restoredTop sz="91693"/>
  </p:normalViewPr>
  <p:slideViewPr>
    <p:cSldViewPr snapToGrid="0" snapToObjects="1">
      <p:cViewPr varScale="1">
        <p:scale>
          <a:sx n="68" d="100"/>
          <a:sy n="68" d="100"/>
        </p:scale>
        <p:origin x="654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Module 5: Lesson 5 </a:t>
            </a:r>
            <a:br>
              <a:rPr lang="en-US" dirty="0"/>
            </a:br>
            <a:r>
              <a:rPr lang="en-US" sz="4400" dirty="0"/>
              <a:t>Transformations – Working with Null values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711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Null Values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In Spark DataFrames, null values are represented using the special value null. These null values can exist in any column and need to be appropriately addressed during data processing and analysis</a:t>
            </a:r>
            <a:endParaRPr lang="en-US" sz="240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Y</a:t>
            </a:r>
            <a:r>
              <a:rPr lang="en-US" sz="2800" i="0" dirty="0">
                <a:solidFill>
                  <a:schemeClr val="tx1"/>
                </a:solidFill>
                <a:effectLst/>
              </a:rPr>
              <a:t>ou should always use null to represent missing values rather than using an empty string etc. as Spark </a:t>
            </a:r>
            <a:r>
              <a:rPr lang="en-US" sz="2800" dirty="0">
                <a:solidFill>
                  <a:schemeClr val="tx1"/>
                </a:solidFill>
              </a:rPr>
              <a:t>Spark can better optimize working with null values </a:t>
            </a:r>
            <a:endParaRPr lang="en-US" sz="280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tx1"/>
                </a:solidFill>
                <a:effectLst/>
              </a:rPr>
              <a:t>Spark offers multiple choices for dealing with null values, including dropping rows or columns containing nulls using methods like </a:t>
            </a:r>
            <a:r>
              <a:rPr lang="en-US" sz="2800" i="0" dirty="0" err="1">
                <a:solidFill>
                  <a:schemeClr val="tx1"/>
                </a:solidFill>
                <a:effectLst/>
              </a:rPr>
              <a:t>dropna</a:t>
            </a:r>
            <a:r>
              <a:rPr lang="en-US" sz="2800" i="0" dirty="0">
                <a:solidFill>
                  <a:schemeClr val="tx1"/>
                </a:solidFill>
                <a:effectLst/>
              </a:rPr>
              <a:t>() and filling nulls with specified values using </a:t>
            </a:r>
            <a:r>
              <a:rPr lang="en-US" sz="2800" i="0" dirty="0" err="1">
                <a:solidFill>
                  <a:schemeClr val="tx1"/>
                </a:solidFill>
                <a:effectLst/>
              </a:rPr>
              <a:t>fillna</a:t>
            </a:r>
            <a:r>
              <a:rPr lang="en-US" sz="2800" i="0" dirty="0">
                <a:solidFill>
                  <a:schemeClr val="tx1"/>
                </a:solidFill>
                <a:effectLst/>
              </a:rPr>
              <a:t>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Further, Spark offers functions like isNull(), and isNotNull() to identify null values within DataFrames</a:t>
            </a:r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3516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err="1"/>
              <a:t>Fillna</a:t>
            </a:r>
            <a:endParaRPr lang="en-US" sz="5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>
                <a:solidFill>
                  <a:schemeClr val="bg2"/>
                </a:solidFill>
                <a:effectLst/>
              </a:rPr>
              <a:t>Replace null values</a:t>
            </a:r>
            <a:endParaRPr lang="en-US" sz="2400" i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chemeClr val="tx1"/>
                </a:solidFill>
              </a:rPr>
              <a:t>DataFrame.fillna</a:t>
            </a:r>
            <a:r>
              <a:rPr lang="en-US" sz="2800" b="1" dirty="0">
                <a:solidFill>
                  <a:schemeClr val="tx1"/>
                </a:solidFill>
              </a:rPr>
              <a:t>(value, subset) → </a:t>
            </a:r>
            <a:r>
              <a:rPr lang="en-US" sz="2800" b="1" dirty="0" err="1">
                <a:solidFill>
                  <a:schemeClr val="tx1"/>
                </a:solidFill>
              </a:rPr>
              <a:t>DataFrame</a:t>
            </a:r>
            <a:endParaRPr lang="en-US" sz="2800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value is the value to replace null values with. If the value is a </a:t>
            </a:r>
            <a:r>
              <a:rPr lang="en-US" sz="2800" dirty="0" err="1">
                <a:solidFill>
                  <a:schemeClr val="tx1"/>
                </a:solidFill>
              </a:rPr>
              <a:t>dict</a:t>
            </a:r>
            <a:r>
              <a:rPr lang="en-US" sz="2800" dirty="0">
                <a:solidFill>
                  <a:schemeClr val="tx1"/>
                </a:solidFill>
              </a:rPr>
              <a:t>, then subset is ignored and value must be a mapping from column name (string) to replacement value. The replacement value must be an int, float, </a:t>
            </a:r>
            <a:r>
              <a:rPr lang="en-US" sz="2800" dirty="0" err="1">
                <a:solidFill>
                  <a:schemeClr val="tx1"/>
                </a:solidFill>
              </a:rPr>
              <a:t>boolean</a:t>
            </a:r>
            <a:r>
              <a:rPr lang="en-US" sz="2800" dirty="0">
                <a:solidFill>
                  <a:schemeClr val="tx1"/>
                </a:solidFill>
              </a:rPr>
              <a:t>, or string.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chemeClr val="bg2"/>
                </a:solidFill>
              </a:rPr>
              <a:t>s</a:t>
            </a:r>
            <a:r>
              <a:rPr lang="en-US" sz="2800" i="0">
                <a:solidFill>
                  <a:schemeClr val="bg2"/>
                </a:solidFill>
                <a:effectLst/>
              </a:rPr>
              <a:t>ubset is an optional list of column names to consider. Columns specified in subset that do not have matching data types are ignored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68828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err="1"/>
              <a:t>Fillna</a:t>
            </a:r>
            <a:endParaRPr lang="en-US" sz="5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Replace nulls in the column ‘mpg’ with the value 15.0 and nulls in the column ‘</a:t>
            </a:r>
            <a:r>
              <a:rPr lang="en-US" sz="2800" dirty="0" err="1">
                <a:solidFill>
                  <a:schemeClr val="bg2"/>
                </a:solidFill>
              </a:rPr>
              <a:t>carname</a:t>
            </a:r>
            <a:r>
              <a:rPr lang="en-US" sz="2800" dirty="0">
                <a:solidFill>
                  <a:schemeClr val="bg2"/>
                </a:solidFill>
              </a:rPr>
              <a:t>’ with ‘Unknown’</a:t>
            </a:r>
            <a:endParaRPr lang="en-US" sz="28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973855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040030" y="4122355"/>
            <a:ext cx="104584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srcDF.fillna</a:t>
            </a:r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({'mpg': 15.0, 'carname': 'Unknown'})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1120868" y="6021933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datsun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710|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mazda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626|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audi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5000s (diesel)|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4D49-83F6-47D6-06A8-4F6CF054D77D}"/>
              </a:ext>
            </a:extLst>
          </p:cNvPr>
          <p:cNvSpPr txBox="1"/>
          <p:nvPr/>
        </p:nvSpPr>
        <p:spPr>
          <a:xfrm>
            <a:off x="7294468" y="6079083"/>
            <a:ext cx="91535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|15.0|      NULL|             Unknown|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72552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err="1"/>
              <a:t>Fillna</a:t>
            </a:r>
            <a:endParaRPr lang="en-US" sz="5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Fill all null values with 25  for numeric columns</a:t>
            </a:r>
            <a:endParaRPr lang="en-US" sz="2800" u="sng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525619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3599889" y="4122355"/>
            <a:ext cx="104584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srcDF.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fillna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(25)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8D0C9-55CC-6313-77E8-40BBEE00C194}"/>
              </a:ext>
            </a:extLst>
          </p:cNvPr>
          <p:cNvSpPr txBox="1"/>
          <p:nvPr/>
        </p:nvSpPr>
        <p:spPr>
          <a:xfrm>
            <a:off x="672632" y="6021933"/>
            <a:ext cx="58626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mpg|horsepower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     49.00|            fiat 128|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     61.00|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datsun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710|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     48.00|vw rabbit c (diesel)|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     74.00|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mazda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626|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     67.00|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audi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5000s (diesel)|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     85.00|    mercury zephyr 6|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5FAD1-F4B1-B173-4B3C-460B007ACE4E}"/>
              </a:ext>
            </a:extLst>
          </p:cNvPr>
          <p:cNvSpPr txBox="1"/>
          <p:nvPr/>
        </p:nvSpPr>
        <p:spPr>
          <a:xfrm>
            <a:off x="6750421" y="6053393"/>
            <a:ext cx="91535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|29.0|      49.0|            fiat 128|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|32.0|      61.0|          datsun 710|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|44.3|      48.0|vw rabbit c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|31.6|      74.0|           mazda 626|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|36.4|      67.0| audi 5000s (diesel)|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|19.8|      85.0|    mercury zephyr 6|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|25.0|      25.0|                NULL|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00843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 err="1"/>
              <a:t>Fillna</a:t>
            </a:r>
            <a:endParaRPr lang="en-US" sz="5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chemeClr val="bg2"/>
                </a:solidFill>
              </a:rPr>
              <a:t>Fill null values in the ‘horsepower’ column with the column average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471831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304924" y="4122355"/>
            <a:ext cx="15268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col, avg</a:t>
            </a: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srcDF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.fillna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({"horsepower":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srcDF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.agg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(avg("horsepower")).first()[0]})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7A9B9-A9CA-9784-7B9E-779546A51975}"/>
              </a:ext>
            </a:extLst>
          </p:cNvPr>
          <p:cNvSpPr txBox="1"/>
          <p:nvPr/>
        </p:nvSpPr>
        <p:spPr>
          <a:xfrm>
            <a:off x="616226" y="6222617"/>
            <a:ext cx="54814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963725-81E0-FD1E-BC6F-809B7A3912F2}"/>
              </a:ext>
            </a:extLst>
          </p:cNvPr>
          <p:cNvSpPr txBox="1"/>
          <p:nvPr/>
        </p:nvSpPr>
        <p:spPr>
          <a:xfrm>
            <a:off x="13357051" y="6302851"/>
            <a:ext cx="28156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  avg(horsepower)|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|67.66666666666667|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+-----------------+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658A92-961B-3633-53B9-0C9F0FE28232}"/>
              </a:ext>
            </a:extLst>
          </p:cNvPr>
          <p:cNvSpPr txBox="1"/>
          <p:nvPr/>
        </p:nvSpPr>
        <p:spPr>
          <a:xfrm>
            <a:off x="6272422" y="6222617"/>
            <a:ext cx="54814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67|               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5" name="Rectangular Callout 14">
            <a:extLst>
              <a:ext uri="{FF2B5EF4-FFF2-40B4-BE49-F238E27FC236}">
                <a16:creationId xmlns:a16="http://schemas.microsoft.com/office/drawing/2014/main" id="{A4FBEEB2-1D05-6EA1-F77D-B99B518186F7}"/>
              </a:ext>
            </a:extLst>
          </p:cNvPr>
          <p:cNvSpPr/>
          <p:nvPr/>
        </p:nvSpPr>
        <p:spPr>
          <a:xfrm>
            <a:off x="14602449" y="4953941"/>
            <a:ext cx="2815672" cy="990600"/>
          </a:xfrm>
          <a:prstGeom prst="wedgeRectCallout">
            <a:avLst>
              <a:gd name="adj1" fmla="val -118394"/>
              <a:gd name="adj2" fmla="val -58570"/>
            </a:avLst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bg2"/>
                </a:solidFill>
                <a:effectLst/>
              </a:rPr>
              <a:t>Get the first row and then the first value</a:t>
            </a:r>
            <a:endParaRPr lang="en-US" sz="2000">
              <a:solidFill>
                <a:schemeClr val="bg2"/>
              </a:solidFill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BE68377-3CC6-4096-7F0F-6E64FC342DC6}"/>
              </a:ext>
            </a:extLst>
          </p:cNvPr>
          <p:cNvSpPr/>
          <p:nvPr/>
        </p:nvSpPr>
        <p:spPr>
          <a:xfrm rot="5400000">
            <a:off x="9273843" y="2964157"/>
            <a:ext cx="274320" cy="42062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44519EC7-C862-C707-E070-88AC163CEAD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411003" y="5204437"/>
            <a:ext cx="5353884" cy="1098414"/>
          </a:xfrm>
          <a:prstGeom prst="curved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37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Dropna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>
                <a:solidFill>
                  <a:schemeClr val="bg2"/>
                </a:solidFill>
                <a:effectLst/>
              </a:rPr>
              <a:t>Returns a new DataFrame omitting rows with null values</a:t>
            </a:r>
            <a:endParaRPr lang="en-US" sz="2400" i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dirty="0" err="1">
                <a:solidFill>
                  <a:schemeClr val="tx1"/>
                </a:solidFill>
              </a:rPr>
              <a:t>DataFrame.dropna</a:t>
            </a:r>
            <a:r>
              <a:rPr lang="en-US" sz="2800" b="1" dirty="0">
                <a:solidFill>
                  <a:schemeClr val="tx1"/>
                </a:solidFill>
              </a:rPr>
              <a:t>(how='any', thresh=None, subset=None→ </a:t>
            </a:r>
            <a:r>
              <a:rPr lang="en-US" sz="2800" b="1" dirty="0" err="1">
                <a:solidFill>
                  <a:schemeClr val="tx1"/>
                </a:solidFill>
              </a:rPr>
              <a:t>DataFrame</a:t>
            </a:r>
            <a:endParaRPr lang="en-US" sz="2800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If how is ‘any’, drop a row if it contains any nulls. If how is ‘all’, drop a row only if all its values are null. The default is ‘any’.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chemeClr val="bg2"/>
                </a:solidFill>
              </a:rPr>
              <a:t>If thresh is specified, drop rows that have less than thresh non-null values. This overwrites the how parameter. The default is None.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Subset is an optional list of column names to consider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9888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err="1"/>
              <a:t>Dropna</a:t>
            </a:r>
            <a:endParaRPr lang="en-US" sz="5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>
                <a:solidFill>
                  <a:schemeClr val="bg2"/>
                </a:solidFill>
                <a:effectLst/>
              </a:rPr>
              <a:t>Returns a new DataFrame omitting rows with any null values</a:t>
            </a:r>
            <a:endParaRPr lang="en-US" sz="2400" i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23875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3115793" y="4122355"/>
            <a:ext cx="104584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srcDF.dropna</a:t>
            </a:r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(how=’any’)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71704-F746-F545-E1BB-8A92552598EB}"/>
              </a:ext>
            </a:extLst>
          </p:cNvPr>
          <p:cNvSpPr txBox="1"/>
          <p:nvPr/>
        </p:nvSpPr>
        <p:spPr>
          <a:xfrm>
            <a:off x="909638" y="6079083"/>
            <a:ext cx="59007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15FE31-1EE4-818A-FF94-C04DA8C3FB7B}"/>
              </a:ext>
            </a:extLst>
          </p:cNvPr>
          <p:cNvSpPr txBox="1"/>
          <p:nvPr/>
        </p:nvSpPr>
        <p:spPr>
          <a:xfrm>
            <a:off x="7015163" y="6079083"/>
            <a:ext cx="55768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928406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err="1"/>
              <a:t>Dropna</a:t>
            </a:r>
            <a:endParaRPr lang="en-US" sz="5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>
                <a:solidFill>
                  <a:schemeClr val="bg2"/>
                </a:solidFill>
                <a:effectLst/>
              </a:rPr>
              <a:t>Returns a new DataFrame omitting rows with </a:t>
            </a:r>
            <a:r>
              <a:rPr lang="en-US" sz="2800">
                <a:solidFill>
                  <a:schemeClr val="bg2"/>
                </a:solidFill>
              </a:rPr>
              <a:t>two or more</a:t>
            </a:r>
            <a:r>
              <a:rPr lang="en-US" sz="2800" i="0">
                <a:solidFill>
                  <a:schemeClr val="bg2"/>
                </a:solidFill>
                <a:effectLst/>
              </a:rPr>
              <a:t> null values</a:t>
            </a:r>
            <a:endParaRPr lang="en-US" sz="2400" i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23875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954429" y="4122355"/>
            <a:ext cx="104584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srcDF.dropna</a:t>
            </a:r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(thresh=2)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71704-F746-F545-E1BB-8A92552598EB}"/>
              </a:ext>
            </a:extLst>
          </p:cNvPr>
          <p:cNvSpPr txBox="1"/>
          <p:nvPr/>
        </p:nvSpPr>
        <p:spPr>
          <a:xfrm>
            <a:off x="909638" y="6079083"/>
            <a:ext cx="59007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E67F4-294C-51C4-AA2D-34BDB44348FF}"/>
              </a:ext>
            </a:extLst>
          </p:cNvPr>
          <p:cNvSpPr txBox="1"/>
          <p:nvPr/>
        </p:nvSpPr>
        <p:spPr>
          <a:xfrm>
            <a:off x="7148513" y="6079083"/>
            <a:ext cx="59007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4132374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err="1"/>
              <a:t>Dropna</a:t>
            </a:r>
            <a:endParaRPr lang="en-US" sz="5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i="0" dirty="0">
                <a:solidFill>
                  <a:schemeClr val="bg2"/>
                </a:solidFill>
                <a:effectLst/>
              </a:rPr>
              <a:t>Returns a new DataFrame omitting rows with null values in the ‘horsepower’ column (while ignoring nulls in other columns)</a:t>
            </a:r>
            <a:endParaRPr lang="en-US" sz="240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238750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2685488" y="4122355"/>
            <a:ext cx="104584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srcDF.dropna</a:t>
            </a:r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(subset=['horsepower'])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71704-F746-F545-E1BB-8A92552598EB}"/>
              </a:ext>
            </a:extLst>
          </p:cNvPr>
          <p:cNvSpPr txBox="1"/>
          <p:nvPr/>
        </p:nvSpPr>
        <p:spPr>
          <a:xfrm>
            <a:off x="909638" y="6079083"/>
            <a:ext cx="59007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C6D88-FFCF-72E8-F0CD-D85150FDAEA5}"/>
              </a:ext>
            </a:extLst>
          </p:cNvPr>
          <p:cNvSpPr txBox="1"/>
          <p:nvPr/>
        </p:nvSpPr>
        <p:spPr>
          <a:xfrm>
            <a:off x="7200901" y="6079083"/>
            <a:ext cx="55211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3599132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C80D-68E3-D383-8819-67DC0071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Equality and Null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FA652-C477-D035-B5B9-DEBFCCC85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When comparing to value for equality using ‘left == right’, If either or both, of the operands are null, then == returns null</a:t>
            </a:r>
          </a:p>
          <a:p>
            <a:r>
              <a:rPr lang="en-US" sz="3200" dirty="0"/>
              <a:t>But there are time you want a more usual equality behavior (which does return a Boolean result of True or False) having the following characteristics</a:t>
            </a:r>
          </a:p>
          <a:p>
            <a:pPr lvl="1"/>
            <a:r>
              <a:rPr lang="en-US" sz="2800" dirty="0"/>
              <a:t>When one value is null and the other is not null, return False</a:t>
            </a:r>
          </a:p>
          <a:p>
            <a:pPr lvl="1"/>
            <a:r>
              <a:rPr lang="en-US" sz="2800" dirty="0"/>
              <a:t>When both values are null, return True</a:t>
            </a:r>
          </a:p>
          <a:p>
            <a:r>
              <a:rPr lang="en-US" sz="3200" dirty="0"/>
              <a:t>We can perform this later kind of equality comparison using </a:t>
            </a:r>
            <a:r>
              <a:rPr lang="en-US" sz="3200"/>
              <a:t>the built-in </a:t>
            </a:r>
            <a:r>
              <a:rPr lang="en-US" sz="3200" dirty="0" err="1"/>
              <a:t>Column.eqNullSafe</a:t>
            </a:r>
            <a:r>
              <a:rPr lang="en-US" sz="3200" dirty="0"/>
              <a:t>(other) function</a:t>
            </a:r>
          </a:p>
          <a:p>
            <a:r>
              <a:rPr lang="en-US" sz="3200" dirty="0"/>
              <a:t>This offers an equality test which is safe for nulls, and where ‘other’ is a Column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89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EE15-66E3-69A3-5D37-132F479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err="1"/>
              <a:t>Column.eqNullSafe</a:t>
            </a:r>
            <a:endParaRPr lang="en-US" sz="5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8F6A-4FC8-6BFB-9CD7-ABD85C4B5D9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chemeClr val="bg2"/>
                </a:solidFill>
              </a:rPr>
              <a:t>Add a new column to a DataFrame which has value True for each row where the ‘mpg’ and ‘horsepower’ columns are both null, and True otherwise</a:t>
            </a:r>
            <a:r>
              <a:rPr lang="en-US" sz="2800" i="0">
                <a:solidFill>
                  <a:schemeClr val="bg2"/>
                </a:solidFill>
                <a:effectLst/>
              </a:rPr>
              <a:t> </a:t>
            </a:r>
            <a:endParaRPr lang="en-US" sz="2400" i="0">
              <a:solidFill>
                <a:schemeClr val="bg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98593-C879-21F2-8A02-5EBB8886B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>
              <a:solidFill>
                <a:schemeClr val="bg2"/>
              </a:solidFill>
            </a:endParaRPr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EC48AAB0-BCED-2F8B-FCBA-5D5CB9B35AB9}"/>
              </a:ext>
            </a:extLst>
          </p:cNvPr>
          <p:cNvSpPr/>
          <p:nvPr/>
        </p:nvSpPr>
        <p:spPr>
          <a:xfrm>
            <a:off x="5954368" y="4933464"/>
            <a:ext cx="1295400" cy="19431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3AF4B-47A4-7E7C-489B-06F72E196AB2}"/>
              </a:ext>
            </a:extLst>
          </p:cNvPr>
          <p:cNvSpPr txBox="1"/>
          <p:nvPr/>
        </p:nvSpPr>
        <p:spPr>
          <a:xfrm>
            <a:off x="1304924" y="4122355"/>
            <a:ext cx="139218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pyspark.sql.functions import col</a:t>
            </a:r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Menlo" panose="020B0609030804020204" pitchFamily="49" charset="0"/>
              </a:rPr>
              <a:t>targetDF = </a:t>
            </a:r>
            <a:r>
              <a:rPr lang="en-US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srcDF.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withColumn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('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mpgAndHPNull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',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df.mpg.eqNullSafe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df.horsepower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endParaRPr lang="en-US" sz="20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71704-F746-F545-E1BB-8A92552598EB}"/>
              </a:ext>
            </a:extLst>
          </p:cNvPr>
          <p:cNvSpPr txBox="1"/>
          <p:nvPr/>
        </p:nvSpPr>
        <p:spPr>
          <a:xfrm>
            <a:off x="909638" y="6079083"/>
            <a:ext cx="59007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carname|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A3E7C-D91E-3F5F-4786-579342166C8C}"/>
              </a:ext>
            </a:extLst>
          </p:cNvPr>
          <p:cNvSpPr txBox="1"/>
          <p:nvPr/>
        </p:nvSpPr>
        <p:spPr>
          <a:xfrm>
            <a:off x="6810375" y="6079083"/>
            <a:ext cx="74891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mpg|horsepower|             </a:t>
            </a:r>
            <a:r>
              <a:rPr lang="en-US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carname|mpgAndHPNull</a:t>
            </a:r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+----+----------+--------------------+------------+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|21.5|       110|          mazda rx-4|       false|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|43.1|        48|vw rabbit custom ...|       false|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66|         ford fiesta|       false|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  52|    mazda glc deluxe|       false|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|39.4|        70|      datsun b210 gx|       false|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|36.1|        60|    honda civic cvcc|       false|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|NULL|      NULL|                NULL|        true|</a:t>
            </a:r>
          </a:p>
          <a:p>
            <a:r>
              <a:rPr lang="en-US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+----+----------+--------------------+------------+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79318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0941546A-FAA5-42C6-B041-CBFA1EBC047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85586</TotalTime>
  <Words>1689</Words>
  <Application>Microsoft Office PowerPoint</Application>
  <PresentationFormat>Custom</PresentationFormat>
  <Paragraphs>208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Menlo</vt:lpstr>
      <vt:lpstr>Wingdings 2</vt:lpstr>
      <vt:lpstr>Breeze</vt:lpstr>
      <vt:lpstr>Module 5: Lesson 5  Transformations – Working with Null values</vt:lpstr>
      <vt:lpstr>Null Values</vt:lpstr>
      <vt:lpstr>Fillna</vt:lpstr>
      <vt:lpstr>Fillna</vt:lpstr>
      <vt:lpstr>Fillna</vt:lpstr>
      <vt:lpstr>Fillna</vt:lpstr>
      <vt:lpstr>Dropna</vt:lpstr>
      <vt:lpstr>Dropna</vt:lpstr>
      <vt:lpstr>Dropna</vt:lpstr>
      <vt:lpstr>Dropna</vt:lpstr>
      <vt:lpstr>Equality and Null</vt:lpstr>
      <vt:lpstr>Column.eqNullSafe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284</cp:revision>
  <cp:lastPrinted>2024-01-03T15:49:50Z</cp:lastPrinted>
  <dcterms:created xsi:type="dcterms:W3CDTF">2019-02-13T16:04:21Z</dcterms:created>
  <dcterms:modified xsi:type="dcterms:W3CDTF">2024-06-23T19:24:23Z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B0925232-7797-47D7-A6C2-F106B82BE3A1</vt:lpwstr>
  </property>
  <property fmtid="{D5CDD505-2E9C-101B-9397-08002B2CF9AE}" pid="4" name="ArticulatePath">
    <vt:lpwstr>Module 5 01042024</vt:lpwstr>
  </property>
</Properties>
</file>