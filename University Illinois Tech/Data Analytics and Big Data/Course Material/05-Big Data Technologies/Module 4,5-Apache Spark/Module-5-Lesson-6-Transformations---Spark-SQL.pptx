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7"/>
  </p:notesMasterIdLst>
  <p:sldIdLst>
    <p:sldId id="942" r:id="rId5"/>
    <p:sldId id="763" r:id="rId6"/>
    <p:sldId id="762" r:id="rId7"/>
    <p:sldId id="698" r:id="rId8"/>
    <p:sldId id="805" r:id="rId9"/>
    <p:sldId id="700" r:id="rId10"/>
    <p:sldId id="690" r:id="rId11"/>
    <p:sldId id="636" r:id="rId12"/>
    <p:sldId id="759" r:id="rId13"/>
    <p:sldId id="760" r:id="rId14"/>
    <p:sldId id="761" r:id="rId15"/>
    <p:sldId id="699" r:id="rId16"/>
  </p:sldIdLst>
  <p:sldSz cx="18288000" cy="10287000"/>
  <p:notesSz cx="9144000" cy="6858000"/>
  <p:custDataLst>
    <p:tags r:id="rId18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ABA"/>
    <a:srgbClr val="0070C0"/>
    <a:srgbClr val="959595"/>
    <a:srgbClr val="E98D0A"/>
    <a:srgbClr val="969696"/>
    <a:srgbClr val="3F4F6C"/>
    <a:srgbClr val="C50724"/>
    <a:srgbClr val="7C7C7C"/>
    <a:srgbClr val="DFDFDF"/>
    <a:srgbClr val="FFA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6D2F76-D869-1D57-E5BD-AE43F1B32FC3}" v="8" dt="2024-07-10T15:06:36.7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9"/>
    <p:restoredTop sz="91693"/>
  </p:normalViewPr>
  <p:slideViewPr>
    <p:cSldViewPr snapToGrid="0" snapToObjects="1">
      <p:cViewPr varScale="1">
        <p:scale>
          <a:sx n="68" d="100"/>
          <a:sy n="68" d="100"/>
        </p:scale>
        <p:origin x="654" y="7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son Mulshine" userId="S::allison.mulshine@collegiseducation.com::5f656d52-c555-4e5e-9a5b-18226766ffe3" providerId="AD" clId="Web-{266D2F76-D869-1D57-E5BD-AE43F1B32FC3}"/>
    <pc:docChg chg="modSld">
      <pc:chgData name="Allison Mulshine" userId="S::allison.mulshine@collegiseducation.com::5f656d52-c555-4e5e-9a5b-18226766ffe3" providerId="AD" clId="Web-{266D2F76-D869-1D57-E5BD-AE43F1B32FC3}" dt="2024-07-10T15:06:36.732" v="6"/>
      <pc:docMkLst>
        <pc:docMk/>
      </pc:docMkLst>
      <pc:sldChg chg="modSp">
        <pc:chgData name="Allison Mulshine" userId="S::allison.mulshine@collegiseducation.com::5f656d52-c555-4e5e-9a5b-18226766ffe3" providerId="AD" clId="Web-{266D2F76-D869-1D57-E5BD-AE43F1B32FC3}" dt="2024-07-10T15:06:36.732" v="6"/>
        <pc:sldMkLst>
          <pc:docMk/>
          <pc:sldMk cId="3779718804" sldId="690"/>
        </pc:sldMkLst>
        <pc:graphicFrameChg chg="mod">
          <ac:chgData name="Allison Mulshine" userId="S::allison.mulshine@collegiseducation.com::5f656d52-c555-4e5e-9a5b-18226766ffe3" providerId="AD" clId="Web-{266D2F76-D869-1D57-E5BD-AE43F1B32FC3}" dt="2024-07-10T15:06:36.732" v="6"/>
          <ac:graphicFrameMkLst>
            <pc:docMk/>
            <pc:sldMk cId="3779718804" sldId="690"/>
            <ac:graphicFrameMk id="4" creationId="{F524A73B-A9DE-6D7C-1D74-9F63B7B03FC0}"/>
          </ac:graphicFrameMkLst>
        </pc:graphicFrameChg>
      </pc:sldChg>
      <pc:sldChg chg="addSp delSp modSp">
        <pc:chgData name="Allison Mulshine" userId="S::allison.mulshine@collegiseducation.com::5f656d52-c555-4e5e-9a5b-18226766ffe3" providerId="AD" clId="Web-{266D2F76-D869-1D57-E5BD-AE43F1B32FC3}" dt="2024-07-10T15:05:44.731" v="5"/>
        <pc:sldMkLst>
          <pc:docMk/>
          <pc:sldMk cId="1802454341" sldId="763"/>
        </pc:sldMkLst>
        <pc:graphicFrameChg chg="del">
          <ac:chgData name="Allison Mulshine" userId="S::allison.mulshine@collegiseducation.com::5f656d52-c555-4e5e-9a5b-18226766ffe3" providerId="AD" clId="Web-{266D2F76-D869-1D57-E5BD-AE43F1B32FC3}" dt="2024-07-10T15:05:23.293" v="0"/>
          <ac:graphicFrameMkLst>
            <pc:docMk/>
            <pc:sldMk cId="1802454341" sldId="763"/>
            <ac:graphicFrameMk id="4" creationId="{4D783AA6-9EFC-5A2A-2BCC-1400C926210E}"/>
          </ac:graphicFrameMkLst>
        </pc:graphicFrameChg>
        <pc:picChg chg="add mod">
          <ac:chgData name="Allison Mulshine" userId="S::allison.mulshine@collegiseducation.com::5f656d52-c555-4e5e-9a5b-18226766ffe3" providerId="AD" clId="Web-{266D2F76-D869-1D57-E5BD-AE43F1B32FC3}" dt="2024-07-10T15:05:44.731" v="5"/>
          <ac:picMkLst>
            <pc:docMk/>
            <pc:sldMk cId="1802454341" sldId="763"/>
            <ac:picMk id="11" creationId="{19DD48DD-ACC4-FB02-ABE0-0E73BE52F4D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C8E1C7-E2E4-E147-83D1-384FA5835D35}" type="doc">
      <dgm:prSet loTypeId="urn:microsoft.com/office/officeart/2008/layout/Lin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1B0568-CA0D-6A4A-840F-ABF958F5397E}">
      <dgm:prSet phldrT="[Text]"/>
      <dgm:spPr/>
      <dgm:t>
        <a:bodyPr anchor="ctr"/>
        <a:lstStyle/>
        <a:p>
          <a:r>
            <a:rPr lang="en-US" dirty="0" err="1"/>
            <a:t>srcDF.createOrReplaceTempView</a:t>
          </a:r>
          <a:r>
            <a:rPr lang="en-US" dirty="0"/>
            <a:t>(“</a:t>
          </a:r>
          <a:r>
            <a:rPr lang="en-US" dirty="0" err="1"/>
            <a:t>autompg</a:t>
          </a:r>
          <a:r>
            <a:rPr lang="en-US" dirty="0"/>
            <a:t>”)</a:t>
          </a:r>
        </a:p>
      </dgm:t>
    </dgm:pt>
    <dgm:pt modelId="{033D3D37-664C-AB4E-A03A-CE9149E8E7B5}" type="parTrans" cxnId="{2124556A-30A5-BC42-A495-59A737F22242}">
      <dgm:prSet/>
      <dgm:spPr/>
      <dgm:t>
        <a:bodyPr/>
        <a:lstStyle/>
        <a:p>
          <a:endParaRPr lang="en-US"/>
        </a:p>
      </dgm:t>
    </dgm:pt>
    <dgm:pt modelId="{AFC54087-3BBE-994A-84DA-44724D99A301}" type="sibTrans" cxnId="{2124556A-30A5-BC42-A495-59A737F22242}">
      <dgm:prSet/>
      <dgm:spPr/>
      <dgm:t>
        <a:bodyPr/>
        <a:lstStyle/>
        <a:p>
          <a:endParaRPr lang="en-US"/>
        </a:p>
      </dgm:t>
    </dgm:pt>
    <dgm:pt modelId="{0431FA31-040B-B84F-9BE0-571B15C59DBB}">
      <dgm:prSet/>
      <dgm:spPr/>
      <dgm:t>
        <a:bodyPr anchor="ctr"/>
        <a:lstStyle/>
        <a:p>
          <a:r>
            <a:rPr lang="en-US"/>
            <a:t>targetDF1 = </a:t>
          </a:r>
          <a:r>
            <a:rPr lang="en-US" err="1"/>
            <a:t>spark.sql</a:t>
          </a:r>
          <a:r>
            <a:rPr lang="en-US"/>
            <a:t>("select </a:t>
          </a:r>
          <a:r>
            <a:rPr lang="en-US" err="1"/>
            <a:t>carname</a:t>
          </a:r>
          <a:r>
            <a:rPr lang="en-US"/>
            <a:t>, mpg, horsepower from </a:t>
          </a:r>
          <a:r>
            <a:rPr lang="en-US" err="1"/>
            <a:t>autompg</a:t>
          </a:r>
          <a:r>
            <a:rPr lang="en-US"/>
            <a:t> where horsepower &gt; 100 and mpg &gt; 25”)</a:t>
          </a:r>
        </a:p>
      </dgm:t>
    </dgm:pt>
    <dgm:pt modelId="{67CE4BBF-E97D-3C49-B892-96C60DB6C673}" type="parTrans" cxnId="{236F4292-AE30-B642-BE79-5495BD11055B}">
      <dgm:prSet/>
      <dgm:spPr/>
      <dgm:t>
        <a:bodyPr/>
        <a:lstStyle/>
        <a:p>
          <a:endParaRPr lang="en-US"/>
        </a:p>
      </dgm:t>
    </dgm:pt>
    <dgm:pt modelId="{2FE090B1-DEAE-364C-AC2B-CB8DE983B01D}" type="sibTrans" cxnId="{236F4292-AE30-B642-BE79-5495BD11055B}">
      <dgm:prSet/>
      <dgm:spPr/>
      <dgm:t>
        <a:bodyPr/>
        <a:lstStyle/>
        <a:p>
          <a:endParaRPr lang="en-US"/>
        </a:p>
      </dgm:t>
    </dgm:pt>
    <dgm:pt modelId="{98535B18-7F8B-6A4F-9E9A-21F662E53347}">
      <dgm:prSet/>
      <dgm:spPr/>
      <dgm:t>
        <a:bodyPr anchor="ctr"/>
        <a:lstStyle/>
        <a:p>
          <a:r>
            <a:rPr lang="en-US"/>
            <a:t>targetDF2 = </a:t>
          </a:r>
          <a:r>
            <a:rPr lang="en-US" err="1"/>
            <a:t>spark.sql</a:t>
          </a:r>
          <a:r>
            <a:rPr lang="en-US"/>
            <a:t>("select </a:t>
          </a:r>
          <a:r>
            <a:rPr lang="en-US" err="1"/>
            <a:t>carname</a:t>
          </a:r>
          <a:r>
            <a:rPr lang="en-US"/>
            <a:t>, mpg, horsepower from </a:t>
          </a:r>
          <a:r>
            <a:rPr lang="en-US" err="1"/>
            <a:t>autompg</a:t>
          </a:r>
          <a:r>
            <a:rPr lang="en-US"/>
            <a:t> where horsepower between 20 and 30”)</a:t>
          </a:r>
        </a:p>
      </dgm:t>
    </dgm:pt>
    <dgm:pt modelId="{EA574628-8E2E-2643-B999-0B2BBF00F37A}" type="parTrans" cxnId="{AF902FB5-DACD-AB41-AEF3-363D96F232C4}">
      <dgm:prSet/>
      <dgm:spPr/>
      <dgm:t>
        <a:bodyPr/>
        <a:lstStyle/>
        <a:p>
          <a:endParaRPr lang="en-US"/>
        </a:p>
      </dgm:t>
    </dgm:pt>
    <dgm:pt modelId="{80182A9B-117B-764F-9B25-14E8DD8AE4B4}" type="sibTrans" cxnId="{AF902FB5-DACD-AB41-AEF3-363D96F232C4}">
      <dgm:prSet/>
      <dgm:spPr/>
      <dgm:t>
        <a:bodyPr/>
        <a:lstStyle/>
        <a:p>
          <a:endParaRPr lang="en-US"/>
        </a:p>
      </dgm:t>
    </dgm:pt>
    <dgm:pt modelId="{1F7DA0DE-1175-EA48-86CB-F798CF7DFC74}">
      <dgm:prSet/>
      <dgm:spPr/>
      <dgm:t>
        <a:bodyPr anchor="ctr"/>
        <a:lstStyle/>
        <a:p>
          <a:r>
            <a:rPr lang="en-US"/>
            <a:t>targetDF3 </a:t>
          </a:r>
          <a:r>
            <a:rPr lang="en-US">
              <a:effectLst/>
            </a:rPr>
            <a:t>=</a:t>
          </a:r>
          <a:r>
            <a:rPr lang="en-US"/>
            <a:t> </a:t>
          </a:r>
          <a:r>
            <a:rPr lang="en-US" err="1"/>
            <a:t>spark.</a:t>
          </a:r>
          <a:r>
            <a:rPr lang="en-US" err="1">
              <a:effectLst/>
            </a:rPr>
            <a:t>sql</a:t>
          </a:r>
          <a:r>
            <a:rPr lang="en-US"/>
            <a:t>( </a:t>
          </a:r>
          <a:r>
            <a:rPr lang="en-US">
              <a:effectLst/>
            </a:rPr>
            <a:t>"select </a:t>
          </a:r>
          <a:r>
            <a:rPr lang="en-US" err="1">
              <a:effectLst/>
            </a:rPr>
            <a:t>modelyear</a:t>
          </a:r>
          <a:r>
            <a:rPr lang="en-US">
              <a:effectLst/>
            </a:rPr>
            <a:t>, avg(mpg) from </a:t>
          </a:r>
          <a:r>
            <a:rPr lang="en-US" err="1"/>
            <a:t>autompg</a:t>
          </a:r>
          <a:r>
            <a:rPr lang="en-US"/>
            <a:t> </a:t>
          </a:r>
          <a:r>
            <a:rPr lang="en-US">
              <a:effectLst/>
            </a:rPr>
            <a:t>group by </a:t>
          </a:r>
          <a:r>
            <a:rPr lang="en-US" err="1">
              <a:effectLst/>
            </a:rPr>
            <a:t>modelyear</a:t>
          </a:r>
          <a:r>
            <a:rPr lang="en-US">
              <a:effectLst/>
            </a:rPr>
            <a:t>"</a:t>
          </a:r>
          <a:r>
            <a:rPr lang="en-US"/>
            <a:t> )</a:t>
          </a:r>
        </a:p>
      </dgm:t>
    </dgm:pt>
    <dgm:pt modelId="{2A01C7CC-7173-DA45-B4A6-0D98D627051F}" type="parTrans" cxnId="{67E33338-3335-1A43-9902-8F2EB2031D12}">
      <dgm:prSet/>
      <dgm:spPr/>
      <dgm:t>
        <a:bodyPr/>
        <a:lstStyle/>
        <a:p>
          <a:endParaRPr lang="en-US"/>
        </a:p>
      </dgm:t>
    </dgm:pt>
    <dgm:pt modelId="{26BF43BA-4073-2D43-89F5-13C6F1C2CD98}" type="sibTrans" cxnId="{67E33338-3335-1A43-9902-8F2EB2031D12}">
      <dgm:prSet/>
      <dgm:spPr/>
      <dgm:t>
        <a:bodyPr/>
        <a:lstStyle/>
        <a:p>
          <a:endParaRPr lang="en-US"/>
        </a:p>
      </dgm:t>
    </dgm:pt>
    <dgm:pt modelId="{CCDA4F0F-F76A-E94F-8699-30254323B338}" type="pres">
      <dgm:prSet presAssocID="{5CC8E1C7-E2E4-E147-83D1-384FA5835D35}" presName="vert0" presStyleCnt="0">
        <dgm:presLayoutVars>
          <dgm:dir/>
          <dgm:animOne val="branch"/>
          <dgm:animLvl val="lvl"/>
        </dgm:presLayoutVars>
      </dgm:prSet>
      <dgm:spPr/>
    </dgm:pt>
    <dgm:pt modelId="{75E70EE7-B01F-984A-9FDF-9213B955D814}" type="pres">
      <dgm:prSet presAssocID="{791B0568-CA0D-6A4A-840F-ABF958F5397E}" presName="thickLine" presStyleLbl="alignNode1" presStyleIdx="0" presStyleCnt="4"/>
      <dgm:spPr/>
    </dgm:pt>
    <dgm:pt modelId="{8A4AEBD6-02D6-E24D-A193-20936B3F18E7}" type="pres">
      <dgm:prSet presAssocID="{791B0568-CA0D-6A4A-840F-ABF958F5397E}" presName="horz1" presStyleCnt="0"/>
      <dgm:spPr/>
    </dgm:pt>
    <dgm:pt modelId="{61E546B7-3853-D140-AE29-E4D2B331865A}" type="pres">
      <dgm:prSet presAssocID="{791B0568-CA0D-6A4A-840F-ABF958F5397E}" presName="tx1" presStyleLbl="revTx" presStyleIdx="0" presStyleCnt="4"/>
      <dgm:spPr/>
    </dgm:pt>
    <dgm:pt modelId="{087E7313-E101-BD49-A559-17D904BD9E3A}" type="pres">
      <dgm:prSet presAssocID="{791B0568-CA0D-6A4A-840F-ABF958F5397E}" presName="vert1" presStyleCnt="0"/>
      <dgm:spPr/>
    </dgm:pt>
    <dgm:pt modelId="{EEC3EE45-8AB5-9D4C-89D2-492DD6ED72AE}" type="pres">
      <dgm:prSet presAssocID="{0431FA31-040B-B84F-9BE0-571B15C59DBB}" presName="thickLine" presStyleLbl="alignNode1" presStyleIdx="1" presStyleCnt="4"/>
      <dgm:spPr/>
    </dgm:pt>
    <dgm:pt modelId="{9D4D6F1E-AFE0-D14F-8E12-6363EEEB3BE6}" type="pres">
      <dgm:prSet presAssocID="{0431FA31-040B-B84F-9BE0-571B15C59DBB}" presName="horz1" presStyleCnt="0"/>
      <dgm:spPr/>
    </dgm:pt>
    <dgm:pt modelId="{C7A990A4-6761-1742-BF48-20A27DA635C1}" type="pres">
      <dgm:prSet presAssocID="{0431FA31-040B-B84F-9BE0-571B15C59DBB}" presName="tx1" presStyleLbl="revTx" presStyleIdx="1" presStyleCnt="4"/>
      <dgm:spPr/>
    </dgm:pt>
    <dgm:pt modelId="{1C1F321B-B2D5-0B4E-8F70-A1EEA745589E}" type="pres">
      <dgm:prSet presAssocID="{0431FA31-040B-B84F-9BE0-571B15C59DBB}" presName="vert1" presStyleCnt="0"/>
      <dgm:spPr/>
    </dgm:pt>
    <dgm:pt modelId="{D992AC65-38DD-614E-9C81-9C0853E14BFF}" type="pres">
      <dgm:prSet presAssocID="{98535B18-7F8B-6A4F-9E9A-21F662E53347}" presName="thickLine" presStyleLbl="alignNode1" presStyleIdx="2" presStyleCnt="4"/>
      <dgm:spPr/>
    </dgm:pt>
    <dgm:pt modelId="{9D555B15-D2D3-2549-8654-58DFC7F971D0}" type="pres">
      <dgm:prSet presAssocID="{98535B18-7F8B-6A4F-9E9A-21F662E53347}" presName="horz1" presStyleCnt="0"/>
      <dgm:spPr/>
    </dgm:pt>
    <dgm:pt modelId="{361F1E86-C83D-8240-A24C-171B216387A5}" type="pres">
      <dgm:prSet presAssocID="{98535B18-7F8B-6A4F-9E9A-21F662E53347}" presName="tx1" presStyleLbl="revTx" presStyleIdx="2" presStyleCnt="4"/>
      <dgm:spPr/>
    </dgm:pt>
    <dgm:pt modelId="{39A5F191-839E-4F40-9258-641F4FA816B7}" type="pres">
      <dgm:prSet presAssocID="{98535B18-7F8B-6A4F-9E9A-21F662E53347}" presName="vert1" presStyleCnt="0"/>
      <dgm:spPr/>
    </dgm:pt>
    <dgm:pt modelId="{36DDDC8D-97D7-154F-894C-E5B05135D931}" type="pres">
      <dgm:prSet presAssocID="{1F7DA0DE-1175-EA48-86CB-F798CF7DFC74}" presName="thickLine" presStyleLbl="alignNode1" presStyleIdx="3" presStyleCnt="4"/>
      <dgm:spPr/>
    </dgm:pt>
    <dgm:pt modelId="{04CCBD5F-F1B1-3746-A35D-64683235F67C}" type="pres">
      <dgm:prSet presAssocID="{1F7DA0DE-1175-EA48-86CB-F798CF7DFC74}" presName="horz1" presStyleCnt="0"/>
      <dgm:spPr/>
    </dgm:pt>
    <dgm:pt modelId="{B5818F83-1736-9748-88AC-D35DD2EA987E}" type="pres">
      <dgm:prSet presAssocID="{1F7DA0DE-1175-EA48-86CB-F798CF7DFC74}" presName="tx1" presStyleLbl="revTx" presStyleIdx="3" presStyleCnt="4"/>
      <dgm:spPr/>
    </dgm:pt>
    <dgm:pt modelId="{C14F7688-3FAA-7F43-971F-9A7F1A7E0647}" type="pres">
      <dgm:prSet presAssocID="{1F7DA0DE-1175-EA48-86CB-F798CF7DFC74}" presName="vert1" presStyleCnt="0"/>
      <dgm:spPr/>
    </dgm:pt>
  </dgm:ptLst>
  <dgm:cxnLst>
    <dgm:cxn modelId="{F7110038-0F88-9B4C-A890-190CC0F8231B}" type="presOf" srcId="{5CC8E1C7-E2E4-E147-83D1-384FA5835D35}" destId="{CCDA4F0F-F76A-E94F-8699-30254323B338}" srcOrd="0" destOrd="0" presId="urn:microsoft.com/office/officeart/2008/layout/LinedList"/>
    <dgm:cxn modelId="{67E33338-3335-1A43-9902-8F2EB2031D12}" srcId="{5CC8E1C7-E2E4-E147-83D1-384FA5835D35}" destId="{1F7DA0DE-1175-EA48-86CB-F798CF7DFC74}" srcOrd="3" destOrd="0" parTransId="{2A01C7CC-7173-DA45-B4A6-0D98D627051F}" sibTransId="{26BF43BA-4073-2D43-89F5-13C6F1C2CD98}"/>
    <dgm:cxn modelId="{3F758365-A088-F649-AD19-9015C068FCB4}" type="presOf" srcId="{0431FA31-040B-B84F-9BE0-571B15C59DBB}" destId="{C7A990A4-6761-1742-BF48-20A27DA635C1}" srcOrd="0" destOrd="0" presId="urn:microsoft.com/office/officeart/2008/layout/LinedList"/>
    <dgm:cxn modelId="{7C407146-23E8-0A40-BF15-55C002384A9C}" type="presOf" srcId="{1F7DA0DE-1175-EA48-86CB-F798CF7DFC74}" destId="{B5818F83-1736-9748-88AC-D35DD2EA987E}" srcOrd="0" destOrd="0" presId="urn:microsoft.com/office/officeart/2008/layout/LinedList"/>
    <dgm:cxn modelId="{1CE1EA68-4252-4F40-98BB-B64F3DF6156D}" type="presOf" srcId="{791B0568-CA0D-6A4A-840F-ABF958F5397E}" destId="{61E546B7-3853-D140-AE29-E4D2B331865A}" srcOrd="0" destOrd="0" presId="urn:microsoft.com/office/officeart/2008/layout/LinedList"/>
    <dgm:cxn modelId="{2124556A-30A5-BC42-A495-59A737F22242}" srcId="{5CC8E1C7-E2E4-E147-83D1-384FA5835D35}" destId="{791B0568-CA0D-6A4A-840F-ABF958F5397E}" srcOrd="0" destOrd="0" parTransId="{033D3D37-664C-AB4E-A03A-CE9149E8E7B5}" sibTransId="{AFC54087-3BBE-994A-84DA-44724D99A301}"/>
    <dgm:cxn modelId="{236F4292-AE30-B642-BE79-5495BD11055B}" srcId="{5CC8E1C7-E2E4-E147-83D1-384FA5835D35}" destId="{0431FA31-040B-B84F-9BE0-571B15C59DBB}" srcOrd="1" destOrd="0" parTransId="{67CE4BBF-E97D-3C49-B892-96C60DB6C673}" sibTransId="{2FE090B1-DEAE-364C-AC2B-CB8DE983B01D}"/>
    <dgm:cxn modelId="{AF902FB5-DACD-AB41-AEF3-363D96F232C4}" srcId="{5CC8E1C7-E2E4-E147-83D1-384FA5835D35}" destId="{98535B18-7F8B-6A4F-9E9A-21F662E53347}" srcOrd="2" destOrd="0" parTransId="{EA574628-8E2E-2643-B999-0B2BBF00F37A}" sibTransId="{80182A9B-117B-764F-9B25-14E8DD8AE4B4}"/>
    <dgm:cxn modelId="{DC59F6D8-A77D-FB47-BBCD-9531478AF47D}" type="presOf" srcId="{98535B18-7F8B-6A4F-9E9A-21F662E53347}" destId="{361F1E86-C83D-8240-A24C-171B216387A5}" srcOrd="0" destOrd="0" presId="urn:microsoft.com/office/officeart/2008/layout/LinedList"/>
    <dgm:cxn modelId="{9E446D2A-06F0-BF43-9777-E83BBD84FD32}" type="presParOf" srcId="{CCDA4F0F-F76A-E94F-8699-30254323B338}" destId="{75E70EE7-B01F-984A-9FDF-9213B955D814}" srcOrd="0" destOrd="0" presId="urn:microsoft.com/office/officeart/2008/layout/LinedList"/>
    <dgm:cxn modelId="{C853F5DC-E90C-5344-AAE8-A9C721B5CFCC}" type="presParOf" srcId="{CCDA4F0F-F76A-E94F-8699-30254323B338}" destId="{8A4AEBD6-02D6-E24D-A193-20936B3F18E7}" srcOrd="1" destOrd="0" presId="urn:microsoft.com/office/officeart/2008/layout/LinedList"/>
    <dgm:cxn modelId="{28704BF9-BC17-3B41-BDC4-C042316FF023}" type="presParOf" srcId="{8A4AEBD6-02D6-E24D-A193-20936B3F18E7}" destId="{61E546B7-3853-D140-AE29-E4D2B331865A}" srcOrd="0" destOrd="0" presId="urn:microsoft.com/office/officeart/2008/layout/LinedList"/>
    <dgm:cxn modelId="{0D9B9E4A-0ED1-8B49-9F5D-FD574880539D}" type="presParOf" srcId="{8A4AEBD6-02D6-E24D-A193-20936B3F18E7}" destId="{087E7313-E101-BD49-A559-17D904BD9E3A}" srcOrd="1" destOrd="0" presId="urn:microsoft.com/office/officeart/2008/layout/LinedList"/>
    <dgm:cxn modelId="{56717E4C-C246-B84A-97C7-BA770FDDE7D1}" type="presParOf" srcId="{CCDA4F0F-F76A-E94F-8699-30254323B338}" destId="{EEC3EE45-8AB5-9D4C-89D2-492DD6ED72AE}" srcOrd="2" destOrd="0" presId="urn:microsoft.com/office/officeart/2008/layout/LinedList"/>
    <dgm:cxn modelId="{7386FA1B-68D8-644D-B572-01E27B3B7531}" type="presParOf" srcId="{CCDA4F0F-F76A-E94F-8699-30254323B338}" destId="{9D4D6F1E-AFE0-D14F-8E12-6363EEEB3BE6}" srcOrd="3" destOrd="0" presId="urn:microsoft.com/office/officeart/2008/layout/LinedList"/>
    <dgm:cxn modelId="{A3E3437F-122B-9841-9E39-7EF06166A9EF}" type="presParOf" srcId="{9D4D6F1E-AFE0-D14F-8E12-6363EEEB3BE6}" destId="{C7A990A4-6761-1742-BF48-20A27DA635C1}" srcOrd="0" destOrd="0" presId="urn:microsoft.com/office/officeart/2008/layout/LinedList"/>
    <dgm:cxn modelId="{009E8C37-699F-1347-AC02-EBA5A0C8C798}" type="presParOf" srcId="{9D4D6F1E-AFE0-D14F-8E12-6363EEEB3BE6}" destId="{1C1F321B-B2D5-0B4E-8F70-A1EEA745589E}" srcOrd="1" destOrd="0" presId="urn:microsoft.com/office/officeart/2008/layout/LinedList"/>
    <dgm:cxn modelId="{60FA81C7-D4E7-2B4A-9B03-1CB5879FF432}" type="presParOf" srcId="{CCDA4F0F-F76A-E94F-8699-30254323B338}" destId="{D992AC65-38DD-614E-9C81-9C0853E14BFF}" srcOrd="4" destOrd="0" presId="urn:microsoft.com/office/officeart/2008/layout/LinedList"/>
    <dgm:cxn modelId="{61A15EDF-29CB-764B-809A-649D42FD16C8}" type="presParOf" srcId="{CCDA4F0F-F76A-E94F-8699-30254323B338}" destId="{9D555B15-D2D3-2549-8654-58DFC7F971D0}" srcOrd="5" destOrd="0" presId="urn:microsoft.com/office/officeart/2008/layout/LinedList"/>
    <dgm:cxn modelId="{79B49190-BC4C-3946-AE4C-1D7409E2EAFA}" type="presParOf" srcId="{9D555B15-D2D3-2549-8654-58DFC7F971D0}" destId="{361F1E86-C83D-8240-A24C-171B216387A5}" srcOrd="0" destOrd="0" presId="urn:microsoft.com/office/officeart/2008/layout/LinedList"/>
    <dgm:cxn modelId="{DEE2A519-BF1F-1448-93CA-2908E5270027}" type="presParOf" srcId="{9D555B15-D2D3-2549-8654-58DFC7F971D0}" destId="{39A5F191-839E-4F40-9258-641F4FA816B7}" srcOrd="1" destOrd="0" presId="urn:microsoft.com/office/officeart/2008/layout/LinedList"/>
    <dgm:cxn modelId="{67E3AF40-3F84-5E46-AFF1-76064D8BFC46}" type="presParOf" srcId="{CCDA4F0F-F76A-E94F-8699-30254323B338}" destId="{36DDDC8D-97D7-154F-894C-E5B05135D931}" srcOrd="6" destOrd="0" presId="urn:microsoft.com/office/officeart/2008/layout/LinedList"/>
    <dgm:cxn modelId="{0E66B745-43E7-344D-8E40-7753E83B06CF}" type="presParOf" srcId="{CCDA4F0F-F76A-E94F-8699-30254323B338}" destId="{04CCBD5F-F1B1-3746-A35D-64683235F67C}" srcOrd="7" destOrd="0" presId="urn:microsoft.com/office/officeart/2008/layout/LinedList"/>
    <dgm:cxn modelId="{C26D66A7-F074-EF48-B1C2-8B039F9329F0}" type="presParOf" srcId="{04CCBD5F-F1B1-3746-A35D-64683235F67C}" destId="{B5818F83-1736-9748-88AC-D35DD2EA987E}" srcOrd="0" destOrd="0" presId="urn:microsoft.com/office/officeart/2008/layout/LinedList"/>
    <dgm:cxn modelId="{DB264A53-D886-614D-A070-2998F6A2CF64}" type="presParOf" srcId="{04CCBD5F-F1B1-3746-A35D-64683235F67C}" destId="{C14F7688-3FAA-7F43-971F-9A7F1A7E064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70EE7-B01F-984A-9FDF-9213B955D814}">
      <dsp:nvSpPr>
        <dsp:cNvPr id="0" name=""/>
        <dsp:cNvSpPr/>
      </dsp:nvSpPr>
      <dsp:spPr>
        <a:xfrm>
          <a:off x="0" y="0"/>
          <a:ext cx="16084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E546B7-3853-D140-AE29-E4D2B331865A}">
      <dsp:nvSpPr>
        <dsp:cNvPr id="0" name=""/>
        <dsp:cNvSpPr/>
      </dsp:nvSpPr>
      <dsp:spPr>
        <a:xfrm>
          <a:off x="0" y="0"/>
          <a:ext cx="16084552" cy="1749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 err="1"/>
            <a:t>srcDF.createOrReplaceTempView</a:t>
          </a:r>
          <a:r>
            <a:rPr lang="en-US" sz="4800" kern="1200" dirty="0"/>
            <a:t>(“</a:t>
          </a:r>
          <a:r>
            <a:rPr lang="en-US" sz="4800" kern="1200" dirty="0" err="1"/>
            <a:t>autompg</a:t>
          </a:r>
          <a:r>
            <a:rPr lang="en-US" sz="4800" kern="1200" dirty="0"/>
            <a:t>”)</a:t>
          </a:r>
        </a:p>
      </dsp:txBody>
      <dsp:txXfrm>
        <a:off x="0" y="0"/>
        <a:ext cx="16084552" cy="1749424"/>
      </dsp:txXfrm>
    </dsp:sp>
    <dsp:sp modelId="{EEC3EE45-8AB5-9D4C-89D2-492DD6ED72AE}">
      <dsp:nvSpPr>
        <dsp:cNvPr id="0" name=""/>
        <dsp:cNvSpPr/>
      </dsp:nvSpPr>
      <dsp:spPr>
        <a:xfrm>
          <a:off x="0" y="1749424"/>
          <a:ext cx="16084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990A4-6761-1742-BF48-20A27DA635C1}">
      <dsp:nvSpPr>
        <dsp:cNvPr id="0" name=""/>
        <dsp:cNvSpPr/>
      </dsp:nvSpPr>
      <dsp:spPr>
        <a:xfrm>
          <a:off x="0" y="1749424"/>
          <a:ext cx="16084552" cy="1749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targetDF1 = </a:t>
          </a:r>
          <a:r>
            <a:rPr lang="en-US" sz="4800" kern="1200" err="1"/>
            <a:t>spark.sql</a:t>
          </a:r>
          <a:r>
            <a:rPr lang="en-US" sz="4800" kern="1200"/>
            <a:t>("select </a:t>
          </a:r>
          <a:r>
            <a:rPr lang="en-US" sz="4800" kern="1200" err="1"/>
            <a:t>carname</a:t>
          </a:r>
          <a:r>
            <a:rPr lang="en-US" sz="4800" kern="1200"/>
            <a:t>, mpg, horsepower from </a:t>
          </a:r>
          <a:r>
            <a:rPr lang="en-US" sz="4800" kern="1200" err="1"/>
            <a:t>autompg</a:t>
          </a:r>
          <a:r>
            <a:rPr lang="en-US" sz="4800" kern="1200"/>
            <a:t> where horsepower &gt; 100 and mpg &gt; 25”)</a:t>
          </a:r>
        </a:p>
      </dsp:txBody>
      <dsp:txXfrm>
        <a:off x="0" y="1749424"/>
        <a:ext cx="16084552" cy="1749424"/>
      </dsp:txXfrm>
    </dsp:sp>
    <dsp:sp modelId="{D992AC65-38DD-614E-9C81-9C0853E14BFF}">
      <dsp:nvSpPr>
        <dsp:cNvPr id="0" name=""/>
        <dsp:cNvSpPr/>
      </dsp:nvSpPr>
      <dsp:spPr>
        <a:xfrm>
          <a:off x="0" y="3498849"/>
          <a:ext cx="16084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F1E86-C83D-8240-A24C-171B216387A5}">
      <dsp:nvSpPr>
        <dsp:cNvPr id="0" name=""/>
        <dsp:cNvSpPr/>
      </dsp:nvSpPr>
      <dsp:spPr>
        <a:xfrm>
          <a:off x="0" y="3498849"/>
          <a:ext cx="16084552" cy="1749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targetDF2 = </a:t>
          </a:r>
          <a:r>
            <a:rPr lang="en-US" sz="4800" kern="1200" err="1"/>
            <a:t>spark.sql</a:t>
          </a:r>
          <a:r>
            <a:rPr lang="en-US" sz="4800" kern="1200"/>
            <a:t>("select </a:t>
          </a:r>
          <a:r>
            <a:rPr lang="en-US" sz="4800" kern="1200" err="1"/>
            <a:t>carname</a:t>
          </a:r>
          <a:r>
            <a:rPr lang="en-US" sz="4800" kern="1200"/>
            <a:t>, mpg, horsepower from </a:t>
          </a:r>
          <a:r>
            <a:rPr lang="en-US" sz="4800" kern="1200" err="1"/>
            <a:t>autompg</a:t>
          </a:r>
          <a:r>
            <a:rPr lang="en-US" sz="4800" kern="1200"/>
            <a:t> where horsepower between 20 and 30”)</a:t>
          </a:r>
        </a:p>
      </dsp:txBody>
      <dsp:txXfrm>
        <a:off x="0" y="3498849"/>
        <a:ext cx="16084552" cy="1749424"/>
      </dsp:txXfrm>
    </dsp:sp>
    <dsp:sp modelId="{36DDDC8D-97D7-154F-894C-E5B05135D931}">
      <dsp:nvSpPr>
        <dsp:cNvPr id="0" name=""/>
        <dsp:cNvSpPr/>
      </dsp:nvSpPr>
      <dsp:spPr>
        <a:xfrm>
          <a:off x="0" y="5248275"/>
          <a:ext cx="16084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18F83-1736-9748-88AC-D35DD2EA987E}">
      <dsp:nvSpPr>
        <dsp:cNvPr id="0" name=""/>
        <dsp:cNvSpPr/>
      </dsp:nvSpPr>
      <dsp:spPr>
        <a:xfrm>
          <a:off x="0" y="5248275"/>
          <a:ext cx="16084552" cy="1749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targetDF3 </a:t>
          </a:r>
          <a:r>
            <a:rPr lang="en-US" sz="4800" kern="1200">
              <a:effectLst/>
            </a:rPr>
            <a:t>=</a:t>
          </a:r>
          <a:r>
            <a:rPr lang="en-US" sz="4800" kern="1200"/>
            <a:t> </a:t>
          </a:r>
          <a:r>
            <a:rPr lang="en-US" sz="4800" kern="1200" err="1"/>
            <a:t>spark.</a:t>
          </a:r>
          <a:r>
            <a:rPr lang="en-US" sz="4800" kern="1200" err="1">
              <a:effectLst/>
            </a:rPr>
            <a:t>sql</a:t>
          </a:r>
          <a:r>
            <a:rPr lang="en-US" sz="4800" kern="1200"/>
            <a:t>( </a:t>
          </a:r>
          <a:r>
            <a:rPr lang="en-US" sz="4800" kern="1200">
              <a:effectLst/>
            </a:rPr>
            <a:t>"select </a:t>
          </a:r>
          <a:r>
            <a:rPr lang="en-US" sz="4800" kern="1200" err="1">
              <a:effectLst/>
            </a:rPr>
            <a:t>modelyear</a:t>
          </a:r>
          <a:r>
            <a:rPr lang="en-US" sz="4800" kern="1200">
              <a:effectLst/>
            </a:rPr>
            <a:t>, avg(mpg) from </a:t>
          </a:r>
          <a:r>
            <a:rPr lang="en-US" sz="4800" kern="1200" err="1"/>
            <a:t>autompg</a:t>
          </a:r>
          <a:r>
            <a:rPr lang="en-US" sz="4800" kern="1200"/>
            <a:t> </a:t>
          </a:r>
          <a:r>
            <a:rPr lang="en-US" sz="4800" kern="1200">
              <a:effectLst/>
            </a:rPr>
            <a:t>group by </a:t>
          </a:r>
          <a:r>
            <a:rPr lang="en-US" sz="4800" kern="1200" err="1">
              <a:effectLst/>
            </a:rPr>
            <a:t>modelyear</a:t>
          </a:r>
          <a:r>
            <a:rPr lang="en-US" sz="4800" kern="1200">
              <a:effectLst/>
            </a:rPr>
            <a:t>"</a:t>
          </a:r>
          <a:r>
            <a:rPr lang="en-US" sz="4800" kern="1200"/>
            <a:t> )</a:t>
          </a:r>
        </a:p>
      </dsp:txBody>
      <dsp:txXfrm>
        <a:off x="0" y="5248275"/>
        <a:ext cx="16084552" cy="1749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5: </a:t>
            </a:r>
            <a:r>
              <a:rPr lang="en-US"/>
              <a:t>Lesson 6 </a:t>
            </a:r>
            <a:br>
              <a:rPr lang="en-US" dirty="0"/>
            </a:br>
            <a:r>
              <a:rPr lang="en-US" sz="6000" dirty="0"/>
              <a:t>Transformations – Spark SQL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1138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FDEFF-174F-44DB-EC1B-404D73C7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Configuring the Spark SQL API</a:t>
            </a:r>
          </a:p>
        </p:txBody>
      </p:sp>
      <p:pic>
        <p:nvPicPr>
          <p:cNvPr id="11" name="Picture 10" descr="The image explains how Spark SQL can support compliance with the ANSI SQL standard through two configuration options:&#10;&#10;1. **spark.sql.ansi.enabled**:&#10;   - When set to `true` (default is `false`), Spark SQL uses an ANSI-compliant dialect instead of being Hive compliant.&#10;   - Configuration example: `spark.conf.set('spark.sql.ansi.enabled', True)`.&#10;&#10;2. **spark.sql.storeAssignmentPolicy**:&#10;   - When set to `ANSI` (default is `ANSI`), Spark SQL complies with the ANSI store assignment rules.&#10;   - This setting disallows certain unreasonable type conversions, such as converting a string to an integer or a double to a boolean.&#10;&#10;These options ensure that Spark SQL adheres to ANSI SQL standards by modifying dialect and type conversion behaviors.">
            <a:extLst>
              <a:ext uri="{FF2B5EF4-FFF2-40B4-BE49-F238E27FC236}">
                <a16:creationId xmlns:a16="http://schemas.microsoft.com/office/drawing/2014/main" id="{19DD48DD-ACC4-FB02-ABE0-0E73BE52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80" y="2570044"/>
            <a:ext cx="14801849" cy="601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54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Processing Using SQL Queries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0" i="0">
                <a:solidFill>
                  <a:schemeClr val="bg2"/>
                </a:solidFill>
                <a:effectLst/>
              </a:rPr>
              <a:t>The Spark SQL API enables users to interact with data using SQL queries, providing a familiar and powerful interface for those experienced with relational 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Users can execute SQL queries directly on Spark </a:t>
            </a:r>
            <a:r>
              <a:rPr lang="en-US" altLang="en-US" sz="2800" b="1" dirty="0" err="1">
                <a:solidFill>
                  <a:schemeClr val="tx1"/>
                </a:solidFill>
              </a:rPr>
              <a:t>DataFrames</a:t>
            </a:r>
            <a:r>
              <a:rPr lang="en-US" altLang="en-US" sz="2800" b="1" dirty="0">
                <a:solidFill>
                  <a:schemeClr val="tx1"/>
                </a:solidFill>
              </a:rPr>
              <a:t> registered with the </a:t>
            </a:r>
            <a:r>
              <a:rPr lang="en-US" altLang="en-US" sz="2800" b="1" dirty="0" err="1">
                <a:solidFill>
                  <a:schemeClr val="tx1"/>
                </a:solidFill>
              </a:rPr>
              <a:t>SparkSession</a:t>
            </a:r>
            <a:endParaRPr lang="en-US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b="1" dirty="0">
                <a:solidFill>
                  <a:schemeClr val="tx1"/>
                </a:solidFill>
              </a:rPr>
              <a:t>Spark SQL conforms to the ANSI SQL standard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Additionally, Spark SQL also provides support for HiveQL, a SQL-like language specific to Apache Hive (another Hadoop SQL query engine)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726937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Spark SQL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>
                <a:solidFill>
                  <a:schemeClr val="bg2"/>
                </a:solidFill>
                <a:effectLst/>
              </a:rPr>
              <a:t>Spark maintains isolation between its own procedural language variable namespace and the SQL table (view) namespace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When we assign a </a:t>
            </a:r>
            <a:r>
              <a:rPr lang="en-US" altLang="en-US" sz="2800" dirty="0" err="1">
                <a:solidFill>
                  <a:schemeClr val="tx1"/>
                </a:solidFill>
              </a:rPr>
              <a:t>DataFrame</a:t>
            </a:r>
            <a:r>
              <a:rPr lang="en-US" altLang="en-US" sz="2800" dirty="0">
                <a:solidFill>
                  <a:schemeClr val="tx1"/>
                </a:solidFill>
              </a:rPr>
              <a:t> to a variable Spark SQL does not have visibility of that variable or the </a:t>
            </a:r>
            <a:r>
              <a:rPr lang="en-US" altLang="en-US" sz="2800" dirty="0" err="1">
                <a:solidFill>
                  <a:schemeClr val="tx1"/>
                </a:solidFill>
              </a:rPr>
              <a:t>DataFrame</a:t>
            </a:r>
            <a:r>
              <a:rPr lang="en-US" altLang="en-US" sz="2800" dirty="0">
                <a:solidFill>
                  <a:schemeClr val="tx1"/>
                </a:solidFill>
              </a:rPr>
              <a:t> it references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To query a </a:t>
            </a:r>
            <a:r>
              <a:rPr lang="en-US" altLang="en-US" sz="2800" dirty="0" err="1">
                <a:solidFill>
                  <a:schemeClr val="tx1"/>
                </a:solidFill>
              </a:rPr>
              <a:t>DataFrame</a:t>
            </a:r>
            <a:r>
              <a:rPr lang="en-US" altLang="en-US" sz="2800" dirty="0">
                <a:solidFill>
                  <a:schemeClr val="tx1"/>
                </a:solidFill>
              </a:rPr>
              <a:t> using Spark SQL you must explicitly make a </a:t>
            </a:r>
            <a:r>
              <a:rPr lang="en-US" altLang="en-US" sz="2800" dirty="0" err="1">
                <a:solidFill>
                  <a:schemeClr val="tx1"/>
                </a:solidFill>
              </a:rPr>
              <a:t>DataFrame</a:t>
            </a:r>
            <a:r>
              <a:rPr lang="en-US" altLang="en-US" sz="2800" dirty="0">
                <a:solidFill>
                  <a:schemeClr val="tx1"/>
                </a:solidFill>
              </a:rPr>
              <a:t> visible to SQL operations as a 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“view” means that no additional storage is allocated to create a separate SQL table that duplicates the </a:t>
            </a:r>
            <a:r>
              <a:rPr lang="en-US" sz="2800" err="1">
                <a:solidFill>
                  <a:schemeClr val="bg2"/>
                </a:solidFill>
              </a:rPr>
              <a:t>DataFrame</a:t>
            </a:r>
            <a:r>
              <a:rPr lang="en-US" sz="2800">
                <a:solidFill>
                  <a:schemeClr val="bg2"/>
                </a:solidFill>
              </a:rPr>
              <a:t> contents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00083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 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make a </a:t>
            </a:r>
            <a:r>
              <a:rPr lang="en-US" sz="2800" err="1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visible to Spark SQL use the following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3200" dirty="0" err="1">
                <a:solidFill>
                  <a:schemeClr val="tx1"/>
                </a:solidFill>
              </a:rPr>
              <a:t>DataFrame</a:t>
            </a:r>
            <a:r>
              <a:rPr lang="en-US" altLang="en-US" sz="3200" b="1" dirty="0" err="1">
                <a:solidFill>
                  <a:schemeClr val="tx1"/>
                </a:solidFill>
              </a:rPr>
              <a:t>.</a:t>
            </a:r>
            <a:r>
              <a:rPr lang="en-US" altLang="en-US" sz="3200" b="1" dirty="0" err="1">
                <a:solidFill>
                  <a:srgbClr val="002060"/>
                </a:solidFill>
              </a:rPr>
              <a:t>createOrReplaceTempView</a:t>
            </a:r>
            <a:r>
              <a:rPr lang="en-US" altLang="en-US" sz="3200" b="1" dirty="0">
                <a:solidFill>
                  <a:srgbClr val="002060"/>
                </a:solidFill>
              </a:rPr>
              <a:t>(name)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01015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The parameter </a:t>
            </a:r>
            <a:r>
              <a:rPr lang="en-US" altLang="en-US" sz="2800" dirty="0" err="1">
                <a:solidFill>
                  <a:schemeClr val="tx1"/>
                </a:solidFill>
              </a:rPr>
              <a:t>sqlQuery</a:t>
            </a:r>
            <a:r>
              <a:rPr lang="en-US" altLang="en-US" sz="2800" dirty="0">
                <a:solidFill>
                  <a:schemeClr val="tx1"/>
                </a:solidFill>
              </a:rPr>
              <a:t> holds a SQL query as a string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624964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2"/>
                </a:solidFill>
              </a:rPr>
              <a:t>targetDF = srcDF.filter(srcDF[‘mpg’] &lt; 30)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chemeClr val="bg2"/>
                </a:solidFill>
              </a:rPr>
              <a:t>targetDF.createOrReplaceTempView</a:t>
            </a:r>
            <a:r>
              <a:rPr lang="en-US" sz="2800" dirty="0">
                <a:solidFill>
                  <a:schemeClr val="bg2"/>
                </a:solidFill>
              </a:rPr>
              <a:t>(‘</a:t>
            </a:r>
            <a:r>
              <a:rPr lang="en-US" sz="2800" dirty="0" err="1">
                <a:solidFill>
                  <a:schemeClr val="bg2"/>
                </a:solidFill>
              </a:rPr>
              <a:t>someView</a:t>
            </a:r>
            <a:r>
              <a:rPr lang="en-US" sz="2800" dirty="0">
                <a:solidFill>
                  <a:schemeClr val="bg2"/>
                </a:solidFill>
              </a:rPr>
              <a:t>’)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781AD-82B3-30B5-7D07-45800FC20FCF}"/>
              </a:ext>
            </a:extLst>
          </p:cNvPr>
          <p:cNvSpPr/>
          <p:nvPr/>
        </p:nvSpPr>
        <p:spPr>
          <a:xfrm>
            <a:off x="1262933" y="7526655"/>
            <a:ext cx="1371600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Note, although you can give the view the same name as the variable referencing the </a:t>
            </a:r>
            <a:r>
              <a:rPr lang="en-US" sz="2800" err="1">
                <a:solidFill>
                  <a:schemeClr val="bg2"/>
                </a:solidFill>
              </a:rPr>
              <a:t>DataFrame</a:t>
            </a:r>
            <a:r>
              <a:rPr lang="en-US" sz="2800">
                <a:solidFill>
                  <a:schemeClr val="bg2"/>
                </a:solidFill>
              </a:rPr>
              <a:t> you are not forced to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AC3EB0-949C-4C3A-4E8D-AFEE364D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644199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Querying a 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Now that we have made a view visible for access through Spark SQL we can apply SQL queries to it using the following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3200" dirty="0" err="1">
                <a:solidFill>
                  <a:schemeClr val="tx1"/>
                </a:solidFill>
              </a:rPr>
              <a:t>SparkSession.</a:t>
            </a:r>
            <a:r>
              <a:rPr lang="en-US" altLang="en-US" sz="3200" b="1" dirty="0" err="1">
                <a:solidFill>
                  <a:srgbClr val="002060"/>
                </a:solidFill>
              </a:rPr>
              <a:t>sql</a:t>
            </a:r>
            <a:r>
              <a:rPr lang="en-US" altLang="en-US" sz="3200" b="1" dirty="0">
                <a:solidFill>
                  <a:srgbClr val="002060"/>
                </a:solidFill>
              </a:rPr>
              <a:t>(</a:t>
            </a:r>
            <a:r>
              <a:rPr lang="en-US" altLang="en-US" sz="3200" b="1" dirty="0" err="1">
                <a:solidFill>
                  <a:srgbClr val="002060"/>
                </a:solidFill>
              </a:rPr>
              <a:t>sqlQuery</a:t>
            </a:r>
            <a:r>
              <a:rPr lang="en-US" altLang="en-US" sz="3200" b="1" dirty="0">
                <a:solidFill>
                  <a:srgbClr val="002060"/>
                </a:solidFill>
              </a:rPr>
              <a:t>) </a:t>
            </a:r>
            <a:r>
              <a:rPr lang="en-US" altLang="en-US" sz="3200" dirty="0">
                <a:solidFill>
                  <a:schemeClr val="tx1"/>
                </a:solidFill>
              </a:rPr>
              <a:t>→ </a:t>
            </a:r>
            <a:r>
              <a:rPr lang="en-US" altLang="en-US" sz="3200" dirty="0" err="1">
                <a:solidFill>
                  <a:schemeClr val="tx1"/>
                </a:solidFill>
              </a:rPr>
              <a:t>DataFrame</a:t>
            </a:r>
            <a:endParaRPr lang="en-US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01015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bg2"/>
                </a:solidFill>
              </a:rPr>
              <a:t>This method takes a single string parameter which is the name by which Spark SQL will refer to the </a:t>
            </a:r>
            <a:r>
              <a:rPr lang="en-US" altLang="en-US" sz="2800" dirty="0" err="1">
                <a:solidFill>
                  <a:schemeClr val="bg2"/>
                </a:solidFill>
              </a:rPr>
              <a:t>DataFrame</a:t>
            </a:r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624964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</a:rPr>
              <a:t>The function returns a </a:t>
            </a:r>
            <a:r>
              <a:rPr lang="en-US" sz="2800" err="1">
                <a:solidFill>
                  <a:schemeClr val="bg2"/>
                </a:solidFill>
              </a:rPr>
              <a:t>DataFrame</a:t>
            </a:r>
            <a:r>
              <a:rPr lang="en-US" sz="2800">
                <a:solidFill>
                  <a:schemeClr val="bg2"/>
                </a:solidFill>
              </a:rPr>
              <a:t> representing the result of the given SQL query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781AD-82B3-30B5-7D07-45800FC20FCF}"/>
              </a:ext>
            </a:extLst>
          </p:cNvPr>
          <p:cNvSpPr/>
          <p:nvPr/>
        </p:nvSpPr>
        <p:spPr>
          <a:xfrm>
            <a:off x="1262933" y="7526655"/>
            <a:ext cx="1371600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Note, because </a:t>
            </a:r>
            <a:r>
              <a:rPr lang="en-US" sz="2800" err="1">
                <a:solidFill>
                  <a:schemeClr val="bg2"/>
                </a:solidFill>
              </a:rPr>
              <a:t>sql</a:t>
            </a:r>
            <a:r>
              <a:rPr lang="en-US" sz="2800">
                <a:solidFill>
                  <a:schemeClr val="bg2"/>
                </a:solidFill>
              </a:rPr>
              <a:t>() returns a </a:t>
            </a:r>
            <a:r>
              <a:rPr lang="en-US" sz="2800" err="1">
                <a:solidFill>
                  <a:schemeClr val="bg2"/>
                </a:solidFill>
              </a:rPr>
              <a:t>DataFrame</a:t>
            </a:r>
            <a:r>
              <a:rPr lang="en-US" sz="2800">
                <a:solidFill>
                  <a:schemeClr val="bg2"/>
                </a:solidFill>
              </a:rPr>
              <a:t> we can mix </a:t>
            </a:r>
            <a:r>
              <a:rPr lang="en-US" sz="2800" err="1">
                <a:solidFill>
                  <a:schemeClr val="bg2"/>
                </a:solidFill>
              </a:rPr>
              <a:t>DataFrame</a:t>
            </a:r>
            <a:r>
              <a:rPr lang="en-US" sz="2800">
                <a:solidFill>
                  <a:schemeClr val="bg2"/>
                </a:solidFill>
              </a:rPr>
              <a:t> API and SQL API functions together, as appropriate, in our code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AC3EB0-949C-4C3A-4E8D-AFEE364D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998022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FED98-D1EE-36D7-1B89-204019906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Spark SQL Examples</a:t>
            </a:r>
          </a:p>
        </p:txBody>
      </p:sp>
      <p:graphicFrame>
        <p:nvGraphicFramePr>
          <p:cNvPr id="4" name="Diagram 3" descr="The image shows examples of how to create temporary views and execute SQL queries in Spark SQL:&#10;&#10;1. **Creating a Temporary View**:&#10;   - `srcDF.createOrReplaceTempView(&quot;autompq&quot;)`&#10;   - This command creates or replaces a temporary view named `autompq` from the DataFrame `srcDF`.&#10;&#10;2. **Query 1**:&#10;   - `targetDF1 = spark.sql(&quot;select carname, mpg, horsepower from autompq where horsepower &gt; 100 and mpg &gt; 25&quot;)`&#10;   - This query selects the columns `carname`, `mpg`, and `horsepower` from the `autompq` view where `horsepower` is greater than 100 and `mpg` is greater than 25.&#10;&#10;3. **Query 2**:&#10;   - `targetDF2 = spark.sql(&quot;select carname, mpg, horsepower from autompq where horsepower between 20 and 30&quot;)`&#10;   - This query selects the columns `carname`, `mpg`, and `horsepower` from the `autompq` view where `horsepower` is between 20 and 30.&#10;&#10;4. **Query 3**:&#10;   - `targetDF3 = spark.sql(&quot;select modelyear, avg(mpg) from autompq group by modelyear&quot;)`&#10;   - This query selects the `modelyear` and the average `mpg` from the `autompq` view, grouping the results by `modelyear`.&#10;&#10;These examples demonstrate how to use Spark SQL to perform various data selection and aggregation operations.">
            <a:extLst>
              <a:ext uri="{FF2B5EF4-FFF2-40B4-BE49-F238E27FC236}">
                <a16:creationId xmlns:a16="http://schemas.microsoft.com/office/drawing/2014/main" id="{F524A73B-A9DE-6D7C-1D74-9F63B7B03F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5269513"/>
              </p:ext>
            </p:extLst>
          </p:nvPr>
        </p:nvGraphicFramePr>
        <p:xfrm>
          <a:off x="1098550" y="2209800"/>
          <a:ext cx="16084552" cy="699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9718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C22011-482F-0338-448F-4EFE9A8D9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963052"/>
          </a:xfrm>
          <a:effectLst>
            <a:softEdge rad="12700"/>
          </a:effectLst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900" b="0" i="0" u="none" strike="noStrike" baseline="0"/>
              <a:t># Sample data</a:t>
            </a:r>
            <a:br>
              <a:rPr lang="en-US" sz="1900" b="0" i="0" u="none" strike="noStrike" baseline="0"/>
            </a:br>
            <a:r>
              <a:rPr lang="en-US" sz="1900" b="0" i="0" u="none" strike="noStrike" baseline="0"/>
              <a:t>data = [</a:t>
            </a:r>
            <a:br>
              <a:rPr lang="en-US" sz="1900" b="0" i="0" u="none" strike="noStrike" baseline="0"/>
            </a:br>
            <a:r>
              <a:rPr lang="en-US" sz="1900" b="0" i="0" u="none" strike="noStrike" baseline="0"/>
              <a:t>    (1, "John", "Doe", 50000),</a:t>
            </a:r>
            <a:br>
              <a:rPr lang="en-US" sz="1900" b="0" i="0" u="none" strike="noStrike" baseline="0"/>
            </a:br>
            <a:r>
              <a:rPr lang="en-US" sz="1900" b="0" i="0" u="none" strike="noStrike" baseline="0"/>
              <a:t>    (2, "Jane", "Smith", 60000),</a:t>
            </a:r>
            <a:br>
              <a:rPr lang="en-US" sz="1900" b="0" i="0" u="none" strike="noStrike" baseline="0"/>
            </a:br>
            <a:r>
              <a:rPr lang="en-US" sz="1900" b="0" i="0" u="none" strike="noStrike" baseline="0"/>
              <a:t>    (3, "Mike", "Johnson", 55000),</a:t>
            </a:r>
            <a:br>
              <a:rPr lang="en-US" sz="1900" b="0" i="0" u="none" strike="noStrike" baseline="0"/>
            </a:br>
            <a:r>
              <a:rPr lang="en-US" sz="1900" b="0" i="0" u="none" strike="noStrike" baseline="0"/>
              <a:t>    (4, "Emily", "Williams", 70000)</a:t>
            </a:r>
            <a:br>
              <a:rPr lang="en-US" sz="1900" b="0" i="0" u="none" strike="noStrike" baseline="0"/>
            </a:br>
            <a:r>
              <a:rPr lang="en-US" sz="1900" b="0" i="0" u="none" strike="noStrike" baseline="0"/>
              <a:t>]</a:t>
            </a:r>
            <a:br>
              <a:rPr lang="en-US" sz="1900" b="0" i="0" u="none" strike="noStrike" baseline="0"/>
            </a:br>
            <a:br>
              <a:rPr lang="en-US" sz="1900" b="0" i="0" u="none" strike="noStrike" baseline="0"/>
            </a:br>
            <a:r>
              <a:rPr lang="en-US" sz="1900" b="0" i="0" u="none" strike="noStrike" baseline="0"/>
              <a:t># Create a </a:t>
            </a:r>
            <a:r>
              <a:rPr lang="en-US" sz="1900" b="0" i="0" u="none" strike="noStrike" baseline="0" err="1"/>
              <a:t>DataFrame</a:t>
            </a:r>
            <a:r>
              <a:rPr lang="en-US" sz="1900" b="0" i="0" u="none" strike="noStrike" baseline="0"/>
              <a:t> from the sample data</a:t>
            </a:r>
            <a:br>
              <a:rPr lang="en-US" sz="1900" b="0" i="0" u="none" strike="noStrike" baseline="0"/>
            </a:br>
            <a:r>
              <a:rPr lang="en-US" sz="1900" b="0" i="0" u="none" strike="noStrike" baseline="0"/>
              <a:t>columns = ["</a:t>
            </a:r>
            <a:r>
              <a:rPr lang="en-US" sz="1900" b="0" i="0" u="none" strike="noStrike" baseline="0" err="1"/>
              <a:t>employee_id</a:t>
            </a:r>
            <a:r>
              <a:rPr lang="en-US" sz="1900" b="0" i="0" u="none" strike="noStrike" baseline="0"/>
              <a:t>", "</a:t>
            </a:r>
            <a:r>
              <a:rPr lang="en-US" sz="1900" b="0" i="0" u="none" strike="noStrike" baseline="0" err="1"/>
              <a:t>first_name</a:t>
            </a:r>
            <a:r>
              <a:rPr lang="en-US" sz="1900" b="0" i="0" u="none" strike="noStrike" baseline="0"/>
              <a:t>", "</a:t>
            </a:r>
            <a:r>
              <a:rPr lang="en-US" sz="1900" b="0" i="0" u="none" strike="noStrike" baseline="0" err="1"/>
              <a:t>last_name</a:t>
            </a:r>
            <a:r>
              <a:rPr lang="en-US" sz="1900" b="0" i="0" u="none" strike="noStrike" baseline="0"/>
              <a:t>", "salary"]</a:t>
            </a:r>
            <a:br>
              <a:rPr lang="en-US" sz="1900" b="0" i="0" u="none" strike="noStrike" baseline="0"/>
            </a:br>
            <a:r>
              <a:rPr lang="en-US" sz="1900" b="0" i="0" u="none" strike="noStrike" baseline="0" err="1"/>
              <a:t>df</a:t>
            </a:r>
            <a:r>
              <a:rPr lang="en-US" sz="1900" b="0" i="0" u="none" strike="noStrike" baseline="0"/>
              <a:t> = </a:t>
            </a:r>
            <a:r>
              <a:rPr lang="en-US" sz="1900" b="0" i="0" u="none" strike="noStrike" baseline="0" err="1"/>
              <a:t>spark.createDataFrame</a:t>
            </a:r>
            <a:r>
              <a:rPr lang="en-US" sz="1900" b="0" i="0" u="none" strike="noStrike" baseline="0"/>
              <a:t>(data, columns)</a:t>
            </a:r>
            <a:br>
              <a:rPr lang="en-US" sz="1900" b="0" i="0" u="none" strike="noStrike" baseline="0"/>
            </a:br>
            <a:br>
              <a:rPr lang="en-US" sz="1900" b="0" i="0" u="none" strike="noStrike" baseline="0"/>
            </a:br>
            <a:endParaRPr lang="en-US" sz="1900" b="0" i="0" u="none" strike="noStrike" baseline="0"/>
          </a:p>
          <a:p>
            <a:pPr marL="0" indent="0">
              <a:spcBef>
                <a:spcPts val="0"/>
              </a:spcBef>
              <a:buNone/>
            </a:pPr>
            <a:r>
              <a:rPr lang="en-US" sz="1900" b="0" i="0" u="none" strike="noStrike" baseline="0">
                <a:solidFill>
                  <a:srgbClr val="0070C0"/>
                </a:solidFill>
              </a:rPr>
              <a:t># Perform </a:t>
            </a:r>
            <a:r>
              <a:rPr lang="en-US" sz="1900" b="0" i="0" u="none" strike="noStrike" baseline="0" err="1">
                <a:solidFill>
                  <a:srgbClr val="0070C0"/>
                </a:solidFill>
              </a:rPr>
              <a:t>DataFrame</a:t>
            </a:r>
            <a:r>
              <a:rPr lang="en-US" sz="1900" b="0" i="0" u="none" strike="noStrike" baseline="0">
                <a:solidFill>
                  <a:srgbClr val="0070C0"/>
                </a:solidFill>
              </a:rPr>
              <a:t> API operations</a:t>
            </a:r>
            <a:br>
              <a:rPr lang="en-US" sz="1900" b="0" i="0" u="none" strike="noStrike" baseline="0">
                <a:solidFill>
                  <a:srgbClr val="0070C0"/>
                </a:solidFill>
              </a:rPr>
            </a:br>
            <a:r>
              <a:rPr lang="en-US" sz="1900" b="0" i="0" u="none" strike="noStrike" baseline="0">
                <a:solidFill>
                  <a:srgbClr val="0070C0"/>
                </a:solidFill>
              </a:rPr>
              <a:t>result = </a:t>
            </a:r>
            <a:r>
              <a:rPr lang="en-US" sz="1900" b="0" i="0" u="none" strike="noStrike" baseline="0" err="1">
                <a:solidFill>
                  <a:srgbClr val="0070C0"/>
                </a:solidFill>
              </a:rPr>
              <a:t>df.select</a:t>
            </a:r>
            <a:r>
              <a:rPr lang="en-US" sz="1900" b="0" i="0" u="none" strike="noStrike" baseline="0">
                <a:solidFill>
                  <a:srgbClr val="0070C0"/>
                </a:solidFill>
              </a:rPr>
              <a:t>("</a:t>
            </a:r>
            <a:r>
              <a:rPr lang="en-US" sz="1900" b="0" i="0" u="none" strike="noStrike" baseline="0" err="1">
                <a:solidFill>
                  <a:srgbClr val="0070C0"/>
                </a:solidFill>
              </a:rPr>
              <a:t>first_name</a:t>
            </a:r>
            <a:r>
              <a:rPr lang="en-US" sz="1900" b="0" i="0" u="none" strike="noStrike" baseline="0">
                <a:solidFill>
                  <a:srgbClr val="0070C0"/>
                </a:solidFill>
              </a:rPr>
              <a:t>", "</a:t>
            </a:r>
            <a:r>
              <a:rPr lang="en-US" sz="1900" b="0" i="0" u="none" strike="noStrike" baseline="0" err="1">
                <a:solidFill>
                  <a:srgbClr val="0070C0"/>
                </a:solidFill>
              </a:rPr>
              <a:t>last_name</a:t>
            </a:r>
            <a:r>
              <a:rPr lang="en-US" sz="1900" b="0" i="0" u="none" strike="noStrike" baseline="0">
                <a:solidFill>
                  <a:srgbClr val="0070C0"/>
                </a:solidFill>
              </a:rPr>
              <a:t>", "salary") \</a:t>
            </a:r>
            <a:br>
              <a:rPr lang="en-US" sz="1900" b="0" i="0" u="none" strike="noStrike" baseline="0">
                <a:solidFill>
                  <a:srgbClr val="0070C0"/>
                </a:solidFill>
              </a:rPr>
            </a:br>
            <a:r>
              <a:rPr lang="en-US" sz="1900" b="0" i="0" u="none" strike="noStrike" baseline="0">
                <a:solidFill>
                  <a:srgbClr val="0070C0"/>
                </a:solidFill>
              </a:rPr>
              <a:t>    .filter(col("salary") &gt; 55000) \</a:t>
            </a:r>
            <a:br>
              <a:rPr lang="en-US" sz="1900" b="0" i="0" u="none" strike="noStrike" baseline="0">
                <a:solidFill>
                  <a:srgbClr val="0070C0"/>
                </a:solidFill>
              </a:rPr>
            </a:br>
            <a:r>
              <a:rPr lang="en-US" sz="1900" b="0" i="0" u="none" strike="noStrike" baseline="0">
                <a:solidFill>
                  <a:srgbClr val="0070C0"/>
                </a:solidFill>
              </a:rPr>
              <a:t>    .</a:t>
            </a:r>
            <a:r>
              <a:rPr lang="en-US" sz="1900" b="0" i="0" u="none" strike="noStrike" baseline="0" err="1">
                <a:solidFill>
                  <a:srgbClr val="0070C0"/>
                </a:solidFill>
              </a:rPr>
              <a:t>orderBy</a:t>
            </a:r>
            <a:r>
              <a:rPr lang="en-US" sz="1900" b="0" i="0" u="none" strike="noStrike" baseline="0">
                <a:solidFill>
                  <a:srgbClr val="0070C0"/>
                </a:solidFill>
              </a:rPr>
              <a:t>(col("salary").desc())</a:t>
            </a:r>
            <a:br>
              <a:rPr lang="en-US" sz="1900" b="0" i="0" u="none" strike="noStrike" baseline="0"/>
            </a:br>
            <a:br>
              <a:rPr lang="en-US" sz="1900" b="0" i="0" u="none" strike="noStrike" baseline="0"/>
            </a:br>
            <a:endParaRPr lang="en-US" sz="1900" b="0" i="0" u="none" strike="noStrike" baseline="0"/>
          </a:p>
          <a:p>
            <a:pPr marL="0" indent="0">
              <a:spcBef>
                <a:spcPts val="0"/>
              </a:spcBef>
              <a:buNone/>
            </a:pPr>
            <a:endParaRPr lang="en-US" sz="1900" b="0" i="0" u="none" strike="noStrike" baseline="0"/>
          </a:p>
          <a:p>
            <a:pPr marL="0" indent="0">
              <a:spcBef>
                <a:spcPts val="0"/>
              </a:spcBef>
              <a:buNone/>
            </a:pPr>
            <a:r>
              <a:rPr lang="en-US" sz="1900" b="0" i="0" u="none" strike="noStrike" baseline="0"/>
              <a:t># Show the result</a:t>
            </a:r>
            <a:br>
              <a:rPr lang="en-US" sz="1900" b="0" i="0" u="none" strike="noStrike" baseline="0"/>
            </a:br>
            <a:r>
              <a:rPr lang="en-US" sz="1900" b="0" i="0" u="none" strike="noStrike" baseline="0" err="1"/>
              <a:t>result.show</a:t>
            </a:r>
            <a:r>
              <a:rPr lang="en-US" sz="1900" b="0" i="0" u="none" strike="noStrike" baseline="0"/>
              <a:t>()</a:t>
            </a:r>
            <a:endParaRPr lang="en-US" sz="19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4E972-931F-040F-BF7F-34342CFEF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9630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0" i="0" u="none" strike="noStrike" baseline="0"/>
              <a:t># Sample data</a:t>
            </a:r>
            <a:br>
              <a:rPr lang="en-US" sz="2000" b="0" i="0" u="none" strike="noStrike" baseline="0"/>
            </a:br>
            <a:r>
              <a:rPr lang="en-US" sz="2000" b="0" i="0" u="none" strike="noStrike" baseline="0"/>
              <a:t>data = [</a:t>
            </a:r>
            <a:br>
              <a:rPr lang="en-US" sz="2000" b="0" i="0" u="none" strike="noStrike" baseline="0"/>
            </a:br>
            <a:r>
              <a:rPr lang="en-US" sz="2000" b="0" i="0" u="none" strike="noStrike" baseline="0"/>
              <a:t>    (1, "John", "Doe", 50000),</a:t>
            </a:r>
            <a:br>
              <a:rPr lang="en-US" sz="2000" b="0" i="0" u="none" strike="noStrike" baseline="0"/>
            </a:br>
            <a:r>
              <a:rPr lang="en-US" sz="2000" b="0" i="0" u="none" strike="noStrike" baseline="0"/>
              <a:t>    (2, "Jane", "Smith", 60000),</a:t>
            </a:r>
            <a:br>
              <a:rPr lang="en-US" sz="2000" b="0" i="0" u="none" strike="noStrike" baseline="0"/>
            </a:br>
            <a:r>
              <a:rPr lang="en-US" sz="2000" b="0" i="0" u="none" strike="noStrike" baseline="0"/>
              <a:t>    (3, "Mike", "Johnson", 55000),</a:t>
            </a:r>
            <a:br>
              <a:rPr lang="en-US" sz="2000" b="0" i="0" u="none" strike="noStrike" baseline="0"/>
            </a:br>
            <a:r>
              <a:rPr lang="en-US" sz="2000" b="0" i="0" u="none" strike="noStrike" baseline="0"/>
              <a:t>    (4, "Emily", "Williams", 70000)</a:t>
            </a:r>
            <a:br>
              <a:rPr lang="en-US" sz="2000" b="0" i="0" u="none" strike="noStrike" baseline="0"/>
            </a:br>
            <a:r>
              <a:rPr lang="en-US" sz="2000" b="0" i="0" u="none" strike="noStrike" baseline="0"/>
              <a:t>]</a:t>
            </a:r>
            <a:br>
              <a:rPr lang="en-US" sz="2000" b="0" i="0" u="none" strike="noStrike" baseline="0"/>
            </a:br>
            <a:br>
              <a:rPr lang="en-US" sz="2000" b="0" i="0" u="none" strike="noStrike" baseline="0"/>
            </a:br>
            <a:r>
              <a:rPr lang="en-US" sz="2000" b="0" i="0" u="none" strike="noStrike" baseline="0"/>
              <a:t># Create a </a:t>
            </a:r>
            <a:r>
              <a:rPr lang="en-US" sz="2000" b="0" i="0" u="none" strike="noStrike" baseline="0" err="1"/>
              <a:t>DataFrame</a:t>
            </a:r>
            <a:r>
              <a:rPr lang="en-US" sz="2000" b="0" i="0" u="none" strike="noStrike" baseline="0"/>
              <a:t> from the sample data</a:t>
            </a:r>
            <a:br>
              <a:rPr lang="en-US" sz="2000" b="0" i="0" u="none" strike="noStrike" baseline="0"/>
            </a:br>
            <a:r>
              <a:rPr lang="en-US" sz="2000" b="0" i="0" u="none" strike="noStrike" baseline="0"/>
              <a:t>columns = ["</a:t>
            </a:r>
            <a:r>
              <a:rPr lang="en-US" sz="2000" b="0" i="0" u="none" strike="noStrike" baseline="0" err="1"/>
              <a:t>employee_id</a:t>
            </a:r>
            <a:r>
              <a:rPr lang="en-US" sz="2000" b="0" i="0" u="none" strike="noStrike" baseline="0"/>
              <a:t>", "</a:t>
            </a:r>
            <a:r>
              <a:rPr lang="en-US" sz="2000" b="0" i="0" u="none" strike="noStrike" baseline="0" err="1"/>
              <a:t>first_name</a:t>
            </a:r>
            <a:r>
              <a:rPr lang="en-US" sz="2000" b="0" i="0" u="none" strike="noStrike" baseline="0"/>
              <a:t>", "</a:t>
            </a:r>
            <a:r>
              <a:rPr lang="en-US" sz="2000" b="0" i="0" u="none" strike="noStrike" baseline="0" err="1"/>
              <a:t>last_name</a:t>
            </a:r>
            <a:r>
              <a:rPr lang="en-US" sz="2000" b="0" i="0" u="none" strike="noStrike" baseline="0"/>
              <a:t>", "salary"]</a:t>
            </a:r>
            <a:br>
              <a:rPr lang="en-US" sz="2000" b="0" i="0" u="none" strike="noStrike" baseline="0"/>
            </a:br>
            <a:r>
              <a:rPr lang="en-US" sz="2000" b="0" i="0" u="none" strike="noStrike" baseline="0" err="1"/>
              <a:t>df</a:t>
            </a:r>
            <a:r>
              <a:rPr lang="en-US" sz="2000" b="0" i="0" u="none" strike="noStrike" baseline="0"/>
              <a:t> = </a:t>
            </a:r>
            <a:r>
              <a:rPr lang="en-US" sz="2000" b="0" i="0" u="none" strike="noStrike" baseline="0" err="1"/>
              <a:t>spark.createDataFrame</a:t>
            </a:r>
            <a:r>
              <a:rPr lang="en-US" sz="2000" b="0" i="0" u="none" strike="noStrike" baseline="0"/>
              <a:t>(data, columns)</a:t>
            </a:r>
            <a:br>
              <a:rPr lang="en-US" sz="2000" b="0" i="0" u="none" strike="noStrike" baseline="0"/>
            </a:br>
            <a:br>
              <a:rPr lang="en-US" sz="2000" b="0" i="0" u="none" strike="noStrike" baseline="0"/>
            </a:br>
            <a:r>
              <a:rPr lang="en-US" sz="2000" b="0" i="0" u="none" strike="noStrike" baseline="0">
                <a:solidFill>
                  <a:srgbClr val="0070C0"/>
                </a:solidFill>
              </a:rPr>
              <a:t># Create a temporary view to use Spark SQL</a:t>
            </a:r>
            <a:br>
              <a:rPr lang="en-US" sz="2000" b="0" i="0" u="none" strike="noStrike" baseline="0">
                <a:solidFill>
                  <a:srgbClr val="0070C0"/>
                </a:solidFill>
              </a:rPr>
            </a:br>
            <a:r>
              <a:rPr lang="en-US" sz="2000" b="0" i="0" u="none" strike="noStrike" baseline="0" err="1">
                <a:solidFill>
                  <a:srgbClr val="0070C0"/>
                </a:solidFill>
              </a:rPr>
              <a:t>df.createOrReplaceTempView</a:t>
            </a:r>
            <a:r>
              <a:rPr lang="en-US" sz="2000" b="0" i="0" u="none" strike="noStrike" baseline="0">
                <a:solidFill>
                  <a:srgbClr val="0070C0"/>
                </a:solidFill>
              </a:rPr>
              <a:t>("employees")</a:t>
            </a:r>
            <a:br>
              <a:rPr lang="en-US" sz="2000" b="0" i="0" u="none" strike="noStrike" baseline="0"/>
            </a:br>
            <a:br>
              <a:rPr lang="en-US" sz="2000" b="0" i="0" u="none" strike="noStrike" baseline="0"/>
            </a:br>
            <a:r>
              <a:rPr lang="en-US" sz="2000" b="0" i="0" u="none" strike="noStrike" baseline="0">
                <a:solidFill>
                  <a:srgbClr val="0070C0"/>
                </a:solidFill>
              </a:rPr>
              <a:t># Perform Spark SQL operations</a:t>
            </a:r>
            <a:br>
              <a:rPr lang="en-US" sz="2000" b="0" i="0" u="none" strike="noStrike" baseline="0">
                <a:solidFill>
                  <a:srgbClr val="0070C0"/>
                </a:solidFill>
              </a:rPr>
            </a:br>
            <a:r>
              <a:rPr lang="en-US" sz="2000" b="0" i="0" u="none" strike="noStrike" baseline="0">
                <a:solidFill>
                  <a:srgbClr val="0070C0"/>
                </a:solidFill>
              </a:rPr>
              <a:t>result = </a:t>
            </a:r>
            <a:r>
              <a:rPr lang="en-US" sz="2000" b="0" i="0" u="none" strike="noStrike" baseline="0" err="1">
                <a:solidFill>
                  <a:srgbClr val="0070C0"/>
                </a:solidFill>
              </a:rPr>
              <a:t>spark.sql</a:t>
            </a:r>
            <a:r>
              <a:rPr lang="en-US" sz="2000" b="0" i="0" u="none" strike="noStrike" baseline="0">
                <a:solidFill>
                  <a:srgbClr val="0070C0"/>
                </a:solidFill>
              </a:rPr>
              <a:t>("""</a:t>
            </a:r>
            <a:br>
              <a:rPr lang="en-US" sz="2000" b="0" i="0" u="none" strike="noStrike" baseline="0">
                <a:solidFill>
                  <a:srgbClr val="0070C0"/>
                </a:solidFill>
              </a:rPr>
            </a:br>
            <a:r>
              <a:rPr lang="en-US" sz="2000" b="0" i="0" u="none" strike="noStrike" baseline="0">
                <a:solidFill>
                  <a:srgbClr val="0070C0"/>
                </a:solidFill>
              </a:rPr>
              <a:t>    SELECT </a:t>
            </a:r>
            <a:r>
              <a:rPr lang="en-US" sz="2000" b="0" i="0" u="none" strike="noStrike" baseline="0" err="1">
                <a:solidFill>
                  <a:srgbClr val="0070C0"/>
                </a:solidFill>
              </a:rPr>
              <a:t>first_name</a:t>
            </a:r>
            <a:r>
              <a:rPr lang="en-US" sz="2000" b="0" i="0" u="none" strike="noStrike" baseline="0">
                <a:solidFill>
                  <a:srgbClr val="0070C0"/>
                </a:solidFill>
              </a:rPr>
              <a:t>, </a:t>
            </a:r>
            <a:r>
              <a:rPr lang="en-US" sz="2000" b="0" i="0" u="none" strike="noStrike" baseline="0" err="1">
                <a:solidFill>
                  <a:srgbClr val="0070C0"/>
                </a:solidFill>
              </a:rPr>
              <a:t>last_name</a:t>
            </a:r>
            <a:r>
              <a:rPr lang="en-US" sz="2000" b="0" i="0" u="none" strike="noStrike" baseline="0">
                <a:solidFill>
                  <a:srgbClr val="0070C0"/>
                </a:solidFill>
              </a:rPr>
              <a:t>, salary</a:t>
            </a:r>
            <a:br>
              <a:rPr lang="en-US" sz="2000" b="0" i="0" u="none" strike="noStrike" baseline="0">
                <a:solidFill>
                  <a:srgbClr val="0070C0"/>
                </a:solidFill>
              </a:rPr>
            </a:br>
            <a:r>
              <a:rPr lang="en-US" sz="2000" b="0" i="0" u="none" strike="noStrike" baseline="0">
                <a:solidFill>
                  <a:srgbClr val="0070C0"/>
                </a:solidFill>
              </a:rPr>
              <a:t>    FROM employees</a:t>
            </a:r>
            <a:br>
              <a:rPr lang="en-US" sz="2000" b="0" i="0" u="none" strike="noStrike" baseline="0">
                <a:solidFill>
                  <a:srgbClr val="0070C0"/>
                </a:solidFill>
              </a:rPr>
            </a:br>
            <a:r>
              <a:rPr lang="en-US" sz="2000" b="0" i="0" u="none" strike="noStrike" baseline="0">
                <a:solidFill>
                  <a:srgbClr val="0070C0"/>
                </a:solidFill>
              </a:rPr>
              <a:t>    WHERE salary &gt; 55000</a:t>
            </a:r>
            <a:br>
              <a:rPr lang="en-US" sz="2000" b="0" i="0" u="none" strike="noStrike" baseline="0">
                <a:solidFill>
                  <a:srgbClr val="0070C0"/>
                </a:solidFill>
              </a:rPr>
            </a:br>
            <a:r>
              <a:rPr lang="en-US" sz="2000" b="0" i="0" u="none" strike="noStrike" baseline="0">
                <a:solidFill>
                  <a:srgbClr val="0070C0"/>
                </a:solidFill>
              </a:rPr>
              <a:t>    ORDER BY salary DESC</a:t>
            </a:r>
            <a:br>
              <a:rPr lang="en-US" sz="2000" b="0" i="0" u="none" strike="noStrike" baseline="0">
                <a:solidFill>
                  <a:srgbClr val="0070C0"/>
                </a:solidFill>
              </a:rPr>
            </a:br>
            <a:r>
              <a:rPr lang="en-US" sz="2000" b="0" i="0" u="none" strike="noStrike" baseline="0">
                <a:solidFill>
                  <a:srgbClr val="0070C0"/>
                </a:solidFill>
              </a:rPr>
              <a:t>""")</a:t>
            </a:r>
            <a:br>
              <a:rPr lang="en-US" sz="2000" b="0" i="0" u="none" strike="noStrike" baseline="0">
                <a:solidFill>
                  <a:srgbClr val="0070C0"/>
                </a:solidFill>
              </a:rPr>
            </a:br>
            <a:br>
              <a:rPr lang="en-US" sz="2000" b="0" i="0" u="none" strike="noStrike" baseline="0"/>
            </a:br>
            <a:r>
              <a:rPr lang="en-US" sz="2000" b="0" i="0" u="none" strike="noStrike" baseline="0"/>
              <a:t># Show the result</a:t>
            </a:r>
            <a:br>
              <a:rPr lang="en-US" sz="2000" b="0" i="0" u="none" strike="noStrike" baseline="0"/>
            </a:br>
            <a:r>
              <a:rPr lang="en-US" sz="2000" b="0" i="0" u="none" strike="noStrike" baseline="0" err="1"/>
              <a:t>result.show</a:t>
            </a:r>
            <a:r>
              <a:rPr lang="en-US" sz="2000" b="0" i="0" u="none" strike="noStrike" baseline="0"/>
              <a:t>()</a:t>
            </a:r>
            <a:endParaRPr lang="en-US" sz="20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30214A-4494-EBA1-C1E9-01D79D300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DataFrames</a:t>
            </a:r>
            <a:r>
              <a:rPr lang="en-US"/>
              <a:t> Versus Spark SQL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DB2EADCB-6A31-5100-E436-A0B382DB3816}"/>
              </a:ext>
            </a:extLst>
          </p:cNvPr>
          <p:cNvSpPr/>
          <p:nvPr/>
        </p:nvSpPr>
        <p:spPr>
          <a:xfrm>
            <a:off x="7083426" y="5154166"/>
            <a:ext cx="2705100" cy="2789684"/>
          </a:xfrm>
          <a:prstGeom prst="leftBrace">
            <a:avLst>
              <a:gd name="adj1" fmla="val 6190"/>
              <a:gd name="adj2" fmla="val 5075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87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Spark SQL Benefits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-30480" y="2324100"/>
            <a:ext cx="4271740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64A9E-92DC-E1F9-7988-22DCE18F2F50}"/>
              </a:ext>
            </a:extLst>
          </p:cNvPr>
          <p:cNvSpPr/>
          <p:nvPr/>
        </p:nvSpPr>
        <p:spPr>
          <a:xfrm>
            <a:off x="0" y="3545529"/>
            <a:ext cx="4450080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7511-4343-89FB-12DD-77B0E6E6347A}"/>
              </a:ext>
            </a:extLst>
          </p:cNvPr>
          <p:cNvSpPr/>
          <p:nvPr/>
        </p:nvSpPr>
        <p:spPr>
          <a:xfrm>
            <a:off x="0" y="4747504"/>
            <a:ext cx="4450080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0B397-3BE5-373B-E5A9-13A4106B7DBC}"/>
              </a:ext>
            </a:extLst>
          </p:cNvPr>
          <p:cNvSpPr/>
          <p:nvPr/>
        </p:nvSpPr>
        <p:spPr>
          <a:xfrm>
            <a:off x="0" y="5910566"/>
            <a:ext cx="445008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C56DA-A4F9-D355-A171-397F89964105}"/>
              </a:ext>
            </a:extLst>
          </p:cNvPr>
          <p:cNvSpPr/>
          <p:nvPr/>
        </p:nvSpPr>
        <p:spPr>
          <a:xfrm>
            <a:off x="792480" y="2324100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Declarative Nature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87F86-2422-9D76-8643-9F14AE6654EA}"/>
              </a:ext>
            </a:extLst>
          </p:cNvPr>
          <p:cNvSpPr/>
          <p:nvPr/>
        </p:nvSpPr>
        <p:spPr>
          <a:xfrm>
            <a:off x="792480" y="3545529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Familiar Syntax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9BF948-A9D5-52ED-BA93-AD433038B961}"/>
              </a:ext>
            </a:extLst>
          </p:cNvPr>
          <p:cNvSpPr/>
          <p:nvPr/>
        </p:nvSpPr>
        <p:spPr>
          <a:xfrm>
            <a:off x="792480" y="4747504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Readability and Simplicity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4455CA-CC41-1AC9-3001-3C90090FCEEA}"/>
              </a:ext>
            </a:extLst>
          </p:cNvPr>
          <p:cNvSpPr/>
          <p:nvPr/>
        </p:nvSpPr>
        <p:spPr>
          <a:xfrm>
            <a:off x="792480" y="5910566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Abundant Resources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F6804-CEDA-F816-DEA8-C734ACB2B89A}"/>
              </a:ext>
            </a:extLst>
          </p:cNvPr>
          <p:cNvSpPr/>
          <p:nvPr/>
        </p:nvSpPr>
        <p:spPr>
          <a:xfrm>
            <a:off x="4541518" y="2316956"/>
            <a:ext cx="12006072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Spark SQL represents a declarative query language that enables users to specify what they want rather than how to achieve 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24491-39DA-2FEF-F31F-171731277535}"/>
              </a:ext>
            </a:extLst>
          </p:cNvPr>
          <p:cNvSpPr/>
          <p:nvPr/>
        </p:nvSpPr>
        <p:spPr>
          <a:xfrm>
            <a:off x="4541518" y="3545529"/>
            <a:ext cx="12006072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For developers with a strong background in SQL, Spark SQL offers a seamless transition into the Spark world and reduces the learning curve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321C7-53EF-9CA7-F7BF-681BF48FC6F4}"/>
              </a:ext>
            </a:extLst>
          </p:cNvPr>
          <p:cNvSpPr/>
          <p:nvPr/>
        </p:nvSpPr>
        <p:spPr>
          <a:xfrm>
            <a:off x="4541518" y="4740360"/>
            <a:ext cx="12006072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Complex transformations that might require intricate </a:t>
            </a:r>
            <a:r>
              <a:rPr lang="en-US" sz="2400" dirty="0" err="1">
                <a:solidFill>
                  <a:schemeClr val="tx1"/>
                </a:solidFill>
              </a:rPr>
              <a:t>DataFrame</a:t>
            </a:r>
            <a:r>
              <a:rPr lang="en-US" sz="2400" dirty="0">
                <a:solidFill>
                  <a:schemeClr val="tx1"/>
                </a:solidFill>
              </a:rPr>
              <a:t> operations can often be expressed succinctly through SQL queries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D42696-6982-A473-0CE8-A0AB929641FB}"/>
              </a:ext>
            </a:extLst>
          </p:cNvPr>
          <p:cNvSpPr/>
          <p:nvPr/>
        </p:nvSpPr>
        <p:spPr>
          <a:xfrm>
            <a:off x="4541519" y="5910566"/>
            <a:ext cx="1200912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bg2"/>
                </a:solidFill>
                <a:effectLst/>
              </a:rPr>
              <a:t>Extensive documentation, tutorials, and community support are readily available for SQL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141AAE-90DD-30A6-A9B4-8198A5CD83A0}"/>
              </a:ext>
            </a:extLst>
          </p:cNvPr>
          <p:cNvSpPr/>
          <p:nvPr/>
        </p:nvSpPr>
        <p:spPr>
          <a:xfrm>
            <a:off x="16214" y="7074641"/>
            <a:ext cx="445008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06BA78-B778-C7B9-D84F-6119BD8CAFBC}"/>
              </a:ext>
            </a:extLst>
          </p:cNvPr>
          <p:cNvSpPr/>
          <p:nvPr/>
        </p:nvSpPr>
        <p:spPr>
          <a:xfrm>
            <a:off x="808694" y="7074641"/>
            <a:ext cx="3657600" cy="1042416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Portable and Standardized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4E9B69-8B38-86C0-837F-B26D9C5DD71F}"/>
              </a:ext>
            </a:extLst>
          </p:cNvPr>
          <p:cNvSpPr/>
          <p:nvPr/>
        </p:nvSpPr>
        <p:spPr>
          <a:xfrm>
            <a:off x="4557733" y="7074641"/>
            <a:ext cx="1200912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SQL queries are generally transferable and reusable with minimal changes from relational database systems to use the Spark SQL API</a:t>
            </a:r>
          </a:p>
        </p:txBody>
      </p:sp>
    </p:spTree>
    <p:extLst>
      <p:ext uri="{BB962C8B-B14F-4D97-AF65-F5344CB8AC3E}">
        <p14:creationId xmlns:p14="http://schemas.microsoft.com/office/powerpoint/2010/main" val="2301142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Spark SQL Benefits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-30480" y="2324100"/>
            <a:ext cx="4271740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64A9E-92DC-E1F9-7988-22DCE18F2F50}"/>
              </a:ext>
            </a:extLst>
          </p:cNvPr>
          <p:cNvSpPr/>
          <p:nvPr/>
        </p:nvSpPr>
        <p:spPr>
          <a:xfrm>
            <a:off x="0" y="3545529"/>
            <a:ext cx="4450080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7511-4343-89FB-12DD-77B0E6E6347A}"/>
              </a:ext>
            </a:extLst>
          </p:cNvPr>
          <p:cNvSpPr/>
          <p:nvPr/>
        </p:nvSpPr>
        <p:spPr>
          <a:xfrm>
            <a:off x="0" y="4747504"/>
            <a:ext cx="4450080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0B397-3BE5-373B-E5A9-13A4106B7DBC}"/>
              </a:ext>
            </a:extLst>
          </p:cNvPr>
          <p:cNvSpPr/>
          <p:nvPr/>
        </p:nvSpPr>
        <p:spPr>
          <a:xfrm>
            <a:off x="0" y="5910566"/>
            <a:ext cx="445008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C56DA-A4F9-D355-A171-397F89964105}"/>
              </a:ext>
            </a:extLst>
          </p:cNvPr>
          <p:cNvSpPr/>
          <p:nvPr/>
        </p:nvSpPr>
        <p:spPr>
          <a:xfrm>
            <a:off x="792480" y="2324100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Hybrid Workflows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87F86-2422-9D76-8643-9F14AE6654EA}"/>
              </a:ext>
            </a:extLst>
          </p:cNvPr>
          <p:cNvSpPr/>
          <p:nvPr/>
        </p:nvSpPr>
        <p:spPr>
          <a:xfrm>
            <a:off x="792480" y="3545529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Performance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9BF948-A9D5-52ED-BA93-AD433038B961}"/>
              </a:ext>
            </a:extLst>
          </p:cNvPr>
          <p:cNvSpPr/>
          <p:nvPr/>
        </p:nvSpPr>
        <p:spPr>
          <a:xfrm>
            <a:off x="792480" y="4747504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Readability and Simplicity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4455CA-CC41-1AC9-3001-3C90090FCEEA}"/>
              </a:ext>
            </a:extLst>
          </p:cNvPr>
          <p:cNvSpPr/>
          <p:nvPr/>
        </p:nvSpPr>
        <p:spPr>
          <a:xfrm>
            <a:off x="792480" y="5910566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Scalability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F6804-CEDA-F816-DEA8-C734ACB2B89A}"/>
              </a:ext>
            </a:extLst>
          </p:cNvPr>
          <p:cNvSpPr/>
          <p:nvPr/>
        </p:nvSpPr>
        <p:spPr>
          <a:xfrm>
            <a:off x="4541518" y="2316956"/>
            <a:ext cx="12006072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Spark SQL allows blending the declarative nature of SQL views with the flexibility of DataFrame transformations enabling complex data pipelines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24491-39DA-2FEF-F31F-171731277535}"/>
              </a:ext>
            </a:extLst>
          </p:cNvPr>
          <p:cNvSpPr/>
          <p:nvPr/>
        </p:nvSpPr>
        <p:spPr>
          <a:xfrm>
            <a:off x="4541518" y="3545529"/>
            <a:ext cx="12006072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There is no performance difference between writing SQL queries or writing </a:t>
            </a:r>
            <a:r>
              <a:rPr lang="en-US" sz="2400" dirty="0" err="1">
                <a:solidFill>
                  <a:schemeClr val="tx1"/>
                </a:solidFill>
              </a:rPr>
              <a:t>DataFrame</a:t>
            </a:r>
            <a:r>
              <a:rPr lang="en-US" sz="2400" dirty="0">
                <a:solidFill>
                  <a:schemeClr val="tx1"/>
                </a:solidFill>
              </a:rPr>
              <a:t> API code. They both “compile” to the same underlying execution plan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321C7-53EF-9CA7-F7BF-681BF48FC6F4}"/>
              </a:ext>
            </a:extLst>
          </p:cNvPr>
          <p:cNvSpPr/>
          <p:nvPr/>
        </p:nvSpPr>
        <p:spPr>
          <a:xfrm>
            <a:off x="4541518" y="4740360"/>
            <a:ext cx="12006072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Writing basic queries and joins is straightforward and concise, especially for less complex tasks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D42696-6982-A473-0CE8-A0AB929641FB}"/>
              </a:ext>
            </a:extLst>
          </p:cNvPr>
          <p:cNvSpPr/>
          <p:nvPr/>
        </p:nvSpPr>
        <p:spPr>
          <a:xfrm>
            <a:off x="4541519" y="5910566"/>
            <a:ext cx="1200912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bg2"/>
                </a:solidFill>
                <a:effectLst/>
              </a:rPr>
              <a:t>Built upon Spark's distributed engine, Spark SQL seamlessly scales to analyze massive datasets that traditional SQL-based systems might struggle with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141AAE-90DD-30A6-A9B4-8198A5CD83A0}"/>
              </a:ext>
            </a:extLst>
          </p:cNvPr>
          <p:cNvSpPr/>
          <p:nvPr/>
        </p:nvSpPr>
        <p:spPr>
          <a:xfrm>
            <a:off x="16214" y="7074641"/>
            <a:ext cx="445008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06BA78-B778-C7B9-D84F-6119BD8CAFBC}"/>
              </a:ext>
            </a:extLst>
          </p:cNvPr>
          <p:cNvSpPr/>
          <p:nvPr/>
        </p:nvSpPr>
        <p:spPr>
          <a:xfrm>
            <a:off x="808694" y="7074641"/>
            <a:ext cx="3657600" cy="1042416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Optimized Storage Formats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4E9B69-8B38-86C0-837F-B26D9C5DD71F}"/>
              </a:ext>
            </a:extLst>
          </p:cNvPr>
          <p:cNvSpPr/>
          <p:nvPr/>
        </p:nvSpPr>
        <p:spPr>
          <a:xfrm>
            <a:off x="4557733" y="7074641"/>
            <a:ext cx="1200912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Spark SQL optimizes data storage through the support of columnar storage formats such as Parquet and ORC. This feature enhances compression, reduces I/O operations, and accelerates query performance</a:t>
            </a:r>
          </a:p>
        </p:txBody>
      </p:sp>
    </p:spTree>
    <p:extLst>
      <p:ext uri="{BB962C8B-B14F-4D97-AF65-F5344CB8AC3E}">
        <p14:creationId xmlns:p14="http://schemas.microsoft.com/office/powerpoint/2010/main" val="3295982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Spark SQL Drawbacks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-30480" y="2324100"/>
            <a:ext cx="4271740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64A9E-92DC-E1F9-7988-22DCE18F2F50}"/>
              </a:ext>
            </a:extLst>
          </p:cNvPr>
          <p:cNvSpPr/>
          <p:nvPr/>
        </p:nvSpPr>
        <p:spPr>
          <a:xfrm>
            <a:off x="0" y="3545529"/>
            <a:ext cx="4450080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7511-4343-89FB-12DD-77B0E6E6347A}"/>
              </a:ext>
            </a:extLst>
          </p:cNvPr>
          <p:cNvSpPr/>
          <p:nvPr/>
        </p:nvSpPr>
        <p:spPr>
          <a:xfrm>
            <a:off x="0" y="4747504"/>
            <a:ext cx="4450080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0B397-3BE5-373B-E5A9-13A4106B7DBC}"/>
              </a:ext>
            </a:extLst>
          </p:cNvPr>
          <p:cNvSpPr/>
          <p:nvPr/>
        </p:nvSpPr>
        <p:spPr>
          <a:xfrm>
            <a:off x="0" y="5910566"/>
            <a:ext cx="445008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C56DA-A4F9-D355-A171-397F89964105}"/>
              </a:ext>
            </a:extLst>
          </p:cNvPr>
          <p:cNvSpPr/>
          <p:nvPr/>
        </p:nvSpPr>
        <p:spPr>
          <a:xfrm>
            <a:off x="792480" y="2324100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Native Library Integration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87F86-2422-9D76-8643-9F14AE6654EA}"/>
              </a:ext>
            </a:extLst>
          </p:cNvPr>
          <p:cNvSpPr/>
          <p:nvPr/>
        </p:nvSpPr>
        <p:spPr>
          <a:xfrm>
            <a:off x="792480" y="3545529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Spark Extension Integration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9BF948-A9D5-52ED-BA93-AD433038B961}"/>
              </a:ext>
            </a:extLst>
          </p:cNvPr>
          <p:cNvSpPr/>
          <p:nvPr/>
        </p:nvSpPr>
        <p:spPr>
          <a:xfrm>
            <a:off x="792480" y="4747504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Less Modular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4455CA-CC41-1AC9-3001-3C90090FCEEA}"/>
              </a:ext>
            </a:extLst>
          </p:cNvPr>
          <p:cNvSpPr/>
          <p:nvPr/>
        </p:nvSpPr>
        <p:spPr>
          <a:xfrm>
            <a:off x="792480" y="5910566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Debugging Challenges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F6804-CEDA-F816-DEA8-C734ACB2B89A}"/>
              </a:ext>
            </a:extLst>
          </p:cNvPr>
          <p:cNvSpPr/>
          <p:nvPr/>
        </p:nvSpPr>
        <p:spPr>
          <a:xfrm>
            <a:off x="4541518" y="2316956"/>
            <a:ext cx="12006072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Spark SQL is isolated from external Java, Scala, R and Python libraries compared to the DataFrame API, which might be a limitation for advanced analytical tasks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24491-39DA-2FEF-F31F-171731277535}"/>
              </a:ext>
            </a:extLst>
          </p:cNvPr>
          <p:cNvSpPr/>
          <p:nvPr/>
        </p:nvSpPr>
        <p:spPr>
          <a:xfrm>
            <a:off x="4541518" y="3545529"/>
            <a:ext cx="12006072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Spark SQL is not well integrated with Spark extensions such as </a:t>
            </a:r>
            <a:r>
              <a:rPr lang="en-US" sz="2400" dirty="0" err="1">
                <a:solidFill>
                  <a:schemeClr val="tx1"/>
                </a:solidFill>
              </a:rPr>
              <a:t>GraphX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GraphFrames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MLlib</a:t>
            </a:r>
            <a:r>
              <a:rPr lang="en-US" sz="2400" dirty="0">
                <a:solidFill>
                  <a:schemeClr val="tx1"/>
                </a:solidFill>
              </a:rPr>
              <a:t> and Spark ML all of which use </a:t>
            </a:r>
            <a:r>
              <a:rPr lang="en-US" sz="2400" dirty="0" err="1">
                <a:solidFill>
                  <a:schemeClr val="tx1"/>
                </a:solidFill>
              </a:rPr>
              <a:t>DataFrames</a:t>
            </a:r>
            <a:r>
              <a:rPr lang="en-US" sz="2400" dirty="0">
                <a:solidFill>
                  <a:schemeClr val="tx1"/>
                </a:solidFill>
              </a:rPr>
              <a:t> or RDDs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321C7-53EF-9CA7-F7BF-681BF48FC6F4}"/>
              </a:ext>
            </a:extLst>
          </p:cNvPr>
          <p:cNvSpPr/>
          <p:nvPr/>
        </p:nvSpPr>
        <p:spPr>
          <a:xfrm>
            <a:off x="4541518" y="4740360"/>
            <a:ext cx="12006072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Spark SQL statements combine many transformations together into an inseparable whole making it more difficult to compose pipelines from primitive components.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D42696-6982-A473-0CE8-A0AB929641FB}"/>
              </a:ext>
            </a:extLst>
          </p:cNvPr>
          <p:cNvSpPr/>
          <p:nvPr/>
        </p:nvSpPr>
        <p:spPr>
          <a:xfrm>
            <a:off x="4541519" y="5910566"/>
            <a:ext cx="1200912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bg2"/>
                </a:solidFill>
                <a:effectLst/>
              </a:rPr>
              <a:t>Spark DataFrames, with their method chaining and programmatic approach, can provide more granular control over transformations, making it easier to </a:t>
            </a:r>
            <a:r>
              <a:rPr lang="en-US" sz="2400" dirty="0">
                <a:solidFill>
                  <a:schemeClr val="bg2"/>
                </a:solidFill>
              </a:rPr>
              <a:t>debug</a:t>
            </a:r>
            <a:endParaRPr lang="en-US" sz="2400" b="0" i="0" dirty="0">
              <a:solidFill>
                <a:schemeClr val="bg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69996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DataFrames</a:t>
            </a:r>
            <a:r>
              <a:rPr lang="en-US"/>
              <a:t> Versus Spark SQL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Both the Spark </a:t>
            </a:r>
            <a:r>
              <a:rPr lang="en-US" sz="2400" err="1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24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API and Spark SQL have benefits and drawbacks, making the choice contingent on specific use cases and developer preferences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For those who prioritize R, Scala, Java or Python language syntax, integration with language libraries, and fine-grained control over transformations, the </a:t>
            </a:r>
            <a:r>
              <a:rPr lang="en-US" altLang="en-US" sz="2400" dirty="0" err="1">
                <a:solidFill>
                  <a:schemeClr val="tx1"/>
                </a:solidFill>
              </a:rPr>
              <a:t>DataFrame</a:t>
            </a:r>
            <a:r>
              <a:rPr lang="en-US" altLang="en-US" sz="2400" dirty="0">
                <a:solidFill>
                  <a:schemeClr val="tx1"/>
                </a:solidFill>
              </a:rPr>
              <a:t> API is an excellent choice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01015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</a:rPr>
              <a:t>It’s particularly beneficial for scenarios involving data preprocessing, feature engineering, machine learning or graph processing integration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624964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/>
                </a:solidFill>
              </a:rPr>
              <a:t>For users comfortable with SQL, and those working with more complex transformations, Spark SQL proves advantageous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781AD-82B3-30B5-7D07-45800FC20FCF}"/>
              </a:ext>
            </a:extLst>
          </p:cNvPr>
          <p:cNvSpPr/>
          <p:nvPr/>
        </p:nvSpPr>
        <p:spPr>
          <a:xfrm>
            <a:off x="1262933" y="7526655"/>
            <a:ext cx="1371600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bg2"/>
                </a:solidFill>
              </a:rPr>
              <a:t>It’s particularly suited for cases where data analysis revolves around intricate querying and analytical tasks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AC3EB0-949C-4C3A-4E8D-AFEE364D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02971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56B88A-DD93-4021-91F5-E7B2F5B15E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85503</TotalTime>
  <Words>1329</Words>
  <Application>Microsoft Office PowerPoint</Application>
  <PresentationFormat>Custom</PresentationFormat>
  <Paragraphs>80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Breeze</vt:lpstr>
      <vt:lpstr>Module 5: Lesson 6  Transformations – Spark SQL</vt:lpstr>
      <vt:lpstr>Configuring the Spark SQL API</vt:lpstr>
      <vt:lpstr>Data Processing Using SQL Queries</vt:lpstr>
      <vt:lpstr>Using Spark SQL</vt:lpstr>
      <vt:lpstr>Creating a View</vt:lpstr>
      <vt:lpstr>Querying a View</vt:lpstr>
      <vt:lpstr>Spark SQL Examples</vt:lpstr>
      <vt:lpstr>DataFrames Versus Spark SQL</vt:lpstr>
      <vt:lpstr>Spark SQL Benefits</vt:lpstr>
      <vt:lpstr>Spark SQL Benefits</vt:lpstr>
      <vt:lpstr>Spark SQL Drawbacks</vt:lpstr>
      <vt:lpstr>DataFrames Versus Spark SQL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289</cp:revision>
  <cp:lastPrinted>2024-01-03T15:49:50Z</cp:lastPrinted>
  <dcterms:created xsi:type="dcterms:W3CDTF">2019-02-13T16:04:21Z</dcterms:created>
  <dcterms:modified xsi:type="dcterms:W3CDTF">2024-07-10T15:06:37Z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37648A85-F992-4D3F-9C74-274EA6849ED1</vt:lpwstr>
  </property>
  <property fmtid="{D5CDD505-2E9C-101B-9397-08002B2CF9AE}" pid="4" name="ArticulatePath">
    <vt:lpwstr>Module 5 01042024</vt:lpwstr>
  </property>
  <property fmtid="{D5CDD505-2E9C-101B-9397-08002B2CF9AE}" pid="5" name="MediaServiceImageTags">
    <vt:lpwstr/>
  </property>
</Properties>
</file>