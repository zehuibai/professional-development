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3"/>
  </p:notesMasterIdLst>
  <p:sldIdLst>
    <p:sldId id="944" r:id="rId5"/>
    <p:sldId id="871" r:id="rId6"/>
    <p:sldId id="877" r:id="rId7"/>
    <p:sldId id="873" r:id="rId8"/>
    <p:sldId id="872" r:id="rId9"/>
    <p:sldId id="874" r:id="rId10"/>
    <p:sldId id="875" r:id="rId11"/>
    <p:sldId id="876" r:id="rId12"/>
  </p:sldIdLst>
  <p:sldSz cx="18288000" cy="10287000"/>
  <p:notesSz cx="9144000" cy="6858000"/>
  <p:custDataLst>
    <p:tags r:id="rId14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ABA"/>
    <a:srgbClr val="0070C0"/>
    <a:srgbClr val="959595"/>
    <a:srgbClr val="E98D0A"/>
    <a:srgbClr val="969696"/>
    <a:srgbClr val="3F4F6C"/>
    <a:srgbClr val="C50724"/>
    <a:srgbClr val="7C7C7C"/>
    <a:srgbClr val="DFDFDF"/>
    <a:srgbClr val="FFA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9"/>
    <p:restoredTop sz="91693"/>
  </p:normalViewPr>
  <p:slideViewPr>
    <p:cSldViewPr snapToGrid="0" snapToObjects="1">
      <p:cViewPr varScale="1">
        <p:scale>
          <a:sx n="68" d="100"/>
          <a:sy n="68" d="100"/>
        </p:scale>
        <p:origin x="654" y="7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5 : Lesson 8 </a:t>
            </a:r>
            <a:br>
              <a:rPr lang="en-US" dirty="0"/>
            </a:br>
            <a:r>
              <a:rPr lang="en-US" sz="6000" dirty="0"/>
              <a:t>Actions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91FBD-53BD-9EF0-6809-9233670272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2601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Action – </a:t>
            </a:r>
            <a:r>
              <a:rPr lang="en-US" sz="5400" err="1"/>
              <a:t>DataFrame.collect</a:t>
            </a:r>
            <a:r>
              <a:rPr lang="en-US" sz="5400"/>
              <a:t>()</a:t>
            </a: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6319063" y="5654541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5464409" y="5120715"/>
            <a:ext cx="3183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srcDF.collect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00B07-7C3F-76C3-5245-2D4E3252D776}"/>
              </a:ext>
            </a:extLst>
          </p:cNvPr>
          <p:cNvSpPr txBox="1"/>
          <p:nvPr/>
        </p:nvSpPr>
        <p:spPr>
          <a:xfrm>
            <a:off x="1098550" y="6942239"/>
            <a:ext cx="61342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mpg|horsepower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     113.0|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bmw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2002|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      67.0|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dasher|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|21.1|      95.0|toyota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celica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gt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...|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79D82A-B4DF-8AEE-8FF2-F90888D103C7}"/>
              </a:ext>
            </a:extLst>
          </p:cNvPr>
          <p:cNvSpPr txBox="1"/>
          <p:nvPr/>
        </p:nvSpPr>
        <p:spPr>
          <a:xfrm>
            <a:off x="6826103" y="7379001"/>
            <a:ext cx="104633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Row(mpg=26.0, horsepower=113.0,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bmw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2002’),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Row(mpg=26.0, horsepower=67.0,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dasher’),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Row(mpg=21.1, horsepower=95.0,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toyota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celica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gt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liftback’)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D76E3-86EC-B7D5-BE3A-E2C5604E518B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Returns all rows as a list of Row type (class </a:t>
            </a:r>
            <a:r>
              <a:rPr lang="en-US" sz="2800" err="1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pyspark.sql.Row</a:t>
            </a: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to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driver node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A39044-BC0C-3790-35DC-1FD3D8F9B4C3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Use on smaller dataset usually after filter(), group() etc. Retrieving larger datasets can result in an </a:t>
            </a:r>
            <a:r>
              <a:rPr lang="en-US" altLang="en-US" sz="2800" dirty="0" err="1">
                <a:solidFill>
                  <a:schemeClr val="tx1"/>
                </a:solidFill>
              </a:rPr>
              <a:t>OutOfMemory</a:t>
            </a:r>
            <a:r>
              <a:rPr lang="en-US" altLang="en-US" sz="2800" dirty="0">
                <a:solidFill>
                  <a:schemeClr val="tx1"/>
                </a:solidFill>
              </a:rPr>
              <a:t> error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6206B-B2B4-66D9-6A30-3D52F2EAF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417B52-4695-2319-A9B8-DE2FE0024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09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Action – </a:t>
            </a:r>
            <a:r>
              <a:rPr lang="en-US" sz="5400" err="1"/>
              <a:t>DataFrame.printSchema</a:t>
            </a:r>
            <a:r>
              <a:rPr lang="en-US" sz="5400"/>
              <a:t>()</a:t>
            </a: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7161743" y="5654541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6307089" y="5120715"/>
            <a:ext cx="368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srcDF.printSchema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00B07-7C3F-76C3-5245-2D4E3252D776}"/>
              </a:ext>
            </a:extLst>
          </p:cNvPr>
          <p:cNvSpPr txBox="1"/>
          <p:nvPr/>
        </p:nvSpPr>
        <p:spPr>
          <a:xfrm>
            <a:off x="1098550" y="6942239"/>
            <a:ext cx="61342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mpg|horsepower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     113.0|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bmw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2002|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      67.0|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dasher|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|21.1|      95.0|toyota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celica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gt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...|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79D82A-B4DF-8AEE-8FF2-F90888D103C7}"/>
              </a:ext>
            </a:extLst>
          </p:cNvPr>
          <p:cNvSpPr txBox="1"/>
          <p:nvPr/>
        </p:nvSpPr>
        <p:spPr>
          <a:xfrm>
            <a:off x="8148203" y="7357736"/>
            <a:ext cx="6800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root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|-- mpg: double (nullable = true)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|-- horsepower: double (nullable = true)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|-- carname: string (nullable = true)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D76E3-86EC-B7D5-BE3A-E2C5604E518B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Prints out the schema in the tree format.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6206B-B2B4-66D9-6A30-3D52F2EAF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305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Action – </a:t>
            </a:r>
            <a:r>
              <a:rPr lang="en-US" sz="5400" err="1"/>
              <a:t>DataFrame.first</a:t>
            </a:r>
            <a:r>
              <a:rPr lang="en-US" sz="5400"/>
              <a:t>()</a:t>
            </a: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7161743" y="5654541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6307089" y="4051571"/>
            <a:ext cx="48767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row = 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srcDF.first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h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orsepower = row[‘horsepower’]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horsepower = row[1]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00B07-7C3F-76C3-5245-2D4E3252D776}"/>
              </a:ext>
            </a:extLst>
          </p:cNvPr>
          <p:cNvSpPr txBox="1"/>
          <p:nvPr/>
        </p:nvSpPr>
        <p:spPr>
          <a:xfrm>
            <a:off x="1098550" y="6942239"/>
            <a:ext cx="61342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mpg|horsepower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     113.0|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bmw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2002|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      67.0|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dasher|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NULL|               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79D82A-B4DF-8AEE-8FF2-F90888D103C7}"/>
              </a:ext>
            </a:extLst>
          </p:cNvPr>
          <p:cNvSpPr txBox="1"/>
          <p:nvPr/>
        </p:nvSpPr>
        <p:spPr>
          <a:xfrm>
            <a:off x="8151568" y="7669802"/>
            <a:ext cx="8031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Row(mpg=26.0, horsepower=113.0,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bmw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2002')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D76E3-86EC-B7D5-BE3A-E2C5604E518B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Returns the first row as a Row type (class </a:t>
            </a:r>
            <a:r>
              <a:rPr lang="en-US" sz="2800" err="1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pyspark.sql.Row</a:t>
            </a: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to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driver node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6206B-B2B4-66D9-6A30-3D52F2EAF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79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Action – </a:t>
            </a:r>
            <a:r>
              <a:rPr lang="en-US" sz="5400" err="1"/>
              <a:t>DataFrame.count</a:t>
            </a:r>
            <a:r>
              <a:rPr lang="en-US" sz="5400"/>
              <a:t>()</a:t>
            </a: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6605932" y="5654541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5830500" y="5120715"/>
            <a:ext cx="28369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srcDF.count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00B07-7C3F-76C3-5245-2D4E3252D776}"/>
              </a:ext>
            </a:extLst>
          </p:cNvPr>
          <p:cNvSpPr txBox="1"/>
          <p:nvPr/>
        </p:nvSpPr>
        <p:spPr>
          <a:xfrm>
            <a:off x="1098550" y="6942239"/>
            <a:ext cx="61342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mpg|horsepower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     113.0|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bmw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2002|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      67.0|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dasher|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NULL|               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79D82A-B4DF-8AEE-8FF2-F90888D103C7}"/>
              </a:ext>
            </a:extLst>
          </p:cNvPr>
          <p:cNvSpPr txBox="1"/>
          <p:nvPr/>
        </p:nvSpPr>
        <p:spPr>
          <a:xfrm>
            <a:off x="8151568" y="7669802"/>
            <a:ext cx="5061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D76E3-86EC-B7D5-BE3A-E2C5604E518B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Returns the number of rows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A39044-BC0C-3790-35DC-1FD3D8F9B4C3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Rows containing columns with null values are included in the count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6206B-B2B4-66D9-6A30-3D52F2EAF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417B52-4695-2319-A9B8-DE2FE0024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434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Action – </a:t>
            </a:r>
            <a:r>
              <a:rPr lang="en-US" sz="5400" err="1"/>
              <a:t>DataFrame.head</a:t>
            </a:r>
            <a:r>
              <a:rPr lang="en-US" sz="5400"/>
              <a:t>(n)</a:t>
            </a: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6229415" y="6386059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5453983" y="5120715"/>
            <a:ext cx="4660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rows = 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srcDF.head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(2)</a:t>
            </a:r>
          </a:p>
          <a:p>
            <a:r>
              <a:rPr lang="en-US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mpgForFirstRow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rows[0][‘mpg’]</a:t>
            </a:r>
          </a:p>
          <a:p>
            <a:r>
              <a:rPr lang="en-US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mpgForFirstRow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rows[0][0]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00B07-7C3F-76C3-5245-2D4E3252D776}"/>
              </a:ext>
            </a:extLst>
          </p:cNvPr>
          <p:cNvSpPr txBox="1"/>
          <p:nvPr/>
        </p:nvSpPr>
        <p:spPr>
          <a:xfrm>
            <a:off x="1098550" y="6942239"/>
            <a:ext cx="61342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mpg|horsepower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     113.0|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bmw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2002|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      67.0|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dasher|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NULL|               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D76E3-86EC-B7D5-BE3A-E2C5604E518B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Returns the first n rows.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chemeClr val="bg2"/>
                </a:solidFill>
              </a:rPr>
              <a:t>If n is greater than 1, return a list of Row. If n is 1, return a single Row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A39044-BC0C-3790-35DC-1FD3D8F9B4C3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This method should only be used if the resulting array is expected to be small, as all the data is loaded into the driver’s memory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6206B-B2B4-66D9-6A30-3D52F2EAF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417B52-4695-2319-A9B8-DE2FE0024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E9856-CB5D-AE8F-D0A2-B7E259DAEA20}"/>
              </a:ext>
            </a:extLst>
          </p:cNvPr>
          <p:cNvSpPr txBox="1"/>
          <p:nvPr/>
        </p:nvSpPr>
        <p:spPr>
          <a:xfrm>
            <a:off x="7161743" y="7357736"/>
            <a:ext cx="91546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Row(mpg=26.0, horsepower=113.0,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bmw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2002’),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Row(mpg=26.0, horsepower=67.0,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dasher’),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514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Action – </a:t>
            </a:r>
            <a:r>
              <a:rPr lang="en-US" sz="5400" err="1"/>
              <a:t>DataFrame.show</a:t>
            </a:r>
            <a:r>
              <a:rPr lang="en-US" sz="5400"/>
              <a:t>(n=20, truncate=True)</a:t>
            </a: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6121839" y="5654541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5633277" y="5120715"/>
            <a:ext cx="28369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srcDF.show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(2)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00B07-7C3F-76C3-5245-2D4E3252D776}"/>
              </a:ext>
            </a:extLst>
          </p:cNvPr>
          <p:cNvSpPr txBox="1"/>
          <p:nvPr/>
        </p:nvSpPr>
        <p:spPr>
          <a:xfrm>
            <a:off x="1098550" y="6942239"/>
            <a:ext cx="61342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mpg|horsepower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     113.0|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bmw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2002|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      67.0|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dasher|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NULL|               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D76E3-86EC-B7D5-BE3A-E2C5604E518B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Prints the first n rows to the console (default = 20)</a:t>
            </a:r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A39044-BC0C-3790-35DC-1FD3D8F9B4C3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f set to True, truncate strings longer than 20 chars by default. If set to a number greater than one, truncates long strings to length truncate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6206B-B2B4-66D9-6A30-3D52F2EAF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417B52-4695-2319-A9B8-DE2FE0024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E9856-CB5D-AE8F-D0A2-B7E259DAEA20}"/>
              </a:ext>
            </a:extLst>
          </p:cNvPr>
          <p:cNvSpPr txBox="1"/>
          <p:nvPr/>
        </p:nvSpPr>
        <p:spPr>
          <a:xfrm>
            <a:off x="7853745" y="6942239"/>
            <a:ext cx="40662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mpg|horsepower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     113.0|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bmw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2002|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      67.0|vw dasher|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only showing top 2 rows</a:t>
            </a:r>
          </a:p>
          <a:p>
            <a:endParaRPr lang="en-US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660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Action – </a:t>
            </a:r>
            <a:r>
              <a:rPr lang="en-US" sz="5400" err="1"/>
              <a:t>DataFrame.take</a:t>
            </a:r>
            <a:r>
              <a:rPr lang="en-US" sz="5400"/>
              <a:t>(n)</a:t>
            </a: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978405" y="5654541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5310548" y="4245676"/>
            <a:ext cx="46775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rows = 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srcDF.take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(1)</a:t>
            </a:r>
          </a:p>
          <a:p>
            <a:r>
              <a:rPr lang="en-US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mpgForFirstRow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rows[0][‘mpg’]</a:t>
            </a:r>
          </a:p>
          <a:p>
            <a:r>
              <a:rPr lang="en-US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mpgForFirstRow</a:t>
            </a:r>
            <a:r>
              <a:rPr lang="en-US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rows[0][0]</a:t>
            </a:r>
          </a:p>
          <a:p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00B07-7C3F-76C3-5245-2D4E3252D776}"/>
              </a:ext>
            </a:extLst>
          </p:cNvPr>
          <p:cNvSpPr txBox="1"/>
          <p:nvPr/>
        </p:nvSpPr>
        <p:spPr>
          <a:xfrm>
            <a:off x="1098550" y="6942239"/>
            <a:ext cx="61342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mpg|horsepower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     113.0|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bmw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2002|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|26.0|      67.0|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dasher|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  <a:r>
              <a:rPr lang="en-US">
                <a:solidFill>
                  <a:srgbClr val="000000"/>
                </a:solidFill>
                <a:latin typeface="Menlo" panose="020B060903080402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NULL|               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D76E3-86EC-B7D5-BE3A-E2C5604E518B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Returns the first num rows as a list of Row(s)</a:t>
            </a:r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6206B-B2B4-66D9-6A30-3D52F2EAF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E9856-CB5D-AE8F-D0A2-B7E259DAEA20}"/>
              </a:ext>
            </a:extLst>
          </p:cNvPr>
          <p:cNvSpPr txBox="1"/>
          <p:nvPr/>
        </p:nvSpPr>
        <p:spPr>
          <a:xfrm>
            <a:off x="7161743" y="7357736"/>
            <a:ext cx="91546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Row(mpg=26.0, horsepower=113.0,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bmw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2002’),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65993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E4C2856D-F09F-442B-A0BE-EE55856CAEE0}"/>
</file>

<file path=customXml/itemProps3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85508</TotalTime>
  <Words>759</Words>
  <Application>Microsoft Office PowerPoint</Application>
  <PresentationFormat>Custom</PresentationFormat>
  <Paragraphs>109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Menlo</vt:lpstr>
      <vt:lpstr>Wingdings 2</vt:lpstr>
      <vt:lpstr>Breeze</vt:lpstr>
      <vt:lpstr>Module 5 : Lesson 8  Actions</vt:lpstr>
      <vt:lpstr>Action – DataFrame.collect()</vt:lpstr>
      <vt:lpstr>Action – DataFrame.printSchema()</vt:lpstr>
      <vt:lpstr>Action – DataFrame.first()</vt:lpstr>
      <vt:lpstr>Action – DataFrame.count()</vt:lpstr>
      <vt:lpstr>Action – DataFrame.head(n)</vt:lpstr>
      <vt:lpstr>Action – DataFrame.show(n=20, truncate=True)</vt:lpstr>
      <vt:lpstr>Action – DataFrame.take(n)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286</cp:revision>
  <cp:lastPrinted>2024-01-03T15:49:50Z</cp:lastPrinted>
  <dcterms:created xsi:type="dcterms:W3CDTF">2019-02-13T16:04:21Z</dcterms:created>
  <dcterms:modified xsi:type="dcterms:W3CDTF">2024-06-24T01:50:41Z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1799394A-8832-45B7-A351-9641E03A1078</vt:lpwstr>
  </property>
  <property fmtid="{D5CDD505-2E9C-101B-9397-08002B2CF9AE}" pid="4" name="ArticulatePath">
    <vt:lpwstr>Module 5 01042024</vt:lpwstr>
  </property>
</Properties>
</file>