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5"/>
  </p:notesMasterIdLst>
  <p:sldIdLst>
    <p:sldId id="945" r:id="rId5"/>
    <p:sldId id="946" r:id="rId6"/>
    <p:sldId id="967" r:id="rId7"/>
    <p:sldId id="947" r:id="rId8"/>
    <p:sldId id="950" r:id="rId9"/>
    <p:sldId id="949" r:id="rId10"/>
    <p:sldId id="951" r:id="rId11"/>
    <p:sldId id="966" r:id="rId12"/>
    <p:sldId id="952" r:id="rId13"/>
    <p:sldId id="896" r:id="rId14"/>
  </p:sldIdLst>
  <p:sldSz cx="18288000" cy="10287000"/>
  <p:notesSz cx="9144000" cy="6858000"/>
  <p:custDataLst>
    <p:tags r:id="rId16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0070C0"/>
    <a:srgbClr val="959595"/>
    <a:srgbClr val="E98D0A"/>
    <a:srgbClr val="969696"/>
    <a:srgbClr val="3F4F6C"/>
    <a:srgbClr val="C50724"/>
    <a:srgbClr val="7C7C7C"/>
    <a:srgbClr val="DFDFDF"/>
    <a:srgbClr val="FFA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B8447E-6D0A-5B4C-FE90-CC278FB20AF1}" v="16" dt="2024-07-10T15:13:59.5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9"/>
    <p:restoredTop sz="91693"/>
  </p:normalViewPr>
  <p:slideViewPr>
    <p:cSldViewPr snapToGrid="0" snapToObjects="1">
      <p:cViewPr varScale="1">
        <p:scale>
          <a:sx n="68" d="100"/>
          <a:sy n="68" d="100"/>
        </p:scale>
        <p:origin x="654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62B8447E-6D0A-5B4C-FE90-CC278FB20AF1}"/>
    <pc:docChg chg="modSld">
      <pc:chgData name="Allison Mulshine" userId="S::allison.mulshine@collegiseducation.com::5f656d52-c555-4e5e-9a5b-18226766ffe3" providerId="AD" clId="Web-{62B8447E-6D0A-5B4C-FE90-CC278FB20AF1}" dt="2024-07-10T15:13:59.569" v="13"/>
      <pc:docMkLst>
        <pc:docMk/>
      </pc:docMkLst>
      <pc:sldChg chg="addSp delSp modSp">
        <pc:chgData name="Allison Mulshine" userId="S::allison.mulshine@collegiseducation.com::5f656d52-c555-4e5e-9a5b-18226766ffe3" providerId="AD" clId="Web-{62B8447E-6D0A-5B4C-FE90-CC278FB20AF1}" dt="2024-07-10T15:13:59.569" v="13"/>
        <pc:sldMkLst>
          <pc:docMk/>
          <pc:sldMk cId="2723118119" sldId="947"/>
        </pc:sldMkLst>
        <pc:spChg chg="del">
          <ac:chgData name="Allison Mulshine" userId="S::allison.mulshine@collegiseducation.com::5f656d52-c555-4e5e-9a5b-18226766ffe3" providerId="AD" clId="Web-{62B8447E-6D0A-5B4C-FE90-CC278FB20AF1}" dt="2024-07-10T15:13:28.131" v="5"/>
          <ac:spMkLst>
            <pc:docMk/>
            <pc:sldMk cId="2723118119" sldId="947"/>
            <ac:spMk id="10" creationId="{B867CE0A-A41D-B43F-E6D1-EFCD4A8DD091}"/>
          </ac:spMkLst>
        </pc:spChg>
        <pc:spChg chg="del">
          <ac:chgData name="Allison Mulshine" userId="S::allison.mulshine@collegiseducation.com::5f656d52-c555-4e5e-9a5b-18226766ffe3" providerId="AD" clId="Web-{62B8447E-6D0A-5B4C-FE90-CC278FB20AF1}" dt="2024-07-10T15:13:28.131" v="4"/>
          <ac:spMkLst>
            <pc:docMk/>
            <pc:sldMk cId="2723118119" sldId="947"/>
            <ac:spMk id="11" creationId="{AFAECC18-B90C-617F-6F36-17D5860C5CF1}"/>
          </ac:spMkLst>
        </pc:spChg>
        <pc:spChg chg="del">
          <ac:chgData name="Allison Mulshine" userId="S::allison.mulshine@collegiseducation.com::5f656d52-c555-4e5e-9a5b-18226766ffe3" providerId="AD" clId="Web-{62B8447E-6D0A-5B4C-FE90-CC278FB20AF1}" dt="2024-07-10T15:13:28.131" v="3"/>
          <ac:spMkLst>
            <pc:docMk/>
            <pc:sldMk cId="2723118119" sldId="947"/>
            <ac:spMk id="12" creationId="{BB41FC39-8F1D-0DA0-2B05-27E2C4F274E7}"/>
          </ac:spMkLst>
        </pc:spChg>
        <pc:spChg chg="del">
          <ac:chgData name="Allison Mulshine" userId="S::allison.mulshine@collegiseducation.com::5f656d52-c555-4e5e-9a5b-18226766ffe3" providerId="AD" clId="Web-{62B8447E-6D0A-5B4C-FE90-CC278FB20AF1}" dt="2024-07-10T15:13:28.131" v="2"/>
          <ac:spMkLst>
            <pc:docMk/>
            <pc:sldMk cId="2723118119" sldId="947"/>
            <ac:spMk id="13" creationId="{A287D413-AE10-F98D-7C77-53D0F12E0D18}"/>
          </ac:spMkLst>
        </pc:spChg>
        <pc:spChg chg="del">
          <ac:chgData name="Allison Mulshine" userId="S::allison.mulshine@collegiseducation.com::5f656d52-c555-4e5e-9a5b-18226766ffe3" providerId="AD" clId="Web-{62B8447E-6D0A-5B4C-FE90-CC278FB20AF1}" dt="2024-07-10T15:13:28.131" v="1"/>
          <ac:spMkLst>
            <pc:docMk/>
            <pc:sldMk cId="2723118119" sldId="947"/>
            <ac:spMk id="15" creationId="{3D8ADFC6-076F-A968-7D7B-BB2721D59F80}"/>
          </ac:spMkLst>
        </pc:spChg>
        <pc:spChg chg="del">
          <ac:chgData name="Allison Mulshine" userId="S::allison.mulshine@collegiseducation.com::5f656d52-c555-4e5e-9a5b-18226766ffe3" providerId="AD" clId="Web-{62B8447E-6D0A-5B4C-FE90-CC278FB20AF1}" dt="2024-07-10T15:13:28.131" v="0"/>
          <ac:spMkLst>
            <pc:docMk/>
            <pc:sldMk cId="2723118119" sldId="947"/>
            <ac:spMk id="16" creationId="{8CFAD15D-A1EC-9D96-60B9-37FF2E50D70F}"/>
          </ac:spMkLst>
        </pc:spChg>
        <pc:picChg chg="add del mod">
          <ac:chgData name="Allison Mulshine" userId="S::allison.mulshine@collegiseducation.com::5f656d52-c555-4e5e-9a5b-18226766ffe3" providerId="AD" clId="Web-{62B8447E-6D0A-5B4C-FE90-CC278FB20AF1}" dt="2024-07-10T15:13:36.006" v="9"/>
          <ac:picMkLst>
            <pc:docMk/>
            <pc:sldMk cId="2723118119" sldId="947"/>
            <ac:picMk id="3" creationId="{F4D9CE7A-F221-893F-14E9-CFAD03942F9A}"/>
          </ac:picMkLst>
        </pc:picChg>
        <pc:picChg chg="add mod">
          <ac:chgData name="Allison Mulshine" userId="S::allison.mulshine@collegiseducation.com::5f656d52-c555-4e5e-9a5b-18226766ffe3" providerId="AD" clId="Web-{62B8447E-6D0A-5B4C-FE90-CC278FB20AF1}" dt="2024-07-10T15:13:59.569" v="13"/>
          <ac:picMkLst>
            <pc:docMk/>
            <pc:sldMk cId="2723118119" sldId="947"/>
            <ac:picMk id="14" creationId="{9D3C4334-5B4A-AB47-D573-24AAAB9B73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Module 5: Lesson 9 </a:t>
            </a:r>
            <a:br>
              <a:rPr lang="en-US"/>
            </a:br>
            <a:r>
              <a:rPr lang="en-US" sz="6000"/>
              <a:t>Actions</a:t>
            </a:r>
            <a:r>
              <a:rPr lang="en-US"/>
              <a:t> </a:t>
            </a:r>
            <a:r>
              <a:rPr lang="en-US" sz="6000"/>
              <a:t>– Writing Data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91FBD-53BD-9EF0-6809-9233670272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484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FCA7-A18F-E802-5C05-A94A8410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Write API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1BABC-973E-2BFA-46CA-D6F673A60A19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>
                <a:solidFill>
                  <a:schemeClr val="bg2"/>
                </a:solidFill>
                <a:effectLst/>
              </a:rPr>
              <a:t>The foundation for writing data in Spark is the </a:t>
            </a:r>
            <a:r>
              <a:rPr lang="en-US" sz="2800" b="0" i="0" err="1">
                <a:solidFill>
                  <a:schemeClr val="bg2"/>
                </a:solidFill>
                <a:effectLst/>
              </a:rPr>
              <a:t>DataFrameWriter</a:t>
            </a:r>
            <a:r>
              <a:rPr lang="en-US" sz="2800" b="0" i="0">
                <a:solidFill>
                  <a:schemeClr val="bg2"/>
                </a:solidFill>
                <a:effectLst/>
              </a:rPr>
              <a:t> class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B4A6C0-544F-9B37-130E-358EE8FEAAE3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 dirty="0">
                <a:solidFill>
                  <a:schemeClr val="tx1"/>
                </a:solidFill>
                <a:effectLst/>
              </a:rPr>
              <a:t>We access an instance of this class associated with our via the </a:t>
            </a:r>
            <a:r>
              <a:rPr lang="en-US" sz="2800" b="0" i="0" dirty="0" err="1">
                <a:solidFill>
                  <a:schemeClr val="tx1"/>
                </a:solidFill>
                <a:effectLst/>
              </a:rPr>
              <a:t>DataFrame</a:t>
            </a:r>
            <a:r>
              <a:rPr lang="en-US" sz="2800" b="0" i="0" dirty="0">
                <a:solidFill>
                  <a:schemeClr val="tx1"/>
                </a:solidFill>
                <a:effectLst/>
              </a:rPr>
              <a:t> ‘write’ attribute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D3F5E-5A81-E48A-BC76-EF477D6B6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880554-75B0-E55C-8BDE-062BC3F74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C30AA3-30D9-D091-3FFF-D37D858BDE74}"/>
              </a:ext>
            </a:extLst>
          </p:cNvPr>
          <p:cNvGrpSpPr/>
          <p:nvPr/>
        </p:nvGrpSpPr>
        <p:grpSpPr>
          <a:xfrm>
            <a:off x="5054600" y="5467350"/>
            <a:ext cx="9893853" cy="1314450"/>
            <a:chOff x="0" y="5467350"/>
            <a:chExt cx="14948453" cy="13144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6B3F66-88A3-4812-F159-FD91BBA7AD39}"/>
                </a:ext>
              </a:extLst>
            </p:cNvPr>
            <p:cNvSpPr/>
            <p:nvPr/>
          </p:nvSpPr>
          <p:spPr>
            <a:xfrm>
              <a:off x="1232453" y="5467350"/>
              <a:ext cx="13716000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 err="1">
                  <a:solidFill>
                    <a:schemeClr val="tx1"/>
                  </a:solidFill>
                </a:rPr>
                <a:t>DataFrame.write</a:t>
              </a:r>
              <a:endParaRPr lang="en-US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305734-DE93-407B-2158-8017CDF00DFA}"/>
                </a:ext>
              </a:extLst>
            </p:cNvPr>
            <p:cNvSpPr/>
            <p:nvPr/>
          </p:nvSpPr>
          <p:spPr>
            <a:xfrm>
              <a:off x="0" y="5467350"/>
              <a:ext cx="1234440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80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614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Write API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core interface for writing a DataFrame is as follows: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 err="1">
                <a:solidFill>
                  <a:schemeClr val="tx1"/>
                </a:solidFill>
              </a:rPr>
              <a:t>DataFrameWriter.format</a:t>
            </a:r>
            <a:r>
              <a:rPr lang="en-US" altLang="en-US" sz="2800" b="1" dirty="0">
                <a:solidFill>
                  <a:schemeClr val="tx1"/>
                </a:solidFill>
              </a:rPr>
              <a:t>(...).mode(</a:t>
            </a:r>
            <a:r>
              <a:rPr lang="en-US" altLang="en-US" sz="2800" b="1" dirty="0" err="1">
                <a:solidFill>
                  <a:schemeClr val="tx1"/>
                </a:solidFill>
              </a:rPr>
              <a:t>saveMode</a:t>
            </a:r>
            <a:r>
              <a:rPr lang="en-US" altLang="en-US" sz="2800" b="1" dirty="0">
                <a:solidFill>
                  <a:schemeClr val="tx1"/>
                </a:solidFill>
              </a:rPr>
              <a:t>).option("key", "value").save()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format – used to indicate the type of the data source (CSV, ORC, etc.) to write. format is optional because by default Spark will use the Parquet format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</a:rPr>
              <a:t>mode – Indicates what will happen if Spark finds data/files already at the given path. The default is </a:t>
            </a:r>
            <a:r>
              <a:rPr lang="en-US" sz="2800" err="1">
                <a:solidFill>
                  <a:schemeClr val="bg2"/>
                </a:solidFill>
              </a:rPr>
              <a:t>errorIfExists</a:t>
            </a:r>
            <a:r>
              <a:rPr lang="en-US" sz="2800">
                <a:solidFill>
                  <a:schemeClr val="bg2"/>
                </a:solidFill>
              </a:rPr>
              <a:t> (Spark will fail the write immediately)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To specify a path use </a:t>
            </a:r>
            <a:r>
              <a:rPr lang="en-US" sz="2800" i="1">
                <a:solidFill>
                  <a:schemeClr val="bg2"/>
                </a:solidFill>
              </a:rPr>
              <a:t>option(“path”, “/path/to/file(s)”)</a:t>
            </a:r>
            <a:r>
              <a:rPr lang="en-US" sz="2800">
                <a:solidFill>
                  <a:schemeClr val="bg2"/>
                </a:solidFill>
              </a:rPr>
              <a:t>. This path must specify a directory path and not a file path (as Spark may write multiple files)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574566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2EC32-A626-9225-0943-6A78391E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Write API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E49EC-4E37-22E9-49B8-EC407C71A631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Each data source has a specific set of values that determine how the data is read into Spark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92A62-A1CF-DF1C-C855-CBD925BA7ABF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At a minimum, you must supply the </a:t>
            </a:r>
            <a:r>
              <a:rPr lang="en-US" altLang="en-US" sz="2400" dirty="0" err="1">
                <a:solidFill>
                  <a:schemeClr val="tx1"/>
                </a:solidFill>
              </a:rPr>
              <a:t>DataFrameWriter</a:t>
            </a:r>
            <a:r>
              <a:rPr lang="en-US" altLang="en-US" sz="2400" dirty="0">
                <a:solidFill>
                  <a:schemeClr val="tx1"/>
                </a:solidFill>
              </a:rPr>
              <a:t> with (1) a path to which to write the data source, (2) the format of the data source, (3) the save mode,  (4) a series of options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1F481-4833-1205-9696-D192D5486891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b="1" dirty="0">
                <a:solidFill>
                  <a:schemeClr val="tx1"/>
                </a:solidFill>
              </a:rPr>
              <a:t>Here’s an example of the overall layout: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BBB37E-9E48-B589-E590-B109D6AC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16BBC1-F4C7-4BBC-68FA-DC1A67848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D5C95F-6585-7C65-7B8E-DEE58051B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>
              <a:solidFill>
                <a:schemeClr val="bg2"/>
              </a:solidFill>
            </a:endParaRPr>
          </a:p>
        </p:txBody>
      </p:sp>
      <p:pic>
        <p:nvPicPr>
          <p:cNvPr id="14" name="Picture 13" descr="The image shows an example of saving a DataFrame in Spark using the `write` method with various options and configurations:&#10;&#10;1. **Format**:&#10;   - `serDF.write.format(&quot;csv&quot;)`: Specifies the format in which the data will be saved, in this case, CSV.&#10;&#10;2. **Save Mode**:&#10;   - `.mode(&quot;overwrite&quot;)`: Specifies the save mode. Here, &quot;overwrite&quot; mode is used, meaning any existing file at the specified path will be overwritten.&#10;&#10;3. **Option**:&#10;   - `.option(&quot;header&quot;, True)`: Adds an option to the write operation. Here, it specifies that the CSV file will include a header row.&#10;   - `.option(&quot;path&quot;, &quot;path/to/file(s)&quot;)`: Specifies the path where the data will be saved.&#10;&#10;4. **Save**:&#10;   - `.save()`: Executes the save operation to write the DataFrame to the specified data source with the given options.&#10;&#10;This example demonstrates how to configure and execute a save operation in Spark to write data to a file in a specified format and with specified options.">
            <a:extLst>
              <a:ext uri="{FF2B5EF4-FFF2-40B4-BE49-F238E27FC236}">
                <a16:creationId xmlns:a16="http://schemas.microsoft.com/office/drawing/2014/main" id="{9D3C4334-5B4A-AB47-D573-24AAAB9B7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52" y="6392910"/>
            <a:ext cx="11962404" cy="325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1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5F0A-51BF-183C-DDD3-2F484A9E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Write API Structure – Save Modes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7E868C-CFAE-5DBB-B6C2-16566483E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894305"/>
              </p:ext>
            </p:extLst>
          </p:nvPr>
        </p:nvGraphicFramePr>
        <p:xfrm>
          <a:off x="1098549" y="3163957"/>
          <a:ext cx="16084552" cy="4175317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4126076">
                  <a:extLst>
                    <a:ext uri="{9D8B030D-6E8A-4147-A177-3AD203B41FA5}">
                      <a16:colId xmlns:a16="http://schemas.microsoft.com/office/drawing/2014/main" val="2676329802"/>
                    </a:ext>
                  </a:extLst>
                </a:gridCol>
                <a:gridCol w="11958476">
                  <a:extLst>
                    <a:ext uri="{9D8B030D-6E8A-4147-A177-3AD203B41FA5}">
                      <a16:colId xmlns:a16="http://schemas.microsoft.com/office/drawing/2014/main" val="1087378393"/>
                    </a:ext>
                  </a:extLst>
                </a:gridCol>
              </a:tblGrid>
              <a:tr h="4981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</a:rPr>
                        <a:t>Option Name</a:t>
                      </a:r>
                      <a:endParaRPr lang="en-US" sz="2400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</a:rPr>
                        <a:t>Description</a:t>
                      </a:r>
                      <a:endParaRPr lang="en-US" sz="2400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77944611"/>
                  </a:ext>
                </a:extLst>
              </a:tr>
              <a:tr h="8603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append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Appends content to data that already exists at the specified path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242930681"/>
                  </a:ext>
                </a:extLst>
              </a:tr>
              <a:tr h="8603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overwrite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Completely overwrite any data that already exists at the specified path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65594860"/>
                  </a:ext>
                </a:extLst>
              </a:tr>
              <a:tr h="9782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errorIfExists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Throws an error and fails the write if data files already exist at the specified path)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30181402"/>
                  </a:ext>
                </a:extLst>
              </a:tr>
              <a:tr h="9782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ignore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If data or files exist at the specified path, do nothing with the current DataFrame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0131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78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A035-03FF-9B07-CB3E-C92893A7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CSV Data Sources – Some Options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871A1B-F880-C1BC-F9EF-24CEA4778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170387"/>
              </p:ext>
            </p:extLst>
          </p:nvPr>
        </p:nvGraphicFramePr>
        <p:xfrm>
          <a:off x="1098549" y="3163957"/>
          <a:ext cx="16084553" cy="3197087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3516831">
                  <a:extLst>
                    <a:ext uri="{9D8B030D-6E8A-4147-A177-3AD203B41FA5}">
                      <a16:colId xmlns:a16="http://schemas.microsoft.com/office/drawing/2014/main" val="2676329802"/>
                    </a:ext>
                  </a:extLst>
                </a:gridCol>
                <a:gridCol w="2375003">
                  <a:extLst>
                    <a:ext uri="{9D8B030D-6E8A-4147-A177-3AD203B41FA5}">
                      <a16:colId xmlns:a16="http://schemas.microsoft.com/office/drawing/2014/main" val="28658802"/>
                    </a:ext>
                  </a:extLst>
                </a:gridCol>
                <a:gridCol w="10192719">
                  <a:extLst>
                    <a:ext uri="{9D8B030D-6E8A-4147-A177-3AD203B41FA5}">
                      <a16:colId xmlns:a16="http://schemas.microsoft.com/office/drawing/2014/main" val="1087378393"/>
                    </a:ext>
                  </a:extLst>
                </a:gridCol>
              </a:tblGrid>
              <a:tr h="4981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</a:rPr>
                        <a:t>Option Name</a:t>
                      </a:r>
                      <a:endParaRPr lang="en-US" sz="2400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</a:rPr>
                        <a:t>Default</a:t>
                      </a:r>
                      <a:endParaRPr lang="en-US" sz="2400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</a:rPr>
                        <a:t>Meaning</a:t>
                      </a:r>
                      <a:endParaRPr lang="en-US" sz="2400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77944611"/>
                  </a:ext>
                </a:extLst>
              </a:tr>
              <a:tr h="8603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err="1">
                          <a:solidFill>
                            <a:schemeClr val="tx1"/>
                          </a:solidFill>
                          <a:effectLst/>
                        </a:rPr>
                        <a:t>sep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Sets a separator for each field and value. This separator can be one or more characters.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242930681"/>
                  </a:ext>
                </a:extLst>
              </a:tr>
              <a:tr h="8603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escape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\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Sets a single character used for escaping quotes inside an already quoted value.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65594860"/>
                  </a:ext>
                </a:extLst>
              </a:tr>
              <a:tr h="9782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header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writes the first record/line as names of columns (based on the </a:t>
                      </a:r>
                      <a:r>
                        <a:rPr lang="en-US" sz="2400" err="1">
                          <a:solidFill>
                            <a:schemeClr val="tx1"/>
                          </a:solidFill>
                          <a:effectLst/>
                        </a:rPr>
                        <a:t>DataFrame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 schema)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30181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14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C211-3609-C22E-6309-83724A8BD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CSV Data 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7A0674-AA66-00F1-E62C-0655D44FB932}"/>
              </a:ext>
            </a:extLst>
          </p:cNvPr>
          <p:cNvSpPr txBox="1"/>
          <p:nvPr/>
        </p:nvSpPr>
        <p:spPr>
          <a:xfrm>
            <a:off x="4564064" y="4986874"/>
            <a:ext cx="91535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srcDF</a:t>
            </a:r>
            <a:r>
              <a:rPr lang="en-US" sz="2800" dirty="0" err="1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.write.format</a:t>
            </a: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(”</a:t>
            </a:r>
            <a:r>
              <a:rPr lang="en-US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csv</a:t>
            </a: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") \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.mode(“overwrite”) \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.option(“header”, True) \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.option(“sep”, “|”) \</a:t>
            </a:r>
            <a:endParaRPr lang="en-US" sz="28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.option("path", "path/to/file(s)")\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save</a:t>
            </a: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4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E66DE-5695-2AC0-7C0B-C42A10900469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Write  a file in csv format with a header row naming the columns, and each field separated by a “|”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EF339-3D1D-1F6D-C26C-872527142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63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C211-3609-C22E-6309-83724A8BD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Parquet Data 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7A0674-AA66-00F1-E62C-0655D44FB932}"/>
              </a:ext>
            </a:extLst>
          </p:cNvPr>
          <p:cNvSpPr txBox="1"/>
          <p:nvPr/>
        </p:nvSpPr>
        <p:spPr>
          <a:xfrm>
            <a:off x="4564064" y="4986874"/>
            <a:ext cx="91535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srcDF</a:t>
            </a:r>
            <a:r>
              <a:rPr lang="en-US" sz="2800" dirty="0" err="1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.write.format</a:t>
            </a: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(”</a:t>
            </a:r>
            <a:r>
              <a:rPr lang="en-US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parquet</a:t>
            </a: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") \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.mode(“overwrite”)</a:t>
            </a:r>
            <a:endParaRPr lang="en-US" sz="28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.option("path", "path/to/file(s)")\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save</a:t>
            </a:r>
            <a:r>
              <a:rPr lang="en-US" sz="2800" dirty="0"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4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E66DE-5695-2AC0-7C0B-C42A10900469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Writing </a:t>
            </a:r>
            <a:r>
              <a:rPr lang="en-US" sz="2800" err="1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DataFrames</a:t>
            </a:r>
            <a:r>
              <a:rPr lang="en-US" sz="280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 the Parquet format has few options aside from the mode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EF339-3D1D-1F6D-C26C-872527142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623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BC6B-4EE6-FEF0-74ED-B17C3A95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Parquet Data Sources</a:t>
            </a:r>
            <a:br>
              <a:rPr lang="en-US"/>
            </a:br>
            <a:r>
              <a:rPr lang="en-US" sz="4800"/>
              <a:t>Best Practices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993F4-B8F5-E29D-B376-5D19F6105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seen that the Parquet file format has many performance and storage advantages</a:t>
            </a:r>
          </a:p>
          <a:p>
            <a:r>
              <a:rPr lang="en-US" dirty="0"/>
              <a:t>If we are provided with files in some other format, it may be useful to immediately rewrite then in Parquet format</a:t>
            </a:r>
          </a:p>
          <a:p>
            <a:r>
              <a:rPr lang="en-US" dirty="0"/>
              <a:t>This allows us to take advantage of Parquet compression to reduce our storage footprint </a:t>
            </a:r>
          </a:p>
          <a:p>
            <a:r>
              <a:rPr lang="en-US" dirty="0"/>
              <a:t>Also, upon such reformatted file, we can leverage its columnar format to accelerate certain queries</a:t>
            </a:r>
          </a:p>
        </p:txBody>
      </p:sp>
    </p:spTree>
    <p:extLst>
      <p:ext uri="{BB962C8B-B14F-4D97-AF65-F5344CB8AC3E}">
        <p14:creationId xmlns:p14="http://schemas.microsoft.com/office/powerpoint/2010/main" val="128227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A505-A1F0-EE8D-15A2-4C6C37156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Write API</a:t>
            </a:r>
            <a:br>
              <a:rPr lang="en-US"/>
            </a:br>
            <a:r>
              <a:rPr lang="en-US" sz="4800"/>
              <a:t>How Many Files Will Be Written for a DataFrame?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1E489-B4D4-CECF-8C6A-65DDC44A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As a general rule Spark with write as many files as there are partitions holding that DataFrame</a:t>
            </a:r>
          </a:p>
          <a:p>
            <a:r>
              <a:rPr lang="en-US" sz="3200" dirty="0"/>
              <a:t>This is to allow parallelism in the write operation for efficiency in outputting large volumes of data</a:t>
            </a:r>
          </a:p>
          <a:p>
            <a:r>
              <a:rPr lang="en-US" sz="3200" dirty="0"/>
              <a:t>Note, it is possible that the DataFrame to be written has one or more partitions that are empty</a:t>
            </a:r>
          </a:p>
          <a:p>
            <a:r>
              <a:rPr lang="en-US" sz="3200" dirty="0"/>
              <a:t>This will result in one or more empty output files (depending on output format specific empty file suppression optimization)</a:t>
            </a:r>
          </a:p>
        </p:txBody>
      </p:sp>
    </p:spTree>
    <p:extLst>
      <p:ext uri="{BB962C8B-B14F-4D97-AF65-F5344CB8AC3E}">
        <p14:creationId xmlns:p14="http://schemas.microsoft.com/office/powerpoint/2010/main" val="33827424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8875AC34-425B-42FA-87AA-6DAB3949EE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86297</TotalTime>
  <Words>720</Words>
  <Application>Microsoft Office PowerPoint</Application>
  <PresentationFormat>Custom</PresentationFormat>
  <Paragraphs>73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Breeze</vt:lpstr>
      <vt:lpstr>Module 5: Lesson 9  Actions – Writing Data</vt:lpstr>
      <vt:lpstr>Write API Structure</vt:lpstr>
      <vt:lpstr>Write API Structure</vt:lpstr>
      <vt:lpstr>Write API Structure</vt:lpstr>
      <vt:lpstr>Write API Structure – Save Modes</vt:lpstr>
      <vt:lpstr>Writing CSV Data Sources – Some Options</vt:lpstr>
      <vt:lpstr>Writing CSV Data Sources</vt:lpstr>
      <vt:lpstr>Writing Parquet Data Sources</vt:lpstr>
      <vt:lpstr>Writing Parquet Data Sources Best Practices</vt:lpstr>
      <vt:lpstr>Write API How Many Files Will Be Written for a DataFrame?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290</cp:revision>
  <cp:lastPrinted>2024-01-03T15:49:50Z</cp:lastPrinted>
  <dcterms:created xsi:type="dcterms:W3CDTF">2019-02-13T16:04:21Z</dcterms:created>
  <dcterms:modified xsi:type="dcterms:W3CDTF">2024-07-10T15:14:00Z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F81C9E09-F065-47A4-B120-45C2F324D7F2</vt:lpwstr>
  </property>
  <property fmtid="{D5CDD505-2E9C-101B-9397-08002B2CF9AE}" pid="4" name="ArticulatePath">
    <vt:lpwstr>Module 5 01042024</vt:lpwstr>
  </property>
  <property fmtid="{D5CDD505-2E9C-101B-9397-08002B2CF9AE}" pid="5" name="MediaServiceImageTags">
    <vt:lpwstr/>
  </property>
</Properties>
</file>