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0"/>
  </p:notesMasterIdLst>
  <p:sldIdLst>
    <p:sldId id="1039" r:id="rId5"/>
    <p:sldId id="1040" r:id="rId6"/>
    <p:sldId id="1041" r:id="rId7"/>
    <p:sldId id="1050" r:id="rId8"/>
    <p:sldId id="262" r:id="rId9"/>
    <p:sldId id="1051" r:id="rId10"/>
    <p:sldId id="1052" r:id="rId11"/>
    <p:sldId id="1053" r:id="rId12"/>
    <p:sldId id="1055" r:id="rId13"/>
    <p:sldId id="1058" r:id="rId14"/>
    <p:sldId id="1059" r:id="rId15"/>
    <p:sldId id="1060" r:id="rId16"/>
    <p:sldId id="264" r:id="rId17"/>
    <p:sldId id="274" r:id="rId18"/>
    <p:sldId id="1047" r:id="rId19"/>
  </p:sldIdLst>
  <p:sldSz cx="18288000" cy="10287000"/>
  <p:notesSz cx="9144000" cy="6858000"/>
  <p:custDataLst>
    <p:tags r:id="rId21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F8FF"/>
    <a:srgbClr val="3BA1F0"/>
    <a:srgbClr val="E0F8FF"/>
    <a:srgbClr val="D4DBE7"/>
    <a:srgbClr val="EAEAEA"/>
    <a:srgbClr val="F94B67"/>
    <a:srgbClr val="E7E7E8"/>
    <a:srgbClr val="BABABA"/>
    <a:srgbClr val="0070C0"/>
    <a:srgbClr val="959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88"/>
    <p:restoredTop sz="95768"/>
  </p:normalViewPr>
  <p:slideViewPr>
    <p:cSldViewPr snapToGrid="0" snapToObjects="1">
      <p:cViewPr varScale="1">
        <p:scale>
          <a:sx n="43" d="100"/>
          <a:sy n="43" d="100"/>
        </p:scale>
        <p:origin x="876" y="5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D0BB63-F3DB-7A4D-9E9E-D3BCBD2E7EB3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8895C2-01F9-6245-91B5-24143C38A9C7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dirty="0"/>
            <a:t>Data Duplication and Inconsistency</a:t>
          </a:r>
          <a:endParaRPr lang="en-US" sz="2400" dirty="0">
            <a:latin typeface="+mn-lt"/>
          </a:endParaRPr>
        </a:p>
      </dgm:t>
    </dgm:pt>
    <dgm:pt modelId="{4E7FF56D-46AD-054E-9A98-96B3BA155886}" type="parTrans" cxnId="{D3B5A944-F001-C443-B5F2-2B9F33291B32}">
      <dgm:prSet/>
      <dgm:spPr/>
      <dgm:t>
        <a:bodyPr/>
        <a:lstStyle/>
        <a:p>
          <a:endParaRPr lang="en-US" sz="3600">
            <a:latin typeface="+mn-lt"/>
          </a:endParaRPr>
        </a:p>
      </dgm:t>
    </dgm:pt>
    <dgm:pt modelId="{705E8EE7-BF08-CB4D-BD5C-3C2188954C5C}" type="sibTrans" cxnId="{D3B5A944-F001-C443-B5F2-2B9F33291B32}">
      <dgm:prSet/>
      <dgm:spPr/>
      <dgm:t>
        <a:bodyPr/>
        <a:lstStyle/>
        <a:p>
          <a:endParaRPr lang="en-US" sz="3600">
            <a:latin typeface="+mn-lt"/>
          </a:endParaRPr>
        </a:p>
      </dgm:t>
    </dgm:pt>
    <dgm:pt modelId="{A7CCADCF-7A70-684A-A962-F200DB4DBAD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Maintaining separate pipelines can lead to duplication of data between batch and stream sources, increasing storage costs and potentially resulting in inconsistencies between historical and real-time views.</a:t>
          </a:r>
        </a:p>
      </dgm:t>
    </dgm:pt>
    <dgm:pt modelId="{F3568A57-3442-B94B-B671-C0EC660CF174}" type="parTrans" cxnId="{54DABC24-E9F3-9042-B5CE-44C7197516DE}">
      <dgm:prSet/>
      <dgm:spPr/>
      <dgm:t>
        <a:bodyPr/>
        <a:lstStyle/>
        <a:p>
          <a:endParaRPr lang="en-US"/>
        </a:p>
      </dgm:t>
    </dgm:pt>
    <dgm:pt modelId="{46AF62EA-1FFB-0F4A-95FC-36A9C20C1756}" type="sibTrans" cxnId="{54DABC24-E9F3-9042-B5CE-44C7197516DE}">
      <dgm:prSet/>
      <dgm:spPr/>
      <dgm:t>
        <a:bodyPr/>
        <a:lstStyle/>
        <a:p>
          <a:endParaRPr lang="en-US"/>
        </a:p>
      </dgm:t>
    </dgm:pt>
    <dgm:pt modelId="{0D3C6331-CE0D-9F4A-B22D-24324BC86258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dirty="0"/>
            <a:t>Complexity and Operational Overhead</a:t>
          </a:r>
        </a:p>
      </dgm:t>
    </dgm:pt>
    <dgm:pt modelId="{079EE2F9-76AB-2F48-B3E7-7F202EEBC347}" type="parTrans" cxnId="{EDA65F0E-B983-EA44-A939-2DCAE578F811}">
      <dgm:prSet/>
      <dgm:spPr/>
      <dgm:t>
        <a:bodyPr/>
        <a:lstStyle/>
        <a:p>
          <a:endParaRPr lang="en-US"/>
        </a:p>
      </dgm:t>
    </dgm:pt>
    <dgm:pt modelId="{564CDA03-86FB-1947-BD4F-5E0147956F87}" type="sibTrans" cxnId="{EDA65F0E-B983-EA44-A939-2DCAE578F811}">
      <dgm:prSet/>
      <dgm:spPr/>
      <dgm:t>
        <a:bodyPr/>
        <a:lstStyle/>
        <a:p>
          <a:endParaRPr lang="en-US"/>
        </a:p>
      </dgm:t>
    </dgm:pt>
    <dgm:pt modelId="{98202F64-5C66-6D4A-9759-2B57896393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Managing two separate pipelines requires significant time and resources for development, maintenance, and troubleshooting. Switching context between platforms and ensuring data synchronization adds further complexity.</a:t>
          </a:r>
        </a:p>
      </dgm:t>
    </dgm:pt>
    <dgm:pt modelId="{0FD84765-6F97-E14A-A82A-ABCE59B9C594}" type="parTrans" cxnId="{22F9F56F-1F3B-BD4C-BADB-89108C69FA28}">
      <dgm:prSet/>
      <dgm:spPr/>
      <dgm:t>
        <a:bodyPr/>
        <a:lstStyle/>
        <a:p>
          <a:endParaRPr lang="en-US"/>
        </a:p>
      </dgm:t>
    </dgm:pt>
    <dgm:pt modelId="{DE5EE875-AFFC-EC4A-81DC-16C3B62234C6}" type="sibTrans" cxnId="{22F9F56F-1F3B-BD4C-BADB-89108C69FA28}">
      <dgm:prSet/>
      <dgm:spPr/>
      <dgm:t>
        <a:bodyPr/>
        <a:lstStyle/>
        <a:p>
          <a:endParaRPr lang="en-US"/>
        </a:p>
      </dgm:t>
    </dgm:pt>
    <dgm:pt modelId="{83FA5436-1A58-4145-BF50-C2BEC9E00F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Limited Real-Time Visibility into Historical Data</a:t>
          </a:r>
        </a:p>
      </dgm:t>
    </dgm:pt>
    <dgm:pt modelId="{CCB6FE7E-7189-DB4E-9EF6-C81F815048DA}" type="parTrans" cxnId="{2F8256B9-7B14-624D-BEF6-C82406CF4277}">
      <dgm:prSet/>
      <dgm:spPr/>
      <dgm:t>
        <a:bodyPr/>
        <a:lstStyle/>
        <a:p>
          <a:endParaRPr lang="en-US"/>
        </a:p>
      </dgm:t>
    </dgm:pt>
    <dgm:pt modelId="{843BFB48-1D19-A04E-8144-F920F0E33AA9}" type="sibTrans" cxnId="{2F8256B9-7B14-624D-BEF6-C82406CF4277}">
      <dgm:prSet/>
      <dgm:spPr/>
      <dgm:t>
        <a:bodyPr/>
        <a:lstStyle/>
        <a:p>
          <a:endParaRPr lang="en-US"/>
        </a:p>
      </dgm:t>
    </dgm:pt>
    <dgm:pt modelId="{4BD07995-2CA7-2347-93BF-CD9137C54B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Real-time pipelines might lack complete context of historical data, hindering comprehensive analysis and understanding of trends or anomalies. Integrating insights from both batch and stream processing for a holistic view can be challenging.</a:t>
          </a:r>
        </a:p>
      </dgm:t>
    </dgm:pt>
    <dgm:pt modelId="{4AC8494F-27BC-A644-90BA-1F2FE6783C98}" type="parTrans" cxnId="{66D49C20-2CA3-F944-AAF8-274E9DFF0919}">
      <dgm:prSet/>
      <dgm:spPr/>
      <dgm:t>
        <a:bodyPr/>
        <a:lstStyle/>
        <a:p>
          <a:endParaRPr lang="en-US"/>
        </a:p>
      </dgm:t>
    </dgm:pt>
    <dgm:pt modelId="{ADBBD670-97A6-8A4A-869C-30F643A4816E}" type="sibTrans" cxnId="{66D49C20-2CA3-F944-AAF8-274E9DFF0919}">
      <dgm:prSet/>
      <dgm:spPr/>
      <dgm:t>
        <a:bodyPr/>
        <a:lstStyle/>
        <a:p>
          <a:endParaRPr lang="en-US"/>
        </a:p>
      </dgm:t>
    </dgm:pt>
    <dgm:pt modelId="{919062A3-DEE5-984C-91AA-A4D2BCC3D3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Latency Concerns and Processing Delays</a:t>
          </a:r>
        </a:p>
      </dgm:t>
    </dgm:pt>
    <dgm:pt modelId="{A8ADD059-E16A-8A4E-A8A4-6598E9B5BF73}" type="parTrans" cxnId="{CFCF5FCE-93E0-D74D-9FAB-A8A76A0CB279}">
      <dgm:prSet/>
      <dgm:spPr/>
      <dgm:t>
        <a:bodyPr/>
        <a:lstStyle/>
        <a:p>
          <a:endParaRPr lang="en-US"/>
        </a:p>
      </dgm:t>
    </dgm:pt>
    <dgm:pt modelId="{8BA02225-7371-D541-B3C6-9D6484CE0694}" type="sibTrans" cxnId="{CFCF5FCE-93E0-D74D-9FAB-A8A76A0CB279}">
      <dgm:prSet/>
      <dgm:spPr/>
      <dgm:t>
        <a:bodyPr/>
        <a:lstStyle/>
        <a:p>
          <a:endParaRPr lang="en-US"/>
        </a:p>
      </dgm:t>
    </dgm:pt>
    <dgm:pt modelId="{46129B74-422B-0843-A74F-03D0EE556D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Depending on the chosen technologies, batch processing may introduce delays in generating insights from historical data, while stream processing might struggle with low-latency requirements for certain real-time use cases. Finding the right balance can be tricky.</a:t>
          </a:r>
        </a:p>
      </dgm:t>
    </dgm:pt>
    <dgm:pt modelId="{F5C02F84-55A6-9940-BC42-2FA10918A6E5}" type="parTrans" cxnId="{E8ABC27C-96B6-D143-A3A4-8A7D3089C021}">
      <dgm:prSet/>
      <dgm:spPr/>
      <dgm:t>
        <a:bodyPr/>
        <a:lstStyle/>
        <a:p>
          <a:endParaRPr lang="en-US"/>
        </a:p>
      </dgm:t>
    </dgm:pt>
    <dgm:pt modelId="{4469ABCA-D009-604D-98BD-7B84B970E9C1}" type="sibTrans" cxnId="{E8ABC27C-96B6-D143-A3A4-8A7D3089C021}">
      <dgm:prSet/>
      <dgm:spPr/>
      <dgm:t>
        <a:bodyPr/>
        <a:lstStyle/>
        <a:p>
          <a:endParaRPr lang="en-US"/>
        </a:p>
      </dgm:t>
    </dgm:pt>
    <dgm:pt modelId="{32CCA171-9486-CE42-8023-2FAEE3E203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Limited Scalability and Adaptability</a:t>
          </a:r>
        </a:p>
      </dgm:t>
    </dgm:pt>
    <dgm:pt modelId="{53DA6522-78F1-0747-AC2A-439212C56EFD}" type="parTrans" cxnId="{4B3EEFB3-9B4F-C44C-B917-5E074D4ED4E6}">
      <dgm:prSet/>
      <dgm:spPr/>
      <dgm:t>
        <a:bodyPr/>
        <a:lstStyle/>
        <a:p>
          <a:endParaRPr lang="en-US"/>
        </a:p>
      </dgm:t>
    </dgm:pt>
    <dgm:pt modelId="{A525286F-B42E-7747-9C7F-B21438693D3E}" type="sibTrans" cxnId="{4B3EEFB3-9B4F-C44C-B917-5E074D4ED4E6}">
      <dgm:prSet/>
      <dgm:spPr/>
      <dgm:t>
        <a:bodyPr/>
        <a:lstStyle/>
        <a:p>
          <a:endParaRPr lang="en-US"/>
        </a:p>
      </dgm:t>
    </dgm:pt>
    <dgm:pt modelId="{5B769625-64DC-ED4E-A7F7-9D6C51ED44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Scaling separate pipelines independently can be inefficient and costly. The architecture might not readily adapt to changes in data volume, velocity, or processing demands, hindering future flexibility.</a:t>
          </a:r>
        </a:p>
      </dgm:t>
    </dgm:pt>
    <dgm:pt modelId="{AB56142F-403A-3243-85DD-EF7CAB79D434}" type="parTrans" cxnId="{A6573401-5827-1B46-A5B4-544507D30F44}">
      <dgm:prSet/>
      <dgm:spPr/>
      <dgm:t>
        <a:bodyPr/>
        <a:lstStyle/>
        <a:p>
          <a:endParaRPr lang="en-US"/>
        </a:p>
      </dgm:t>
    </dgm:pt>
    <dgm:pt modelId="{C8C331F5-0E02-C34D-97B3-6910733EB6C5}" type="sibTrans" cxnId="{A6573401-5827-1B46-A5B4-544507D30F44}">
      <dgm:prSet/>
      <dgm:spPr/>
      <dgm:t>
        <a:bodyPr/>
        <a:lstStyle/>
        <a:p>
          <a:endParaRPr lang="en-US"/>
        </a:p>
      </dgm:t>
    </dgm:pt>
    <dgm:pt modelId="{DA14DB78-971D-423E-ABBC-4C0BFC9A4508}" type="pres">
      <dgm:prSet presAssocID="{F0D0BB63-F3DB-7A4D-9E9E-D3BCBD2E7EB3}" presName="root" presStyleCnt="0">
        <dgm:presLayoutVars>
          <dgm:dir/>
          <dgm:resizeHandles val="exact"/>
        </dgm:presLayoutVars>
      </dgm:prSet>
      <dgm:spPr/>
    </dgm:pt>
    <dgm:pt modelId="{D1EA3809-354C-42AA-B040-8B295724B5DA}" type="pres">
      <dgm:prSet presAssocID="{A38895C2-01F9-6245-91B5-24143C38A9C7}" presName="compNode" presStyleCnt="0"/>
      <dgm:spPr/>
    </dgm:pt>
    <dgm:pt modelId="{9AD6AE34-E008-4F80-8A65-14EF5C53FC2D}" type="pres">
      <dgm:prSet presAssocID="{A38895C2-01F9-6245-91B5-24143C38A9C7}" presName="iconRect" presStyleLbl="node1" presStyleIdx="0" presStyleCnt="5" custFlipHor="1" custScaleX="9200" custScaleY="4313" custLinFactY="-100000" custLinFactNeighborY="-190106"/>
      <dgm:spPr>
        <a:blipFill dpi="0" rotWithShape="1">
          <a:blip xmlns:r="http://schemas.openxmlformats.org/officeDocument/2006/relationships" r:embed="rId1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89D15706-1ACF-4311-A552-57407E4CF56A}" type="pres">
      <dgm:prSet presAssocID="{A38895C2-01F9-6245-91B5-24143C38A9C7}" presName="iconSpace" presStyleCnt="0"/>
      <dgm:spPr/>
    </dgm:pt>
    <dgm:pt modelId="{A3F5AACB-4941-4375-9257-3C08269C058D}" type="pres">
      <dgm:prSet presAssocID="{A38895C2-01F9-6245-91B5-24143C38A9C7}" presName="parTx" presStyleLbl="revTx" presStyleIdx="0" presStyleCnt="10">
        <dgm:presLayoutVars>
          <dgm:chMax val="0"/>
          <dgm:chPref val="0"/>
        </dgm:presLayoutVars>
      </dgm:prSet>
      <dgm:spPr/>
    </dgm:pt>
    <dgm:pt modelId="{724F3C0A-F258-4B19-BFF0-3970C1C1C86F}" type="pres">
      <dgm:prSet presAssocID="{A38895C2-01F9-6245-91B5-24143C38A9C7}" presName="txSpace" presStyleCnt="0"/>
      <dgm:spPr/>
    </dgm:pt>
    <dgm:pt modelId="{FE93FDF4-82DA-45FA-9A1E-C612D39D3B6A}" type="pres">
      <dgm:prSet presAssocID="{A38895C2-01F9-6245-91B5-24143C38A9C7}" presName="desTx" presStyleLbl="revTx" presStyleIdx="1" presStyleCnt="10">
        <dgm:presLayoutVars/>
      </dgm:prSet>
      <dgm:spPr/>
    </dgm:pt>
    <dgm:pt modelId="{E498811C-808C-435A-95EB-9D224CF52F01}" type="pres">
      <dgm:prSet presAssocID="{705E8EE7-BF08-CB4D-BD5C-3C2188954C5C}" presName="sibTrans" presStyleCnt="0"/>
      <dgm:spPr/>
    </dgm:pt>
    <dgm:pt modelId="{BFE1CB67-8721-FE40-B7BF-B68F0F1A94A8}" type="pres">
      <dgm:prSet presAssocID="{0D3C6331-CE0D-9F4A-B22D-24324BC86258}" presName="compNode" presStyleCnt="0"/>
      <dgm:spPr/>
    </dgm:pt>
    <dgm:pt modelId="{D8CE0C4F-BAFB-2649-A0CD-F86120106B80}" type="pres">
      <dgm:prSet presAssocID="{0D3C6331-CE0D-9F4A-B22D-24324BC86258}" presName="iconRect" presStyleLbl="node1" presStyleIdx="1" presStyleCnt="5"/>
      <dgm:spPr>
        <a:noFill/>
        <a:ln>
          <a:noFill/>
        </a:ln>
      </dgm:spPr>
    </dgm:pt>
    <dgm:pt modelId="{20E8E6BC-3817-8648-9A5A-C572AAC37FFB}" type="pres">
      <dgm:prSet presAssocID="{0D3C6331-CE0D-9F4A-B22D-24324BC86258}" presName="iconSpace" presStyleCnt="0"/>
      <dgm:spPr/>
    </dgm:pt>
    <dgm:pt modelId="{38CCE84E-55A4-EA49-8E21-E3DA8EE72472}" type="pres">
      <dgm:prSet presAssocID="{0D3C6331-CE0D-9F4A-B22D-24324BC86258}" presName="parTx" presStyleLbl="revTx" presStyleIdx="2" presStyleCnt="10">
        <dgm:presLayoutVars>
          <dgm:chMax val="0"/>
          <dgm:chPref val="0"/>
        </dgm:presLayoutVars>
      </dgm:prSet>
      <dgm:spPr/>
    </dgm:pt>
    <dgm:pt modelId="{65A58CD9-B0D0-E64A-9C52-3F83845F562F}" type="pres">
      <dgm:prSet presAssocID="{0D3C6331-CE0D-9F4A-B22D-24324BC86258}" presName="txSpace" presStyleCnt="0"/>
      <dgm:spPr/>
    </dgm:pt>
    <dgm:pt modelId="{5D2478D6-0098-8F41-A7DC-2DE20610C884}" type="pres">
      <dgm:prSet presAssocID="{0D3C6331-CE0D-9F4A-B22D-24324BC86258}" presName="desTx" presStyleLbl="revTx" presStyleIdx="3" presStyleCnt="10">
        <dgm:presLayoutVars/>
      </dgm:prSet>
      <dgm:spPr/>
    </dgm:pt>
    <dgm:pt modelId="{AD91C1F9-FE3B-8A44-9FF7-CBEFAD79A74B}" type="pres">
      <dgm:prSet presAssocID="{564CDA03-86FB-1947-BD4F-5E0147956F87}" presName="sibTrans" presStyleCnt="0"/>
      <dgm:spPr/>
    </dgm:pt>
    <dgm:pt modelId="{BB6C312C-AE42-B447-BD30-11F0F8C5FC62}" type="pres">
      <dgm:prSet presAssocID="{83FA5436-1A58-4145-BF50-C2BEC9E00FEF}" presName="compNode" presStyleCnt="0"/>
      <dgm:spPr/>
    </dgm:pt>
    <dgm:pt modelId="{AC3FDFCD-B41A-224E-9D9A-5D3BF7073B2A}" type="pres">
      <dgm:prSet presAssocID="{83FA5436-1A58-4145-BF50-C2BEC9E00FEF}" presName="iconRect" presStyleLbl="node1" presStyleIdx="2" presStyleCnt="5"/>
      <dgm:spPr>
        <a:noFill/>
        <a:ln>
          <a:noFill/>
        </a:ln>
      </dgm:spPr>
    </dgm:pt>
    <dgm:pt modelId="{641963F2-A9D0-E34C-BB04-E267A0C33BC5}" type="pres">
      <dgm:prSet presAssocID="{83FA5436-1A58-4145-BF50-C2BEC9E00FEF}" presName="iconSpace" presStyleCnt="0"/>
      <dgm:spPr/>
    </dgm:pt>
    <dgm:pt modelId="{65C103C0-236E-CC42-87E0-4E05FC35505F}" type="pres">
      <dgm:prSet presAssocID="{83FA5436-1A58-4145-BF50-C2BEC9E00FEF}" presName="parTx" presStyleLbl="revTx" presStyleIdx="4" presStyleCnt="10">
        <dgm:presLayoutVars>
          <dgm:chMax val="0"/>
          <dgm:chPref val="0"/>
        </dgm:presLayoutVars>
      </dgm:prSet>
      <dgm:spPr/>
    </dgm:pt>
    <dgm:pt modelId="{6280BE1A-0714-A843-860C-48E735D172B2}" type="pres">
      <dgm:prSet presAssocID="{83FA5436-1A58-4145-BF50-C2BEC9E00FEF}" presName="txSpace" presStyleCnt="0"/>
      <dgm:spPr/>
    </dgm:pt>
    <dgm:pt modelId="{C684E840-1C44-784A-9D21-78F38A2A37E7}" type="pres">
      <dgm:prSet presAssocID="{83FA5436-1A58-4145-BF50-C2BEC9E00FEF}" presName="desTx" presStyleLbl="revTx" presStyleIdx="5" presStyleCnt="10">
        <dgm:presLayoutVars/>
      </dgm:prSet>
      <dgm:spPr/>
    </dgm:pt>
    <dgm:pt modelId="{443A0D3A-4F85-C34C-A64D-9E46E19BC67A}" type="pres">
      <dgm:prSet presAssocID="{843BFB48-1D19-A04E-8144-F920F0E33AA9}" presName="sibTrans" presStyleCnt="0"/>
      <dgm:spPr/>
    </dgm:pt>
    <dgm:pt modelId="{956C7152-719E-AA47-B2DB-DFD0508A1F2B}" type="pres">
      <dgm:prSet presAssocID="{919062A3-DEE5-984C-91AA-A4D2BCC3D3BD}" presName="compNode" presStyleCnt="0"/>
      <dgm:spPr/>
    </dgm:pt>
    <dgm:pt modelId="{EA18A2C1-3D48-F340-82C2-D58A9B10AFE1}" type="pres">
      <dgm:prSet presAssocID="{919062A3-DEE5-984C-91AA-A4D2BCC3D3BD}" presName="iconRect" presStyleLbl="node1" presStyleIdx="3" presStyleCnt="5"/>
      <dgm:spPr>
        <a:noFill/>
        <a:ln>
          <a:noFill/>
        </a:ln>
      </dgm:spPr>
    </dgm:pt>
    <dgm:pt modelId="{D3EB0D57-05B4-954F-A2BF-9D4CE64914F2}" type="pres">
      <dgm:prSet presAssocID="{919062A3-DEE5-984C-91AA-A4D2BCC3D3BD}" presName="iconSpace" presStyleCnt="0"/>
      <dgm:spPr/>
    </dgm:pt>
    <dgm:pt modelId="{E44673C7-1B98-804A-8B06-7B3067204DC7}" type="pres">
      <dgm:prSet presAssocID="{919062A3-DEE5-984C-91AA-A4D2BCC3D3BD}" presName="parTx" presStyleLbl="revTx" presStyleIdx="6" presStyleCnt="10">
        <dgm:presLayoutVars>
          <dgm:chMax val="0"/>
          <dgm:chPref val="0"/>
        </dgm:presLayoutVars>
      </dgm:prSet>
      <dgm:spPr/>
    </dgm:pt>
    <dgm:pt modelId="{8F71DF18-273A-8D49-B676-6159FEB0D4D9}" type="pres">
      <dgm:prSet presAssocID="{919062A3-DEE5-984C-91AA-A4D2BCC3D3BD}" presName="txSpace" presStyleCnt="0"/>
      <dgm:spPr/>
    </dgm:pt>
    <dgm:pt modelId="{367151D7-3A59-884D-8CEE-3CB640FFA137}" type="pres">
      <dgm:prSet presAssocID="{919062A3-DEE5-984C-91AA-A4D2BCC3D3BD}" presName="desTx" presStyleLbl="revTx" presStyleIdx="7" presStyleCnt="10">
        <dgm:presLayoutVars/>
      </dgm:prSet>
      <dgm:spPr/>
    </dgm:pt>
    <dgm:pt modelId="{1F180F6B-F944-F649-BCB7-9E07735F2D0E}" type="pres">
      <dgm:prSet presAssocID="{8BA02225-7371-D541-B3C6-9D6484CE0694}" presName="sibTrans" presStyleCnt="0"/>
      <dgm:spPr/>
    </dgm:pt>
    <dgm:pt modelId="{A7238CC8-72C8-204A-846B-8D390A167F82}" type="pres">
      <dgm:prSet presAssocID="{32CCA171-9486-CE42-8023-2FAEE3E203FC}" presName="compNode" presStyleCnt="0"/>
      <dgm:spPr/>
    </dgm:pt>
    <dgm:pt modelId="{B9CC058F-B5FD-5C4B-ABA0-5502D37BE686}" type="pres">
      <dgm:prSet presAssocID="{32CCA171-9486-CE42-8023-2FAEE3E203FC}" presName="iconRect" presStyleLbl="node1" presStyleIdx="4" presStyleCnt="5"/>
      <dgm:spPr>
        <a:noFill/>
        <a:ln>
          <a:noFill/>
        </a:ln>
      </dgm:spPr>
    </dgm:pt>
    <dgm:pt modelId="{C498A9AE-DFC3-4C4D-A6EC-F287910A19CD}" type="pres">
      <dgm:prSet presAssocID="{32CCA171-9486-CE42-8023-2FAEE3E203FC}" presName="iconSpace" presStyleCnt="0"/>
      <dgm:spPr/>
    </dgm:pt>
    <dgm:pt modelId="{5C8E3167-B875-D54B-959B-042A0FFB0ACF}" type="pres">
      <dgm:prSet presAssocID="{32CCA171-9486-CE42-8023-2FAEE3E203FC}" presName="parTx" presStyleLbl="revTx" presStyleIdx="8" presStyleCnt="10">
        <dgm:presLayoutVars>
          <dgm:chMax val="0"/>
          <dgm:chPref val="0"/>
        </dgm:presLayoutVars>
      </dgm:prSet>
      <dgm:spPr/>
    </dgm:pt>
    <dgm:pt modelId="{0ACDB7F7-2A9B-594A-B53B-A01D5B0B9D20}" type="pres">
      <dgm:prSet presAssocID="{32CCA171-9486-CE42-8023-2FAEE3E203FC}" presName="txSpace" presStyleCnt="0"/>
      <dgm:spPr/>
    </dgm:pt>
    <dgm:pt modelId="{6525908A-C34B-3245-951A-BE98309B3350}" type="pres">
      <dgm:prSet presAssocID="{32CCA171-9486-CE42-8023-2FAEE3E203FC}" presName="desTx" presStyleLbl="revTx" presStyleIdx="9" presStyleCnt="10">
        <dgm:presLayoutVars/>
      </dgm:prSet>
      <dgm:spPr/>
    </dgm:pt>
  </dgm:ptLst>
  <dgm:cxnLst>
    <dgm:cxn modelId="{A6573401-5827-1B46-A5B4-544507D30F44}" srcId="{32CCA171-9486-CE42-8023-2FAEE3E203FC}" destId="{5B769625-64DC-ED4E-A7F7-9D6C51ED44E1}" srcOrd="0" destOrd="0" parTransId="{AB56142F-403A-3243-85DD-EF7CAB79D434}" sibTransId="{C8C331F5-0E02-C34D-97B3-6910733EB6C5}"/>
    <dgm:cxn modelId="{7F07B10D-B8E0-C14D-803E-5EA05C33F746}" type="presOf" srcId="{83FA5436-1A58-4145-BF50-C2BEC9E00FEF}" destId="{65C103C0-236E-CC42-87E0-4E05FC35505F}" srcOrd="0" destOrd="0" presId="urn:microsoft.com/office/officeart/2018/5/layout/CenteredIconLabelDescriptionList"/>
    <dgm:cxn modelId="{EDA65F0E-B983-EA44-A939-2DCAE578F811}" srcId="{F0D0BB63-F3DB-7A4D-9E9E-D3BCBD2E7EB3}" destId="{0D3C6331-CE0D-9F4A-B22D-24324BC86258}" srcOrd="1" destOrd="0" parTransId="{079EE2F9-76AB-2F48-B3E7-7F202EEBC347}" sibTransId="{564CDA03-86FB-1947-BD4F-5E0147956F87}"/>
    <dgm:cxn modelId="{00AA1116-06F4-734E-8C62-638074C47647}" type="presOf" srcId="{919062A3-DEE5-984C-91AA-A4D2BCC3D3BD}" destId="{E44673C7-1B98-804A-8B06-7B3067204DC7}" srcOrd="0" destOrd="0" presId="urn:microsoft.com/office/officeart/2018/5/layout/CenteredIconLabelDescriptionList"/>
    <dgm:cxn modelId="{66D49C20-2CA3-F944-AAF8-274E9DFF0919}" srcId="{83FA5436-1A58-4145-BF50-C2BEC9E00FEF}" destId="{4BD07995-2CA7-2347-93BF-CD9137C54B79}" srcOrd="0" destOrd="0" parTransId="{4AC8494F-27BC-A644-90BA-1F2FE6783C98}" sibTransId="{ADBBD670-97A6-8A4A-869C-30F643A4816E}"/>
    <dgm:cxn modelId="{8AC2A324-939C-D14F-ADA3-BB9058B1C860}" type="presOf" srcId="{5B769625-64DC-ED4E-A7F7-9D6C51ED44E1}" destId="{6525908A-C34B-3245-951A-BE98309B3350}" srcOrd="0" destOrd="0" presId="urn:microsoft.com/office/officeart/2018/5/layout/CenteredIconLabelDescriptionList"/>
    <dgm:cxn modelId="{54DABC24-E9F3-9042-B5CE-44C7197516DE}" srcId="{A38895C2-01F9-6245-91B5-24143C38A9C7}" destId="{A7CCADCF-7A70-684A-A962-F200DB4DBAD9}" srcOrd="0" destOrd="0" parTransId="{F3568A57-3442-B94B-B671-C0EC660CF174}" sibTransId="{46AF62EA-1FFB-0F4A-95FC-36A9C20C1756}"/>
    <dgm:cxn modelId="{62F1922A-0095-644D-9D59-ABCA733746F6}" type="presOf" srcId="{98202F64-5C66-6D4A-9759-2B57896393DC}" destId="{5D2478D6-0098-8F41-A7DC-2DE20610C884}" srcOrd="0" destOrd="0" presId="urn:microsoft.com/office/officeart/2018/5/layout/CenteredIconLabelDescriptionList"/>
    <dgm:cxn modelId="{A223745C-024B-4BB6-8489-B64E0CE9C5B3}" type="presOf" srcId="{A38895C2-01F9-6245-91B5-24143C38A9C7}" destId="{A3F5AACB-4941-4375-9257-3C08269C058D}" srcOrd="0" destOrd="0" presId="urn:microsoft.com/office/officeart/2018/5/layout/CenteredIconLabelDescriptionList"/>
    <dgm:cxn modelId="{A5C71463-51A3-FE4F-818F-88A3487A541C}" type="presOf" srcId="{0D3C6331-CE0D-9F4A-B22D-24324BC86258}" destId="{38CCE84E-55A4-EA49-8E21-E3DA8EE72472}" srcOrd="0" destOrd="0" presId="urn:microsoft.com/office/officeart/2018/5/layout/CenteredIconLabelDescriptionList"/>
    <dgm:cxn modelId="{D3B5A944-F001-C443-B5F2-2B9F33291B32}" srcId="{F0D0BB63-F3DB-7A4D-9E9E-D3BCBD2E7EB3}" destId="{A38895C2-01F9-6245-91B5-24143C38A9C7}" srcOrd="0" destOrd="0" parTransId="{4E7FF56D-46AD-054E-9A98-96B3BA155886}" sibTransId="{705E8EE7-BF08-CB4D-BD5C-3C2188954C5C}"/>
    <dgm:cxn modelId="{BF930C4A-AD20-C641-8E9F-DF5DD0D3E9AC}" type="presOf" srcId="{32CCA171-9486-CE42-8023-2FAEE3E203FC}" destId="{5C8E3167-B875-D54B-959B-042A0FFB0ACF}" srcOrd="0" destOrd="0" presId="urn:microsoft.com/office/officeart/2018/5/layout/CenteredIconLabelDescriptionList"/>
    <dgm:cxn modelId="{22F9F56F-1F3B-BD4C-BADB-89108C69FA28}" srcId="{0D3C6331-CE0D-9F4A-B22D-24324BC86258}" destId="{98202F64-5C66-6D4A-9759-2B57896393DC}" srcOrd="0" destOrd="0" parTransId="{0FD84765-6F97-E14A-A82A-ABCE59B9C594}" sibTransId="{DE5EE875-AFFC-EC4A-81DC-16C3B62234C6}"/>
    <dgm:cxn modelId="{63D5C358-F98A-492D-8528-12CA4FC1EACC}" type="presOf" srcId="{F0D0BB63-F3DB-7A4D-9E9E-D3BCBD2E7EB3}" destId="{DA14DB78-971D-423E-ABBC-4C0BFC9A4508}" srcOrd="0" destOrd="0" presId="urn:microsoft.com/office/officeart/2018/5/layout/CenteredIconLabelDescriptionList"/>
    <dgm:cxn modelId="{E8ABC27C-96B6-D143-A3A4-8A7D3089C021}" srcId="{919062A3-DEE5-984C-91AA-A4D2BCC3D3BD}" destId="{46129B74-422B-0843-A74F-03D0EE556D1C}" srcOrd="0" destOrd="0" parTransId="{F5C02F84-55A6-9940-BC42-2FA10918A6E5}" sibTransId="{4469ABCA-D009-604D-98BD-7B84B970E9C1}"/>
    <dgm:cxn modelId="{4B3EEFB3-9B4F-C44C-B917-5E074D4ED4E6}" srcId="{F0D0BB63-F3DB-7A4D-9E9E-D3BCBD2E7EB3}" destId="{32CCA171-9486-CE42-8023-2FAEE3E203FC}" srcOrd="4" destOrd="0" parTransId="{53DA6522-78F1-0747-AC2A-439212C56EFD}" sibTransId="{A525286F-B42E-7747-9C7F-B21438693D3E}"/>
    <dgm:cxn modelId="{2F8256B9-7B14-624D-BEF6-C82406CF4277}" srcId="{F0D0BB63-F3DB-7A4D-9E9E-D3BCBD2E7EB3}" destId="{83FA5436-1A58-4145-BF50-C2BEC9E00FEF}" srcOrd="2" destOrd="0" parTransId="{CCB6FE7E-7189-DB4E-9EF6-C81F815048DA}" sibTransId="{843BFB48-1D19-A04E-8144-F920F0E33AA9}"/>
    <dgm:cxn modelId="{DF2D58BE-9AAE-3646-9D5D-8110113385C5}" type="presOf" srcId="{A7CCADCF-7A70-684A-A962-F200DB4DBAD9}" destId="{FE93FDF4-82DA-45FA-9A1E-C612D39D3B6A}" srcOrd="0" destOrd="0" presId="urn:microsoft.com/office/officeart/2018/5/layout/CenteredIconLabelDescriptionList"/>
    <dgm:cxn modelId="{CFCF5FCE-93E0-D74D-9FAB-A8A76A0CB279}" srcId="{F0D0BB63-F3DB-7A4D-9E9E-D3BCBD2E7EB3}" destId="{919062A3-DEE5-984C-91AA-A4D2BCC3D3BD}" srcOrd="3" destOrd="0" parTransId="{A8ADD059-E16A-8A4E-A8A4-6598E9B5BF73}" sibTransId="{8BA02225-7371-D541-B3C6-9D6484CE0694}"/>
    <dgm:cxn modelId="{D1A8D2D8-A900-E94F-A698-525BCA7E348B}" type="presOf" srcId="{4BD07995-2CA7-2347-93BF-CD9137C54B79}" destId="{C684E840-1C44-784A-9D21-78F38A2A37E7}" srcOrd="0" destOrd="0" presId="urn:microsoft.com/office/officeart/2018/5/layout/CenteredIconLabelDescriptionList"/>
    <dgm:cxn modelId="{C3BAB0E7-D4D1-E44B-A67E-29B44C73B519}" type="presOf" srcId="{46129B74-422B-0843-A74F-03D0EE556D1C}" destId="{367151D7-3A59-884D-8CEE-3CB640FFA137}" srcOrd="0" destOrd="0" presId="urn:microsoft.com/office/officeart/2018/5/layout/CenteredIconLabelDescriptionList"/>
    <dgm:cxn modelId="{B5542B11-3024-4A82-8846-89E2189AA203}" type="presParOf" srcId="{DA14DB78-971D-423E-ABBC-4C0BFC9A4508}" destId="{D1EA3809-354C-42AA-B040-8B295724B5DA}" srcOrd="0" destOrd="0" presId="urn:microsoft.com/office/officeart/2018/5/layout/CenteredIconLabelDescriptionList"/>
    <dgm:cxn modelId="{D8751ED9-B8E9-40E0-9EAD-F9082BCEB719}" type="presParOf" srcId="{D1EA3809-354C-42AA-B040-8B295724B5DA}" destId="{9AD6AE34-E008-4F80-8A65-14EF5C53FC2D}" srcOrd="0" destOrd="0" presId="urn:microsoft.com/office/officeart/2018/5/layout/CenteredIconLabelDescriptionList"/>
    <dgm:cxn modelId="{396F3037-A9F6-4C68-8B8C-8D7A3C0893BD}" type="presParOf" srcId="{D1EA3809-354C-42AA-B040-8B295724B5DA}" destId="{89D15706-1ACF-4311-A552-57407E4CF56A}" srcOrd="1" destOrd="0" presId="urn:microsoft.com/office/officeart/2018/5/layout/CenteredIconLabelDescriptionList"/>
    <dgm:cxn modelId="{79DE9D17-58A0-43AB-82C8-E16ECD55F502}" type="presParOf" srcId="{D1EA3809-354C-42AA-B040-8B295724B5DA}" destId="{A3F5AACB-4941-4375-9257-3C08269C058D}" srcOrd="2" destOrd="0" presId="urn:microsoft.com/office/officeart/2018/5/layout/CenteredIconLabelDescriptionList"/>
    <dgm:cxn modelId="{9B50341E-FA5F-4E9C-B18E-D96D54ABF79A}" type="presParOf" srcId="{D1EA3809-354C-42AA-B040-8B295724B5DA}" destId="{724F3C0A-F258-4B19-BFF0-3970C1C1C86F}" srcOrd="3" destOrd="0" presId="urn:microsoft.com/office/officeart/2018/5/layout/CenteredIconLabelDescriptionList"/>
    <dgm:cxn modelId="{57AB5D18-33B5-480C-B20E-52B586E1F249}" type="presParOf" srcId="{D1EA3809-354C-42AA-B040-8B295724B5DA}" destId="{FE93FDF4-82DA-45FA-9A1E-C612D39D3B6A}" srcOrd="4" destOrd="0" presId="urn:microsoft.com/office/officeart/2018/5/layout/CenteredIconLabelDescriptionList"/>
    <dgm:cxn modelId="{C1216ACB-3135-4684-A1C5-A4D57FAD19DA}" type="presParOf" srcId="{DA14DB78-971D-423E-ABBC-4C0BFC9A4508}" destId="{E498811C-808C-435A-95EB-9D224CF52F01}" srcOrd="1" destOrd="0" presId="urn:microsoft.com/office/officeart/2018/5/layout/CenteredIconLabelDescriptionList"/>
    <dgm:cxn modelId="{EA4EC637-B8E2-1740-9AE3-80FD48684512}" type="presParOf" srcId="{DA14DB78-971D-423E-ABBC-4C0BFC9A4508}" destId="{BFE1CB67-8721-FE40-B7BF-B68F0F1A94A8}" srcOrd="2" destOrd="0" presId="urn:microsoft.com/office/officeart/2018/5/layout/CenteredIconLabelDescriptionList"/>
    <dgm:cxn modelId="{C52CA06F-22EA-2B49-86F2-20A1B9C5F033}" type="presParOf" srcId="{BFE1CB67-8721-FE40-B7BF-B68F0F1A94A8}" destId="{D8CE0C4F-BAFB-2649-A0CD-F86120106B80}" srcOrd="0" destOrd="0" presId="urn:microsoft.com/office/officeart/2018/5/layout/CenteredIconLabelDescriptionList"/>
    <dgm:cxn modelId="{0794AB1D-C3D0-194E-984A-E345A07A3352}" type="presParOf" srcId="{BFE1CB67-8721-FE40-B7BF-B68F0F1A94A8}" destId="{20E8E6BC-3817-8648-9A5A-C572AAC37FFB}" srcOrd="1" destOrd="0" presId="urn:microsoft.com/office/officeart/2018/5/layout/CenteredIconLabelDescriptionList"/>
    <dgm:cxn modelId="{A48D287A-4278-7E4D-ADC7-7EED782016F7}" type="presParOf" srcId="{BFE1CB67-8721-FE40-B7BF-B68F0F1A94A8}" destId="{38CCE84E-55A4-EA49-8E21-E3DA8EE72472}" srcOrd="2" destOrd="0" presId="urn:microsoft.com/office/officeart/2018/5/layout/CenteredIconLabelDescriptionList"/>
    <dgm:cxn modelId="{376C6543-3A48-A440-BEAC-C2378080437A}" type="presParOf" srcId="{BFE1CB67-8721-FE40-B7BF-B68F0F1A94A8}" destId="{65A58CD9-B0D0-E64A-9C52-3F83845F562F}" srcOrd="3" destOrd="0" presId="urn:microsoft.com/office/officeart/2018/5/layout/CenteredIconLabelDescriptionList"/>
    <dgm:cxn modelId="{1D0DF27D-5EC9-6C44-AE1A-5EEDA65B6E50}" type="presParOf" srcId="{BFE1CB67-8721-FE40-B7BF-B68F0F1A94A8}" destId="{5D2478D6-0098-8F41-A7DC-2DE20610C884}" srcOrd="4" destOrd="0" presId="urn:microsoft.com/office/officeart/2018/5/layout/CenteredIconLabelDescriptionList"/>
    <dgm:cxn modelId="{AA33539C-765E-414E-8CCB-2F088B9919BF}" type="presParOf" srcId="{DA14DB78-971D-423E-ABBC-4C0BFC9A4508}" destId="{AD91C1F9-FE3B-8A44-9FF7-CBEFAD79A74B}" srcOrd="3" destOrd="0" presId="urn:microsoft.com/office/officeart/2018/5/layout/CenteredIconLabelDescriptionList"/>
    <dgm:cxn modelId="{4F45C5E5-56E9-B047-BBD5-8EF2195C761C}" type="presParOf" srcId="{DA14DB78-971D-423E-ABBC-4C0BFC9A4508}" destId="{BB6C312C-AE42-B447-BD30-11F0F8C5FC62}" srcOrd="4" destOrd="0" presId="urn:microsoft.com/office/officeart/2018/5/layout/CenteredIconLabelDescriptionList"/>
    <dgm:cxn modelId="{104FAA35-1D14-E140-AFB2-8CABD1D3D4A8}" type="presParOf" srcId="{BB6C312C-AE42-B447-BD30-11F0F8C5FC62}" destId="{AC3FDFCD-B41A-224E-9D9A-5D3BF7073B2A}" srcOrd="0" destOrd="0" presId="urn:microsoft.com/office/officeart/2018/5/layout/CenteredIconLabelDescriptionList"/>
    <dgm:cxn modelId="{D13CD898-E3F5-9649-BD0C-33A9BFBC5809}" type="presParOf" srcId="{BB6C312C-AE42-B447-BD30-11F0F8C5FC62}" destId="{641963F2-A9D0-E34C-BB04-E267A0C33BC5}" srcOrd="1" destOrd="0" presId="urn:microsoft.com/office/officeart/2018/5/layout/CenteredIconLabelDescriptionList"/>
    <dgm:cxn modelId="{56DD04CB-1DED-AB4C-B6B7-005880297329}" type="presParOf" srcId="{BB6C312C-AE42-B447-BD30-11F0F8C5FC62}" destId="{65C103C0-236E-CC42-87E0-4E05FC35505F}" srcOrd="2" destOrd="0" presId="urn:microsoft.com/office/officeart/2018/5/layout/CenteredIconLabelDescriptionList"/>
    <dgm:cxn modelId="{F6B5B5CA-54FC-B348-A0DD-68A980F44B5F}" type="presParOf" srcId="{BB6C312C-AE42-B447-BD30-11F0F8C5FC62}" destId="{6280BE1A-0714-A843-860C-48E735D172B2}" srcOrd="3" destOrd="0" presId="urn:microsoft.com/office/officeart/2018/5/layout/CenteredIconLabelDescriptionList"/>
    <dgm:cxn modelId="{57FF3E1E-2966-644B-A572-E826A7DC2DAE}" type="presParOf" srcId="{BB6C312C-AE42-B447-BD30-11F0F8C5FC62}" destId="{C684E840-1C44-784A-9D21-78F38A2A37E7}" srcOrd="4" destOrd="0" presId="urn:microsoft.com/office/officeart/2018/5/layout/CenteredIconLabelDescriptionList"/>
    <dgm:cxn modelId="{F683E110-14C3-B24E-8C99-F134CBBF3636}" type="presParOf" srcId="{DA14DB78-971D-423E-ABBC-4C0BFC9A4508}" destId="{443A0D3A-4F85-C34C-A64D-9E46E19BC67A}" srcOrd="5" destOrd="0" presId="urn:microsoft.com/office/officeart/2018/5/layout/CenteredIconLabelDescriptionList"/>
    <dgm:cxn modelId="{EC35CE47-8864-684F-99BA-CCBCC187BA5F}" type="presParOf" srcId="{DA14DB78-971D-423E-ABBC-4C0BFC9A4508}" destId="{956C7152-719E-AA47-B2DB-DFD0508A1F2B}" srcOrd="6" destOrd="0" presId="urn:microsoft.com/office/officeart/2018/5/layout/CenteredIconLabelDescriptionList"/>
    <dgm:cxn modelId="{9077E9F0-5C64-D24C-B359-E4476E67DE9F}" type="presParOf" srcId="{956C7152-719E-AA47-B2DB-DFD0508A1F2B}" destId="{EA18A2C1-3D48-F340-82C2-D58A9B10AFE1}" srcOrd="0" destOrd="0" presId="urn:microsoft.com/office/officeart/2018/5/layout/CenteredIconLabelDescriptionList"/>
    <dgm:cxn modelId="{A924A6A4-4AE8-5D46-92ED-D541D4B45C49}" type="presParOf" srcId="{956C7152-719E-AA47-B2DB-DFD0508A1F2B}" destId="{D3EB0D57-05B4-954F-A2BF-9D4CE64914F2}" srcOrd="1" destOrd="0" presId="urn:microsoft.com/office/officeart/2018/5/layout/CenteredIconLabelDescriptionList"/>
    <dgm:cxn modelId="{2FD518E5-A024-B84F-9D01-84C34488C783}" type="presParOf" srcId="{956C7152-719E-AA47-B2DB-DFD0508A1F2B}" destId="{E44673C7-1B98-804A-8B06-7B3067204DC7}" srcOrd="2" destOrd="0" presId="urn:microsoft.com/office/officeart/2018/5/layout/CenteredIconLabelDescriptionList"/>
    <dgm:cxn modelId="{E05EA53D-73F1-6D4E-83ED-79CEFF73C89F}" type="presParOf" srcId="{956C7152-719E-AA47-B2DB-DFD0508A1F2B}" destId="{8F71DF18-273A-8D49-B676-6159FEB0D4D9}" srcOrd="3" destOrd="0" presId="urn:microsoft.com/office/officeart/2018/5/layout/CenteredIconLabelDescriptionList"/>
    <dgm:cxn modelId="{DD8FA33D-3C7F-0F44-95F4-15C71A7D902A}" type="presParOf" srcId="{956C7152-719E-AA47-B2DB-DFD0508A1F2B}" destId="{367151D7-3A59-884D-8CEE-3CB640FFA137}" srcOrd="4" destOrd="0" presId="urn:microsoft.com/office/officeart/2018/5/layout/CenteredIconLabelDescriptionList"/>
    <dgm:cxn modelId="{44FA5E0F-B4A1-B646-A962-D8D36EA5CA7F}" type="presParOf" srcId="{DA14DB78-971D-423E-ABBC-4C0BFC9A4508}" destId="{1F180F6B-F944-F649-BCB7-9E07735F2D0E}" srcOrd="7" destOrd="0" presId="urn:microsoft.com/office/officeart/2018/5/layout/CenteredIconLabelDescriptionList"/>
    <dgm:cxn modelId="{77B4F5BC-6469-5947-8925-CD53D7DF44EB}" type="presParOf" srcId="{DA14DB78-971D-423E-ABBC-4C0BFC9A4508}" destId="{A7238CC8-72C8-204A-846B-8D390A167F82}" srcOrd="8" destOrd="0" presId="urn:microsoft.com/office/officeart/2018/5/layout/CenteredIconLabelDescriptionList"/>
    <dgm:cxn modelId="{B2912D77-60A9-E74A-A229-9A0AC9CD63F7}" type="presParOf" srcId="{A7238CC8-72C8-204A-846B-8D390A167F82}" destId="{B9CC058F-B5FD-5C4B-ABA0-5502D37BE686}" srcOrd="0" destOrd="0" presId="urn:microsoft.com/office/officeart/2018/5/layout/CenteredIconLabelDescriptionList"/>
    <dgm:cxn modelId="{D2E38EA8-C464-0F41-A8B6-DDFEFC611E1C}" type="presParOf" srcId="{A7238CC8-72C8-204A-846B-8D390A167F82}" destId="{C498A9AE-DFC3-4C4D-A6EC-F287910A19CD}" srcOrd="1" destOrd="0" presId="urn:microsoft.com/office/officeart/2018/5/layout/CenteredIconLabelDescriptionList"/>
    <dgm:cxn modelId="{CCD70CE4-1894-F441-908C-FD504F2A665C}" type="presParOf" srcId="{A7238CC8-72C8-204A-846B-8D390A167F82}" destId="{5C8E3167-B875-D54B-959B-042A0FFB0ACF}" srcOrd="2" destOrd="0" presId="urn:microsoft.com/office/officeart/2018/5/layout/CenteredIconLabelDescriptionList"/>
    <dgm:cxn modelId="{E36C659D-A4AE-8740-BB97-018E954C21DB}" type="presParOf" srcId="{A7238CC8-72C8-204A-846B-8D390A167F82}" destId="{0ACDB7F7-2A9B-594A-B53B-A01D5B0B9D20}" srcOrd="3" destOrd="0" presId="urn:microsoft.com/office/officeart/2018/5/layout/CenteredIconLabelDescriptionList"/>
    <dgm:cxn modelId="{1D32040C-257D-FE4A-A96E-0342A5B99BF3}" type="presParOf" srcId="{A7238CC8-72C8-204A-846B-8D390A167F82}" destId="{6525908A-C34B-3245-951A-BE98309B3350}" srcOrd="4" destOrd="0" presId="urn:microsoft.com/office/officeart/2018/5/layout/Centered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D0BB63-F3DB-7A4D-9E9E-D3BCBD2E7EB3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46EF05-A6D1-BB49-B0D3-394B622A02ED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dirty="0"/>
            <a:t>Unified View of Real-Time and Historical Data:</a:t>
          </a:r>
        </a:p>
      </dgm:t>
    </dgm:pt>
    <dgm:pt modelId="{01EA5153-1118-9448-8136-1DA59FE9E8E6}" type="parTrans" cxnId="{7CE9588F-7502-674E-BD1D-552D9648DB96}">
      <dgm:prSet/>
      <dgm:spPr/>
      <dgm:t>
        <a:bodyPr/>
        <a:lstStyle/>
        <a:p>
          <a:endParaRPr lang="en-US"/>
        </a:p>
      </dgm:t>
    </dgm:pt>
    <dgm:pt modelId="{43168661-776D-664F-A9D2-5FB5A9005679}" type="sibTrans" cxnId="{7CE9588F-7502-674E-BD1D-552D9648DB96}">
      <dgm:prSet/>
      <dgm:spPr/>
      <dgm:t>
        <a:bodyPr/>
        <a:lstStyle/>
        <a:p>
          <a:endParaRPr lang="en-US"/>
        </a:p>
      </dgm:t>
    </dgm:pt>
    <dgm:pt modelId="{8CC3AD2E-282B-0849-90D2-A0BF0269737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Eliminates duplicated data and inconsistencies, providing a holistic view of data across real-time and historical perspectives for comprehensive analysis and informed decision-making.</a:t>
          </a:r>
        </a:p>
      </dgm:t>
    </dgm:pt>
    <dgm:pt modelId="{E7A852F1-7BAF-C34E-B160-E2F49F57FD21}" type="parTrans" cxnId="{61FABAAD-EC96-1545-A162-9005F3F7F841}">
      <dgm:prSet/>
      <dgm:spPr/>
      <dgm:t>
        <a:bodyPr/>
        <a:lstStyle/>
        <a:p>
          <a:endParaRPr lang="en-US"/>
        </a:p>
      </dgm:t>
    </dgm:pt>
    <dgm:pt modelId="{2FA51C51-7373-304D-9591-B95705EAB7D7}" type="sibTrans" cxnId="{61FABAAD-EC96-1545-A162-9005F3F7F841}">
      <dgm:prSet/>
      <dgm:spPr/>
      <dgm:t>
        <a:bodyPr/>
        <a:lstStyle/>
        <a:p>
          <a:endParaRPr lang="en-US"/>
        </a:p>
      </dgm:t>
    </dgm:pt>
    <dgm:pt modelId="{3C6C5A1C-93A4-3549-B8CF-9FC566B62A45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400" dirty="0"/>
            <a:t>Reduced Complexity and Operational Overhead:</a:t>
          </a:r>
        </a:p>
      </dgm:t>
    </dgm:pt>
    <dgm:pt modelId="{3B88DB9A-ABA5-524E-87F3-411F85026662}" type="parTrans" cxnId="{D6631E20-4B12-CC43-A8D8-F0BCD76D114C}">
      <dgm:prSet/>
      <dgm:spPr/>
      <dgm:t>
        <a:bodyPr/>
        <a:lstStyle/>
        <a:p>
          <a:endParaRPr lang="en-US"/>
        </a:p>
      </dgm:t>
    </dgm:pt>
    <dgm:pt modelId="{BE265643-69D7-3B41-9237-785F96AEE6ED}" type="sibTrans" cxnId="{D6631E20-4B12-CC43-A8D8-F0BCD76D114C}">
      <dgm:prSet/>
      <dgm:spPr/>
      <dgm:t>
        <a:bodyPr/>
        <a:lstStyle/>
        <a:p>
          <a:endParaRPr lang="en-US"/>
        </a:p>
      </dgm:t>
    </dgm:pt>
    <dgm:pt modelId="{D6CE35B3-9D5C-DE47-8D54-2F521FE554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Combines workflows into a single architecture, streamlining development, maintenance, and troubleshooting compared to managing separate batch and streaming pipelines.</a:t>
          </a:r>
        </a:p>
      </dgm:t>
    </dgm:pt>
    <dgm:pt modelId="{7303A012-CF2A-8E4A-8586-E9A588EA6190}" type="parTrans" cxnId="{7C85FD63-FFE5-484F-AE21-DB1AE22B235C}">
      <dgm:prSet/>
      <dgm:spPr/>
      <dgm:t>
        <a:bodyPr/>
        <a:lstStyle/>
        <a:p>
          <a:endParaRPr lang="en-US"/>
        </a:p>
      </dgm:t>
    </dgm:pt>
    <dgm:pt modelId="{0B15F8A8-C05F-AE42-BDDC-BAA1406D9DB9}" type="sibTrans" cxnId="{7C85FD63-FFE5-484F-AE21-DB1AE22B235C}">
      <dgm:prSet/>
      <dgm:spPr/>
      <dgm:t>
        <a:bodyPr/>
        <a:lstStyle/>
        <a:p>
          <a:endParaRPr lang="en-US"/>
        </a:p>
      </dgm:t>
    </dgm:pt>
    <dgm:pt modelId="{05BD0243-971A-9947-B3CA-42057B03764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Enhanced Real-Time Insights with Historical Context:</a:t>
          </a:r>
        </a:p>
      </dgm:t>
    </dgm:pt>
    <dgm:pt modelId="{C427086F-8FB3-2F4F-A83E-EB6954B3AA71}" type="parTrans" cxnId="{885FC356-FD7E-4C4B-AECE-3026EB7C0E8F}">
      <dgm:prSet/>
      <dgm:spPr/>
      <dgm:t>
        <a:bodyPr/>
        <a:lstStyle/>
        <a:p>
          <a:endParaRPr lang="en-US"/>
        </a:p>
      </dgm:t>
    </dgm:pt>
    <dgm:pt modelId="{EEFF0596-306A-6D4C-AEC7-EB3F3CC98019}" type="sibTrans" cxnId="{885FC356-FD7E-4C4B-AECE-3026EB7C0E8F}">
      <dgm:prSet/>
      <dgm:spPr/>
      <dgm:t>
        <a:bodyPr/>
        <a:lstStyle/>
        <a:p>
          <a:endParaRPr lang="en-US"/>
        </a:p>
      </dgm:t>
    </dgm:pt>
    <dgm:pt modelId="{B8215710-D99C-7848-BF88-E2EB84D5FD1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Real-time processing benefits from the context of historical data, enabling deeper understanding of trends, anomalies, and their potential ramifications.</a:t>
          </a:r>
        </a:p>
      </dgm:t>
    </dgm:pt>
    <dgm:pt modelId="{6AE6EF5C-F8EB-DA46-9248-3423E1A9F47A}" type="parTrans" cxnId="{EE11564F-EC8D-5740-8EC2-4E22A08D8E50}">
      <dgm:prSet/>
      <dgm:spPr/>
      <dgm:t>
        <a:bodyPr/>
        <a:lstStyle/>
        <a:p>
          <a:endParaRPr lang="en-US"/>
        </a:p>
      </dgm:t>
    </dgm:pt>
    <dgm:pt modelId="{AAB856DD-2744-5B4A-A2C0-D6E3A1083079}" type="sibTrans" cxnId="{EE11564F-EC8D-5740-8EC2-4E22A08D8E50}">
      <dgm:prSet/>
      <dgm:spPr/>
      <dgm:t>
        <a:bodyPr/>
        <a:lstStyle/>
        <a:p>
          <a:endParaRPr lang="en-US"/>
        </a:p>
      </dgm:t>
    </dgm:pt>
    <dgm:pt modelId="{F6320C8B-DFF6-1447-86F5-07D2421CA1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Improved Scalability and Adaptability:</a:t>
          </a:r>
        </a:p>
      </dgm:t>
    </dgm:pt>
    <dgm:pt modelId="{DEEE0361-EFE9-884F-A411-587B0D574D10}" type="parTrans" cxnId="{4DABFB79-D565-0644-999F-8510F0537347}">
      <dgm:prSet/>
      <dgm:spPr/>
      <dgm:t>
        <a:bodyPr/>
        <a:lstStyle/>
        <a:p>
          <a:endParaRPr lang="en-US"/>
        </a:p>
      </dgm:t>
    </dgm:pt>
    <dgm:pt modelId="{F54C1AB7-3E5E-B040-9419-3D59A76667C6}" type="sibTrans" cxnId="{4DABFB79-D565-0644-999F-8510F0537347}">
      <dgm:prSet/>
      <dgm:spPr/>
      <dgm:t>
        <a:bodyPr/>
        <a:lstStyle/>
        <a:p>
          <a:endParaRPr lang="en-US"/>
        </a:p>
      </dgm:t>
    </dgm:pt>
    <dgm:pt modelId="{B32FE27F-B67A-7144-8592-9217EB1918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Each layer in the Lambda architecture scales independently, making the overall system more resilient and flexible to accommodate growing data volumes and evolving processing demands.</a:t>
          </a:r>
        </a:p>
      </dgm:t>
    </dgm:pt>
    <dgm:pt modelId="{BE151DB5-6FD9-2943-A4CB-B29D62441974}" type="parTrans" cxnId="{477C30AD-B69F-404B-A3F9-D436E3EFA104}">
      <dgm:prSet/>
      <dgm:spPr/>
      <dgm:t>
        <a:bodyPr/>
        <a:lstStyle/>
        <a:p>
          <a:endParaRPr lang="en-US"/>
        </a:p>
      </dgm:t>
    </dgm:pt>
    <dgm:pt modelId="{B3D465C9-0FD1-9442-A794-15D1DF984134}" type="sibTrans" cxnId="{477C30AD-B69F-404B-A3F9-D436E3EFA104}">
      <dgm:prSet/>
      <dgm:spPr/>
      <dgm:t>
        <a:bodyPr/>
        <a:lstStyle/>
        <a:p>
          <a:endParaRPr lang="en-US"/>
        </a:p>
      </dgm:t>
    </dgm:pt>
    <dgm:pt modelId="{0ED892BA-9224-8142-A97C-7A24E8B95A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Technology Flexibility and Innovation:</a:t>
          </a:r>
        </a:p>
      </dgm:t>
    </dgm:pt>
    <dgm:pt modelId="{CC9AFF37-2C86-394F-A5CE-E04237133E11}" type="parTrans" cxnId="{D0E3086E-1EB4-B54A-8729-127AFD99F3E9}">
      <dgm:prSet/>
      <dgm:spPr/>
      <dgm:t>
        <a:bodyPr/>
        <a:lstStyle/>
        <a:p>
          <a:endParaRPr lang="en-US"/>
        </a:p>
      </dgm:t>
    </dgm:pt>
    <dgm:pt modelId="{1A89F653-26E0-BE45-B8E2-640FBDF3D4AE}" type="sibTrans" cxnId="{D0E3086E-1EB4-B54A-8729-127AFD99F3E9}">
      <dgm:prSet/>
      <dgm:spPr/>
      <dgm:t>
        <a:bodyPr/>
        <a:lstStyle/>
        <a:p>
          <a:endParaRPr lang="en-US"/>
        </a:p>
      </dgm:t>
    </dgm:pt>
    <dgm:pt modelId="{C2FF1CA0-E1E1-4749-B01E-222B9D70D4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Offers freedom to choose the most suitable technologies for each layer, allowing organizations to leverage specific processing strengths and foster technological innovation within the architecture.</a:t>
          </a:r>
        </a:p>
      </dgm:t>
    </dgm:pt>
    <dgm:pt modelId="{AEA7E54F-2056-704F-AEC3-8E189B8FAA3C}" type="parTrans" cxnId="{B41CF69C-BF58-1047-A8A6-F2470B31ED51}">
      <dgm:prSet/>
      <dgm:spPr/>
      <dgm:t>
        <a:bodyPr/>
        <a:lstStyle/>
        <a:p>
          <a:endParaRPr lang="en-US"/>
        </a:p>
      </dgm:t>
    </dgm:pt>
    <dgm:pt modelId="{49FFE6C4-3D90-D14C-8782-4381B2ADFFA9}" type="sibTrans" cxnId="{B41CF69C-BF58-1047-A8A6-F2470B31ED51}">
      <dgm:prSet/>
      <dgm:spPr/>
      <dgm:t>
        <a:bodyPr/>
        <a:lstStyle/>
        <a:p>
          <a:endParaRPr lang="en-US"/>
        </a:p>
      </dgm:t>
    </dgm:pt>
    <dgm:pt modelId="{DA14DB78-971D-423E-ABBC-4C0BFC9A4508}" type="pres">
      <dgm:prSet presAssocID="{F0D0BB63-F3DB-7A4D-9E9E-D3BCBD2E7EB3}" presName="root" presStyleCnt="0">
        <dgm:presLayoutVars>
          <dgm:dir/>
          <dgm:resizeHandles val="exact"/>
        </dgm:presLayoutVars>
      </dgm:prSet>
      <dgm:spPr/>
    </dgm:pt>
    <dgm:pt modelId="{39840AC3-DF70-4F48-A70F-6BF2683248A2}" type="pres">
      <dgm:prSet presAssocID="{9846EF05-A6D1-BB49-B0D3-394B622A02ED}" presName="compNode" presStyleCnt="0"/>
      <dgm:spPr/>
    </dgm:pt>
    <dgm:pt modelId="{6E7B85C7-E93F-C345-9919-566F9EC4178E}" type="pres">
      <dgm:prSet presAssocID="{9846EF05-A6D1-BB49-B0D3-394B622A02ED}" presName="iconRect" presStyleLbl="node1" presStyleIdx="0" presStyleCnt="5"/>
      <dgm:spPr>
        <a:noFill/>
        <a:ln>
          <a:noFill/>
        </a:ln>
      </dgm:spPr>
    </dgm:pt>
    <dgm:pt modelId="{BD79130D-2C83-FD4C-A30C-13F9C0AB0471}" type="pres">
      <dgm:prSet presAssocID="{9846EF05-A6D1-BB49-B0D3-394B622A02ED}" presName="iconSpace" presStyleCnt="0"/>
      <dgm:spPr/>
    </dgm:pt>
    <dgm:pt modelId="{12B5195D-A057-B141-94CC-3B4ADBA60379}" type="pres">
      <dgm:prSet presAssocID="{9846EF05-A6D1-BB49-B0D3-394B622A02ED}" presName="parTx" presStyleLbl="revTx" presStyleIdx="0" presStyleCnt="10">
        <dgm:presLayoutVars>
          <dgm:chMax val="0"/>
          <dgm:chPref val="0"/>
        </dgm:presLayoutVars>
      </dgm:prSet>
      <dgm:spPr/>
    </dgm:pt>
    <dgm:pt modelId="{D4CA9E59-9715-A146-A00D-F16DCB177C29}" type="pres">
      <dgm:prSet presAssocID="{9846EF05-A6D1-BB49-B0D3-394B622A02ED}" presName="txSpace" presStyleCnt="0"/>
      <dgm:spPr/>
    </dgm:pt>
    <dgm:pt modelId="{3170C651-6C63-6E49-B099-1EEF3E662005}" type="pres">
      <dgm:prSet presAssocID="{9846EF05-A6D1-BB49-B0D3-394B622A02ED}" presName="desTx" presStyleLbl="revTx" presStyleIdx="1" presStyleCnt="10">
        <dgm:presLayoutVars/>
      </dgm:prSet>
      <dgm:spPr/>
    </dgm:pt>
    <dgm:pt modelId="{D1B411F0-EE37-2247-A484-38B2B5B78E1A}" type="pres">
      <dgm:prSet presAssocID="{43168661-776D-664F-A9D2-5FB5A9005679}" presName="sibTrans" presStyleCnt="0"/>
      <dgm:spPr/>
    </dgm:pt>
    <dgm:pt modelId="{37B63E5B-5FC5-F742-9845-78A65CBFEBE2}" type="pres">
      <dgm:prSet presAssocID="{3C6C5A1C-93A4-3549-B8CF-9FC566B62A45}" presName="compNode" presStyleCnt="0"/>
      <dgm:spPr/>
    </dgm:pt>
    <dgm:pt modelId="{4A3B12D0-31DF-7442-BB23-A3E72DEC1B9D}" type="pres">
      <dgm:prSet presAssocID="{3C6C5A1C-93A4-3549-B8CF-9FC566B62A45}" presName="iconRect" presStyleLbl="node1" presStyleIdx="1" presStyleCnt="5"/>
      <dgm:spPr>
        <a:noFill/>
        <a:ln>
          <a:noFill/>
        </a:ln>
      </dgm:spPr>
    </dgm:pt>
    <dgm:pt modelId="{79AF9CAD-1C90-4445-8506-B0E018EF407E}" type="pres">
      <dgm:prSet presAssocID="{3C6C5A1C-93A4-3549-B8CF-9FC566B62A45}" presName="iconSpace" presStyleCnt="0"/>
      <dgm:spPr/>
    </dgm:pt>
    <dgm:pt modelId="{57217C58-5FA9-0241-8DFD-99A334F9177F}" type="pres">
      <dgm:prSet presAssocID="{3C6C5A1C-93A4-3549-B8CF-9FC566B62A45}" presName="parTx" presStyleLbl="revTx" presStyleIdx="2" presStyleCnt="10">
        <dgm:presLayoutVars>
          <dgm:chMax val="0"/>
          <dgm:chPref val="0"/>
        </dgm:presLayoutVars>
      </dgm:prSet>
      <dgm:spPr/>
    </dgm:pt>
    <dgm:pt modelId="{02B632B4-70DF-664C-86F1-401E6C9EF639}" type="pres">
      <dgm:prSet presAssocID="{3C6C5A1C-93A4-3549-B8CF-9FC566B62A45}" presName="txSpace" presStyleCnt="0"/>
      <dgm:spPr/>
    </dgm:pt>
    <dgm:pt modelId="{FE20762F-B544-2045-9DE8-70ED925D5622}" type="pres">
      <dgm:prSet presAssocID="{3C6C5A1C-93A4-3549-B8CF-9FC566B62A45}" presName="desTx" presStyleLbl="revTx" presStyleIdx="3" presStyleCnt="10">
        <dgm:presLayoutVars/>
      </dgm:prSet>
      <dgm:spPr/>
    </dgm:pt>
    <dgm:pt modelId="{19C83279-D2EC-4844-B2CD-B55FE6774147}" type="pres">
      <dgm:prSet presAssocID="{BE265643-69D7-3B41-9237-785F96AEE6ED}" presName="sibTrans" presStyleCnt="0"/>
      <dgm:spPr/>
    </dgm:pt>
    <dgm:pt modelId="{92FEF9C4-9A8B-334A-B123-E03AB6A136F9}" type="pres">
      <dgm:prSet presAssocID="{05BD0243-971A-9947-B3CA-42057B03764B}" presName="compNode" presStyleCnt="0"/>
      <dgm:spPr/>
    </dgm:pt>
    <dgm:pt modelId="{3C516183-CE68-FA46-838C-62BB5B7DAB58}" type="pres">
      <dgm:prSet presAssocID="{05BD0243-971A-9947-B3CA-42057B03764B}" presName="iconRect" presStyleLbl="node1" presStyleIdx="2" presStyleCnt="5"/>
      <dgm:spPr>
        <a:noFill/>
        <a:ln>
          <a:noFill/>
        </a:ln>
      </dgm:spPr>
    </dgm:pt>
    <dgm:pt modelId="{EF2B91F7-0680-0C4C-A1A8-D1D0690C0D85}" type="pres">
      <dgm:prSet presAssocID="{05BD0243-971A-9947-B3CA-42057B03764B}" presName="iconSpace" presStyleCnt="0"/>
      <dgm:spPr/>
    </dgm:pt>
    <dgm:pt modelId="{F38C6D3B-D96D-B840-A0DE-7FA89E044671}" type="pres">
      <dgm:prSet presAssocID="{05BD0243-971A-9947-B3CA-42057B03764B}" presName="parTx" presStyleLbl="revTx" presStyleIdx="4" presStyleCnt="10">
        <dgm:presLayoutVars>
          <dgm:chMax val="0"/>
          <dgm:chPref val="0"/>
        </dgm:presLayoutVars>
      </dgm:prSet>
      <dgm:spPr/>
    </dgm:pt>
    <dgm:pt modelId="{BA9401B2-ED56-1D46-A837-91BBE2F661DF}" type="pres">
      <dgm:prSet presAssocID="{05BD0243-971A-9947-B3CA-42057B03764B}" presName="txSpace" presStyleCnt="0"/>
      <dgm:spPr/>
    </dgm:pt>
    <dgm:pt modelId="{D5D1C44D-F74A-0744-9DB7-25D54037F643}" type="pres">
      <dgm:prSet presAssocID="{05BD0243-971A-9947-B3CA-42057B03764B}" presName="desTx" presStyleLbl="revTx" presStyleIdx="5" presStyleCnt="10">
        <dgm:presLayoutVars/>
      </dgm:prSet>
      <dgm:spPr/>
    </dgm:pt>
    <dgm:pt modelId="{E14FAD91-5D74-B345-9FD2-368B5F2952F8}" type="pres">
      <dgm:prSet presAssocID="{EEFF0596-306A-6D4C-AEC7-EB3F3CC98019}" presName="sibTrans" presStyleCnt="0"/>
      <dgm:spPr/>
    </dgm:pt>
    <dgm:pt modelId="{0A6EE9FA-B68C-7646-9750-FD9ADA1C1E8A}" type="pres">
      <dgm:prSet presAssocID="{F6320C8B-DFF6-1447-86F5-07D2421CA150}" presName="compNode" presStyleCnt="0"/>
      <dgm:spPr/>
    </dgm:pt>
    <dgm:pt modelId="{2D8CAC66-074E-9848-85EA-F513A5C2EEFF}" type="pres">
      <dgm:prSet presAssocID="{F6320C8B-DFF6-1447-86F5-07D2421CA150}" presName="iconRect" presStyleLbl="node1" presStyleIdx="3" presStyleCnt="5"/>
      <dgm:spPr>
        <a:noFill/>
        <a:ln>
          <a:noFill/>
        </a:ln>
      </dgm:spPr>
    </dgm:pt>
    <dgm:pt modelId="{21E4A7EF-38B7-3A49-A0C1-AFA53D01F2C1}" type="pres">
      <dgm:prSet presAssocID="{F6320C8B-DFF6-1447-86F5-07D2421CA150}" presName="iconSpace" presStyleCnt="0"/>
      <dgm:spPr/>
    </dgm:pt>
    <dgm:pt modelId="{B20EE9B1-3C59-FF45-AB4E-A9609839C9D6}" type="pres">
      <dgm:prSet presAssocID="{F6320C8B-DFF6-1447-86F5-07D2421CA150}" presName="parTx" presStyleLbl="revTx" presStyleIdx="6" presStyleCnt="10">
        <dgm:presLayoutVars>
          <dgm:chMax val="0"/>
          <dgm:chPref val="0"/>
        </dgm:presLayoutVars>
      </dgm:prSet>
      <dgm:spPr/>
    </dgm:pt>
    <dgm:pt modelId="{6372AAA6-AB15-1644-811F-80A8AF6E1C9C}" type="pres">
      <dgm:prSet presAssocID="{F6320C8B-DFF6-1447-86F5-07D2421CA150}" presName="txSpace" presStyleCnt="0"/>
      <dgm:spPr/>
    </dgm:pt>
    <dgm:pt modelId="{2B0F5C0D-1B9E-0A47-9FB2-AB4D77D8DBF4}" type="pres">
      <dgm:prSet presAssocID="{F6320C8B-DFF6-1447-86F5-07D2421CA150}" presName="desTx" presStyleLbl="revTx" presStyleIdx="7" presStyleCnt="10">
        <dgm:presLayoutVars/>
      </dgm:prSet>
      <dgm:spPr/>
    </dgm:pt>
    <dgm:pt modelId="{C8EE45DB-056B-6D47-815D-0B842E6D7BF6}" type="pres">
      <dgm:prSet presAssocID="{F54C1AB7-3E5E-B040-9419-3D59A76667C6}" presName="sibTrans" presStyleCnt="0"/>
      <dgm:spPr/>
    </dgm:pt>
    <dgm:pt modelId="{393E48DB-0C6D-5443-9C12-A7D9536427C1}" type="pres">
      <dgm:prSet presAssocID="{0ED892BA-9224-8142-A97C-7A24E8B95AD0}" presName="compNode" presStyleCnt="0"/>
      <dgm:spPr/>
    </dgm:pt>
    <dgm:pt modelId="{AF63B80C-8C66-8645-A084-462F4107F8BA}" type="pres">
      <dgm:prSet presAssocID="{0ED892BA-9224-8142-A97C-7A24E8B95AD0}" presName="iconRect" presStyleLbl="node1" presStyleIdx="4" presStyleCnt="5"/>
      <dgm:spPr>
        <a:noFill/>
        <a:ln>
          <a:noFill/>
        </a:ln>
      </dgm:spPr>
    </dgm:pt>
    <dgm:pt modelId="{741401EC-4E50-674D-9F06-097DB3AAC48E}" type="pres">
      <dgm:prSet presAssocID="{0ED892BA-9224-8142-A97C-7A24E8B95AD0}" presName="iconSpace" presStyleCnt="0"/>
      <dgm:spPr/>
    </dgm:pt>
    <dgm:pt modelId="{79111A77-987A-324C-A8D1-4D531EB98CDC}" type="pres">
      <dgm:prSet presAssocID="{0ED892BA-9224-8142-A97C-7A24E8B95AD0}" presName="parTx" presStyleLbl="revTx" presStyleIdx="8" presStyleCnt="10">
        <dgm:presLayoutVars>
          <dgm:chMax val="0"/>
          <dgm:chPref val="0"/>
        </dgm:presLayoutVars>
      </dgm:prSet>
      <dgm:spPr/>
    </dgm:pt>
    <dgm:pt modelId="{DB678AFF-85BC-1A46-A822-E2AB34D41C83}" type="pres">
      <dgm:prSet presAssocID="{0ED892BA-9224-8142-A97C-7A24E8B95AD0}" presName="txSpace" presStyleCnt="0"/>
      <dgm:spPr/>
    </dgm:pt>
    <dgm:pt modelId="{5597DE38-11EB-AE45-A0B7-FB9B5CB4C298}" type="pres">
      <dgm:prSet presAssocID="{0ED892BA-9224-8142-A97C-7A24E8B95AD0}" presName="desTx" presStyleLbl="revTx" presStyleIdx="9" presStyleCnt="10">
        <dgm:presLayoutVars/>
      </dgm:prSet>
      <dgm:spPr/>
    </dgm:pt>
  </dgm:ptLst>
  <dgm:cxnLst>
    <dgm:cxn modelId="{E02D6F08-D831-F647-9D54-1BF80475975A}" type="presOf" srcId="{B32FE27F-B67A-7144-8592-9217EB191852}" destId="{2B0F5C0D-1B9E-0A47-9FB2-AB4D77D8DBF4}" srcOrd="0" destOrd="0" presId="urn:microsoft.com/office/officeart/2018/5/layout/CenteredIconLabelDescriptionList"/>
    <dgm:cxn modelId="{41AA181D-EBC7-DC4C-8B45-1AC458F00F44}" type="presOf" srcId="{0ED892BA-9224-8142-A97C-7A24E8B95AD0}" destId="{79111A77-987A-324C-A8D1-4D531EB98CDC}" srcOrd="0" destOrd="0" presId="urn:microsoft.com/office/officeart/2018/5/layout/CenteredIconLabelDescriptionList"/>
    <dgm:cxn modelId="{D6631E20-4B12-CC43-A8D8-F0BCD76D114C}" srcId="{F0D0BB63-F3DB-7A4D-9E9E-D3BCBD2E7EB3}" destId="{3C6C5A1C-93A4-3549-B8CF-9FC566B62A45}" srcOrd="1" destOrd="0" parTransId="{3B88DB9A-ABA5-524E-87F3-411F85026662}" sibTransId="{BE265643-69D7-3B41-9237-785F96AEE6ED}"/>
    <dgm:cxn modelId="{E9A04F24-BA13-5348-BF49-959A513A5B87}" type="presOf" srcId="{05BD0243-971A-9947-B3CA-42057B03764B}" destId="{F38C6D3B-D96D-B840-A0DE-7FA89E044671}" srcOrd="0" destOrd="0" presId="urn:microsoft.com/office/officeart/2018/5/layout/CenteredIconLabelDescriptionList"/>
    <dgm:cxn modelId="{36CCF32A-C122-D841-9B32-3D4FD77DA98F}" type="presOf" srcId="{D6CE35B3-9D5C-DE47-8D54-2F521FE5546F}" destId="{FE20762F-B544-2045-9DE8-70ED925D5622}" srcOrd="0" destOrd="0" presId="urn:microsoft.com/office/officeart/2018/5/layout/CenteredIconLabelDescriptionList"/>
    <dgm:cxn modelId="{4667E037-9FB9-A243-B05E-D8D552C2EB77}" type="presOf" srcId="{F6320C8B-DFF6-1447-86F5-07D2421CA150}" destId="{B20EE9B1-3C59-FF45-AB4E-A9609839C9D6}" srcOrd="0" destOrd="0" presId="urn:microsoft.com/office/officeart/2018/5/layout/CenteredIconLabelDescriptionList"/>
    <dgm:cxn modelId="{2912CC3C-3E64-074F-B26E-569AFD1C54CC}" type="presOf" srcId="{3C6C5A1C-93A4-3549-B8CF-9FC566B62A45}" destId="{57217C58-5FA9-0241-8DFD-99A334F9177F}" srcOrd="0" destOrd="0" presId="urn:microsoft.com/office/officeart/2018/5/layout/CenteredIconLabelDescriptionList"/>
    <dgm:cxn modelId="{7C85FD63-FFE5-484F-AE21-DB1AE22B235C}" srcId="{3C6C5A1C-93A4-3549-B8CF-9FC566B62A45}" destId="{D6CE35B3-9D5C-DE47-8D54-2F521FE5546F}" srcOrd="0" destOrd="0" parTransId="{7303A012-CF2A-8E4A-8586-E9A588EA6190}" sibTransId="{0B15F8A8-C05F-AE42-BDDC-BAA1406D9DB9}"/>
    <dgm:cxn modelId="{D0E3086E-1EB4-B54A-8729-127AFD99F3E9}" srcId="{F0D0BB63-F3DB-7A4D-9E9E-D3BCBD2E7EB3}" destId="{0ED892BA-9224-8142-A97C-7A24E8B95AD0}" srcOrd="4" destOrd="0" parTransId="{CC9AFF37-2C86-394F-A5CE-E04237133E11}" sibTransId="{1A89F653-26E0-BE45-B8E2-640FBDF3D4AE}"/>
    <dgm:cxn modelId="{EE11564F-EC8D-5740-8EC2-4E22A08D8E50}" srcId="{05BD0243-971A-9947-B3CA-42057B03764B}" destId="{B8215710-D99C-7848-BF88-E2EB84D5FD12}" srcOrd="0" destOrd="0" parTransId="{6AE6EF5C-F8EB-DA46-9248-3423E1A9F47A}" sibTransId="{AAB856DD-2744-5B4A-A2C0-D6E3A1083079}"/>
    <dgm:cxn modelId="{885FC356-FD7E-4C4B-AECE-3026EB7C0E8F}" srcId="{F0D0BB63-F3DB-7A4D-9E9E-D3BCBD2E7EB3}" destId="{05BD0243-971A-9947-B3CA-42057B03764B}" srcOrd="2" destOrd="0" parTransId="{C427086F-8FB3-2F4F-A83E-EB6954B3AA71}" sibTransId="{EEFF0596-306A-6D4C-AEC7-EB3F3CC98019}"/>
    <dgm:cxn modelId="{63D5C358-F98A-492D-8528-12CA4FC1EACC}" type="presOf" srcId="{F0D0BB63-F3DB-7A4D-9E9E-D3BCBD2E7EB3}" destId="{DA14DB78-971D-423E-ABBC-4C0BFC9A4508}" srcOrd="0" destOrd="0" presId="urn:microsoft.com/office/officeart/2018/5/layout/CenteredIconLabelDescriptionList"/>
    <dgm:cxn modelId="{4DABFB79-D565-0644-999F-8510F0537347}" srcId="{F0D0BB63-F3DB-7A4D-9E9E-D3BCBD2E7EB3}" destId="{F6320C8B-DFF6-1447-86F5-07D2421CA150}" srcOrd="3" destOrd="0" parTransId="{DEEE0361-EFE9-884F-A411-587B0D574D10}" sibTransId="{F54C1AB7-3E5E-B040-9419-3D59A76667C6}"/>
    <dgm:cxn modelId="{B5FA0881-89C8-F64A-880A-53441EEAF237}" type="presOf" srcId="{9846EF05-A6D1-BB49-B0D3-394B622A02ED}" destId="{12B5195D-A057-B141-94CC-3B4ADBA60379}" srcOrd="0" destOrd="0" presId="urn:microsoft.com/office/officeart/2018/5/layout/CenteredIconLabelDescriptionList"/>
    <dgm:cxn modelId="{7CE9588F-7502-674E-BD1D-552D9648DB96}" srcId="{F0D0BB63-F3DB-7A4D-9E9E-D3BCBD2E7EB3}" destId="{9846EF05-A6D1-BB49-B0D3-394B622A02ED}" srcOrd="0" destOrd="0" parTransId="{01EA5153-1118-9448-8136-1DA59FE9E8E6}" sibTransId="{43168661-776D-664F-A9D2-5FB5A9005679}"/>
    <dgm:cxn modelId="{8ADBC797-732C-5149-A402-F1FD468EB625}" type="presOf" srcId="{B8215710-D99C-7848-BF88-E2EB84D5FD12}" destId="{D5D1C44D-F74A-0744-9DB7-25D54037F643}" srcOrd="0" destOrd="0" presId="urn:microsoft.com/office/officeart/2018/5/layout/CenteredIconLabelDescriptionList"/>
    <dgm:cxn modelId="{B41CF69C-BF58-1047-A8A6-F2470B31ED51}" srcId="{0ED892BA-9224-8142-A97C-7A24E8B95AD0}" destId="{C2FF1CA0-E1E1-4749-B01E-222B9D70D480}" srcOrd="0" destOrd="0" parTransId="{AEA7E54F-2056-704F-AEC3-8E189B8FAA3C}" sibTransId="{49FFE6C4-3D90-D14C-8782-4381B2ADFFA9}"/>
    <dgm:cxn modelId="{477C30AD-B69F-404B-A3F9-D436E3EFA104}" srcId="{F6320C8B-DFF6-1447-86F5-07D2421CA150}" destId="{B32FE27F-B67A-7144-8592-9217EB191852}" srcOrd="0" destOrd="0" parTransId="{BE151DB5-6FD9-2943-A4CB-B29D62441974}" sibTransId="{B3D465C9-0FD1-9442-A794-15D1DF984134}"/>
    <dgm:cxn modelId="{61FABAAD-EC96-1545-A162-9005F3F7F841}" srcId="{9846EF05-A6D1-BB49-B0D3-394B622A02ED}" destId="{8CC3AD2E-282B-0849-90D2-A0BF02697374}" srcOrd="0" destOrd="0" parTransId="{E7A852F1-7BAF-C34E-B160-E2F49F57FD21}" sibTransId="{2FA51C51-7373-304D-9591-B95705EAB7D7}"/>
    <dgm:cxn modelId="{D36C20B1-8DCE-574C-B67B-4BE5BAACDD81}" type="presOf" srcId="{C2FF1CA0-E1E1-4749-B01E-222B9D70D480}" destId="{5597DE38-11EB-AE45-A0B7-FB9B5CB4C298}" srcOrd="0" destOrd="0" presId="urn:microsoft.com/office/officeart/2018/5/layout/CenteredIconLabelDescriptionList"/>
    <dgm:cxn modelId="{AC66C9C1-8AB6-DA4F-A0F3-3E46B9CD9111}" type="presOf" srcId="{8CC3AD2E-282B-0849-90D2-A0BF02697374}" destId="{3170C651-6C63-6E49-B099-1EEF3E662005}" srcOrd="0" destOrd="0" presId="urn:microsoft.com/office/officeart/2018/5/layout/CenteredIconLabelDescriptionList"/>
    <dgm:cxn modelId="{3D1A93C1-4B57-AF45-99AD-996098E62D3F}" type="presParOf" srcId="{DA14DB78-971D-423E-ABBC-4C0BFC9A4508}" destId="{39840AC3-DF70-4F48-A70F-6BF2683248A2}" srcOrd="0" destOrd="0" presId="urn:microsoft.com/office/officeart/2018/5/layout/CenteredIconLabelDescriptionList"/>
    <dgm:cxn modelId="{70790F05-A74A-7F40-92AE-8A8F5A39EEE5}" type="presParOf" srcId="{39840AC3-DF70-4F48-A70F-6BF2683248A2}" destId="{6E7B85C7-E93F-C345-9919-566F9EC4178E}" srcOrd="0" destOrd="0" presId="urn:microsoft.com/office/officeart/2018/5/layout/CenteredIconLabelDescriptionList"/>
    <dgm:cxn modelId="{256CBDC1-4021-FD43-95F0-7D875CB389D0}" type="presParOf" srcId="{39840AC3-DF70-4F48-A70F-6BF2683248A2}" destId="{BD79130D-2C83-FD4C-A30C-13F9C0AB0471}" srcOrd="1" destOrd="0" presId="urn:microsoft.com/office/officeart/2018/5/layout/CenteredIconLabelDescriptionList"/>
    <dgm:cxn modelId="{5600F426-325B-874E-911E-C8EEA7201AEF}" type="presParOf" srcId="{39840AC3-DF70-4F48-A70F-6BF2683248A2}" destId="{12B5195D-A057-B141-94CC-3B4ADBA60379}" srcOrd="2" destOrd="0" presId="urn:microsoft.com/office/officeart/2018/5/layout/CenteredIconLabelDescriptionList"/>
    <dgm:cxn modelId="{B06A9C7A-C157-F142-9F6C-B7A67B82DE2E}" type="presParOf" srcId="{39840AC3-DF70-4F48-A70F-6BF2683248A2}" destId="{D4CA9E59-9715-A146-A00D-F16DCB177C29}" srcOrd="3" destOrd="0" presId="urn:microsoft.com/office/officeart/2018/5/layout/CenteredIconLabelDescriptionList"/>
    <dgm:cxn modelId="{BAC8734A-2750-A040-8C3E-5A80388C0001}" type="presParOf" srcId="{39840AC3-DF70-4F48-A70F-6BF2683248A2}" destId="{3170C651-6C63-6E49-B099-1EEF3E662005}" srcOrd="4" destOrd="0" presId="urn:microsoft.com/office/officeart/2018/5/layout/CenteredIconLabelDescriptionList"/>
    <dgm:cxn modelId="{2C8C9786-2436-B141-AAF3-F6813673F2C4}" type="presParOf" srcId="{DA14DB78-971D-423E-ABBC-4C0BFC9A4508}" destId="{D1B411F0-EE37-2247-A484-38B2B5B78E1A}" srcOrd="1" destOrd="0" presId="urn:microsoft.com/office/officeart/2018/5/layout/CenteredIconLabelDescriptionList"/>
    <dgm:cxn modelId="{B3038E10-AB93-9D4C-8E43-766885F2CEA3}" type="presParOf" srcId="{DA14DB78-971D-423E-ABBC-4C0BFC9A4508}" destId="{37B63E5B-5FC5-F742-9845-78A65CBFEBE2}" srcOrd="2" destOrd="0" presId="urn:microsoft.com/office/officeart/2018/5/layout/CenteredIconLabelDescriptionList"/>
    <dgm:cxn modelId="{8C927297-2302-2B4E-8DBE-7FDBE50F1DD5}" type="presParOf" srcId="{37B63E5B-5FC5-F742-9845-78A65CBFEBE2}" destId="{4A3B12D0-31DF-7442-BB23-A3E72DEC1B9D}" srcOrd="0" destOrd="0" presId="urn:microsoft.com/office/officeart/2018/5/layout/CenteredIconLabelDescriptionList"/>
    <dgm:cxn modelId="{6A7A23EF-796C-A544-8FDF-529DD408103B}" type="presParOf" srcId="{37B63E5B-5FC5-F742-9845-78A65CBFEBE2}" destId="{79AF9CAD-1C90-4445-8506-B0E018EF407E}" srcOrd="1" destOrd="0" presId="urn:microsoft.com/office/officeart/2018/5/layout/CenteredIconLabelDescriptionList"/>
    <dgm:cxn modelId="{87FC21F3-A05C-804C-8BA9-20452DAA6AD2}" type="presParOf" srcId="{37B63E5B-5FC5-F742-9845-78A65CBFEBE2}" destId="{57217C58-5FA9-0241-8DFD-99A334F9177F}" srcOrd="2" destOrd="0" presId="urn:microsoft.com/office/officeart/2018/5/layout/CenteredIconLabelDescriptionList"/>
    <dgm:cxn modelId="{C2CB9936-0840-7A40-938C-73CC4657D417}" type="presParOf" srcId="{37B63E5B-5FC5-F742-9845-78A65CBFEBE2}" destId="{02B632B4-70DF-664C-86F1-401E6C9EF639}" srcOrd="3" destOrd="0" presId="urn:microsoft.com/office/officeart/2018/5/layout/CenteredIconLabelDescriptionList"/>
    <dgm:cxn modelId="{8118B7D8-1832-A140-857F-DA1E1B8FFED8}" type="presParOf" srcId="{37B63E5B-5FC5-F742-9845-78A65CBFEBE2}" destId="{FE20762F-B544-2045-9DE8-70ED925D5622}" srcOrd="4" destOrd="0" presId="urn:microsoft.com/office/officeart/2018/5/layout/CenteredIconLabelDescriptionList"/>
    <dgm:cxn modelId="{331E3FB1-FF44-BD4B-98C1-7C271F1C109C}" type="presParOf" srcId="{DA14DB78-971D-423E-ABBC-4C0BFC9A4508}" destId="{19C83279-D2EC-4844-B2CD-B55FE6774147}" srcOrd="3" destOrd="0" presId="urn:microsoft.com/office/officeart/2018/5/layout/CenteredIconLabelDescriptionList"/>
    <dgm:cxn modelId="{AC6E4ADE-7BC1-7844-8A27-C1F3A45B2EDA}" type="presParOf" srcId="{DA14DB78-971D-423E-ABBC-4C0BFC9A4508}" destId="{92FEF9C4-9A8B-334A-B123-E03AB6A136F9}" srcOrd="4" destOrd="0" presId="urn:microsoft.com/office/officeart/2018/5/layout/CenteredIconLabelDescriptionList"/>
    <dgm:cxn modelId="{7C38E276-E949-694A-8D08-8CD363D812D0}" type="presParOf" srcId="{92FEF9C4-9A8B-334A-B123-E03AB6A136F9}" destId="{3C516183-CE68-FA46-838C-62BB5B7DAB58}" srcOrd="0" destOrd="0" presId="urn:microsoft.com/office/officeart/2018/5/layout/CenteredIconLabelDescriptionList"/>
    <dgm:cxn modelId="{0838A016-48FC-364A-94DE-33C6DADE2C8D}" type="presParOf" srcId="{92FEF9C4-9A8B-334A-B123-E03AB6A136F9}" destId="{EF2B91F7-0680-0C4C-A1A8-D1D0690C0D85}" srcOrd="1" destOrd="0" presId="urn:microsoft.com/office/officeart/2018/5/layout/CenteredIconLabelDescriptionList"/>
    <dgm:cxn modelId="{2F305F19-5554-6246-AAF6-48397E399D9C}" type="presParOf" srcId="{92FEF9C4-9A8B-334A-B123-E03AB6A136F9}" destId="{F38C6D3B-D96D-B840-A0DE-7FA89E044671}" srcOrd="2" destOrd="0" presId="urn:microsoft.com/office/officeart/2018/5/layout/CenteredIconLabelDescriptionList"/>
    <dgm:cxn modelId="{63C7FBF3-E69B-5347-9421-6DC394178FC7}" type="presParOf" srcId="{92FEF9C4-9A8B-334A-B123-E03AB6A136F9}" destId="{BA9401B2-ED56-1D46-A837-91BBE2F661DF}" srcOrd="3" destOrd="0" presId="urn:microsoft.com/office/officeart/2018/5/layout/CenteredIconLabelDescriptionList"/>
    <dgm:cxn modelId="{7A549111-6DC9-DF43-A44E-E06EC21EB34E}" type="presParOf" srcId="{92FEF9C4-9A8B-334A-B123-E03AB6A136F9}" destId="{D5D1C44D-F74A-0744-9DB7-25D54037F643}" srcOrd="4" destOrd="0" presId="urn:microsoft.com/office/officeart/2018/5/layout/CenteredIconLabelDescriptionList"/>
    <dgm:cxn modelId="{A9C58644-9628-B449-8CA5-CBCCB941A2F2}" type="presParOf" srcId="{DA14DB78-971D-423E-ABBC-4C0BFC9A4508}" destId="{E14FAD91-5D74-B345-9FD2-368B5F2952F8}" srcOrd="5" destOrd="0" presId="urn:microsoft.com/office/officeart/2018/5/layout/CenteredIconLabelDescriptionList"/>
    <dgm:cxn modelId="{3867F8F6-B093-F840-85F4-C5C5A0747554}" type="presParOf" srcId="{DA14DB78-971D-423E-ABBC-4C0BFC9A4508}" destId="{0A6EE9FA-B68C-7646-9750-FD9ADA1C1E8A}" srcOrd="6" destOrd="0" presId="urn:microsoft.com/office/officeart/2018/5/layout/CenteredIconLabelDescriptionList"/>
    <dgm:cxn modelId="{A6029DDE-E9E7-F74F-AC1F-26F766AEA716}" type="presParOf" srcId="{0A6EE9FA-B68C-7646-9750-FD9ADA1C1E8A}" destId="{2D8CAC66-074E-9848-85EA-F513A5C2EEFF}" srcOrd="0" destOrd="0" presId="urn:microsoft.com/office/officeart/2018/5/layout/CenteredIconLabelDescriptionList"/>
    <dgm:cxn modelId="{65E582D0-E6A1-3543-8D40-3A340C87F114}" type="presParOf" srcId="{0A6EE9FA-B68C-7646-9750-FD9ADA1C1E8A}" destId="{21E4A7EF-38B7-3A49-A0C1-AFA53D01F2C1}" srcOrd="1" destOrd="0" presId="urn:microsoft.com/office/officeart/2018/5/layout/CenteredIconLabelDescriptionList"/>
    <dgm:cxn modelId="{D989F3A8-DE2B-3844-B952-A584D404797C}" type="presParOf" srcId="{0A6EE9FA-B68C-7646-9750-FD9ADA1C1E8A}" destId="{B20EE9B1-3C59-FF45-AB4E-A9609839C9D6}" srcOrd="2" destOrd="0" presId="urn:microsoft.com/office/officeart/2018/5/layout/CenteredIconLabelDescriptionList"/>
    <dgm:cxn modelId="{1173C631-5CC5-A54D-B818-09306567F7B8}" type="presParOf" srcId="{0A6EE9FA-B68C-7646-9750-FD9ADA1C1E8A}" destId="{6372AAA6-AB15-1644-811F-80A8AF6E1C9C}" srcOrd="3" destOrd="0" presId="urn:microsoft.com/office/officeart/2018/5/layout/CenteredIconLabelDescriptionList"/>
    <dgm:cxn modelId="{CE98249F-9B48-1746-B6CE-BC4DA87E8BCE}" type="presParOf" srcId="{0A6EE9FA-B68C-7646-9750-FD9ADA1C1E8A}" destId="{2B0F5C0D-1B9E-0A47-9FB2-AB4D77D8DBF4}" srcOrd="4" destOrd="0" presId="urn:microsoft.com/office/officeart/2018/5/layout/CenteredIconLabelDescriptionList"/>
    <dgm:cxn modelId="{013971F3-1AE5-5548-82FC-494E6A8866C4}" type="presParOf" srcId="{DA14DB78-971D-423E-ABBC-4C0BFC9A4508}" destId="{C8EE45DB-056B-6D47-815D-0B842E6D7BF6}" srcOrd="7" destOrd="0" presId="urn:microsoft.com/office/officeart/2018/5/layout/CenteredIconLabelDescriptionList"/>
    <dgm:cxn modelId="{86778CCE-7E82-9E4F-96DF-A4E786B83AB4}" type="presParOf" srcId="{DA14DB78-971D-423E-ABBC-4C0BFC9A4508}" destId="{393E48DB-0C6D-5443-9C12-A7D9536427C1}" srcOrd="8" destOrd="0" presId="urn:microsoft.com/office/officeart/2018/5/layout/CenteredIconLabelDescriptionList"/>
    <dgm:cxn modelId="{FB75E76B-3D80-104B-8FE0-90E7CD4ACCEF}" type="presParOf" srcId="{393E48DB-0C6D-5443-9C12-A7D9536427C1}" destId="{AF63B80C-8C66-8645-A084-462F4107F8BA}" srcOrd="0" destOrd="0" presId="urn:microsoft.com/office/officeart/2018/5/layout/CenteredIconLabelDescriptionList"/>
    <dgm:cxn modelId="{485EEA25-CBFF-2F4D-936E-D3CE72A2CD0A}" type="presParOf" srcId="{393E48DB-0C6D-5443-9C12-A7D9536427C1}" destId="{741401EC-4E50-674D-9F06-097DB3AAC48E}" srcOrd="1" destOrd="0" presId="urn:microsoft.com/office/officeart/2018/5/layout/CenteredIconLabelDescriptionList"/>
    <dgm:cxn modelId="{E1BDB37D-8ED6-7F48-9304-79617598D89B}" type="presParOf" srcId="{393E48DB-0C6D-5443-9C12-A7D9536427C1}" destId="{79111A77-987A-324C-A8D1-4D531EB98CDC}" srcOrd="2" destOrd="0" presId="urn:microsoft.com/office/officeart/2018/5/layout/CenteredIconLabelDescriptionList"/>
    <dgm:cxn modelId="{23A233C1-8B34-4047-B54C-223407F9AB57}" type="presParOf" srcId="{393E48DB-0C6D-5443-9C12-A7D9536427C1}" destId="{DB678AFF-85BC-1A46-A822-E2AB34D41C83}" srcOrd="3" destOrd="0" presId="urn:microsoft.com/office/officeart/2018/5/layout/CenteredIconLabelDescriptionList"/>
    <dgm:cxn modelId="{8EE94A85-0544-C743-A2CE-8F873CDDAFDF}" type="presParOf" srcId="{393E48DB-0C6D-5443-9C12-A7D9536427C1}" destId="{5597DE38-11EB-AE45-A0B7-FB9B5CB4C298}" srcOrd="4" destOrd="0" presId="urn:microsoft.com/office/officeart/2018/5/layout/Centered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6AE34-E008-4F80-8A65-14EF5C53FC2D}">
      <dsp:nvSpPr>
        <dsp:cNvPr id="0" name=""/>
        <dsp:cNvSpPr/>
      </dsp:nvSpPr>
      <dsp:spPr>
        <a:xfrm flipH="1">
          <a:off x="1387053" y="586405"/>
          <a:ext cx="744" cy="73"/>
        </a:xfrm>
        <a:prstGeom prst="rect">
          <a:avLst/>
        </a:prstGeom>
        <a:blipFill dpi="0" rotWithShape="1">
          <a:blip xmlns:r="http://schemas.openxmlformats.org/officeDocument/2006/relationships" r:embed="rId1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5AACB-4941-4375-9257-3C08269C058D}">
      <dsp:nvSpPr>
        <dsp:cNvPr id="0" name=""/>
        <dsp:cNvSpPr/>
      </dsp:nvSpPr>
      <dsp:spPr>
        <a:xfrm>
          <a:off x="23219" y="789702"/>
          <a:ext cx="2728413" cy="1025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Data Duplication and Inconsistency</a:t>
          </a:r>
          <a:endParaRPr lang="en-US" sz="2400" kern="1200" dirty="0">
            <a:latin typeface="+mn-lt"/>
          </a:endParaRPr>
        </a:p>
      </dsp:txBody>
      <dsp:txXfrm>
        <a:off x="23219" y="789702"/>
        <a:ext cx="2728413" cy="1025631"/>
      </dsp:txXfrm>
    </dsp:sp>
    <dsp:sp modelId="{FE93FDF4-82DA-45FA-9A1E-C612D39D3B6A}">
      <dsp:nvSpPr>
        <dsp:cNvPr id="0" name=""/>
        <dsp:cNvSpPr/>
      </dsp:nvSpPr>
      <dsp:spPr>
        <a:xfrm>
          <a:off x="23219" y="1907159"/>
          <a:ext cx="2728413" cy="323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Maintaining separate pipelines can lead to duplication of data between batch and stream sources, increasing storage costs and potentially resulting in inconsistencies between historical and real-time views.</a:t>
          </a:r>
        </a:p>
      </dsp:txBody>
      <dsp:txXfrm>
        <a:off x="23219" y="1907159"/>
        <a:ext cx="2728413" cy="3235664"/>
      </dsp:txXfrm>
    </dsp:sp>
    <dsp:sp modelId="{D8CE0C4F-BAFB-2649-A0CD-F86120106B80}">
      <dsp:nvSpPr>
        <dsp:cNvPr id="0" name=""/>
        <dsp:cNvSpPr/>
      </dsp:nvSpPr>
      <dsp:spPr>
        <a:xfrm>
          <a:off x="4589266" y="590972"/>
          <a:ext cx="8090" cy="1715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CE84E-55A4-EA49-8E21-E3DA8EE72472}">
      <dsp:nvSpPr>
        <dsp:cNvPr id="0" name=""/>
        <dsp:cNvSpPr/>
      </dsp:nvSpPr>
      <dsp:spPr>
        <a:xfrm>
          <a:off x="3229104" y="790112"/>
          <a:ext cx="2728413" cy="1025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Complexity and Operational Overhead</a:t>
          </a:r>
        </a:p>
      </dsp:txBody>
      <dsp:txXfrm>
        <a:off x="3229104" y="790112"/>
        <a:ext cx="2728413" cy="1025631"/>
      </dsp:txXfrm>
    </dsp:sp>
    <dsp:sp modelId="{5D2478D6-0098-8F41-A7DC-2DE20610C884}">
      <dsp:nvSpPr>
        <dsp:cNvPr id="0" name=""/>
        <dsp:cNvSpPr/>
      </dsp:nvSpPr>
      <dsp:spPr>
        <a:xfrm>
          <a:off x="3229104" y="1907570"/>
          <a:ext cx="2728413" cy="323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Managing two separate pipelines requires significant time and resources for development, maintenance, and troubleshooting. Switching context between platforms and ensuring data synchronization adds further complexity.</a:t>
          </a:r>
        </a:p>
      </dsp:txBody>
      <dsp:txXfrm>
        <a:off x="3229104" y="1907570"/>
        <a:ext cx="2728413" cy="3235664"/>
      </dsp:txXfrm>
    </dsp:sp>
    <dsp:sp modelId="{AC3FDFCD-B41A-224E-9D9A-5D3BF7073B2A}">
      <dsp:nvSpPr>
        <dsp:cNvPr id="0" name=""/>
        <dsp:cNvSpPr/>
      </dsp:nvSpPr>
      <dsp:spPr>
        <a:xfrm>
          <a:off x="7795151" y="590972"/>
          <a:ext cx="8090" cy="1715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103C0-236E-CC42-87E0-4E05FC35505F}">
      <dsp:nvSpPr>
        <dsp:cNvPr id="0" name=""/>
        <dsp:cNvSpPr/>
      </dsp:nvSpPr>
      <dsp:spPr>
        <a:xfrm>
          <a:off x="6434990" y="790112"/>
          <a:ext cx="2728413" cy="1025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Limited Real-Time Visibility into Historical Data</a:t>
          </a:r>
        </a:p>
      </dsp:txBody>
      <dsp:txXfrm>
        <a:off x="6434990" y="790112"/>
        <a:ext cx="2728413" cy="1025631"/>
      </dsp:txXfrm>
    </dsp:sp>
    <dsp:sp modelId="{C684E840-1C44-784A-9D21-78F38A2A37E7}">
      <dsp:nvSpPr>
        <dsp:cNvPr id="0" name=""/>
        <dsp:cNvSpPr/>
      </dsp:nvSpPr>
      <dsp:spPr>
        <a:xfrm>
          <a:off x="6434990" y="1907570"/>
          <a:ext cx="2728413" cy="323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Real-time pipelines might lack complete context of historical data, hindering comprehensive analysis and understanding of trends or anomalies. Integrating insights from both batch and stream processing for a holistic view can be challenging.</a:t>
          </a:r>
        </a:p>
      </dsp:txBody>
      <dsp:txXfrm>
        <a:off x="6434990" y="1907570"/>
        <a:ext cx="2728413" cy="3235664"/>
      </dsp:txXfrm>
    </dsp:sp>
    <dsp:sp modelId="{EA18A2C1-3D48-F340-82C2-D58A9B10AFE1}">
      <dsp:nvSpPr>
        <dsp:cNvPr id="0" name=""/>
        <dsp:cNvSpPr/>
      </dsp:nvSpPr>
      <dsp:spPr>
        <a:xfrm>
          <a:off x="11001037" y="590972"/>
          <a:ext cx="8090" cy="1715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673C7-1B98-804A-8B06-7B3067204DC7}">
      <dsp:nvSpPr>
        <dsp:cNvPr id="0" name=""/>
        <dsp:cNvSpPr/>
      </dsp:nvSpPr>
      <dsp:spPr>
        <a:xfrm>
          <a:off x="9640875" y="790112"/>
          <a:ext cx="2728413" cy="1025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Latency Concerns and Processing Delays</a:t>
          </a:r>
        </a:p>
      </dsp:txBody>
      <dsp:txXfrm>
        <a:off x="9640875" y="790112"/>
        <a:ext cx="2728413" cy="1025631"/>
      </dsp:txXfrm>
    </dsp:sp>
    <dsp:sp modelId="{367151D7-3A59-884D-8CEE-3CB640FFA137}">
      <dsp:nvSpPr>
        <dsp:cNvPr id="0" name=""/>
        <dsp:cNvSpPr/>
      </dsp:nvSpPr>
      <dsp:spPr>
        <a:xfrm>
          <a:off x="9640875" y="1907570"/>
          <a:ext cx="2728413" cy="323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Depending on the chosen technologies, batch processing may introduce delays in generating insights from historical data, while stream processing might struggle with low-latency requirements for certain real-time use cases. Finding the right balance can be tricky.</a:t>
          </a:r>
        </a:p>
      </dsp:txBody>
      <dsp:txXfrm>
        <a:off x="9640875" y="1907570"/>
        <a:ext cx="2728413" cy="3235664"/>
      </dsp:txXfrm>
    </dsp:sp>
    <dsp:sp modelId="{B9CC058F-B5FD-5C4B-ABA0-5502D37BE686}">
      <dsp:nvSpPr>
        <dsp:cNvPr id="0" name=""/>
        <dsp:cNvSpPr/>
      </dsp:nvSpPr>
      <dsp:spPr>
        <a:xfrm>
          <a:off x="14206922" y="590972"/>
          <a:ext cx="8090" cy="1715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E3167-B875-D54B-959B-042A0FFB0ACF}">
      <dsp:nvSpPr>
        <dsp:cNvPr id="0" name=""/>
        <dsp:cNvSpPr/>
      </dsp:nvSpPr>
      <dsp:spPr>
        <a:xfrm>
          <a:off x="12846761" y="790112"/>
          <a:ext cx="2728413" cy="1025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Limited Scalability and Adaptability</a:t>
          </a:r>
        </a:p>
      </dsp:txBody>
      <dsp:txXfrm>
        <a:off x="12846761" y="790112"/>
        <a:ext cx="2728413" cy="1025631"/>
      </dsp:txXfrm>
    </dsp:sp>
    <dsp:sp modelId="{6525908A-C34B-3245-951A-BE98309B3350}">
      <dsp:nvSpPr>
        <dsp:cNvPr id="0" name=""/>
        <dsp:cNvSpPr/>
      </dsp:nvSpPr>
      <dsp:spPr>
        <a:xfrm>
          <a:off x="12846761" y="1907570"/>
          <a:ext cx="2728413" cy="323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Scaling separate pipelines independently can be inefficient and costly. The architecture might not readily adapt to changes in data volume, velocity, or processing demands, hindering future flexibility.</a:t>
          </a:r>
        </a:p>
      </dsp:txBody>
      <dsp:txXfrm>
        <a:off x="12846761" y="1907570"/>
        <a:ext cx="2728413" cy="3235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B85C7-E93F-C345-9919-566F9EC4178E}">
      <dsp:nvSpPr>
        <dsp:cNvPr id="0" name=""/>
        <dsp:cNvSpPr/>
      </dsp:nvSpPr>
      <dsp:spPr>
        <a:xfrm>
          <a:off x="896478" y="44110"/>
          <a:ext cx="956812" cy="956812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5195D-A057-B141-94CC-3B4ADBA60379}">
      <dsp:nvSpPr>
        <dsp:cNvPr id="0" name=""/>
        <dsp:cNvSpPr/>
      </dsp:nvSpPr>
      <dsp:spPr>
        <a:xfrm>
          <a:off x="8009" y="1243708"/>
          <a:ext cx="2733750" cy="1406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Unified View of Real-Time and Historical Data:</a:t>
          </a:r>
        </a:p>
      </dsp:txBody>
      <dsp:txXfrm>
        <a:off x="8009" y="1243708"/>
        <a:ext cx="2733750" cy="1406564"/>
      </dsp:txXfrm>
    </dsp:sp>
    <dsp:sp modelId="{3170C651-6C63-6E49-B099-1EEF3E662005}">
      <dsp:nvSpPr>
        <dsp:cNvPr id="0" name=""/>
        <dsp:cNvSpPr/>
      </dsp:nvSpPr>
      <dsp:spPr>
        <a:xfrm>
          <a:off x="8009" y="2763196"/>
          <a:ext cx="2733750" cy="2926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Eliminates duplicated data and inconsistencies, providing a holistic view of data across real-time and historical perspectives for comprehensive analysis and informed decision-making.</a:t>
          </a:r>
        </a:p>
      </dsp:txBody>
      <dsp:txXfrm>
        <a:off x="8009" y="2763196"/>
        <a:ext cx="2733750" cy="2926900"/>
      </dsp:txXfrm>
    </dsp:sp>
    <dsp:sp modelId="{4A3B12D0-31DF-7442-BB23-A3E72DEC1B9D}">
      <dsp:nvSpPr>
        <dsp:cNvPr id="0" name=""/>
        <dsp:cNvSpPr/>
      </dsp:nvSpPr>
      <dsp:spPr>
        <a:xfrm>
          <a:off x="4108634" y="44110"/>
          <a:ext cx="956812" cy="956812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17C58-5FA9-0241-8DFD-99A334F9177F}">
      <dsp:nvSpPr>
        <dsp:cNvPr id="0" name=""/>
        <dsp:cNvSpPr/>
      </dsp:nvSpPr>
      <dsp:spPr>
        <a:xfrm>
          <a:off x="3220165" y="1243708"/>
          <a:ext cx="2733750" cy="1406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Reduced Complexity and Operational Overhead:</a:t>
          </a:r>
        </a:p>
      </dsp:txBody>
      <dsp:txXfrm>
        <a:off x="3220165" y="1243708"/>
        <a:ext cx="2733750" cy="1406564"/>
      </dsp:txXfrm>
    </dsp:sp>
    <dsp:sp modelId="{FE20762F-B544-2045-9DE8-70ED925D5622}">
      <dsp:nvSpPr>
        <dsp:cNvPr id="0" name=""/>
        <dsp:cNvSpPr/>
      </dsp:nvSpPr>
      <dsp:spPr>
        <a:xfrm>
          <a:off x="3220165" y="2763196"/>
          <a:ext cx="2733750" cy="2926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Combines workflows into a single architecture, streamlining development, maintenance, and troubleshooting compared to managing separate batch and streaming pipelines.</a:t>
          </a:r>
        </a:p>
      </dsp:txBody>
      <dsp:txXfrm>
        <a:off x="3220165" y="2763196"/>
        <a:ext cx="2733750" cy="2926900"/>
      </dsp:txXfrm>
    </dsp:sp>
    <dsp:sp modelId="{3C516183-CE68-FA46-838C-62BB5B7DAB58}">
      <dsp:nvSpPr>
        <dsp:cNvPr id="0" name=""/>
        <dsp:cNvSpPr/>
      </dsp:nvSpPr>
      <dsp:spPr>
        <a:xfrm>
          <a:off x="7320790" y="44110"/>
          <a:ext cx="956812" cy="956812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C6D3B-D96D-B840-A0DE-7FA89E044671}">
      <dsp:nvSpPr>
        <dsp:cNvPr id="0" name=""/>
        <dsp:cNvSpPr/>
      </dsp:nvSpPr>
      <dsp:spPr>
        <a:xfrm>
          <a:off x="6432322" y="1243708"/>
          <a:ext cx="2733750" cy="1406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Enhanced Real-Time Insights with Historical Context:</a:t>
          </a:r>
        </a:p>
      </dsp:txBody>
      <dsp:txXfrm>
        <a:off x="6432322" y="1243708"/>
        <a:ext cx="2733750" cy="1406564"/>
      </dsp:txXfrm>
    </dsp:sp>
    <dsp:sp modelId="{D5D1C44D-F74A-0744-9DB7-25D54037F643}">
      <dsp:nvSpPr>
        <dsp:cNvPr id="0" name=""/>
        <dsp:cNvSpPr/>
      </dsp:nvSpPr>
      <dsp:spPr>
        <a:xfrm>
          <a:off x="6432322" y="2763196"/>
          <a:ext cx="2733750" cy="2926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Real-time processing benefits from the context of historical data, enabling deeper understanding of trends, anomalies, and their potential ramifications.</a:t>
          </a:r>
        </a:p>
      </dsp:txBody>
      <dsp:txXfrm>
        <a:off x="6432322" y="2763196"/>
        <a:ext cx="2733750" cy="2926900"/>
      </dsp:txXfrm>
    </dsp:sp>
    <dsp:sp modelId="{2D8CAC66-074E-9848-85EA-F513A5C2EEFF}">
      <dsp:nvSpPr>
        <dsp:cNvPr id="0" name=""/>
        <dsp:cNvSpPr/>
      </dsp:nvSpPr>
      <dsp:spPr>
        <a:xfrm>
          <a:off x="10532947" y="44110"/>
          <a:ext cx="956812" cy="956812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EE9B1-3C59-FF45-AB4E-A9609839C9D6}">
      <dsp:nvSpPr>
        <dsp:cNvPr id="0" name=""/>
        <dsp:cNvSpPr/>
      </dsp:nvSpPr>
      <dsp:spPr>
        <a:xfrm>
          <a:off x="9644478" y="1243708"/>
          <a:ext cx="2733750" cy="1406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Improved Scalability and Adaptability:</a:t>
          </a:r>
        </a:p>
      </dsp:txBody>
      <dsp:txXfrm>
        <a:off x="9644478" y="1243708"/>
        <a:ext cx="2733750" cy="1406564"/>
      </dsp:txXfrm>
    </dsp:sp>
    <dsp:sp modelId="{2B0F5C0D-1B9E-0A47-9FB2-AB4D77D8DBF4}">
      <dsp:nvSpPr>
        <dsp:cNvPr id="0" name=""/>
        <dsp:cNvSpPr/>
      </dsp:nvSpPr>
      <dsp:spPr>
        <a:xfrm>
          <a:off x="9644478" y="2763196"/>
          <a:ext cx="2733750" cy="2926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Each layer in the Lambda architecture scales independently, making the overall system more resilient and flexible to accommodate growing data volumes and evolving processing demands.</a:t>
          </a:r>
        </a:p>
      </dsp:txBody>
      <dsp:txXfrm>
        <a:off x="9644478" y="2763196"/>
        <a:ext cx="2733750" cy="2926900"/>
      </dsp:txXfrm>
    </dsp:sp>
    <dsp:sp modelId="{AF63B80C-8C66-8645-A084-462F4107F8BA}">
      <dsp:nvSpPr>
        <dsp:cNvPr id="0" name=""/>
        <dsp:cNvSpPr/>
      </dsp:nvSpPr>
      <dsp:spPr>
        <a:xfrm>
          <a:off x="13745103" y="44110"/>
          <a:ext cx="956812" cy="956812"/>
        </a:xfrm>
        <a:prstGeom prst="rect">
          <a:avLst/>
        </a:prstGeom>
        <a:noFill/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11A77-987A-324C-A8D1-4D531EB98CDC}">
      <dsp:nvSpPr>
        <dsp:cNvPr id="0" name=""/>
        <dsp:cNvSpPr/>
      </dsp:nvSpPr>
      <dsp:spPr>
        <a:xfrm>
          <a:off x="12856634" y="1243708"/>
          <a:ext cx="2733750" cy="1406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Technology Flexibility and Innovation:</a:t>
          </a:r>
        </a:p>
      </dsp:txBody>
      <dsp:txXfrm>
        <a:off x="12856634" y="1243708"/>
        <a:ext cx="2733750" cy="1406564"/>
      </dsp:txXfrm>
    </dsp:sp>
    <dsp:sp modelId="{5597DE38-11EB-AE45-A0B7-FB9B5CB4C298}">
      <dsp:nvSpPr>
        <dsp:cNvPr id="0" name=""/>
        <dsp:cNvSpPr/>
      </dsp:nvSpPr>
      <dsp:spPr>
        <a:xfrm>
          <a:off x="12856634" y="2763196"/>
          <a:ext cx="2733750" cy="2926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Offers freedom to choose the most suitable technologies for each layer, allowing organizations to leverage specific processing strengths and foster technological innovation within the architecture.</a:t>
          </a:r>
        </a:p>
      </dsp:txBody>
      <dsp:txXfrm>
        <a:off x="12856634" y="2763196"/>
        <a:ext cx="2733750" cy="2926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1/23/2024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1/23/2024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71500"/>
            <a:ext cx="16459200" cy="1485900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75EC7-9AFA-49AB-8FDF-A0609DDEEC05}" type="datetimeFigureOut">
              <a:rPr lang="en-US" smtClean="0"/>
              <a:t>1/23/2024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03BC-FD28-4C71-9C87-2981572925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  <p:sldLayoutId id="2147483690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5842" y="2690736"/>
            <a:ext cx="12996316" cy="2587300"/>
          </a:xfrm>
        </p:spPr>
        <p:txBody>
          <a:bodyPr/>
          <a:lstStyle/>
          <a:p>
            <a:r>
              <a:rPr lang="en-US" dirty="0"/>
              <a:t>Module 6: Lesson 5</a:t>
            </a:r>
            <a:br>
              <a:rPr lang="en-US" dirty="0"/>
            </a:br>
            <a:r>
              <a:rPr lang="en-US" dirty="0"/>
              <a:t>Lambda Architecture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111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235ED-82AC-6E78-0E06-B713AE39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Big Healthcare Data Processing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12D5-B7CB-7B08-76DB-09FF089F6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0" y="2050699"/>
            <a:ext cx="8256465" cy="6888006"/>
          </a:xfrm>
        </p:spPr>
        <p:txBody>
          <a:bodyPr/>
          <a:lstStyle/>
          <a:p>
            <a:pPr marL="0" indent="0">
              <a:buNone/>
            </a:pPr>
            <a:r>
              <a:rPr lang="en-US" sz="3000" dirty="0"/>
              <a:t>Imagine a health insurance company that receive huge volumes of bills from doctors, hospitals, and other healthcare providers, requesting payment for services rendered to its customers</a:t>
            </a:r>
          </a:p>
          <a:p>
            <a:pPr marL="0" indent="0">
              <a:buNone/>
            </a:pPr>
            <a:r>
              <a:rPr lang="en-US" sz="3000" dirty="0"/>
              <a:t>Along with these bills the company receives other healthcare information about its customers including clinical data, lab test results, electronic health records, and so on</a:t>
            </a:r>
          </a:p>
          <a:p>
            <a:pPr marL="0" indent="0">
              <a:buNone/>
            </a:pPr>
            <a:r>
              <a:rPr lang="en-US" sz="3000" dirty="0"/>
              <a:t>Some of this data is provided as streams of healthcare records generated in real-time, while other data is provided as files on a periodic basis</a:t>
            </a:r>
          </a:p>
        </p:txBody>
      </p:sp>
      <p:pic>
        <p:nvPicPr>
          <p:cNvPr id="1030" name="Picture 6" descr="5 Things You Can't Do in Healthcare Anymore | Healthcare IT News">
            <a:extLst>
              <a:ext uri="{FF2B5EF4-FFF2-40B4-BE49-F238E27FC236}">
                <a16:creationId xmlns:a16="http://schemas.microsoft.com/office/drawing/2014/main" id="{39EBF718-BE24-89C8-47FC-13B3073CB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581" y="3341076"/>
            <a:ext cx="7899398" cy="411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94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5D58-07FD-9C68-3F0C-14F27CABB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Big Healthcare Data Processing Scenario </a:t>
            </a:r>
            <a:br>
              <a:rPr lang="en-US" dirty="0"/>
            </a:br>
            <a:r>
              <a:rPr lang="en-US" sz="4800" dirty="0"/>
              <a:t>Retrospective and Predictive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FA206-5CC4-4717-74A1-8B40C345B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One thing you might want to do is accumulate these billing and healthcare records over time</a:t>
            </a:r>
          </a:p>
          <a:p>
            <a:r>
              <a:rPr lang="en-US" sz="3600" dirty="0"/>
              <a:t>This would allow you to apply analytics techniques to search for trends in healthcare billing and customer health overall</a:t>
            </a:r>
          </a:p>
          <a:p>
            <a:r>
              <a:rPr lang="en-US" sz="3600" dirty="0"/>
              <a:t>Is the cost of some procedures increasing or decreasing over time? </a:t>
            </a:r>
          </a:p>
          <a:p>
            <a:r>
              <a:rPr lang="en-US" sz="3600" dirty="0"/>
              <a:t>Do treatment costs differ based on location, or based on treating provider? </a:t>
            </a:r>
          </a:p>
          <a:p>
            <a:r>
              <a:rPr lang="en-US" sz="3600" dirty="0"/>
              <a:t>Can we predict which customers are at risk for a future health event such as a stroke or heart attack?</a:t>
            </a:r>
          </a:p>
        </p:txBody>
      </p:sp>
    </p:spTree>
    <p:extLst>
      <p:ext uri="{BB962C8B-B14F-4D97-AF65-F5344CB8AC3E}">
        <p14:creationId xmlns:p14="http://schemas.microsoft.com/office/powerpoint/2010/main" val="347625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FA66-ED59-EA9D-F409-7CD609DFD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Big Healthcare Data Processing Scenario </a:t>
            </a:r>
            <a:br>
              <a:rPr lang="en-US" dirty="0"/>
            </a:br>
            <a:r>
              <a:rPr lang="en-US" sz="4900" dirty="0"/>
              <a:t>Retrospective and Predictive Analysis (Batch) Pipeline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273101-40B9-58A5-3585-6EBC28440DEA}"/>
              </a:ext>
            </a:extLst>
          </p:cNvPr>
          <p:cNvSpPr/>
          <p:nvPr/>
        </p:nvSpPr>
        <p:spPr>
          <a:xfrm>
            <a:off x="8910828" y="30861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Batch Data Processing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A874E-6F97-D095-CEF9-36A241256C62}"/>
              </a:ext>
            </a:extLst>
          </p:cNvPr>
          <p:cNvSpPr/>
          <p:nvPr/>
        </p:nvSpPr>
        <p:spPr>
          <a:xfrm>
            <a:off x="11539728" y="30861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Batch Data Views for Analysis</a:t>
            </a:r>
            <a:endParaRPr lang="en-US" sz="1650" dirty="0">
              <a:solidFill>
                <a:srgbClr val="FFFF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8E766F-B64B-7AB0-A349-5CDD2F716ACA}"/>
              </a:ext>
            </a:extLst>
          </p:cNvPr>
          <p:cNvSpPr/>
          <p:nvPr/>
        </p:nvSpPr>
        <p:spPr>
          <a:xfrm>
            <a:off x="6254496" y="30861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Historical</a:t>
            </a:r>
          </a:p>
          <a:p>
            <a:pPr algn="ctr"/>
            <a:r>
              <a:rPr lang="en-US" sz="2400" dirty="0">
                <a:solidFill>
                  <a:srgbClr val="FFFF00"/>
                </a:solidFill>
              </a:rPr>
              <a:t>Healthcare Data</a:t>
            </a:r>
          </a:p>
          <a:p>
            <a:pPr algn="ctr"/>
            <a:r>
              <a:rPr lang="en-US" sz="2000" dirty="0">
                <a:solidFill>
                  <a:srgbClr val="FFFF00"/>
                </a:solidFill>
              </a:rPr>
              <a:t>(Immutable)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F6257095-19C6-7B50-8DAA-37D9EC0260AD}"/>
              </a:ext>
            </a:extLst>
          </p:cNvPr>
          <p:cNvSpPr/>
          <p:nvPr/>
        </p:nvSpPr>
        <p:spPr>
          <a:xfrm>
            <a:off x="10968228" y="3886200"/>
            <a:ext cx="571500" cy="457200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BC62528C-BBD4-EFB8-463B-7AF40F226F66}"/>
              </a:ext>
            </a:extLst>
          </p:cNvPr>
          <p:cNvSpPr/>
          <p:nvPr/>
        </p:nvSpPr>
        <p:spPr>
          <a:xfrm>
            <a:off x="8311896" y="3886200"/>
            <a:ext cx="3429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08138D5B-54C2-493F-DF73-A07942BFDF4E}"/>
              </a:ext>
            </a:extLst>
          </p:cNvPr>
          <p:cNvSpPr/>
          <p:nvPr/>
        </p:nvSpPr>
        <p:spPr>
          <a:xfrm>
            <a:off x="5911596" y="3886200"/>
            <a:ext cx="3429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22BFA-1E66-B8BD-22AB-26DF6B11D2DB}"/>
              </a:ext>
            </a:extLst>
          </p:cNvPr>
          <p:cNvSpPr txBox="1"/>
          <p:nvPr/>
        </p:nvSpPr>
        <p:spPr>
          <a:xfrm>
            <a:off x="6496538" y="2116604"/>
            <a:ext cx="1435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Updated </a:t>
            </a:r>
          </a:p>
          <a:p>
            <a:r>
              <a:rPr lang="en-US" sz="2400" i="1" dirty="0"/>
              <a:t>monthly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87ACCD-3ADE-8759-2FD5-083094F19700}"/>
              </a:ext>
            </a:extLst>
          </p:cNvPr>
          <p:cNvSpPr txBox="1"/>
          <p:nvPr/>
        </p:nvSpPr>
        <p:spPr>
          <a:xfrm>
            <a:off x="11635740" y="2113462"/>
            <a:ext cx="17924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One month </a:t>
            </a:r>
          </a:p>
          <a:p>
            <a:r>
              <a:rPr lang="en-US" sz="2400" i="1" dirty="0"/>
              <a:t>out of date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4124FC-8807-67FD-FAEE-9F930CFD0FAF}"/>
              </a:ext>
            </a:extLst>
          </p:cNvPr>
          <p:cNvSpPr/>
          <p:nvPr/>
        </p:nvSpPr>
        <p:spPr>
          <a:xfrm>
            <a:off x="3625596" y="3086100"/>
            <a:ext cx="2057400" cy="5257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Healthcare Data Sources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0DE38137-50D4-634B-6D6A-F5ED6E5125E0}"/>
              </a:ext>
            </a:extLst>
          </p:cNvPr>
          <p:cNvSpPr/>
          <p:nvPr/>
        </p:nvSpPr>
        <p:spPr>
          <a:xfrm>
            <a:off x="5682996" y="3886200"/>
            <a:ext cx="571500" cy="457200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BDF2DCA1-8003-D9FF-D4FE-CC13A01FE757}"/>
              </a:ext>
            </a:extLst>
          </p:cNvPr>
          <p:cNvSpPr/>
          <p:nvPr/>
        </p:nvSpPr>
        <p:spPr>
          <a:xfrm>
            <a:off x="8353044" y="3886200"/>
            <a:ext cx="571500" cy="457200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pic>
        <p:nvPicPr>
          <p:cNvPr id="14" name="Picture 2" descr="Programmer Icons - Free SVG &amp; PNG Programmer Images - Noun Project">
            <a:extLst>
              <a:ext uri="{FF2B5EF4-FFF2-40B4-BE49-F238E27FC236}">
                <a16:creationId xmlns:a16="http://schemas.microsoft.com/office/drawing/2014/main" id="{7602C7A6-5D1F-3089-BE98-9FB95B482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0823" y="4447887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5ABF7AAD-2F6C-D126-C5D9-4E29DBCF339D}"/>
              </a:ext>
            </a:extLst>
          </p:cNvPr>
          <p:cNvSpPr/>
          <p:nvPr/>
        </p:nvSpPr>
        <p:spPr>
          <a:xfrm rot="2129945">
            <a:off x="13602805" y="4438401"/>
            <a:ext cx="17373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63BB55-3317-2B8C-A75A-E7EB72C2FB6F}"/>
              </a:ext>
            </a:extLst>
          </p:cNvPr>
          <p:cNvSpPr txBox="1"/>
          <p:nvPr/>
        </p:nvSpPr>
        <p:spPr>
          <a:xfrm>
            <a:off x="15317298" y="5654988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Analyst</a:t>
            </a:r>
          </a:p>
        </p:txBody>
      </p:sp>
    </p:spTree>
    <p:extLst>
      <p:ext uri="{BB962C8B-B14F-4D97-AF65-F5344CB8AC3E}">
        <p14:creationId xmlns:p14="http://schemas.microsoft.com/office/powerpoint/2010/main" val="312974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Big Healthcare Data Processing Scenario </a:t>
            </a:r>
            <a:br>
              <a:rPr lang="en-US" dirty="0"/>
            </a:br>
            <a:r>
              <a:rPr lang="en-US" sz="4800" dirty="0"/>
              <a:t>Fraud and Error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Some bills or healthcare data are invalid due to entry errors</a:t>
            </a:r>
          </a:p>
          <a:p>
            <a:pPr lvl="1"/>
            <a:r>
              <a:rPr lang="en-US" dirty="0"/>
              <a:t>Bill total charge does not equal sum of bill line charges</a:t>
            </a:r>
          </a:p>
          <a:p>
            <a:pPr lvl="1"/>
            <a:r>
              <a:rPr lang="en-US" dirty="0"/>
              <a:t>A required lab test result is empty or out of range</a:t>
            </a:r>
          </a:p>
          <a:p>
            <a:r>
              <a:rPr lang="en-US" dirty="0"/>
              <a:t>Some bills are fraudulent attempts to receive payment for services</a:t>
            </a:r>
          </a:p>
          <a:p>
            <a:pPr lvl="1"/>
            <a:r>
              <a:rPr lang="en-US" dirty="0"/>
              <a:t>Bill are evaluated for internal consistency</a:t>
            </a:r>
          </a:p>
          <a:p>
            <a:pPr lvl="1"/>
            <a:r>
              <a:rPr lang="en-US" dirty="0"/>
              <a:t>Bills are checked against historical patterns of fraud </a:t>
            </a:r>
          </a:p>
          <a:p>
            <a:pPr lvl="1"/>
            <a:r>
              <a:rPr lang="en-US" dirty="0"/>
              <a:t>We want to pay bills promptly but not pay bad actors</a:t>
            </a:r>
          </a:p>
          <a:p>
            <a:r>
              <a:rPr lang="en-US" dirty="0"/>
              <a:t>Fraud and error detection is a near real-time operation over individual bills or lab tests</a:t>
            </a:r>
          </a:p>
          <a:p>
            <a:pPr lvl="1"/>
            <a:r>
              <a:rPr lang="en-US" dirty="0"/>
              <a:t>Requires evaluating millions of arriving data items per day</a:t>
            </a:r>
          </a:p>
          <a:p>
            <a:pPr lvl="1"/>
            <a:r>
              <a:rPr lang="en-US" dirty="0"/>
              <a:t>Sometimes also using summarized historical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42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18F8-1815-BCF9-6970-F0BFD3B0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Big Healthcare Data Processing </a:t>
            </a:r>
            <a:br>
              <a:rPr lang="en-US" dirty="0"/>
            </a:br>
            <a:r>
              <a:rPr lang="en-US" sz="4900" dirty="0"/>
              <a:t>Fraud and Error Detection (Streaming) Pipeline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5215CB-56A5-EAC1-502D-0B02EDE7BB47}"/>
              </a:ext>
            </a:extLst>
          </p:cNvPr>
          <p:cNvSpPr/>
          <p:nvPr/>
        </p:nvSpPr>
        <p:spPr>
          <a:xfrm>
            <a:off x="9075420" y="64008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Stream Data 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676F61-B71C-ED1C-3FE3-ACDE73EB0A7A}"/>
              </a:ext>
            </a:extLst>
          </p:cNvPr>
          <p:cNvSpPr/>
          <p:nvPr/>
        </p:nvSpPr>
        <p:spPr>
          <a:xfrm>
            <a:off x="11704320" y="64008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Real-time Data Views for Analysis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031B1F-EDDF-3C06-D136-FFD83C5CED8C}"/>
              </a:ext>
            </a:extLst>
          </p:cNvPr>
          <p:cNvSpPr/>
          <p:nvPr/>
        </p:nvSpPr>
        <p:spPr>
          <a:xfrm>
            <a:off x="6419088" y="64008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Ingest Healthcare Data Streams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14111230-69FC-8711-9CC8-36A8C608711B}"/>
              </a:ext>
            </a:extLst>
          </p:cNvPr>
          <p:cNvSpPr/>
          <p:nvPr/>
        </p:nvSpPr>
        <p:spPr>
          <a:xfrm>
            <a:off x="11132820" y="7200900"/>
            <a:ext cx="571500" cy="457200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E108D920-8048-A4A6-3628-65D5C7FF04DD}"/>
              </a:ext>
            </a:extLst>
          </p:cNvPr>
          <p:cNvSpPr/>
          <p:nvPr/>
        </p:nvSpPr>
        <p:spPr>
          <a:xfrm>
            <a:off x="8476488" y="7200900"/>
            <a:ext cx="3429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EAAED-D1B2-26FC-21C2-97013CA47EB3}"/>
              </a:ext>
            </a:extLst>
          </p:cNvPr>
          <p:cNvSpPr txBox="1"/>
          <p:nvPr/>
        </p:nvSpPr>
        <p:spPr>
          <a:xfrm>
            <a:off x="11905489" y="8343901"/>
            <a:ext cx="1576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Most recent</a:t>
            </a:r>
          </a:p>
          <a:p>
            <a:r>
              <a:rPr lang="en-US" sz="2000" i="1" dirty="0"/>
              <a:t>day’s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20D40-4DE0-0A4B-5058-1A0041BC7FE5}"/>
              </a:ext>
            </a:extLst>
          </p:cNvPr>
          <p:cNvSpPr txBox="1"/>
          <p:nvPr/>
        </p:nvSpPr>
        <p:spPr>
          <a:xfrm>
            <a:off x="9276588" y="8343901"/>
            <a:ext cx="1709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Update every</a:t>
            </a:r>
          </a:p>
          <a:p>
            <a:r>
              <a:rPr lang="en-US" sz="2000" i="1" dirty="0"/>
              <a:t>5 minutes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E246EC-DC3A-B606-26F3-6C544FE82020}"/>
              </a:ext>
            </a:extLst>
          </p:cNvPr>
          <p:cNvSpPr/>
          <p:nvPr/>
        </p:nvSpPr>
        <p:spPr>
          <a:xfrm>
            <a:off x="3790188" y="3086100"/>
            <a:ext cx="2057400" cy="5257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Healthcare Data Sources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0F4F48CB-1C04-67D2-7022-49AF9A6E99FE}"/>
              </a:ext>
            </a:extLst>
          </p:cNvPr>
          <p:cNvSpPr/>
          <p:nvPr/>
        </p:nvSpPr>
        <p:spPr>
          <a:xfrm>
            <a:off x="5847588" y="7185105"/>
            <a:ext cx="571500" cy="457200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327FF379-9415-8B77-BA27-E6771CEBCFE4}"/>
              </a:ext>
            </a:extLst>
          </p:cNvPr>
          <p:cNvSpPr/>
          <p:nvPr/>
        </p:nvSpPr>
        <p:spPr>
          <a:xfrm>
            <a:off x="8494776" y="7200900"/>
            <a:ext cx="571500" cy="457200"/>
          </a:xfrm>
          <a:prstGeom prst="homePlat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pic>
        <p:nvPicPr>
          <p:cNvPr id="8" name="Picture 2" descr="Programmer Icons - Free SVG &amp; PNG Programmer Images - Noun Project">
            <a:extLst>
              <a:ext uri="{FF2B5EF4-FFF2-40B4-BE49-F238E27FC236}">
                <a16:creationId xmlns:a16="http://schemas.microsoft.com/office/drawing/2014/main" id="{FC500621-FCFE-E93D-CA50-D1D41CAA5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0823" y="4447887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8C3C5D29-375B-D0F8-F6FD-BC842A049874}"/>
              </a:ext>
            </a:extLst>
          </p:cNvPr>
          <p:cNvSpPr/>
          <p:nvPr/>
        </p:nvSpPr>
        <p:spPr>
          <a:xfrm rot="18297941">
            <a:off x="13771914" y="6164159"/>
            <a:ext cx="17373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944B54-EC0D-9188-4D31-4AA63D9C75CF}"/>
              </a:ext>
            </a:extLst>
          </p:cNvPr>
          <p:cNvSpPr txBox="1"/>
          <p:nvPr/>
        </p:nvSpPr>
        <p:spPr>
          <a:xfrm>
            <a:off x="15317298" y="5654988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Analyst</a:t>
            </a:r>
          </a:p>
        </p:txBody>
      </p:sp>
    </p:spTree>
    <p:extLst>
      <p:ext uri="{BB962C8B-B14F-4D97-AF65-F5344CB8AC3E}">
        <p14:creationId xmlns:p14="http://schemas.microsoft.com/office/powerpoint/2010/main" val="1835674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5664-0D67-95B0-79C7-11B7CA4B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Big Healthcare Data Processing Scenario</a:t>
            </a:r>
            <a:br>
              <a:rPr lang="en-US" dirty="0"/>
            </a:br>
            <a:r>
              <a:rPr lang="en-US" sz="4900" dirty="0"/>
              <a:t>Dual Pipeline Challenges</a:t>
            </a:r>
            <a:endParaRPr lang="en-US" dirty="0"/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618E5F47-9438-9B29-F507-C8B333BB8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4292863"/>
              </p:ext>
            </p:extLst>
          </p:nvPr>
        </p:nvGraphicFramePr>
        <p:xfrm>
          <a:off x="1341629" y="3044492"/>
          <a:ext cx="15598394" cy="5734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CFA30D9-BF2F-1268-D9D1-371A908FC7E2}"/>
              </a:ext>
            </a:extLst>
          </p:cNvPr>
          <p:cNvSpPr/>
          <p:nvPr/>
        </p:nvSpPr>
        <p:spPr>
          <a:xfrm>
            <a:off x="1232453" y="2446020"/>
            <a:ext cx="137160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These challenges highlight the potential limitations of separate batch and stream processing pipelines</a:t>
            </a:r>
            <a:endParaRPr lang="en-US" sz="28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F9606-CBA3-90C3-D644-7437780B11AD}"/>
              </a:ext>
            </a:extLst>
          </p:cNvPr>
          <p:cNvSpPr/>
          <p:nvPr/>
        </p:nvSpPr>
        <p:spPr>
          <a:xfrm>
            <a:off x="-1" y="2446020"/>
            <a:ext cx="1232454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730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5664-0D67-95B0-79C7-11B7CA4B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Big Healthcare Data Processing Scenario</a:t>
            </a:r>
            <a:br>
              <a:rPr lang="en-US" dirty="0"/>
            </a:br>
            <a:r>
              <a:rPr lang="en-US" sz="4900" dirty="0"/>
              <a:t>Unified Pipeline Desirables</a:t>
            </a:r>
            <a:endParaRPr lang="en-US" dirty="0"/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618E5F47-9438-9B29-F507-C8B333BB8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519667"/>
              </p:ext>
            </p:extLst>
          </p:nvPr>
        </p:nvGraphicFramePr>
        <p:xfrm>
          <a:off x="1555289" y="2953052"/>
          <a:ext cx="15598394" cy="5734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D7D1406-B83A-0225-284B-C97BE42DC737}"/>
              </a:ext>
            </a:extLst>
          </p:cNvPr>
          <p:cNvSpPr/>
          <p:nvPr/>
        </p:nvSpPr>
        <p:spPr>
          <a:xfrm>
            <a:off x="1232453" y="2446020"/>
            <a:ext cx="13716000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We need to consider adopting architectural patterns which aim to integrate these pipelines for a more efficient and holistic data processing experience</a:t>
            </a:r>
            <a:endParaRPr lang="en-US" sz="2800" dirty="0">
              <a:solidFill>
                <a:schemeClr val="bg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8F95BF-322E-80E0-5BB4-218B259AE21E}"/>
              </a:ext>
            </a:extLst>
          </p:cNvPr>
          <p:cNvSpPr/>
          <p:nvPr/>
        </p:nvSpPr>
        <p:spPr>
          <a:xfrm>
            <a:off x="-1" y="2446020"/>
            <a:ext cx="1232454" cy="914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125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E00B-641B-6E6B-DF50-29E50600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The Lambda Architecture Pattern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 Unified Pipeline for Big Data Processing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FF05-3BBD-F34F-04D1-0F17BA2EDFFC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dirty="0">
                <a:solidFill>
                  <a:schemeClr val="bg2"/>
                </a:solidFill>
              </a:rPr>
              <a:t>A design pattern that combines both batch and real-time processing to provide a comprehensive solution for handling large-scale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2B4A0B-34BE-006A-A84F-4AA061148832}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33C3C-FE5F-D799-26F8-AC9542C0BC57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Defines three layers: a batch layer for comprehensive historical views, a speed layer for immediate insights from real-time streams, and a serving layer that unifies results for comprehensive queries and analysis.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98D00-DDE7-96D8-4921-41A7CA89F9CE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dirty="0">
                <a:solidFill>
                  <a:schemeClr val="bg2"/>
                </a:solidFill>
              </a:rPr>
              <a:t>Ensures scalability, and flexibility in data processing, enabling organizations to make informed decisions based on both current events and long-term trends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604D68-98C7-6DC2-8065-9C36C8AB21D5}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B1649-319F-98C0-F2B6-79C8A807F30F}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83773-4F5B-1A6C-5A1A-3698F342B125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Assumes use of an immutable data repository that serves as a centralized system of record (such as HDFS or a cloud object store)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EC223-7DB2-156E-0272-24609E5AD474}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1605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457F-A923-6CAD-51B3-DA0D097C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Lambda Architecture</a:t>
            </a:r>
            <a:br>
              <a:rPr lang="en-US" dirty="0"/>
            </a:br>
            <a:r>
              <a:rPr lang="en-US" sz="4900" dirty="0"/>
              <a:t>Batch Layer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27D81B-C7E6-C123-D8B5-40EBC622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826" y="2556562"/>
            <a:ext cx="11439144" cy="579686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BC82885-93B9-BD0A-A071-B47C19F6920D}"/>
              </a:ext>
            </a:extLst>
          </p:cNvPr>
          <p:cNvGrpSpPr/>
          <p:nvPr/>
        </p:nvGrpSpPr>
        <p:grpSpPr>
          <a:xfrm>
            <a:off x="-1" y="2324100"/>
            <a:ext cx="5943601" cy="6032470"/>
            <a:chOff x="-1" y="2324100"/>
            <a:chExt cx="8890001" cy="60324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B21DA1-0941-F024-BA99-478EAF1BCFE5}"/>
                </a:ext>
              </a:extLst>
            </p:cNvPr>
            <p:cNvSpPr/>
            <p:nvPr/>
          </p:nvSpPr>
          <p:spPr>
            <a:xfrm>
              <a:off x="732952" y="2324100"/>
              <a:ext cx="8157048" cy="13144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r>
                <a:rPr lang="en-US" altLang="en-US" sz="2400" dirty="0">
                  <a:solidFill>
                    <a:schemeClr val="bg2"/>
                  </a:solidFill>
                </a:rPr>
                <a:t>Stores an immutable constantly growing dataset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527279-4875-E330-6190-2350C26E8B57}"/>
                </a:ext>
              </a:extLst>
            </p:cNvPr>
            <p:cNvSpPr/>
            <p:nvPr/>
          </p:nvSpPr>
          <p:spPr>
            <a:xfrm>
              <a:off x="-1" y="2324100"/>
              <a:ext cx="732953" cy="13144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endParaRPr lang="en-US" sz="2400" dirty="0">
                <a:solidFill>
                  <a:schemeClr val="bg2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B14944-BD5D-86FE-5A2F-CD913B5D7E1B}"/>
                </a:ext>
              </a:extLst>
            </p:cNvPr>
            <p:cNvSpPr/>
            <p:nvPr/>
          </p:nvSpPr>
          <p:spPr>
            <a:xfrm>
              <a:off x="732952" y="3895725"/>
              <a:ext cx="8157047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r>
                <a:rPr lang="en-US" altLang="en-US" sz="2400" dirty="0">
                  <a:solidFill>
                    <a:schemeClr val="bg2"/>
                  </a:solidFill>
                </a:rPr>
                <a:t>Computes arbitrary views from this dataset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33A94A-E08D-AFE8-BF08-BFAEA84D2FD6}"/>
                </a:ext>
              </a:extLst>
            </p:cNvPr>
            <p:cNvSpPr/>
            <p:nvPr/>
          </p:nvSpPr>
          <p:spPr>
            <a:xfrm>
              <a:off x="732952" y="5467350"/>
              <a:ext cx="8157048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dirty="0">
                  <a:solidFill>
                    <a:schemeClr val="bg2"/>
                  </a:solidFill>
                </a:rPr>
                <a:t>View creation can take hours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46B493-99A3-9EA1-CAC0-F7139BEB9B0F}"/>
                </a:ext>
              </a:extLst>
            </p:cNvPr>
            <p:cNvSpPr/>
            <p:nvPr/>
          </p:nvSpPr>
          <p:spPr>
            <a:xfrm>
              <a:off x="-1" y="3895725"/>
              <a:ext cx="732953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endParaRPr lang="en-US" sz="2400" dirty="0">
                <a:solidFill>
                  <a:schemeClr val="bg2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FD8D10-4910-33BE-5C52-07D840B0F2CD}"/>
                </a:ext>
              </a:extLst>
            </p:cNvPr>
            <p:cNvSpPr/>
            <p:nvPr/>
          </p:nvSpPr>
          <p:spPr>
            <a:xfrm>
              <a:off x="0" y="5467350"/>
              <a:ext cx="734134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400" dirty="0">
                <a:solidFill>
                  <a:schemeClr val="bg2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0145F3-935F-0E6F-C660-FFEA5C0322B1}"/>
                </a:ext>
              </a:extLst>
            </p:cNvPr>
            <p:cNvSpPr/>
            <p:nvPr/>
          </p:nvSpPr>
          <p:spPr>
            <a:xfrm>
              <a:off x="732952" y="7038975"/>
              <a:ext cx="8157048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</a:rPr>
                <a:t>Views can always be recreated from master data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F0239A-2B1B-F053-1644-9B9AC64FF9D5}"/>
                </a:ext>
              </a:extLst>
            </p:cNvPr>
            <p:cNvSpPr/>
            <p:nvPr/>
          </p:nvSpPr>
          <p:spPr>
            <a:xfrm>
              <a:off x="-1" y="7042120"/>
              <a:ext cx="734134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4191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457F-A923-6CAD-51B3-DA0D097C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49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Lambda Architecture</a:t>
            </a:r>
            <a:br>
              <a:rPr kumimoji="0" lang="en-US" sz="49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lang="en-US" sz="4400" dirty="0">
                <a:solidFill>
                  <a:srgbClr val="BD061C"/>
                </a:solidFill>
                <a:latin typeface="Arial"/>
              </a:rPr>
              <a:t>Speed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 Layer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27D81B-C7E6-C123-D8B5-40EBC622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826" y="2556562"/>
            <a:ext cx="11439144" cy="579686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BC82885-93B9-BD0A-A071-B47C19F6920D}"/>
              </a:ext>
            </a:extLst>
          </p:cNvPr>
          <p:cNvGrpSpPr/>
          <p:nvPr/>
        </p:nvGrpSpPr>
        <p:grpSpPr>
          <a:xfrm>
            <a:off x="-1" y="2324100"/>
            <a:ext cx="5943601" cy="6032470"/>
            <a:chOff x="-1" y="2324100"/>
            <a:chExt cx="8890001" cy="60324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B21DA1-0941-F024-BA99-478EAF1BCFE5}"/>
                </a:ext>
              </a:extLst>
            </p:cNvPr>
            <p:cNvSpPr/>
            <p:nvPr/>
          </p:nvSpPr>
          <p:spPr>
            <a:xfrm>
              <a:off x="732952" y="2324100"/>
              <a:ext cx="8157048" cy="13144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r>
                <a:rPr lang="en-US" altLang="en-US" sz="2400" dirty="0">
                  <a:solidFill>
                    <a:schemeClr val="bg2"/>
                  </a:solidFill>
                </a:rPr>
                <a:t>Computes views from the constant stream of data it receives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527279-4875-E330-6190-2350C26E8B57}"/>
                </a:ext>
              </a:extLst>
            </p:cNvPr>
            <p:cNvSpPr/>
            <p:nvPr/>
          </p:nvSpPr>
          <p:spPr>
            <a:xfrm>
              <a:off x="-1" y="2324100"/>
              <a:ext cx="732953" cy="13144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endParaRPr lang="en-US" sz="2400" dirty="0">
                <a:solidFill>
                  <a:schemeClr val="bg2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B14944-BD5D-86FE-5A2F-CD913B5D7E1B}"/>
                </a:ext>
              </a:extLst>
            </p:cNvPr>
            <p:cNvSpPr/>
            <p:nvPr/>
          </p:nvSpPr>
          <p:spPr>
            <a:xfrm>
              <a:off x="732952" y="3895725"/>
              <a:ext cx="8157047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r>
                <a:rPr lang="en-US" altLang="en-US" sz="2400" dirty="0">
                  <a:solidFill>
                    <a:schemeClr val="bg2"/>
                  </a:solidFill>
                </a:rPr>
                <a:t>Needed to compensate for the high latency of the batch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33A94A-E08D-AFE8-BF08-BFAEA84D2FD6}"/>
                </a:ext>
              </a:extLst>
            </p:cNvPr>
            <p:cNvSpPr/>
            <p:nvPr/>
          </p:nvSpPr>
          <p:spPr>
            <a:xfrm>
              <a:off x="732952" y="5467350"/>
              <a:ext cx="8157048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dirty="0">
                  <a:solidFill>
                    <a:schemeClr val="bg2"/>
                  </a:solidFill>
                </a:rPr>
                <a:t>Incremental model and views are transient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46B493-99A3-9EA1-CAC0-F7139BEB9B0F}"/>
                </a:ext>
              </a:extLst>
            </p:cNvPr>
            <p:cNvSpPr/>
            <p:nvPr/>
          </p:nvSpPr>
          <p:spPr>
            <a:xfrm>
              <a:off x="-1" y="3895725"/>
              <a:ext cx="732953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endParaRPr lang="en-US" sz="2400" dirty="0">
                <a:solidFill>
                  <a:schemeClr val="bg2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FD8D10-4910-33BE-5C52-07D840B0F2CD}"/>
                </a:ext>
              </a:extLst>
            </p:cNvPr>
            <p:cNvSpPr/>
            <p:nvPr/>
          </p:nvSpPr>
          <p:spPr>
            <a:xfrm>
              <a:off x="0" y="5467350"/>
              <a:ext cx="734134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400" dirty="0">
                <a:solidFill>
                  <a:schemeClr val="bg2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0145F3-935F-0E6F-C660-FFEA5C0322B1}"/>
                </a:ext>
              </a:extLst>
            </p:cNvPr>
            <p:cNvSpPr/>
            <p:nvPr/>
          </p:nvSpPr>
          <p:spPr>
            <a:xfrm>
              <a:off x="732952" y="7038975"/>
              <a:ext cx="8157048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dirty="0">
                  <a:solidFill>
                    <a:schemeClr val="bg2"/>
                  </a:solidFill>
                </a:rPr>
                <a:t>Views can be updated in near real-time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F0239A-2B1B-F053-1644-9B9AC64FF9D5}"/>
                </a:ext>
              </a:extLst>
            </p:cNvPr>
            <p:cNvSpPr/>
            <p:nvPr/>
          </p:nvSpPr>
          <p:spPr>
            <a:xfrm>
              <a:off x="-1" y="7042120"/>
              <a:ext cx="734134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71959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457F-A923-6CAD-51B3-DA0D097C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49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Lambda Architecture</a:t>
            </a:r>
            <a:br>
              <a:rPr kumimoji="0" lang="en-US" sz="49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Serving Layer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27D81B-C7E6-C123-D8B5-40EBC622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826" y="2556562"/>
            <a:ext cx="11439144" cy="579686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BC82885-93B9-BD0A-A071-B47C19F6920D}"/>
              </a:ext>
            </a:extLst>
          </p:cNvPr>
          <p:cNvGrpSpPr/>
          <p:nvPr/>
        </p:nvGrpSpPr>
        <p:grpSpPr>
          <a:xfrm>
            <a:off x="-1" y="2324100"/>
            <a:ext cx="5943601" cy="4457700"/>
            <a:chOff x="-1" y="2324100"/>
            <a:chExt cx="8890001" cy="44577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B21DA1-0941-F024-BA99-478EAF1BCFE5}"/>
                </a:ext>
              </a:extLst>
            </p:cNvPr>
            <p:cNvSpPr/>
            <p:nvPr/>
          </p:nvSpPr>
          <p:spPr>
            <a:xfrm>
              <a:off x="732952" y="2324100"/>
              <a:ext cx="8157048" cy="13144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r>
                <a:rPr lang="en-US" altLang="en-US" sz="2400" dirty="0">
                  <a:solidFill>
                    <a:schemeClr val="bg2"/>
                  </a:solidFill>
                </a:rPr>
                <a:t>Responsible for exposing batch views so that they can be queried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527279-4875-E330-6190-2350C26E8B57}"/>
                </a:ext>
              </a:extLst>
            </p:cNvPr>
            <p:cNvSpPr/>
            <p:nvPr/>
          </p:nvSpPr>
          <p:spPr>
            <a:xfrm>
              <a:off x="-1" y="2324100"/>
              <a:ext cx="732953" cy="131445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endParaRPr lang="en-US" sz="2400" dirty="0">
                <a:solidFill>
                  <a:schemeClr val="bg2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B14944-BD5D-86FE-5A2F-CD913B5D7E1B}"/>
                </a:ext>
              </a:extLst>
            </p:cNvPr>
            <p:cNvSpPr/>
            <p:nvPr/>
          </p:nvSpPr>
          <p:spPr>
            <a:xfrm>
              <a:off x="732952" y="3895725"/>
              <a:ext cx="8157047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r>
                <a:rPr lang="en-US" altLang="en-US" sz="2400" dirty="0">
                  <a:solidFill>
                    <a:schemeClr val="bg2"/>
                  </a:solidFill>
                </a:rPr>
                <a:t>Exposes incremental real-time views for operational support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33A94A-E08D-AFE8-BF08-BFAEA84D2FD6}"/>
                </a:ext>
              </a:extLst>
            </p:cNvPr>
            <p:cNvSpPr/>
            <p:nvPr/>
          </p:nvSpPr>
          <p:spPr>
            <a:xfrm>
              <a:off x="732952" y="5467350"/>
              <a:ext cx="8157048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dirty="0">
                  <a:solidFill>
                    <a:schemeClr val="bg2"/>
                  </a:solidFill>
                </a:rPr>
                <a:t>Merges batch and the real-time views into a consistent result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46B493-99A3-9EA1-CAC0-F7139BEB9B0F}"/>
                </a:ext>
              </a:extLst>
            </p:cNvPr>
            <p:cNvSpPr/>
            <p:nvPr/>
          </p:nvSpPr>
          <p:spPr>
            <a:xfrm>
              <a:off x="-1" y="3895725"/>
              <a:ext cx="732953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None/>
              </a:pPr>
              <a:endParaRPr lang="en-US" sz="2400" dirty="0">
                <a:solidFill>
                  <a:schemeClr val="bg2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FD8D10-4910-33BE-5C52-07D840B0F2CD}"/>
                </a:ext>
              </a:extLst>
            </p:cNvPr>
            <p:cNvSpPr/>
            <p:nvPr/>
          </p:nvSpPr>
          <p:spPr>
            <a:xfrm>
              <a:off x="0" y="5467350"/>
              <a:ext cx="734134" cy="1314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40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0878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F9A8587-CBE7-7702-8254-08BD04C25025}"/>
              </a:ext>
            </a:extLst>
          </p:cNvPr>
          <p:cNvSpPr/>
          <p:nvPr/>
        </p:nvSpPr>
        <p:spPr>
          <a:xfrm>
            <a:off x="5136820" y="5854297"/>
            <a:ext cx="5231423" cy="28464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Speed Layer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C63164-3A62-99A3-AC80-00E74F2F8B6A}"/>
              </a:ext>
            </a:extLst>
          </p:cNvPr>
          <p:cNvSpPr/>
          <p:nvPr/>
        </p:nvSpPr>
        <p:spPr>
          <a:xfrm>
            <a:off x="10596842" y="2509170"/>
            <a:ext cx="5231423" cy="61776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Serving Layer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36645-38F5-9B09-29D6-B464A829C819}"/>
              </a:ext>
            </a:extLst>
          </p:cNvPr>
          <p:cNvSpPr/>
          <p:nvPr/>
        </p:nvSpPr>
        <p:spPr>
          <a:xfrm>
            <a:off x="5143499" y="2516840"/>
            <a:ext cx="5231423" cy="284646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Batch Layer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Unified Healthcare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142732" y="30861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Batch Data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71632" y="30861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Batch Data Views for Analysis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446252" y="3086100"/>
            <a:ext cx="2057400" cy="5257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Merged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0861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Historical</a:t>
            </a:r>
          </a:p>
          <a:p>
            <a:pPr algn="ctr"/>
            <a:r>
              <a:rPr lang="en-US" sz="2400" dirty="0">
                <a:solidFill>
                  <a:srgbClr val="FFFF00"/>
                </a:solidFill>
              </a:rPr>
              <a:t>Healthcare Data</a:t>
            </a:r>
          </a:p>
          <a:p>
            <a:pPr algn="ctr"/>
            <a:r>
              <a:rPr lang="en-US" sz="2000" dirty="0">
                <a:solidFill>
                  <a:srgbClr val="FFFF00"/>
                </a:solidFill>
              </a:rPr>
              <a:t>(Immutable)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10200132" y="3886200"/>
            <a:ext cx="5715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42732" y="64008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Stream Data 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71632" y="64008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Real-time Data Views for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6400800"/>
            <a:ext cx="2057400" cy="194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Ingest Healthcare Data Stream</a:t>
            </a:r>
          </a:p>
        </p:txBody>
      </p:sp>
      <p:sp>
        <p:nvSpPr>
          <p:cNvPr id="26" name="Pentagon 25"/>
          <p:cNvSpPr/>
          <p:nvPr/>
        </p:nvSpPr>
        <p:spPr>
          <a:xfrm>
            <a:off x="10200132" y="7200900"/>
            <a:ext cx="5715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57500" y="3086100"/>
            <a:ext cx="2057400" cy="5257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Healthcare Data Sources</a:t>
            </a:r>
          </a:p>
        </p:txBody>
      </p:sp>
      <p:sp>
        <p:nvSpPr>
          <p:cNvPr id="30" name="Pentagon 29"/>
          <p:cNvSpPr/>
          <p:nvPr/>
        </p:nvSpPr>
        <p:spPr>
          <a:xfrm>
            <a:off x="5143500" y="3886200"/>
            <a:ext cx="3429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cxnSp>
        <p:nvCxnSpPr>
          <p:cNvPr id="8" name="Elbow Connector 7"/>
          <p:cNvCxnSpPr>
            <a:stCxn id="4" idx="2"/>
            <a:endCxn id="22" idx="0"/>
          </p:cNvCxnSpPr>
          <p:nvPr/>
        </p:nvCxnSpPr>
        <p:spPr>
          <a:xfrm rot="5400000">
            <a:off x="9800082" y="4400550"/>
            <a:ext cx="1371600" cy="2628900"/>
          </a:xfrm>
          <a:prstGeom prst="bentConnector3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entagon 28"/>
          <p:cNvSpPr/>
          <p:nvPr/>
        </p:nvSpPr>
        <p:spPr>
          <a:xfrm>
            <a:off x="4914900" y="3886200"/>
            <a:ext cx="5715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33" name="Pentagon 32"/>
          <p:cNvSpPr/>
          <p:nvPr/>
        </p:nvSpPr>
        <p:spPr>
          <a:xfrm>
            <a:off x="4944618" y="7143750"/>
            <a:ext cx="5715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B634AE7F-0FA5-6AAB-A49A-FE16B83047C3}"/>
              </a:ext>
            </a:extLst>
          </p:cNvPr>
          <p:cNvSpPr/>
          <p:nvPr/>
        </p:nvSpPr>
        <p:spPr>
          <a:xfrm>
            <a:off x="7557516" y="3829050"/>
            <a:ext cx="5715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D3084115-3A0B-6886-2B3D-4CA7201583BC}"/>
              </a:ext>
            </a:extLst>
          </p:cNvPr>
          <p:cNvSpPr/>
          <p:nvPr/>
        </p:nvSpPr>
        <p:spPr>
          <a:xfrm>
            <a:off x="7571232" y="7143750"/>
            <a:ext cx="5715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744D8DFB-4532-9B62-FC08-49C62B76B7D1}"/>
              </a:ext>
            </a:extLst>
          </p:cNvPr>
          <p:cNvSpPr/>
          <p:nvPr/>
        </p:nvSpPr>
        <p:spPr>
          <a:xfrm>
            <a:off x="12842748" y="3829050"/>
            <a:ext cx="5715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15C92BC7-4F3F-E29C-7ADB-8AB1CBE52EE9}"/>
              </a:ext>
            </a:extLst>
          </p:cNvPr>
          <p:cNvSpPr/>
          <p:nvPr/>
        </p:nvSpPr>
        <p:spPr>
          <a:xfrm>
            <a:off x="12829032" y="7175754"/>
            <a:ext cx="571500" cy="4572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942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Unified Healthcare Data Pipeline</a:t>
            </a:r>
            <a:br>
              <a:rPr lang="en-US" dirty="0"/>
            </a:br>
            <a:r>
              <a:rPr lang="en-US" sz="4800" dirty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400300"/>
            <a:ext cx="16084552" cy="7429500"/>
          </a:xfrm>
        </p:spPr>
        <p:txBody>
          <a:bodyPr>
            <a:normAutofit/>
          </a:bodyPr>
          <a:lstStyle/>
          <a:p>
            <a:r>
              <a:rPr lang="en-US" sz="3600" dirty="0"/>
              <a:t>Higher value, immediate responses to events as they happen</a:t>
            </a:r>
          </a:p>
          <a:p>
            <a:r>
              <a:rPr lang="en-US" sz="3600" dirty="0"/>
              <a:t>Competitive advantage delivering new insights about historical data</a:t>
            </a:r>
          </a:p>
          <a:p>
            <a:r>
              <a:rPr lang="en-US" sz="3600" dirty="0"/>
              <a:t>No added overhead of managing separate, unnecessary data silos</a:t>
            </a:r>
          </a:p>
          <a:p>
            <a:r>
              <a:rPr lang="en-US" sz="3600" dirty="0"/>
              <a:t>Reduced administrative overhead, lower risk of security gaps on data access</a:t>
            </a:r>
          </a:p>
          <a:p>
            <a:r>
              <a:rPr lang="en-US" sz="3600" dirty="0"/>
              <a:t>Use the right technology for the job, less coding and less complexity</a:t>
            </a:r>
          </a:p>
          <a:p>
            <a:r>
              <a:rPr lang="en-US" sz="3600" dirty="0"/>
              <a:t>Avoid discarding valuable historical context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624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47CE-8A73-16D2-417C-CAEECA8D5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Big Data Technologies</a:t>
            </a:r>
            <a:br>
              <a:rPr lang="en-US" dirty="0"/>
            </a:br>
            <a:r>
              <a:rPr lang="en-US" sz="4900" dirty="0"/>
              <a:t>Their Roles in Realizing a Lambda Architecture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234FF0-BA60-3B36-1376-4626A3501F63}"/>
              </a:ext>
            </a:extLst>
          </p:cNvPr>
          <p:cNvSpPr/>
          <p:nvPr/>
        </p:nvSpPr>
        <p:spPr>
          <a:xfrm>
            <a:off x="5647756" y="2661687"/>
            <a:ext cx="7716845" cy="1755648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r>
              <a:rPr lang="en-US" sz="2800" dirty="0">
                <a:solidFill>
                  <a:srgbClr val="FFFF00"/>
                </a:solidFill>
              </a:rPr>
              <a:t>Batch Layer</a:t>
            </a: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FF67E-0BE5-B073-4998-2E6E80972010}"/>
              </a:ext>
            </a:extLst>
          </p:cNvPr>
          <p:cNvSpPr/>
          <p:nvPr/>
        </p:nvSpPr>
        <p:spPr>
          <a:xfrm>
            <a:off x="2501153" y="2661686"/>
            <a:ext cx="2678671" cy="4438361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Data Ingress</a:t>
            </a:r>
          </a:p>
          <a:p>
            <a:pPr algn="ctr"/>
            <a:endParaRPr lang="en-US" sz="28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872A6D-37AA-5F4C-2DCC-29A16E5B24B6}"/>
              </a:ext>
            </a:extLst>
          </p:cNvPr>
          <p:cNvSpPr/>
          <p:nvPr/>
        </p:nvSpPr>
        <p:spPr>
          <a:xfrm>
            <a:off x="13832533" y="2661685"/>
            <a:ext cx="2678671" cy="4438361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FF00"/>
                </a:solidFill>
              </a:rPr>
              <a:t>Serving Layer</a:t>
            </a: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E88A6D-6551-0066-B7DC-7343A0B20EF6}"/>
              </a:ext>
            </a:extLst>
          </p:cNvPr>
          <p:cNvSpPr/>
          <p:nvPr/>
        </p:nvSpPr>
        <p:spPr>
          <a:xfrm>
            <a:off x="2501153" y="7436398"/>
            <a:ext cx="14010051" cy="1196614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B00378-F3C5-06BE-55FC-3400A535AFEE}"/>
              </a:ext>
            </a:extLst>
          </p:cNvPr>
          <p:cNvSpPr/>
          <p:nvPr/>
        </p:nvSpPr>
        <p:spPr>
          <a:xfrm>
            <a:off x="2799525" y="3398713"/>
            <a:ext cx="2066003" cy="687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Flume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3D5872-D8DB-D85C-EF7F-8099CE3329F4}"/>
              </a:ext>
            </a:extLst>
          </p:cNvPr>
          <p:cNvSpPr/>
          <p:nvPr/>
        </p:nvSpPr>
        <p:spPr>
          <a:xfrm>
            <a:off x="2799525" y="4328732"/>
            <a:ext cx="2066003" cy="687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Sqoop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A28EF0-06DF-DDBA-22CB-A40C276EC477}"/>
              </a:ext>
            </a:extLst>
          </p:cNvPr>
          <p:cNvSpPr/>
          <p:nvPr/>
        </p:nvSpPr>
        <p:spPr>
          <a:xfrm>
            <a:off x="2799525" y="5258751"/>
            <a:ext cx="2066003" cy="687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Kafka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4A71BF-4298-7D7F-D0B1-FD03F3AD7721}"/>
              </a:ext>
            </a:extLst>
          </p:cNvPr>
          <p:cNvSpPr/>
          <p:nvPr/>
        </p:nvSpPr>
        <p:spPr>
          <a:xfrm>
            <a:off x="6079604" y="3207601"/>
            <a:ext cx="2066003" cy="922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HDFS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A68A3-A9A0-340E-004E-C57A87381B44}"/>
              </a:ext>
            </a:extLst>
          </p:cNvPr>
          <p:cNvSpPr/>
          <p:nvPr/>
        </p:nvSpPr>
        <p:spPr>
          <a:xfrm>
            <a:off x="8473176" y="3200400"/>
            <a:ext cx="2066003" cy="922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Spark SQL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9B7974-314C-E1DF-99A0-18736CAEC8D1}"/>
              </a:ext>
            </a:extLst>
          </p:cNvPr>
          <p:cNvSpPr/>
          <p:nvPr/>
        </p:nvSpPr>
        <p:spPr>
          <a:xfrm>
            <a:off x="10814136" y="3207601"/>
            <a:ext cx="2066003" cy="922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MapReduce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0BE57F-5DDB-73E4-9D7D-C8CAB01742E2}"/>
              </a:ext>
            </a:extLst>
          </p:cNvPr>
          <p:cNvSpPr/>
          <p:nvPr/>
        </p:nvSpPr>
        <p:spPr>
          <a:xfrm>
            <a:off x="2799525" y="6188769"/>
            <a:ext cx="2066003" cy="687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AWS Kinesis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741F80-509D-C64A-A2A8-5123EF63B9BC}"/>
              </a:ext>
            </a:extLst>
          </p:cNvPr>
          <p:cNvSpPr/>
          <p:nvPr/>
        </p:nvSpPr>
        <p:spPr>
          <a:xfrm>
            <a:off x="5647756" y="5302744"/>
            <a:ext cx="7716845" cy="1755648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r>
              <a:rPr lang="en-US" sz="2400" dirty="0">
                <a:solidFill>
                  <a:srgbClr val="FFFF00"/>
                </a:solidFill>
              </a:rPr>
              <a:t>Speed Layer</a:t>
            </a: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r>
              <a:rPr lang="en-US" sz="2400" dirty="0">
                <a:solidFill>
                  <a:srgbClr val="FFFF00"/>
                </a:solidFill>
              </a:rPr>
              <a:t>Supporting Infrastructure</a:t>
            </a: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  <a:p>
            <a:pPr algn="ctr"/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E5EF24-E90A-4BCF-30AE-AE9D33DFCCD8}"/>
              </a:ext>
            </a:extLst>
          </p:cNvPr>
          <p:cNvSpPr/>
          <p:nvPr/>
        </p:nvSpPr>
        <p:spPr>
          <a:xfrm>
            <a:off x="6079604" y="5848658"/>
            <a:ext cx="2066003" cy="922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Spark Streaming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1EBA39-529E-E7A6-5BE7-2E748CBE2647}"/>
              </a:ext>
            </a:extLst>
          </p:cNvPr>
          <p:cNvSpPr/>
          <p:nvPr/>
        </p:nvSpPr>
        <p:spPr>
          <a:xfrm>
            <a:off x="8473176" y="5841457"/>
            <a:ext cx="2066003" cy="922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Kafka SQL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B5FDB-32AC-C136-BE46-BA5E62B6212D}"/>
              </a:ext>
            </a:extLst>
          </p:cNvPr>
          <p:cNvSpPr/>
          <p:nvPr/>
        </p:nvSpPr>
        <p:spPr>
          <a:xfrm>
            <a:off x="10814136" y="5848658"/>
            <a:ext cx="2066003" cy="9223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Apache Storm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8AF5F1-CC95-5E72-B8EB-8AD5A09FBD21}"/>
              </a:ext>
            </a:extLst>
          </p:cNvPr>
          <p:cNvSpPr/>
          <p:nvPr/>
        </p:nvSpPr>
        <p:spPr>
          <a:xfrm>
            <a:off x="14124018" y="3398713"/>
            <a:ext cx="2066003" cy="687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NoSQL Database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792F95-6630-E578-F8E4-C6C9A7955FEF}"/>
              </a:ext>
            </a:extLst>
          </p:cNvPr>
          <p:cNvSpPr/>
          <p:nvPr/>
        </p:nvSpPr>
        <p:spPr>
          <a:xfrm>
            <a:off x="14124018" y="4328732"/>
            <a:ext cx="2066003" cy="687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NewSQL Database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FFFB3F-E422-F783-BFB9-43E7B3596A43}"/>
              </a:ext>
            </a:extLst>
          </p:cNvPr>
          <p:cNvSpPr/>
          <p:nvPr/>
        </p:nvSpPr>
        <p:spPr>
          <a:xfrm>
            <a:off x="14124018" y="5258751"/>
            <a:ext cx="2066003" cy="687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HDFS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8DCD60-8A6D-4265-93A7-CD3FF763EC06}"/>
              </a:ext>
            </a:extLst>
          </p:cNvPr>
          <p:cNvSpPr/>
          <p:nvPr/>
        </p:nvSpPr>
        <p:spPr>
          <a:xfrm>
            <a:off x="14124018" y="6188769"/>
            <a:ext cx="2066003" cy="687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Hive, Presto,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AWS Athena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F58AF8-EDE7-693E-7401-AA2BFF984C58}"/>
              </a:ext>
            </a:extLst>
          </p:cNvPr>
          <p:cNvSpPr/>
          <p:nvPr/>
        </p:nvSpPr>
        <p:spPr>
          <a:xfrm>
            <a:off x="5647756" y="4576815"/>
            <a:ext cx="7716845" cy="5486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FF00"/>
                </a:solidFill>
              </a:rPr>
              <a:t>Data Lake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A65BB5-7FD8-6E63-EC55-0D2E8CFE224F}"/>
              </a:ext>
            </a:extLst>
          </p:cNvPr>
          <p:cNvSpPr/>
          <p:nvPr/>
        </p:nvSpPr>
        <p:spPr>
          <a:xfrm>
            <a:off x="6110330" y="7977998"/>
            <a:ext cx="2066003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YARN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16EF70-85FB-8A27-14D0-3DDE3B83DFF8}"/>
              </a:ext>
            </a:extLst>
          </p:cNvPr>
          <p:cNvSpPr/>
          <p:nvPr/>
        </p:nvSpPr>
        <p:spPr>
          <a:xfrm>
            <a:off x="8573572" y="7977998"/>
            <a:ext cx="2066003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Cloud Services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D091BA-87C1-EA5E-ED94-B10137CC2675}"/>
              </a:ext>
            </a:extLst>
          </p:cNvPr>
          <p:cNvSpPr/>
          <p:nvPr/>
        </p:nvSpPr>
        <p:spPr>
          <a:xfrm>
            <a:off x="11036814" y="7977998"/>
            <a:ext cx="2066003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28308246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D5946EB1-2573-4D20-8B22-38342A5D1C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96608</TotalTime>
  <Words>1156</Words>
  <Application>Microsoft Office PowerPoint</Application>
  <PresentationFormat>Custom</PresentationFormat>
  <Paragraphs>207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 2</vt:lpstr>
      <vt:lpstr>Breeze</vt:lpstr>
      <vt:lpstr>Module 6: Lesson 5 Lambda Architecture</vt:lpstr>
      <vt:lpstr>A Big Healthcare Data Processing Scenario</vt:lpstr>
      <vt:lpstr>A Big Healthcare Data Processing Scenario  Retrospective and Predictive Analysis</vt:lpstr>
      <vt:lpstr>A Big Healthcare Data Processing Scenario  Retrospective and Predictive Analysis (Batch) Pipeline</vt:lpstr>
      <vt:lpstr>A Big Healthcare Data Processing Scenario  Fraud and Error Detection</vt:lpstr>
      <vt:lpstr>Big Healthcare Data Processing  Fraud and Error Detection (Streaming) Pipeline</vt:lpstr>
      <vt:lpstr>A Big Healthcare Data Processing Scenario Dual Pipeline Challenges</vt:lpstr>
      <vt:lpstr>A Big Healthcare Data Processing Scenario Unified Pipeline Desirables</vt:lpstr>
      <vt:lpstr>The Lambda Architecture Pattern A Unified Pipeline for Big Data Processing</vt:lpstr>
      <vt:lpstr>Lambda Architecture Batch Layer</vt:lpstr>
      <vt:lpstr>Lambda Architecture Speed Layer</vt:lpstr>
      <vt:lpstr>Lambda Architecture Serving Layer</vt:lpstr>
      <vt:lpstr>A Unified Healthcare Data Pipeline</vt:lpstr>
      <vt:lpstr>A Unified Healthcare Data Pipeline Benefits</vt:lpstr>
      <vt:lpstr>Big Data Technologies Their Roles in Realizing a Lambda Architecture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Jovanka Nikolovski</cp:lastModifiedBy>
  <cp:revision>358</cp:revision>
  <cp:lastPrinted>2024-01-22T03:27:39Z</cp:lastPrinted>
  <dcterms:created xsi:type="dcterms:W3CDTF">2019-02-13T16:04:21Z</dcterms:created>
  <dcterms:modified xsi:type="dcterms:W3CDTF">2024-01-23T16:16:40Z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CEA34398-9B7A-4ECA-B73B-157E8508B236</vt:lpwstr>
  </property>
  <property fmtid="{D5CDD505-2E9C-101B-9397-08002B2CF9AE}" pid="4" name="ArticulatePath">
    <vt:lpwstr>Module 6 22012023</vt:lpwstr>
  </property>
</Properties>
</file>