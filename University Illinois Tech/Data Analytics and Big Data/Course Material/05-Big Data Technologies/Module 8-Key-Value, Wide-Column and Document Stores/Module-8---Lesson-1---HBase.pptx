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0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Slides/notesSlide2.xml" ContentType="application/vnd.openxmlformats-officedocument.presentationml.notesSlide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756" r:id="rId1"/>
  </p:sldMasterIdLst>
  <p:notesMasterIdLst>
    <p:notesMasterId r:id="rId72"/>
  </p:notesMasterIdLst>
  <p:handoutMasterIdLst>
    <p:handoutMasterId r:id="rId73"/>
  </p:handoutMasterIdLst>
  <p:sldIdLst>
    <p:sldId id="256" r:id="rId2"/>
    <p:sldId id="257" r:id="rId3"/>
    <p:sldId id="258" r:id="rId4"/>
    <p:sldId id="259" r:id="rId5"/>
    <p:sldId id="260" r:id="rId6"/>
    <p:sldId id="353" r:id="rId7"/>
    <p:sldId id="264" r:id="rId8"/>
    <p:sldId id="301" r:id="rId9"/>
    <p:sldId id="346" r:id="rId10"/>
    <p:sldId id="268" r:id="rId11"/>
    <p:sldId id="349" r:id="rId12"/>
    <p:sldId id="266" r:id="rId13"/>
    <p:sldId id="265" r:id="rId14"/>
    <p:sldId id="267" r:id="rId15"/>
    <p:sldId id="285" r:id="rId16"/>
    <p:sldId id="261" r:id="rId17"/>
    <p:sldId id="319" r:id="rId18"/>
    <p:sldId id="279" r:id="rId19"/>
    <p:sldId id="296" r:id="rId20"/>
    <p:sldId id="320" r:id="rId21"/>
    <p:sldId id="321" r:id="rId22"/>
    <p:sldId id="366" r:id="rId23"/>
    <p:sldId id="262" r:id="rId24"/>
    <p:sldId id="298" r:id="rId25"/>
    <p:sldId id="299" r:id="rId26"/>
    <p:sldId id="300" r:id="rId27"/>
    <p:sldId id="342" r:id="rId28"/>
    <p:sldId id="323" r:id="rId29"/>
    <p:sldId id="324" r:id="rId30"/>
    <p:sldId id="328" r:id="rId31"/>
    <p:sldId id="325" r:id="rId32"/>
    <p:sldId id="326" r:id="rId33"/>
    <p:sldId id="327" r:id="rId34"/>
    <p:sldId id="312" r:id="rId35"/>
    <p:sldId id="329" r:id="rId36"/>
    <p:sldId id="330" r:id="rId37"/>
    <p:sldId id="331" r:id="rId38"/>
    <p:sldId id="332" r:id="rId39"/>
    <p:sldId id="269" r:id="rId40"/>
    <p:sldId id="311" r:id="rId41"/>
    <p:sldId id="322" r:id="rId42"/>
    <p:sldId id="282" r:id="rId43"/>
    <p:sldId id="281" r:id="rId44"/>
    <p:sldId id="333" r:id="rId45"/>
    <p:sldId id="334" r:id="rId46"/>
    <p:sldId id="335" r:id="rId47"/>
    <p:sldId id="336" r:id="rId48"/>
    <p:sldId id="337" r:id="rId49"/>
    <p:sldId id="377" r:id="rId50"/>
    <p:sldId id="376" r:id="rId51"/>
    <p:sldId id="304" r:id="rId52"/>
    <p:sldId id="307" r:id="rId53"/>
    <p:sldId id="364" r:id="rId54"/>
    <p:sldId id="374" r:id="rId55"/>
    <p:sldId id="294" r:id="rId56"/>
    <p:sldId id="272" r:id="rId57"/>
    <p:sldId id="378" r:id="rId58"/>
    <p:sldId id="351" r:id="rId59"/>
    <p:sldId id="270" r:id="rId60"/>
    <p:sldId id="315" r:id="rId61"/>
    <p:sldId id="314" r:id="rId62"/>
    <p:sldId id="316" r:id="rId63"/>
    <p:sldId id="317" r:id="rId64"/>
    <p:sldId id="318" r:id="rId65"/>
    <p:sldId id="263" r:id="rId66"/>
    <p:sldId id="355" r:id="rId67"/>
    <p:sldId id="356" r:id="rId68"/>
    <p:sldId id="295" r:id="rId69"/>
    <p:sldId id="357" r:id="rId70"/>
    <p:sldId id="365" r:id="rId71"/>
  </p:sldIdLst>
  <p:sldSz cx="9144000" cy="6858000" type="screen4x3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99" autoAdjust="0"/>
    <p:restoredTop sz="94565"/>
  </p:normalViewPr>
  <p:slideViewPr>
    <p:cSldViewPr>
      <p:cViewPr varScale="1">
        <p:scale>
          <a:sx n="105" d="100"/>
          <a:sy n="105" d="100"/>
        </p:scale>
        <p:origin x="1768" y="1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4" d="100"/>
        <a:sy n="44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-2832" y="-102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presProps" Target="presProps.xml"/><Relationship Id="rId79" Type="http://schemas.openxmlformats.org/officeDocument/2006/relationships/customXml" Target="../customXml/item2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80" Type="http://schemas.openxmlformats.org/officeDocument/2006/relationships/customXml" Target="../customXml/item3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handoutMaster" Target="handoutMasters/handoutMaster1.xml"/><Relationship Id="rId78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26C263-635D-E845-89FE-DFC3009C9487}" type="datetimeFigureOut">
              <a:rPr lang="en-US" smtClean="0"/>
              <a:t>9/10/24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3AF4C-36FD-DE42-A6D6-2ED4D4A9E9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07054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7000" y="0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AFD25-770F-4100-B955-0FA7227EB24E}" type="datetimeFigureOut">
              <a:rPr lang="en-US" smtClean="0"/>
              <a:t>9/10/24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5225" y="692150"/>
            <a:ext cx="461962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387850"/>
            <a:ext cx="5559425" cy="4156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7000" y="8772525"/>
            <a:ext cx="3011488" cy="4619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261B69-B60C-4C28-9B4D-2FDE71D22B2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698243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1B69-B60C-4C28-9B4D-2FDE71D22B23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9181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2261B69-B60C-4C28-9B4D-2FDE71D22B23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727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AFC28-F33D-1B43-BAB3-7B89A0F32007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2B924-BE91-0C4C-8923-B509346B76E4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55173-5984-5641-8FB9-6FB011643467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E5CFD-2DEF-1B4A-A8FD-D9562B631AD7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6150B-A869-8B4D-A76D-9703773F1D64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356F33-7330-254B-9034-97F6E9778D41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933700"/>
            <a:ext cx="8229600" cy="990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3E9215-2CEC-604A-96B4-C42F2A7AC2D9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1223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14875-A437-D745-A188-6D58C38A8CA3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E814D-D008-9B41-A501-B1AED348AC2B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F4998-170E-1141-B7A5-3E7084A3F78D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199A55-F75C-244A-B57F-11EA742C6C38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7C335-74E8-614A-BC36-043BC42BF17C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DE2E382D-18E8-734F-BF46-E669D302F08F}" type="datetime1">
              <a:rPr lang="en-US" smtClean="0"/>
              <a:t>9/10/24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9AA7C465-8597-4488-B68C-958448427716}" type="slidenum">
              <a:rPr lang="en-US" smtClean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9" r:id="rId7"/>
    <p:sldLayoutId id="2147483763" r:id="rId8"/>
    <p:sldLayoutId id="2147483764" r:id="rId9"/>
    <p:sldLayoutId id="2147483765" r:id="rId10"/>
    <p:sldLayoutId id="2147483766" r:id="rId11"/>
    <p:sldLayoutId id="2147483767" r:id="rId1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26" Type="http://schemas.openxmlformats.org/officeDocument/2006/relationships/image" Target="../media/image26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5" Type="http://schemas.openxmlformats.org/officeDocument/2006/relationships/image" Target="../media/image25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4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23" Type="http://schemas.openxmlformats.org/officeDocument/2006/relationships/image" Target="../media/image23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Relationship Id="rId22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tiff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tif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8.tif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iff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image" Target="../media/image65.png"/><Relationship Id="rId18" Type="http://schemas.openxmlformats.org/officeDocument/2006/relationships/image" Target="../media/image70.png"/><Relationship Id="rId26" Type="http://schemas.openxmlformats.org/officeDocument/2006/relationships/image" Target="../media/image78.png"/><Relationship Id="rId3" Type="http://schemas.openxmlformats.org/officeDocument/2006/relationships/image" Target="../media/image55.png"/><Relationship Id="rId21" Type="http://schemas.openxmlformats.org/officeDocument/2006/relationships/image" Target="../media/image73.png"/><Relationship Id="rId7" Type="http://schemas.openxmlformats.org/officeDocument/2006/relationships/image" Target="../media/image59.png"/><Relationship Id="rId12" Type="http://schemas.openxmlformats.org/officeDocument/2006/relationships/image" Target="../media/image64.png"/><Relationship Id="rId17" Type="http://schemas.openxmlformats.org/officeDocument/2006/relationships/image" Target="../media/image69.png"/><Relationship Id="rId25" Type="http://schemas.openxmlformats.org/officeDocument/2006/relationships/image" Target="../media/image77.png"/><Relationship Id="rId2" Type="http://schemas.openxmlformats.org/officeDocument/2006/relationships/image" Target="../media/image54.png"/><Relationship Id="rId16" Type="http://schemas.openxmlformats.org/officeDocument/2006/relationships/image" Target="../media/image68.png"/><Relationship Id="rId20" Type="http://schemas.openxmlformats.org/officeDocument/2006/relationships/image" Target="../media/image72.png"/><Relationship Id="rId29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11" Type="http://schemas.openxmlformats.org/officeDocument/2006/relationships/image" Target="../media/image63.png"/><Relationship Id="rId24" Type="http://schemas.openxmlformats.org/officeDocument/2006/relationships/image" Target="../media/image76.png"/><Relationship Id="rId32" Type="http://schemas.openxmlformats.org/officeDocument/2006/relationships/image" Target="../media/image84.png"/><Relationship Id="rId5" Type="http://schemas.openxmlformats.org/officeDocument/2006/relationships/image" Target="../media/image57.png"/><Relationship Id="rId15" Type="http://schemas.openxmlformats.org/officeDocument/2006/relationships/image" Target="../media/image67.png"/><Relationship Id="rId23" Type="http://schemas.openxmlformats.org/officeDocument/2006/relationships/image" Target="../media/image75.png"/><Relationship Id="rId28" Type="http://schemas.openxmlformats.org/officeDocument/2006/relationships/image" Target="../media/image80.png"/><Relationship Id="rId10" Type="http://schemas.openxmlformats.org/officeDocument/2006/relationships/image" Target="../media/image62.png"/><Relationship Id="rId19" Type="http://schemas.openxmlformats.org/officeDocument/2006/relationships/image" Target="../media/image71.png"/><Relationship Id="rId31" Type="http://schemas.openxmlformats.org/officeDocument/2006/relationships/image" Target="../media/image83.png"/><Relationship Id="rId4" Type="http://schemas.openxmlformats.org/officeDocument/2006/relationships/image" Target="../media/image56.png"/><Relationship Id="rId9" Type="http://schemas.openxmlformats.org/officeDocument/2006/relationships/image" Target="../media/image61.png"/><Relationship Id="rId14" Type="http://schemas.openxmlformats.org/officeDocument/2006/relationships/image" Target="../media/image66.png"/><Relationship Id="rId22" Type="http://schemas.openxmlformats.org/officeDocument/2006/relationships/image" Target="../media/image74.png"/><Relationship Id="rId27" Type="http://schemas.openxmlformats.org/officeDocument/2006/relationships/image" Target="../media/image79.png"/><Relationship Id="rId30" Type="http://schemas.openxmlformats.org/officeDocument/2006/relationships/image" Target="../media/image82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6.png"/><Relationship Id="rId5" Type="http://schemas.openxmlformats.org/officeDocument/2006/relationships/image" Target="../media/image85.png"/><Relationship Id="rId4" Type="http://schemas.openxmlformats.org/officeDocument/2006/relationships/image" Target="../media/image79.png"/></Relationships>
</file>

<file path=ppt/slides/_rels/slide6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4.png"/><Relationship Id="rId18" Type="http://schemas.openxmlformats.org/officeDocument/2006/relationships/image" Target="../media/image69.png"/><Relationship Id="rId26" Type="http://schemas.openxmlformats.org/officeDocument/2006/relationships/image" Target="../media/image100.png"/><Relationship Id="rId3" Type="http://schemas.openxmlformats.org/officeDocument/2006/relationships/image" Target="../media/image88.png"/><Relationship Id="rId21" Type="http://schemas.openxmlformats.org/officeDocument/2006/relationships/image" Target="../media/image97.png"/><Relationship Id="rId7" Type="http://schemas.openxmlformats.org/officeDocument/2006/relationships/image" Target="../media/image91.png"/><Relationship Id="rId12" Type="http://schemas.openxmlformats.org/officeDocument/2006/relationships/image" Target="../media/image63.png"/><Relationship Id="rId17" Type="http://schemas.openxmlformats.org/officeDocument/2006/relationships/image" Target="../media/image68.png"/><Relationship Id="rId25" Type="http://schemas.openxmlformats.org/officeDocument/2006/relationships/image" Target="../media/image78.png"/><Relationship Id="rId33" Type="http://schemas.openxmlformats.org/officeDocument/2006/relationships/image" Target="../media/image106.png"/><Relationship Id="rId2" Type="http://schemas.openxmlformats.org/officeDocument/2006/relationships/image" Target="../media/image87.png"/><Relationship Id="rId16" Type="http://schemas.openxmlformats.org/officeDocument/2006/relationships/image" Target="../media/image67.png"/><Relationship Id="rId20" Type="http://schemas.openxmlformats.org/officeDocument/2006/relationships/image" Target="../media/image96.png"/><Relationship Id="rId29" Type="http://schemas.openxmlformats.org/officeDocument/2006/relationships/image" Target="../media/image1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0.png"/><Relationship Id="rId11" Type="http://schemas.openxmlformats.org/officeDocument/2006/relationships/image" Target="../media/image94.png"/><Relationship Id="rId24" Type="http://schemas.openxmlformats.org/officeDocument/2006/relationships/image" Target="../media/image77.png"/><Relationship Id="rId32" Type="http://schemas.openxmlformats.org/officeDocument/2006/relationships/image" Target="../media/image105.png"/><Relationship Id="rId5" Type="http://schemas.openxmlformats.org/officeDocument/2006/relationships/image" Target="../media/image57.png"/><Relationship Id="rId15" Type="http://schemas.openxmlformats.org/officeDocument/2006/relationships/image" Target="../media/image66.png"/><Relationship Id="rId23" Type="http://schemas.openxmlformats.org/officeDocument/2006/relationships/image" Target="../media/image99.png"/><Relationship Id="rId28" Type="http://schemas.openxmlformats.org/officeDocument/2006/relationships/image" Target="../media/image101.png"/><Relationship Id="rId10" Type="http://schemas.openxmlformats.org/officeDocument/2006/relationships/image" Target="../media/image93.png"/><Relationship Id="rId19" Type="http://schemas.openxmlformats.org/officeDocument/2006/relationships/image" Target="../media/image95.png"/><Relationship Id="rId31" Type="http://schemas.openxmlformats.org/officeDocument/2006/relationships/image" Target="../media/image104.png"/><Relationship Id="rId4" Type="http://schemas.openxmlformats.org/officeDocument/2006/relationships/image" Target="../media/image89.png"/><Relationship Id="rId9" Type="http://schemas.openxmlformats.org/officeDocument/2006/relationships/image" Target="../media/image92.png"/><Relationship Id="rId14" Type="http://schemas.openxmlformats.org/officeDocument/2006/relationships/image" Target="../media/image65.png"/><Relationship Id="rId22" Type="http://schemas.openxmlformats.org/officeDocument/2006/relationships/image" Target="../media/image98.png"/><Relationship Id="rId27" Type="http://schemas.openxmlformats.org/officeDocument/2006/relationships/image" Target="../media/image79.png"/><Relationship Id="rId30" Type="http://schemas.openxmlformats.org/officeDocument/2006/relationships/image" Target="../media/image103.png"/><Relationship Id="rId8" Type="http://schemas.openxmlformats.org/officeDocument/2006/relationships/image" Target="../media/image59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7.jp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jpg"/><Relationship Id="rId7" Type="http://schemas.openxmlformats.org/officeDocument/2006/relationships/image" Target="../media/image115.png"/><Relationship Id="rId2" Type="http://schemas.openxmlformats.org/officeDocument/2006/relationships/image" Target="../media/image110.jp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4.png"/><Relationship Id="rId5" Type="http://schemas.openxmlformats.org/officeDocument/2006/relationships/image" Target="../media/image113.png"/><Relationship Id="rId4" Type="http://schemas.openxmlformats.org/officeDocument/2006/relationships/image" Target="../media/image1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/>
          <a:lstStyle/>
          <a:p>
            <a:r>
              <a:rPr lang="en-US" sz="4800" dirty="0"/>
              <a:t>CSP554</a:t>
            </a:r>
            <a:br>
              <a:rPr lang="en-US" sz="4800" dirty="0"/>
            </a:br>
            <a:r>
              <a:rPr lang="en-US" sz="4800" dirty="0"/>
              <a:t>Big Data Technologies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NoSQL Key/Value + Wide Column Store</a:t>
            </a:r>
          </a:p>
          <a:p>
            <a:r>
              <a:rPr lang="en-US" dirty="0"/>
              <a:t>Apache </a:t>
            </a:r>
            <a:r>
              <a:rPr lang="en-US" dirty="0" err="1"/>
              <a:t>HBase</a:t>
            </a:r>
            <a:r>
              <a:rPr lang="en-US" dirty="0"/>
              <a:t> (Hadoop)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6558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Apache Hadoop has gained popularity for storing, managing and processing high volume and high velocity data</a:t>
            </a:r>
          </a:p>
          <a:p>
            <a:r>
              <a:rPr lang="en-US" dirty="0"/>
              <a:t>However, the Hadoop filesystem (HDFS) cannot handle random writes and reads and cannot change a file without rewriting it</a:t>
            </a:r>
          </a:p>
          <a:p>
            <a:r>
              <a:rPr lang="en-US" dirty="0" err="1"/>
              <a:t>HBase</a:t>
            </a:r>
            <a:r>
              <a:rPr lang="en-US" dirty="0"/>
              <a:t> is a NoSQL, column oriented database built on top of Hadoop to overcome the drawbacks of HDFS as it allows fast random writes and reads in an optimized way</a:t>
            </a:r>
          </a:p>
          <a:p>
            <a:r>
              <a:rPr lang="en-US" dirty="0"/>
              <a:t>Also, with exponentially growing data, relational databases cannot handle the variety of data to render better performance</a:t>
            </a:r>
          </a:p>
          <a:p>
            <a:r>
              <a:rPr lang="en-US" dirty="0" err="1"/>
              <a:t>HBase</a:t>
            </a:r>
            <a:r>
              <a:rPr lang="en-US" dirty="0"/>
              <a:t> provides scalability and partitioning for efficient storage and retrieval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426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provides real-time read or write access to data in HDFS</a:t>
            </a:r>
          </a:p>
          <a:p>
            <a:r>
              <a:rPr lang="en-US" dirty="0" err="1"/>
              <a:t>HBase</a:t>
            </a:r>
            <a:r>
              <a:rPr lang="en-US" dirty="0"/>
              <a:t> can be referred to as a data store instead of a database…</a:t>
            </a:r>
          </a:p>
          <a:p>
            <a:r>
              <a:rPr lang="en-US" dirty="0"/>
              <a:t>As it misses out on some important features of traditional RDBMs…</a:t>
            </a:r>
          </a:p>
          <a:p>
            <a:r>
              <a:rPr lang="en-US" dirty="0"/>
              <a:t>Like typed columns, triggers, an advanced (SQL) query language and secondary indexes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1702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HBase</a:t>
            </a:r>
            <a:r>
              <a:rPr lang="en-US" dirty="0"/>
              <a:t>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Linear (horizontal) scalability</a:t>
            </a:r>
          </a:p>
          <a:p>
            <a:pPr lvl="1"/>
            <a:r>
              <a:rPr lang="en-US" dirty="0"/>
              <a:t>Capable of storing hundreds of terabytes of data</a:t>
            </a:r>
          </a:p>
          <a:p>
            <a:r>
              <a:rPr lang="en-US" dirty="0"/>
              <a:t>Strongly consistent reads/writes</a:t>
            </a:r>
          </a:p>
          <a:p>
            <a:pPr lvl="1"/>
            <a:r>
              <a:rPr lang="en-US" dirty="0" err="1"/>
              <a:t>HBase</a:t>
            </a:r>
            <a:r>
              <a:rPr lang="en-US" dirty="0"/>
              <a:t> is not an "eventually consistent" data store </a:t>
            </a:r>
          </a:p>
          <a:p>
            <a:pPr lvl="1"/>
            <a:r>
              <a:rPr lang="en-US" dirty="0"/>
              <a:t>This makes it very suitable for tasks such as high-speed counter aggregation</a:t>
            </a:r>
          </a:p>
          <a:p>
            <a:r>
              <a:rPr lang="en-US" dirty="0"/>
              <a:t>Automatic </a:t>
            </a:r>
            <a:r>
              <a:rPr lang="en-US" dirty="0" err="1"/>
              <a:t>sharding</a:t>
            </a:r>
            <a:r>
              <a:rPr lang="en-US" dirty="0"/>
              <a:t> (splitting across a cluster)</a:t>
            </a:r>
          </a:p>
          <a:p>
            <a:pPr lvl="1"/>
            <a:r>
              <a:rPr lang="en-US" dirty="0"/>
              <a:t>HBase tables are distributed on the cluster via regions, and regions are automatically split and re-distributed as your data grows</a:t>
            </a:r>
          </a:p>
          <a:p>
            <a:r>
              <a:rPr lang="en-US" dirty="0"/>
              <a:t>Automatic failover</a:t>
            </a:r>
          </a:p>
          <a:p>
            <a:r>
              <a:rPr lang="en-US" dirty="0"/>
              <a:t>Hadoop/HDFS/S3 Integration</a:t>
            </a:r>
          </a:p>
          <a:p>
            <a:pPr lvl="1"/>
            <a:r>
              <a:rPr lang="en-US" dirty="0"/>
              <a:t>HBase supports HDFS out of the box as its distributed file system</a:t>
            </a:r>
          </a:p>
          <a:p>
            <a:pPr lvl="1"/>
            <a:r>
              <a:rPr lang="en-US" dirty="0"/>
              <a:t>It is possible to configure EMR to use S3 for HBase storage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37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HBase</a:t>
            </a:r>
            <a:r>
              <a:rPr lang="en-US" dirty="0"/>
              <a:t>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Java Client API: </a:t>
            </a:r>
            <a:r>
              <a:rPr lang="en-US" dirty="0" err="1"/>
              <a:t>HBase</a:t>
            </a:r>
            <a:r>
              <a:rPr lang="en-US" dirty="0"/>
              <a:t> supports an easy to use Java API for programmatic access.</a:t>
            </a:r>
          </a:p>
          <a:p>
            <a:r>
              <a:rPr lang="en-US" dirty="0"/>
              <a:t>Thrift/REST API: </a:t>
            </a:r>
            <a:r>
              <a:rPr lang="en-US" dirty="0" err="1"/>
              <a:t>HBase</a:t>
            </a:r>
            <a:r>
              <a:rPr lang="en-US" dirty="0"/>
              <a:t> also supports Thrift and REST for non-Java front-ends.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7486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292734" y="2410587"/>
            <a:ext cx="140588" cy="13487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/>
          <p:nvPr/>
        </p:nvSpPr>
        <p:spPr>
          <a:xfrm>
            <a:off x="1667638" y="2418588"/>
            <a:ext cx="139445" cy="1325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" name="object 4"/>
          <p:cNvSpPr/>
          <p:nvPr/>
        </p:nvSpPr>
        <p:spPr>
          <a:xfrm>
            <a:off x="621791" y="2438019"/>
            <a:ext cx="107442" cy="1200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8547354" y="2460879"/>
            <a:ext cx="139445" cy="160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8113014" y="2480310"/>
            <a:ext cx="130493" cy="195739"/>
          </a:xfrm>
          <a:custGeom>
            <a:avLst/>
            <a:gdLst/>
            <a:ahLst/>
            <a:cxnLst/>
            <a:rect l="l" t="t" r="r" b="b"/>
            <a:pathLst>
              <a:path w="173990" h="260985">
                <a:moveTo>
                  <a:pt x="86868" y="0"/>
                </a:moveTo>
                <a:lnTo>
                  <a:pt x="37465" y="96139"/>
                </a:lnTo>
                <a:lnTo>
                  <a:pt x="60705" y="96139"/>
                </a:lnTo>
                <a:lnTo>
                  <a:pt x="21208" y="171450"/>
                </a:lnTo>
                <a:lnTo>
                  <a:pt x="45466" y="171450"/>
                </a:lnTo>
                <a:lnTo>
                  <a:pt x="0" y="260604"/>
                </a:lnTo>
                <a:lnTo>
                  <a:pt x="173736" y="260604"/>
                </a:lnTo>
                <a:lnTo>
                  <a:pt x="128270" y="171450"/>
                </a:lnTo>
                <a:lnTo>
                  <a:pt x="152526" y="171450"/>
                </a:lnTo>
                <a:lnTo>
                  <a:pt x="114173" y="96139"/>
                </a:lnTo>
                <a:lnTo>
                  <a:pt x="136271" y="96139"/>
                </a:lnTo>
                <a:lnTo>
                  <a:pt x="86868" y="0"/>
                </a:lnTo>
                <a:close/>
              </a:path>
            </a:pathLst>
          </a:custGeom>
          <a:solidFill>
            <a:srgbClr val="12994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2577465" y="2170557"/>
            <a:ext cx="200025" cy="274320"/>
          </a:xfrm>
          <a:custGeom>
            <a:avLst/>
            <a:gdLst/>
            <a:ahLst/>
            <a:cxnLst/>
            <a:rect l="l" t="t" r="r" b="b"/>
            <a:pathLst>
              <a:path w="266700" h="365760">
                <a:moveTo>
                  <a:pt x="133350" y="0"/>
                </a:moveTo>
                <a:lnTo>
                  <a:pt x="57403" y="134874"/>
                </a:lnTo>
                <a:lnTo>
                  <a:pt x="93090" y="134874"/>
                </a:lnTo>
                <a:lnTo>
                  <a:pt x="32638" y="240664"/>
                </a:lnTo>
                <a:lnTo>
                  <a:pt x="69722" y="240664"/>
                </a:lnTo>
                <a:lnTo>
                  <a:pt x="0" y="365760"/>
                </a:lnTo>
                <a:lnTo>
                  <a:pt x="266700" y="365760"/>
                </a:lnTo>
                <a:lnTo>
                  <a:pt x="196976" y="240664"/>
                </a:lnTo>
                <a:lnTo>
                  <a:pt x="234060" y="240664"/>
                </a:lnTo>
                <a:lnTo>
                  <a:pt x="175132" y="134874"/>
                </a:lnTo>
                <a:lnTo>
                  <a:pt x="209295" y="134874"/>
                </a:lnTo>
                <a:lnTo>
                  <a:pt x="133350" y="0"/>
                </a:lnTo>
                <a:close/>
              </a:path>
            </a:pathLst>
          </a:custGeom>
          <a:solidFill>
            <a:srgbClr val="129947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grpSp>
        <p:nvGrpSpPr>
          <p:cNvPr id="8" name="object 8"/>
          <p:cNvGrpSpPr/>
          <p:nvPr/>
        </p:nvGrpSpPr>
        <p:grpSpPr>
          <a:xfrm>
            <a:off x="0" y="2032255"/>
            <a:ext cx="9142095" cy="3968591"/>
            <a:chOff x="0" y="1566672"/>
            <a:chExt cx="12189460" cy="5291455"/>
          </a:xfrm>
        </p:grpSpPr>
        <p:sp>
          <p:nvSpPr>
            <p:cNvPr id="9" name="object 9"/>
            <p:cNvSpPr/>
            <p:nvPr/>
          </p:nvSpPr>
          <p:spPr>
            <a:xfrm>
              <a:off x="0" y="1949233"/>
              <a:ext cx="12189460" cy="1181100"/>
            </a:xfrm>
            <a:custGeom>
              <a:avLst/>
              <a:gdLst/>
              <a:ahLst/>
              <a:cxnLst/>
              <a:rect l="l" t="t" r="r" b="b"/>
              <a:pathLst>
                <a:path w="12189460" h="1181100">
                  <a:moveTo>
                    <a:pt x="12188939" y="307733"/>
                  </a:moveTo>
                  <a:lnTo>
                    <a:pt x="12000573" y="311797"/>
                  </a:lnTo>
                  <a:lnTo>
                    <a:pt x="11964162" y="245706"/>
                  </a:lnTo>
                  <a:lnTo>
                    <a:pt x="12000230" y="245706"/>
                  </a:lnTo>
                  <a:lnTo>
                    <a:pt x="11943080" y="141820"/>
                  </a:lnTo>
                  <a:lnTo>
                    <a:pt x="11976227" y="141820"/>
                  </a:lnTo>
                  <a:lnTo>
                    <a:pt x="11902440" y="9105"/>
                  </a:lnTo>
                  <a:lnTo>
                    <a:pt x="11828653" y="141820"/>
                  </a:lnTo>
                  <a:lnTo>
                    <a:pt x="11863324" y="141820"/>
                  </a:lnTo>
                  <a:lnTo>
                    <a:pt x="11804523" y="245706"/>
                  </a:lnTo>
                  <a:lnTo>
                    <a:pt x="11840718" y="245706"/>
                  </a:lnTo>
                  <a:lnTo>
                    <a:pt x="11801932" y="316077"/>
                  </a:lnTo>
                  <a:lnTo>
                    <a:pt x="11749024" y="317207"/>
                  </a:lnTo>
                  <a:lnTo>
                    <a:pt x="11699177" y="326529"/>
                  </a:lnTo>
                  <a:lnTo>
                    <a:pt x="11499240" y="361454"/>
                  </a:lnTo>
                  <a:lnTo>
                    <a:pt x="11298415" y="392696"/>
                  </a:lnTo>
                  <a:lnTo>
                    <a:pt x="11194936" y="406831"/>
                  </a:lnTo>
                  <a:lnTo>
                    <a:pt x="11166729" y="358101"/>
                  </a:lnTo>
                  <a:lnTo>
                    <a:pt x="11203813" y="358101"/>
                  </a:lnTo>
                  <a:lnTo>
                    <a:pt x="11144885" y="256374"/>
                  </a:lnTo>
                  <a:lnTo>
                    <a:pt x="11179048" y="256374"/>
                  </a:lnTo>
                  <a:lnTo>
                    <a:pt x="11103102" y="126453"/>
                  </a:lnTo>
                  <a:lnTo>
                    <a:pt x="11027156" y="256374"/>
                  </a:lnTo>
                  <a:lnTo>
                    <a:pt x="11062843" y="256374"/>
                  </a:lnTo>
                  <a:lnTo>
                    <a:pt x="11002391" y="358101"/>
                  </a:lnTo>
                  <a:lnTo>
                    <a:pt x="11039475" y="358101"/>
                  </a:lnTo>
                  <a:lnTo>
                    <a:pt x="10996651" y="432041"/>
                  </a:lnTo>
                  <a:lnTo>
                    <a:pt x="10894581" y="444055"/>
                  </a:lnTo>
                  <a:lnTo>
                    <a:pt x="10691813" y="464172"/>
                  </a:lnTo>
                  <a:lnTo>
                    <a:pt x="10673601" y="465645"/>
                  </a:lnTo>
                  <a:lnTo>
                    <a:pt x="10619613" y="369150"/>
                  </a:lnTo>
                  <a:lnTo>
                    <a:pt x="10656697" y="369150"/>
                  </a:lnTo>
                  <a:lnTo>
                    <a:pt x="10597769" y="263867"/>
                  </a:lnTo>
                  <a:lnTo>
                    <a:pt x="10631932" y="263867"/>
                  </a:lnTo>
                  <a:lnTo>
                    <a:pt x="10555986" y="129501"/>
                  </a:lnTo>
                  <a:lnTo>
                    <a:pt x="10480040" y="263867"/>
                  </a:lnTo>
                  <a:lnTo>
                    <a:pt x="10515727" y="263867"/>
                  </a:lnTo>
                  <a:lnTo>
                    <a:pt x="10455275" y="369150"/>
                  </a:lnTo>
                  <a:lnTo>
                    <a:pt x="10427881" y="484365"/>
                  </a:lnTo>
                  <a:lnTo>
                    <a:pt x="10285120" y="493255"/>
                  </a:lnTo>
                  <a:lnTo>
                    <a:pt x="10081412" y="502208"/>
                  </a:lnTo>
                  <a:lnTo>
                    <a:pt x="9877641" y="507428"/>
                  </a:lnTo>
                  <a:lnTo>
                    <a:pt x="9673895" y="508914"/>
                  </a:lnTo>
                  <a:lnTo>
                    <a:pt x="9470288" y="506653"/>
                  </a:lnTo>
                  <a:lnTo>
                    <a:pt x="9266949" y="500646"/>
                  </a:lnTo>
                  <a:lnTo>
                    <a:pt x="9063977" y="490880"/>
                  </a:lnTo>
                  <a:lnTo>
                    <a:pt x="8861501" y="477367"/>
                  </a:lnTo>
                  <a:lnTo>
                    <a:pt x="8659622" y="460082"/>
                  </a:lnTo>
                  <a:lnTo>
                    <a:pt x="8457070" y="439026"/>
                  </a:lnTo>
                  <a:lnTo>
                    <a:pt x="8204149" y="408292"/>
                  </a:lnTo>
                  <a:lnTo>
                    <a:pt x="7800022" y="351218"/>
                  </a:lnTo>
                  <a:lnTo>
                    <a:pt x="7447293" y="296087"/>
                  </a:lnTo>
                  <a:lnTo>
                    <a:pt x="7396505" y="287909"/>
                  </a:lnTo>
                  <a:lnTo>
                    <a:pt x="6491084" y="143433"/>
                  </a:lnTo>
                  <a:lnTo>
                    <a:pt x="6139751" y="93980"/>
                  </a:lnTo>
                  <a:lnTo>
                    <a:pt x="5889041" y="63284"/>
                  </a:lnTo>
                  <a:lnTo>
                    <a:pt x="5688622" y="42265"/>
                  </a:lnTo>
                  <a:lnTo>
                    <a:pt x="5488330" y="24930"/>
                  </a:lnTo>
                  <a:lnTo>
                    <a:pt x="5338191" y="14643"/>
                  </a:lnTo>
                  <a:lnTo>
                    <a:pt x="5188115" y="6921"/>
                  </a:lnTo>
                  <a:lnTo>
                    <a:pt x="5038102" y="1968"/>
                  </a:lnTo>
                  <a:lnTo>
                    <a:pt x="4938128" y="317"/>
                  </a:lnTo>
                  <a:lnTo>
                    <a:pt x="4888154" y="0"/>
                  </a:lnTo>
                  <a:lnTo>
                    <a:pt x="4838192" y="50"/>
                  </a:lnTo>
                  <a:lnTo>
                    <a:pt x="4738268" y="1231"/>
                  </a:lnTo>
                  <a:lnTo>
                    <a:pt x="4636224" y="3987"/>
                  </a:lnTo>
                  <a:lnTo>
                    <a:pt x="4532185" y="8369"/>
                  </a:lnTo>
                  <a:lnTo>
                    <a:pt x="4376547" y="17614"/>
                  </a:lnTo>
                  <a:lnTo>
                    <a:pt x="4221378" y="29705"/>
                  </a:lnTo>
                  <a:lnTo>
                    <a:pt x="4066667" y="44208"/>
                  </a:lnTo>
                  <a:lnTo>
                    <a:pt x="3809733" y="72567"/>
                  </a:lnTo>
                  <a:lnTo>
                    <a:pt x="2618384" y="224891"/>
                  </a:lnTo>
                  <a:lnTo>
                    <a:pt x="2371115" y="250571"/>
                  </a:lnTo>
                  <a:lnTo>
                    <a:pt x="2168220" y="267627"/>
                  </a:lnTo>
                  <a:lnTo>
                    <a:pt x="2011934" y="277964"/>
                  </a:lnTo>
                  <a:lnTo>
                    <a:pt x="1807248" y="287909"/>
                  </a:lnTo>
                  <a:lnTo>
                    <a:pt x="1601673" y="293979"/>
                  </a:lnTo>
                  <a:lnTo>
                    <a:pt x="1396796" y="296087"/>
                  </a:lnTo>
                  <a:lnTo>
                    <a:pt x="1244561" y="295033"/>
                  </a:lnTo>
                  <a:lnTo>
                    <a:pt x="1094295" y="291680"/>
                  </a:lnTo>
                  <a:lnTo>
                    <a:pt x="0" y="177609"/>
                  </a:lnTo>
                  <a:lnTo>
                    <a:pt x="0" y="1181061"/>
                  </a:lnTo>
                  <a:lnTo>
                    <a:pt x="12188939" y="1180439"/>
                  </a:lnTo>
                  <a:lnTo>
                    <a:pt x="12188939" y="508914"/>
                  </a:lnTo>
                  <a:lnTo>
                    <a:pt x="12188939" y="307733"/>
                  </a:lnTo>
                  <a:close/>
                </a:path>
              </a:pathLst>
            </a:custGeom>
            <a:solidFill>
              <a:srgbClr val="12994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10"/>
            <p:cNvSpPr/>
            <p:nvPr/>
          </p:nvSpPr>
          <p:spPr>
            <a:xfrm>
              <a:off x="6679692" y="1958340"/>
              <a:ext cx="207263" cy="213360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" name="object 11"/>
            <p:cNvSpPr/>
            <p:nvPr/>
          </p:nvSpPr>
          <p:spPr>
            <a:xfrm>
              <a:off x="5189220" y="1722119"/>
              <a:ext cx="1414780" cy="407034"/>
            </a:xfrm>
            <a:custGeom>
              <a:avLst/>
              <a:gdLst/>
              <a:ahLst/>
              <a:cxnLst/>
              <a:rect l="l" t="t" r="r" b="b"/>
              <a:pathLst>
                <a:path w="1414779" h="407035">
                  <a:moveTo>
                    <a:pt x="208788" y="259080"/>
                  </a:moveTo>
                  <a:lnTo>
                    <a:pt x="154178" y="170434"/>
                  </a:lnTo>
                  <a:lnTo>
                    <a:pt x="183261" y="170434"/>
                  </a:lnTo>
                  <a:lnTo>
                    <a:pt x="137160" y="95631"/>
                  </a:lnTo>
                  <a:lnTo>
                    <a:pt x="163830" y="95631"/>
                  </a:lnTo>
                  <a:lnTo>
                    <a:pt x="104394" y="0"/>
                  </a:lnTo>
                  <a:lnTo>
                    <a:pt x="44958" y="95631"/>
                  </a:lnTo>
                  <a:lnTo>
                    <a:pt x="72898" y="95631"/>
                  </a:lnTo>
                  <a:lnTo>
                    <a:pt x="25527" y="170434"/>
                  </a:lnTo>
                  <a:lnTo>
                    <a:pt x="54610" y="170434"/>
                  </a:lnTo>
                  <a:lnTo>
                    <a:pt x="0" y="259080"/>
                  </a:lnTo>
                  <a:lnTo>
                    <a:pt x="208788" y="259080"/>
                  </a:lnTo>
                  <a:close/>
                </a:path>
                <a:path w="1414779" h="407035">
                  <a:moveTo>
                    <a:pt x="982980" y="321564"/>
                  </a:moveTo>
                  <a:lnTo>
                    <a:pt x="911606" y="231902"/>
                  </a:lnTo>
                  <a:lnTo>
                    <a:pt x="949579" y="231902"/>
                  </a:lnTo>
                  <a:lnTo>
                    <a:pt x="889381" y="156083"/>
                  </a:lnTo>
                  <a:lnTo>
                    <a:pt x="924179" y="156083"/>
                  </a:lnTo>
                  <a:lnTo>
                    <a:pt x="846582" y="59436"/>
                  </a:lnTo>
                  <a:lnTo>
                    <a:pt x="768985" y="156083"/>
                  </a:lnTo>
                  <a:lnTo>
                    <a:pt x="805434" y="156083"/>
                  </a:lnTo>
                  <a:lnTo>
                    <a:pt x="743585" y="231902"/>
                  </a:lnTo>
                  <a:lnTo>
                    <a:pt x="781558" y="231902"/>
                  </a:lnTo>
                  <a:lnTo>
                    <a:pt x="710184" y="321564"/>
                  </a:lnTo>
                  <a:lnTo>
                    <a:pt x="982980" y="321564"/>
                  </a:lnTo>
                  <a:close/>
                </a:path>
                <a:path w="1414779" h="407035">
                  <a:moveTo>
                    <a:pt x="1414272" y="406908"/>
                  </a:moveTo>
                  <a:lnTo>
                    <a:pt x="1342898" y="279146"/>
                  </a:lnTo>
                  <a:lnTo>
                    <a:pt x="1380871" y="279146"/>
                  </a:lnTo>
                  <a:lnTo>
                    <a:pt x="1320673" y="171323"/>
                  </a:lnTo>
                  <a:lnTo>
                    <a:pt x="1355471" y="171323"/>
                  </a:lnTo>
                  <a:lnTo>
                    <a:pt x="1277874" y="33528"/>
                  </a:lnTo>
                  <a:lnTo>
                    <a:pt x="1200277" y="171323"/>
                  </a:lnTo>
                  <a:lnTo>
                    <a:pt x="1236726" y="171323"/>
                  </a:lnTo>
                  <a:lnTo>
                    <a:pt x="1174877" y="279146"/>
                  </a:lnTo>
                  <a:lnTo>
                    <a:pt x="1212850" y="279146"/>
                  </a:lnTo>
                  <a:lnTo>
                    <a:pt x="1141476" y="406908"/>
                  </a:lnTo>
                  <a:lnTo>
                    <a:pt x="1414272" y="406908"/>
                  </a:lnTo>
                  <a:close/>
                </a:path>
              </a:pathLst>
            </a:custGeom>
            <a:solidFill>
              <a:srgbClr val="12994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5384291" y="1808988"/>
              <a:ext cx="207263" cy="19812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" name="object 13"/>
            <p:cNvSpPr/>
            <p:nvPr/>
          </p:nvSpPr>
          <p:spPr>
            <a:xfrm>
              <a:off x="6129528" y="1882140"/>
              <a:ext cx="187451" cy="17983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14"/>
            <p:cNvSpPr/>
            <p:nvPr/>
          </p:nvSpPr>
          <p:spPr>
            <a:xfrm>
              <a:off x="2429255" y="1990344"/>
              <a:ext cx="211836" cy="23164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5" name="object 15"/>
            <p:cNvSpPr/>
            <p:nvPr/>
          </p:nvSpPr>
          <p:spPr>
            <a:xfrm>
              <a:off x="2609088" y="1847087"/>
              <a:ext cx="556260" cy="338455"/>
            </a:xfrm>
            <a:custGeom>
              <a:avLst/>
              <a:gdLst/>
              <a:ahLst/>
              <a:cxnLst/>
              <a:rect l="l" t="t" r="r" b="b"/>
              <a:pathLst>
                <a:path w="556260" h="338455">
                  <a:moveTo>
                    <a:pt x="242316" y="338328"/>
                  </a:moveTo>
                  <a:lnTo>
                    <a:pt x="178943" y="222631"/>
                  </a:lnTo>
                  <a:lnTo>
                    <a:pt x="212598" y="222631"/>
                  </a:lnTo>
                  <a:lnTo>
                    <a:pt x="159131" y="124841"/>
                  </a:lnTo>
                  <a:lnTo>
                    <a:pt x="190119" y="124841"/>
                  </a:lnTo>
                  <a:lnTo>
                    <a:pt x="121158" y="0"/>
                  </a:lnTo>
                  <a:lnTo>
                    <a:pt x="52197" y="124841"/>
                  </a:lnTo>
                  <a:lnTo>
                    <a:pt x="84582" y="124841"/>
                  </a:lnTo>
                  <a:lnTo>
                    <a:pt x="29591" y="222631"/>
                  </a:lnTo>
                  <a:lnTo>
                    <a:pt x="63373" y="222631"/>
                  </a:lnTo>
                  <a:lnTo>
                    <a:pt x="0" y="338328"/>
                  </a:lnTo>
                  <a:lnTo>
                    <a:pt x="242316" y="338328"/>
                  </a:lnTo>
                  <a:close/>
                </a:path>
                <a:path w="556260" h="338455">
                  <a:moveTo>
                    <a:pt x="556260" y="294132"/>
                  </a:moveTo>
                  <a:lnTo>
                    <a:pt x="492887" y="198755"/>
                  </a:lnTo>
                  <a:lnTo>
                    <a:pt x="526542" y="198755"/>
                  </a:lnTo>
                  <a:lnTo>
                    <a:pt x="473075" y="118110"/>
                  </a:lnTo>
                  <a:lnTo>
                    <a:pt x="504063" y="118110"/>
                  </a:lnTo>
                  <a:lnTo>
                    <a:pt x="435102" y="15240"/>
                  </a:lnTo>
                  <a:lnTo>
                    <a:pt x="366141" y="118110"/>
                  </a:lnTo>
                  <a:lnTo>
                    <a:pt x="398526" y="118110"/>
                  </a:lnTo>
                  <a:lnTo>
                    <a:pt x="343535" y="198755"/>
                  </a:lnTo>
                  <a:lnTo>
                    <a:pt x="377317" y="198755"/>
                  </a:lnTo>
                  <a:lnTo>
                    <a:pt x="313944" y="294132"/>
                  </a:lnTo>
                  <a:lnTo>
                    <a:pt x="556260" y="294132"/>
                  </a:lnTo>
                  <a:close/>
                </a:path>
              </a:pathLst>
            </a:custGeom>
            <a:solidFill>
              <a:srgbClr val="12994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16"/>
            <p:cNvSpPr/>
            <p:nvPr/>
          </p:nvSpPr>
          <p:spPr>
            <a:xfrm>
              <a:off x="1496567" y="2055876"/>
              <a:ext cx="240792" cy="2316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7" name="object 17"/>
            <p:cNvSpPr/>
            <p:nvPr/>
          </p:nvSpPr>
          <p:spPr>
            <a:xfrm>
              <a:off x="76200" y="1711451"/>
              <a:ext cx="1183005" cy="548640"/>
            </a:xfrm>
            <a:custGeom>
              <a:avLst/>
              <a:gdLst/>
              <a:ahLst/>
              <a:cxnLst/>
              <a:rect l="l" t="t" r="r" b="b"/>
              <a:pathLst>
                <a:path w="1183005" h="548639">
                  <a:moveTo>
                    <a:pt x="560832" y="525780"/>
                  </a:moveTo>
                  <a:lnTo>
                    <a:pt x="493877" y="441833"/>
                  </a:lnTo>
                  <a:lnTo>
                    <a:pt x="529488" y="441833"/>
                  </a:lnTo>
                  <a:lnTo>
                    <a:pt x="472986" y="370967"/>
                  </a:lnTo>
                  <a:lnTo>
                    <a:pt x="505675" y="370967"/>
                  </a:lnTo>
                  <a:lnTo>
                    <a:pt x="432816" y="280416"/>
                  </a:lnTo>
                  <a:lnTo>
                    <a:pt x="359956" y="370967"/>
                  </a:lnTo>
                  <a:lnTo>
                    <a:pt x="394169" y="370967"/>
                  </a:lnTo>
                  <a:lnTo>
                    <a:pt x="371754" y="398322"/>
                  </a:lnTo>
                  <a:lnTo>
                    <a:pt x="371754" y="441833"/>
                  </a:lnTo>
                  <a:lnTo>
                    <a:pt x="366458" y="448475"/>
                  </a:lnTo>
                  <a:lnTo>
                    <a:pt x="362381" y="441833"/>
                  </a:lnTo>
                  <a:lnTo>
                    <a:pt x="371754" y="441833"/>
                  </a:lnTo>
                  <a:lnTo>
                    <a:pt x="371754" y="398322"/>
                  </a:lnTo>
                  <a:lnTo>
                    <a:pt x="351129" y="423481"/>
                  </a:lnTo>
                  <a:lnTo>
                    <a:pt x="286981" y="318770"/>
                  </a:lnTo>
                  <a:lnTo>
                    <a:pt x="341045" y="318770"/>
                  </a:lnTo>
                  <a:lnTo>
                    <a:pt x="255282" y="178816"/>
                  </a:lnTo>
                  <a:lnTo>
                    <a:pt x="304901" y="178816"/>
                  </a:lnTo>
                  <a:lnTo>
                    <a:pt x="194310" y="0"/>
                  </a:lnTo>
                  <a:lnTo>
                    <a:pt x="83718" y="178816"/>
                  </a:lnTo>
                  <a:lnTo>
                    <a:pt x="135661" y="178816"/>
                  </a:lnTo>
                  <a:lnTo>
                    <a:pt x="47498" y="318770"/>
                  </a:lnTo>
                  <a:lnTo>
                    <a:pt x="101638" y="318770"/>
                  </a:lnTo>
                  <a:lnTo>
                    <a:pt x="0" y="484632"/>
                  </a:lnTo>
                  <a:lnTo>
                    <a:pt x="337616" y="484632"/>
                  </a:lnTo>
                  <a:lnTo>
                    <a:pt x="304800" y="525780"/>
                  </a:lnTo>
                  <a:lnTo>
                    <a:pt x="560832" y="525780"/>
                  </a:lnTo>
                  <a:close/>
                </a:path>
                <a:path w="1183005" h="548639">
                  <a:moveTo>
                    <a:pt x="1182624" y="548640"/>
                  </a:moveTo>
                  <a:lnTo>
                    <a:pt x="1100124" y="423545"/>
                  </a:lnTo>
                  <a:lnTo>
                    <a:pt x="1144003" y="423545"/>
                  </a:lnTo>
                  <a:lnTo>
                    <a:pt x="1074381" y="317754"/>
                  </a:lnTo>
                  <a:lnTo>
                    <a:pt x="1114666" y="317754"/>
                  </a:lnTo>
                  <a:lnTo>
                    <a:pt x="1024890" y="182880"/>
                  </a:lnTo>
                  <a:lnTo>
                    <a:pt x="935113" y="317754"/>
                  </a:lnTo>
                  <a:lnTo>
                    <a:pt x="977277" y="317754"/>
                  </a:lnTo>
                  <a:lnTo>
                    <a:pt x="905713" y="423545"/>
                  </a:lnTo>
                  <a:lnTo>
                    <a:pt x="949655" y="423545"/>
                  </a:lnTo>
                  <a:lnTo>
                    <a:pt x="867156" y="548640"/>
                  </a:lnTo>
                  <a:lnTo>
                    <a:pt x="1182624" y="548640"/>
                  </a:lnTo>
                  <a:close/>
                </a:path>
              </a:pathLst>
            </a:custGeom>
            <a:solidFill>
              <a:srgbClr val="12994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8" name="object 18"/>
            <p:cNvSpPr/>
            <p:nvPr/>
          </p:nvSpPr>
          <p:spPr>
            <a:xfrm>
              <a:off x="3994403" y="1801368"/>
              <a:ext cx="190500" cy="20421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4626864" y="1566672"/>
              <a:ext cx="318770" cy="421005"/>
            </a:xfrm>
            <a:custGeom>
              <a:avLst/>
              <a:gdLst/>
              <a:ahLst/>
              <a:cxnLst/>
              <a:rect l="l" t="t" r="r" b="b"/>
              <a:pathLst>
                <a:path w="318770" h="421005">
                  <a:moveTo>
                    <a:pt x="159258" y="0"/>
                  </a:moveTo>
                  <a:lnTo>
                    <a:pt x="68580" y="155193"/>
                  </a:lnTo>
                  <a:lnTo>
                    <a:pt x="111125" y="155193"/>
                  </a:lnTo>
                  <a:lnTo>
                    <a:pt x="38988" y="276732"/>
                  </a:lnTo>
                  <a:lnTo>
                    <a:pt x="83312" y="276732"/>
                  </a:lnTo>
                  <a:lnTo>
                    <a:pt x="0" y="420624"/>
                  </a:lnTo>
                  <a:lnTo>
                    <a:pt x="318515" y="420624"/>
                  </a:lnTo>
                  <a:lnTo>
                    <a:pt x="235203" y="276732"/>
                  </a:lnTo>
                  <a:lnTo>
                    <a:pt x="279526" y="276732"/>
                  </a:lnTo>
                  <a:lnTo>
                    <a:pt x="209169" y="155193"/>
                  </a:lnTo>
                  <a:lnTo>
                    <a:pt x="249936" y="155193"/>
                  </a:lnTo>
                  <a:lnTo>
                    <a:pt x="159258" y="0"/>
                  </a:lnTo>
                  <a:close/>
                </a:path>
              </a:pathLst>
            </a:custGeom>
            <a:solidFill>
              <a:srgbClr val="12994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0" name="object 20"/>
            <p:cNvSpPr/>
            <p:nvPr/>
          </p:nvSpPr>
          <p:spPr>
            <a:xfrm>
              <a:off x="4472940" y="1792224"/>
              <a:ext cx="190500" cy="179831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1" name="object 21"/>
            <p:cNvSpPr/>
            <p:nvPr/>
          </p:nvSpPr>
          <p:spPr>
            <a:xfrm>
              <a:off x="5780532" y="1886712"/>
              <a:ext cx="144779" cy="13716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3666744" y="1854708"/>
              <a:ext cx="153923" cy="204215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3" name="object 23"/>
            <p:cNvSpPr/>
            <p:nvPr/>
          </p:nvSpPr>
          <p:spPr>
            <a:xfrm>
              <a:off x="10963656" y="2327147"/>
              <a:ext cx="866140" cy="492759"/>
            </a:xfrm>
            <a:custGeom>
              <a:avLst/>
              <a:gdLst/>
              <a:ahLst/>
              <a:cxnLst/>
              <a:rect l="l" t="t" r="r" b="b"/>
              <a:pathLst>
                <a:path w="866140" h="492760">
                  <a:moveTo>
                    <a:pt x="249936" y="376428"/>
                  </a:moveTo>
                  <a:lnTo>
                    <a:pt x="184531" y="259080"/>
                  </a:lnTo>
                  <a:lnTo>
                    <a:pt x="219329" y="259080"/>
                  </a:lnTo>
                  <a:lnTo>
                    <a:pt x="164211" y="160020"/>
                  </a:lnTo>
                  <a:lnTo>
                    <a:pt x="196088" y="160020"/>
                  </a:lnTo>
                  <a:lnTo>
                    <a:pt x="124968" y="33528"/>
                  </a:lnTo>
                  <a:lnTo>
                    <a:pt x="53848" y="160020"/>
                  </a:lnTo>
                  <a:lnTo>
                    <a:pt x="87249" y="160020"/>
                  </a:lnTo>
                  <a:lnTo>
                    <a:pt x="30607" y="259080"/>
                  </a:lnTo>
                  <a:lnTo>
                    <a:pt x="65405" y="259080"/>
                  </a:lnTo>
                  <a:lnTo>
                    <a:pt x="0" y="376428"/>
                  </a:lnTo>
                  <a:lnTo>
                    <a:pt x="249936" y="376428"/>
                  </a:lnTo>
                  <a:close/>
                </a:path>
                <a:path w="866140" h="492760">
                  <a:moveTo>
                    <a:pt x="865632" y="492252"/>
                  </a:moveTo>
                  <a:lnTo>
                    <a:pt x="771525" y="323850"/>
                  </a:lnTo>
                  <a:lnTo>
                    <a:pt x="821563" y="323850"/>
                  </a:lnTo>
                  <a:lnTo>
                    <a:pt x="742188" y="181610"/>
                  </a:lnTo>
                  <a:lnTo>
                    <a:pt x="788162" y="181610"/>
                  </a:lnTo>
                  <a:lnTo>
                    <a:pt x="685800" y="0"/>
                  </a:lnTo>
                  <a:lnTo>
                    <a:pt x="583438" y="181610"/>
                  </a:lnTo>
                  <a:lnTo>
                    <a:pt x="631571" y="181610"/>
                  </a:lnTo>
                  <a:lnTo>
                    <a:pt x="549910" y="323850"/>
                  </a:lnTo>
                  <a:lnTo>
                    <a:pt x="600075" y="323850"/>
                  </a:lnTo>
                  <a:lnTo>
                    <a:pt x="505968" y="492252"/>
                  </a:lnTo>
                  <a:lnTo>
                    <a:pt x="865632" y="492252"/>
                  </a:lnTo>
                  <a:close/>
                </a:path>
              </a:pathLst>
            </a:custGeom>
            <a:solidFill>
              <a:srgbClr val="0D7B3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4" name="object 24"/>
            <p:cNvSpPr/>
            <p:nvPr/>
          </p:nvSpPr>
          <p:spPr>
            <a:xfrm>
              <a:off x="667512" y="2644139"/>
              <a:ext cx="161544" cy="23622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41731" y="2157984"/>
              <a:ext cx="355600" cy="443865"/>
            </a:xfrm>
            <a:custGeom>
              <a:avLst/>
              <a:gdLst/>
              <a:ahLst/>
              <a:cxnLst/>
              <a:rect l="l" t="t" r="r" b="b"/>
              <a:pathLst>
                <a:path w="355600" h="443864">
                  <a:moveTo>
                    <a:pt x="177546" y="0"/>
                  </a:moveTo>
                  <a:lnTo>
                    <a:pt x="76492" y="163575"/>
                  </a:lnTo>
                  <a:lnTo>
                    <a:pt x="123952" y="163575"/>
                  </a:lnTo>
                  <a:lnTo>
                    <a:pt x="43395" y="291718"/>
                  </a:lnTo>
                  <a:lnTo>
                    <a:pt x="92862" y="291718"/>
                  </a:lnTo>
                  <a:lnTo>
                    <a:pt x="0" y="443483"/>
                  </a:lnTo>
                  <a:lnTo>
                    <a:pt x="355091" y="443483"/>
                  </a:lnTo>
                  <a:lnTo>
                    <a:pt x="262229" y="291718"/>
                  </a:lnTo>
                  <a:lnTo>
                    <a:pt x="311619" y="291718"/>
                  </a:lnTo>
                  <a:lnTo>
                    <a:pt x="233260" y="163575"/>
                  </a:lnTo>
                  <a:lnTo>
                    <a:pt x="278599" y="163575"/>
                  </a:lnTo>
                  <a:lnTo>
                    <a:pt x="177546" y="0"/>
                  </a:lnTo>
                  <a:close/>
                </a:path>
              </a:pathLst>
            </a:custGeom>
            <a:solidFill>
              <a:srgbClr val="0D7B3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455676" y="2330195"/>
              <a:ext cx="249936" cy="239267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1014983" y="2339340"/>
              <a:ext cx="185928" cy="17830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0061447" y="2144268"/>
              <a:ext cx="250190" cy="361315"/>
            </a:xfrm>
            <a:custGeom>
              <a:avLst/>
              <a:gdLst/>
              <a:ahLst/>
              <a:cxnLst/>
              <a:rect l="l" t="t" r="r" b="b"/>
              <a:pathLst>
                <a:path w="250190" h="361314">
                  <a:moveTo>
                    <a:pt x="124968" y="0"/>
                  </a:moveTo>
                  <a:lnTo>
                    <a:pt x="53848" y="133223"/>
                  </a:lnTo>
                  <a:lnTo>
                    <a:pt x="87249" y="133223"/>
                  </a:lnTo>
                  <a:lnTo>
                    <a:pt x="30606" y="237617"/>
                  </a:lnTo>
                  <a:lnTo>
                    <a:pt x="65404" y="237617"/>
                  </a:lnTo>
                  <a:lnTo>
                    <a:pt x="0" y="361188"/>
                  </a:lnTo>
                  <a:lnTo>
                    <a:pt x="249935" y="361188"/>
                  </a:lnTo>
                  <a:lnTo>
                    <a:pt x="184530" y="237617"/>
                  </a:lnTo>
                  <a:lnTo>
                    <a:pt x="219328" y="237617"/>
                  </a:lnTo>
                  <a:lnTo>
                    <a:pt x="164210" y="133223"/>
                  </a:lnTo>
                  <a:lnTo>
                    <a:pt x="196087" y="133223"/>
                  </a:lnTo>
                  <a:lnTo>
                    <a:pt x="124968" y="0"/>
                  </a:lnTo>
                  <a:close/>
                </a:path>
              </a:pathLst>
            </a:custGeom>
            <a:solidFill>
              <a:srgbClr val="0D7B3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9" name="object 29"/>
            <p:cNvSpPr/>
            <p:nvPr/>
          </p:nvSpPr>
          <p:spPr>
            <a:xfrm>
              <a:off x="9890759" y="2182368"/>
              <a:ext cx="211836" cy="425196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0" name="object 30"/>
            <p:cNvSpPr/>
            <p:nvPr/>
          </p:nvSpPr>
          <p:spPr>
            <a:xfrm>
              <a:off x="7764780" y="2023872"/>
              <a:ext cx="185927" cy="233172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1" name="object 31"/>
            <p:cNvSpPr/>
            <p:nvPr/>
          </p:nvSpPr>
          <p:spPr>
            <a:xfrm>
              <a:off x="7464552" y="1891284"/>
              <a:ext cx="259079" cy="353695"/>
            </a:xfrm>
            <a:custGeom>
              <a:avLst/>
              <a:gdLst/>
              <a:ahLst/>
              <a:cxnLst/>
              <a:rect l="l" t="t" r="r" b="b"/>
              <a:pathLst>
                <a:path w="259079" h="353694">
                  <a:moveTo>
                    <a:pt x="129540" y="0"/>
                  </a:moveTo>
                  <a:lnTo>
                    <a:pt x="55752" y="130428"/>
                  </a:lnTo>
                  <a:lnTo>
                    <a:pt x="90424" y="130428"/>
                  </a:lnTo>
                  <a:lnTo>
                    <a:pt x="31623" y="232663"/>
                  </a:lnTo>
                  <a:lnTo>
                    <a:pt x="67818" y="232663"/>
                  </a:lnTo>
                  <a:lnTo>
                    <a:pt x="0" y="353567"/>
                  </a:lnTo>
                  <a:lnTo>
                    <a:pt x="259079" y="353567"/>
                  </a:lnTo>
                  <a:lnTo>
                    <a:pt x="191262" y="232663"/>
                  </a:lnTo>
                  <a:lnTo>
                    <a:pt x="227329" y="232663"/>
                  </a:lnTo>
                  <a:lnTo>
                    <a:pt x="170179" y="130428"/>
                  </a:lnTo>
                  <a:lnTo>
                    <a:pt x="203326" y="130428"/>
                  </a:lnTo>
                  <a:lnTo>
                    <a:pt x="129540" y="0"/>
                  </a:lnTo>
                  <a:close/>
                </a:path>
              </a:pathLst>
            </a:custGeom>
            <a:solidFill>
              <a:srgbClr val="0D7B3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2" name="object 32"/>
            <p:cNvSpPr/>
            <p:nvPr/>
          </p:nvSpPr>
          <p:spPr>
            <a:xfrm>
              <a:off x="9363456" y="1979676"/>
              <a:ext cx="184403" cy="25146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3" name="object 33"/>
            <p:cNvSpPr/>
            <p:nvPr/>
          </p:nvSpPr>
          <p:spPr>
            <a:xfrm>
              <a:off x="8782811" y="1917192"/>
              <a:ext cx="184404" cy="251460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1610867"/>
              <a:ext cx="12189460" cy="5247640"/>
            </a:xfrm>
            <a:custGeom>
              <a:avLst/>
              <a:gdLst/>
              <a:ahLst/>
              <a:cxnLst/>
              <a:rect l="l" t="t" r="r" b="b"/>
              <a:pathLst>
                <a:path w="12189460" h="5247640">
                  <a:moveTo>
                    <a:pt x="12188939" y="1111643"/>
                  </a:moveTo>
                  <a:lnTo>
                    <a:pt x="12147512" y="1115314"/>
                  </a:lnTo>
                  <a:lnTo>
                    <a:pt x="12095861" y="1119085"/>
                  </a:lnTo>
                  <a:lnTo>
                    <a:pt x="12044147" y="1122083"/>
                  </a:lnTo>
                  <a:lnTo>
                    <a:pt x="11992394" y="1124305"/>
                  </a:lnTo>
                  <a:lnTo>
                    <a:pt x="11940616" y="1125740"/>
                  </a:lnTo>
                  <a:lnTo>
                    <a:pt x="11888826" y="1126401"/>
                  </a:lnTo>
                  <a:lnTo>
                    <a:pt x="11837022" y="1126286"/>
                  </a:lnTo>
                  <a:lnTo>
                    <a:pt x="11785232" y="1125385"/>
                  </a:lnTo>
                  <a:lnTo>
                    <a:pt x="11733454" y="1123708"/>
                  </a:lnTo>
                  <a:lnTo>
                    <a:pt x="11681714" y="1121257"/>
                  </a:lnTo>
                  <a:lnTo>
                    <a:pt x="11630012" y="1118031"/>
                  </a:lnTo>
                  <a:lnTo>
                    <a:pt x="11578361" y="1114031"/>
                  </a:lnTo>
                  <a:lnTo>
                    <a:pt x="11526787" y="1109256"/>
                  </a:lnTo>
                  <a:lnTo>
                    <a:pt x="11475301" y="1103718"/>
                  </a:lnTo>
                  <a:lnTo>
                    <a:pt x="11423891" y="1097394"/>
                  </a:lnTo>
                  <a:lnTo>
                    <a:pt x="11372596" y="1090295"/>
                  </a:lnTo>
                  <a:lnTo>
                    <a:pt x="11320755" y="1082319"/>
                  </a:lnTo>
                  <a:lnTo>
                    <a:pt x="11269345" y="1073619"/>
                  </a:lnTo>
                  <a:lnTo>
                    <a:pt x="11218316" y="1064247"/>
                  </a:lnTo>
                  <a:lnTo>
                    <a:pt x="11167669" y="1054239"/>
                  </a:lnTo>
                  <a:lnTo>
                    <a:pt x="11117351" y="1043647"/>
                  </a:lnTo>
                  <a:lnTo>
                    <a:pt x="11091253" y="1037818"/>
                  </a:lnTo>
                  <a:lnTo>
                    <a:pt x="11067364" y="1032484"/>
                  </a:lnTo>
                  <a:lnTo>
                    <a:pt x="11017669" y="1020813"/>
                  </a:lnTo>
                  <a:lnTo>
                    <a:pt x="10968241" y="1008659"/>
                  </a:lnTo>
                  <a:lnTo>
                    <a:pt x="10870133" y="983056"/>
                  </a:lnTo>
                  <a:lnTo>
                    <a:pt x="10772839" y="955992"/>
                  </a:lnTo>
                  <a:lnTo>
                    <a:pt x="10579938" y="898702"/>
                  </a:lnTo>
                  <a:lnTo>
                    <a:pt x="10147338" y="765568"/>
                  </a:lnTo>
                  <a:lnTo>
                    <a:pt x="10050183" y="737298"/>
                  </a:lnTo>
                  <a:lnTo>
                    <a:pt x="9952253" y="710158"/>
                  </a:lnTo>
                  <a:lnTo>
                    <a:pt x="9852571" y="684263"/>
                  </a:lnTo>
                  <a:lnTo>
                    <a:pt x="9751695" y="659866"/>
                  </a:lnTo>
                  <a:lnTo>
                    <a:pt x="9650616" y="637209"/>
                  </a:lnTo>
                  <a:lnTo>
                    <a:pt x="9549359" y="616318"/>
                  </a:lnTo>
                  <a:lnTo>
                    <a:pt x="9447911" y="597217"/>
                  </a:lnTo>
                  <a:lnTo>
                    <a:pt x="9346273" y="579932"/>
                  </a:lnTo>
                  <a:lnTo>
                    <a:pt x="9294152" y="572046"/>
                  </a:lnTo>
                  <a:lnTo>
                    <a:pt x="9240139" y="475234"/>
                  </a:lnTo>
                  <a:lnTo>
                    <a:pt x="9289542" y="475234"/>
                  </a:lnTo>
                  <a:lnTo>
                    <a:pt x="9211183" y="334772"/>
                  </a:lnTo>
                  <a:lnTo>
                    <a:pt x="9256522" y="334772"/>
                  </a:lnTo>
                  <a:lnTo>
                    <a:pt x="9155430" y="155448"/>
                  </a:lnTo>
                  <a:lnTo>
                    <a:pt x="9054338" y="334772"/>
                  </a:lnTo>
                  <a:lnTo>
                    <a:pt x="9101836" y="334772"/>
                  </a:lnTo>
                  <a:lnTo>
                    <a:pt x="9021318" y="475234"/>
                  </a:lnTo>
                  <a:lnTo>
                    <a:pt x="9070721" y="475234"/>
                  </a:lnTo>
                  <a:lnTo>
                    <a:pt x="9035237" y="538810"/>
                  </a:lnTo>
                  <a:lnTo>
                    <a:pt x="8989009" y="534187"/>
                  </a:lnTo>
                  <a:lnTo>
                    <a:pt x="8886622" y="525475"/>
                  </a:lnTo>
                  <a:lnTo>
                    <a:pt x="8783968" y="518718"/>
                  </a:lnTo>
                  <a:lnTo>
                    <a:pt x="8681123" y="513969"/>
                  </a:lnTo>
                  <a:lnTo>
                    <a:pt x="8578101" y="511251"/>
                  </a:lnTo>
                  <a:lnTo>
                    <a:pt x="8476513" y="510603"/>
                  </a:lnTo>
                  <a:lnTo>
                    <a:pt x="8376577" y="511873"/>
                  </a:lnTo>
                  <a:lnTo>
                    <a:pt x="8357946" y="512457"/>
                  </a:lnTo>
                  <a:lnTo>
                    <a:pt x="8274177" y="361950"/>
                  </a:lnTo>
                  <a:lnTo>
                    <a:pt x="8329930" y="361950"/>
                  </a:lnTo>
                  <a:lnTo>
                    <a:pt x="8241411" y="202946"/>
                  </a:lnTo>
                  <a:lnTo>
                    <a:pt x="8292592" y="202946"/>
                  </a:lnTo>
                  <a:lnTo>
                    <a:pt x="8178546" y="0"/>
                  </a:lnTo>
                  <a:lnTo>
                    <a:pt x="8064500" y="202946"/>
                  </a:lnTo>
                  <a:lnTo>
                    <a:pt x="8118094" y="202946"/>
                  </a:lnTo>
                  <a:lnTo>
                    <a:pt x="8027162" y="361950"/>
                  </a:lnTo>
                  <a:lnTo>
                    <a:pt x="8082915" y="361950"/>
                  </a:lnTo>
                  <a:lnTo>
                    <a:pt x="7987462" y="533412"/>
                  </a:lnTo>
                  <a:lnTo>
                    <a:pt x="7977467" y="534200"/>
                  </a:lnTo>
                  <a:lnTo>
                    <a:pt x="7877937" y="543610"/>
                  </a:lnTo>
                  <a:lnTo>
                    <a:pt x="7728610" y="560222"/>
                  </a:lnTo>
                  <a:lnTo>
                    <a:pt x="7579373" y="579564"/>
                  </a:lnTo>
                  <a:lnTo>
                    <a:pt x="7430186" y="601306"/>
                  </a:lnTo>
                  <a:lnTo>
                    <a:pt x="7231342" y="633501"/>
                  </a:lnTo>
                  <a:lnTo>
                    <a:pt x="6982815" y="677811"/>
                  </a:lnTo>
                  <a:lnTo>
                    <a:pt x="6084138" y="853757"/>
                  </a:lnTo>
                  <a:lnTo>
                    <a:pt x="5729541" y="918768"/>
                  </a:lnTo>
                  <a:lnTo>
                    <a:pt x="5526329" y="951903"/>
                  </a:lnTo>
                  <a:lnTo>
                    <a:pt x="5373611" y="974128"/>
                  </a:lnTo>
                  <a:lnTo>
                    <a:pt x="5220614" y="993648"/>
                  </a:lnTo>
                  <a:lnTo>
                    <a:pt x="5118455" y="1004976"/>
                  </a:lnTo>
                  <a:lnTo>
                    <a:pt x="5016157" y="1014806"/>
                  </a:lnTo>
                  <a:lnTo>
                    <a:pt x="4913706" y="1023035"/>
                  </a:lnTo>
                  <a:lnTo>
                    <a:pt x="4811128" y="1029550"/>
                  </a:lnTo>
                  <a:lnTo>
                    <a:pt x="4708385" y="1034211"/>
                  </a:lnTo>
                  <a:lnTo>
                    <a:pt x="4606429" y="1036955"/>
                  </a:lnTo>
                  <a:lnTo>
                    <a:pt x="4505452" y="1037818"/>
                  </a:lnTo>
                  <a:lnTo>
                    <a:pt x="4404550" y="1036916"/>
                  </a:lnTo>
                  <a:lnTo>
                    <a:pt x="4303712" y="1034364"/>
                  </a:lnTo>
                  <a:lnTo>
                    <a:pt x="4202963" y="1030287"/>
                  </a:lnTo>
                  <a:lnTo>
                    <a:pt x="4051935" y="1021626"/>
                  </a:lnTo>
                  <a:lnTo>
                    <a:pt x="3901021" y="1010259"/>
                  </a:lnTo>
                  <a:lnTo>
                    <a:pt x="3699941" y="991654"/>
                  </a:lnTo>
                  <a:lnTo>
                    <a:pt x="2594533" y="862812"/>
                  </a:lnTo>
                  <a:lnTo>
                    <a:pt x="2393213" y="842848"/>
                  </a:lnTo>
                  <a:lnTo>
                    <a:pt x="2242070" y="830186"/>
                  </a:lnTo>
                  <a:lnTo>
                    <a:pt x="2091004" y="820000"/>
                  </a:lnTo>
                  <a:lnTo>
                    <a:pt x="1940344" y="812558"/>
                  </a:lnTo>
                  <a:lnTo>
                    <a:pt x="1789645" y="807834"/>
                  </a:lnTo>
                  <a:lnTo>
                    <a:pt x="1638947" y="805840"/>
                  </a:lnTo>
                  <a:lnTo>
                    <a:pt x="1588731" y="805789"/>
                  </a:lnTo>
                  <a:lnTo>
                    <a:pt x="1488300" y="806577"/>
                  </a:lnTo>
                  <a:lnTo>
                    <a:pt x="1337729" y="810031"/>
                  </a:lnTo>
                  <a:lnTo>
                    <a:pt x="1187259" y="816190"/>
                  </a:lnTo>
                  <a:lnTo>
                    <a:pt x="1036955" y="825055"/>
                  </a:lnTo>
                  <a:lnTo>
                    <a:pt x="991146" y="828598"/>
                  </a:lnTo>
                  <a:lnTo>
                    <a:pt x="919060" y="710692"/>
                  </a:lnTo>
                  <a:lnTo>
                    <a:pt x="964399" y="710692"/>
                  </a:lnTo>
                  <a:lnTo>
                    <a:pt x="863346" y="547116"/>
                  </a:lnTo>
                  <a:lnTo>
                    <a:pt x="762292" y="710692"/>
                  </a:lnTo>
                  <a:lnTo>
                    <a:pt x="809752" y="710692"/>
                  </a:lnTo>
                  <a:lnTo>
                    <a:pt x="729195" y="838835"/>
                  </a:lnTo>
                  <a:lnTo>
                    <a:pt x="778662" y="838835"/>
                  </a:lnTo>
                  <a:lnTo>
                    <a:pt x="773391" y="847445"/>
                  </a:lnTo>
                  <a:lnTo>
                    <a:pt x="736930" y="850912"/>
                  </a:lnTo>
                  <a:lnTo>
                    <a:pt x="587298" y="867892"/>
                  </a:lnTo>
                  <a:lnTo>
                    <a:pt x="437959" y="887564"/>
                  </a:lnTo>
                  <a:lnTo>
                    <a:pt x="288950" y="909916"/>
                  </a:lnTo>
                  <a:lnTo>
                    <a:pt x="140322" y="934948"/>
                  </a:lnTo>
                  <a:lnTo>
                    <a:pt x="0" y="961136"/>
                  </a:lnTo>
                  <a:lnTo>
                    <a:pt x="0" y="5247132"/>
                  </a:lnTo>
                  <a:lnTo>
                    <a:pt x="12188939" y="5247132"/>
                  </a:lnTo>
                  <a:lnTo>
                    <a:pt x="12188939" y="1126401"/>
                  </a:lnTo>
                  <a:lnTo>
                    <a:pt x="12188939" y="1111643"/>
                  </a:lnTo>
                  <a:close/>
                </a:path>
              </a:pathLst>
            </a:custGeom>
            <a:solidFill>
              <a:srgbClr val="0D7B3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5" name="object 35"/>
            <p:cNvSpPr/>
            <p:nvPr/>
          </p:nvSpPr>
          <p:spPr>
            <a:xfrm>
              <a:off x="11237976" y="2482596"/>
              <a:ext cx="169164" cy="23164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6" name="object 36"/>
            <p:cNvSpPr/>
            <p:nvPr/>
          </p:nvSpPr>
          <p:spPr>
            <a:xfrm>
              <a:off x="6845808" y="1830323"/>
              <a:ext cx="1737360" cy="599440"/>
            </a:xfrm>
            <a:custGeom>
              <a:avLst/>
              <a:gdLst/>
              <a:ahLst/>
              <a:cxnLst/>
              <a:rect l="l" t="t" r="r" b="b"/>
              <a:pathLst>
                <a:path w="1737359" h="599439">
                  <a:moveTo>
                    <a:pt x="249936" y="598932"/>
                  </a:moveTo>
                  <a:lnTo>
                    <a:pt x="184531" y="482092"/>
                  </a:lnTo>
                  <a:lnTo>
                    <a:pt x="219329" y="482092"/>
                  </a:lnTo>
                  <a:lnTo>
                    <a:pt x="164211" y="383540"/>
                  </a:lnTo>
                  <a:lnTo>
                    <a:pt x="196088" y="383540"/>
                  </a:lnTo>
                  <a:lnTo>
                    <a:pt x="124968" y="257556"/>
                  </a:lnTo>
                  <a:lnTo>
                    <a:pt x="53848" y="383540"/>
                  </a:lnTo>
                  <a:lnTo>
                    <a:pt x="87249" y="383540"/>
                  </a:lnTo>
                  <a:lnTo>
                    <a:pt x="30607" y="482092"/>
                  </a:lnTo>
                  <a:lnTo>
                    <a:pt x="65405" y="482092"/>
                  </a:lnTo>
                  <a:lnTo>
                    <a:pt x="0" y="598932"/>
                  </a:lnTo>
                  <a:lnTo>
                    <a:pt x="249936" y="598932"/>
                  </a:lnTo>
                  <a:close/>
                </a:path>
                <a:path w="1737359" h="599439">
                  <a:moveTo>
                    <a:pt x="510540" y="541020"/>
                  </a:moveTo>
                  <a:lnTo>
                    <a:pt x="445135" y="424180"/>
                  </a:lnTo>
                  <a:lnTo>
                    <a:pt x="479933" y="424180"/>
                  </a:lnTo>
                  <a:lnTo>
                    <a:pt x="424815" y="325628"/>
                  </a:lnTo>
                  <a:lnTo>
                    <a:pt x="456692" y="325628"/>
                  </a:lnTo>
                  <a:lnTo>
                    <a:pt x="385572" y="199644"/>
                  </a:lnTo>
                  <a:lnTo>
                    <a:pt x="314452" y="325628"/>
                  </a:lnTo>
                  <a:lnTo>
                    <a:pt x="347853" y="325628"/>
                  </a:lnTo>
                  <a:lnTo>
                    <a:pt x="291211" y="424180"/>
                  </a:lnTo>
                  <a:lnTo>
                    <a:pt x="326009" y="424180"/>
                  </a:lnTo>
                  <a:lnTo>
                    <a:pt x="260604" y="541020"/>
                  </a:lnTo>
                  <a:lnTo>
                    <a:pt x="510540" y="541020"/>
                  </a:lnTo>
                  <a:close/>
                </a:path>
                <a:path w="1737359" h="599439">
                  <a:moveTo>
                    <a:pt x="1737360" y="353568"/>
                  </a:moveTo>
                  <a:lnTo>
                    <a:pt x="1669542" y="232664"/>
                  </a:lnTo>
                  <a:lnTo>
                    <a:pt x="1705610" y="232664"/>
                  </a:lnTo>
                  <a:lnTo>
                    <a:pt x="1648460" y="130429"/>
                  </a:lnTo>
                  <a:lnTo>
                    <a:pt x="1681607" y="130429"/>
                  </a:lnTo>
                  <a:lnTo>
                    <a:pt x="1607820" y="0"/>
                  </a:lnTo>
                  <a:lnTo>
                    <a:pt x="1534033" y="130429"/>
                  </a:lnTo>
                  <a:lnTo>
                    <a:pt x="1568704" y="130429"/>
                  </a:lnTo>
                  <a:lnTo>
                    <a:pt x="1509903" y="232664"/>
                  </a:lnTo>
                  <a:lnTo>
                    <a:pt x="1546098" y="232664"/>
                  </a:lnTo>
                  <a:lnTo>
                    <a:pt x="1478280" y="353568"/>
                  </a:lnTo>
                  <a:lnTo>
                    <a:pt x="1737360" y="353568"/>
                  </a:lnTo>
                  <a:close/>
                </a:path>
              </a:pathLst>
            </a:custGeom>
            <a:solidFill>
              <a:srgbClr val="0D7B39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7" name="object 37"/>
            <p:cNvSpPr/>
            <p:nvPr/>
          </p:nvSpPr>
          <p:spPr>
            <a:xfrm>
              <a:off x="5507735" y="2837688"/>
              <a:ext cx="2026919" cy="176326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8" name="object 38"/>
            <p:cNvSpPr/>
            <p:nvPr/>
          </p:nvSpPr>
          <p:spPr>
            <a:xfrm>
              <a:off x="5455920" y="2767583"/>
              <a:ext cx="2008631" cy="1252727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9" name="object 39"/>
            <p:cNvSpPr/>
            <p:nvPr/>
          </p:nvSpPr>
          <p:spPr>
            <a:xfrm>
              <a:off x="5875020" y="3115436"/>
              <a:ext cx="1191895" cy="408940"/>
            </a:xfrm>
            <a:custGeom>
              <a:avLst/>
              <a:gdLst/>
              <a:ahLst/>
              <a:cxnLst/>
              <a:rect l="l" t="t" r="r" b="b"/>
              <a:pathLst>
                <a:path w="1191895" h="408939">
                  <a:moveTo>
                    <a:pt x="175767" y="112902"/>
                  </a:moveTo>
                  <a:lnTo>
                    <a:pt x="99059" y="112902"/>
                  </a:lnTo>
                  <a:lnTo>
                    <a:pt x="99059" y="402082"/>
                  </a:lnTo>
                  <a:lnTo>
                    <a:pt x="175767" y="402082"/>
                  </a:lnTo>
                  <a:lnTo>
                    <a:pt x="175767" y="112902"/>
                  </a:lnTo>
                  <a:close/>
                </a:path>
                <a:path w="1191895" h="408939">
                  <a:moveTo>
                    <a:pt x="175767" y="0"/>
                  </a:moveTo>
                  <a:lnTo>
                    <a:pt x="113537" y="0"/>
                  </a:lnTo>
                  <a:lnTo>
                    <a:pt x="105604" y="17736"/>
                  </a:lnTo>
                  <a:lnTo>
                    <a:pt x="94932" y="34353"/>
                  </a:lnTo>
                  <a:lnTo>
                    <a:pt x="65277" y="64135"/>
                  </a:lnTo>
                  <a:lnTo>
                    <a:pt x="31305" y="87169"/>
                  </a:lnTo>
                  <a:lnTo>
                    <a:pt x="0" y="101346"/>
                  </a:lnTo>
                  <a:lnTo>
                    <a:pt x="0" y="171068"/>
                  </a:lnTo>
                  <a:lnTo>
                    <a:pt x="27551" y="160355"/>
                  </a:lnTo>
                  <a:lnTo>
                    <a:pt x="53244" y="147081"/>
                  </a:lnTo>
                  <a:lnTo>
                    <a:pt x="77081" y="131260"/>
                  </a:lnTo>
                  <a:lnTo>
                    <a:pt x="99059" y="112902"/>
                  </a:lnTo>
                  <a:lnTo>
                    <a:pt x="175767" y="112902"/>
                  </a:lnTo>
                  <a:lnTo>
                    <a:pt x="175767" y="0"/>
                  </a:lnTo>
                  <a:close/>
                </a:path>
                <a:path w="1191895" h="408939">
                  <a:moveTo>
                    <a:pt x="420115" y="0"/>
                  </a:moveTo>
                  <a:lnTo>
                    <a:pt x="368299" y="10271"/>
                  </a:lnTo>
                  <a:lnTo>
                    <a:pt x="329438" y="41021"/>
                  </a:lnTo>
                  <a:lnTo>
                    <a:pt x="299894" y="106568"/>
                  </a:lnTo>
                  <a:lnTo>
                    <a:pt x="292522" y="151231"/>
                  </a:lnTo>
                  <a:lnTo>
                    <a:pt x="290067" y="203835"/>
                  </a:lnTo>
                  <a:lnTo>
                    <a:pt x="292306" y="257057"/>
                  </a:lnTo>
                  <a:lnTo>
                    <a:pt x="299021" y="301482"/>
                  </a:lnTo>
                  <a:lnTo>
                    <a:pt x="325881" y="363982"/>
                  </a:lnTo>
                  <a:lnTo>
                    <a:pt x="367331" y="397700"/>
                  </a:lnTo>
                  <a:lnTo>
                    <a:pt x="420115" y="408939"/>
                  </a:lnTo>
                  <a:lnTo>
                    <a:pt x="447571" y="406370"/>
                  </a:lnTo>
                  <a:lnTo>
                    <a:pt x="471836" y="398668"/>
                  </a:lnTo>
                  <a:lnTo>
                    <a:pt x="492910" y="385847"/>
                  </a:lnTo>
                  <a:lnTo>
                    <a:pt x="510793" y="367918"/>
                  </a:lnTo>
                  <a:lnTo>
                    <a:pt x="524318" y="345186"/>
                  </a:lnTo>
                  <a:lnTo>
                    <a:pt x="420115" y="345186"/>
                  </a:lnTo>
                  <a:lnTo>
                    <a:pt x="413353" y="344658"/>
                  </a:lnTo>
                  <a:lnTo>
                    <a:pt x="381277" y="313493"/>
                  </a:lnTo>
                  <a:lnTo>
                    <a:pt x="372125" y="264033"/>
                  </a:lnTo>
                  <a:lnTo>
                    <a:pt x="370331" y="204597"/>
                  </a:lnTo>
                  <a:lnTo>
                    <a:pt x="370832" y="171902"/>
                  </a:lnTo>
                  <a:lnTo>
                    <a:pt x="374832" y="121800"/>
                  </a:lnTo>
                  <a:lnTo>
                    <a:pt x="385540" y="84931"/>
                  </a:lnTo>
                  <a:lnTo>
                    <a:pt x="420115" y="63626"/>
                  </a:lnTo>
                  <a:lnTo>
                    <a:pt x="524231" y="63626"/>
                  </a:lnTo>
                  <a:lnTo>
                    <a:pt x="511047" y="41528"/>
                  </a:lnTo>
                  <a:lnTo>
                    <a:pt x="493071" y="23360"/>
                  </a:lnTo>
                  <a:lnTo>
                    <a:pt x="471916" y="10382"/>
                  </a:lnTo>
                  <a:lnTo>
                    <a:pt x="447593" y="2595"/>
                  </a:lnTo>
                  <a:lnTo>
                    <a:pt x="420115" y="0"/>
                  </a:lnTo>
                  <a:close/>
                </a:path>
                <a:path w="1191895" h="408939">
                  <a:moveTo>
                    <a:pt x="524231" y="63626"/>
                  </a:moveTo>
                  <a:lnTo>
                    <a:pt x="420115" y="63626"/>
                  </a:lnTo>
                  <a:lnTo>
                    <a:pt x="426876" y="64194"/>
                  </a:lnTo>
                  <a:lnTo>
                    <a:pt x="433244" y="65881"/>
                  </a:lnTo>
                  <a:lnTo>
                    <a:pt x="458898" y="95698"/>
                  </a:lnTo>
                  <a:lnTo>
                    <a:pt x="468026" y="145161"/>
                  </a:lnTo>
                  <a:lnTo>
                    <a:pt x="469772" y="204597"/>
                  </a:lnTo>
                  <a:lnTo>
                    <a:pt x="469274" y="237269"/>
                  </a:lnTo>
                  <a:lnTo>
                    <a:pt x="465326" y="287232"/>
                  </a:lnTo>
                  <a:lnTo>
                    <a:pt x="454628" y="323961"/>
                  </a:lnTo>
                  <a:lnTo>
                    <a:pt x="420115" y="345186"/>
                  </a:lnTo>
                  <a:lnTo>
                    <a:pt x="524318" y="345186"/>
                  </a:lnTo>
                  <a:lnTo>
                    <a:pt x="527962" y="339060"/>
                  </a:lnTo>
                  <a:lnTo>
                    <a:pt x="540226" y="302212"/>
                  </a:lnTo>
                  <a:lnTo>
                    <a:pt x="547584" y="257387"/>
                  </a:lnTo>
                  <a:lnTo>
                    <a:pt x="550037" y="204597"/>
                  </a:lnTo>
                  <a:lnTo>
                    <a:pt x="547606" y="151685"/>
                  </a:lnTo>
                  <a:lnTo>
                    <a:pt x="540305" y="106870"/>
                  </a:lnTo>
                  <a:lnTo>
                    <a:pt x="528123" y="70151"/>
                  </a:lnTo>
                  <a:lnTo>
                    <a:pt x="524231" y="63626"/>
                  </a:lnTo>
                  <a:close/>
                </a:path>
                <a:path w="1191895" h="408939">
                  <a:moveTo>
                    <a:pt x="731011" y="0"/>
                  </a:moveTo>
                  <a:lnTo>
                    <a:pt x="679196" y="10271"/>
                  </a:lnTo>
                  <a:lnTo>
                    <a:pt x="640333" y="41021"/>
                  </a:lnTo>
                  <a:lnTo>
                    <a:pt x="610790" y="106568"/>
                  </a:lnTo>
                  <a:lnTo>
                    <a:pt x="603418" y="151231"/>
                  </a:lnTo>
                  <a:lnTo>
                    <a:pt x="600963" y="203835"/>
                  </a:lnTo>
                  <a:lnTo>
                    <a:pt x="603202" y="257057"/>
                  </a:lnTo>
                  <a:lnTo>
                    <a:pt x="609917" y="301482"/>
                  </a:lnTo>
                  <a:lnTo>
                    <a:pt x="636777" y="363982"/>
                  </a:lnTo>
                  <a:lnTo>
                    <a:pt x="678227" y="397700"/>
                  </a:lnTo>
                  <a:lnTo>
                    <a:pt x="731011" y="408939"/>
                  </a:lnTo>
                  <a:lnTo>
                    <a:pt x="758467" y="406370"/>
                  </a:lnTo>
                  <a:lnTo>
                    <a:pt x="782732" y="398668"/>
                  </a:lnTo>
                  <a:lnTo>
                    <a:pt x="803806" y="385847"/>
                  </a:lnTo>
                  <a:lnTo>
                    <a:pt x="821689" y="367918"/>
                  </a:lnTo>
                  <a:lnTo>
                    <a:pt x="835214" y="345186"/>
                  </a:lnTo>
                  <a:lnTo>
                    <a:pt x="731011" y="345186"/>
                  </a:lnTo>
                  <a:lnTo>
                    <a:pt x="724249" y="344658"/>
                  </a:lnTo>
                  <a:lnTo>
                    <a:pt x="692173" y="313493"/>
                  </a:lnTo>
                  <a:lnTo>
                    <a:pt x="683021" y="264033"/>
                  </a:lnTo>
                  <a:lnTo>
                    <a:pt x="681227" y="204597"/>
                  </a:lnTo>
                  <a:lnTo>
                    <a:pt x="681728" y="171902"/>
                  </a:lnTo>
                  <a:lnTo>
                    <a:pt x="685728" y="121800"/>
                  </a:lnTo>
                  <a:lnTo>
                    <a:pt x="696436" y="84931"/>
                  </a:lnTo>
                  <a:lnTo>
                    <a:pt x="731011" y="63626"/>
                  </a:lnTo>
                  <a:lnTo>
                    <a:pt x="835127" y="63626"/>
                  </a:lnTo>
                  <a:lnTo>
                    <a:pt x="821944" y="41528"/>
                  </a:lnTo>
                  <a:lnTo>
                    <a:pt x="803967" y="23360"/>
                  </a:lnTo>
                  <a:lnTo>
                    <a:pt x="782812" y="10382"/>
                  </a:lnTo>
                  <a:lnTo>
                    <a:pt x="758489" y="2595"/>
                  </a:lnTo>
                  <a:lnTo>
                    <a:pt x="731011" y="0"/>
                  </a:lnTo>
                  <a:close/>
                </a:path>
                <a:path w="1191895" h="408939">
                  <a:moveTo>
                    <a:pt x="835127" y="63626"/>
                  </a:moveTo>
                  <a:lnTo>
                    <a:pt x="731011" y="63626"/>
                  </a:lnTo>
                  <a:lnTo>
                    <a:pt x="737772" y="64194"/>
                  </a:lnTo>
                  <a:lnTo>
                    <a:pt x="744140" y="65881"/>
                  </a:lnTo>
                  <a:lnTo>
                    <a:pt x="769794" y="95698"/>
                  </a:lnTo>
                  <a:lnTo>
                    <a:pt x="778922" y="145161"/>
                  </a:lnTo>
                  <a:lnTo>
                    <a:pt x="780669" y="204597"/>
                  </a:lnTo>
                  <a:lnTo>
                    <a:pt x="780170" y="237269"/>
                  </a:lnTo>
                  <a:lnTo>
                    <a:pt x="776222" y="287232"/>
                  </a:lnTo>
                  <a:lnTo>
                    <a:pt x="765524" y="323961"/>
                  </a:lnTo>
                  <a:lnTo>
                    <a:pt x="731011" y="345186"/>
                  </a:lnTo>
                  <a:lnTo>
                    <a:pt x="835214" y="345186"/>
                  </a:lnTo>
                  <a:lnTo>
                    <a:pt x="838858" y="339060"/>
                  </a:lnTo>
                  <a:lnTo>
                    <a:pt x="851122" y="302212"/>
                  </a:lnTo>
                  <a:lnTo>
                    <a:pt x="858480" y="257387"/>
                  </a:lnTo>
                  <a:lnTo>
                    <a:pt x="860932" y="204597"/>
                  </a:lnTo>
                  <a:lnTo>
                    <a:pt x="858502" y="151685"/>
                  </a:lnTo>
                  <a:lnTo>
                    <a:pt x="851201" y="106870"/>
                  </a:lnTo>
                  <a:lnTo>
                    <a:pt x="839019" y="70151"/>
                  </a:lnTo>
                  <a:lnTo>
                    <a:pt x="835127" y="63626"/>
                  </a:lnTo>
                  <a:close/>
                </a:path>
                <a:path w="1191895" h="408939">
                  <a:moveTo>
                    <a:pt x="1086357" y="240411"/>
                  </a:moveTo>
                  <a:lnTo>
                    <a:pt x="1016507" y="240411"/>
                  </a:lnTo>
                  <a:lnTo>
                    <a:pt x="1016507" y="344424"/>
                  </a:lnTo>
                  <a:lnTo>
                    <a:pt x="1086357" y="344424"/>
                  </a:lnTo>
                  <a:lnTo>
                    <a:pt x="1086357" y="240411"/>
                  </a:lnTo>
                  <a:close/>
                </a:path>
                <a:path w="1191895" h="408939">
                  <a:moveTo>
                    <a:pt x="1191513" y="168528"/>
                  </a:moveTo>
                  <a:lnTo>
                    <a:pt x="911605" y="168528"/>
                  </a:lnTo>
                  <a:lnTo>
                    <a:pt x="911605" y="240411"/>
                  </a:lnTo>
                  <a:lnTo>
                    <a:pt x="1191513" y="240411"/>
                  </a:lnTo>
                  <a:lnTo>
                    <a:pt x="1191513" y="168528"/>
                  </a:lnTo>
                  <a:close/>
                </a:path>
                <a:path w="1191895" h="408939">
                  <a:moveTo>
                    <a:pt x="1086357" y="64515"/>
                  </a:moveTo>
                  <a:lnTo>
                    <a:pt x="1016507" y="64515"/>
                  </a:lnTo>
                  <a:lnTo>
                    <a:pt x="1016507" y="168528"/>
                  </a:lnTo>
                  <a:lnTo>
                    <a:pt x="1086357" y="168528"/>
                  </a:lnTo>
                  <a:lnTo>
                    <a:pt x="1086357" y="64515"/>
                  </a:lnTo>
                  <a:close/>
                </a:path>
              </a:pathLst>
            </a:custGeom>
            <a:solidFill>
              <a:srgbClr val="EBA428">
                <a:alpha val="98823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0" name="object 40"/>
            <p:cNvSpPr/>
            <p:nvPr/>
          </p:nvSpPr>
          <p:spPr>
            <a:xfrm>
              <a:off x="5779008" y="3502151"/>
              <a:ext cx="1481328" cy="403860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1" name="object 41"/>
            <p:cNvSpPr/>
            <p:nvPr/>
          </p:nvSpPr>
          <p:spPr>
            <a:xfrm>
              <a:off x="5914771" y="3612768"/>
              <a:ext cx="1216025" cy="132080"/>
            </a:xfrm>
            <a:custGeom>
              <a:avLst/>
              <a:gdLst/>
              <a:ahLst/>
              <a:cxnLst/>
              <a:rect l="l" t="t" r="r" b="b"/>
              <a:pathLst>
                <a:path w="1216025" h="132079">
                  <a:moveTo>
                    <a:pt x="100076" y="2159"/>
                  </a:moveTo>
                  <a:lnTo>
                    <a:pt x="83185" y="2159"/>
                  </a:lnTo>
                  <a:lnTo>
                    <a:pt x="83185" y="54483"/>
                  </a:lnTo>
                  <a:lnTo>
                    <a:pt x="16891" y="54483"/>
                  </a:lnTo>
                  <a:lnTo>
                    <a:pt x="16891" y="2159"/>
                  </a:lnTo>
                  <a:lnTo>
                    <a:pt x="0" y="2159"/>
                  </a:lnTo>
                  <a:lnTo>
                    <a:pt x="0" y="129794"/>
                  </a:lnTo>
                  <a:lnTo>
                    <a:pt x="16891" y="129794"/>
                  </a:lnTo>
                  <a:lnTo>
                    <a:pt x="16891" y="69596"/>
                  </a:lnTo>
                  <a:lnTo>
                    <a:pt x="83185" y="69596"/>
                  </a:lnTo>
                  <a:lnTo>
                    <a:pt x="83185" y="129794"/>
                  </a:lnTo>
                  <a:lnTo>
                    <a:pt x="100076" y="129794"/>
                  </a:lnTo>
                  <a:lnTo>
                    <a:pt x="100076" y="69596"/>
                  </a:lnTo>
                  <a:lnTo>
                    <a:pt x="100076" y="54483"/>
                  </a:lnTo>
                  <a:lnTo>
                    <a:pt x="100076" y="2159"/>
                  </a:lnTo>
                  <a:close/>
                </a:path>
                <a:path w="1216025" h="132079">
                  <a:moveTo>
                    <a:pt x="223139" y="85344"/>
                  </a:moveTo>
                  <a:lnTo>
                    <a:pt x="221107" y="78867"/>
                  </a:lnTo>
                  <a:lnTo>
                    <a:pt x="214960" y="70866"/>
                  </a:lnTo>
                  <a:lnTo>
                    <a:pt x="212725" y="67945"/>
                  </a:lnTo>
                  <a:lnTo>
                    <a:pt x="206883" y="64135"/>
                  </a:lnTo>
                  <a:lnTo>
                    <a:pt x="205613" y="63766"/>
                  </a:lnTo>
                  <a:lnTo>
                    <a:pt x="205613" y="88011"/>
                  </a:lnTo>
                  <a:lnTo>
                    <a:pt x="205613" y="96774"/>
                  </a:lnTo>
                  <a:lnTo>
                    <a:pt x="204851" y="100457"/>
                  </a:lnTo>
                  <a:lnTo>
                    <a:pt x="203073" y="103505"/>
                  </a:lnTo>
                  <a:lnTo>
                    <a:pt x="201422" y="106680"/>
                  </a:lnTo>
                  <a:lnTo>
                    <a:pt x="186944" y="114046"/>
                  </a:lnTo>
                  <a:lnTo>
                    <a:pt x="184785" y="114554"/>
                  </a:lnTo>
                  <a:lnTo>
                    <a:pt x="180848" y="114681"/>
                  </a:lnTo>
                  <a:lnTo>
                    <a:pt x="143637" y="114681"/>
                  </a:lnTo>
                  <a:lnTo>
                    <a:pt x="143637" y="70866"/>
                  </a:lnTo>
                  <a:lnTo>
                    <a:pt x="181356" y="70866"/>
                  </a:lnTo>
                  <a:lnTo>
                    <a:pt x="201930" y="80391"/>
                  </a:lnTo>
                  <a:lnTo>
                    <a:pt x="204470" y="83820"/>
                  </a:lnTo>
                  <a:lnTo>
                    <a:pt x="205613" y="88011"/>
                  </a:lnTo>
                  <a:lnTo>
                    <a:pt x="205613" y="63766"/>
                  </a:lnTo>
                  <a:lnTo>
                    <a:pt x="199136" y="61849"/>
                  </a:lnTo>
                  <a:lnTo>
                    <a:pt x="205105" y="58928"/>
                  </a:lnTo>
                  <a:lnTo>
                    <a:pt x="208686" y="55753"/>
                  </a:lnTo>
                  <a:lnTo>
                    <a:pt x="209550" y="54991"/>
                  </a:lnTo>
                  <a:lnTo>
                    <a:pt x="212471" y="50165"/>
                  </a:lnTo>
                  <a:lnTo>
                    <a:pt x="215519" y="45339"/>
                  </a:lnTo>
                  <a:lnTo>
                    <a:pt x="216916" y="40259"/>
                  </a:lnTo>
                  <a:lnTo>
                    <a:pt x="216877" y="28829"/>
                  </a:lnTo>
                  <a:lnTo>
                    <a:pt x="215265" y="23241"/>
                  </a:lnTo>
                  <a:lnTo>
                    <a:pt x="211480" y="17145"/>
                  </a:lnTo>
                  <a:lnTo>
                    <a:pt x="208661" y="12573"/>
                  </a:lnTo>
                  <a:lnTo>
                    <a:pt x="203962" y="8636"/>
                  </a:lnTo>
                  <a:lnTo>
                    <a:pt x="200279" y="6959"/>
                  </a:lnTo>
                  <a:lnTo>
                    <a:pt x="200279" y="32512"/>
                  </a:lnTo>
                  <a:lnTo>
                    <a:pt x="200279" y="41275"/>
                  </a:lnTo>
                  <a:lnTo>
                    <a:pt x="199263" y="44958"/>
                  </a:lnTo>
                  <a:lnTo>
                    <a:pt x="197104" y="47879"/>
                  </a:lnTo>
                  <a:lnTo>
                    <a:pt x="194945" y="50927"/>
                  </a:lnTo>
                  <a:lnTo>
                    <a:pt x="191643" y="52959"/>
                  </a:lnTo>
                  <a:lnTo>
                    <a:pt x="187325" y="54229"/>
                  </a:lnTo>
                  <a:lnTo>
                    <a:pt x="184150" y="55245"/>
                  </a:lnTo>
                  <a:lnTo>
                    <a:pt x="178689" y="55753"/>
                  </a:lnTo>
                  <a:lnTo>
                    <a:pt x="143637" y="55753"/>
                  </a:lnTo>
                  <a:lnTo>
                    <a:pt x="143637" y="17145"/>
                  </a:lnTo>
                  <a:lnTo>
                    <a:pt x="178308" y="17145"/>
                  </a:lnTo>
                  <a:lnTo>
                    <a:pt x="197231" y="25654"/>
                  </a:lnTo>
                  <a:lnTo>
                    <a:pt x="199263" y="28829"/>
                  </a:lnTo>
                  <a:lnTo>
                    <a:pt x="184404" y="2159"/>
                  </a:lnTo>
                  <a:lnTo>
                    <a:pt x="126746" y="2159"/>
                  </a:lnTo>
                  <a:lnTo>
                    <a:pt x="126746" y="129794"/>
                  </a:lnTo>
                  <a:lnTo>
                    <a:pt x="183515" y="129794"/>
                  </a:lnTo>
                  <a:lnTo>
                    <a:pt x="216687" y="114681"/>
                  </a:lnTo>
                  <a:lnTo>
                    <a:pt x="216789" y="114554"/>
                  </a:lnTo>
                  <a:lnTo>
                    <a:pt x="219329" y="109474"/>
                  </a:lnTo>
                  <a:lnTo>
                    <a:pt x="221869" y="104267"/>
                  </a:lnTo>
                  <a:lnTo>
                    <a:pt x="223139" y="98679"/>
                  </a:lnTo>
                  <a:lnTo>
                    <a:pt x="223139" y="85344"/>
                  </a:lnTo>
                  <a:close/>
                </a:path>
                <a:path w="1216025" h="132079">
                  <a:moveTo>
                    <a:pt x="324231" y="129794"/>
                  </a:moveTo>
                  <a:lnTo>
                    <a:pt x="319151" y="83312"/>
                  </a:lnTo>
                  <a:lnTo>
                    <a:pt x="319151" y="63119"/>
                  </a:lnTo>
                  <a:lnTo>
                    <a:pt x="318897" y="58293"/>
                  </a:lnTo>
                  <a:lnTo>
                    <a:pt x="318389" y="55626"/>
                  </a:lnTo>
                  <a:lnTo>
                    <a:pt x="317500" y="51435"/>
                  </a:lnTo>
                  <a:lnTo>
                    <a:pt x="315963" y="48133"/>
                  </a:lnTo>
                  <a:lnTo>
                    <a:pt x="315849" y="47879"/>
                  </a:lnTo>
                  <a:lnTo>
                    <a:pt x="291338" y="35179"/>
                  </a:lnTo>
                  <a:lnTo>
                    <a:pt x="275463" y="35179"/>
                  </a:lnTo>
                  <a:lnTo>
                    <a:pt x="243078" y="57150"/>
                  </a:lnTo>
                  <a:lnTo>
                    <a:pt x="241681" y="63627"/>
                  </a:lnTo>
                  <a:lnTo>
                    <a:pt x="257048" y="65786"/>
                  </a:lnTo>
                  <a:lnTo>
                    <a:pt x="258699" y="59182"/>
                  </a:lnTo>
                  <a:lnTo>
                    <a:pt x="261366" y="54610"/>
                  </a:lnTo>
                  <a:lnTo>
                    <a:pt x="264795" y="52070"/>
                  </a:lnTo>
                  <a:lnTo>
                    <a:pt x="268351" y="49530"/>
                  </a:lnTo>
                  <a:lnTo>
                    <a:pt x="273812" y="48133"/>
                  </a:lnTo>
                  <a:lnTo>
                    <a:pt x="289052" y="48133"/>
                  </a:lnTo>
                  <a:lnTo>
                    <a:pt x="295021" y="49911"/>
                  </a:lnTo>
                  <a:lnTo>
                    <a:pt x="298958" y="53467"/>
                  </a:lnTo>
                  <a:lnTo>
                    <a:pt x="302006" y="56134"/>
                  </a:lnTo>
                  <a:lnTo>
                    <a:pt x="303403" y="60579"/>
                  </a:lnTo>
                  <a:lnTo>
                    <a:pt x="303403" y="71120"/>
                  </a:lnTo>
                  <a:lnTo>
                    <a:pt x="303403" y="83312"/>
                  </a:lnTo>
                  <a:lnTo>
                    <a:pt x="303403" y="96012"/>
                  </a:lnTo>
                  <a:lnTo>
                    <a:pt x="302514" y="101219"/>
                  </a:lnTo>
                  <a:lnTo>
                    <a:pt x="300863" y="104775"/>
                  </a:lnTo>
                  <a:lnTo>
                    <a:pt x="298577" y="109347"/>
                  </a:lnTo>
                  <a:lnTo>
                    <a:pt x="295148" y="113030"/>
                  </a:lnTo>
                  <a:lnTo>
                    <a:pt x="290449" y="115570"/>
                  </a:lnTo>
                  <a:lnTo>
                    <a:pt x="285750" y="118237"/>
                  </a:lnTo>
                  <a:lnTo>
                    <a:pt x="280416" y="119634"/>
                  </a:lnTo>
                  <a:lnTo>
                    <a:pt x="268224" y="119634"/>
                  </a:lnTo>
                  <a:lnTo>
                    <a:pt x="263652" y="118237"/>
                  </a:lnTo>
                  <a:lnTo>
                    <a:pt x="257302" y="112649"/>
                  </a:lnTo>
                  <a:lnTo>
                    <a:pt x="255879" y="109347"/>
                  </a:lnTo>
                  <a:lnTo>
                    <a:pt x="255778" y="102235"/>
                  </a:lnTo>
                  <a:lnTo>
                    <a:pt x="256413" y="99695"/>
                  </a:lnTo>
                  <a:lnTo>
                    <a:pt x="257937" y="97536"/>
                  </a:lnTo>
                  <a:lnTo>
                    <a:pt x="259334" y="95250"/>
                  </a:lnTo>
                  <a:lnTo>
                    <a:pt x="277749" y="89281"/>
                  </a:lnTo>
                  <a:lnTo>
                    <a:pt x="285775" y="87998"/>
                  </a:lnTo>
                  <a:lnTo>
                    <a:pt x="292709" y="86588"/>
                  </a:lnTo>
                  <a:lnTo>
                    <a:pt x="298589" y="85039"/>
                  </a:lnTo>
                  <a:lnTo>
                    <a:pt x="303403" y="83312"/>
                  </a:lnTo>
                  <a:lnTo>
                    <a:pt x="303403" y="71120"/>
                  </a:lnTo>
                  <a:lnTo>
                    <a:pt x="298284" y="72605"/>
                  </a:lnTo>
                  <a:lnTo>
                    <a:pt x="291909" y="73990"/>
                  </a:lnTo>
                  <a:lnTo>
                    <a:pt x="284289" y="75272"/>
                  </a:lnTo>
                  <a:lnTo>
                    <a:pt x="275463" y="76454"/>
                  </a:lnTo>
                  <a:lnTo>
                    <a:pt x="269240" y="77216"/>
                  </a:lnTo>
                  <a:lnTo>
                    <a:pt x="264541" y="77978"/>
                  </a:lnTo>
                  <a:lnTo>
                    <a:pt x="261493" y="78867"/>
                  </a:lnTo>
                  <a:lnTo>
                    <a:pt x="257302" y="80010"/>
                  </a:lnTo>
                  <a:lnTo>
                    <a:pt x="253492" y="81661"/>
                  </a:lnTo>
                  <a:lnTo>
                    <a:pt x="239014" y="100838"/>
                  </a:lnTo>
                  <a:lnTo>
                    <a:pt x="239014" y="113157"/>
                  </a:lnTo>
                  <a:lnTo>
                    <a:pt x="241808" y="119507"/>
                  </a:lnTo>
                  <a:lnTo>
                    <a:pt x="247269" y="124460"/>
                  </a:lnTo>
                  <a:lnTo>
                    <a:pt x="252603" y="129413"/>
                  </a:lnTo>
                  <a:lnTo>
                    <a:pt x="260477" y="131826"/>
                  </a:lnTo>
                  <a:lnTo>
                    <a:pt x="276733" y="131826"/>
                  </a:lnTo>
                  <a:lnTo>
                    <a:pt x="282575" y="130810"/>
                  </a:lnTo>
                  <a:lnTo>
                    <a:pt x="293243" y="126746"/>
                  </a:lnTo>
                  <a:lnTo>
                    <a:pt x="298831" y="123317"/>
                  </a:lnTo>
                  <a:lnTo>
                    <a:pt x="303174" y="119634"/>
                  </a:lnTo>
                  <a:lnTo>
                    <a:pt x="304673" y="118364"/>
                  </a:lnTo>
                  <a:lnTo>
                    <a:pt x="305181" y="122682"/>
                  </a:lnTo>
                  <a:lnTo>
                    <a:pt x="306197" y="126492"/>
                  </a:lnTo>
                  <a:lnTo>
                    <a:pt x="307848" y="129794"/>
                  </a:lnTo>
                  <a:lnTo>
                    <a:pt x="324231" y="129794"/>
                  </a:lnTo>
                  <a:close/>
                </a:path>
                <a:path w="1216025" h="132079">
                  <a:moveTo>
                    <a:pt x="413893" y="97282"/>
                  </a:moveTo>
                  <a:lnTo>
                    <a:pt x="399796" y="81026"/>
                  </a:lnTo>
                  <a:lnTo>
                    <a:pt x="395478" y="79121"/>
                  </a:lnTo>
                  <a:lnTo>
                    <a:pt x="387731" y="76708"/>
                  </a:lnTo>
                  <a:lnTo>
                    <a:pt x="376682" y="73660"/>
                  </a:lnTo>
                  <a:lnTo>
                    <a:pt x="368935" y="71628"/>
                  </a:lnTo>
                  <a:lnTo>
                    <a:pt x="364363" y="70231"/>
                  </a:lnTo>
                  <a:lnTo>
                    <a:pt x="354838" y="62103"/>
                  </a:lnTo>
                  <a:lnTo>
                    <a:pt x="354838" y="56896"/>
                  </a:lnTo>
                  <a:lnTo>
                    <a:pt x="356362" y="54102"/>
                  </a:lnTo>
                  <a:lnTo>
                    <a:pt x="359537" y="51689"/>
                  </a:lnTo>
                  <a:lnTo>
                    <a:pt x="362585" y="49276"/>
                  </a:lnTo>
                  <a:lnTo>
                    <a:pt x="367665" y="48133"/>
                  </a:lnTo>
                  <a:lnTo>
                    <a:pt x="381000" y="48133"/>
                  </a:lnTo>
                  <a:lnTo>
                    <a:pt x="385699" y="49403"/>
                  </a:lnTo>
                  <a:lnTo>
                    <a:pt x="389001" y="52070"/>
                  </a:lnTo>
                  <a:lnTo>
                    <a:pt x="392430" y="54737"/>
                  </a:lnTo>
                  <a:lnTo>
                    <a:pt x="394462" y="58547"/>
                  </a:lnTo>
                  <a:lnTo>
                    <a:pt x="395097" y="63246"/>
                  </a:lnTo>
                  <a:lnTo>
                    <a:pt x="410464" y="61214"/>
                  </a:lnTo>
                  <a:lnTo>
                    <a:pt x="409448" y="55118"/>
                  </a:lnTo>
                  <a:lnTo>
                    <a:pt x="407670" y="50419"/>
                  </a:lnTo>
                  <a:lnTo>
                    <a:pt x="405955" y="48133"/>
                  </a:lnTo>
                  <a:lnTo>
                    <a:pt x="405003" y="46863"/>
                  </a:lnTo>
                  <a:lnTo>
                    <a:pt x="402463" y="43307"/>
                  </a:lnTo>
                  <a:lnTo>
                    <a:pt x="398399" y="40386"/>
                  </a:lnTo>
                  <a:lnTo>
                    <a:pt x="387350" y="36322"/>
                  </a:lnTo>
                  <a:lnTo>
                    <a:pt x="381000" y="35179"/>
                  </a:lnTo>
                  <a:lnTo>
                    <a:pt x="368935" y="35179"/>
                  </a:lnTo>
                  <a:lnTo>
                    <a:pt x="364490" y="35814"/>
                  </a:lnTo>
                  <a:lnTo>
                    <a:pt x="355981" y="38354"/>
                  </a:lnTo>
                  <a:lnTo>
                    <a:pt x="352679" y="39878"/>
                  </a:lnTo>
                  <a:lnTo>
                    <a:pt x="350266" y="41656"/>
                  </a:lnTo>
                  <a:lnTo>
                    <a:pt x="346964" y="43942"/>
                  </a:lnTo>
                  <a:lnTo>
                    <a:pt x="344424" y="46863"/>
                  </a:lnTo>
                  <a:lnTo>
                    <a:pt x="342519" y="50419"/>
                  </a:lnTo>
                  <a:lnTo>
                    <a:pt x="340741" y="53975"/>
                  </a:lnTo>
                  <a:lnTo>
                    <a:pt x="339725" y="57785"/>
                  </a:lnTo>
                  <a:lnTo>
                    <a:pt x="339725" y="66421"/>
                  </a:lnTo>
                  <a:lnTo>
                    <a:pt x="385699" y="92710"/>
                  </a:lnTo>
                  <a:lnTo>
                    <a:pt x="391033" y="94488"/>
                  </a:lnTo>
                  <a:lnTo>
                    <a:pt x="393192" y="95885"/>
                  </a:lnTo>
                  <a:lnTo>
                    <a:pt x="396240" y="97917"/>
                  </a:lnTo>
                  <a:lnTo>
                    <a:pt x="397764" y="100711"/>
                  </a:lnTo>
                  <a:lnTo>
                    <a:pt x="397764" y="108204"/>
                  </a:lnTo>
                  <a:lnTo>
                    <a:pt x="396113" y="111633"/>
                  </a:lnTo>
                  <a:lnTo>
                    <a:pt x="392557" y="114554"/>
                  </a:lnTo>
                  <a:lnTo>
                    <a:pt x="389128" y="117475"/>
                  </a:lnTo>
                  <a:lnTo>
                    <a:pt x="383794" y="118999"/>
                  </a:lnTo>
                  <a:lnTo>
                    <a:pt x="369443" y="118999"/>
                  </a:lnTo>
                  <a:lnTo>
                    <a:pt x="363855" y="117348"/>
                  </a:lnTo>
                  <a:lnTo>
                    <a:pt x="359918" y="114046"/>
                  </a:lnTo>
                  <a:lnTo>
                    <a:pt x="355854" y="110744"/>
                  </a:lnTo>
                  <a:lnTo>
                    <a:pt x="353441" y="105918"/>
                  </a:lnTo>
                  <a:lnTo>
                    <a:pt x="352679" y="99695"/>
                  </a:lnTo>
                  <a:lnTo>
                    <a:pt x="337185" y="102108"/>
                  </a:lnTo>
                  <a:lnTo>
                    <a:pt x="368173" y="131381"/>
                  </a:lnTo>
                  <a:lnTo>
                    <a:pt x="376682" y="131826"/>
                  </a:lnTo>
                  <a:lnTo>
                    <a:pt x="383921" y="131826"/>
                  </a:lnTo>
                  <a:lnTo>
                    <a:pt x="390398" y="130556"/>
                  </a:lnTo>
                  <a:lnTo>
                    <a:pt x="396113" y="128016"/>
                  </a:lnTo>
                  <a:lnTo>
                    <a:pt x="401955" y="125603"/>
                  </a:lnTo>
                  <a:lnTo>
                    <a:pt x="406273" y="121920"/>
                  </a:lnTo>
                  <a:lnTo>
                    <a:pt x="408216" y="118999"/>
                  </a:lnTo>
                  <a:lnTo>
                    <a:pt x="412369" y="112776"/>
                  </a:lnTo>
                  <a:lnTo>
                    <a:pt x="413766" y="108204"/>
                  </a:lnTo>
                  <a:lnTo>
                    <a:pt x="413893" y="97282"/>
                  </a:lnTo>
                  <a:close/>
                </a:path>
                <a:path w="1216025" h="132079">
                  <a:moveTo>
                    <a:pt x="513334" y="83312"/>
                  </a:moveTo>
                  <a:lnTo>
                    <a:pt x="501700" y="48133"/>
                  </a:lnTo>
                  <a:lnTo>
                    <a:pt x="501523" y="47879"/>
                  </a:lnTo>
                  <a:lnTo>
                    <a:pt x="496824" y="43713"/>
                  </a:lnTo>
                  <a:lnTo>
                    <a:pt x="496824" y="74676"/>
                  </a:lnTo>
                  <a:lnTo>
                    <a:pt x="445135" y="74676"/>
                  </a:lnTo>
                  <a:lnTo>
                    <a:pt x="464185" y="48133"/>
                  </a:lnTo>
                  <a:lnTo>
                    <a:pt x="479425" y="48133"/>
                  </a:lnTo>
                  <a:lnTo>
                    <a:pt x="485902" y="51181"/>
                  </a:lnTo>
                  <a:lnTo>
                    <a:pt x="490855" y="57150"/>
                  </a:lnTo>
                  <a:lnTo>
                    <a:pt x="494157" y="61087"/>
                  </a:lnTo>
                  <a:lnTo>
                    <a:pt x="496062" y="66929"/>
                  </a:lnTo>
                  <a:lnTo>
                    <a:pt x="496824" y="74676"/>
                  </a:lnTo>
                  <a:lnTo>
                    <a:pt x="496824" y="43713"/>
                  </a:lnTo>
                  <a:lnTo>
                    <a:pt x="495261" y="42316"/>
                  </a:lnTo>
                  <a:lnTo>
                    <a:pt x="488111" y="38341"/>
                  </a:lnTo>
                  <a:lnTo>
                    <a:pt x="480123" y="35979"/>
                  </a:lnTo>
                  <a:lnTo>
                    <a:pt x="471297" y="35179"/>
                  </a:lnTo>
                  <a:lnTo>
                    <a:pt x="462127" y="35991"/>
                  </a:lnTo>
                  <a:lnTo>
                    <a:pt x="431076" y="63563"/>
                  </a:lnTo>
                  <a:lnTo>
                    <a:pt x="428180" y="83312"/>
                  </a:lnTo>
                  <a:lnTo>
                    <a:pt x="428205" y="85725"/>
                  </a:lnTo>
                  <a:lnTo>
                    <a:pt x="446430" y="124815"/>
                  </a:lnTo>
                  <a:lnTo>
                    <a:pt x="472186" y="131826"/>
                  </a:lnTo>
                  <a:lnTo>
                    <a:pt x="479844" y="131356"/>
                  </a:lnTo>
                  <a:lnTo>
                    <a:pt x="503910" y="118999"/>
                  </a:lnTo>
                  <a:lnTo>
                    <a:pt x="507326" y="114604"/>
                  </a:lnTo>
                  <a:lnTo>
                    <a:pt x="510489" y="108712"/>
                  </a:lnTo>
                  <a:lnTo>
                    <a:pt x="512826" y="101981"/>
                  </a:lnTo>
                  <a:lnTo>
                    <a:pt x="496570" y="99949"/>
                  </a:lnTo>
                  <a:lnTo>
                    <a:pt x="494284" y="106553"/>
                  </a:lnTo>
                  <a:lnTo>
                    <a:pt x="490982" y="111379"/>
                  </a:lnTo>
                  <a:lnTo>
                    <a:pt x="482854" y="117475"/>
                  </a:lnTo>
                  <a:lnTo>
                    <a:pt x="478028" y="118999"/>
                  </a:lnTo>
                  <a:lnTo>
                    <a:pt x="464566" y="118999"/>
                  </a:lnTo>
                  <a:lnTo>
                    <a:pt x="458089" y="116332"/>
                  </a:lnTo>
                  <a:lnTo>
                    <a:pt x="452882" y="110871"/>
                  </a:lnTo>
                  <a:lnTo>
                    <a:pt x="447675" y="105537"/>
                  </a:lnTo>
                  <a:lnTo>
                    <a:pt x="444881" y="97663"/>
                  </a:lnTo>
                  <a:lnTo>
                    <a:pt x="444246" y="87503"/>
                  </a:lnTo>
                  <a:lnTo>
                    <a:pt x="513207" y="87503"/>
                  </a:lnTo>
                  <a:lnTo>
                    <a:pt x="513334" y="83312"/>
                  </a:lnTo>
                  <a:close/>
                </a:path>
                <a:path w="1216025" h="132079">
                  <a:moveTo>
                    <a:pt x="689610" y="89281"/>
                  </a:moveTo>
                  <a:lnTo>
                    <a:pt x="672719" y="84963"/>
                  </a:lnTo>
                  <a:lnTo>
                    <a:pt x="670521" y="92570"/>
                  </a:lnTo>
                  <a:lnTo>
                    <a:pt x="667550" y="99187"/>
                  </a:lnTo>
                  <a:lnTo>
                    <a:pt x="663854" y="104762"/>
                  </a:lnTo>
                  <a:lnTo>
                    <a:pt x="659384" y="109347"/>
                  </a:lnTo>
                  <a:lnTo>
                    <a:pt x="652780" y="114808"/>
                  </a:lnTo>
                  <a:lnTo>
                    <a:pt x="644779" y="117475"/>
                  </a:lnTo>
                  <a:lnTo>
                    <a:pt x="627507" y="117475"/>
                  </a:lnTo>
                  <a:lnTo>
                    <a:pt x="596836" y="87007"/>
                  </a:lnTo>
                  <a:lnTo>
                    <a:pt x="594106" y="65024"/>
                  </a:lnTo>
                  <a:lnTo>
                    <a:pt x="594106" y="56515"/>
                  </a:lnTo>
                  <a:lnTo>
                    <a:pt x="612000" y="21463"/>
                  </a:lnTo>
                  <a:lnTo>
                    <a:pt x="636651" y="14351"/>
                  </a:lnTo>
                  <a:lnTo>
                    <a:pt x="645160" y="14351"/>
                  </a:lnTo>
                  <a:lnTo>
                    <a:pt x="652272" y="16510"/>
                  </a:lnTo>
                  <a:lnTo>
                    <a:pt x="663575" y="25019"/>
                  </a:lnTo>
                  <a:lnTo>
                    <a:pt x="667753" y="31750"/>
                  </a:lnTo>
                  <a:lnTo>
                    <a:pt x="670801" y="41021"/>
                  </a:lnTo>
                  <a:lnTo>
                    <a:pt x="687451" y="37084"/>
                  </a:lnTo>
                  <a:lnTo>
                    <a:pt x="684377" y="28803"/>
                  </a:lnTo>
                  <a:lnTo>
                    <a:pt x="680300" y="21463"/>
                  </a:lnTo>
                  <a:lnTo>
                    <a:pt x="675233" y="15087"/>
                  </a:lnTo>
                  <a:lnTo>
                    <a:pt x="674408" y="14351"/>
                  </a:lnTo>
                  <a:lnTo>
                    <a:pt x="669150" y="9652"/>
                  </a:lnTo>
                  <a:lnTo>
                    <a:pt x="662279" y="5422"/>
                  </a:lnTo>
                  <a:lnTo>
                    <a:pt x="654621" y="2400"/>
                  </a:lnTo>
                  <a:lnTo>
                    <a:pt x="646188" y="609"/>
                  </a:lnTo>
                  <a:lnTo>
                    <a:pt x="637032" y="0"/>
                  </a:lnTo>
                  <a:lnTo>
                    <a:pt x="628738" y="482"/>
                  </a:lnTo>
                  <a:lnTo>
                    <a:pt x="593559" y="17170"/>
                  </a:lnTo>
                  <a:lnTo>
                    <a:pt x="577176" y="55359"/>
                  </a:lnTo>
                  <a:lnTo>
                    <a:pt x="576707" y="65024"/>
                  </a:lnTo>
                  <a:lnTo>
                    <a:pt x="577126" y="74028"/>
                  </a:lnTo>
                  <a:lnTo>
                    <a:pt x="591743" y="113284"/>
                  </a:lnTo>
                  <a:lnTo>
                    <a:pt x="626884" y="131432"/>
                  </a:lnTo>
                  <a:lnTo>
                    <a:pt x="636778" y="131953"/>
                  </a:lnTo>
                  <a:lnTo>
                    <a:pt x="646315" y="131267"/>
                  </a:lnTo>
                  <a:lnTo>
                    <a:pt x="655116" y="129209"/>
                  </a:lnTo>
                  <a:lnTo>
                    <a:pt x="663168" y="125793"/>
                  </a:lnTo>
                  <a:lnTo>
                    <a:pt x="670433" y="121031"/>
                  </a:lnTo>
                  <a:lnTo>
                    <a:pt x="674179" y="117475"/>
                  </a:lnTo>
                  <a:lnTo>
                    <a:pt x="676833" y="114973"/>
                  </a:lnTo>
                  <a:lnTo>
                    <a:pt x="682155" y="107632"/>
                  </a:lnTo>
                  <a:lnTo>
                    <a:pt x="686409" y="99072"/>
                  </a:lnTo>
                  <a:lnTo>
                    <a:pt x="689610" y="89281"/>
                  </a:lnTo>
                  <a:close/>
                </a:path>
                <a:path w="1216025" h="132079">
                  <a:moveTo>
                    <a:pt x="722998" y="2159"/>
                  </a:moveTo>
                  <a:lnTo>
                    <a:pt x="707250" y="2159"/>
                  </a:lnTo>
                  <a:lnTo>
                    <a:pt x="707250" y="129794"/>
                  </a:lnTo>
                  <a:lnTo>
                    <a:pt x="722998" y="129794"/>
                  </a:lnTo>
                  <a:lnTo>
                    <a:pt x="722998" y="2159"/>
                  </a:lnTo>
                  <a:close/>
                </a:path>
                <a:path w="1216025" h="132079">
                  <a:moveTo>
                    <a:pt x="821817" y="37338"/>
                  </a:moveTo>
                  <a:lnTo>
                    <a:pt x="806196" y="37338"/>
                  </a:lnTo>
                  <a:lnTo>
                    <a:pt x="806196" y="94742"/>
                  </a:lnTo>
                  <a:lnTo>
                    <a:pt x="805307" y="100711"/>
                  </a:lnTo>
                  <a:lnTo>
                    <a:pt x="786384" y="118364"/>
                  </a:lnTo>
                  <a:lnTo>
                    <a:pt x="776986" y="118364"/>
                  </a:lnTo>
                  <a:lnTo>
                    <a:pt x="773049" y="117221"/>
                  </a:lnTo>
                  <a:lnTo>
                    <a:pt x="769747" y="114808"/>
                  </a:lnTo>
                  <a:lnTo>
                    <a:pt x="766572" y="112522"/>
                  </a:lnTo>
                  <a:lnTo>
                    <a:pt x="764540" y="109220"/>
                  </a:lnTo>
                  <a:lnTo>
                    <a:pt x="763460" y="104902"/>
                  </a:lnTo>
                  <a:lnTo>
                    <a:pt x="762889" y="102235"/>
                  </a:lnTo>
                  <a:lnTo>
                    <a:pt x="762635" y="96774"/>
                  </a:lnTo>
                  <a:lnTo>
                    <a:pt x="762635" y="37338"/>
                  </a:lnTo>
                  <a:lnTo>
                    <a:pt x="746887" y="37338"/>
                  </a:lnTo>
                  <a:lnTo>
                    <a:pt x="746963" y="102235"/>
                  </a:lnTo>
                  <a:lnTo>
                    <a:pt x="747268" y="106172"/>
                  </a:lnTo>
                  <a:lnTo>
                    <a:pt x="747903" y="109220"/>
                  </a:lnTo>
                  <a:lnTo>
                    <a:pt x="748792" y="113792"/>
                  </a:lnTo>
                  <a:lnTo>
                    <a:pt x="773049" y="131826"/>
                  </a:lnTo>
                  <a:lnTo>
                    <a:pt x="778510" y="131826"/>
                  </a:lnTo>
                  <a:lnTo>
                    <a:pt x="787273" y="130860"/>
                  </a:lnTo>
                  <a:lnTo>
                    <a:pt x="795083" y="127927"/>
                  </a:lnTo>
                  <a:lnTo>
                    <a:pt x="801941" y="123050"/>
                  </a:lnTo>
                  <a:lnTo>
                    <a:pt x="805980" y="118364"/>
                  </a:lnTo>
                  <a:lnTo>
                    <a:pt x="807847" y="116205"/>
                  </a:lnTo>
                  <a:lnTo>
                    <a:pt x="807847" y="129794"/>
                  </a:lnTo>
                  <a:lnTo>
                    <a:pt x="821817" y="129794"/>
                  </a:lnTo>
                  <a:lnTo>
                    <a:pt x="821817" y="116205"/>
                  </a:lnTo>
                  <a:lnTo>
                    <a:pt x="821817" y="37338"/>
                  </a:lnTo>
                  <a:close/>
                </a:path>
                <a:path w="1216025" h="132079">
                  <a:moveTo>
                    <a:pt x="916813" y="97282"/>
                  </a:moveTo>
                  <a:lnTo>
                    <a:pt x="902716" y="81026"/>
                  </a:lnTo>
                  <a:lnTo>
                    <a:pt x="898398" y="79121"/>
                  </a:lnTo>
                  <a:lnTo>
                    <a:pt x="890651" y="76708"/>
                  </a:lnTo>
                  <a:lnTo>
                    <a:pt x="879602" y="73660"/>
                  </a:lnTo>
                  <a:lnTo>
                    <a:pt x="871855" y="71628"/>
                  </a:lnTo>
                  <a:lnTo>
                    <a:pt x="867283" y="70231"/>
                  </a:lnTo>
                  <a:lnTo>
                    <a:pt x="857758" y="62103"/>
                  </a:lnTo>
                  <a:lnTo>
                    <a:pt x="857758" y="56896"/>
                  </a:lnTo>
                  <a:lnTo>
                    <a:pt x="859282" y="54102"/>
                  </a:lnTo>
                  <a:lnTo>
                    <a:pt x="862457" y="51689"/>
                  </a:lnTo>
                  <a:lnTo>
                    <a:pt x="865505" y="49276"/>
                  </a:lnTo>
                  <a:lnTo>
                    <a:pt x="870585" y="48133"/>
                  </a:lnTo>
                  <a:lnTo>
                    <a:pt x="883920" y="48133"/>
                  </a:lnTo>
                  <a:lnTo>
                    <a:pt x="888619" y="49403"/>
                  </a:lnTo>
                  <a:lnTo>
                    <a:pt x="891921" y="52070"/>
                  </a:lnTo>
                  <a:lnTo>
                    <a:pt x="895350" y="54737"/>
                  </a:lnTo>
                  <a:lnTo>
                    <a:pt x="897382" y="58547"/>
                  </a:lnTo>
                  <a:lnTo>
                    <a:pt x="898017" y="63246"/>
                  </a:lnTo>
                  <a:lnTo>
                    <a:pt x="913384" y="61214"/>
                  </a:lnTo>
                  <a:lnTo>
                    <a:pt x="912368" y="55118"/>
                  </a:lnTo>
                  <a:lnTo>
                    <a:pt x="910590" y="50419"/>
                  </a:lnTo>
                  <a:lnTo>
                    <a:pt x="908875" y="48133"/>
                  </a:lnTo>
                  <a:lnTo>
                    <a:pt x="907923" y="46863"/>
                  </a:lnTo>
                  <a:lnTo>
                    <a:pt x="905383" y="43307"/>
                  </a:lnTo>
                  <a:lnTo>
                    <a:pt x="901319" y="40386"/>
                  </a:lnTo>
                  <a:lnTo>
                    <a:pt x="890270" y="36322"/>
                  </a:lnTo>
                  <a:lnTo>
                    <a:pt x="883920" y="35179"/>
                  </a:lnTo>
                  <a:lnTo>
                    <a:pt x="871855" y="35179"/>
                  </a:lnTo>
                  <a:lnTo>
                    <a:pt x="867410" y="35814"/>
                  </a:lnTo>
                  <a:lnTo>
                    <a:pt x="858901" y="38354"/>
                  </a:lnTo>
                  <a:lnTo>
                    <a:pt x="855599" y="39878"/>
                  </a:lnTo>
                  <a:lnTo>
                    <a:pt x="853186" y="41656"/>
                  </a:lnTo>
                  <a:lnTo>
                    <a:pt x="849884" y="43942"/>
                  </a:lnTo>
                  <a:lnTo>
                    <a:pt x="847344" y="46863"/>
                  </a:lnTo>
                  <a:lnTo>
                    <a:pt x="845439" y="50419"/>
                  </a:lnTo>
                  <a:lnTo>
                    <a:pt x="843661" y="53975"/>
                  </a:lnTo>
                  <a:lnTo>
                    <a:pt x="842645" y="57785"/>
                  </a:lnTo>
                  <a:lnTo>
                    <a:pt x="842645" y="66421"/>
                  </a:lnTo>
                  <a:lnTo>
                    <a:pt x="888619" y="92710"/>
                  </a:lnTo>
                  <a:lnTo>
                    <a:pt x="893953" y="94488"/>
                  </a:lnTo>
                  <a:lnTo>
                    <a:pt x="896112" y="95885"/>
                  </a:lnTo>
                  <a:lnTo>
                    <a:pt x="899160" y="97917"/>
                  </a:lnTo>
                  <a:lnTo>
                    <a:pt x="900684" y="100711"/>
                  </a:lnTo>
                  <a:lnTo>
                    <a:pt x="900684" y="108204"/>
                  </a:lnTo>
                  <a:lnTo>
                    <a:pt x="899033" y="111633"/>
                  </a:lnTo>
                  <a:lnTo>
                    <a:pt x="895477" y="114554"/>
                  </a:lnTo>
                  <a:lnTo>
                    <a:pt x="892048" y="117475"/>
                  </a:lnTo>
                  <a:lnTo>
                    <a:pt x="886714" y="118999"/>
                  </a:lnTo>
                  <a:lnTo>
                    <a:pt x="872363" y="118999"/>
                  </a:lnTo>
                  <a:lnTo>
                    <a:pt x="866775" y="117348"/>
                  </a:lnTo>
                  <a:lnTo>
                    <a:pt x="862838" y="114046"/>
                  </a:lnTo>
                  <a:lnTo>
                    <a:pt x="858774" y="110744"/>
                  </a:lnTo>
                  <a:lnTo>
                    <a:pt x="856361" y="105918"/>
                  </a:lnTo>
                  <a:lnTo>
                    <a:pt x="855599" y="99695"/>
                  </a:lnTo>
                  <a:lnTo>
                    <a:pt x="840105" y="102108"/>
                  </a:lnTo>
                  <a:lnTo>
                    <a:pt x="871093" y="131381"/>
                  </a:lnTo>
                  <a:lnTo>
                    <a:pt x="879602" y="131826"/>
                  </a:lnTo>
                  <a:lnTo>
                    <a:pt x="886841" y="131826"/>
                  </a:lnTo>
                  <a:lnTo>
                    <a:pt x="893318" y="130556"/>
                  </a:lnTo>
                  <a:lnTo>
                    <a:pt x="899033" y="128016"/>
                  </a:lnTo>
                  <a:lnTo>
                    <a:pt x="904875" y="125603"/>
                  </a:lnTo>
                  <a:lnTo>
                    <a:pt x="909193" y="121920"/>
                  </a:lnTo>
                  <a:lnTo>
                    <a:pt x="911136" y="118999"/>
                  </a:lnTo>
                  <a:lnTo>
                    <a:pt x="915289" y="112776"/>
                  </a:lnTo>
                  <a:lnTo>
                    <a:pt x="916686" y="108204"/>
                  </a:lnTo>
                  <a:lnTo>
                    <a:pt x="916813" y="97282"/>
                  </a:lnTo>
                  <a:close/>
                </a:path>
                <a:path w="1216025" h="132079">
                  <a:moveTo>
                    <a:pt x="972693" y="129540"/>
                  </a:moveTo>
                  <a:lnTo>
                    <a:pt x="970508" y="116332"/>
                  </a:lnTo>
                  <a:lnTo>
                    <a:pt x="970407" y="115697"/>
                  </a:lnTo>
                  <a:lnTo>
                    <a:pt x="967613" y="116205"/>
                  </a:lnTo>
                  <a:lnTo>
                    <a:pt x="965327" y="116332"/>
                  </a:lnTo>
                  <a:lnTo>
                    <a:pt x="961263" y="116332"/>
                  </a:lnTo>
                  <a:lnTo>
                    <a:pt x="959485" y="115951"/>
                  </a:lnTo>
                  <a:lnTo>
                    <a:pt x="956945" y="114427"/>
                  </a:lnTo>
                  <a:lnTo>
                    <a:pt x="956056" y="113411"/>
                  </a:lnTo>
                  <a:lnTo>
                    <a:pt x="955548" y="112141"/>
                  </a:lnTo>
                  <a:lnTo>
                    <a:pt x="954913" y="110871"/>
                  </a:lnTo>
                  <a:lnTo>
                    <a:pt x="954659" y="108077"/>
                  </a:lnTo>
                  <a:lnTo>
                    <a:pt x="954659" y="49530"/>
                  </a:lnTo>
                  <a:lnTo>
                    <a:pt x="970407" y="49530"/>
                  </a:lnTo>
                  <a:lnTo>
                    <a:pt x="970407" y="37338"/>
                  </a:lnTo>
                  <a:lnTo>
                    <a:pt x="954659" y="37338"/>
                  </a:lnTo>
                  <a:lnTo>
                    <a:pt x="954659" y="4953"/>
                  </a:lnTo>
                  <a:lnTo>
                    <a:pt x="939038" y="14351"/>
                  </a:lnTo>
                  <a:lnTo>
                    <a:pt x="939038" y="37338"/>
                  </a:lnTo>
                  <a:lnTo>
                    <a:pt x="927608" y="37338"/>
                  </a:lnTo>
                  <a:lnTo>
                    <a:pt x="927608" y="49530"/>
                  </a:lnTo>
                  <a:lnTo>
                    <a:pt x="939038" y="49530"/>
                  </a:lnTo>
                  <a:lnTo>
                    <a:pt x="939038" y="112141"/>
                  </a:lnTo>
                  <a:lnTo>
                    <a:pt x="939800" y="118237"/>
                  </a:lnTo>
                  <a:lnTo>
                    <a:pt x="942340" y="124079"/>
                  </a:lnTo>
                  <a:lnTo>
                    <a:pt x="944499" y="126492"/>
                  </a:lnTo>
                  <a:lnTo>
                    <a:pt x="947674" y="128270"/>
                  </a:lnTo>
                  <a:lnTo>
                    <a:pt x="950722" y="130048"/>
                  </a:lnTo>
                  <a:lnTo>
                    <a:pt x="955167" y="130937"/>
                  </a:lnTo>
                  <a:lnTo>
                    <a:pt x="964311" y="130937"/>
                  </a:lnTo>
                  <a:lnTo>
                    <a:pt x="968248" y="130556"/>
                  </a:lnTo>
                  <a:lnTo>
                    <a:pt x="972693" y="129540"/>
                  </a:lnTo>
                  <a:close/>
                </a:path>
                <a:path w="1216025" h="132079">
                  <a:moveTo>
                    <a:pt x="1066546" y="83312"/>
                  </a:moveTo>
                  <a:lnTo>
                    <a:pt x="1054912" y="48133"/>
                  </a:lnTo>
                  <a:lnTo>
                    <a:pt x="1054735" y="47879"/>
                  </a:lnTo>
                  <a:lnTo>
                    <a:pt x="1050036" y="43713"/>
                  </a:lnTo>
                  <a:lnTo>
                    <a:pt x="1050036" y="74676"/>
                  </a:lnTo>
                  <a:lnTo>
                    <a:pt x="998347" y="74676"/>
                  </a:lnTo>
                  <a:lnTo>
                    <a:pt x="1017397" y="48133"/>
                  </a:lnTo>
                  <a:lnTo>
                    <a:pt x="1032637" y="48133"/>
                  </a:lnTo>
                  <a:lnTo>
                    <a:pt x="1039114" y="51181"/>
                  </a:lnTo>
                  <a:lnTo>
                    <a:pt x="1044067" y="57150"/>
                  </a:lnTo>
                  <a:lnTo>
                    <a:pt x="1047369" y="61087"/>
                  </a:lnTo>
                  <a:lnTo>
                    <a:pt x="1049274" y="66929"/>
                  </a:lnTo>
                  <a:lnTo>
                    <a:pt x="1050036" y="74676"/>
                  </a:lnTo>
                  <a:lnTo>
                    <a:pt x="1050036" y="43713"/>
                  </a:lnTo>
                  <a:lnTo>
                    <a:pt x="1048473" y="42316"/>
                  </a:lnTo>
                  <a:lnTo>
                    <a:pt x="1041336" y="38341"/>
                  </a:lnTo>
                  <a:lnTo>
                    <a:pt x="1033335" y="35979"/>
                  </a:lnTo>
                  <a:lnTo>
                    <a:pt x="1024509" y="35179"/>
                  </a:lnTo>
                  <a:lnTo>
                    <a:pt x="1015339" y="35991"/>
                  </a:lnTo>
                  <a:lnTo>
                    <a:pt x="984288" y="63563"/>
                  </a:lnTo>
                  <a:lnTo>
                    <a:pt x="981392" y="83312"/>
                  </a:lnTo>
                  <a:lnTo>
                    <a:pt x="981417" y="85725"/>
                  </a:lnTo>
                  <a:lnTo>
                    <a:pt x="999642" y="124815"/>
                  </a:lnTo>
                  <a:lnTo>
                    <a:pt x="1025398" y="131826"/>
                  </a:lnTo>
                  <a:lnTo>
                    <a:pt x="1033056" y="131356"/>
                  </a:lnTo>
                  <a:lnTo>
                    <a:pt x="1057122" y="118999"/>
                  </a:lnTo>
                  <a:lnTo>
                    <a:pt x="1060538" y="114604"/>
                  </a:lnTo>
                  <a:lnTo>
                    <a:pt x="1063701" y="108712"/>
                  </a:lnTo>
                  <a:lnTo>
                    <a:pt x="1066038" y="101981"/>
                  </a:lnTo>
                  <a:lnTo>
                    <a:pt x="1049782" y="99949"/>
                  </a:lnTo>
                  <a:lnTo>
                    <a:pt x="1047496" y="106553"/>
                  </a:lnTo>
                  <a:lnTo>
                    <a:pt x="1044194" y="111379"/>
                  </a:lnTo>
                  <a:lnTo>
                    <a:pt x="1036066" y="117475"/>
                  </a:lnTo>
                  <a:lnTo>
                    <a:pt x="1031240" y="118999"/>
                  </a:lnTo>
                  <a:lnTo>
                    <a:pt x="1017778" y="118999"/>
                  </a:lnTo>
                  <a:lnTo>
                    <a:pt x="1011301" y="116332"/>
                  </a:lnTo>
                  <a:lnTo>
                    <a:pt x="1006094" y="110871"/>
                  </a:lnTo>
                  <a:lnTo>
                    <a:pt x="1000887" y="105537"/>
                  </a:lnTo>
                  <a:lnTo>
                    <a:pt x="998093" y="97663"/>
                  </a:lnTo>
                  <a:lnTo>
                    <a:pt x="997458" y="87503"/>
                  </a:lnTo>
                  <a:lnTo>
                    <a:pt x="1066419" y="87503"/>
                  </a:lnTo>
                  <a:lnTo>
                    <a:pt x="1066546" y="83312"/>
                  </a:lnTo>
                  <a:close/>
                </a:path>
                <a:path w="1216025" h="132079">
                  <a:moveTo>
                    <a:pt x="1135634" y="40259"/>
                  </a:moveTo>
                  <a:lnTo>
                    <a:pt x="1130173" y="36957"/>
                  </a:lnTo>
                  <a:lnTo>
                    <a:pt x="1124839" y="35179"/>
                  </a:lnTo>
                  <a:lnTo>
                    <a:pt x="1115822" y="35179"/>
                  </a:lnTo>
                  <a:lnTo>
                    <a:pt x="1112520" y="36322"/>
                  </a:lnTo>
                  <a:lnTo>
                    <a:pt x="1106424" y="40386"/>
                  </a:lnTo>
                  <a:lnTo>
                    <a:pt x="1103122" y="44704"/>
                  </a:lnTo>
                  <a:lnTo>
                    <a:pt x="1099566" y="51308"/>
                  </a:lnTo>
                  <a:lnTo>
                    <a:pt x="1099566" y="37338"/>
                  </a:lnTo>
                  <a:lnTo>
                    <a:pt x="1085469" y="37338"/>
                  </a:lnTo>
                  <a:lnTo>
                    <a:pt x="1085469" y="129794"/>
                  </a:lnTo>
                  <a:lnTo>
                    <a:pt x="1101090" y="129794"/>
                  </a:lnTo>
                  <a:lnTo>
                    <a:pt x="1101090" y="74803"/>
                  </a:lnTo>
                  <a:lnTo>
                    <a:pt x="1101979" y="68707"/>
                  </a:lnTo>
                  <a:lnTo>
                    <a:pt x="1115314" y="51435"/>
                  </a:lnTo>
                  <a:lnTo>
                    <a:pt x="1122553" y="51435"/>
                  </a:lnTo>
                  <a:lnTo>
                    <a:pt x="1126363" y="52578"/>
                  </a:lnTo>
                  <a:lnTo>
                    <a:pt x="1130300" y="54864"/>
                  </a:lnTo>
                  <a:lnTo>
                    <a:pt x="1131544" y="51435"/>
                  </a:lnTo>
                  <a:lnTo>
                    <a:pt x="1131595" y="51308"/>
                  </a:lnTo>
                  <a:lnTo>
                    <a:pt x="1135634" y="40259"/>
                  </a:lnTo>
                  <a:close/>
                </a:path>
                <a:path w="1216025" h="132079">
                  <a:moveTo>
                    <a:pt x="1215517" y="97282"/>
                  </a:moveTo>
                  <a:lnTo>
                    <a:pt x="1201420" y="81026"/>
                  </a:lnTo>
                  <a:lnTo>
                    <a:pt x="1197102" y="79121"/>
                  </a:lnTo>
                  <a:lnTo>
                    <a:pt x="1189355" y="76708"/>
                  </a:lnTo>
                  <a:lnTo>
                    <a:pt x="1178306" y="73660"/>
                  </a:lnTo>
                  <a:lnTo>
                    <a:pt x="1170559" y="71628"/>
                  </a:lnTo>
                  <a:lnTo>
                    <a:pt x="1165987" y="70231"/>
                  </a:lnTo>
                  <a:lnTo>
                    <a:pt x="1156462" y="62103"/>
                  </a:lnTo>
                  <a:lnTo>
                    <a:pt x="1156462" y="56896"/>
                  </a:lnTo>
                  <a:lnTo>
                    <a:pt x="1157986" y="54102"/>
                  </a:lnTo>
                  <a:lnTo>
                    <a:pt x="1161161" y="51689"/>
                  </a:lnTo>
                  <a:lnTo>
                    <a:pt x="1164209" y="49276"/>
                  </a:lnTo>
                  <a:lnTo>
                    <a:pt x="1169289" y="48133"/>
                  </a:lnTo>
                  <a:lnTo>
                    <a:pt x="1182624" y="48133"/>
                  </a:lnTo>
                  <a:lnTo>
                    <a:pt x="1187323" y="49403"/>
                  </a:lnTo>
                  <a:lnTo>
                    <a:pt x="1190625" y="52070"/>
                  </a:lnTo>
                  <a:lnTo>
                    <a:pt x="1194054" y="54737"/>
                  </a:lnTo>
                  <a:lnTo>
                    <a:pt x="1196086" y="58547"/>
                  </a:lnTo>
                  <a:lnTo>
                    <a:pt x="1196721" y="63246"/>
                  </a:lnTo>
                  <a:lnTo>
                    <a:pt x="1212088" y="61214"/>
                  </a:lnTo>
                  <a:lnTo>
                    <a:pt x="1211072" y="55118"/>
                  </a:lnTo>
                  <a:lnTo>
                    <a:pt x="1209294" y="50419"/>
                  </a:lnTo>
                  <a:lnTo>
                    <a:pt x="1207579" y="48133"/>
                  </a:lnTo>
                  <a:lnTo>
                    <a:pt x="1206627" y="46863"/>
                  </a:lnTo>
                  <a:lnTo>
                    <a:pt x="1204087" y="43307"/>
                  </a:lnTo>
                  <a:lnTo>
                    <a:pt x="1200023" y="40386"/>
                  </a:lnTo>
                  <a:lnTo>
                    <a:pt x="1188974" y="36322"/>
                  </a:lnTo>
                  <a:lnTo>
                    <a:pt x="1182624" y="35179"/>
                  </a:lnTo>
                  <a:lnTo>
                    <a:pt x="1170559" y="35179"/>
                  </a:lnTo>
                  <a:lnTo>
                    <a:pt x="1166114" y="35814"/>
                  </a:lnTo>
                  <a:lnTo>
                    <a:pt x="1157605" y="38354"/>
                  </a:lnTo>
                  <a:lnTo>
                    <a:pt x="1154303" y="39878"/>
                  </a:lnTo>
                  <a:lnTo>
                    <a:pt x="1151890" y="41656"/>
                  </a:lnTo>
                  <a:lnTo>
                    <a:pt x="1148588" y="43942"/>
                  </a:lnTo>
                  <a:lnTo>
                    <a:pt x="1146048" y="46863"/>
                  </a:lnTo>
                  <a:lnTo>
                    <a:pt x="1144143" y="50419"/>
                  </a:lnTo>
                  <a:lnTo>
                    <a:pt x="1142365" y="53975"/>
                  </a:lnTo>
                  <a:lnTo>
                    <a:pt x="1141349" y="57785"/>
                  </a:lnTo>
                  <a:lnTo>
                    <a:pt x="1141349" y="66421"/>
                  </a:lnTo>
                  <a:lnTo>
                    <a:pt x="1187323" y="92710"/>
                  </a:lnTo>
                  <a:lnTo>
                    <a:pt x="1192657" y="94488"/>
                  </a:lnTo>
                  <a:lnTo>
                    <a:pt x="1194816" y="95885"/>
                  </a:lnTo>
                  <a:lnTo>
                    <a:pt x="1197864" y="97917"/>
                  </a:lnTo>
                  <a:lnTo>
                    <a:pt x="1199388" y="100711"/>
                  </a:lnTo>
                  <a:lnTo>
                    <a:pt x="1199388" y="108204"/>
                  </a:lnTo>
                  <a:lnTo>
                    <a:pt x="1197737" y="111633"/>
                  </a:lnTo>
                  <a:lnTo>
                    <a:pt x="1194181" y="114554"/>
                  </a:lnTo>
                  <a:lnTo>
                    <a:pt x="1190752" y="117475"/>
                  </a:lnTo>
                  <a:lnTo>
                    <a:pt x="1185418" y="118999"/>
                  </a:lnTo>
                  <a:lnTo>
                    <a:pt x="1171067" y="118999"/>
                  </a:lnTo>
                  <a:lnTo>
                    <a:pt x="1165479" y="117348"/>
                  </a:lnTo>
                  <a:lnTo>
                    <a:pt x="1161542" y="114046"/>
                  </a:lnTo>
                  <a:lnTo>
                    <a:pt x="1157478" y="110744"/>
                  </a:lnTo>
                  <a:lnTo>
                    <a:pt x="1155065" y="105918"/>
                  </a:lnTo>
                  <a:lnTo>
                    <a:pt x="1154303" y="99695"/>
                  </a:lnTo>
                  <a:lnTo>
                    <a:pt x="1138809" y="102108"/>
                  </a:lnTo>
                  <a:lnTo>
                    <a:pt x="1169797" y="131381"/>
                  </a:lnTo>
                  <a:lnTo>
                    <a:pt x="1178306" y="131826"/>
                  </a:lnTo>
                  <a:lnTo>
                    <a:pt x="1185545" y="131826"/>
                  </a:lnTo>
                  <a:lnTo>
                    <a:pt x="1192022" y="130556"/>
                  </a:lnTo>
                  <a:lnTo>
                    <a:pt x="1197737" y="128016"/>
                  </a:lnTo>
                  <a:lnTo>
                    <a:pt x="1203579" y="125603"/>
                  </a:lnTo>
                  <a:lnTo>
                    <a:pt x="1207897" y="121920"/>
                  </a:lnTo>
                  <a:lnTo>
                    <a:pt x="1209840" y="118999"/>
                  </a:lnTo>
                  <a:lnTo>
                    <a:pt x="1213993" y="112776"/>
                  </a:lnTo>
                  <a:lnTo>
                    <a:pt x="1215390" y="108204"/>
                  </a:lnTo>
                  <a:lnTo>
                    <a:pt x="1215517" y="97282"/>
                  </a:lnTo>
                  <a:close/>
                </a:path>
              </a:pathLst>
            </a:custGeom>
            <a:solidFill>
              <a:srgbClr val="EBA428">
                <a:alpha val="98823"/>
              </a:srgbClr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481072" y="3671316"/>
              <a:ext cx="2002536" cy="275234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3" name="object 43"/>
          <p:cNvSpPr txBox="1">
            <a:spLocks noGrp="1"/>
          </p:cNvSpPr>
          <p:nvPr>
            <p:ph type="title"/>
          </p:nvPr>
        </p:nvSpPr>
        <p:spPr>
          <a:xfrm>
            <a:off x="419100" y="1266048"/>
            <a:ext cx="2853690" cy="379431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dirty="0"/>
              <a:t>HBase </a:t>
            </a:r>
            <a:r>
              <a:rPr sz="2400" spc="4" dirty="0"/>
              <a:t>@</a:t>
            </a:r>
            <a:r>
              <a:rPr sz="2400" spc="-45" dirty="0"/>
              <a:t> </a:t>
            </a:r>
            <a:r>
              <a:rPr sz="2400" spc="-4" dirty="0"/>
              <a:t>Salesforce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2130170" y="3776758"/>
            <a:ext cx="905828" cy="62895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lnSpc>
                <a:spcPts val="2678"/>
              </a:lnSpc>
              <a:spcBef>
                <a:spcPts val="75"/>
              </a:spcBef>
            </a:pPr>
            <a:r>
              <a:rPr sz="2250" spc="-34" dirty="0">
                <a:solidFill>
                  <a:srgbClr val="FFFFFF"/>
                </a:solidFill>
                <a:latin typeface="Arial"/>
                <a:cs typeface="Arial"/>
              </a:rPr>
              <a:t>120</a:t>
            </a:r>
            <a:r>
              <a:rPr sz="2250" spc="-199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-23" dirty="0">
                <a:solidFill>
                  <a:srgbClr val="FFFFFF"/>
                </a:solidFill>
                <a:latin typeface="Arial"/>
                <a:cs typeface="Arial"/>
              </a:rPr>
              <a:t>TB</a:t>
            </a:r>
            <a:endParaRPr sz="2250">
              <a:latin typeface="Arial"/>
              <a:cs typeface="Arial"/>
            </a:endParaRPr>
          </a:p>
          <a:p>
            <a:pPr marL="152876" marR="43814" indent="-45720">
              <a:lnSpc>
                <a:spcPts val="1080"/>
              </a:lnSpc>
              <a:spcBef>
                <a:spcPts val="15"/>
              </a:spcBef>
            </a:pPr>
            <a:r>
              <a:rPr sz="900" spc="-8" dirty="0">
                <a:solidFill>
                  <a:srgbClr val="FFFFFF"/>
                </a:solidFill>
                <a:latin typeface="Arial"/>
                <a:cs typeface="Arial"/>
              </a:rPr>
              <a:t>Typical</a:t>
            </a:r>
            <a:r>
              <a:rPr sz="900" spc="-6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Cluster  Data</a:t>
            </a:r>
            <a:r>
              <a:rPr sz="900" spc="-23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1" dirty="0">
                <a:solidFill>
                  <a:srgbClr val="FFFFFF"/>
                </a:solidFill>
                <a:latin typeface="Arial"/>
                <a:cs typeface="Arial"/>
              </a:rPr>
              <a:t>Volume</a:t>
            </a:r>
            <a:endParaRPr sz="900">
              <a:latin typeface="Arial"/>
              <a:cs typeface="Arial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428625" y="1905381"/>
            <a:ext cx="1884807" cy="1635633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46" name="object 46"/>
          <p:cNvSpPr txBox="1"/>
          <p:nvPr/>
        </p:nvSpPr>
        <p:spPr>
          <a:xfrm>
            <a:off x="674217" y="1977104"/>
            <a:ext cx="1325404" cy="550472"/>
          </a:xfrm>
          <a:prstGeom prst="rect">
            <a:avLst/>
          </a:prstGeom>
        </p:spPr>
        <p:txBody>
          <a:bodyPr vert="horz" wrap="square" lIns="0" tIns="52388" rIns="0" bIns="0" rtlCol="0">
            <a:spAutoFit/>
          </a:bodyPr>
          <a:lstStyle/>
          <a:p>
            <a:pPr marR="953" algn="ctr">
              <a:spcBef>
                <a:spcPts val="413"/>
              </a:spcBef>
            </a:pPr>
            <a:r>
              <a:rPr sz="2250" spc="-49" dirty="0">
                <a:solidFill>
                  <a:srgbClr val="FFFFFF"/>
                </a:solidFill>
                <a:latin typeface="Arial"/>
                <a:cs typeface="Arial"/>
              </a:rPr>
              <a:t>2200+</a:t>
            </a:r>
            <a:endParaRPr sz="2250">
              <a:latin typeface="Arial"/>
              <a:cs typeface="Arial"/>
            </a:endParaRPr>
          </a:p>
          <a:p>
            <a:pPr algn="ctr">
              <a:spcBef>
                <a:spcPts val="135"/>
              </a:spcBef>
            </a:pP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Nodes Across </a:t>
            </a:r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900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Clusters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780276" y="920114"/>
            <a:ext cx="2178844" cy="3221355"/>
            <a:chOff x="9040368" y="83819"/>
            <a:chExt cx="2905125" cy="4295140"/>
          </a:xfrm>
        </p:grpSpPr>
        <p:sp>
          <p:nvSpPr>
            <p:cNvPr id="48" name="object 48"/>
            <p:cNvSpPr/>
            <p:nvPr/>
          </p:nvSpPr>
          <p:spPr>
            <a:xfrm>
              <a:off x="9333124" y="1321308"/>
              <a:ext cx="2612390" cy="1562100"/>
            </a:xfrm>
            <a:custGeom>
              <a:avLst/>
              <a:gdLst/>
              <a:ahLst/>
              <a:cxnLst/>
              <a:rect l="l" t="t" r="r" b="b"/>
              <a:pathLst>
                <a:path w="2612390" h="1562100">
                  <a:moveTo>
                    <a:pt x="2321792" y="0"/>
                  </a:moveTo>
                  <a:lnTo>
                    <a:pt x="115929" y="0"/>
                  </a:lnTo>
                  <a:lnTo>
                    <a:pt x="103726" y="3361"/>
                  </a:lnTo>
                  <a:lnTo>
                    <a:pt x="71184" y="50823"/>
                  </a:lnTo>
                  <a:lnTo>
                    <a:pt x="52880" y="109911"/>
                  </a:lnTo>
                  <a:lnTo>
                    <a:pt x="37287" y="187502"/>
                  </a:lnTo>
                  <a:lnTo>
                    <a:pt x="30507" y="232311"/>
                  </a:lnTo>
                  <a:lnTo>
                    <a:pt x="24406" y="280637"/>
                  </a:lnTo>
                  <a:lnTo>
                    <a:pt x="18982" y="332107"/>
                  </a:lnTo>
                  <a:lnTo>
                    <a:pt x="14236" y="386353"/>
                  </a:lnTo>
                  <a:lnTo>
                    <a:pt x="10169" y="443005"/>
                  </a:lnTo>
                  <a:lnTo>
                    <a:pt x="6779" y="501692"/>
                  </a:lnTo>
                  <a:lnTo>
                    <a:pt x="4067" y="562045"/>
                  </a:lnTo>
                  <a:lnTo>
                    <a:pt x="2033" y="623692"/>
                  </a:lnTo>
                  <a:lnTo>
                    <a:pt x="677" y="686265"/>
                  </a:lnTo>
                  <a:lnTo>
                    <a:pt x="0" y="749393"/>
                  </a:lnTo>
                  <a:lnTo>
                    <a:pt x="0" y="812706"/>
                  </a:lnTo>
                  <a:lnTo>
                    <a:pt x="677" y="875834"/>
                  </a:lnTo>
                  <a:lnTo>
                    <a:pt x="2033" y="938407"/>
                  </a:lnTo>
                  <a:lnTo>
                    <a:pt x="4067" y="1000054"/>
                  </a:lnTo>
                  <a:lnTo>
                    <a:pt x="6779" y="1060407"/>
                  </a:lnTo>
                  <a:lnTo>
                    <a:pt x="10169" y="1119094"/>
                  </a:lnTo>
                  <a:lnTo>
                    <a:pt x="14236" y="1175746"/>
                  </a:lnTo>
                  <a:lnTo>
                    <a:pt x="18982" y="1229992"/>
                  </a:lnTo>
                  <a:lnTo>
                    <a:pt x="24406" y="1281462"/>
                  </a:lnTo>
                  <a:lnTo>
                    <a:pt x="30507" y="1329788"/>
                  </a:lnTo>
                  <a:lnTo>
                    <a:pt x="37287" y="1374597"/>
                  </a:lnTo>
                  <a:lnTo>
                    <a:pt x="44744" y="1415521"/>
                  </a:lnTo>
                  <a:lnTo>
                    <a:pt x="61693" y="1484230"/>
                  </a:lnTo>
                  <a:lnTo>
                    <a:pt x="81354" y="1532956"/>
                  </a:lnTo>
                  <a:lnTo>
                    <a:pt x="115929" y="1562100"/>
                  </a:lnTo>
                  <a:lnTo>
                    <a:pt x="2321792" y="1562100"/>
                  </a:lnTo>
                  <a:lnTo>
                    <a:pt x="2432393" y="1442898"/>
                  </a:lnTo>
                  <a:lnTo>
                    <a:pt x="2524897" y="1180655"/>
                  </a:lnTo>
                  <a:lnTo>
                    <a:pt x="2588397" y="918412"/>
                  </a:lnTo>
                  <a:lnTo>
                    <a:pt x="2611987" y="799211"/>
                  </a:lnTo>
                  <a:lnTo>
                    <a:pt x="2588397" y="674334"/>
                  </a:lnTo>
                  <a:lnTo>
                    <a:pt x="2524897" y="399605"/>
                  </a:lnTo>
                  <a:lnTo>
                    <a:pt x="2432393" y="124876"/>
                  </a:lnTo>
                  <a:lnTo>
                    <a:pt x="2321792" y="0"/>
                  </a:lnTo>
                  <a:close/>
                </a:path>
              </a:pathLst>
            </a:custGeom>
            <a:solidFill>
              <a:srgbClr val="1A703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9" name="object 49"/>
            <p:cNvSpPr/>
            <p:nvPr/>
          </p:nvSpPr>
          <p:spPr>
            <a:xfrm>
              <a:off x="9040368" y="4090416"/>
              <a:ext cx="733425" cy="288290"/>
            </a:xfrm>
            <a:custGeom>
              <a:avLst/>
              <a:gdLst/>
              <a:ahLst/>
              <a:cxnLst/>
              <a:rect l="l" t="t" r="r" b="b"/>
              <a:pathLst>
                <a:path w="733425" h="288289">
                  <a:moveTo>
                    <a:pt x="366522" y="0"/>
                  </a:moveTo>
                  <a:lnTo>
                    <a:pt x="300635" y="2321"/>
                  </a:lnTo>
                  <a:lnTo>
                    <a:pt x="238625" y="9014"/>
                  </a:lnTo>
                  <a:lnTo>
                    <a:pt x="181525" y="19670"/>
                  </a:lnTo>
                  <a:lnTo>
                    <a:pt x="130370" y="33883"/>
                  </a:lnTo>
                  <a:lnTo>
                    <a:pt x="86196" y="51244"/>
                  </a:lnTo>
                  <a:lnTo>
                    <a:pt x="50038" y="71345"/>
                  </a:lnTo>
                  <a:lnTo>
                    <a:pt x="5904" y="118140"/>
                  </a:lnTo>
                  <a:lnTo>
                    <a:pt x="0" y="144017"/>
                  </a:lnTo>
                  <a:lnTo>
                    <a:pt x="5904" y="169895"/>
                  </a:lnTo>
                  <a:lnTo>
                    <a:pt x="50038" y="216690"/>
                  </a:lnTo>
                  <a:lnTo>
                    <a:pt x="86196" y="236791"/>
                  </a:lnTo>
                  <a:lnTo>
                    <a:pt x="130370" y="254152"/>
                  </a:lnTo>
                  <a:lnTo>
                    <a:pt x="181525" y="268365"/>
                  </a:lnTo>
                  <a:lnTo>
                    <a:pt x="238625" y="279021"/>
                  </a:lnTo>
                  <a:lnTo>
                    <a:pt x="300635" y="285714"/>
                  </a:lnTo>
                  <a:lnTo>
                    <a:pt x="366522" y="288035"/>
                  </a:lnTo>
                  <a:lnTo>
                    <a:pt x="432408" y="285714"/>
                  </a:lnTo>
                  <a:lnTo>
                    <a:pt x="494418" y="279021"/>
                  </a:lnTo>
                  <a:lnTo>
                    <a:pt x="551518" y="268365"/>
                  </a:lnTo>
                  <a:lnTo>
                    <a:pt x="602673" y="254152"/>
                  </a:lnTo>
                  <a:lnTo>
                    <a:pt x="646847" y="236791"/>
                  </a:lnTo>
                  <a:lnTo>
                    <a:pt x="683005" y="216690"/>
                  </a:lnTo>
                  <a:lnTo>
                    <a:pt x="727139" y="169895"/>
                  </a:lnTo>
                  <a:lnTo>
                    <a:pt x="733043" y="144017"/>
                  </a:lnTo>
                  <a:lnTo>
                    <a:pt x="727139" y="118140"/>
                  </a:lnTo>
                  <a:lnTo>
                    <a:pt x="683005" y="71345"/>
                  </a:lnTo>
                  <a:lnTo>
                    <a:pt x="646847" y="51244"/>
                  </a:lnTo>
                  <a:lnTo>
                    <a:pt x="602673" y="33883"/>
                  </a:lnTo>
                  <a:lnTo>
                    <a:pt x="551518" y="19670"/>
                  </a:lnTo>
                  <a:lnTo>
                    <a:pt x="494418" y="9014"/>
                  </a:lnTo>
                  <a:lnTo>
                    <a:pt x="432408" y="2321"/>
                  </a:lnTo>
                  <a:lnTo>
                    <a:pt x="366522" y="0"/>
                  </a:lnTo>
                  <a:close/>
                </a:path>
              </a:pathLst>
            </a:custGeom>
            <a:solidFill>
              <a:srgbClr val="B9803B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0" name="object 50"/>
            <p:cNvSpPr/>
            <p:nvPr/>
          </p:nvSpPr>
          <p:spPr>
            <a:xfrm>
              <a:off x="9072372" y="4101084"/>
              <a:ext cx="670560" cy="212090"/>
            </a:xfrm>
            <a:custGeom>
              <a:avLst/>
              <a:gdLst/>
              <a:ahLst/>
              <a:cxnLst/>
              <a:rect l="l" t="t" r="r" b="b"/>
              <a:pathLst>
                <a:path w="670559" h="212089">
                  <a:moveTo>
                    <a:pt x="335279" y="0"/>
                  </a:moveTo>
                  <a:lnTo>
                    <a:pt x="267710" y="2149"/>
                  </a:lnTo>
                  <a:lnTo>
                    <a:pt x="204775" y="8316"/>
                  </a:lnTo>
                  <a:lnTo>
                    <a:pt x="147823" y="18075"/>
                  </a:lnTo>
                  <a:lnTo>
                    <a:pt x="98202" y="31003"/>
                  </a:lnTo>
                  <a:lnTo>
                    <a:pt x="57261" y="46676"/>
                  </a:lnTo>
                  <a:lnTo>
                    <a:pt x="6811" y="84557"/>
                  </a:lnTo>
                  <a:lnTo>
                    <a:pt x="0" y="105918"/>
                  </a:lnTo>
                  <a:lnTo>
                    <a:pt x="6811" y="127278"/>
                  </a:lnTo>
                  <a:lnTo>
                    <a:pt x="57261" y="165159"/>
                  </a:lnTo>
                  <a:lnTo>
                    <a:pt x="98202" y="180832"/>
                  </a:lnTo>
                  <a:lnTo>
                    <a:pt x="147823" y="193760"/>
                  </a:lnTo>
                  <a:lnTo>
                    <a:pt x="204775" y="203519"/>
                  </a:lnTo>
                  <a:lnTo>
                    <a:pt x="267710" y="209686"/>
                  </a:lnTo>
                  <a:lnTo>
                    <a:pt x="335279" y="211836"/>
                  </a:lnTo>
                  <a:lnTo>
                    <a:pt x="402849" y="209686"/>
                  </a:lnTo>
                  <a:lnTo>
                    <a:pt x="465784" y="203519"/>
                  </a:lnTo>
                  <a:lnTo>
                    <a:pt x="522736" y="193760"/>
                  </a:lnTo>
                  <a:lnTo>
                    <a:pt x="572357" y="180832"/>
                  </a:lnTo>
                  <a:lnTo>
                    <a:pt x="613298" y="165159"/>
                  </a:lnTo>
                  <a:lnTo>
                    <a:pt x="663748" y="127278"/>
                  </a:lnTo>
                  <a:lnTo>
                    <a:pt x="670559" y="105918"/>
                  </a:lnTo>
                  <a:lnTo>
                    <a:pt x="663748" y="84557"/>
                  </a:lnTo>
                  <a:lnTo>
                    <a:pt x="613298" y="46676"/>
                  </a:lnTo>
                  <a:lnTo>
                    <a:pt x="572357" y="31003"/>
                  </a:lnTo>
                  <a:lnTo>
                    <a:pt x="522736" y="18075"/>
                  </a:lnTo>
                  <a:lnTo>
                    <a:pt x="465784" y="8316"/>
                  </a:lnTo>
                  <a:lnTo>
                    <a:pt x="402849" y="2149"/>
                  </a:lnTo>
                  <a:lnTo>
                    <a:pt x="335279" y="0"/>
                  </a:lnTo>
                  <a:close/>
                </a:path>
              </a:pathLst>
            </a:custGeom>
            <a:solidFill>
              <a:srgbClr val="92672E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1" name="object 51"/>
            <p:cNvSpPr/>
            <p:nvPr/>
          </p:nvSpPr>
          <p:spPr>
            <a:xfrm>
              <a:off x="9407652" y="393209"/>
              <a:ext cx="1546860" cy="628015"/>
            </a:xfrm>
            <a:custGeom>
              <a:avLst/>
              <a:gdLst/>
              <a:ahLst/>
              <a:cxnLst/>
              <a:rect l="l" t="t" r="r" b="b"/>
              <a:pathLst>
                <a:path w="1546859" h="628015">
                  <a:moveTo>
                    <a:pt x="20712" y="0"/>
                  </a:moveTo>
                  <a:lnTo>
                    <a:pt x="0" y="4935"/>
                  </a:lnTo>
                  <a:lnTo>
                    <a:pt x="0" y="627870"/>
                  </a:lnTo>
                  <a:lnTo>
                    <a:pt x="1333880" y="627870"/>
                  </a:lnTo>
                  <a:lnTo>
                    <a:pt x="1367443" y="619151"/>
                  </a:lnTo>
                  <a:lnTo>
                    <a:pt x="1399658" y="595484"/>
                  </a:lnTo>
                  <a:lnTo>
                    <a:pt x="1430002" y="560607"/>
                  </a:lnTo>
                  <a:lnTo>
                    <a:pt x="1457950" y="518256"/>
                  </a:lnTo>
                  <a:lnTo>
                    <a:pt x="1482978" y="472168"/>
                  </a:lnTo>
                  <a:lnTo>
                    <a:pt x="1509408" y="414996"/>
                  </a:lnTo>
                  <a:lnTo>
                    <a:pt x="1529540" y="365123"/>
                  </a:lnTo>
                  <a:lnTo>
                    <a:pt x="1546859" y="316466"/>
                  </a:lnTo>
                  <a:lnTo>
                    <a:pt x="1542737" y="304424"/>
                  </a:lnTo>
                  <a:lnTo>
                    <a:pt x="1515829" y="233131"/>
                  </a:lnTo>
                  <a:lnTo>
                    <a:pt x="1494379" y="183973"/>
                  </a:lnTo>
                  <a:lnTo>
                    <a:pt x="1468488" y="132536"/>
                  </a:lnTo>
                  <a:lnTo>
                    <a:pt x="1438825" y="83868"/>
                  </a:lnTo>
                  <a:lnTo>
                    <a:pt x="1406057" y="43014"/>
                  </a:lnTo>
                  <a:lnTo>
                    <a:pt x="1370853" y="15021"/>
                  </a:lnTo>
                  <a:lnTo>
                    <a:pt x="1333880" y="4935"/>
                  </a:lnTo>
                  <a:lnTo>
                    <a:pt x="1197749" y="6802"/>
                  </a:lnTo>
                  <a:lnTo>
                    <a:pt x="1071332" y="8247"/>
                  </a:lnTo>
                  <a:lnTo>
                    <a:pt x="954266" y="9304"/>
                  </a:lnTo>
                  <a:lnTo>
                    <a:pt x="846184" y="10007"/>
                  </a:lnTo>
                  <a:lnTo>
                    <a:pt x="746722" y="10388"/>
                  </a:lnTo>
                  <a:lnTo>
                    <a:pt x="655514" y="10481"/>
                  </a:lnTo>
                  <a:lnTo>
                    <a:pt x="496400" y="9937"/>
                  </a:lnTo>
                  <a:lnTo>
                    <a:pt x="365920" y="8640"/>
                  </a:lnTo>
                  <a:lnTo>
                    <a:pt x="261152" y="6858"/>
                  </a:lnTo>
                  <a:lnTo>
                    <a:pt x="179173" y="4858"/>
                  </a:lnTo>
                  <a:lnTo>
                    <a:pt x="40753" y="209"/>
                  </a:lnTo>
                  <a:lnTo>
                    <a:pt x="20712" y="0"/>
                  </a:lnTo>
                  <a:close/>
                </a:path>
              </a:pathLst>
            </a:custGeom>
            <a:solidFill>
              <a:srgbClr val="0E4727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2" name="object 52"/>
            <p:cNvSpPr/>
            <p:nvPr/>
          </p:nvSpPr>
          <p:spPr>
            <a:xfrm>
              <a:off x="9300464" y="83819"/>
              <a:ext cx="223520" cy="4141470"/>
            </a:xfrm>
            <a:custGeom>
              <a:avLst/>
              <a:gdLst/>
              <a:ahLst/>
              <a:cxnLst/>
              <a:rect l="l" t="t" r="r" b="b"/>
              <a:pathLst>
                <a:path w="223520" h="4141470">
                  <a:moveTo>
                    <a:pt x="111505" y="0"/>
                  </a:moveTo>
                  <a:lnTo>
                    <a:pt x="68976" y="19573"/>
                  </a:lnTo>
                  <a:lnTo>
                    <a:pt x="33400" y="73151"/>
                  </a:lnTo>
                  <a:lnTo>
                    <a:pt x="19556" y="110253"/>
                  </a:lnTo>
                  <a:lnTo>
                    <a:pt x="9032" y="152892"/>
                  </a:lnTo>
                  <a:lnTo>
                    <a:pt x="2343" y="200078"/>
                  </a:lnTo>
                  <a:lnTo>
                    <a:pt x="0" y="250825"/>
                  </a:lnTo>
                  <a:lnTo>
                    <a:pt x="0" y="4036949"/>
                  </a:lnTo>
                  <a:lnTo>
                    <a:pt x="5332" y="4082516"/>
                  </a:lnTo>
                  <a:lnTo>
                    <a:pt x="30845" y="4116879"/>
                  </a:lnTo>
                  <a:lnTo>
                    <a:pt x="68812" y="4137407"/>
                  </a:lnTo>
                  <a:lnTo>
                    <a:pt x="111505" y="4141469"/>
                  </a:lnTo>
                  <a:lnTo>
                    <a:pt x="150145" y="4131782"/>
                  </a:lnTo>
                  <a:lnTo>
                    <a:pt x="184213" y="4111497"/>
                  </a:lnTo>
                  <a:lnTo>
                    <a:pt x="209803" y="4080069"/>
                  </a:lnTo>
                  <a:lnTo>
                    <a:pt x="223011" y="4036949"/>
                  </a:lnTo>
                  <a:lnTo>
                    <a:pt x="223011" y="250825"/>
                  </a:lnTo>
                  <a:lnTo>
                    <a:pt x="220650" y="200078"/>
                  </a:lnTo>
                  <a:lnTo>
                    <a:pt x="213931" y="152892"/>
                  </a:lnTo>
                  <a:lnTo>
                    <a:pt x="203402" y="110253"/>
                  </a:lnTo>
                  <a:lnTo>
                    <a:pt x="189610" y="73151"/>
                  </a:lnTo>
                  <a:lnTo>
                    <a:pt x="154035" y="19573"/>
                  </a:lnTo>
                  <a:lnTo>
                    <a:pt x="111505" y="0"/>
                  </a:lnTo>
                  <a:close/>
                </a:path>
              </a:pathLst>
            </a:custGeom>
            <a:solidFill>
              <a:srgbClr val="B9803B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7185469" y="1234250"/>
            <a:ext cx="829628" cy="3323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2100" spc="-26" dirty="0">
                <a:solidFill>
                  <a:srgbClr val="FFFFFF"/>
                </a:solidFill>
                <a:latin typeface="Arial"/>
                <a:cs typeface="Arial"/>
              </a:rPr>
              <a:t>Variety</a:t>
            </a:r>
            <a:endParaRPr sz="21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185469" y="1874329"/>
            <a:ext cx="932498" cy="1117614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spcBef>
                <a:spcPts val="75"/>
              </a:spcBef>
            </a:pPr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Simple Row</a:t>
            </a:r>
            <a:r>
              <a:rPr sz="900" spc="-68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Store  </a:t>
            </a:r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Denormalization  Messaging</a:t>
            </a:r>
            <a:endParaRPr sz="900">
              <a:latin typeface="Arial"/>
              <a:cs typeface="Arial"/>
            </a:endParaRPr>
          </a:p>
          <a:p>
            <a:pPr marL="9525" marR="401479"/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Event</a:t>
            </a:r>
            <a:r>
              <a:rPr sz="900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Log  </a:t>
            </a:r>
            <a:r>
              <a:rPr sz="900" spc="-4" dirty="0">
                <a:solidFill>
                  <a:srgbClr val="FFFFFF"/>
                </a:solidFill>
                <a:latin typeface="Arial"/>
                <a:cs typeface="Arial"/>
              </a:rPr>
              <a:t>Analytics  Metrics  Graphs  </a:t>
            </a:r>
            <a:r>
              <a:rPr sz="900" dirty="0">
                <a:solidFill>
                  <a:srgbClr val="FFFFFF"/>
                </a:solidFill>
                <a:latin typeface="Arial"/>
                <a:cs typeface="Arial"/>
              </a:rPr>
              <a:t>Cache</a:t>
            </a:r>
            <a:endParaRPr sz="900">
              <a:latin typeface="Arial"/>
              <a:cs typeface="Arial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8258175" y="5425821"/>
            <a:ext cx="462915" cy="32346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14684495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Applications store data in tables</a:t>
            </a:r>
          </a:p>
          <a:p>
            <a:r>
              <a:rPr lang="en-US" dirty="0"/>
              <a:t>Tables are made of rows and columns</a:t>
            </a:r>
          </a:p>
          <a:p>
            <a:r>
              <a:rPr lang="en-US" dirty="0"/>
              <a:t>Columns are grouped into column families</a:t>
            </a:r>
          </a:p>
          <a:p>
            <a:pPr lvl="1"/>
            <a:r>
              <a:rPr lang="en-US" dirty="0"/>
              <a:t>All column family members have a common prefix…</a:t>
            </a:r>
          </a:p>
          <a:p>
            <a:pPr lvl="1"/>
            <a:r>
              <a:rPr lang="en-US" dirty="0"/>
              <a:t>Columns </a:t>
            </a:r>
            <a:r>
              <a:rPr lang="en-US" dirty="0" err="1"/>
              <a:t>info:format</a:t>
            </a:r>
            <a:r>
              <a:rPr lang="en-US" dirty="0"/>
              <a:t> and </a:t>
            </a:r>
            <a:r>
              <a:rPr lang="en-US" dirty="0" err="1"/>
              <a:t>info:geo</a:t>
            </a:r>
            <a:r>
              <a:rPr lang="en-US" dirty="0"/>
              <a:t> are both members of the info column family…</a:t>
            </a:r>
          </a:p>
          <a:p>
            <a:pPr lvl="1"/>
            <a:r>
              <a:rPr lang="en-US" dirty="0"/>
              <a:t>While </a:t>
            </a:r>
            <a:r>
              <a:rPr lang="en-US" dirty="0" err="1"/>
              <a:t>contents:image</a:t>
            </a:r>
            <a:r>
              <a:rPr lang="en-US" dirty="0"/>
              <a:t> belongs to the contents family</a:t>
            </a:r>
          </a:p>
          <a:p>
            <a:r>
              <a:rPr lang="en-US" dirty="0"/>
              <a:t>Table cells—the intersection of row and column coordinates—are versioned</a:t>
            </a:r>
          </a:p>
          <a:p>
            <a:r>
              <a:rPr lang="en-US" dirty="0"/>
              <a:t>By default, their version is a timestamp auto-assigned by </a:t>
            </a:r>
            <a:r>
              <a:rPr lang="en-US" dirty="0" err="1"/>
              <a:t>HBase</a:t>
            </a:r>
            <a:r>
              <a:rPr lang="en-US" dirty="0"/>
              <a:t> at the time of cell insertion</a:t>
            </a:r>
          </a:p>
          <a:p>
            <a:r>
              <a:rPr lang="en-US" dirty="0"/>
              <a:t>A cell’s content is an </a:t>
            </a:r>
            <a:r>
              <a:rPr lang="en-US" dirty="0" err="1"/>
              <a:t>uninterpreted</a:t>
            </a:r>
            <a:r>
              <a:rPr lang="en-US" dirty="0"/>
              <a:t> array of bytes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9701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Data Model: Components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8</a:t>
            </a:fld>
            <a:endParaRPr lang="en-US" dirty="0"/>
          </a:p>
        </p:txBody>
      </p: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1792343"/>
            <a:ext cx="8763000" cy="39226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13422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60C7B-183E-4047-8BAD-0D4BCA044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Logical Data Organization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F84AAC-A1D4-214B-877E-5F666260D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F9C65-B909-5F42-8ADE-EF051572F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8558F-1C8B-BC43-B45E-3C8A0A7004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396" y="2133600"/>
            <a:ext cx="8089207" cy="3835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AD4C03-413A-8E49-AB97-ACEB1B641E75}"/>
              </a:ext>
            </a:extLst>
          </p:cNvPr>
          <p:cNvSpPr txBox="1"/>
          <p:nvPr/>
        </p:nvSpPr>
        <p:spPr>
          <a:xfrm>
            <a:off x="4985186" y="6324600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Cells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83A39EC-05AD-214B-8F10-5B4E1D6D2048}"/>
              </a:ext>
            </a:extLst>
          </p:cNvPr>
          <p:cNvCxnSpPr>
            <a:cxnSpLocks/>
          </p:cNvCxnSpPr>
          <p:nvPr/>
        </p:nvCxnSpPr>
        <p:spPr>
          <a:xfrm flipH="1" flipV="1">
            <a:off x="4832786" y="5613400"/>
            <a:ext cx="501214" cy="71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128322F-3696-134D-A0A7-5B4BF48CC97F}"/>
              </a:ext>
            </a:extLst>
          </p:cNvPr>
          <p:cNvCxnSpPr>
            <a:cxnSpLocks/>
          </p:cNvCxnSpPr>
          <p:nvPr/>
        </p:nvCxnSpPr>
        <p:spPr>
          <a:xfrm flipV="1">
            <a:off x="5334000" y="5613400"/>
            <a:ext cx="512099" cy="711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0060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base"/>
            <a:r>
              <a:rPr lang="en-US" dirty="0"/>
              <a:t>A table’s column families must be specified up front as part of the table schema definition</a:t>
            </a:r>
          </a:p>
          <a:p>
            <a:pPr fontAlgn="base"/>
            <a:r>
              <a:rPr lang="en-US" dirty="0"/>
              <a:t>But new column family members (new columns) can be added on demand</a:t>
            </a:r>
          </a:p>
          <a:p>
            <a:pPr fontAlgn="base"/>
            <a:r>
              <a:rPr lang="en-US" dirty="0"/>
              <a:t>For example, a new column </a:t>
            </a:r>
            <a:r>
              <a:rPr lang="en-US" dirty="0" err="1"/>
              <a:t>info:camera</a:t>
            </a:r>
            <a:r>
              <a:rPr lang="en-US" dirty="0"/>
              <a:t> can be offered by a client as part of an update, and its value persisted</a:t>
            </a:r>
          </a:p>
          <a:p>
            <a:pPr lvl="1" fontAlgn="base"/>
            <a:r>
              <a:rPr lang="en-US" dirty="0"/>
              <a:t>As long as the column family info already exists on the table</a:t>
            </a:r>
          </a:p>
          <a:p>
            <a:pPr fontAlgn="base"/>
            <a:r>
              <a:rPr lang="en-US" dirty="0"/>
              <a:t>All column family members are stored together on the filesystem</a:t>
            </a:r>
          </a:p>
          <a:p>
            <a:pPr fontAlgn="base"/>
            <a:r>
              <a:rPr lang="en-US" dirty="0"/>
              <a:t>So HBase can be considered largely, although not completely, </a:t>
            </a:r>
            <a:r>
              <a:rPr lang="en-US" dirty="0" err="1"/>
              <a:t>schemaless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4658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1212B-6A27-574F-9C4D-D68461C86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Logical Data Organization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4F017E-16DA-B049-A937-6D41C2A19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C10BBC-4799-AF45-A56F-8BE760D274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11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EE5B38-886A-174C-B1BE-A61F5692F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875" y="1981200"/>
            <a:ext cx="8858250" cy="42291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4977AFE-2BD1-6846-AA64-C08688816C2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044" t="17881"/>
          <a:stretch/>
        </p:blipFill>
        <p:spPr>
          <a:xfrm>
            <a:off x="3270597" y="2819400"/>
            <a:ext cx="5634598" cy="3276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BD3C350-DB4B-C244-BAFD-58AD7D7F1452}"/>
              </a:ext>
            </a:extLst>
          </p:cNvPr>
          <p:cNvSpPr/>
          <p:nvPr/>
        </p:nvSpPr>
        <p:spPr>
          <a:xfrm>
            <a:off x="4800600" y="4648200"/>
            <a:ext cx="533400" cy="2857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V2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2723D5-F287-7941-9F3D-4B1BDA467EC7}"/>
              </a:ext>
            </a:extLst>
          </p:cNvPr>
          <p:cNvSpPr/>
          <p:nvPr/>
        </p:nvSpPr>
        <p:spPr>
          <a:xfrm>
            <a:off x="4419600" y="4572000"/>
            <a:ext cx="533400" cy="28575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V1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926882-3756-CE42-BF93-E85AB9F23EF9}"/>
              </a:ext>
            </a:extLst>
          </p:cNvPr>
          <p:cNvSpPr/>
          <p:nvPr/>
        </p:nvSpPr>
        <p:spPr>
          <a:xfrm>
            <a:off x="4572000" y="5105400"/>
            <a:ext cx="533400" cy="28575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V1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9E79839-63B3-2A4C-B9A7-0A1B81E20FA8}"/>
              </a:ext>
            </a:extLst>
          </p:cNvPr>
          <p:cNvSpPr/>
          <p:nvPr/>
        </p:nvSpPr>
        <p:spPr>
          <a:xfrm>
            <a:off x="4876800" y="5715000"/>
            <a:ext cx="533400" cy="28575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b="1" dirty="0"/>
              <a:t>V3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1E36A3-BC1E-304F-92A9-7FAD63315551}"/>
              </a:ext>
            </a:extLst>
          </p:cNvPr>
          <p:cNvSpPr/>
          <p:nvPr/>
        </p:nvSpPr>
        <p:spPr>
          <a:xfrm>
            <a:off x="4648200" y="5581650"/>
            <a:ext cx="533400" cy="28575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b="1" dirty="0"/>
              <a:t>V2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E11064-1D6E-2042-BB0D-4CE8DBAF1CDF}"/>
              </a:ext>
            </a:extLst>
          </p:cNvPr>
          <p:cNvSpPr/>
          <p:nvPr/>
        </p:nvSpPr>
        <p:spPr>
          <a:xfrm>
            <a:off x="4419600" y="5486400"/>
            <a:ext cx="533400" cy="28575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b"/>
          <a:lstStyle/>
          <a:p>
            <a:pPr algn="r"/>
            <a:r>
              <a:rPr lang="en-US" sz="1100" dirty="0"/>
              <a:t>V1</a:t>
            </a:r>
          </a:p>
        </p:txBody>
      </p:sp>
    </p:spTree>
    <p:extLst>
      <p:ext uri="{BB962C8B-B14F-4D97-AF65-F5344CB8AC3E}">
        <p14:creationId xmlns:p14="http://schemas.microsoft.com/office/powerpoint/2010/main" val="4052441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 row keys are also byte arrays</a:t>
            </a:r>
          </a:p>
          <a:p>
            <a:pPr lvl="1"/>
            <a:r>
              <a:rPr lang="en-US" dirty="0"/>
              <a:t>So theoretically anything can serve as a row key, from strings to binary representations of long or even serialized data structures </a:t>
            </a:r>
          </a:p>
          <a:p>
            <a:r>
              <a:rPr lang="en-US" dirty="0"/>
              <a:t>Table rows are sorted by row key, aka the table’s primary key. The sort is byte-ordered</a:t>
            </a:r>
          </a:p>
          <a:p>
            <a:r>
              <a:rPr lang="en-US" dirty="0"/>
              <a:t>All table accesses are via the primary key, there are no secondary indexes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0250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Data Model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13</a:t>
            </a:fld>
            <a:endParaRPr lang="en-US" dirty="0"/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977771"/>
            <a:ext cx="7239000" cy="44230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2667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Data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tables are like those in an RDBMS except…</a:t>
            </a:r>
          </a:p>
          <a:p>
            <a:r>
              <a:rPr lang="en-US" dirty="0"/>
              <a:t>Cells are versioned</a:t>
            </a:r>
          </a:p>
          <a:p>
            <a:r>
              <a:rPr lang="en-US" dirty="0"/>
              <a:t>Rows are sorted</a:t>
            </a:r>
          </a:p>
          <a:p>
            <a:r>
              <a:rPr lang="en-US" dirty="0"/>
              <a:t>Columns can be added on the fly by the client as long as the column family they belong to preexists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97536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ACID Properties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HBase</a:t>
            </a:r>
            <a:r>
              <a:rPr lang="en-US" dirty="0"/>
              <a:t> is not ACID-compliant, but does guarantee certain specific properties…</a:t>
            </a:r>
          </a:p>
          <a:p>
            <a:r>
              <a:rPr lang="en-US" dirty="0"/>
              <a:t>All changes are atomic within a row</a:t>
            </a:r>
          </a:p>
          <a:p>
            <a:r>
              <a:rPr lang="en-US" dirty="0"/>
              <a:t>Any put will either wholly succeed or wholly fail</a:t>
            </a:r>
          </a:p>
          <a:p>
            <a:r>
              <a:rPr lang="en-US" dirty="0"/>
              <a:t>But API calls that change several rows will not be atomic across the multiple rows</a:t>
            </a:r>
          </a:p>
          <a:p>
            <a:r>
              <a:rPr lang="en-US" dirty="0"/>
              <a:t>All rows returned via any access API will consist of a complete (consistent) row that existed at some point in the table's history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2003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Consider </a:t>
            </a:r>
            <a:r>
              <a:rPr lang="en-US" dirty="0" err="1"/>
              <a:t>HBase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HBase</a:t>
            </a:r>
            <a:r>
              <a:rPr lang="en-US" dirty="0"/>
              <a:t> isn’t suitable for every problem.</a:t>
            </a:r>
          </a:p>
          <a:p>
            <a:r>
              <a:rPr lang="en-US" dirty="0"/>
              <a:t>First, make sure you have enough data</a:t>
            </a:r>
          </a:p>
          <a:p>
            <a:pPr lvl="1"/>
            <a:r>
              <a:rPr lang="en-US" dirty="0"/>
              <a:t>If you have hundreds of millions or billions of rows, then </a:t>
            </a:r>
            <a:r>
              <a:rPr lang="en-US" dirty="0" err="1"/>
              <a:t>HBase</a:t>
            </a:r>
            <a:r>
              <a:rPr lang="en-US" dirty="0"/>
              <a:t> is a good candidate</a:t>
            </a:r>
          </a:p>
          <a:p>
            <a:pPr lvl="1"/>
            <a:r>
              <a:rPr lang="en-US" dirty="0"/>
              <a:t>If you only have a few thousand/million rows, then using a traditional RDBMS might be a better choice…</a:t>
            </a:r>
          </a:p>
          <a:p>
            <a:pPr lvl="1"/>
            <a:r>
              <a:rPr lang="en-US" dirty="0"/>
              <a:t>Due to the fact that all of your data might wind up on a single node (or two) and the rest of the cluster may be sitting idle</a:t>
            </a:r>
          </a:p>
          <a:p>
            <a:r>
              <a:rPr lang="en-US" dirty="0"/>
              <a:t>Make sure you can live without all the extra features that an RDBMS provides</a:t>
            </a:r>
          </a:p>
          <a:p>
            <a:pPr lvl="1"/>
            <a:r>
              <a:rPr lang="en-US" dirty="0"/>
              <a:t>Such as typed columns, secondary indexes, transactions, advanced query languages, etc.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6298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Consider </a:t>
            </a:r>
            <a:r>
              <a:rPr lang="en-US" dirty="0" err="1"/>
              <a:t>HBase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An application built against an RDBMS cannot be "ported" to </a:t>
            </a:r>
            <a:r>
              <a:rPr lang="en-US" dirty="0" err="1"/>
              <a:t>HBase</a:t>
            </a:r>
            <a:r>
              <a:rPr lang="en-US" dirty="0"/>
              <a:t> by simply changing a JDBC driver, for example</a:t>
            </a:r>
          </a:p>
          <a:p>
            <a:r>
              <a:rPr lang="en-US" dirty="0"/>
              <a:t>Consider moving from an RDBMS to using </a:t>
            </a:r>
            <a:r>
              <a:rPr lang="en-US" dirty="0" err="1"/>
              <a:t>HBase</a:t>
            </a:r>
            <a:r>
              <a:rPr lang="en-US" dirty="0"/>
              <a:t> as a complete redesign as opposed to a port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475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HDFS vs. </a:t>
            </a:r>
            <a:r>
              <a:rPr lang="en-US" dirty="0" err="1"/>
              <a:t>HBase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18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837677"/>
              </p:ext>
            </p:extLst>
          </p:nvPr>
        </p:nvGraphicFramePr>
        <p:xfrm>
          <a:off x="457200" y="2066925"/>
          <a:ext cx="8343900" cy="3902655"/>
        </p:xfrm>
        <a:graphic>
          <a:graphicData uri="http://schemas.openxmlformats.org/drawingml/2006/table">
            <a:tbl>
              <a:tblPr/>
              <a:tblGrid>
                <a:gridCol w="417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1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3955"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HDFS</a:t>
                      </a:r>
                    </a:p>
                  </a:txBody>
                  <a:tcPr marL="95250" marR="95250" marT="142875" marB="1428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400" b="0">
                          <a:effectLst/>
                        </a:rPr>
                        <a:t>HBase</a:t>
                      </a:r>
                    </a:p>
                  </a:txBody>
                  <a:tcPr marL="95250" marR="95250" marT="142875" marB="142875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33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Distributed file system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Built on top of HDFS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33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 fast data lookups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Fast data lookups via indexed files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33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Latency : high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Latency : low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2330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Only sequential access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Random access via hash tables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800100" y="28289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rPr>
            </a:b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426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vs. RDBMS Summary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19</a:t>
            </a:fld>
            <a:endParaRPr lang="en-US" dirty="0"/>
          </a:p>
        </p:txBody>
      </p:sp>
      <p:pic>
        <p:nvPicPr>
          <p:cNvPr id="307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070023"/>
            <a:ext cx="8808407" cy="3873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942464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vs. RDBMS Details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20</a:t>
            </a:fld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2057400"/>
            <a:ext cx="8924660" cy="3919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154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vs. RDBMS Details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21</a:t>
            </a:fld>
            <a:endParaRPr lang="en-US" dirty="0"/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87" y="2477975"/>
            <a:ext cx="8496913" cy="3008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985976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0F72D-B62F-F947-9D9E-ED011F880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44729-24D6-F04A-829B-F31D6A5B3C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Capture Event Data, Time Series Data</a:t>
            </a:r>
          </a:p>
          <a:p>
            <a:pPr lvl="1"/>
            <a:r>
              <a:rPr lang="en-US" dirty="0"/>
              <a:t>Sensor, System metrics, Events, Log files</a:t>
            </a:r>
          </a:p>
          <a:p>
            <a:pPr lvl="1"/>
            <a:r>
              <a:rPr lang="en-US" dirty="0"/>
              <a:t>User Activity</a:t>
            </a:r>
          </a:p>
          <a:p>
            <a:pPr lvl="1"/>
            <a:r>
              <a:rPr lang="en-US" dirty="0"/>
              <a:t>High Volume, Velocity Writes</a:t>
            </a:r>
          </a:p>
          <a:p>
            <a:r>
              <a:rPr lang="en-US" dirty="0"/>
              <a:t>Information Exchange, Messaging</a:t>
            </a:r>
          </a:p>
          <a:p>
            <a:pPr lvl="1"/>
            <a:r>
              <a:rPr lang="en-US" dirty="0"/>
              <a:t>Email, Chat, Inbox</a:t>
            </a:r>
          </a:p>
          <a:p>
            <a:pPr lvl="1"/>
            <a:r>
              <a:rPr lang="en-US" dirty="0"/>
              <a:t>High Volume, Velocity Read\Write</a:t>
            </a:r>
          </a:p>
          <a:p>
            <a:r>
              <a:rPr lang="en-US" dirty="0"/>
              <a:t>Content Serving, Web Application Backend</a:t>
            </a:r>
          </a:p>
          <a:p>
            <a:pPr lvl="1"/>
            <a:r>
              <a:rPr lang="en-US" dirty="0"/>
              <a:t>Online Catalog</a:t>
            </a:r>
          </a:p>
          <a:p>
            <a:pPr lvl="1"/>
            <a:r>
              <a:rPr lang="en-US" dirty="0"/>
              <a:t>Search Index</a:t>
            </a:r>
          </a:p>
          <a:p>
            <a:pPr lvl="1"/>
            <a:r>
              <a:rPr lang="en-US" dirty="0"/>
              <a:t>Pre-Computed View</a:t>
            </a:r>
          </a:p>
          <a:p>
            <a:pPr lvl="1"/>
            <a:r>
              <a:rPr lang="en-US" dirty="0"/>
              <a:t>High Volume, Velocity Reads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4CCD8A-F332-564A-96A6-0F79A23733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DCB737-9CF8-5C41-AAEB-FAF0BCF0D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640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" y="762000"/>
            <a:ext cx="6362700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/>
              <a:t>HBase Use</a:t>
            </a:r>
            <a:r>
              <a:rPr lang="en-US" spc="-64" dirty="0"/>
              <a:t>s</a:t>
            </a:r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23900" y="1920377"/>
            <a:ext cx="8115300" cy="324839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301591">
              <a:spcBef>
                <a:spcPts val="75"/>
              </a:spcBef>
            </a:pPr>
            <a:r>
              <a:rPr sz="1600" spc="-4" dirty="0"/>
              <a:t>Large Data </a:t>
            </a:r>
            <a:r>
              <a:rPr sz="1600" spc="-15" dirty="0"/>
              <a:t>Volume </a:t>
            </a:r>
            <a:r>
              <a:rPr sz="1600" spc="-4" dirty="0"/>
              <a:t>running into </a:t>
            </a:r>
            <a:r>
              <a:rPr sz="1600" dirty="0"/>
              <a:t>at </a:t>
            </a:r>
            <a:r>
              <a:rPr sz="1600" spc="-4" dirty="0"/>
              <a:t>least hundreds </a:t>
            </a:r>
            <a:r>
              <a:rPr sz="1600" dirty="0"/>
              <a:t>of GBs </a:t>
            </a:r>
            <a:r>
              <a:rPr sz="1600" spc="-4" dirty="0"/>
              <a:t>or more (aka Big</a:t>
            </a:r>
            <a:r>
              <a:rPr sz="1600" spc="98" dirty="0"/>
              <a:t> </a:t>
            </a:r>
            <a:r>
              <a:rPr sz="1600" spc="-4" dirty="0"/>
              <a:t>Data)</a:t>
            </a:r>
          </a:p>
          <a:p>
            <a:pPr marL="1109186" indent="0">
              <a:spcBef>
                <a:spcPts val="30"/>
              </a:spcBef>
              <a:buNone/>
            </a:pPr>
            <a:endParaRPr sz="1400" dirty="0"/>
          </a:p>
          <a:p>
            <a:pPr marL="1301591" marR="3810"/>
            <a:r>
              <a:rPr sz="1600" spc="-4" dirty="0"/>
              <a:t>Data access patterns are </a:t>
            </a:r>
            <a:r>
              <a:rPr sz="1600" spc="-11" dirty="0"/>
              <a:t>well known </a:t>
            </a:r>
            <a:r>
              <a:rPr sz="1600" dirty="0"/>
              <a:t>at </a:t>
            </a:r>
            <a:r>
              <a:rPr sz="1600" spc="-4" dirty="0"/>
              <a:t>design </a:t>
            </a:r>
            <a:r>
              <a:rPr sz="1600" dirty="0"/>
              <a:t>time </a:t>
            </a:r>
            <a:r>
              <a:rPr sz="1600" spc="-4" dirty="0"/>
              <a:t>and are not expected to change </a:t>
            </a:r>
            <a:r>
              <a:rPr sz="1600" dirty="0"/>
              <a:t>i.e.  </a:t>
            </a:r>
            <a:r>
              <a:rPr sz="1600" spc="-4" dirty="0"/>
              <a:t>no secondary </a:t>
            </a:r>
            <a:r>
              <a:rPr sz="1600" spc="-8" dirty="0"/>
              <a:t>indexes </a:t>
            </a:r>
            <a:r>
              <a:rPr sz="1600" dirty="0"/>
              <a:t>/ </a:t>
            </a:r>
            <a:r>
              <a:rPr sz="1600" spc="-4" dirty="0"/>
              <a:t>joins need </a:t>
            </a:r>
            <a:r>
              <a:rPr sz="1600" dirty="0"/>
              <a:t>to </a:t>
            </a:r>
            <a:r>
              <a:rPr sz="1600" spc="-4" dirty="0"/>
              <a:t>be added </a:t>
            </a:r>
            <a:r>
              <a:rPr sz="1600" dirty="0"/>
              <a:t>at </a:t>
            </a:r>
            <a:r>
              <a:rPr sz="1600" spc="-4" dirty="0"/>
              <a:t>a later</a:t>
            </a:r>
            <a:r>
              <a:rPr sz="1600" spc="75" dirty="0"/>
              <a:t> </a:t>
            </a:r>
            <a:r>
              <a:rPr sz="1600" spc="-4" dirty="0"/>
              <a:t>stage</a:t>
            </a:r>
            <a:endParaRPr sz="1100" dirty="0"/>
          </a:p>
          <a:p>
            <a:pPr marL="1292066">
              <a:spcBef>
                <a:spcPts val="19"/>
              </a:spcBef>
            </a:pPr>
            <a:endParaRPr sz="1100" dirty="0"/>
          </a:p>
          <a:p>
            <a:pPr marL="1301591"/>
            <a:r>
              <a:rPr sz="1600" spc="-4" dirty="0"/>
              <a:t>RDBMS-like multi-row transactions are not</a:t>
            </a:r>
            <a:r>
              <a:rPr sz="1600" spc="34" dirty="0"/>
              <a:t> </a:t>
            </a:r>
            <a:r>
              <a:rPr sz="1600" spc="-4" dirty="0"/>
              <a:t>required</a:t>
            </a:r>
          </a:p>
          <a:p>
            <a:pPr marL="1290161" marR="507683" indent="-171450">
              <a:lnSpc>
                <a:spcPct val="336600"/>
              </a:lnSpc>
              <a:spcBef>
                <a:spcPts val="53"/>
              </a:spcBef>
            </a:pPr>
            <a:r>
              <a:rPr sz="1600" spc="-4" dirty="0"/>
              <a:t>Large </a:t>
            </a:r>
            <a:r>
              <a:rPr lang="en-US" sz="1600" spc="-4" dirty="0"/>
              <a:t>amount of different records of </a:t>
            </a:r>
            <a:r>
              <a:rPr sz="1600" spc="-4" dirty="0"/>
              <a:t>data </a:t>
            </a:r>
            <a:r>
              <a:rPr sz="1600" spc="-8" dirty="0"/>
              <a:t>being </a:t>
            </a:r>
            <a:r>
              <a:rPr sz="1600" spc="-4" dirty="0"/>
              <a:t>accessed or </a:t>
            </a:r>
            <a:r>
              <a:rPr lang="en-US" sz="1600" spc="-8" dirty="0"/>
              <a:t>updated</a:t>
            </a:r>
            <a:r>
              <a:rPr sz="1600" spc="-4" dirty="0"/>
              <a:t> </a:t>
            </a:r>
            <a:endParaRPr lang="en-US" sz="1600" spc="-4" dirty="0"/>
          </a:p>
          <a:p>
            <a:pPr marL="1290161" marR="507683" indent="-171450">
              <a:lnSpc>
                <a:spcPct val="336600"/>
              </a:lnSpc>
              <a:spcBef>
                <a:spcPts val="53"/>
              </a:spcBef>
            </a:pPr>
            <a:r>
              <a:rPr sz="1600" spc="-4" dirty="0"/>
              <a:t>Multiple versions </a:t>
            </a:r>
            <a:r>
              <a:rPr sz="1600" dirty="0"/>
              <a:t>of</a:t>
            </a:r>
            <a:r>
              <a:rPr sz="1600" spc="15" dirty="0"/>
              <a:t> </a:t>
            </a:r>
            <a:r>
              <a:rPr sz="1600" spc="-4" dirty="0"/>
              <a:t>data</a:t>
            </a:r>
          </a:p>
        </p:txBody>
      </p:sp>
      <p:sp>
        <p:nvSpPr>
          <p:cNvPr id="4" name="object 4"/>
          <p:cNvSpPr/>
          <p:nvPr/>
        </p:nvSpPr>
        <p:spPr>
          <a:xfrm>
            <a:off x="428625" y="2726055"/>
            <a:ext cx="1078230" cy="247174"/>
          </a:xfrm>
          <a:custGeom>
            <a:avLst/>
            <a:gdLst/>
            <a:ahLst/>
            <a:cxnLst/>
            <a:rect l="l" t="t" r="r" b="b"/>
            <a:pathLst>
              <a:path w="1437639" h="329564">
                <a:moveTo>
                  <a:pt x="1437132" y="158623"/>
                </a:moveTo>
                <a:lnTo>
                  <a:pt x="1435227" y="154178"/>
                </a:lnTo>
                <a:lnTo>
                  <a:pt x="1431544" y="151892"/>
                </a:lnTo>
                <a:lnTo>
                  <a:pt x="1400048" y="136639"/>
                </a:lnTo>
                <a:lnTo>
                  <a:pt x="1400048" y="164211"/>
                </a:lnTo>
                <a:lnTo>
                  <a:pt x="1139444" y="290449"/>
                </a:lnTo>
                <a:lnTo>
                  <a:pt x="1181620" y="185928"/>
                </a:lnTo>
                <a:lnTo>
                  <a:pt x="1267206" y="185928"/>
                </a:lnTo>
                <a:lnTo>
                  <a:pt x="1274229" y="184213"/>
                </a:lnTo>
                <a:lnTo>
                  <a:pt x="1279766" y="179616"/>
                </a:lnTo>
                <a:lnTo>
                  <a:pt x="1283411" y="172974"/>
                </a:lnTo>
                <a:lnTo>
                  <a:pt x="1284732" y="165100"/>
                </a:lnTo>
                <a:lnTo>
                  <a:pt x="1284211" y="161798"/>
                </a:lnTo>
                <a:lnTo>
                  <a:pt x="1283411" y="156654"/>
                </a:lnTo>
                <a:lnTo>
                  <a:pt x="1279766" y="149707"/>
                </a:lnTo>
                <a:lnTo>
                  <a:pt x="1274229" y="144995"/>
                </a:lnTo>
                <a:lnTo>
                  <a:pt x="1270000" y="143954"/>
                </a:lnTo>
                <a:lnTo>
                  <a:pt x="1270000" y="162941"/>
                </a:lnTo>
                <a:lnTo>
                  <a:pt x="1270000" y="166243"/>
                </a:lnTo>
                <a:lnTo>
                  <a:pt x="1268984" y="167386"/>
                </a:lnTo>
                <a:lnTo>
                  <a:pt x="1188974" y="167386"/>
                </a:lnTo>
                <a:lnTo>
                  <a:pt x="1189609" y="165354"/>
                </a:lnTo>
                <a:lnTo>
                  <a:pt x="1189609" y="161925"/>
                </a:lnTo>
                <a:lnTo>
                  <a:pt x="1189558" y="161798"/>
                </a:lnTo>
                <a:lnTo>
                  <a:pt x="1268984" y="161798"/>
                </a:lnTo>
                <a:lnTo>
                  <a:pt x="1270000" y="162941"/>
                </a:lnTo>
                <a:lnTo>
                  <a:pt x="1270000" y="143954"/>
                </a:lnTo>
                <a:lnTo>
                  <a:pt x="1267206" y="143256"/>
                </a:lnTo>
                <a:lnTo>
                  <a:pt x="1182408" y="143256"/>
                </a:lnTo>
                <a:lnTo>
                  <a:pt x="1168273" y="108102"/>
                </a:lnTo>
                <a:lnTo>
                  <a:pt x="1168273" y="164211"/>
                </a:lnTo>
                <a:lnTo>
                  <a:pt x="1166977" y="167386"/>
                </a:lnTo>
                <a:lnTo>
                  <a:pt x="368808" y="167386"/>
                </a:lnTo>
                <a:lnTo>
                  <a:pt x="368808" y="161798"/>
                </a:lnTo>
                <a:lnTo>
                  <a:pt x="1167295" y="161798"/>
                </a:lnTo>
                <a:lnTo>
                  <a:pt x="1168273" y="164211"/>
                </a:lnTo>
                <a:lnTo>
                  <a:pt x="1168273" y="108102"/>
                </a:lnTo>
                <a:lnTo>
                  <a:pt x="1139431" y="36347"/>
                </a:lnTo>
                <a:lnTo>
                  <a:pt x="1115314" y="24511"/>
                </a:lnTo>
                <a:lnTo>
                  <a:pt x="1119124" y="13462"/>
                </a:lnTo>
                <a:lnTo>
                  <a:pt x="1128395" y="8890"/>
                </a:lnTo>
                <a:lnTo>
                  <a:pt x="1139431" y="36347"/>
                </a:lnTo>
                <a:lnTo>
                  <a:pt x="1400048" y="164211"/>
                </a:lnTo>
                <a:lnTo>
                  <a:pt x="1400048" y="136639"/>
                </a:lnTo>
                <a:lnTo>
                  <a:pt x="1136434" y="8890"/>
                </a:lnTo>
                <a:lnTo>
                  <a:pt x="1122807" y="2286"/>
                </a:lnTo>
                <a:lnTo>
                  <a:pt x="1119124" y="0"/>
                </a:lnTo>
                <a:lnTo>
                  <a:pt x="1114425" y="2286"/>
                </a:lnTo>
                <a:lnTo>
                  <a:pt x="1108837" y="8890"/>
                </a:lnTo>
                <a:lnTo>
                  <a:pt x="1107948" y="14478"/>
                </a:lnTo>
                <a:lnTo>
                  <a:pt x="1109853" y="19050"/>
                </a:lnTo>
                <a:lnTo>
                  <a:pt x="1159827" y="143256"/>
                </a:lnTo>
                <a:lnTo>
                  <a:pt x="355041" y="143256"/>
                </a:lnTo>
                <a:lnTo>
                  <a:pt x="344690" y="131076"/>
                </a:lnTo>
                <a:lnTo>
                  <a:pt x="344690" y="165100"/>
                </a:lnTo>
                <a:lnTo>
                  <a:pt x="342722" y="167386"/>
                </a:lnTo>
                <a:lnTo>
                  <a:pt x="271272" y="167386"/>
                </a:lnTo>
                <a:lnTo>
                  <a:pt x="271272" y="161798"/>
                </a:lnTo>
                <a:lnTo>
                  <a:pt x="341871" y="161798"/>
                </a:lnTo>
                <a:lnTo>
                  <a:pt x="344690" y="165100"/>
                </a:lnTo>
                <a:lnTo>
                  <a:pt x="344690" y="131076"/>
                </a:lnTo>
                <a:lnTo>
                  <a:pt x="233375" y="0"/>
                </a:lnTo>
                <a:lnTo>
                  <a:pt x="226872" y="0"/>
                </a:lnTo>
                <a:lnTo>
                  <a:pt x="223164" y="5588"/>
                </a:lnTo>
                <a:lnTo>
                  <a:pt x="219456" y="10160"/>
                </a:lnTo>
                <a:lnTo>
                  <a:pt x="219456" y="18034"/>
                </a:lnTo>
                <a:lnTo>
                  <a:pt x="326085" y="143256"/>
                </a:lnTo>
                <a:lnTo>
                  <a:pt x="257733" y="143256"/>
                </a:lnTo>
                <a:lnTo>
                  <a:pt x="247396" y="130886"/>
                </a:lnTo>
                <a:lnTo>
                  <a:pt x="247396" y="165100"/>
                </a:lnTo>
                <a:lnTo>
                  <a:pt x="245452" y="167386"/>
                </a:lnTo>
                <a:lnTo>
                  <a:pt x="175260" y="167386"/>
                </a:lnTo>
                <a:lnTo>
                  <a:pt x="175260" y="161798"/>
                </a:lnTo>
                <a:lnTo>
                  <a:pt x="244602" y="161798"/>
                </a:lnTo>
                <a:lnTo>
                  <a:pt x="247396" y="165100"/>
                </a:lnTo>
                <a:lnTo>
                  <a:pt x="247396" y="130886"/>
                </a:lnTo>
                <a:lnTo>
                  <a:pt x="141808" y="4445"/>
                </a:lnTo>
                <a:lnTo>
                  <a:pt x="137210" y="0"/>
                </a:lnTo>
                <a:lnTo>
                  <a:pt x="130784" y="0"/>
                </a:lnTo>
                <a:lnTo>
                  <a:pt x="127114" y="5588"/>
                </a:lnTo>
                <a:lnTo>
                  <a:pt x="123444" y="10160"/>
                </a:lnTo>
                <a:lnTo>
                  <a:pt x="123444" y="18034"/>
                </a:lnTo>
                <a:lnTo>
                  <a:pt x="228981" y="143256"/>
                </a:lnTo>
                <a:lnTo>
                  <a:pt x="161632" y="143256"/>
                </a:lnTo>
                <a:lnTo>
                  <a:pt x="151384" y="131076"/>
                </a:lnTo>
                <a:lnTo>
                  <a:pt x="151384" y="165100"/>
                </a:lnTo>
                <a:lnTo>
                  <a:pt x="149440" y="167386"/>
                </a:lnTo>
                <a:lnTo>
                  <a:pt x="17551" y="167386"/>
                </a:lnTo>
                <a:lnTo>
                  <a:pt x="15697" y="167386"/>
                </a:lnTo>
                <a:lnTo>
                  <a:pt x="14782" y="166243"/>
                </a:lnTo>
                <a:lnTo>
                  <a:pt x="14782" y="162941"/>
                </a:lnTo>
                <a:lnTo>
                  <a:pt x="15697" y="161798"/>
                </a:lnTo>
                <a:lnTo>
                  <a:pt x="148590" y="161798"/>
                </a:lnTo>
                <a:lnTo>
                  <a:pt x="151384" y="165100"/>
                </a:lnTo>
                <a:lnTo>
                  <a:pt x="151384" y="131076"/>
                </a:lnTo>
                <a:lnTo>
                  <a:pt x="41198" y="0"/>
                </a:lnTo>
                <a:lnTo>
                  <a:pt x="34772" y="0"/>
                </a:lnTo>
                <a:lnTo>
                  <a:pt x="31102" y="5588"/>
                </a:lnTo>
                <a:lnTo>
                  <a:pt x="27432" y="10160"/>
                </a:lnTo>
                <a:lnTo>
                  <a:pt x="27432" y="18034"/>
                </a:lnTo>
                <a:lnTo>
                  <a:pt x="132969" y="143256"/>
                </a:lnTo>
                <a:lnTo>
                  <a:pt x="17551" y="143256"/>
                </a:lnTo>
                <a:lnTo>
                  <a:pt x="10515" y="144995"/>
                </a:lnTo>
                <a:lnTo>
                  <a:pt x="4953" y="149707"/>
                </a:lnTo>
                <a:lnTo>
                  <a:pt x="1308" y="156654"/>
                </a:lnTo>
                <a:lnTo>
                  <a:pt x="0" y="165100"/>
                </a:lnTo>
                <a:lnTo>
                  <a:pt x="1308" y="172974"/>
                </a:lnTo>
                <a:lnTo>
                  <a:pt x="4965" y="179616"/>
                </a:lnTo>
                <a:lnTo>
                  <a:pt x="10515" y="184213"/>
                </a:lnTo>
                <a:lnTo>
                  <a:pt x="17551" y="185928"/>
                </a:lnTo>
                <a:lnTo>
                  <a:pt x="133705" y="185928"/>
                </a:lnTo>
                <a:lnTo>
                  <a:pt x="27432" y="311150"/>
                </a:lnTo>
                <a:lnTo>
                  <a:pt x="27432" y="319024"/>
                </a:lnTo>
                <a:lnTo>
                  <a:pt x="34772" y="328041"/>
                </a:lnTo>
                <a:lnTo>
                  <a:pt x="41198" y="329184"/>
                </a:lnTo>
                <a:lnTo>
                  <a:pt x="44881" y="323596"/>
                </a:lnTo>
                <a:lnTo>
                  <a:pt x="161531" y="185928"/>
                </a:lnTo>
                <a:lnTo>
                  <a:pt x="229717" y="185928"/>
                </a:lnTo>
                <a:lnTo>
                  <a:pt x="123444" y="311150"/>
                </a:lnTo>
                <a:lnTo>
                  <a:pt x="123444" y="319024"/>
                </a:lnTo>
                <a:lnTo>
                  <a:pt x="130784" y="328041"/>
                </a:lnTo>
                <a:lnTo>
                  <a:pt x="137210" y="329184"/>
                </a:lnTo>
                <a:lnTo>
                  <a:pt x="141808" y="323596"/>
                </a:lnTo>
                <a:lnTo>
                  <a:pt x="257632" y="185928"/>
                </a:lnTo>
                <a:lnTo>
                  <a:pt x="326821" y="185928"/>
                </a:lnTo>
                <a:lnTo>
                  <a:pt x="219456" y="311150"/>
                </a:lnTo>
                <a:lnTo>
                  <a:pt x="219456" y="319024"/>
                </a:lnTo>
                <a:lnTo>
                  <a:pt x="226872" y="328041"/>
                </a:lnTo>
                <a:lnTo>
                  <a:pt x="233375" y="329184"/>
                </a:lnTo>
                <a:lnTo>
                  <a:pt x="237083" y="323596"/>
                </a:lnTo>
                <a:lnTo>
                  <a:pt x="354939" y="185928"/>
                </a:lnTo>
                <a:lnTo>
                  <a:pt x="1159459" y="185928"/>
                </a:lnTo>
                <a:lnTo>
                  <a:pt x="1109853" y="308229"/>
                </a:lnTo>
                <a:lnTo>
                  <a:pt x="1107948" y="312674"/>
                </a:lnTo>
                <a:lnTo>
                  <a:pt x="1108837" y="318262"/>
                </a:lnTo>
                <a:lnTo>
                  <a:pt x="1111631" y="321691"/>
                </a:lnTo>
                <a:lnTo>
                  <a:pt x="1114425" y="324993"/>
                </a:lnTo>
                <a:lnTo>
                  <a:pt x="1119124" y="326136"/>
                </a:lnTo>
                <a:lnTo>
                  <a:pt x="1122807" y="324993"/>
                </a:lnTo>
                <a:lnTo>
                  <a:pt x="1194092" y="290449"/>
                </a:lnTo>
                <a:lnTo>
                  <a:pt x="1431544" y="175387"/>
                </a:lnTo>
                <a:lnTo>
                  <a:pt x="1435227" y="173101"/>
                </a:lnTo>
                <a:lnTo>
                  <a:pt x="1437132" y="168656"/>
                </a:lnTo>
                <a:lnTo>
                  <a:pt x="1437132" y="158623"/>
                </a:lnTo>
                <a:close/>
              </a:path>
            </a:pathLst>
          </a:custGeom>
          <a:solidFill>
            <a:srgbClr val="18315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5" name="object 5"/>
          <p:cNvSpPr/>
          <p:nvPr/>
        </p:nvSpPr>
        <p:spPr>
          <a:xfrm>
            <a:off x="424054" y="1747647"/>
            <a:ext cx="877823" cy="6572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6"/>
          <p:cNvSpPr/>
          <p:nvPr/>
        </p:nvSpPr>
        <p:spPr>
          <a:xfrm>
            <a:off x="614934" y="4069080"/>
            <a:ext cx="479584" cy="508159"/>
          </a:xfrm>
          <a:custGeom>
            <a:avLst/>
            <a:gdLst/>
            <a:ahLst/>
            <a:cxnLst/>
            <a:rect l="l" t="t" r="r" b="b"/>
            <a:pathLst>
              <a:path w="639444" h="677545">
                <a:moveTo>
                  <a:pt x="636270" y="176022"/>
                </a:moveTo>
                <a:lnTo>
                  <a:pt x="634111" y="172466"/>
                </a:lnTo>
                <a:lnTo>
                  <a:pt x="629920" y="169799"/>
                </a:lnTo>
                <a:lnTo>
                  <a:pt x="600583" y="153670"/>
                </a:lnTo>
                <a:lnTo>
                  <a:pt x="600583" y="181229"/>
                </a:lnTo>
                <a:lnTo>
                  <a:pt x="318516" y="336169"/>
                </a:lnTo>
                <a:lnTo>
                  <a:pt x="37223" y="181229"/>
                </a:lnTo>
                <a:lnTo>
                  <a:pt x="318516" y="26289"/>
                </a:lnTo>
                <a:lnTo>
                  <a:pt x="600583" y="181229"/>
                </a:lnTo>
                <a:lnTo>
                  <a:pt x="600583" y="153670"/>
                </a:lnTo>
                <a:lnTo>
                  <a:pt x="368985" y="26289"/>
                </a:lnTo>
                <a:lnTo>
                  <a:pt x="322808" y="889"/>
                </a:lnTo>
                <a:lnTo>
                  <a:pt x="320662" y="0"/>
                </a:lnTo>
                <a:lnTo>
                  <a:pt x="317080" y="0"/>
                </a:lnTo>
                <a:lnTo>
                  <a:pt x="314223" y="889"/>
                </a:lnTo>
                <a:lnTo>
                  <a:pt x="6426" y="169799"/>
                </a:lnTo>
                <a:lnTo>
                  <a:pt x="2146" y="171577"/>
                </a:lnTo>
                <a:lnTo>
                  <a:pt x="0" y="176022"/>
                </a:lnTo>
                <a:lnTo>
                  <a:pt x="0" y="185674"/>
                </a:lnTo>
                <a:lnTo>
                  <a:pt x="2146" y="190881"/>
                </a:lnTo>
                <a:lnTo>
                  <a:pt x="6426" y="193548"/>
                </a:lnTo>
                <a:lnTo>
                  <a:pt x="314223" y="362458"/>
                </a:lnTo>
                <a:lnTo>
                  <a:pt x="314934" y="363347"/>
                </a:lnTo>
                <a:lnTo>
                  <a:pt x="320662" y="363347"/>
                </a:lnTo>
                <a:lnTo>
                  <a:pt x="321373" y="362458"/>
                </a:lnTo>
                <a:lnTo>
                  <a:pt x="322808" y="362458"/>
                </a:lnTo>
                <a:lnTo>
                  <a:pt x="370598" y="336169"/>
                </a:lnTo>
                <a:lnTo>
                  <a:pt x="629920" y="193548"/>
                </a:lnTo>
                <a:lnTo>
                  <a:pt x="634111" y="191770"/>
                </a:lnTo>
                <a:lnTo>
                  <a:pt x="636270" y="185674"/>
                </a:lnTo>
                <a:lnTo>
                  <a:pt x="636270" y="176022"/>
                </a:lnTo>
                <a:close/>
              </a:path>
              <a:path w="639444" h="677545">
                <a:moveTo>
                  <a:pt x="639318" y="495935"/>
                </a:moveTo>
                <a:lnTo>
                  <a:pt x="635127" y="482727"/>
                </a:lnTo>
                <a:lnTo>
                  <a:pt x="628650" y="480060"/>
                </a:lnTo>
                <a:lnTo>
                  <a:pt x="622935" y="482727"/>
                </a:lnTo>
                <a:lnTo>
                  <a:pt x="320040" y="649986"/>
                </a:lnTo>
                <a:lnTo>
                  <a:pt x="16471" y="482727"/>
                </a:lnTo>
                <a:lnTo>
                  <a:pt x="10744" y="480060"/>
                </a:lnTo>
                <a:lnTo>
                  <a:pt x="4279" y="481838"/>
                </a:lnTo>
                <a:lnTo>
                  <a:pt x="0" y="495046"/>
                </a:lnTo>
                <a:lnTo>
                  <a:pt x="2146" y="503809"/>
                </a:lnTo>
                <a:lnTo>
                  <a:pt x="7874" y="506476"/>
                </a:lnTo>
                <a:lnTo>
                  <a:pt x="315747" y="675513"/>
                </a:lnTo>
                <a:lnTo>
                  <a:pt x="316458" y="677291"/>
                </a:lnTo>
                <a:lnTo>
                  <a:pt x="320040" y="677291"/>
                </a:lnTo>
                <a:lnTo>
                  <a:pt x="322186" y="677291"/>
                </a:lnTo>
                <a:lnTo>
                  <a:pt x="322910" y="675513"/>
                </a:lnTo>
                <a:lnTo>
                  <a:pt x="324332" y="675513"/>
                </a:lnTo>
                <a:lnTo>
                  <a:pt x="631444" y="506476"/>
                </a:lnTo>
                <a:lnTo>
                  <a:pt x="637159" y="503809"/>
                </a:lnTo>
                <a:lnTo>
                  <a:pt x="639318" y="495935"/>
                </a:lnTo>
                <a:close/>
              </a:path>
              <a:path w="639444" h="677545">
                <a:moveTo>
                  <a:pt x="639318" y="392176"/>
                </a:moveTo>
                <a:lnTo>
                  <a:pt x="637159" y="386080"/>
                </a:lnTo>
                <a:lnTo>
                  <a:pt x="635127" y="379095"/>
                </a:lnTo>
                <a:lnTo>
                  <a:pt x="628650" y="376428"/>
                </a:lnTo>
                <a:lnTo>
                  <a:pt x="622935" y="379095"/>
                </a:lnTo>
                <a:lnTo>
                  <a:pt x="320040" y="545084"/>
                </a:lnTo>
                <a:lnTo>
                  <a:pt x="16471" y="379095"/>
                </a:lnTo>
                <a:lnTo>
                  <a:pt x="10744" y="376428"/>
                </a:lnTo>
                <a:lnTo>
                  <a:pt x="4279" y="379095"/>
                </a:lnTo>
                <a:lnTo>
                  <a:pt x="2146" y="386080"/>
                </a:lnTo>
                <a:lnTo>
                  <a:pt x="0" y="392176"/>
                </a:lnTo>
                <a:lnTo>
                  <a:pt x="2146" y="400050"/>
                </a:lnTo>
                <a:lnTo>
                  <a:pt x="7874" y="402590"/>
                </a:lnTo>
                <a:lnTo>
                  <a:pt x="315747" y="571246"/>
                </a:lnTo>
                <a:lnTo>
                  <a:pt x="316458" y="572135"/>
                </a:lnTo>
                <a:lnTo>
                  <a:pt x="320040" y="572135"/>
                </a:lnTo>
                <a:lnTo>
                  <a:pt x="322186" y="572135"/>
                </a:lnTo>
                <a:lnTo>
                  <a:pt x="322910" y="571246"/>
                </a:lnTo>
                <a:lnTo>
                  <a:pt x="324332" y="571246"/>
                </a:lnTo>
                <a:lnTo>
                  <a:pt x="631444" y="402590"/>
                </a:lnTo>
                <a:lnTo>
                  <a:pt x="637159" y="400050"/>
                </a:lnTo>
                <a:lnTo>
                  <a:pt x="639318" y="392176"/>
                </a:lnTo>
                <a:close/>
              </a:path>
              <a:path w="639444" h="677545">
                <a:moveTo>
                  <a:pt x="639318" y="290195"/>
                </a:moveTo>
                <a:lnTo>
                  <a:pt x="635127" y="276987"/>
                </a:lnTo>
                <a:lnTo>
                  <a:pt x="628650" y="274320"/>
                </a:lnTo>
                <a:lnTo>
                  <a:pt x="622935" y="276987"/>
                </a:lnTo>
                <a:lnTo>
                  <a:pt x="320040" y="443357"/>
                </a:lnTo>
                <a:lnTo>
                  <a:pt x="16471" y="276987"/>
                </a:lnTo>
                <a:lnTo>
                  <a:pt x="10744" y="274320"/>
                </a:lnTo>
                <a:lnTo>
                  <a:pt x="4279" y="276098"/>
                </a:lnTo>
                <a:lnTo>
                  <a:pt x="0" y="289306"/>
                </a:lnTo>
                <a:lnTo>
                  <a:pt x="2146" y="297180"/>
                </a:lnTo>
                <a:lnTo>
                  <a:pt x="7874" y="299847"/>
                </a:lnTo>
                <a:lnTo>
                  <a:pt x="315747" y="469773"/>
                </a:lnTo>
                <a:lnTo>
                  <a:pt x="316458" y="471551"/>
                </a:lnTo>
                <a:lnTo>
                  <a:pt x="320040" y="471551"/>
                </a:lnTo>
                <a:lnTo>
                  <a:pt x="322186" y="471551"/>
                </a:lnTo>
                <a:lnTo>
                  <a:pt x="322910" y="469773"/>
                </a:lnTo>
                <a:lnTo>
                  <a:pt x="324332" y="469773"/>
                </a:lnTo>
                <a:lnTo>
                  <a:pt x="631444" y="299847"/>
                </a:lnTo>
                <a:lnTo>
                  <a:pt x="637159" y="297180"/>
                </a:lnTo>
                <a:lnTo>
                  <a:pt x="639318" y="290195"/>
                </a:lnTo>
                <a:close/>
              </a:path>
            </a:pathLst>
          </a:custGeom>
          <a:solidFill>
            <a:srgbClr val="18315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/>
          <p:nvPr/>
        </p:nvSpPr>
        <p:spPr>
          <a:xfrm>
            <a:off x="505206" y="4772025"/>
            <a:ext cx="656749" cy="642938"/>
          </a:xfrm>
          <a:custGeom>
            <a:avLst/>
            <a:gdLst/>
            <a:ahLst/>
            <a:cxnLst/>
            <a:rect l="l" t="t" r="r" b="b"/>
            <a:pathLst>
              <a:path w="875665" h="857250">
                <a:moveTo>
                  <a:pt x="498894" y="483463"/>
                </a:moveTo>
                <a:lnTo>
                  <a:pt x="494957" y="477964"/>
                </a:lnTo>
                <a:lnTo>
                  <a:pt x="493877" y="474776"/>
                </a:lnTo>
                <a:lnTo>
                  <a:pt x="489940" y="473811"/>
                </a:lnTo>
                <a:lnTo>
                  <a:pt x="485013" y="471881"/>
                </a:lnTo>
                <a:lnTo>
                  <a:pt x="481088" y="470916"/>
                </a:lnTo>
                <a:lnTo>
                  <a:pt x="479513" y="471309"/>
                </a:lnTo>
                <a:lnTo>
                  <a:pt x="466331" y="467207"/>
                </a:lnTo>
                <a:lnTo>
                  <a:pt x="466331" y="503732"/>
                </a:lnTo>
                <a:lnTo>
                  <a:pt x="466331" y="747001"/>
                </a:lnTo>
                <a:lnTo>
                  <a:pt x="261188" y="822261"/>
                </a:lnTo>
                <a:lnTo>
                  <a:pt x="261188" y="566813"/>
                </a:lnTo>
                <a:lnTo>
                  <a:pt x="340728" y="542353"/>
                </a:lnTo>
                <a:lnTo>
                  <a:pt x="466331" y="503732"/>
                </a:lnTo>
                <a:lnTo>
                  <a:pt x="466331" y="467207"/>
                </a:lnTo>
                <a:lnTo>
                  <a:pt x="428739" y="455485"/>
                </a:lnTo>
                <a:lnTo>
                  <a:pt x="428739" y="486765"/>
                </a:lnTo>
                <a:lnTo>
                  <a:pt x="247916" y="542353"/>
                </a:lnTo>
                <a:lnTo>
                  <a:pt x="233172" y="537832"/>
                </a:lnTo>
                <a:lnTo>
                  <a:pt x="233172" y="566077"/>
                </a:lnTo>
                <a:lnTo>
                  <a:pt x="233172" y="821728"/>
                </a:lnTo>
                <a:lnTo>
                  <a:pt x="29514" y="747001"/>
                </a:lnTo>
                <a:lnTo>
                  <a:pt x="29514" y="503732"/>
                </a:lnTo>
                <a:lnTo>
                  <a:pt x="233172" y="566077"/>
                </a:lnTo>
                <a:lnTo>
                  <a:pt x="233172" y="537832"/>
                </a:lnTo>
                <a:lnTo>
                  <a:pt x="122288" y="503732"/>
                </a:lnTo>
                <a:lnTo>
                  <a:pt x="69113" y="487387"/>
                </a:lnTo>
                <a:lnTo>
                  <a:pt x="249936" y="431584"/>
                </a:lnTo>
                <a:lnTo>
                  <a:pt x="428739" y="486765"/>
                </a:lnTo>
                <a:lnTo>
                  <a:pt x="428739" y="455485"/>
                </a:lnTo>
                <a:lnTo>
                  <a:pt x="254838" y="401243"/>
                </a:lnTo>
                <a:lnTo>
                  <a:pt x="251891" y="399288"/>
                </a:lnTo>
                <a:lnTo>
                  <a:pt x="248958" y="399288"/>
                </a:lnTo>
                <a:lnTo>
                  <a:pt x="246011" y="401243"/>
                </a:lnTo>
                <a:lnTo>
                  <a:pt x="18580" y="471855"/>
                </a:lnTo>
                <a:lnTo>
                  <a:pt x="14757" y="470916"/>
                </a:lnTo>
                <a:lnTo>
                  <a:pt x="8851" y="470916"/>
                </a:lnTo>
                <a:lnTo>
                  <a:pt x="2946" y="476707"/>
                </a:lnTo>
                <a:lnTo>
                  <a:pt x="0" y="480568"/>
                </a:lnTo>
                <a:lnTo>
                  <a:pt x="0" y="485419"/>
                </a:lnTo>
                <a:lnTo>
                  <a:pt x="0" y="762444"/>
                </a:lnTo>
                <a:lnTo>
                  <a:pt x="2946" y="768235"/>
                </a:lnTo>
                <a:lnTo>
                  <a:pt x="8851" y="769200"/>
                </a:lnTo>
                <a:lnTo>
                  <a:pt x="234022" y="852182"/>
                </a:lnTo>
                <a:lnTo>
                  <a:pt x="238772" y="857046"/>
                </a:lnTo>
                <a:lnTo>
                  <a:pt x="244970" y="857046"/>
                </a:lnTo>
                <a:lnTo>
                  <a:pt x="247180" y="857046"/>
                </a:lnTo>
                <a:lnTo>
                  <a:pt x="250875" y="857046"/>
                </a:lnTo>
                <a:lnTo>
                  <a:pt x="255587" y="857046"/>
                </a:lnTo>
                <a:lnTo>
                  <a:pt x="258152" y="853516"/>
                </a:lnTo>
                <a:lnTo>
                  <a:pt x="329780" y="827125"/>
                </a:lnTo>
                <a:lnTo>
                  <a:pt x="486981" y="769200"/>
                </a:lnTo>
                <a:lnTo>
                  <a:pt x="491909" y="768235"/>
                </a:lnTo>
                <a:lnTo>
                  <a:pt x="495846" y="762444"/>
                </a:lnTo>
                <a:lnTo>
                  <a:pt x="495846" y="503732"/>
                </a:lnTo>
                <a:lnTo>
                  <a:pt x="495846" y="498208"/>
                </a:lnTo>
                <a:lnTo>
                  <a:pt x="496925" y="492264"/>
                </a:lnTo>
                <a:lnTo>
                  <a:pt x="498894" y="483463"/>
                </a:lnTo>
                <a:close/>
              </a:path>
              <a:path w="875665" h="857250">
                <a:moveTo>
                  <a:pt x="672592" y="64516"/>
                </a:moveTo>
                <a:lnTo>
                  <a:pt x="670687" y="60579"/>
                </a:lnTo>
                <a:lnTo>
                  <a:pt x="666750" y="57785"/>
                </a:lnTo>
                <a:lnTo>
                  <a:pt x="662813" y="54864"/>
                </a:lnTo>
                <a:lnTo>
                  <a:pt x="657860" y="54864"/>
                </a:lnTo>
                <a:lnTo>
                  <a:pt x="653923" y="55880"/>
                </a:lnTo>
                <a:lnTo>
                  <a:pt x="650443" y="57010"/>
                </a:lnTo>
                <a:lnTo>
                  <a:pt x="643001" y="54584"/>
                </a:lnTo>
                <a:lnTo>
                  <a:pt x="643001" y="87503"/>
                </a:lnTo>
                <a:lnTo>
                  <a:pt x="643001" y="272796"/>
                </a:lnTo>
                <a:lnTo>
                  <a:pt x="495846" y="332511"/>
                </a:lnTo>
                <a:lnTo>
                  <a:pt x="495846" y="135559"/>
                </a:lnTo>
                <a:lnTo>
                  <a:pt x="569493" y="111506"/>
                </a:lnTo>
                <a:lnTo>
                  <a:pt x="643001" y="87503"/>
                </a:lnTo>
                <a:lnTo>
                  <a:pt x="643001" y="54584"/>
                </a:lnTo>
                <a:lnTo>
                  <a:pt x="605396" y="42278"/>
                </a:lnTo>
                <a:lnTo>
                  <a:pt x="605396" y="71602"/>
                </a:lnTo>
                <a:lnTo>
                  <a:pt x="482117" y="111506"/>
                </a:lnTo>
                <a:lnTo>
                  <a:pt x="466344" y="106375"/>
                </a:lnTo>
                <a:lnTo>
                  <a:pt x="466344" y="134594"/>
                </a:lnTo>
                <a:lnTo>
                  <a:pt x="466344" y="331685"/>
                </a:lnTo>
                <a:lnTo>
                  <a:pt x="321233" y="272796"/>
                </a:lnTo>
                <a:lnTo>
                  <a:pt x="321233" y="87503"/>
                </a:lnTo>
                <a:lnTo>
                  <a:pt x="466344" y="134594"/>
                </a:lnTo>
                <a:lnTo>
                  <a:pt x="466344" y="106375"/>
                </a:lnTo>
                <a:lnTo>
                  <a:pt x="408432" y="87503"/>
                </a:lnTo>
                <a:lnTo>
                  <a:pt x="356463" y="70586"/>
                </a:lnTo>
                <a:lnTo>
                  <a:pt x="479031" y="29972"/>
                </a:lnTo>
                <a:lnTo>
                  <a:pt x="605396" y="71602"/>
                </a:lnTo>
                <a:lnTo>
                  <a:pt x="605396" y="42278"/>
                </a:lnTo>
                <a:lnTo>
                  <a:pt x="481965" y="1905"/>
                </a:lnTo>
                <a:lnTo>
                  <a:pt x="479031" y="0"/>
                </a:lnTo>
                <a:lnTo>
                  <a:pt x="476084" y="0"/>
                </a:lnTo>
                <a:lnTo>
                  <a:pt x="473151" y="1905"/>
                </a:lnTo>
                <a:lnTo>
                  <a:pt x="309372" y="55473"/>
                </a:lnTo>
                <a:lnTo>
                  <a:pt x="306425" y="54864"/>
                </a:lnTo>
                <a:lnTo>
                  <a:pt x="302475" y="54864"/>
                </a:lnTo>
                <a:lnTo>
                  <a:pt x="297548" y="57785"/>
                </a:lnTo>
                <a:lnTo>
                  <a:pt x="295833" y="60198"/>
                </a:lnTo>
                <a:lnTo>
                  <a:pt x="291947" y="61849"/>
                </a:lnTo>
                <a:lnTo>
                  <a:pt x="288036" y="69596"/>
                </a:lnTo>
                <a:lnTo>
                  <a:pt x="290969" y="77343"/>
                </a:lnTo>
                <a:lnTo>
                  <a:pt x="292608" y="81089"/>
                </a:lnTo>
                <a:lnTo>
                  <a:pt x="292608" y="288163"/>
                </a:lnTo>
                <a:lnTo>
                  <a:pt x="295567" y="291973"/>
                </a:lnTo>
                <a:lnTo>
                  <a:pt x="300507" y="294894"/>
                </a:lnTo>
                <a:lnTo>
                  <a:pt x="466344" y="361911"/>
                </a:lnTo>
                <a:lnTo>
                  <a:pt x="466344" y="366649"/>
                </a:lnTo>
                <a:lnTo>
                  <a:pt x="472249" y="372414"/>
                </a:lnTo>
                <a:lnTo>
                  <a:pt x="481088" y="372414"/>
                </a:lnTo>
                <a:lnTo>
                  <a:pt x="489940" y="372414"/>
                </a:lnTo>
                <a:lnTo>
                  <a:pt x="495846" y="365633"/>
                </a:lnTo>
                <a:lnTo>
                  <a:pt x="495846" y="362737"/>
                </a:lnTo>
                <a:lnTo>
                  <a:pt x="556856" y="338074"/>
                </a:lnTo>
                <a:lnTo>
                  <a:pt x="663702" y="294894"/>
                </a:lnTo>
                <a:lnTo>
                  <a:pt x="669671" y="293878"/>
                </a:lnTo>
                <a:lnTo>
                  <a:pt x="672592" y="288163"/>
                </a:lnTo>
                <a:lnTo>
                  <a:pt x="672592" y="87503"/>
                </a:lnTo>
                <a:lnTo>
                  <a:pt x="672592" y="64516"/>
                </a:lnTo>
                <a:close/>
              </a:path>
              <a:path w="875665" h="857250">
                <a:moveTo>
                  <a:pt x="875284" y="439381"/>
                </a:moveTo>
                <a:lnTo>
                  <a:pt x="871347" y="430682"/>
                </a:lnTo>
                <a:lnTo>
                  <a:pt x="864489" y="427786"/>
                </a:lnTo>
                <a:lnTo>
                  <a:pt x="840867" y="418566"/>
                </a:lnTo>
                <a:lnTo>
                  <a:pt x="840867" y="463042"/>
                </a:lnTo>
                <a:lnTo>
                  <a:pt x="840867" y="590651"/>
                </a:lnTo>
                <a:lnTo>
                  <a:pt x="728980" y="645388"/>
                </a:lnTo>
                <a:lnTo>
                  <a:pt x="728980" y="508190"/>
                </a:lnTo>
                <a:lnTo>
                  <a:pt x="783348" y="486244"/>
                </a:lnTo>
                <a:lnTo>
                  <a:pt x="840867" y="463042"/>
                </a:lnTo>
                <a:lnTo>
                  <a:pt x="840867" y="418566"/>
                </a:lnTo>
                <a:lnTo>
                  <a:pt x="819327" y="410146"/>
                </a:lnTo>
                <a:lnTo>
                  <a:pt x="819327" y="441718"/>
                </a:lnTo>
                <a:lnTo>
                  <a:pt x="713397" y="484632"/>
                </a:lnTo>
                <a:lnTo>
                  <a:pt x="705434" y="484632"/>
                </a:lnTo>
                <a:lnTo>
                  <a:pt x="699516" y="482244"/>
                </a:lnTo>
                <a:lnTo>
                  <a:pt x="699516" y="510501"/>
                </a:lnTo>
                <a:lnTo>
                  <a:pt x="699516" y="649084"/>
                </a:lnTo>
                <a:lnTo>
                  <a:pt x="580898" y="590651"/>
                </a:lnTo>
                <a:lnTo>
                  <a:pt x="581875" y="590651"/>
                </a:lnTo>
                <a:lnTo>
                  <a:pt x="581875" y="463042"/>
                </a:lnTo>
                <a:lnTo>
                  <a:pt x="699516" y="510501"/>
                </a:lnTo>
                <a:lnTo>
                  <a:pt x="699516" y="482244"/>
                </a:lnTo>
                <a:lnTo>
                  <a:pt x="652195" y="463042"/>
                </a:lnTo>
                <a:lnTo>
                  <a:pt x="602957" y="443103"/>
                </a:lnTo>
                <a:lnTo>
                  <a:pt x="712470" y="399745"/>
                </a:lnTo>
                <a:lnTo>
                  <a:pt x="819327" y="441718"/>
                </a:lnTo>
                <a:lnTo>
                  <a:pt x="819327" y="410146"/>
                </a:lnTo>
                <a:lnTo>
                  <a:pt x="718439" y="370738"/>
                </a:lnTo>
                <a:lnTo>
                  <a:pt x="715518" y="368808"/>
                </a:lnTo>
                <a:lnTo>
                  <a:pt x="711581" y="368808"/>
                </a:lnTo>
                <a:lnTo>
                  <a:pt x="708660" y="370738"/>
                </a:lnTo>
                <a:lnTo>
                  <a:pt x="563460" y="427786"/>
                </a:lnTo>
                <a:lnTo>
                  <a:pt x="554634" y="430682"/>
                </a:lnTo>
                <a:lnTo>
                  <a:pt x="552069" y="438238"/>
                </a:lnTo>
                <a:lnTo>
                  <a:pt x="551688" y="438873"/>
                </a:lnTo>
                <a:lnTo>
                  <a:pt x="551688" y="439381"/>
                </a:lnTo>
                <a:lnTo>
                  <a:pt x="551688" y="606120"/>
                </a:lnTo>
                <a:lnTo>
                  <a:pt x="556552" y="609981"/>
                </a:lnTo>
                <a:lnTo>
                  <a:pt x="560451" y="612889"/>
                </a:lnTo>
                <a:lnTo>
                  <a:pt x="706501" y="686358"/>
                </a:lnTo>
                <a:lnTo>
                  <a:pt x="713359" y="686358"/>
                </a:lnTo>
                <a:lnTo>
                  <a:pt x="716280" y="685393"/>
                </a:lnTo>
                <a:lnTo>
                  <a:pt x="713359" y="685393"/>
                </a:lnTo>
                <a:lnTo>
                  <a:pt x="717524" y="683310"/>
                </a:lnTo>
                <a:lnTo>
                  <a:pt x="722884" y="683310"/>
                </a:lnTo>
                <a:lnTo>
                  <a:pt x="727329" y="678408"/>
                </a:lnTo>
                <a:lnTo>
                  <a:pt x="775246" y="654456"/>
                </a:lnTo>
                <a:lnTo>
                  <a:pt x="864235" y="609981"/>
                </a:lnTo>
                <a:lnTo>
                  <a:pt x="866140" y="606120"/>
                </a:lnTo>
                <a:lnTo>
                  <a:pt x="866140" y="463042"/>
                </a:lnTo>
                <a:lnTo>
                  <a:pt x="866140" y="455180"/>
                </a:lnTo>
                <a:lnTo>
                  <a:pt x="869442" y="451954"/>
                </a:lnTo>
                <a:lnTo>
                  <a:pt x="872363" y="447116"/>
                </a:lnTo>
                <a:lnTo>
                  <a:pt x="875284" y="439381"/>
                </a:lnTo>
                <a:close/>
              </a:path>
            </a:pathLst>
          </a:custGeom>
          <a:solidFill>
            <a:srgbClr val="18315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8" name="object 8"/>
          <p:cNvSpPr/>
          <p:nvPr/>
        </p:nvSpPr>
        <p:spPr>
          <a:xfrm>
            <a:off x="691515" y="3254120"/>
            <a:ext cx="365284" cy="532448"/>
          </a:xfrm>
          <a:custGeom>
            <a:avLst/>
            <a:gdLst/>
            <a:ahLst/>
            <a:cxnLst/>
            <a:rect l="l" t="t" r="r" b="b"/>
            <a:pathLst>
              <a:path w="487044" h="709929">
                <a:moveTo>
                  <a:pt x="486918" y="259715"/>
                </a:moveTo>
                <a:lnTo>
                  <a:pt x="482346" y="256082"/>
                </a:lnTo>
                <a:lnTo>
                  <a:pt x="482346" y="105156"/>
                </a:lnTo>
                <a:lnTo>
                  <a:pt x="482346" y="102870"/>
                </a:lnTo>
                <a:lnTo>
                  <a:pt x="482346" y="99060"/>
                </a:lnTo>
                <a:lnTo>
                  <a:pt x="480656" y="97155"/>
                </a:lnTo>
                <a:lnTo>
                  <a:pt x="472871" y="70650"/>
                </a:lnTo>
                <a:lnTo>
                  <a:pt x="458851" y="56743"/>
                </a:lnTo>
                <a:lnTo>
                  <a:pt x="458851" y="133972"/>
                </a:lnTo>
                <a:lnTo>
                  <a:pt x="458851" y="269125"/>
                </a:lnTo>
                <a:lnTo>
                  <a:pt x="458851" y="299999"/>
                </a:lnTo>
                <a:lnTo>
                  <a:pt x="458851" y="444741"/>
                </a:lnTo>
                <a:lnTo>
                  <a:pt x="458851" y="476529"/>
                </a:lnTo>
                <a:lnTo>
                  <a:pt x="458851" y="613410"/>
                </a:lnTo>
                <a:lnTo>
                  <a:pt x="458089" y="613410"/>
                </a:lnTo>
                <a:lnTo>
                  <a:pt x="458089" y="615696"/>
                </a:lnTo>
                <a:lnTo>
                  <a:pt x="440931" y="640994"/>
                </a:lnTo>
                <a:lnTo>
                  <a:pt x="405866" y="660996"/>
                </a:lnTo>
                <a:lnTo>
                  <a:pt x="357847" y="675500"/>
                </a:lnTo>
                <a:lnTo>
                  <a:pt x="301802" y="684339"/>
                </a:lnTo>
                <a:lnTo>
                  <a:pt x="242684" y="687324"/>
                </a:lnTo>
                <a:lnTo>
                  <a:pt x="183553" y="684339"/>
                </a:lnTo>
                <a:lnTo>
                  <a:pt x="127508" y="675500"/>
                </a:lnTo>
                <a:lnTo>
                  <a:pt x="79476" y="660996"/>
                </a:lnTo>
                <a:lnTo>
                  <a:pt x="44399" y="640994"/>
                </a:lnTo>
                <a:lnTo>
                  <a:pt x="27241" y="615696"/>
                </a:lnTo>
                <a:lnTo>
                  <a:pt x="27241" y="614934"/>
                </a:lnTo>
                <a:lnTo>
                  <a:pt x="26466" y="614934"/>
                </a:lnTo>
                <a:lnTo>
                  <a:pt x="26466" y="474408"/>
                </a:lnTo>
                <a:lnTo>
                  <a:pt x="33464" y="480529"/>
                </a:lnTo>
                <a:lnTo>
                  <a:pt x="67945" y="499275"/>
                </a:lnTo>
                <a:lnTo>
                  <a:pt x="114757" y="515467"/>
                </a:lnTo>
                <a:lnTo>
                  <a:pt x="173494" y="526834"/>
                </a:lnTo>
                <a:lnTo>
                  <a:pt x="243789" y="531114"/>
                </a:lnTo>
                <a:lnTo>
                  <a:pt x="311175" y="527024"/>
                </a:lnTo>
                <a:lnTo>
                  <a:pt x="369379" y="516051"/>
                </a:lnTo>
                <a:lnTo>
                  <a:pt x="417182" y="500126"/>
                </a:lnTo>
                <a:lnTo>
                  <a:pt x="453377" y="481203"/>
                </a:lnTo>
                <a:lnTo>
                  <a:pt x="458851" y="476529"/>
                </a:lnTo>
                <a:lnTo>
                  <a:pt x="458851" y="444741"/>
                </a:lnTo>
                <a:lnTo>
                  <a:pt x="453301" y="452183"/>
                </a:lnTo>
                <a:lnTo>
                  <a:pt x="426656" y="469785"/>
                </a:lnTo>
                <a:lnTo>
                  <a:pt x="382739" y="488035"/>
                </a:lnTo>
                <a:lnTo>
                  <a:pt x="321729" y="502348"/>
                </a:lnTo>
                <a:lnTo>
                  <a:pt x="243789" y="508127"/>
                </a:lnTo>
                <a:lnTo>
                  <a:pt x="166827" y="502589"/>
                </a:lnTo>
                <a:lnTo>
                  <a:pt x="106743" y="488873"/>
                </a:lnTo>
                <a:lnTo>
                  <a:pt x="63423" y="471322"/>
                </a:lnTo>
                <a:lnTo>
                  <a:pt x="36766" y="454279"/>
                </a:lnTo>
                <a:lnTo>
                  <a:pt x="26644" y="442087"/>
                </a:lnTo>
                <a:lnTo>
                  <a:pt x="26644" y="435102"/>
                </a:lnTo>
                <a:lnTo>
                  <a:pt x="26466" y="434936"/>
                </a:lnTo>
                <a:lnTo>
                  <a:pt x="26466" y="297967"/>
                </a:lnTo>
                <a:lnTo>
                  <a:pt x="33464" y="303911"/>
                </a:lnTo>
                <a:lnTo>
                  <a:pt x="67945" y="322059"/>
                </a:lnTo>
                <a:lnTo>
                  <a:pt x="114757" y="337705"/>
                </a:lnTo>
                <a:lnTo>
                  <a:pt x="173494" y="348678"/>
                </a:lnTo>
                <a:lnTo>
                  <a:pt x="243789" y="352818"/>
                </a:lnTo>
                <a:lnTo>
                  <a:pt x="311175" y="348869"/>
                </a:lnTo>
                <a:lnTo>
                  <a:pt x="369379" y="338264"/>
                </a:lnTo>
                <a:lnTo>
                  <a:pt x="391655" y="331089"/>
                </a:lnTo>
                <a:lnTo>
                  <a:pt x="417182" y="322872"/>
                </a:lnTo>
                <a:lnTo>
                  <a:pt x="453377" y="304533"/>
                </a:lnTo>
                <a:lnTo>
                  <a:pt x="458851" y="299999"/>
                </a:lnTo>
                <a:lnTo>
                  <a:pt x="458851" y="269125"/>
                </a:lnTo>
                <a:lnTo>
                  <a:pt x="453301" y="276415"/>
                </a:lnTo>
                <a:lnTo>
                  <a:pt x="426656" y="293624"/>
                </a:lnTo>
                <a:lnTo>
                  <a:pt x="382739" y="311454"/>
                </a:lnTo>
                <a:lnTo>
                  <a:pt x="321729" y="325437"/>
                </a:lnTo>
                <a:lnTo>
                  <a:pt x="243789" y="331089"/>
                </a:lnTo>
                <a:lnTo>
                  <a:pt x="166827" y="325602"/>
                </a:lnTo>
                <a:lnTo>
                  <a:pt x="106743" y="312039"/>
                </a:lnTo>
                <a:lnTo>
                  <a:pt x="63423" y="294741"/>
                </a:lnTo>
                <a:lnTo>
                  <a:pt x="36766" y="278104"/>
                </a:lnTo>
                <a:lnTo>
                  <a:pt x="26644" y="266446"/>
                </a:lnTo>
                <a:lnTo>
                  <a:pt x="26644" y="259715"/>
                </a:lnTo>
                <a:lnTo>
                  <a:pt x="26466" y="259549"/>
                </a:lnTo>
                <a:lnTo>
                  <a:pt x="26466" y="135407"/>
                </a:lnTo>
                <a:lnTo>
                  <a:pt x="33921" y="141262"/>
                </a:lnTo>
                <a:lnTo>
                  <a:pt x="70281" y="158978"/>
                </a:lnTo>
                <a:lnTo>
                  <a:pt x="117957" y="173964"/>
                </a:lnTo>
                <a:lnTo>
                  <a:pt x="175514" y="184340"/>
                </a:lnTo>
                <a:lnTo>
                  <a:pt x="241554" y="188214"/>
                </a:lnTo>
                <a:lnTo>
                  <a:pt x="307568" y="184391"/>
                </a:lnTo>
                <a:lnTo>
                  <a:pt x="365137" y="174142"/>
                </a:lnTo>
                <a:lnTo>
                  <a:pt x="412813" y="159258"/>
                </a:lnTo>
                <a:lnTo>
                  <a:pt x="449173" y="141592"/>
                </a:lnTo>
                <a:lnTo>
                  <a:pt x="458851" y="133972"/>
                </a:lnTo>
                <a:lnTo>
                  <a:pt x="458851" y="56743"/>
                </a:lnTo>
                <a:lnTo>
                  <a:pt x="458406" y="56299"/>
                </a:lnTo>
                <a:lnTo>
                  <a:pt x="458406" y="103365"/>
                </a:lnTo>
                <a:lnTo>
                  <a:pt x="448716" y="114134"/>
                </a:lnTo>
                <a:lnTo>
                  <a:pt x="421513" y="130403"/>
                </a:lnTo>
                <a:lnTo>
                  <a:pt x="377634" y="147370"/>
                </a:lnTo>
                <a:lnTo>
                  <a:pt x="317512" y="160718"/>
                </a:lnTo>
                <a:lnTo>
                  <a:pt x="241554" y="166116"/>
                </a:lnTo>
                <a:lnTo>
                  <a:pt x="165646" y="160718"/>
                </a:lnTo>
                <a:lnTo>
                  <a:pt x="105676" y="147370"/>
                </a:lnTo>
                <a:lnTo>
                  <a:pt x="61925" y="130403"/>
                </a:lnTo>
                <a:lnTo>
                  <a:pt x="34696" y="114134"/>
                </a:lnTo>
                <a:lnTo>
                  <a:pt x="26466" y="105219"/>
                </a:lnTo>
                <a:lnTo>
                  <a:pt x="26466" y="102870"/>
                </a:lnTo>
                <a:lnTo>
                  <a:pt x="71539" y="51993"/>
                </a:lnTo>
                <a:lnTo>
                  <a:pt x="120027" y="35890"/>
                </a:lnTo>
                <a:lnTo>
                  <a:pt x="178828" y="26136"/>
                </a:lnTo>
                <a:lnTo>
                  <a:pt x="242684" y="22860"/>
                </a:lnTo>
                <a:lnTo>
                  <a:pt x="305638" y="26225"/>
                </a:lnTo>
                <a:lnTo>
                  <a:pt x="364312" y="36207"/>
                </a:lnTo>
                <a:lnTo>
                  <a:pt x="413118" y="52654"/>
                </a:lnTo>
                <a:lnTo>
                  <a:pt x="446481" y="75438"/>
                </a:lnTo>
                <a:lnTo>
                  <a:pt x="458406" y="103365"/>
                </a:lnTo>
                <a:lnTo>
                  <a:pt x="458406" y="56299"/>
                </a:lnTo>
                <a:lnTo>
                  <a:pt x="407276" y="24866"/>
                </a:lnTo>
                <a:lnTo>
                  <a:pt x="357873" y="10922"/>
                </a:lnTo>
                <a:lnTo>
                  <a:pt x="301891" y="2705"/>
                </a:lnTo>
                <a:lnTo>
                  <a:pt x="242684" y="0"/>
                </a:lnTo>
                <a:lnTo>
                  <a:pt x="183464" y="2705"/>
                </a:lnTo>
                <a:lnTo>
                  <a:pt x="127469" y="10922"/>
                </a:lnTo>
                <a:lnTo>
                  <a:pt x="78079" y="24866"/>
                </a:lnTo>
                <a:lnTo>
                  <a:pt x="38633" y="44704"/>
                </a:lnTo>
                <a:lnTo>
                  <a:pt x="5791" y="93497"/>
                </a:lnTo>
                <a:lnTo>
                  <a:pt x="4711" y="93726"/>
                </a:lnTo>
                <a:lnTo>
                  <a:pt x="0" y="99060"/>
                </a:lnTo>
                <a:lnTo>
                  <a:pt x="787" y="105156"/>
                </a:lnTo>
                <a:lnTo>
                  <a:pt x="3048" y="109334"/>
                </a:lnTo>
                <a:lnTo>
                  <a:pt x="3048" y="259715"/>
                </a:lnTo>
                <a:lnTo>
                  <a:pt x="3048" y="268732"/>
                </a:lnTo>
                <a:lnTo>
                  <a:pt x="3048" y="435102"/>
                </a:lnTo>
                <a:lnTo>
                  <a:pt x="3048" y="444373"/>
                </a:lnTo>
                <a:lnTo>
                  <a:pt x="3048" y="617220"/>
                </a:lnTo>
                <a:lnTo>
                  <a:pt x="4610" y="621792"/>
                </a:lnTo>
                <a:lnTo>
                  <a:pt x="51930" y="673646"/>
                </a:lnTo>
                <a:lnTo>
                  <a:pt x="92900" y="690181"/>
                </a:lnTo>
                <a:lnTo>
                  <a:pt x="140716" y="701268"/>
                </a:lnTo>
                <a:lnTo>
                  <a:pt x="191808" y="707491"/>
                </a:lnTo>
                <a:lnTo>
                  <a:pt x="242684" y="709422"/>
                </a:lnTo>
                <a:lnTo>
                  <a:pt x="294195" y="707491"/>
                </a:lnTo>
                <a:lnTo>
                  <a:pt x="345706" y="701268"/>
                </a:lnTo>
                <a:lnTo>
                  <a:pt x="393649" y="690181"/>
                </a:lnTo>
                <a:lnTo>
                  <a:pt x="434505" y="673646"/>
                </a:lnTo>
                <a:lnTo>
                  <a:pt x="480822" y="621792"/>
                </a:lnTo>
                <a:lnTo>
                  <a:pt x="482346" y="617982"/>
                </a:lnTo>
                <a:lnTo>
                  <a:pt x="482346" y="449859"/>
                </a:lnTo>
                <a:lnTo>
                  <a:pt x="486156" y="442087"/>
                </a:lnTo>
                <a:lnTo>
                  <a:pt x="486918" y="435102"/>
                </a:lnTo>
                <a:lnTo>
                  <a:pt x="482346" y="431368"/>
                </a:lnTo>
                <a:lnTo>
                  <a:pt x="482346" y="274027"/>
                </a:lnTo>
                <a:lnTo>
                  <a:pt x="486156" y="266446"/>
                </a:lnTo>
                <a:lnTo>
                  <a:pt x="486918" y="259715"/>
                </a:lnTo>
                <a:close/>
              </a:path>
            </a:pathLst>
          </a:custGeom>
          <a:solidFill>
            <a:srgbClr val="18315C"/>
          </a:solid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8238352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Series Data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24</a:t>
            </a:fld>
            <a:endParaRPr lang="en-US" dirty="0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3" y="1733550"/>
            <a:ext cx="8982075" cy="398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33403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Exchange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25</a:t>
            </a:fld>
            <a:endParaRPr lang="en-US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2513" y="1652588"/>
            <a:ext cx="7038975" cy="3552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0339573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 Serving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26</a:t>
            </a:fld>
            <a:endParaRPr lang="en-US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7263" y="1528763"/>
            <a:ext cx="7229475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5274101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7B5286-DF2D-2B45-B260-15FEAF783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HBase is NOT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FC5A0-9C3B-7E4D-9A18-55904184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an SQL database</a:t>
            </a:r>
          </a:p>
          <a:p>
            <a:r>
              <a:rPr lang="en-US" dirty="0"/>
              <a:t>Not relational</a:t>
            </a:r>
          </a:p>
          <a:p>
            <a:r>
              <a:rPr lang="en-US" dirty="0"/>
              <a:t>No joins</a:t>
            </a:r>
          </a:p>
          <a:p>
            <a:r>
              <a:rPr lang="en-US" dirty="0"/>
              <a:t>No powerful query language</a:t>
            </a:r>
          </a:p>
          <a:p>
            <a:r>
              <a:rPr lang="en-US" dirty="0"/>
              <a:t>No sophisticated query engine</a:t>
            </a:r>
          </a:p>
          <a:p>
            <a:r>
              <a:rPr lang="en-US" dirty="0"/>
              <a:t>No transactions out-of-the box</a:t>
            </a:r>
          </a:p>
          <a:p>
            <a:r>
              <a:rPr lang="en-US" dirty="0"/>
              <a:t>No secondary indices out-of-the box</a:t>
            </a:r>
          </a:p>
          <a:p>
            <a:r>
              <a:rPr lang="en-US" dirty="0"/>
              <a:t>Not a drop-in replacement for RDBMS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51A9A7-343C-B24D-A2ED-A65CD144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73E299-1334-F547-80CF-4B57BE091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44116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$ </a:t>
            </a:r>
            <a:r>
              <a:rPr lang="en-US" dirty="0" err="1"/>
              <a:t>hbase</a:t>
            </a:r>
            <a:r>
              <a:rPr lang="en-US" dirty="0"/>
              <a:t> shell</a:t>
            </a:r>
          </a:p>
          <a:p>
            <a:pPr marL="0" indent="0">
              <a:buNone/>
            </a:pPr>
            <a:r>
              <a:rPr lang="mr-IN" dirty="0"/>
              <a:t>hbase</a:t>
            </a:r>
            <a:r>
              <a:rPr lang="en-US" dirty="0"/>
              <a:t>&gt;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After you have started </a:t>
            </a:r>
            <a:r>
              <a:rPr lang="en-US" dirty="0" err="1"/>
              <a:t>HBase</a:t>
            </a:r>
            <a:r>
              <a:rPr lang="en-US" dirty="0"/>
              <a:t>, you can access the database interactively by using the </a:t>
            </a:r>
            <a:r>
              <a:rPr lang="en-US" dirty="0" err="1"/>
              <a:t>HBase</a:t>
            </a:r>
            <a:r>
              <a:rPr lang="en-US" dirty="0"/>
              <a:t> Shell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33799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HBase</a:t>
            </a:r>
            <a:r>
              <a:rPr lang="en-US" dirty="0"/>
              <a:t>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Names identifying tables and columns need to be quoted</a:t>
            </a:r>
          </a:p>
          <a:p>
            <a:r>
              <a:rPr lang="en-US" dirty="0"/>
              <a:t>There is no need to quote constants</a:t>
            </a:r>
          </a:p>
          <a:p>
            <a:r>
              <a:rPr lang="en-US" dirty="0"/>
              <a:t>Command parameters are separated using commas</a:t>
            </a:r>
          </a:p>
          <a:p>
            <a:r>
              <a:rPr lang="en-US" dirty="0"/>
              <a:t>To run a command after typing it in the shell hit enter key</a:t>
            </a:r>
          </a:p>
          <a:p>
            <a:r>
              <a:rPr lang="en-US" dirty="0"/>
              <a:t>Double quoting is required when you need to use binary keys or values in the shell</a:t>
            </a:r>
          </a:p>
          <a:p>
            <a:r>
              <a:rPr lang="en-US" dirty="0"/>
              <a:t>To separate keys and values you use the =&gt; character</a:t>
            </a:r>
          </a:p>
          <a:p>
            <a:r>
              <a:rPr lang="en-US" dirty="0"/>
              <a:t>To specify a key you use predefined constants like NAME, VERSIONS and COMPRESSIONS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3277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 </a:t>
            </a:r>
            <a:r>
              <a:rPr lang="en-US" dirty="0" err="1"/>
              <a:t>HBase</a:t>
            </a:r>
            <a:r>
              <a:rPr lang="en-US" dirty="0"/>
              <a:t> Shell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To get help and see all commands, use the help  command</a:t>
            </a:r>
          </a:p>
          <a:p>
            <a:r>
              <a:rPr lang="en-US" dirty="0"/>
              <a:t>To get help on a specific command, use help "command”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err="1"/>
              <a:t>hbase</a:t>
            </a:r>
            <a:r>
              <a:rPr lang="en-US" dirty="0"/>
              <a:t>&gt; help "create"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429297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its simplest form the create command is used to create a table by specifying the table name and column family</a:t>
            </a:r>
          </a:p>
          <a:p>
            <a:r>
              <a:rPr lang="en-US" dirty="0"/>
              <a:t>To reduce disk space used for storing data it is advisable to use short column family names. </a:t>
            </a:r>
          </a:p>
          <a:p>
            <a:r>
              <a:rPr lang="en-US" dirty="0"/>
              <a:t>This is because storage of each value happens in a fully qualified manner</a:t>
            </a:r>
          </a:p>
          <a:p>
            <a:r>
              <a:rPr lang="en-US" dirty="0"/>
              <a:t>Frequent change of column names and use of many column families is not good practice</a:t>
            </a:r>
          </a:p>
          <a:p>
            <a:r>
              <a:rPr lang="en-US" dirty="0"/>
              <a:t>A compromise design is to have a few column families then you can have many columns in each family. </a:t>
            </a:r>
          </a:p>
          <a:p>
            <a:r>
              <a:rPr lang="en-US" dirty="0"/>
              <a:t>The format of naming columns is to specify the column family then the column name (</a:t>
            </a:r>
            <a:r>
              <a:rPr lang="en-US" dirty="0" err="1"/>
              <a:t>family:qualifier</a:t>
            </a:r>
            <a:r>
              <a:rPr lang="en-US" dirty="0"/>
              <a:t>).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409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basic command that creates a table with two column families is shown below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create ‘courses’, ‘</a:t>
            </a:r>
            <a:r>
              <a:rPr lang="en-US" dirty="0" err="1"/>
              <a:t>hadoop</a:t>
            </a:r>
            <a:r>
              <a:rPr lang="en-US" dirty="0"/>
              <a:t>’, ‘programming’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add columns in each column family the command is enhanced as shown below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create ‘courses’, ‘</a:t>
            </a:r>
            <a:r>
              <a:rPr lang="en-US" dirty="0" err="1"/>
              <a:t>hadoop:spark</a:t>
            </a:r>
            <a:r>
              <a:rPr lang="en-US" dirty="0"/>
              <a:t>’, ‘</a:t>
            </a:r>
            <a:r>
              <a:rPr lang="en-US" dirty="0" err="1"/>
              <a:t>programming:java</a:t>
            </a:r>
            <a:r>
              <a:rPr lang="en-US" dirty="0"/>
              <a:t>’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5077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allows you to have multiple versions of a row</a:t>
            </a:r>
          </a:p>
          <a:p>
            <a:r>
              <a:rPr lang="en-US" dirty="0"/>
              <a:t>This arises because data changes are not applied in place, instead a change results in a new version</a:t>
            </a:r>
          </a:p>
          <a:p>
            <a:r>
              <a:rPr lang="en-US" dirty="0"/>
              <a:t>To control how this happens you specify the number of versions or time to live (TTL)</a:t>
            </a:r>
          </a:p>
          <a:p>
            <a:r>
              <a:rPr lang="en-US" dirty="0"/>
              <a:t>When any of these settings are exceeded rows are removed when data compaction is done</a:t>
            </a:r>
          </a:p>
          <a:p>
            <a:endParaRPr lang="en-US" dirty="0"/>
          </a:p>
          <a:p>
            <a:r>
              <a:rPr lang="en-US" dirty="0"/>
              <a:t>create </a:t>
            </a:r>
            <a:r>
              <a:rPr lang="mr-IN" dirty="0"/>
              <a:t>t</a:t>
            </a:r>
            <a:r>
              <a:rPr lang="en-US" dirty="0"/>
              <a:t>1</a:t>
            </a:r>
            <a:r>
              <a:rPr lang="mr-IN" dirty="0"/>
              <a:t>, ’</a:t>
            </a:r>
            <a:r>
              <a:rPr lang="en-US" dirty="0"/>
              <a:t>f1’</a:t>
            </a:r>
            <a:r>
              <a:rPr lang="mr-IN" dirty="0"/>
              <a:t>, {NAME </a:t>
            </a:r>
            <a:r>
              <a:rPr lang="en-US" dirty="0"/>
              <a:t>=&gt;</a:t>
            </a:r>
            <a:r>
              <a:rPr lang="mr-IN" dirty="0"/>
              <a:t> ’</a:t>
            </a:r>
            <a:r>
              <a:rPr lang="en-US" dirty="0"/>
              <a:t>f2’</a:t>
            </a:r>
            <a:r>
              <a:rPr lang="mr-IN" dirty="0"/>
              <a:t>, VERSIONS </a:t>
            </a:r>
            <a:r>
              <a:rPr lang="en-US" dirty="0"/>
              <a:t>=&gt;</a:t>
            </a:r>
            <a:r>
              <a:rPr lang="mr-IN" dirty="0"/>
              <a:t> </a:t>
            </a:r>
            <a:r>
              <a:rPr lang="en-US" dirty="0"/>
              <a:t>3</a:t>
            </a:r>
            <a:r>
              <a:rPr lang="mr-IN" dirty="0"/>
              <a:t>}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6141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Data Access Operations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34</a:t>
            </a:fld>
            <a:endParaRPr lang="en-US" dirty="0"/>
          </a:p>
        </p:txBody>
      </p:sp>
      <p:pic>
        <p:nvPicPr>
          <p:cNvPr id="4710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42" t="26644" r="4078"/>
          <a:stretch/>
        </p:blipFill>
        <p:spPr bwMode="auto">
          <a:xfrm>
            <a:off x="685800" y="2362200"/>
            <a:ext cx="8198069" cy="36822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431765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Data into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you’re using </a:t>
            </a:r>
            <a:r>
              <a:rPr lang="en-US" dirty="0" err="1"/>
              <a:t>HBase</a:t>
            </a:r>
            <a:r>
              <a:rPr lang="en-US" dirty="0"/>
              <a:t>, then you likely have data sets that are TBs in size</a:t>
            </a:r>
          </a:p>
          <a:p>
            <a:r>
              <a:rPr lang="en-US" dirty="0"/>
              <a:t>As a result, you’ll never actually insert data manually</a:t>
            </a:r>
          </a:p>
          <a:p>
            <a:r>
              <a:rPr lang="en-US" dirty="0"/>
              <a:t>However, knowing how to insert data manually could prove useful at times</a:t>
            </a:r>
          </a:p>
          <a:p>
            <a:r>
              <a:rPr lang="en-US" dirty="0"/>
              <a:t>Put a cell ‘value’ at specified table/row/column:</a:t>
            </a:r>
          </a:p>
          <a:p>
            <a:pPr marL="0" indent="0">
              <a:buNone/>
            </a:pPr>
            <a:r>
              <a:rPr lang="en-US" sz="2000" dirty="0"/>
              <a:t>	put &lt;'</a:t>
            </a:r>
            <a:r>
              <a:rPr lang="en-US" sz="2000" dirty="0" err="1"/>
              <a:t>tablename</a:t>
            </a:r>
            <a:r>
              <a:rPr lang="en-US" sz="2000" dirty="0"/>
              <a:t>'&gt;,&lt;'</a:t>
            </a:r>
            <a:r>
              <a:rPr lang="en-US" sz="2000" dirty="0" err="1"/>
              <a:t>rowname</a:t>
            </a:r>
            <a:r>
              <a:rPr lang="en-US" sz="2000" dirty="0"/>
              <a:t>'&gt;,&lt;'</a:t>
            </a:r>
            <a:r>
              <a:rPr lang="en-US" sz="2000" dirty="0" err="1"/>
              <a:t>columnvalue</a:t>
            </a:r>
            <a:r>
              <a:rPr lang="en-US" sz="2000" dirty="0"/>
              <a:t>'&gt;,&lt;'value’&gt;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	put 'cars', 'row1', '</a:t>
            </a:r>
            <a:r>
              <a:rPr lang="en-US" dirty="0" err="1"/>
              <a:t>vi:make</a:t>
            </a:r>
            <a:r>
              <a:rPr lang="en-US" dirty="0"/>
              <a:t>', '</a:t>
            </a:r>
            <a:r>
              <a:rPr lang="en-US" dirty="0" err="1"/>
              <a:t>bmw</a:t>
            </a:r>
            <a:r>
              <a:rPr lang="en-US" dirty="0"/>
              <a:t>'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728073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Get Data From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The get command allows you to get one row of data at a time</a:t>
            </a:r>
          </a:p>
          <a:p>
            <a:r>
              <a:rPr lang="en-US" dirty="0"/>
              <a:t>You can optionally limit the number of columns returned</a:t>
            </a:r>
          </a:p>
          <a:p>
            <a:r>
              <a:rPr lang="en-US" dirty="0"/>
              <a:t>We’ll start by getting all columns in row1</a:t>
            </a:r>
          </a:p>
          <a:p>
            <a:pPr marL="0" indent="0">
              <a:buNone/>
            </a:pPr>
            <a:r>
              <a:rPr lang="en-US" dirty="0"/>
              <a:t>	get 'cars', 'row1’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To get one specific column include the COLUMN option.</a:t>
            </a:r>
          </a:p>
          <a:p>
            <a:pPr marL="0" indent="0">
              <a:buNone/>
            </a:pPr>
            <a:r>
              <a:rPr lang="en-US" dirty="0"/>
              <a:t>	get 'cars', 'row1', {COLUMN =&gt; '</a:t>
            </a:r>
            <a:r>
              <a:rPr lang="en-US" dirty="0" err="1"/>
              <a:t>vi:model</a:t>
            </a:r>
            <a:r>
              <a:rPr lang="en-US" dirty="0"/>
              <a:t>'}</a:t>
            </a:r>
          </a:p>
          <a:p>
            <a:endParaRPr lang="en-US" dirty="0"/>
          </a:p>
          <a:p>
            <a:r>
              <a:rPr lang="en-US" dirty="0"/>
              <a:t>You can also get two or more columns by passing an array of columns.</a:t>
            </a:r>
          </a:p>
          <a:p>
            <a:pPr marL="0" indent="0">
              <a:buNone/>
            </a:pPr>
            <a:r>
              <a:rPr lang="en-US" dirty="0"/>
              <a:t>	get 'cars', 'row1', {COLUMN =&gt; ['</a:t>
            </a:r>
            <a:r>
              <a:rPr lang="en-US" dirty="0" err="1"/>
              <a:t>vi:model</a:t>
            </a:r>
            <a:r>
              <a:rPr lang="en-US" dirty="0"/>
              <a:t>', '</a:t>
            </a:r>
            <a:r>
              <a:rPr lang="en-US" dirty="0" err="1"/>
              <a:t>vi:year</a:t>
            </a:r>
            <a:r>
              <a:rPr lang="en-US" dirty="0"/>
              <a:t>']}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18292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Data From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Selectively query the contents of a table</a:t>
            </a:r>
          </a:p>
          <a:p>
            <a:pPr marL="0" indent="0">
              <a:buNone/>
            </a:pPr>
            <a:r>
              <a:rPr lang="en-US" dirty="0"/>
              <a:t>	scan '</a:t>
            </a:r>
            <a:r>
              <a:rPr lang="en-US" dirty="0" err="1"/>
              <a:t>tablename</a:t>
            </a:r>
            <a:r>
              <a:rPr lang="en-US" dirty="0"/>
              <a:t>', {Optional parameters}</a:t>
            </a:r>
          </a:p>
          <a:p>
            <a:r>
              <a:rPr lang="en-US" dirty="0"/>
              <a:t>Pass table name and optionally a dictionary of scanner specifications</a:t>
            </a:r>
          </a:p>
          <a:p>
            <a:r>
              <a:rPr lang="en-US" dirty="0"/>
              <a:t>Scanner specifications may include one or more of:</a:t>
            </a:r>
          </a:p>
          <a:p>
            <a:pPr lvl="1"/>
            <a:r>
              <a:rPr lang="en-US" dirty="0"/>
              <a:t>TIMERANGE, FILTER, LIMIT, STARTROW, STOPROW, TIMESTAMP, MAXLENGTH, COLUMNS, CACHE</a:t>
            </a:r>
          </a:p>
          <a:p>
            <a:r>
              <a:rPr lang="en-US" dirty="0"/>
              <a:t>If no columns are specified, all columns will be scanned</a:t>
            </a:r>
          </a:p>
          <a:p>
            <a:r>
              <a:rPr lang="en-US" dirty="0"/>
              <a:t>To scan all members of a column family, leave the qualifier empty as in ‘</a:t>
            </a:r>
            <a:r>
              <a:rPr lang="en-US" dirty="0" err="1"/>
              <a:t>col_family</a:t>
            </a:r>
            <a:r>
              <a:rPr lang="en-US" dirty="0"/>
              <a:t>:’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73655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Scan Data From a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We’ll start with a basic scan that returns all columns in the cars table.</a:t>
            </a:r>
          </a:p>
          <a:p>
            <a:pPr marL="0" indent="0">
              <a:buNone/>
            </a:pPr>
            <a:r>
              <a:rPr lang="en-US" sz="2000" dirty="0"/>
              <a:t>	scan 'cars’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The next scan we’ll run will limit our results to the make column qualifier.</a:t>
            </a:r>
          </a:p>
          <a:p>
            <a:pPr marL="0" indent="0">
              <a:buNone/>
            </a:pPr>
            <a:r>
              <a:rPr lang="en-US" sz="2000" dirty="0"/>
              <a:t>	scan 'cars', {COLUMNS =&gt; ['</a:t>
            </a:r>
            <a:r>
              <a:rPr lang="en-US" sz="2000" dirty="0" err="1"/>
              <a:t>vi:make</a:t>
            </a:r>
            <a:r>
              <a:rPr lang="en-US" sz="2000" dirty="0"/>
              <a:t>’]}</a:t>
            </a:r>
          </a:p>
          <a:p>
            <a:pPr marL="0" indent="0">
              <a:buNone/>
            </a:pPr>
            <a:endParaRPr lang="en-US" sz="200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r>
              <a:rPr lang="en-US" sz="2000" dirty="0"/>
              <a:t>If you have a particularly large result set, you can limit the number of rows returned with the LIMIT option</a:t>
            </a:r>
          </a:p>
          <a:p>
            <a:pPr marL="0" indent="0">
              <a:buNone/>
            </a:pPr>
            <a:r>
              <a:rPr lang="en-US" sz="2000" dirty="0"/>
              <a:t>	scan 'cars', {COLUMNS =&gt; ['</a:t>
            </a:r>
            <a:r>
              <a:rPr lang="en-US" sz="2000" dirty="0" err="1"/>
              <a:t>vi:make</a:t>
            </a:r>
            <a:r>
              <a:rPr lang="en-US" sz="2000" dirty="0"/>
              <a:t>'], LIMIT =&gt; 4}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dirty="0"/>
              <a:t>Specify a </a:t>
            </a:r>
            <a:r>
              <a:rPr lang="en-US" sz="2000" dirty="0" err="1"/>
              <a:t>startrow</a:t>
            </a:r>
            <a:r>
              <a:rPr lang="en-US" sz="2000" dirty="0"/>
              <a:t>, limit the result to 10 rows, and only return selected columns </a:t>
            </a:r>
          </a:p>
          <a:p>
            <a:pPr marL="274320" lvl="1" indent="0">
              <a:buNone/>
            </a:pPr>
            <a:r>
              <a:rPr lang="en-US" sz="1800" dirty="0"/>
              <a:t>scan ‘cars', {COLUMNS =&gt; ['</a:t>
            </a:r>
            <a:r>
              <a:rPr lang="en-US" sz="1800" dirty="0" err="1"/>
              <a:t>vi:make</a:t>
            </a:r>
            <a:r>
              <a:rPr lang="en-US" sz="1800" dirty="0"/>
              <a:t> '], LIMIT =&gt; 10, STARTROW =&gt; '</a:t>
            </a:r>
            <a:r>
              <a:rPr lang="en-US" sz="1800" dirty="0" err="1"/>
              <a:t>xyz</a:t>
            </a:r>
            <a:r>
              <a:rPr lang="en-US" sz="1800" dirty="0"/>
              <a:t>'} </a:t>
            </a:r>
            <a:br>
              <a:rPr lang="en-US" sz="1600" dirty="0"/>
            </a:br>
            <a:endParaRPr lang="en-US" sz="160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1113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Tables are automatically partitioned horizontally by </a:t>
            </a:r>
            <a:r>
              <a:rPr lang="en-US" dirty="0" err="1"/>
              <a:t>HBase</a:t>
            </a:r>
            <a:r>
              <a:rPr lang="en-US" dirty="0"/>
              <a:t> into </a:t>
            </a:r>
            <a:r>
              <a:rPr lang="en-US" i="1" dirty="0"/>
              <a:t>regions</a:t>
            </a:r>
            <a:endParaRPr lang="en-US" dirty="0"/>
          </a:p>
          <a:p>
            <a:r>
              <a:rPr lang="en-US" dirty="0"/>
              <a:t>Each region comprises a subset of a table’s rows</a:t>
            </a:r>
          </a:p>
          <a:p>
            <a:r>
              <a:rPr lang="en-US" dirty="0"/>
              <a:t>A region is denoted by the table it belongs to, its first row (inclusive), and its last row (exclusive)</a:t>
            </a:r>
          </a:p>
          <a:p>
            <a:r>
              <a:rPr lang="en-US" dirty="0"/>
              <a:t>Initially, a table comprises a single region, but as the region grows it eventually crosses a configurable size threshold…</a:t>
            </a:r>
          </a:p>
          <a:p>
            <a:r>
              <a:rPr lang="en-US" dirty="0"/>
              <a:t>At which point it splits at a row boundary into two new regions of approximately equal size</a:t>
            </a:r>
          </a:p>
          <a:p>
            <a:r>
              <a:rPr lang="en-US" dirty="0"/>
              <a:t>Until this first split happens, all loading will be against the single server hosting the original region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85600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HFile</a:t>
            </a:r>
            <a:r>
              <a:rPr lang="en-US" dirty="0"/>
              <a:t> Physical View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40</a:t>
            </a:fld>
            <a:endParaRPr lang="en-US" dirty="0"/>
          </a:p>
        </p:txBody>
      </p:sp>
      <p:pic>
        <p:nvPicPr>
          <p:cNvPr id="4608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0" t="13628" r="3711"/>
          <a:stretch/>
        </p:blipFill>
        <p:spPr bwMode="auto">
          <a:xfrm>
            <a:off x="76200" y="1600200"/>
            <a:ext cx="8975834" cy="4811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76200" y="5867400"/>
            <a:ext cx="17526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848600" y="5867400"/>
            <a:ext cx="1257300" cy="838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566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this is why </a:t>
            </a:r>
            <a:r>
              <a:rPr lang="en-US" dirty="0" err="1"/>
              <a:t>HBase</a:t>
            </a:r>
            <a:r>
              <a:rPr lang="en-US" dirty="0"/>
              <a:t> is described as a column store</a:t>
            </a:r>
          </a:p>
          <a:p>
            <a:r>
              <a:rPr lang="en-US" dirty="0"/>
              <a:t>Each region holds an ordered subset of a table’s rows </a:t>
            </a:r>
          </a:p>
          <a:p>
            <a:r>
              <a:rPr lang="en-US" dirty="0"/>
              <a:t>Within a region each column family is stored separately (in an </a:t>
            </a:r>
            <a:r>
              <a:rPr lang="en-US" dirty="0" err="1"/>
              <a:t>HFile</a:t>
            </a:r>
            <a:r>
              <a:rPr lang="en-US" dirty="0"/>
              <a:t>)</a:t>
            </a:r>
          </a:p>
          <a:p>
            <a:r>
              <a:rPr lang="en-US" dirty="0"/>
              <a:t>So queries on just one column family of a table result in faster lookups and also the need to scan less data</a:t>
            </a:r>
          </a:p>
          <a:p>
            <a:r>
              <a:rPr lang="en-US" dirty="0"/>
              <a:t>Queries that span regions can be parallelized to the extent that regions are stored across multiple nodes (region servers)</a:t>
            </a:r>
          </a:p>
          <a:p>
            <a:r>
              <a:rPr lang="en-US" dirty="0"/>
              <a:t>Tables can grow to terabytes and more while no region will grow to beyond a configured maximum size before automatic </a:t>
            </a:r>
            <a:r>
              <a:rPr lang="en-US" dirty="0" err="1"/>
              <a:t>resharding</a:t>
            </a:r>
            <a:r>
              <a:rPr lang="en-US" dirty="0"/>
              <a:t> occurs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0678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Scalability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42</a:t>
            </a:fld>
            <a:endParaRPr lang="en-US" dirty="0"/>
          </a:p>
        </p:txBody>
      </p:sp>
      <p:pic>
        <p:nvPicPr>
          <p:cNvPr id="21506" name="Picture 2" descr="hbas 010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432754"/>
            <a:ext cx="8039100" cy="5120446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27396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Sparse Table Storage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04800" y="1600200"/>
            <a:ext cx="3429000" cy="4876800"/>
          </a:xfrm>
        </p:spPr>
        <p:txBody>
          <a:bodyPr>
            <a:normAutofit/>
          </a:bodyPr>
          <a:lstStyle/>
          <a:p>
            <a:r>
              <a:rPr lang="en-US" dirty="0"/>
              <a:t>For a database with a fixed schema, you have to store NULLs where there is no value</a:t>
            </a:r>
          </a:p>
          <a:p>
            <a:r>
              <a:rPr lang="en-US" dirty="0"/>
              <a:t>But for </a:t>
            </a:r>
            <a:r>
              <a:rPr lang="en-US" dirty="0" err="1"/>
              <a:t>HBase</a:t>
            </a:r>
            <a:r>
              <a:rPr lang="en-US" dirty="0"/>
              <a:t> you simply omit the whole column…</a:t>
            </a:r>
          </a:p>
          <a:p>
            <a:r>
              <a:rPr lang="en-US" dirty="0"/>
              <a:t>In other words, NULLs do not occupy any storage space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43</a:t>
            </a:fld>
            <a:endParaRPr lang="en-US" dirty="0"/>
          </a:p>
        </p:txBody>
      </p:sp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488399"/>
            <a:ext cx="4953000" cy="49124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79626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Phoenix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44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Apache Phoenix takes your SQL query, compiles it into a series of </a:t>
            </a:r>
            <a:r>
              <a:rPr lang="en-US" dirty="0" err="1"/>
              <a:t>HBase</a:t>
            </a:r>
            <a:r>
              <a:rPr lang="en-US" dirty="0"/>
              <a:t> scans to produce JDBC result sets</a:t>
            </a:r>
          </a:p>
          <a:p>
            <a:r>
              <a:rPr lang="en-US" dirty="0"/>
              <a:t>Use of the </a:t>
            </a:r>
            <a:r>
              <a:rPr lang="en-US" dirty="0" err="1"/>
              <a:t>HBase</a:t>
            </a:r>
            <a:r>
              <a:rPr lang="en-US" dirty="0"/>
              <a:t> API, along with coprocessors and custom filters, results in performance on the order of milliseconds for small queries, or seconds for tens of millions of rows.</a:t>
            </a:r>
          </a:p>
        </p:txBody>
      </p:sp>
    </p:spTree>
    <p:extLst>
      <p:ext uri="{BB962C8B-B14F-4D97-AF65-F5344CB8AC3E}">
        <p14:creationId xmlns:p14="http://schemas.microsoft.com/office/powerpoint/2010/main" val="130659416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Phoenix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45</a:t>
            </a:fld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 SQL Extension for </a:t>
            </a:r>
            <a:r>
              <a:rPr lang="en-US" dirty="0" err="1"/>
              <a:t>Hbase</a:t>
            </a:r>
            <a:endParaRPr lang="en-US" dirty="0"/>
          </a:p>
          <a:p>
            <a:pPr lvl="1"/>
            <a:r>
              <a:rPr lang="en-US" dirty="0"/>
              <a:t>Provides a SQL interface for managing data in </a:t>
            </a:r>
            <a:r>
              <a:rPr lang="en-US" dirty="0" err="1"/>
              <a:t>Hbase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Large subset of SQL:1999 mandatory feature set.</a:t>
            </a:r>
          </a:p>
          <a:p>
            <a:pPr lvl="1"/>
            <a:r>
              <a:rPr lang="en-US" dirty="0"/>
              <a:t>Create tables, insert and update data and perform low-latency point lookups through JDBC.</a:t>
            </a:r>
          </a:p>
          <a:p>
            <a:pPr lvl="1"/>
            <a:r>
              <a:rPr lang="en-US" dirty="0"/>
              <a:t>Phoenix JDBC driver easily embeddable in any app that supports JDBC.</a:t>
            </a:r>
          </a:p>
          <a:p>
            <a:r>
              <a:rPr lang="en-US" dirty="0"/>
              <a:t>Phoenix Makes </a:t>
            </a:r>
            <a:r>
              <a:rPr lang="en-US" dirty="0" err="1"/>
              <a:t>HBase</a:t>
            </a:r>
            <a:r>
              <a:rPr lang="en-US" dirty="0"/>
              <a:t> Better</a:t>
            </a:r>
          </a:p>
          <a:p>
            <a:pPr lvl="1"/>
            <a:r>
              <a:rPr lang="en-US" dirty="0"/>
              <a:t>Oriented toward online / semi-transactional apps</a:t>
            </a:r>
          </a:p>
          <a:p>
            <a:pPr lvl="1"/>
            <a:r>
              <a:rPr lang="en-US" dirty="0"/>
              <a:t>Performance on the order of milliseconds for small queries, or seconds for tens of millions of rows.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089367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Apache Phoenix: Current Capabilities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46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600" y="685800"/>
            <a:ext cx="8928100" cy="54737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t="12601" r="46759"/>
          <a:stretch/>
        </p:blipFill>
        <p:spPr>
          <a:xfrm>
            <a:off x="1905000" y="2514600"/>
            <a:ext cx="5867400" cy="399855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981200" y="1981200"/>
            <a:ext cx="13992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Features</a:t>
            </a:r>
          </a:p>
        </p:txBody>
      </p:sp>
    </p:spTree>
    <p:extLst>
      <p:ext uri="{BB962C8B-B14F-4D97-AF65-F5344CB8AC3E}">
        <p14:creationId xmlns:p14="http://schemas.microsoft.com/office/powerpoint/2010/main" val="122552718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Phoenix Provides Familiar SQL Constructs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47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057400"/>
            <a:ext cx="9144000" cy="3832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18150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Phoenix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Phoenix Performance Characterization:</a:t>
            </a:r>
          </a:p>
          <a:p>
            <a:pPr lvl="1"/>
            <a:r>
              <a:rPr lang="en-US" dirty="0"/>
              <a:t>Suitable for 10s of thousands of point-lookups per second</a:t>
            </a:r>
          </a:p>
          <a:p>
            <a:pPr lvl="1"/>
            <a:r>
              <a:rPr lang="en-US" dirty="0"/>
              <a:t>Suitable for thousands of aggregations / filtered searches per second</a:t>
            </a:r>
          </a:p>
          <a:p>
            <a:pPr lvl="1"/>
            <a:r>
              <a:rPr lang="en-US" dirty="0"/>
              <a:t>Supports extremely high concurrency.</a:t>
            </a:r>
          </a:p>
          <a:p>
            <a:r>
              <a:rPr lang="en-US" dirty="0"/>
              <a:t>Performance characteristics:</a:t>
            </a:r>
          </a:p>
          <a:p>
            <a:pPr lvl="1"/>
            <a:r>
              <a:rPr lang="en-US" dirty="0"/>
              <a:t>Index point lookups in milliseconds</a:t>
            </a:r>
          </a:p>
          <a:p>
            <a:pPr lvl="1"/>
            <a:r>
              <a:rPr lang="en-US" dirty="0"/>
              <a:t>Aggregation and Top-N queries in a few seconds over large datasets.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27106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8B45-A05F-7E44-B2D4-C95AEE32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Architecture: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9558-C9E5-5E4F-BB58-6F9115F9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9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Table is a collection of rows organized in ascending lexicographic order by row key.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F7152-CAA1-C842-B7F4-C302BBDC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EF1BC-227E-8548-83E1-CFB94BED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49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44BBBD-C039-3A46-B968-2295F9A11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577" t="9469" r="51961"/>
          <a:stretch/>
        </p:blipFill>
        <p:spPr>
          <a:xfrm>
            <a:off x="3314700" y="2819400"/>
            <a:ext cx="2514600" cy="3642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38941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B144BBBD-C039-3A46-B968-2295F9A1167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961"/>
          <a:stretch/>
        </p:blipFill>
        <p:spPr>
          <a:xfrm>
            <a:off x="2438400" y="2667000"/>
            <a:ext cx="3505200" cy="40233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1AB8B45-A05F-7E44-B2D4-C95AEE32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Architecture: Region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9558-C9E5-5E4F-BB58-6F9115F9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9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A region is a continuous, ordered subset of a table’s rows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F7152-CAA1-C842-B7F4-C302BBDC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EF1BC-227E-8548-83E1-CFB94BED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4274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Architecture: Region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1447800"/>
          </a:xfrm>
        </p:spPr>
        <p:txBody>
          <a:bodyPr/>
          <a:lstStyle/>
          <a:p>
            <a:r>
              <a:rPr lang="en-US" dirty="0"/>
              <a:t>The rows of a table region are stored together on the same server or virtual machine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51</a:t>
            </a:fld>
            <a:endParaRPr lang="en-US" dirty="0"/>
          </a:p>
        </p:txBody>
      </p:sp>
      <p:pic>
        <p:nvPicPr>
          <p:cNvPr id="3891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85" t="9229" r="16247"/>
          <a:stretch/>
        </p:blipFill>
        <p:spPr bwMode="auto">
          <a:xfrm>
            <a:off x="804041" y="2514600"/>
            <a:ext cx="7196959" cy="4115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7FF34A-7A7F-B24C-8636-5E72F2545BD7}"/>
              </a:ext>
            </a:extLst>
          </p:cNvPr>
          <p:cNvSpPr/>
          <p:nvPr/>
        </p:nvSpPr>
        <p:spPr>
          <a:xfrm>
            <a:off x="6400800" y="2209800"/>
            <a:ext cx="762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98E1C3D-00F9-D04B-BE84-957819D4A942}"/>
              </a:ext>
            </a:extLst>
          </p:cNvPr>
          <p:cNvSpPr txBox="1"/>
          <p:nvPr/>
        </p:nvSpPr>
        <p:spPr>
          <a:xfrm>
            <a:off x="8001000" y="3124200"/>
            <a:ext cx="872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Server 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368D24-76F6-924C-946A-63EEE52A3264}"/>
              </a:ext>
            </a:extLst>
          </p:cNvPr>
          <p:cNvSpPr txBox="1"/>
          <p:nvPr/>
        </p:nvSpPr>
        <p:spPr>
          <a:xfrm>
            <a:off x="7957227" y="4530923"/>
            <a:ext cx="8819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Server 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1C8D7-CA50-3F47-83D7-CBE18BE6D4D1}"/>
              </a:ext>
            </a:extLst>
          </p:cNvPr>
          <p:cNvSpPr txBox="1"/>
          <p:nvPr/>
        </p:nvSpPr>
        <p:spPr>
          <a:xfrm>
            <a:off x="7957227" y="5774089"/>
            <a:ext cx="8915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Server 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337399-2D62-AE47-BECF-E5F78D868600}"/>
              </a:ext>
            </a:extLst>
          </p:cNvPr>
          <p:cNvSpPr/>
          <p:nvPr/>
        </p:nvSpPr>
        <p:spPr>
          <a:xfrm>
            <a:off x="6172200" y="2209800"/>
            <a:ext cx="2819400" cy="4495800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BA31654-4E9F-344A-A350-91C180344BE6}"/>
              </a:ext>
            </a:extLst>
          </p:cNvPr>
          <p:cNvSpPr txBox="1"/>
          <p:nvPr/>
        </p:nvSpPr>
        <p:spPr>
          <a:xfrm>
            <a:off x="6949784" y="2233390"/>
            <a:ext cx="1340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HBase Cluster</a:t>
            </a:r>
          </a:p>
        </p:txBody>
      </p:sp>
    </p:spTree>
    <p:extLst>
      <p:ext uri="{BB962C8B-B14F-4D97-AF65-F5344CB8AC3E}">
        <p14:creationId xmlns:p14="http://schemas.microsoft.com/office/powerpoint/2010/main" val="309124365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Architecture: Region 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5B4709-1DF6-554E-9C73-BF2755497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838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/>
              <a:t>The the row data associated with a region are divided into column facilities, with the data for each column family stored into a separate file (</a:t>
            </a:r>
            <a:r>
              <a:rPr lang="en-US" sz="1800" dirty="0" err="1"/>
              <a:t>HFile</a:t>
            </a:r>
            <a:r>
              <a:rPr lang="en-US" sz="1800" dirty="0"/>
              <a:t>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52</a:t>
            </a:fld>
            <a:endParaRPr lang="en-US" dirty="0"/>
          </a:p>
        </p:txBody>
      </p:sp>
      <p:pic>
        <p:nvPicPr>
          <p:cNvPr id="419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505323"/>
            <a:ext cx="7105650" cy="38202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83532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9951" y="868947"/>
            <a:ext cx="5268849" cy="517930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z="3300" spc="-4" dirty="0">
                <a:solidFill>
                  <a:schemeClr val="tx1"/>
                </a:solidFill>
              </a:rPr>
              <a:t>HFile </a:t>
            </a:r>
            <a:r>
              <a:rPr sz="3300" spc="-15" dirty="0">
                <a:solidFill>
                  <a:schemeClr val="tx1"/>
                </a:solidFill>
              </a:rPr>
              <a:t>Format</a:t>
            </a:r>
            <a:r>
              <a:rPr sz="3300" spc="-26" dirty="0">
                <a:solidFill>
                  <a:schemeClr val="tx1"/>
                </a:solidFill>
              </a:rPr>
              <a:t> </a:t>
            </a:r>
            <a:r>
              <a:rPr sz="3300" spc="-15" dirty="0">
                <a:solidFill>
                  <a:schemeClr val="tx1"/>
                </a:solidFill>
              </a:rPr>
              <a:t>Information</a:t>
            </a:r>
            <a:endParaRPr sz="3300">
              <a:solidFill>
                <a:schemeClr val="tx1"/>
              </a:solidFill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43662" y="1568691"/>
            <a:ext cx="7266623" cy="3544240"/>
          </a:xfrm>
          <a:prstGeom prst="rect">
            <a:avLst/>
          </a:prstGeom>
        </p:spPr>
        <p:txBody>
          <a:bodyPr vert="horz" wrap="square" lIns="0" tIns="73343" rIns="0" bIns="0" rtlCol="0">
            <a:spAutoFit/>
          </a:bodyPr>
          <a:lstStyle/>
          <a:p>
            <a:pPr marL="180975" indent="-171450">
              <a:spcBef>
                <a:spcPts val="578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4" dirty="0">
                <a:latin typeface="Calibri"/>
                <a:cs typeface="Calibri"/>
              </a:rPr>
              <a:t>All </a:t>
            </a:r>
            <a:r>
              <a:rPr sz="2100" spc="-15" dirty="0">
                <a:latin typeface="Calibri"/>
                <a:cs typeface="Calibri"/>
              </a:rPr>
              <a:t>data </a:t>
            </a:r>
            <a:r>
              <a:rPr sz="2100" spc="-4" dirty="0">
                <a:latin typeface="Calibri"/>
                <a:cs typeface="Calibri"/>
              </a:rPr>
              <a:t>is </a:t>
            </a:r>
            <a:r>
              <a:rPr sz="2100" spc="-19" dirty="0">
                <a:latin typeface="Calibri"/>
                <a:cs typeface="Calibri"/>
              </a:rPr>
              <a:t>stored </a:t>
            </a:r>
            <a:r>
              <a:rPr sz="2100" spc="-4" dirty="0">
                <a:latin typeface="Calibri"/>
                <a:cs typeface="Calibri"/>
              </a:rPr>
              <a:t>in a </a:t>
            </a:r>
            <a:r>
              <a:rPr sz="2100" spc="-11" dirty="0">
                <a:latin typeface="Calibri"/>
                <a:cs typeface="Calibri"/>
              </a:rPr>
              <a:t>custom </a:t>
            </a:r>
            <a:r>
              <a:rPr sz="2100" spc="-8" dirty="0">
                <a:latin typeface="Calibri"/>
                <a:cs typeface="Calibri"/>
              </a:rPr>
              <a:t>(open-source) </a:t>
            </a:r>
            <a:r>
              <a:rPr sz="2100" spc="-15" dirty="0">
                <a:latin typeface="Calibri"/>
                <a:cs typeface="Calibri"/>
              </a:rPr>
              <a:t>format, </a:t>
            </a:r>
            <a:r>
              <a:rPr sz="2100" spc="-8" dirty="0">
                <a:latin typeface="Calibri"/>
                <a:cs typeface="Calibri"/>
              </a:rPr>
              <a:t>called</a:t>
            </a:r>
            <a:r>
              <a:rPr sz="2100" spc="176" dirty="0">
                <a:latin typeface="Calibri"/>
                <a:cs typeface="Calibri"/>
              </a:rPr>
              <a:t> </a:t>
            </a:r>
            <a:r>
              <a:rPr sz="2100" b="1" spc="-4" dirty="0">
                <a:latin typeface="Calibri"/>
                <a:cs typeface="Calibri"/>
              </a:rPr>
              <a:t>HFile</a:t>
            </a:r>
            <a:endParaRPr sz="2100">
              <a:latin typeface="Calibri"/>
              <a:cs typeface="Calibri"/>
            </a:endParaRPr>
          </a:p>
          <a:p>
            <a:pPr marL="180975" indent="-171450">
              <a:spcBef>
                <a:spcPts val="506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5" dirty="0">
                <a:latin typeface="Calibri"/>
                <a:cs typeface="Calibri"/>
              </a:rPr>
              <a:t>Data </a:t>
            </a:r>
            <a:r>
              <a:rPr sz="2100" spc="-4" dirty="0">
                <a:latin typeface="Calibri"/>
                <a:cs typeface="Calibri"/>
              </a:rPr>
              <a:t>is </a:t>
            </a:r>
            <a:r>
              <a:rPr sz="2100" spc="-19" dirty="0">
                <a:latin typeface="Calibri"/>
                <a:cs typeface="Calibri"/>
              </a:rPr>
              <a:t>stored </a:t>
            </a:r>
            <a:r>
              <a:rPr sz="2100" spc="-4" dirty="0">
                <a:latin typeface="Calibri"/>
                <a:cs typeface="Calibri"/>
              </a:rPr>
              <a:t>in </a:t>
            </a:r>
            <a:r>
              <a:rPr sz="2100" b="1" spc="-8" dirty="0">
                <a:latin typeface="Calibri"/>
                <a:cs typeface="Calibri"/>
              </a:rPr>
              <a:t>blocks </a:t>
            </a:r>
            <a:r>
              <a:rPr sz="2100" spc="-8" dirty="0">
                <a:latin typeface="Calibri"/>
                <a:cs typeface="Calibri"/>
              </a:rPr>
              <a:t>(64KB</a:t>
            </a:r>
            <a:r>
              <a:rPr sz="2100" spc="49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default)</a:t>
            </a:r>
            <a:endParaRPr sz="2100">
              <a:latin typeface="Calibri"/>
              <a:cs typeface="Calibri"/>
            </a:endParaRPr>
          </a:p>
          <a:p>
            <a:pPr marL="523875" lvl="1" indent="-171450">
              <a:spcBef>
                <a:spcPts val="176"/>
              </a:spcBef>
              <a:buFont typeface="Arial"/>
              <a:buChar char="•"/>
              <a:tabLst>
                <a:tab pos="523875" algn="l"/>
              </a:tabLst>
            </a:pPr>
            <a:r>
              <a:rPr spc="-23" dirty="0">
                <a:latin typeface="Calibri"/>
                <a:cs typeface="Calibri"/>
              </a:rPr>
              <a:t>Trade-off </a:t>
            </a:r>
            <a:r>
              <a:rPr spc="-8" dirty="0">
                <a:latin typeface="Calibri"/>
                <a:cs typeface="Calibri"/>
              </a:rPr>
              <a:t>between lookups </a:t>
            </a:r>
            <a:r>
              <a:rPr dirty="0">
                <a:latin typeface="Calibri"/>
                <a:cs typeface="Calibri"/>
              </a:rPr>
              <a:t>and I/O</a:t>
            </a:r>
            <a:r>
              <a:rPr spc="-8" dirty="0">
                <a:latin typeface="Calibri"/>
                <a:cs typeface="Calibri"/>
              </a:rPr>
              <a:t> throughput</a:t>
            </a:r>
            <a:endParaRPr>
              <a:latin typeface="Calibri"/>
              <a:cs typeface="Calibri"/>
            </a:endParaRPr>
          </a:p>
          <a:p>
            <a:pPr marL="523875" lvl="1" indent="-171450">
              <a:spcBef>
                <a:spcPts val="161"/>
              </a:spcBef>
              <a:buFont typeface="Arial"/>
              <a:buChar char="•"/>
              <a:tabLst>
                <a:tab pos="523875" algn="l"/>
              </a:tabLst>
            </a:pPr>
            <a:r>
              <a:rPr spc="-4" dirty="0">
                <a:latin typeface="Calibri"/>
                <a:cs typeface="Calibri"/>
              </a:rPr>
              <a:t>Compression, encoding </a:t>
            </a:r>
            <a:r>
              <a:rPr dirty="0">
                <a:latin typeface="Calibri"/>
                <a:cs typeface="Calibri"/>
              </a:rPr>
              <a:t>applied </a:t>
            </a:r>
            <a:r>
              <a:rPr spc="-8" dirty="0">
                <a:latin typeface="Calibri"/>
                <a:cs typeface="Calibri"/>
              </a:rPr>
              <a:t>_after_ </a:t>
            </a:r>
            <a:r>
              <a:rPr dirty="0">
                <a:latin typeface="Calibri"/>
                <a:cs typeface="Calibri"/>
              </a:rPr>
              <a:t>limit</a:t>
            </a:r>
            <a:r>
              <a:rPr spc="-75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check</a:t>
            </a:r>
            <a:endParaRPr>
              <a:latin typeface="Calibri"/>
              <a:cs typeface="Calibri"/>
            </a:endParaRPr>
          </a:p>
          <a:p>
            <a:pPr marL="180975" indent="-171450">
              <a:spcBef>
                <a:spcPts val="472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1" dirty="0">
                <a:latin typeface="Calibri"/>
                <a:cs typeface="Calibri"/>
              </a:rPr>
              <a:t>Index, filter </a:t>
            </a:r>
            <a:r>
              <a:rPr sz="2100" spc="-4" dirty="0">
                <a:latin typeface="Calibri"/>
                <a:cs typeface="Calibri"/>
              </a:rPr>
              <a:t>and </a:t>
            </a:r>
            <a:r>
              <a:rPr sz="2100" spc="-15" dirty="0">
                <a:latin typeface="Calibri"/>
                <a:cs typeface="Calibri"/>
              </a:rPr>
              <a:t>meta data </a:t>
            </a:r>
            <a:r>
              <a:rPr sz="2100" spc="-4" dirty="0">
                <a:latin typeface="Calibri"/>
                <a:cs typeface="Calibri"/>
              </a:rPr>
              <a:t>is </a:t>
            </a:r>
            <a:r>
              <a:rPr sz="2100" spc="-19" dirty="0">
                <a:latin typeface="Calibri"/>
                <a:cs typeface="Calibri"/>
              </a:rPr>
              <a:t>stored </a:t>
            </a:r>
            <a:r>
              <a:rPr sz="2100" spc="-4" dirty="0">
                <a:latin typeface="Calibri"/>
                <a:cs typeface="Calibri"/>
              </a:rPr>
              <a:t>in </a:t>
            </a:r>
            <a:r>
              <a:rPr sz="2100" b="1" spc="-15" dirty="0">
                <a:latin typeface="Calibri"/>
                <a:cs typeface="Calibri"/>
              </a:rPr>
              <a:t>separate</a:t>
            </a:r>
            <a:r>
              <a:rPr sz="2100" b="1" spc="153" dirty="0">
                <a:latin typeface="Calibri"/>
                <a:cs typeface="Calibri"/>
              </a:rPr>
              <a:t> </a:t>
            </a:r>
            <a:r>
              <a:rPr sz="2100" spc="-8" dirty="0">
                <a:latin typeface="Calibri"/>
                <a:cs typeface="Calibri"/>
              </a:rPr>
              <a:t>blocks</a:t>
            </a:r>
            <a:endParaRPr sz="2100">
              <a:latin typeface="Calibri"/>
              <a:cs typeface="Calibri"/>
            </a:endParaRPr>
          </a:p>
          <a:p>
            <a:pPr marL="180975" indent="-171450">
              <a:spcBef>
                <a:spcPts val="495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5" dirty="0">
                <a:latin typeface="Calibri"/>
                <a:cs typeface="Calibri"/>
              </a:rPr>
              <a:t>Fixed </a:t>
            </a:r>
            <a:r>
              <a:rPr sz="2100" b="1" spc="-11" dirty="0">
                <a:latin typeface="Calibri"/>
                <a:cs typeface="Calibri"/>
              </a:rPr>
              <a:t>trailer </a:t>
            </a:r>
            <a:r>
              <a:rPr sz="2100" spc="-8" dirty="0">
                <a:latin typeface="Calibri"/>
                <a:cs typeface="Calibri"/>
              </a:rPr>
              <a:t>allows </a:t>
            </a:r>
            <a:r>
              <a:rPr sz="2100" spc="-19" dirty="0">
                <a:latin typeface="Calibri"/>
                <a:cs typeface="Calibri"/>
              </a:rPr>
              <a:t>traversal </a:t>
            </a:r>
            <a:r>
              <a:rPr sz="2100" spc="-4" dirty="0">
                <a:latin typeface="Calibri"/>
                <a:cs typeface="Calibri"/>
              </a:rPr>
              <a:t>of file</a:t>
            </a:r>
            <a:r>
              <a:rPr sz="2100" spc="68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structure</a:t>
            </a:r>
            <a:endParaRPr sz="2100">
              <a:latin typeface="Calibri"/>
              <a:cs typeface="Calibri"/>
            </a:endParaRPr>
          </a:p>
          <a:p>
            <a:pPr marL="180975" indent="-171450">
              <a:spcBef>
                <a:spcPts val="506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11" dirty="0">
                <a:latin typeface="Calibri"/>
                <a:cs typeface="Calibri"/>
              </a:rPr>
              <a:t>Newer </a:t>
            </a:r>
            <a:r>
              <a:rPr sz="2100" spc="-15" dirty="0">
                <a:latin typeface="Calibri"/>
                <a:cs typeface="Calibri"/>
              </a:rPr>
              <a:t>versions </a:t>
            </a:r>
            <a:r>
              <a:rPr sz="2100" spc="-11" dirty="0">
                <a:latin typeface="Calibri"/>
                <a:cs typeface="Calibri"/>
              </a:rPr>
              <a:t>introduce </a:t>
            </a:r>
            <a:r>
              <a:rPr sz="2100" b="1" spc="-15" dirty="0">
                <a:latin typeface="Calibri"/>
                <a:cs typeface="Calibri"/>
              </a:rPr>
              <a:t>multilayered </a:t>
            </a:r>
            <a:r>
              <a:rPr sz="2100" spc="-15" dirty="0">
                <a:latin typeface="Calibri"/>
                <a:cs typeface="Calibri"/>
              </a:rPr>
              <a:t>index </a:t>
            </a:r>
            <a:r>
              <a:rPr sz="2100" spc="-4" dirty="0">
                <a:latin typeface="Calibri"/>
                <a:cs typeface="Calibri"/>
              </a:rPr>
              <a:t>and </a:t>
            </a:r>
            <a:r>
              <a:rPr sz="2100" spc="-11" dirty="0">
                <a:latin typeface="Calibri"/>
                <a:cs typeface="Calibri"/>
              </a:rPr>
              <a:t>filter</a:t>
            </a:r>
            <a:r>
              <a:rPr sz="2100" spc="281" dirty="0">
                <a:latin typeface="Calibri"/>
                <a:cs typeface="Calibri"/>
              </a:rPr>
              <a:t> </a:t>
            </a:r>
            <a:r>
              <a:rPr sz="2100" spc="-11" dirty="0">
                <a:latin typeface="Calibri"/>
                <a:cs typeface="Calibri"/>
              </a:rPr>
              <a:t>structures</a:t>
            </a:r>
            <a:endParaRPr sz="2100">
              <a:latin typeface="Calibri"/>
              <a:cs typeface="Calibri"/>
            </a:endParaRPr>
          </a:p>
          <a:p>
            <a:pPr marL="523875" lvl="1" indent="-171450">
              <a:spcBef>
                <a:spcPts val="172"/>
              </a:spcBef>
              <a:buFont typeface="Arial"/>
              <a:buChar char="•"/>
              <a:tabLst>
                <a:tab pos="523875" algn="l"/>
              </a:tabLst>
            </a:pPr>
            <a:r>
              <a:rPr spc="-4" dirty="0">
                <a:latin typeface="Calibri"/>
                <a:cs typeface="Calibri"/>
              </a:rPr>
              <a:t>Only load </a:t>
            </a:r>
            <a:r>
              <a:rPr spc="-8" dirty="0">
                <a:latin typeface="Calibri"/>
                <a:cs typeface="Calibri"/>
              </a:rPr>
              <a:t>master index </a:t>
            </a:r>
            <a:r>
              <a:rPr dirty="0">
                <a:latin typeface="Calibri"/>
                <a:cs typeface="Calibri"/>
              </a:rPr>
              <a:t>and load </a:t>
            </a:r>
            <a:r>
              <a:rPr spc="-4" dirty="0">
                <a:latin typeface="Calibri"/>
                <a:cs typeface="Calibri"/>
              </a:rPr>
              <a:t>partial </a:t>
            </a:r>
            <a:r>
              <a:rPr spc="-8" dirty="0">
                <a:latin typeface="Calibri"/>
                <a:cs typeface="Calibri"/>
              </a:rPr>
              <a:t>index blocks on</a:t>
            </a:r>
            <a:r>
              <a:rPr spc="-56" dirty="0">
                <a:latin typeface="Calibri"/>
                <a:cs typeface="Calibri"/>
              </a:rPr>
              <a:t> </a:t>
            </a:r>
            <a:r>
              <a:rPr spc="-4" dirty="0">
                <a:latin typeface="Calibri"/>
                <a:cs typeface="Calibri"/>
              </a:rPr>
              <a:t>demand</a:t>
            </a:r>
            <a:endParaRPr>
              <a:latin typeface="Calibri"/>
              <a:cs typeface="Calibri"/>
            </a:endParaRPr>
          </a:p>
          <a:p>
            <a:pPr marL="180975" indent="-171450">
              <a:spcBef>
                <a:spcPts val="476"/>
              </a:spcBef>
              <a:buFont typeface="Arial"/>
              <a:buChar char="•"/>
              <a:tabLst>
                <a:tab pos="180975" algn="l"/>
              </a:tabLst>
            </a:pPr>
            <a:r>
              <a:rPr sz="2100" spc="-8" dirty="0">
                <a:latin typeface="Calibri"/>
                <a:cs typeface="Calibri"/>
              </a:rPr>
              <a:t>Reading </a:t>
            </a:r>
            <a:r>
              <a:rPr sz="2100" spc="-15" dirty="0">
                <a:latin typeface="Calibri"/>
                <a:cs typeface="Calibri"/>
              </a:rPr>
              <a:t>data </a:t>
            </a:r>
            <a:r>
              <a:rPr sz="2100" spc="-11" dirty="0">
                <a:latin typeface="Calibri"/>
                <a:cs typeface="Calibri"/>
              </a:rPr>
              <a:t>requires </a:t>
            </a:r>
            <a:r>
              <a:rPr sz="2100" b="1" spc="-8" dirty="0">
                <a:latin typeface="Calibri"/>
                <a:cs typeface="Calibri"/>
              </a:rPr>
              <a:t>deserialization </a:t>
            </a:r>
            <a:r>
              <a:rPr sz="2100" spc="-4" dirty="0">
                <a:latin typeface="Calibri"/>
                <a:cs typeface="Calibri"/>
              </a:rPr>
              <a:t>of </a:t>
            </a:r>
            <a:r>
              <a:rPr sz="2100" spc="-8" dirty="0">
                <a:latin typeface="Calibri"/>
                <a:cs typeface="Calibri"/>
              </a:rPr>
              <a:t>block </a:t>
            </a:r>
            <a:r>
              <a:rPr sz="2100" spc="-15" dirty="0">
                <a:latin typeface="Calibri"/>
                <a:cs typeface="Calibri"/>
              </a:rPr>
              <a:t>into</a:t>
            </a:r>
            <a:r>
              <a:rPr sz="2100" spc="113" dirty="0">
                <a:latin typeface="Calibri"/>
                <a:cs typeface="Calibri"/>
              </a:rPr>
              <a:t> </a:t>
            </a:r>
            <a:r>
              <a:rPr sz="2100" spc="-4" dirty="0">
                <a:latin typeface="Calibri"/>
                <a:cs typeface="Calibri"/>
              </a:rPr>
              <a:t>cells</a:t>
            </a:r>
            <a:endParaRPr sz="2100">
              <a:latin typeface="Calibri"/>
              <a:cs typeface="Calibri"/>
            </a:endParaRPr>
          </a:p>
          <a:p>
            <a:pPr marL="523875" lvl="1" indent="-171450">
              <a:spcBef>
                <a:spcPts val="184"/>
              </a:spcBef>
              <a:buFont typeface="Arial"/>
              <a:buChar char="•"/>
              <a:tabLst>
                <a:tab pos="523875" algn="l"/>
              </a:tabLst>
            </a:pPr>
            <a:r>
              <a:rPr dirty="0">
                <a:latin typeface="Calibri"/>
                <a:cs typeface="Calibri"/>
              </a:rPr>
              <a:t>Kind </a:t>
            </a:r>
            <a:r>
              <a:rPr spc="-4" dirty="0">
                <a:latin typeface="Calibri"/>
                <a:cs typeface="Calibri"/>
              </a:rPr>
              <a:t>of </a:t>
            </a:r>
            <a:r>
              <a:rPr spc="-15" dirty="0">
                <a:latin typeface="Calibri"/>
                <a:cs typeface="Calibri"/>
              </a:rPr>
              <a:t>Amdahl’s </a:t>
            </a:r>
            <a:r>
              <a:rPr spc="-8" dirty="0">
                <a:latin typeface="Calibri"/>
                <a:cs typeface="Calibri"/>
              </a:rPr>
              <a:t>Law</a:t>
            </a:r>
            <a:r>
              <a:rPr spc="-4" dirty="0">
                <a:latin typeface="Calibri"/>
                <a:cs typeface="Calibri"/>
              </a:rPr>
              <a:t> </a:t>
            </a:r>
            <a:r>
              <a:rPr dirty="0">
                <a:latin typeface="Calibri"/>
                <a:cs typeface="Calibri"/>
              </a:rPr>
              <a:t>applies</a:t>
            </a:r>
            <a:endParaRPr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72095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8B45-A05F-7E44-B2D4-C95AEE320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Architecture: Region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09558-C9E5-5E4F-BB58-6F9115F9D3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9906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Regions are assigned to Region Servers across a cluster</a:t>
            </a:r>
          </a:p>
          <a:p>
            <a:pPr marL="0" indent="0">
              <a:buNone/>
            </a:pPr>
            <a:r>
              <a:rPr lang="en-US" dirty="0"/>
              <a:t>Each Region Servers holds about the same number of regions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EF7152-CAA1-C842-B7F4-C302BBDC1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2EF1BC-227E-8548-83E1-CFB94BED7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144BBBD-C039-3A46-B968-2295F9A116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5" y="2438400"/>
            <a:ext cx="7296605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8934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Logical Architecture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55</a:t>
            </a:fld>
            <a:endParaRPr lang="en-US" dirty="0"/>
          </a:p>
        </p:txBody>
      </p:sp>
      <p:pic>
        <p:nvPicPr>
          <p:cNvPr id="2969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098"/>
          <a:stretch/>
        </p:blipFill>
        <p:spPr bwMode="auto">
          <a:xfrm>
            <a:off x="193915" y="1524000"/>
            <a:ext cx="8466842" cy="49366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C49340-F527-DA4C-8BF2-F4297640B9F6}"/>
              </a:ext>
            </a:extLst>
          </p:cNvPr>
          <p:cNvSpPr txBox="1"/>
          <p:nvPr/>
        </p:nvSpPr>
        <p:spPr>
          <a:xfrm>
            <a:off x="2266552" y="3454117"/>
            <a:ext cx="116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Hadoop/HDFS </a:t>
            </a:r>
          </a:p>
          <a:p>
            <a:pPr algn="r"/>
            <a:r>
              <a:rPr lang="en-US" sz="1100" dirty="0"/>
              <a:t>Data Node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08D3A4-7729-654E-9B5D-30C47F010E50}"/>
              </a:ext>
            </a:extLst>
          </p:cNvPr>
          <p:cNvSpPr txBox="1"/>
          <p:nvPr/>
        </p:nvSpPr>
        <p:spPr>
          <a:xfrm>
            <a:off x="2209800" y="2617113"/>
            <a:ext cx="116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Hadoop/HDFS </a:t>
            </a:r>
          </a:p>
          <a:p>
            <a:pPr algn="r"/>
            <a:r>
              <a:rPr lang="en-US" sz="1100" dirty="0"/>
              <a:t>Data Node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09D8482-D92A-7947-9573-47C1E8722B33}"/>
              </a:ext>
            </a:extLst>
          </p:cNvPr>
          <p:cNvSpPr txBox="1"/>
          <p:nvPr/>
        </p:nvSpPr>
        <p:spPr>
          <a:xfrm>
            <a:off x="609600" y="5181600"/>
            <a:ext cx="116244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/>
              <a:t>Hadoop/HDFS </a:t>
            </a:r>
          </a:p>
          <a:p>
            <a:pPr algn="r"/>
            <a:r>
              <a:rPr lang="en-US" sz="1100" dirty="0"/>
              <a:t>Data Node</a:t>
            </a:r>
          </a:p>
        </p:txBody>
      </p:sp>
    </p:spTree>
    <p:extLst>
      <p:ext uri="{BB962C8B-B14F-4D97-AF65-F5344CB8AC3E}">
        <p14:creationId xmlns:p14="http://schemas.microsoft.com/office/powerpoint/2010/main" val="109643346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Architecture: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HBase made up of an HBase </a:t>
            </a:r>
            <a:r>
              <a:rPr lang="en-US" i="1" dirty="0"/>
              <a:t>supervisory</a:t>
            </a:r>
            <a:r>
              <a:rPr lang="en-US" dirty="0"/>
              <a:t> (master) node orchestrating a cluster of one or more </a:t>
            </a:r>
            <a:r>
              <a:rPr lang="en-US" dirty="0" err="1"/>
              <a:t>regionserver</a:t>
            </a:r>
            <a:r>
              <a:rPr lang="en-US" dirty="0"/>
              <a:t> nodes</a:t>
            </a:r>
          </a:p>
          <a:p>
            <a:r>
              <a:rPr lang="en-US" dirty="0"/>
              <a:t>The HBase master is responsible for assigning regions to registered </a:t>
            </a:r>
            <a:r>
              <a:rPr lang="en-US" dirty="0" err="1"/>
              <a:t>regionservers</a:t>
            </a:r>
            <a:r>
              <a:rPr lang="en-US" dirty="0"/>
              <a:t>, and for recovering </a:t>
            </a:r>
            <a:r>
              <a:rPr lang="en-US" dirty="0" err="1"/>
              <a:t>regionserver</a:t>
            </a:r>
            <a:r>
              <a:rPr lang="en-US" dirty="0"/>
              <a:t> failures</a:t>
            </a:r>
          </a:p>
          <a:p>
            <a:r>
              <a:rPr lang="en-US" dirty="0"/>
              <a:t>The </a:t>
            </a:r>
            <a:r>
              <a:rPr lang="en-US" dirty="0" err="1"/>
              <a:t>regionservers</a:t>
            </a:r>
            <a:r>
              <a:rPr lang="en-US" dirty="0"/>
              <a:t> carry zero or more regions and handle client read/write requests</a:t>
            </a:r>
          </a:p>
          <a:p>
            <a:r>
              <a:rPr lang="en-US" dirty="0"/>
              <a:t>They also manage region splits, informing the HBase master about the new regions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6572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Architecture: General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 HBase </a:t>
            </a:r>
            <a:r>
              <a:rPr lang="en-US" dirty="0" err="1"/>
              <a:t>RegionServer</a:t>
            </a:r>
            <a:r>
              <a:rPr lang="en-US" dirty="0"/>
              <a:t> is collocated with an HDFS </a:t>
            </a:r>
            <a:r>
              <a:rPr lang="en-US" dirty="0" err="1"/>
              <a:t>DataNode</a:t>
            </a:r>
            <a:endParaRPr lang="en-US" dirty="0"/>
          </a:p>
          <a:p>
            <a:r>
              <a:rPr lang="en-US" dirty="0"/>
              <a:t>HBase clients communicate directly with Region Servers for sending and receiving data.</a:t>
            </a:r>
          </a:p>
          <a:p>
            <a:r>
              <a:rPr lang="en-US" dirty="0" err="1"/>
              <a:t>HMaster</a:t>
            </a:r>
            <a:r>
              <a:rPr lang="en-US" dirty="0"/>
              <a:t> manages Region assignment and handles DDL operations.</a:t>
            </a:r>
          </a:p>
          <a:p>
            <a:r>
              <a:rPr lang="en-US" dirty="0"/>
              <a:t>Online configuration state is maintained in </a:t>
            </a:r>
            <a:r>
              <a:rPr lang="en-US" dirty="0" err="1"/>
              <a:t>ZooKeeper</a:t>
            </a:r>
            <a:endParaRPr lang="en-US" dirty="0"/>
          </a:p>
          <a:p>
            <a:r>
              <a:rPr lang="en-US" dirty="0" err="1"/>
              <a:t>HMaster</a:t>
            </a:r>
            <a:r>
              <a:rPr lang="en-US" dirty="0"/>
              <a:t> and </a:t>
            </a:r>
            <a:r>
              <a:rPr lang="en-US" dirty="0" err="1"/>
              <a:t>ZooKeeper</a:t>
            </a:r>
            <a:r>
              <a:rPr lang="en-US" dirty="0"/>
              <a:t> are NOT involved in data path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12620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68CE36-16F1-7A44-8523-6DEDD4808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HBase Architecture: General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60B3A0-7750-D648-ACE8-99C711C46A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Region</a:t>
            </a:r>
          </a:p>
          <a:p>
            <a:pPr lvl="1"/>
            <a:r>
              <a:rPr lang="en-US" dirty="0"/>
              <a:t>a subset of table’s rows, like a range partition</a:t>
            </a:r>
          </a:p>
          <a:p>
            <a:pPr lvl="1"/>
            <a:r>
              <a:rPr lang="en-US" dirty="0"/>
              <a:t>Automatically sharded</a:t>
            </a:r>
          </a:p>
          <a:p>
            <a:r>
              <a:rPr lang="en-US" dirty="0" err="1"/>
              <a:t>RegionServer</a:t>
            </a:r>
            <a:endParaRPr lang="en-US" dirty="0"/>
          </a:p>
          <a:p>
            <a:pPr lvl="1"/>
            <a:r>
              <a:rPr lang="en-US" dirty="0"/>
              <a:t>Servers data for reads and writes for a group of regions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EDE60D-837B-7A40-AFB9-06A26772D17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Master</a:t>
            </a:r>
          </a:p>
          <a:p>
            <a:pPr lvl="1"/>
            <a:r>
              <a:rPr lang="en-US" dirty="0"/>
              <a:t>Responsible for coordinating the </a:t>
            </a:r>
            <a:r>
              <a:rPr lang="en-US" dirty="0" err="1"/>
              <a:t>RegionServers</a:t>
            </a:r>
            <a:endParaRPr lang="en-US" dirty="0"/>
          </a:p>
          <a:p>
            <a:pPr lvl="1"/>
            <a:r>
              <a:rPr lang="en-US" dirty="0"/>
              <a:t>Assign regions, detects failures of </a:t>
            </a:r>
            <a:r>
              <a:rPr lang="en-US" dirty="0" err="1"/>
              <a:t>RegionServers</a:t>
            </a:r>
            <a:endParaRPr lang="en-US" dirty="0"/>
          </a:p>
          <a:p>
            <a:pPr lvl="1"/>
            <a:r>
              <a:rPr lang="en-US" dirty="0"/>
              <a:t>Control some admin functions</a:t>
            </a:r>
          </a:p>
          <a:p>
            <a:r>
              <a:rPr lang="en-US" dirty="0" err="1"/>
              <a:t>ZooKeeper</a:t>
            </a:r>
            <a:endParaRPr lang="en-US" dirty="0"/>
          </a:p>
          <a:p>
            <a:pPr lvl="1"/>
            <a:r>
              <a:rPr lang="en-US" dirty="0"/>
              <a:t>Locate data among </a:t>
            </a:r>
            <a:r>
              <a:rPr lang="en-US" dirty="0" err="1"/>
              <a:t>RegionServers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C8F34-E80B-C54F-A60A-30E3F38AE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5C9241-0056-4E44-99E1-AF5747B3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870095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HBase Scalability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As the table grows, the number of its regions grows</a:t>
            </a:r>
          </a:p>
          <a:p>
            <a:r>
              <a:rPr lang="en-US" dirty="0"/>
              <a:t>Regions are the units that get distributed over an </a:t>
            </a:r>
            <a:r>
              <a:rPr lang="en-US" dirty="0" err="1"/>
              <a:t>HBase</a:t>
            </a:r>
            <a:r>
              <a:rPr lang="en-US" dirty="0"/>
              <a:t> cluster</a:t>
            </a:r>
          </a:p>
          <a:p>
            <a:r>
              <a:rPr lang="en-US" dirty="0"/>
              <a:t>In this way, a table that is too big for any one server can be carried by a cluster of servers, with each node hosting a subset of the table’s total regions</a:t>
            </a:r>
          </a:p>
          <a:p>
            <a:r>
              <a:rPr lang="en-US" dirty="0"/>
              <a:t>This is also the means by which the loading on a table gets distributed</a:t>
            </a:r>
          </a:p>
          <a:p>
            <a:r>
              <a:rPr lang="en-US" dirty="0"/>
              <a:t>The online set of sorted regions comprises the table’s total content.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60501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</a:t>
            </a:r>
            <a:r>
              <a:rPr lang="en-US" dirty="0" err="1"/>
              <a:t>HMaster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60</a:t>
            </a:fld>
            <a:endParaRPr lang="en-US" dirty="0"/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956" t="11785"/>
          <a:stretch/>
        </p:blipFill>
        <p:spPr bwMode="auto">
          <a:xfrm>
            <a:off x="179242" y="1828800"/>
            <a:ext cx="8812358" cy="43171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3354101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Regions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61</a:t>
            </a:fld>
            <a:endParaRPr lang="en-US" dirty="0"/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581"/>
          <a:stretch/>
        </p:blipFill>
        <p:spPr bwMode="auto">
          <a:xfrm>
            <a:off x="228600" y="2128237"/>
            <a:ext cx="8686800" cy="3967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6290163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Zookeeper (Coordinator)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62</a:t>
            </a:fld>
            <a:endParaRPr lang="en-US" dirty="0"/>
          </a:p>
        </p:txBody>
      </p:sp>
      <p:pic>
        <p:nvPicPr>
          <p:cNvPr id="51202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466" t="12742"/>
          <a:stretch/>
        </p:blipFill>
        <p:spPr bwMode="auto">
          <a:xfrm>
            <a:off x="152400" y="2286000"/>
            <a:ext cx="8229600" cy="38354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7226530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Meta Table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63</a:t>
            </a:fld>
            <a:endParaRPr lang="en-US" dirty="0"/>
          </a:p>
        </p:txBody>
      </p:sp>
      <p:pic>
        <p:nvPicPr>
          <p:cNvPr id="522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2046" r="3609"/>
          <a:stretch/>
        </p:blipFill>
        <p:spPr bwMode="auto">
          <a:xfrm>
            <a:off x="104599" y="1981200"/>
            <a:ext cx="8277401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1946768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HBase</a:t>
            </a:r>
            <a:r>
              <a:rPr lang="en-US" dirty="0"/>
              <a:t> Meta Table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 dirty="0"/>
              <a:t>CSP554</a:t>
            </a:r>
            <a:r>
              <a:rPr lang="en-US" dirty="0"/>
              <a:t> Module 12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64</a:t>
            </a:fld>
            <a:endParaRPr lang="en-US" dirty="0"/>
          </a:p>
        </p:txBody>
      </p:sp>
      <p:pic>
        <p:nvPicPr>
          <p:cNvPr id="532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t="11431"/>
          <a:stretch/>
        </p:blipFill>
        <p:spPr bwMode="auto">
          <a:xfrm>
            <a:off x="211108" y="2057399"/>
            <a:ext cx="8780492" cy="3957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2887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843784" y="2179701"/>
            <a:ext cx="3495293" cy="31021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/>
          <p:nvPr/>
        </p:nvSpPr>
        <p:spPr>
          <a:xfrm>
            <a:off x="4003738" y="2202657"/>
            <a:ext cx="117633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Region</a:t>
            </a:r>
            <a:r>
              <a:rPr sz="1350" b="1" spc="-4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1C1C1C"/>
                </a:solidFill>
                <a:latin typeface="Arial"/>
                <a:cs typeface="Arial"/>
              </a:rPr>
              <a:t>Server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2974086" y="2939795"/>
            <a:ext cx="3259931" cy="2977515"/>
            <a:chOff x="3965447" y="2776727"/>
            <a:chExt cx="4346575" cy="3970020"/>
          </a:xfrm>
        </p:grpSpPr>
        <p:sp>
          <p:nvSpPr>
            <p:cNvPr id="5" name="object 5"/>
            <p:cNvSpPr/>
            <p:nvPr/>
          </p:nvSpPr>
          <p:spPr>
            <a:xfrm>
              <a:off x="3965447" y="4684774"/>
              <a:ext cx="4346448" cy="20619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3973067" y="2776727"/>
              <a:ext cx="4331208" cy="204673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4043933" y="2847593"/>
              <a:ext cx="4189729" cy="1905000"/>
            </a:xfrm>
            <a:custGeom>
              <a:avLst/>
              <a:gdLst/>
              <a:ahLst/>
              <a:cxnLst/>
              <a:rect l="l" t="t" r="r" b="b"/>
              <a:pathLst>
                <a:path w="4189729" h="1905000">
                  <a:moveTo>
                    <a:pt x="3871975" y="0"/>
                  </a:moveTo>
                  <a:lnTo>
                    <a:pt x="317500" y="0"/>
                  </a:lnTo>
                  <a:lnTo>
                    <a:pt x="270573" y="3441"/>
                  </a:lnTo>
                  <a:lnTo>
                    <a:pt x="225788" y="13439"/>
                  </a:lnTo>
                  <a:lnTo>
                    <a:pt x="183634" y="29503"/>
                  </a:lnTo>
                  <a:lnTo>
                    <a:pt x="144601" y="51141"/>
                  </a:lnTo>
                  <a:lnTo>
                    <a:pt x="109181" y="77865"/>
                  </a:lnTo>
                  <a:lnTo>
                    <a:pt x="77865" y="109181"/>
                  </a:lnTo>
                  <a:lnTo>
                    <a:pt x="51141" y="144601"/>
                  </a:lnTo>
                  <a:lnTo>
                    <a:pt x="29503" y="183634"/>
                  </a:lnTo>
                  <a:lnTo>
                    <a:pt x="13439" y="225788"/>
                  </a:lnTo>
                  <a:lnTo>
                    <a:pt x="3441" y="270573"/>
                  </a:lnTo>
                  <a:lnTo>
                    <a:pt x="0" y="317500"/>
                  </a:lnTo>
                  <a:lnTo>
                    <a:pt x="0" y="1587499"/>
                  </a:lnTo>
                  <a:lnTo>
                    <a:pt x="3441" y="1634426"/>
                  </a:lnTo>
                  <a:lnTo>
                    <a:pt x="13439" y="1679211"/>
                  </a:lnTo>
                  <a:lnTo>
                    <a:pt x="29503" y="1721365"/>
                  </a:lnTo>
                  <a:lnTo>
                    <a:pt x="51141" y="1760398"/>
                  </a:lnTo>
                  <a:lnTo>
                    <a:pt x="77865" y="1795818"/>
                  </a:lnTo>
                  <a:lnTo>
                    <a:pt x="109181" y="1827134"/>
                  </a:lnTo>
                  <a:lnTo>
                    <a:pt x="144601" y="1853858"/>
                  </a:lnTo>
                  <a:lnTo>
                    <a:pt x="183634" y="1875496"/>
                  </a:lnTo>
                  <a:lnTo>
                    <a:pt x="225788" y="1891560"/>
                  </a:lnTo>
                  <a:lnTo>
                    <a:pt x="270573" y="1901558"/>
                  </a:lnTo>
                  <a:lnTo>
                    <a:pt x="317500" y="1904999"/>
                  </a:lnTo>
                  <a:lnTo>
                    <a:pt x="3871975" y="1904999"/>
                  </a:lnTo>
                  <a:lnTo>
                    <a:pt x="3918902" y="1901558"/>
                  </a:lnTo>
                  <a:lnTo>
                    <a:pt x="3963687" y="1891560"/>
                  </a:lnTo>
                  <a:lnTo>
                    <a:pt x="4005841" y="1875496"/>
                  </a:lnTo>
                  <a:lnTo>
                    <a:pt x="4044874" y="1853858"/>
                  </a:lnTo>
                  <a:lnTo>
                    <a:pt x="4080294" y="1827134"/>
                  </a:lnTo>
                  <a:lnTo>
                    <a:pt x="4111610" y="1795818"/>
                  </a:lnTo>
                  <a:lnTo>
                    <a:pt x="4138334" y="1760398"/>
                  </a:lnTo>
                  <a:lnTo>
                    <a:pt x="4159972" y="1721365"/>
                  </a:lnTo>
                  <a:lnTo>
                    <a:pt x="4176036" y="1679211"/>
                  </a:lnTo>
                  <a:lnTo>
                    <a:pt x="4186034" y="1634426"/>
                  </a:lnTo>
                  <a:lnTo>
                    <a:pt x="4189475" y="1587499"/>
                  </a:lnTo>
                  <a:lnTo>
                    <a:pt x="4189475" y="317500"/>
                  </a:lnTo>
                  <a:lnTo>
                    <a:pt x="4186034" y="270573"/>
                  </a:lnTo>
                  <a:lnTo>
                    <a:pt x="4176036" y="225788"/>
                  </a:lnTo>
                  <a:lnTo>
                    <a:pt x="4159972" y="183634"/>
                  </a:lnTo>
                  <a:lnTo>
                    <a:pt x="4138334" y="144601"/>
                  </a:lnTo>
                  <a:lnTo>
                    <a:pt x="4111610" y="109181"/>
                  </a:lnTo>
                  <a:lnTo>
                    <a:pt x="4080294" y="77865"/>
                  </a:lnTo>
                  <a:lnTo>
                    <a:pt x="4044874" y="51141"/>
                  </a:lnTo>
                  <a:lnTo>
                    <a:pt x="4005841" y="29503"/>
                  </a:lnTo>
                  <a:lnTo>
                    <a:pt x="3963687" y="13439"/>
                  </a:lnTo>
                  <a:lnTo>
                    <a:pt x="3918902" y="3441"/>
                  </a:lnTo>
                  <a:lnTo>
                    <a:pt x="387197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 dirty="0"/>
            </a:p>
          </p:txBody>
        </p:sp>
        <p:sp>
          <p:nvSpPr>
            <p:cNvPr id="8" name="object 8"/>
            <p:cNvSpPr/>
            <p:nvPr/>
          </p:nvSpPr>
          <p:spPr>
            <a:xfrm>
              <a:off x="4043933" y="2847593"/>
              <a:ext cx="4189729" cy="1905000"/>
            </a:xfrm>
            <a:custGeom>
              <a:avLst/>
              <a:gdLst/>
              <a:ahLst/>
              <a:cxnLst/>
              <a:rect l="l" t="t" r="r" b="b"/>
              <a:pathLst>
                <a:path w="4189729" h="1905000">
                  <a:moveTo>
                    <a:pt x="0" y="317500"/>
                  </a:moveTo>
                  <a:lnTo>
                    <a:pt x="3441" y="270573"/>
                  </a:lnTo>
                  <a:lnTo>
                    <a:pt x="13439" y="225788"/>
                  </a:lnTo>
                  <a:lnTo>
                    <a:pt x="29503" y="183634"/>
                  </a:lnTo>
                  <a:lnTo>
                    <a:pt x="51141" y="144601"/>
                  </a:lnTo>
                  <a:lnTo>
                    <a:pt x="77865" y="109181"/>
                  </a:lnTo>
                  <a:lnTo>
                    <a:pt x="109181" y="77865"/>
                  </a:lnTo>
                  <a:lnTo>
                    <a:pt x="144601" y="51141"/>
                  </a:lnTo>
                  <a:lnTo>
                    <a:pt x="183634" y="29503"/>
                  </a:lnTo>
                  <a:lnTo>
                    <a:pt x="225788" y="13439"/>
                  </a:lnTo>
                  <a:lnTo>
                    <a:pt x="270573" y="3441"/>
                  </a:lnTo>
                  <a:lnTo>
                    <a:pt x="317500" y="0"/>
                  </a:lnTo>
                  <a:lnTo>
                    <a:pt x="3871975" y="0"/>
                  </a:lnTo>
                  <a:lnTo>
                    <a:pt x="3918902" y="3441"/>
                  </a:lnTo>
                  <a:lnTo>
                    <a:pt x="3963687" y="13439"/>
                  </a:lnTo>
                  <a:lnTo>
                    <a:pt x="4005841" y="29503"/>
                  </a:lnTo>
                  <a:lnTo>
                    <a:pt x="4044874" y="51141"/>
                  </a:lnTo>
                  <a:lnTo>
                    <a:pt x="4080294" y="77865"/>
                  </a:lnTo>
                  <a:lnTo>
                    <a:pt x="4111610" y="109181"/>
                  </a:lnTo>
                  <a:lnTo>
                    <a:pt x="4138334" y="144601"/>
                  </a:lnTo>
                  <a:lnTo>
                    <a:pt x="4159972" y="183634"/>
                  </a:lnTo>
                  <a:lnTo>
                    <a:pt x="4176036" y="225788"/>
                  </a:lnTo>
                  <a:lnTo>
                    <a:pt x="4186034" y="270573"/>
                  </a:lnTo>
                  <a:lnTo>
                    <a:pt x="4189475" y="317500"/>
                  </a:lnTo>
                  <a:lnTo>
                    <a:pt x="4189475" y="1587499"/>
                  </a:lnTo>
                  <a:lnTo>
                    <a:pt x="4186034" y="1634426"/>
                  </a:lnTo>
                  <a:lnTo>
                    <a:pt x="4176036" y="1679211"/>
                  </a:lnTo>
                  <a:lnTo>
                    <a:pt x="4159972" y="1721365"/>
                  </a:lnTo>
                  <a:lnTo>
                    <a:pt x="4138334" y="1760398"/>
                  </a:lnTo>
                  <a:lnTo>
                    <a:pt x="4111610" y="1795818"/>
                  </a:lnTo>
                  <a:lnTo>
                    <a:pt x="4080294" y="1827134"/>
                  </a:lnTo>
                  <a:lnTo>
                    <a:pt x="4044874" y="1853858"/>
                  </a:lnTo>
                  <a:lnTo>
                    <a:pt x="4005841" y="1875496"/>
                  </a:lnTo>
                  <a:lnTo>
                    <a:pt x="3963687" y="1891560"/>
                  </a:lnTo>
                  <a:lnTo>
                    <a:pt x="3918902" y="1901558"/>
                  </a:lnTo>
                  <a:lnTo>
                    <a:pt x="3871975" y="1904999"/>
                  </a:lnTo>
                  <a:lnTo>
                    <a:pt x="317500" y="1904999"/>
                  </a:lnTo>
                  <a:lnTo>
                    <a:pt x="270573" y="1901558"/>
                  </a:lnTo>
                  <a:lnTo>
                    <a:pt x="225788" y="1891560"/>
                  </a:lnTo>
                  <a:lnTo>
                    <a:pt x="183634" y="1875496"/>
                  </a:lnTo>
                  <a:lnTo>
                    <a:pt x="144601" y="1853858"/>
                  </a:lnTo>
                  <a:lnTo>
                    <a:pt x="109181" y="1827134"/>
                  </a:lnTo>
                  <a:lnTo>
                    <a:pt x="77865" y="1795818"/>
                  </a:lnTo>
                  <a:lnTo>
                    <a:pt x="51141" y="1760398"/>
                  </a:lnTo>
                  <a:lnTo>
                    <a:pt x="29503" y="1721365"/>
                  </a:lnTo>
                  <a:lnTo>
                    <a:pt x="13439" y="1679211"/>
                  </a:lnTo>
                  <a:lnTo>
                    <a:pt x="3441" y="1634426"/>
                  </a:lnTo>
                  <a:lnTo>
                    <a:pt x="0" y="1587499"/>
                  </a:lnTo>
                  <a:lnTo>
                    <a:pt x="0" y="317500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03014" y="3082957"/>
            <a:ext cx="6000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26923" y="3347848"/>
            <a:ext cx="5136832" cy="349091"/>
            <a:chOff x="702563" y="3320796"/>
            <a:chExt cx="6849109" cy="465455"/>
          </a:xfrm>
        </p:grpSpPr>
        <p:sp>
          <p:nvSpPr>
            <p:cNvPr id="11" name="object 11"/>
            <p:cNvSpPr/>
            <p:nvPr/>
          </p:nvSpPr>
          <p:spPr>
            <a:xfrm>
              <a:off x="6759702" y="3473958"/>
              <a:ext cx="777240" cy="297180"/>
            </a:xfrm>
            <a:custGeom>
              <a:avLst/>
              <a:gdLst/>
              <a:ahLst/>
              <a:cxnLst/>
              <a:rect l="l" t="t" r="r" b="b"/>
              <a:pathLst>
                <a:path w="777240" h="297179">
                  <a:moveTo>
                    <a:pt x="727709" y="0"/>
                  </a:moveTo>
                  <a:lnTo>
                    <a:pt x="49529" y="0"/>
                  </a:lnTo>
                  <a:lnTo>
                    <a:pt x="30271" y="3899"/>
                  </a:lnTo>
                  <a:lnTo>
                    <a:pt x="14525" y="14525"/>
                  </a:lnTo>
                  <a:lnTo>
                    <a:pt x="3899" y="30271"/>
                  </a:lnTo>
                  <a:lnTo>
                    <a:pt x="0" y="49529"/>
                  </a:lnTo>
                  <a:lnTo>
                    <a:pt x="0" y="247649"/>
                  </a:lnTo>
                  <a:lnTo>
                    <a:pt x="3899" y="266908"/>
                  </a:lnTo>
                  <a:lnTo>
                    <a:pt x="14525" y="282654"/>
                  </a:lnTo>
                  <a:lnTo>
                    <a:pt x="30271" y="293280"/>
                  </a:lnTo>
                  <a:lnTo>
                    <a:pt x="49529" y="297179"/>
                  </a:lnTo>
                  <a:lnTo>
                    <a:pt x="727709" y="297179"/>
                  </a:lnTo>
                  <a:lnTo>
                    <a:pt x="746968" y="293280"/>
                  </a:lnTo>
                  <a:lnTo>
                    <a:pt x="762714" y="282654"/>
                  </a:lnTo>
                  <a:lnTo>
                    <a:pt x="773340" y="266908"/>
                  </a:lnTo>
                  <a:lnTo>
                    <a:pt x="777240" y="247649"/>
                  </a:lnTo>
                  <a:lnTo>
                    <a:pt x="777240" y="49529"/>
                  </a:lnTo>
                  <a:lnTo>
                    <a:pt x="773340" y="30271"/>
                  </a:lnTo>
                  <a:lnTo>
                    <a:pt x="762714" y="14525"/>
                  </a:lnTo>
                  <a:lnTo>
                    <a:pt x="746968" y="3899"/>
                  </a:lnTo>
                  <a:lnTo>
                    <a:pt x="72770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759702" y="3473958"/>
              <a:ext cx="777240" cy="297180"/>
            </a:xfrm>
            <a:custGeom>
              <a:avLst/>
              <a:gdLst/>
              <a:ahLst/>
              <a:cxnLst/>
              <a:rect l="l" t="t" r="r" b="b"/>
              <a:pathLst>
                <a:path w="777240" h="297179">
                  <a:moveTo>
                    <a:pt x="0" y="49529"/>
                  </a:moveTo>
                  <a:lnTo>
                    <a:pt x="3899" y="30271"/>
                  </a:lnTo>
                  <a:lnTo>
                    <a:pt x="14525" y="14525"/>
                  </a:lnTo>
                  <a:lnTo>
                    <a:pt x="30271" y="3899"/>
                  </a:lnTo>
                  <a:lnTo>
                    <a:pt x="49529" y="0"/>
                  </a:lnTo>
                  <a:lnTo>
                    <a:pt x="727709" y="0"/>
                  </a:lnTo>
                  <a:lnTo>
                    <a:pt x="746968" y="3899"/>
                  </a:lnTo>
                  <a:lnTo>
                    <a:pt x="762714" y="14525"/>
                  </a:lnTo>
                  <a:lnTo>
                    <a:pt x="773340" y="30271"/>
                  </a:lnTo>
                  <a:lnTo>
                    <a:pt x="777240" y="49529"/>
                  </a:lnTo>
                  <a:lnTo>
                    <a:pt x="777240" y="247649"/>
                  </a:lnTo>
                  <a:lnTo>
                    <a:pt x="773340" y="266908"/>
                  </a:lnTo>
                  <a:lnTo>
                    <a:pt x="762714" y="282654"/>
                  </a:lnTo>
                  <a:lnTo>
                    <a:pt x="746968" y="293280"/>
                  </a:lnTo>
                  <a:lnTo>
                    <a:pt x="727709" y="297179"/>
                  </a:lnTo>
                  <a:lnTo>
                    <a:pt x="49529" y="297179"/>
                  </a:lnTo>
                  <a:lnTo>
                    <a:pt x="30271" y="293280"/>
                  </a:lnTo>
                  <a:lnTo>
                    <a:pt x="14525" y="282654"/>
                  </a:lnTo>
                  <a:lnTo>
                    <a:pt x="3899" y="266908"/>
                  </a:lnTo>
                  <a:lnTo>
                    <a:pt x="0" y="247649"/>
                  </a:lnTo>
                  <a:lnTo>
                    <a:pt x="0" y="49529"/>
                  </a:lnTo>
                  <a:close/>
                </a:path>
              </a:pathLst>
            </a:custGeom>
            <a:ln w="28956">
              <a:solidFill>
                <a:srgbClr val="00A0D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" name="object 13"/>
            <p:cNvSpPr/>
            <p:nvPr/>
          </p:nvSpPr>
          <p:spPr>
            <a:xfrm>
              <a:off x="702563" y="3320796"/>
              <a:ext cx="1601724" cy="40843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19100" y="762000"/>
            <a:ext cx="4387120" cy="960038"/>
          </a:xfrm>
          <a:prstGeom prst="rect">
            <a:avLst/>
          </a:prstGeom>
        </p:spPr>
        <p:txBody>
          <a:bodyPr vert="horz" wrap="square" lIns="0" tIns="41433" rIns="0" bIns="0" rtlCol="0" anchor="ctr">
            <a:spAutoFit/>
          </a:bodyPr>
          <a:lstStyle/>
          <a:p>
            <a:pPr marL="9525">
              <a:spcBef>
                <a:spcPts val="326"/>
              </a:spcBef>
            </a:pPr>
            <a:r>
              <a:rPr dirty="0"/>
              <a:t>HBase</a:t>
            </a:r>
            <a:r>
              <a:rPr spc="-53" dirty="0"/>
              <a:t> </a:t>
            </a:r>
            <a:r>
              <a:rPr spc="-4" dirty="0"/>
              <a:t>Internals</a:t>
            </a:r>
          </a:p>
          <a:p>
            <a:pPr marL="9525">
              <a:spcBef>
                <a:spcPts val="188"/>
              </a:spcBef>
            </a:pPr>
            <a:r>
              <a:rPr sz="1800" spc="-8" dirty="0">
                <a:solidFill>
                  <a:srgbClr val="7B858D"/>
                </a:solidFill>
              </a:rPr>
              <a:t>Write </a:t>
            </a:r>
            <a:r>
              <a:rPr sz="1800" spc="-4" dirty="0">
                <a:solidFill>
                  <a:srgbClr val="7B858D"/>
                </a:solidFill>
              </a:rPr>
              <a:t>Operation</a:t>
            </a:r>
            <a:endParaRPr sz="1800" dirty="0"/>
          </a:p>
        </p:txBody>
      </p:sp>
      <p:sp>
        <p:nvSpPr>
          <p:cNvPr id="15" name="object 15"/>
          <p:cNvSpPr txBox="1"/>
          <p:nvPr/>
        </p:nvSpPr>
        <p:spPr>
          <a:xfrm>
            <a:off x="879501" y="3389529"/>
            <a:ext cx="49577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Cli</a:t>
            </a:r>
            <a:r>
              <a:rPr sz="1350" b="1" spc="-8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332997" y="2041669"/>
            <a:ext cx="1309361" cy="584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1524571" y="2196427"/>
            <a:ext cx="88630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Zookeeper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6654546" y="2183129"/>
            <a:ext cx="2057400" cy="309867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7440549" y="2206562"/>
            <a:ext cx="48529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H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D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FS</a:t>
            </a:r>
            <a:endParaRPr sz="13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96163" y="4408550"/>
            <a:ext cx="1355597" cy="100012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1" name="object 21"/>
          <p:cNvSpPr txBox="1"/>
          <p:nvPr/>
        </p:nvSpPr>
        <p:spPr>
          <a:xfrm>
            <a:off x="1385602" y="4432840"/>
            <a:ext cx="117633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Region</a:t>
            </a:r>
            <a:r>
              <a:rPr sz="1350" b="1" spc="-4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1C1C1C"/>
                </a:solidFill>
                <a:latin typeface="Arial"/>
                <a:cs typeface="Arial"/>
              </a:rPr>
              <a:t>Server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428750" y="4703444"/>
            <a:ext cx="1160145" cy="1073468"/>
            <a:chOff x="1905000" y="5128259"/>
            <a:chExt cx="1546860" cy="1431290"/>
          </a:xfrm>
        </p:grpSpPr>
        <p:sp>
          <p:nvSpPr>
            <p:cNvPr id="23" name="object 23"/>
            <p:cNvSpPr/>
            <p:nvPr/>
          </p:nvSpPr>
          <p:spPr>
            <a:xfrm>
              <a:off x="1905000" y="5708903"/>
              <a:ext cx="1546860" cy="85039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912620" y="5128259"/>
              <a:ext cx="1531620" cy="77723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5" name="object 25"/>
            <p:cNvSpPr/>
            <p:nvPr/>
          </p:nvSpPr>
          <p:spPr>
            <a:xfrm>
              <a:off x="1983485" y="5199125"/>
              <a:ext cx="1390015" cy="635635"/>
            </a:xfrm>
            <a:custGeom>
              <a:avLst/>
              <a:gdLst/>
              <a:ahLst/>
              <a:cxnLst/>
              <a:rect l="l" t="t" r="r" b="b"/>
              <a:pathLst>
                <a:path w="1390014" h="635635">
                  <a:moveTo>
                    <a:pt x="1283969" y="0"/>
                  </a:moveTo>
                  <a:lnTo>
                    <a:pt x="105918" y="0"/>
                  </a:lnTo>
                  <a:lnTo>
                    <a:pt x="64668" y="8316"/>
                  </a:lnTo>
                  <a:lnTo>
                    <a:pt x="31003" y="31003"/>
                  </a:lnTo>
                  <a:lnTo>
                    <a:pt x="8316" y="64668"/>
                  </a:lnTo>
                  <a:lnTo>
                    <a:pt x="0" y="105918"/>
                  </a:lnTo>
                  <a:lnTo>
                    <a:pt x="0" y="529590"/>
                  </a:lnTo>
                  <a:lnTo>
                    <a:pt x="8316" y="570817"/>
                  </a:lnTo>
                  <a:lnTo>
                    <a:pt x="31003" y="604485"/>
                  </a:lnTo>
                  <a:lnTo>
                    <a:pt x="64668" y="627184"/>
                  </a:lnTo>
                  <a:lnTo>
                    <a:pt x="105918" y="635508"/>
                  </a:lnTo>
                  <a:lnTo>
                    <a:pt x="1283969" y="635508"/>
                  </a:lnTo>
                  <a:lnTo>
                    <a:pt x="1325219" y="627184"/>
                  </a:lnTo>
                  <a:lnTo>
                    <a:pt x="1358884" y="604485"/>
                  </a:lnTo>
                  <a:lnTo>
                    <a:pt x="1381571" y="570817"/>
                  </a:lnTo>
                  <a:lnTo>
                    <a:pt x="1389888" y="529590"/>
                  </a:lnTo>
                  <a:lnTo>
                    <a:pt x="1389888" y="105918"/>
                  </a:lnTo>
                  <a:lnTo>
                    <a:pt x="1381571" y="64668"/>
                  </a:lnTo>
                  <a:lnTo>
                    <a:pt x="1358884" y="31003"/>
                  </a:lnTo>
                  <a:lnTo>
                    <a:pt x="1325219" y="8316"/>
                  </a:lnTo>
                  <a:lnTo>
                    <a:pt x="12839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1983485" y="5199125"/>
              <a:ext cx="1390015" cy="635635"/>
            </a:xfrm>
            <a:custGeom>
              <a:avLst/>
              <a:gdLst/>
              <a:ahLst/>
              <a:cxnLst/>
              <a:rect l="l" t="t" r="r" b="b"/>
              <a:pathLst>
                <a:path w="1390014" h="635635">
                  <a:moveTo>
                    <a:pt x="0" y="105918"/>
                  </a:moveTo>
                  <a:lnTo>
                    <a:pt x="8316" y="64668"/>
                  </a:lnTo>
                  <a:lnTo>
                    <a:pt x="31003" y="31003"/>
                  </a:lnTo>
                  <a:lnTo>
                    <a:pt x="64668" y="8316"/>
                  </a:lnTo>
                  <a:lnTo>
                    <a:pt x="105918" y="0"/>
                  </a:lnTo>
                  <a:lnTo>
                    <a:pt x="1283969" y="0"/>
                  </a:lnTo>
                  <a:lnTo>
                    <a:pt x="1325219" y="8316"/>
                  </a:lnTo>
                  <a:lnTo>
                    <a:pt x="1358884" y="31003"/>
                  </a:lnTo>
                  <a:lnTo>
                    <a:pt x="1381571" y="64668"/>
                  </a:lnTo>
                  <a:lnTo>
                    <a:pt x="1389888" y="105918"/>
                  </a:lnTo>
                  <a:lnTo>
                    <a:pt x="1389888" y="529590"/>
                  </a:lnTo>
                  <a:lnTo>
                    <a:pt x="1381571" y="570817"/>
                  </a:lnTo>
                  <a:lnTo>
                    <a:pt x="1358884" y="604485"/>
                  </a:lnTo>
                  <a:lnTo>
                    <a:pt x="1325219" y="627184"/>
                  </a:lnTo>
                  <a:lnTo>
                    <a:pt x="1283969" y="635508"/>
                  </a:lnTo>
                  <a:lnTo>
                    <a:pt x="105918" y="635508"/>
                  </a:lnTo>
                  <a:lnTo>
                    <a:pt x="64668" y="627184"/>
                  </a:lnTo>
                  <a:lnTo>
                    <a:pt x="31003" y="604485"/>
                  </a:lnTo>
                  <a:lnTo>
                    <a:pt x="8316" y="570817"/>
                  </a:lnTo>
                  <a:lnTo>
                    <a:pt x="0" y="529590"/>
                  </a:lnTo>
                  <a:lnTo>
                    <a:pt x="0" y="105918"/>
                  </a:lnTo>
                  <a:close/>
                </a:path>
              </a:pathLst>
            </a:custGeom>
            <a:ln w="10667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1707261" y="4800466"/>
            <a:ext cx="600075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8574">
              <a:spcBef>
                <a:spcPts val="75"/>
              </a:spcBef>
            </a:pPr>
            <a:r>
              <a:rPr sz="1350" b="1" spc="-23" dirty="0">
                <a:solidFill>
                  <a:srgbClr val="1C1C1C"/>
                </a:solidFill>
                <a:latin typeface="Arial"/>
                <a:cs typeface="Arial"/>
              </a:rPr>
              <a:t>.META.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4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757416" y="2528316"/>
            <a:ext cx="1852803" cy="31661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9" name="object 29"/>
          <p:cNvSpPr txBox="1"/>
          <p:nvPr/>
        </p:nvSpPr>
        <p:spPr>
          <a:xfrm>
            <a:off x="7485603" y="2571179"/>
            <a:ext cx="3957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71" dirty="0">
                <a:solidFill>
                  <a:srgbClr val="1C1C1C"/>
                </a:solidFill>
                <a:latin typeface="Arial"/>
                <a:cs typeface="Arial"/>
              </a:rPr>
              <a:t>W</a:t>
            </a:r>
            <a:r>
              <a:rPr sz="1350" b="1" spc="-45" dirty="0">
                <a:solidFill>
                  <a:srgbClr val="1C1C1C"/>
                </a:solidFill>
                <a:latin typeface="Arial"/>
                <a:cs typeface="Arial"/>
              </a:rPr>
              <a:t>A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L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058823" y="3633502"/>
            <a:ext cx="3583781" cy="731996"/>
            <a:chOff x="6745096" y="3701669"/>
            <a:chExt cx="4778375" cy="975994"/>
          </a:xfrm>
        </p:grpSpPr>
        <p:sp>
          <p:nvSpPr>
            <p:cNvPr id="31" name="object 31"/>
            <p:cNvSpPr/>
            <p:nvPr/>
          </p:nvSpPr>
          <p:spPr>
            <a:xfrm>
              <a:off x="6759701" y="3716274"/>
              <a:ext cx="4749165" cy="946785"/>
            </a:xfrm>
            <a:custGeom>
              <a:avLst/>
              <a:gdLst/>
              <a:ahLst/>
              <a:cxnLst/>
              <a:rect l="l" t="t" r="r" b="b"/>
              <a:pathLst>
                <a:path w="4749165" h="946785">
                  <a:moveTo>
                    <a:pt x="4748784" y="0"/>
                  </a:moveTo>
                  <a:lnTo>
                    <a:pt x="0" y="0"/>
                  </a:lnTo>
                  <a:lnTo>
                    <a:pt x="0" y="946403"/>
                  </a:lnTo>
                  <a:lnTo>
                    <a:pt x="4748784" y="946403"/>
                  </a:lnTo>
                  <a:lnTo>
                    <a:pt x="4748784" y="0"/>
                  </a:lnTo>
                  <a:close/>
                </a:path>
              </a:pathLst>
            </a:custGeom>
            <a:solidFill>
              <a:srgbClr val="C5EE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2" name="object 32"/>
            <p:cNvSpPr/>
            <p:nvPr/>
          </p:nvSpPr>
          <p:spPr>
            <a:xfrm>
              <a:off x="6759701" y="3716274"/>
              <a:ext cx="4749165" cy="946785"/>
            </a:xfrm>
            <a:custGeom>
              <a:avLst/>
              <a:gdLst/>
              <a:ahLst/>
              <a:cxnLst/>
              <a:rect l="l" t="t" r="r" b="b"/>
              <a:pathLst>
                <a:path w="4749165" h="946785">
                  <a:moveTo>
                    <a:pt x="0" y="946403"/>
                  </a:moveTo>
                  <a:lnTo>
                    <a:pt x="4748784" y="946403"/>
                  </a:lnTo>
                  <a:lnTo>
                    <a:pt x="4748784" y="0"/>
                  </a:lnTo>
                  <a:lnTo>
                    <a:pt x="0" y="0"/>
                  </a:lnTo>
                  <a:lnTo>
                    <a:pt x="0" y="946403"/>
                  </a:lnTo>
                  <a:close/>
                </a:path>
              </a:pathLst>
            </a:custGeom>
            <a:ln w="28956">
              <a:solidFill>
                <a:srgbClr val="00A0DF"/>
              </a:solidFill>
              <a:prstDash val="lgDash"/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3" name="object 33"/>
            <p:cNvSpPr/>
            <p:nvPr/>
          </p:nvSpPr>
          <p:spPr>
            <a:xfrm>
              <a:off x="9909047" y="3826764"/>
              <a:ext cx="766572" cy="807719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4" name="object 34"/>
            <p:cNvSpPr/>
            <p:nvPr/>
          </p:nvSpPr>
          <p:spPr>
            <a:xfrm>
              <a:off x="9913619" y="3962400"/>
              <a:ext cx="755903" cy="4800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5" name="object 35"/>
            <p:cNvSpPr/>
            <p:nvPr/>
          </p:nvSpPr>
          <p:spPr>
            <a:xfrm>
              <a:off x="9940289" y="3858006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649224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41019" y="690372"/>
                  </a:lnTo>
                  <a:lnTo>
                    <a:pt x="649224" y="582168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0481309" y="4440174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4" y="0"/>
                  </a:moveTo>
                  <a:lnTo>
                    <a:pt x="21590" y="21589"/>
                  </a:lnTo>
                  <a:lnTo>
                    <a:pt x="0" y="108203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7" name="object 37"/>
            <p:cNvSpPr/>
            <p:nvPr/>
          </p:nvSpPr>
          <p:spPr>
            <a:xfrm>
              <a:off x="9940289" y="3858006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541019" y="690372"/>
                  </a:moveTo>
                  <a:lnTo>
                    <a:pt x="562609" y="603758"/>
                  </a:lnTo>
                  <a:lnTo>
                    <a:pt x="649224" y="582168"/>
                  </a:lnTo>
                  <a:lnTo>
                    <a:pt x="541019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2168"/>
                  </a:lnTo>
                </a:path>
              </a:pathLst>
            </a:custGeom>
            <a:ln w="10667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7526084" y="3875341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8025004" y="3727323"/>
            <a:ext cx="573881" cy="605790"/>
            <a:chOff x="10700004" y="3826764"/>
            <a:chExt cx="765175" cy="807720"/>
          </a:xfrm>
        </p:grpSpPr>
        <p:sp>
          <p:nvSpPr>
            <p:cNvPr id="40" name="object 40"/>
            <p:cNvSpPr/>
            <p:nvPr/>
          </p:nvSpPr>
          <p:spPr>
            <a:xfrm>
              <a:off x="10700004" y="3826764"/>
              <a:ext cx="765048" cy="8077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1" name="object 41"/>
            <p:cNvSpPr/>
            <p:nvPr/>
          </p:nvSpPr>
          <p:spPr>
            <a:xfrm>
              <a:off x="10703052" y="3962400"/>
              <a:ext cx="755903" cy="4800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2" name="object 42"/>
            <p:cNvSpPr/>
            <p:nvPr/>
          </p:nvSpPr>
          <p:spPr>
            <a:xfrm>
              <a:off x="10731246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3" name="object 43"/>
            <p:cNvSpPr/>
            <p:nvPr/>
          </p:nvSpPr>
          <p:spPr>
            <a:xfrm>
              <a:off x="11270996" y="4440428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90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4" name="object 44"/>
            <p:cNvSpPr/>
            <p:nvPr/>
          </p:nvSpPr>
          <p:spPr>
            <a:xfrm>
              <a:off x="10731246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8119015" y="3875341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809995" y="3018662"/>
            <a:ext cx="573881" cy="604838"/>
            <a:chOff x="9079992" y="2881883"/>
            <a:chExt cx="765175" cy="806450"/>
          </a:xfrm>
        </p:grpSpPr>
        <p:sp>
          <p:nvSpPr>
            <p:cNvPr id="47" name="object 47"/>
            <p:cNvSpPr/>
            <p:nvPr/>
          </p:nvSpPr>
          <p:spPr>
            <a:xfrm>
              <a:off x="9079992" y="2881883"/>
              <a:ext cx="765048" cy="80619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8" name="object 48"/>
            <p:cNvSpPr/>
            <p:nvPr/>
          </p:nvSpPr>
          <p:spPr>
            <a:xfrm>
              <a:off x="9083040" y="3015995"/>
              <a:ext cx="755903" cy="4800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9" name="object 49"/>
            <p:cNvSpPr/>
            <p:nvPr/>
          </p:nvSpPr>
          <p:spPr>
            <a:xfrm>
              <a:off x="9111234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647700" y="0"/>
                  </a:moveTo>
                  <a:lnTo>
                    <a:pt x="0" y="0"/>
                  </a:lnTo>
                  <a:lnTo>
                    <a:pt x="0" y="688848"/>
                  </a:lnTo>
                  <a:lnTo>
                    <a:pt x="539750" y="688848"/>
                  </a:lnTo>
                  <a:lnTo>
                    <a:pt x="647700" y="58089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0" name="object 50"/>
            <p:cNvSpPr/>
            <p:nvPr/>
          </p:nvSpPr>
          <p:spPr>
            <a:xfrm>
              <a:off x="9650984" y="349402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1" name="object 51"/>
            <p:cNvSpPr/>
            <p:nvPr/>
          </p:nvSpPr>
          <p:spPr>
            <a:xfrm>
              <a:off x="9111234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539750" y="688848"/>
                  </a:moveTo>
                  <a:lnTo>
                    <a:pt x="561340" y="602488"/>
                  </a:lnTo>
                  <a:lnTo>
                    <a:pt x="647700" y="580898"/>
                  </a:lnTo>
                  <a:lnTo>
                    <a:pt x="539750" y="688848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0898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903815" y="3165729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7431785" y="3018662"/>
            <a:ext cx="575310" cy="604838"/>
            <a:chOff x="9909047" y="2881883"/>
            <a:chExt cx="767080" cy="806450"/>
          </a:xfrm>
        </p:grpSpPr>
        <p:sp>
          <p:nvSpPr>
            <p:cNvPr id="54" name="object 54"/>
            <p:cNvSpPr/>
            <p:nvPr/>
          </p:nvSpPr>
          <p:spPr>
            <a:xfrm>
              <a:off x="9909047" y="2881883"/>
              <a:ext cx="766572" cy="80619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5" name="object 55"/>
            <p:cNvSpPr/>
            <p:nvPr/>
          </p:nvSpPr>
          <p:spPr>
            <a:xfrm>
              <a:off x="9913619" y="3015995"/>
              <a:ext cx="755903" cy="480060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6" name="object 56"/>
            <p:cNvSpPr/>
            <p:nvPr/>
          </p:nvSpPr>
          <p:spPr>
            <a:xfrm>
              <a:off x="9940289" y="2913125"/>
              <a:ext cx="649605" cy="688975"/>
            </a:xfrm>
            <a:custGeom>
              <a:avLst/>
              <a:gdLst/>
              <a:ahLst/>
              <a:cxnLst/>
              <a:rect l="l" t="t" r="r" b="b"/>
              <a:pathLst>
                <a:path w="649604" h="688975">
                  <a:moveTo>
                    <a:pt x="649224" y="0"/>
                  </a:moveTo>
                  <a:lnTo>
                    <a:pt x="0" y="0"/>
                  </a:lnTo>
                  <a:lnTo>
                    <a:pt x="0" y="688848"/>
                  </a:lnTo>
                  <a:lnTo>
                    <a:pt x="541019" y="688848"/>
                  </a:lnTo>
                  <a:lnTo>
                    <a:pt x="649224" y="580644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7" name="object 57"/>
            <p:cNvSpPr/>
            <p:nvPr/>
          </p:nvSpPr>
          <p:spPr>
            <a:xfrm>
              <a:off x="10481309" y="3493769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4" y="0"/>
                  </a:moveTo>
                  <a:lnTo>
                    <a:pt x="21590" y="21589"/>
                  </a:lnTo>
                  <a:lnTo>
                    <a:pt x="0" y="108203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8" name="object 58"/>
            <p:cNvSpPr/>
            <p:nvPr/>
          </p:nvSpPr>
          <p:spPr>
            <a:xfrm>
              <a:off x="9940289" y="2913125"/>
              <a:ext cx="649605" cy="688975"/>
            </a:xfrm>
            <a:custGeom>
              <a:avLst/>
              <a:gdLst/>
              <a:ahLst/>
              <a:cxnLst/>
              <a:rect l="l" t="t" r="r" b="b"/>
              <a:pathLst>
                <a:path w="649604" h="688975">
                  <a:moveTo>
                    <a:pt x="541019" y="688848"/>
                  </a:moveTo>
                  <a:lnTo>
                    <a:pt x="562609" y="602234"/>
                  </a:lnTo>
                  <a:lnTo>
                    <a:pt x="649224" y="580644"/>
                  </a:lnTo>
                  <a:lnTo>
                    <a:pt x="541019" y="688848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0644"/>
                  </a:lnTo>
                </a:path>
              </a:pathLst>
            </a:custGeom>
            <a:ln w="10667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7526084" y="3165729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8025004" y="3018662"/>
            <a:ext cx="573881" cy="604838"/>
            <a:chOff x="10700004" y="2881883"/>
            <a:chExt cx="765175" cy="806450"/>
          </a:xfrm>
        </p:grpSpPr>
        <p:sp>
          <p:nvSpPr>
            <p:cNvPr id="61" name="object 61"/>
            <p:cNvSpPr/>
            <p:nvPr/>
          </p:nvSpPr>
          <p:spPr>
            <a:xfrm>
              <a:off x="10700004" y="2881883"/>
              <a:ext cx="765048" cy="80619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2" name="object 62"/>
            <p:cNvSpPr/>
            <p:nvPr/>
          </p:nvSpPr>
          <p:spPr>
            <a:xfrm>
              <a:off x="10703052" y="3015995"/>
              <a:ext cx="755903" cy="4800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3" name="object 63"/>
            <p:cNvSpPr/>
            <p:nvPr/>
          </p:nvSpPr>
          <p:spPr>
            <a:xfrm>
              <a:off x="10731246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647700" y="0"/>
                  </a:moveTo>
                  <a:lnTo>
                    <a:pt x="0" y="0"/>
                  </a:lnTo>
                  <a:lnTo>
                    <a:pt x="0" y="688848"/>
                  </a:lnTo>
                  <a:lnTo>
                    <a:pt x="539750" y="688848"/>
                  </a:lnTo>
                  <a:lnTo>
                    <a:pt x="647700" y="58089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4" name="object 64"/>
            <p:cNvSpPr/>
            <p:nvPr/>
          </p:nvSpPr>
          <p:spPr>
            <a:xfrm>
              <a:off x="11270996" y="349402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5" name="object 65"/>
            <p:cNvSpPr/>
            <p:nvPr/>
          </p:nvSpPr>
          <p:spPr>
            <a:xfrm>
              <a:off x="10731246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539750" y="688848"/>
                  </a:moveTo>
                  <a:lnTo>
                    <a:pt x="561339" y="602488"/>
                  </a:lnTo>
                  <a:lnTo>
                    <a:pt x="647700" y="580898"/>
                  </a:lnTo>
                  <a:lnTo>
                    <a:pt x="539750" y="688848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0898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8119015" y="3165729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5170932" y="3881628"/>
            <a:ext cx="867537" cy="32689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8" name="object 68"/>
          <p:cNvSpPr txBox="1"/>
          <p:nvPr/>
        </p:nvSpPr>
        <p:spPr>
          <a:xfrm>
            <a:off x="5279612" y="3925825"/>
            <a:ext cx="65151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11" dirty="0">
                <a:solidFill>
                  <a:srgbClr val="1C1C1C"/>
                </a:solidFill>
                <a:latin typeface="Arial"/>
                <a:cs typeface="Arial"/>
              </a:rPr>
              <a:t>M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emst</a:t>
            </a: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or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6809995" y="3727323"/>
            <a:ext cx="573881" cy="605790"/>
            <a:chOff x="9079992" y="3826764"/>
            <a:chExt cx="765175" cy="807720"/>
          </a:xfrm>
        </p:grpSpPr>
        <p:sp>
          <p:nvSpPr>
            <p:cNvPr id="70" name="object 70"/>
            <p:cNvSpPr/>
            <p:nvPr/>
          </p:nvSpPr>
          <p:spPr>
            <a:xfrm>
              <a:off x="9079992" y="3826764"/>
              <a:ext cx="765048" cy="8077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1" name="object 71"/>
            <p:cNvSpPr/>
            <p:nvPr/>
          </p:nvSpPr>
          <p:spPr>
            <a:xfrm>
              <a:off x="9083040" y="3962400"/>
              <a:ext cx="755903" cy="48006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2" name="object 72"/>
            <p:cNvSpPr/>
            <p:nvPr/>
          </p:nvSpPr>
          <p:spPr>
            <a:xfrm>
              <a:off x="9111234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3" name="object 73"/>
            <p:cNvSpPr/>
            <p:nvPr/>
          </p:nvSpPr>
          <p:spPr>
            <a:xfrm>
              <a:off x="9650984" y="4440428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90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4" name="object 74"/>
            <p:cNvSpPr/>
            <p:nvPr/>
          </p:nvSpPr>
          <p:spPr>
            <a:xfrm>
              <a:off x="9111234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5" name="object 75"/>
          <p:cNvSpPr txBox="1"/>
          <p:nvPr/>
        </p:nvSpPr>
        <p:spPr>
          <a:xfrm>
            <a:off x="6903815" y="3875341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6" name="object 76"/>
          <p:cNvGrpSpPr/>
          <p:nvPr/>
        </p:nvGrpSpPr>
        <p:grpSpPr>
          <a:xfrm>
            <a:off x="980693" y="2420874"/>
            <a:ext cx="6050280" cy="2178844"/>
            <a:chOff x="1307591" y="2084832"/>
            <a:chExt cx="8067040" cy="2905125"/>
          </a:xfrm>
        </p:grpSpPr>
        <p:sp>
          <p:nvSpPr>
            <p:cNvPr id="77" name="object 77"/>
            <p:cNvSpPr/>
            <p:nvPr/>
          </p:nvSpPr>
          <p:spPr>
            <a:xfrm>
              <a:off x="1307591" y="2084832"/>
              <a:ext cx="1565148" cy="149504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8" name="object 78"/>
            <p:cNvSpPr/>
            <p:nvPr/>
          </p:nvSpPr>
          <p:spPr>
            <a:xfrm>
              <a:off x="1503298" y="2280666"/>
              <a:ext cx="1120140" cy="1049655"/>
            </a:xfrm>
            <a:custGeom>
              <a:avLst/>
              <a:gdLst/>
              <a:ahLst/>
              <a:cxnLst/>
              <a:rect l="l" t="t" r="r" b="b"/>
              <a:pathLst>
                <a:path w="1120139" h="1049654">
                  <a:moveTo>
                    <a:pt x="63353" y="878020"/>
                  </a:moveTo>
                  <a:lnTo>
                    <a:pt x="56387" y="880221"/>
                  </a:lnTo>
                  <a:lnTo>
                    <a:pt x="50756" y="884874"/>
                  </a:lnTo>
                  <a:lnTo>
                    <a:pt x="47243" y="891539"/>
                  </a:lnTo>
                  <a:lnTo>
                    <a:pt x="0" y="1049655"/>
                  </a:lnTo>
                  <a:lnTo>
                    <a:pt x="52156" y="1037717"/>
                  </a:lnTo>
                  <a:lnTo>
                    <a:pt x="40639" y="1037717"/>
                  </a:lnTo>
                  <a:lnTo>
                    <a:pt x="14604" y="1009904"/>
                  </a:lnTo>
                  <a:lnTo>
                    <a:pt x="65992" y="961740"/>
                  </a:lnTo>
                  <a:lnTo>
                    <a:pt x="83692" y="902462"/>
                  </a:lnTo>
                  <a:lnTo>
                    <a:pt x="84403" y="894893"/>
                  </a:lnTo>
                  <a:lnTo>
                    <a:pt x="82232" y="887920"/>
                  </a:lnTo>
                  <a:lnTo>
                    <a:pt x="77585" y="882280"/>
                  </a:lnTo>
                  <a:lnTo>
                    <a:pt x="70865" y="878713"/>
                  </a:lnTo>
                  <a:lnTo>
                    <a:pt x="63353" y="878020"/>
                  </a:lnTo>
                  <a:close/>
                </a:path>
                <a:path w="1120139" h="1049654">
                  <a:moveTo>
                    <a:pt x="65992" y="961740"/>
                  </a:moveTo>
                  <a:lnTo>
                    <a:pt x="14604" y="1009904"/>
                  </a:lnTo>
                  <a:lnTo>
                    <a:pt x="40639" y="1037717"/>
                  </a:lnTo>
                  <a:lnTo>
                    <a:pt x="49719" y="1029208"/>
                  </a:lnTo>
                  <a:lnTo>
                    <a:pt x="45846" y="1029208"/>
                  </a:lnTo>
                  <a:lnTo>
                    <a:pt x="23367" y="1005205"/>
                  </a:lnTo>
                  <a:lnTo>
                    <a:pt x="55183" y="997940"/>
                  </a:lnTo>
                  <a:lnTo>
                    <a:pt x="65992" y="961740"/>
                  </a:lnTo>
                  <a:close/>
                </a:path>
                <a:path w="1120139" h="1049654">
                  <a:moveTo>
                    <a:pt x="159972" y="975518"/>
                  </a:moveTo>
                  <a:lnTo>
                    <a:pt x="152400" y="975741"/>
                  </a:lnTo>
                  <a:lnTo>
                    <a:pt x="92073" y="989516"/>
                  </a:lnTo>
                  <a:lnTo>
                    <a:pt x="40639" y="1037717"/>
                  </a:lnTo>
                  <a:lnTo>
                    <a:pt x="52156" y="1037717"/>
                  </a:lnTo>
                  <a:lnTo>
                    <a:pt x="160908" y="1012825"/>
                  </a:lnTo>
                  <a:lnTo>
                    <a:pt x="167812" y="1009737"/>
                  </a:lnTo>
                  <a:lnTo>
                    <a:pt x="172799" y="1004411"/>
                  </a:lnTo>
                  <a:lnTo>
                    <a:pt x="175428" y="997608"/>
                  </a:lnTo>
                  <a:lnTo>
                    <a:pt x="175259" y="990092"/>
                  </a:lnTo>
                  <a:lnTo>
                    <a:pt x="172116" y="983170"/>
                  </a:lnTo>
                  <a:lnTo>
                    <a:pt x="166782" y="978154"/>
                  </a:lnTo>
                  <a:lnTo>
                    <a:pt x="159972" y="975518"/>
                  </a:lnTo>
                  <a:close/>
                </a:path>
                <a:path w="1120139" h="1049654">
                  <a:moveTo>
                    <a:pt x="55183" y="997940"/>
                  </a:moveTo>
                  <a:lnTo>
                    <a:pt x="23367" y="1005205"/>
                  </a:lnTo>
                  <a:lnTo>
                    <a:pt x="45846" y="1029208"/>
                  </a:lnTo>
                  <a:lnTo>
                    <a:pt x="55183" y="997940"/>
                  </a:lnTo>
                  <a:close/>
                </a:path>
                <a:path w="1120139" h="1049654">
                  <a:moveTo>
                    <a:pt x="92073" y="989516"/>
                  </a:moveTo>
                  <a:lnTo>
                    <a:pt x="55183" y="997940"/>
                  </a:lnTo>
                  <a:lnTo>
                    <a:pt x="45846" y="1029208"/>
                  </a:lnTo>
                  <a:lnTo>
                    <a:pt x="49719" y="1029208"/>
                  </a:lnTo>
                  <a:lnTo>
                    <a:pt x="92073" y="989516"/>
                  </a:lnTo>
                  <a:close/>
                </a:path>
                <a:path w="1120139" h="1049654">
                  <a:moveTo>
                    <a:pt x="1064853" y="51642"/>
                  </a:moveTo>
                  <a:lnTo>
                    <a:pt x="1027990" y="60096"/>
                  </a:lnTo>
                  <a:lnTo>
                    <a:pt x="65992" y="961740"/>
                  </a:lnTo>
                  <a:lnTo>
                    <a:pt x="55183" y="997940"/>
                  </a:lnTo>
                  <a:lnTo>
                    <a:pt x="92073" y="989516"/>
                  </a:lnTo>
                  <a:lnTo>
                    <a:pt x="1054042" y="88006"/>
                  </a:lnTo>
                  <a:lnTo>
                    <a:pt x="1064853" y="51642"/>
                  </a:lnTo>
                  <a:close/>
                </a:path>
                <a:path w="1120139" h="1049654">
                  <a:moveTo>
                    <a:pt x="1116452" y="11937"/>
                  </a:moveTo>
                  <a:lnTo>
                    <a:pt x="1079373" y="11937"/>
                  </a:lnTo>
                  <a:lnTo>
                    <a:pt x="1105534" y="39750"/>
                  </a:lnTo>
                  <a:lnTo>
                    <a:pt x="1054042" y="88006"/>
                  </a:lnTo>
                  <a:lnTo>
                    <a:pt x="1036446" y="147193"/>
                  </a:lnTo>
                  <a:lnTo>
                    <a:pt x="1035736" y="154705"/>
                  </a:lnTo>
                  <a:lnTo>
                    <a:pt x="1037907" y="161671"/>
                  </a:lnTo>
                  <a:lnTo>
                    <a:pt x="1042554" y="167302"/>
                  </a:lnTo>
                  <a:lnTo>
                    <a:pt x="1049274" y="170814"/>
                  </a:lnTo>
                  <a:lnTo>
                    <a:pt x="1056768" y="171525"/>
                  </a:lnTo>
                  <a:lnTo>
                    <a:pt x="1063704" y="169354"/>
                  </a:lnTo>
                  <a:lnTo>
                    <a:pt x="1069330" y="164707"/>
                  </a:lnTo>
                  <a:lnTo>
                    <a:pt x="1072895" y="157987"/>
                  </a:lnTo>
                  <a:lnTo>
                    <a:pt x="1116452" y="11937"/>
                  </a:lnTo>
                  <a:close/>
                </a:path>
                <a:path w="1120139" h="1049654">
                  <a:moveTo>
                    <a:pt x="1087257" y="20320"/>
                  </a:moveTo>
                  <a:lnTo>
                    <a:pt x="1074165" y="20320"/>
                  </a:lnTo>
                  <a:lnTo>
                    <a:pt x="1096771" y="44323"/>
                  </a:lnTo>
                  <a:lnTo>
                    <a:pt x="1064853" y="51642"/>
                  </a:lnTo>
                  <a:lnTo>
                    <a:pt x="1054042" y="88006"/>
                  </a:lnTo>
                  <a:lnTo>
                    <a:pt x="1105534" y="39750"/>
                  </a:lnTo>
                  <a:lnTo>
                    <a:pt x="1087257" y="20320"/>
                  </a:lnTo>
                  <a:close/>
                </a:path>
                <a:path w="1120139" h="1049654">
                  <a:moveTo>
                    <a:pt x="1120013" y="0"/>
                  </a:moveTo>
                  <a:lnTo>
                    <a:pt x="959231" y="36703"/>
                  </a:lnTo>
                  <a:lnTo>
                    <a:pt x="952327" y="39846"/>
                  </a:lnTo>
                  <a:lnTo>
                    <a:pt x="947340" y="45180"/>
                  </a:lnTo>
                  <a:lnTo>
                    <a:pt x="944711" y="51990"/>
                  </a:lnTo>
                  <a:lnTo>
                    <a:pt x="944880" y="59562"/>
                  </a:lnTo>
                  <a:lnTo>
                    <a:pt x="948023" y="66466"/>
                  </a:lnTo>
                  <a:lnTo>
                    <a:pt x="953357" y="71453"/>
                  </a:lnTo>
                  <a:lnTo>
                    <a:pt x="960167" y="74082"/>
                  </a:lnTo>
                  <a:lnTo>
                    <a:pt x="967739" y="73913"/>
                  </a:lnTo>
                  <a:lnTo>
                    <a:pt x="1027990" y="60096"/>
                  </a:lnTo>
                  <a:lnTo>
                    <a:pt x="1079373" y="11937"/>
                  </a:lnTo>
                  <a:lnTo>
                    <a:pt x="1116452" y="11937"/>
                  </a:lnTo>
                  <a:lnTo>
                    <a:pt x="1120013" y="0"/>
                  </a:lnTo>
                  <a:close/>
                </a:path>
                <a:path w="1120139" h="1049654">
                  <a:moveTo>
                    <a:pt x="1079373" y="11937"/>
                  </a:moveTo>
                  <a:lnTo>
                    <a:pt x="1027990" y="60096"/>
                  </a:lnTo>
                  <a:lnTo>
                    <a:pt x="1064853" y="51642"/>
                  </a:lnTo>
                  <a:lnTo>
                    <a:pt x="1074165" y="20320"/>
                  </a:lnTo>
                  <a:lnTo>
                    <a:pt x="1087257" y="20320"/>
                  </a:lnTo>
                  <a:lnTo>
                    <a:pt x="1079373" y="11937"/>
                  </a:lnTo>
                  <a:close/>
                </a:path>
                <a:path w="1120139" h="1049654">
                  <a:moveTo>
                    <a:pt x="1074165" y="20320"/>
                  </a:moveTo>
                  <a:lnTo>
                    <a:pt x="1064853" y="51642"/>
                  </a:lnTo>
                  <a:lnTo>
                    <a:pt x="1096771" y="44323"/>
                  </a:lnTo>
                  <a:lnTo>
                    <a:pt x="1074165" y="2032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9" name="object 79"/>
            <p:cNvSpPr/>
            <p:nvPr/>
          </p:nvSpPr>
          <p:spPr>
            <a:xfrm>
              <a:off x="1307591" y="3523488"/>
              <a:ext cx="1574292" cy="1466088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0" name="object 80"/>
            <p:cNvSpPr/>
            <p:nvPr/>
          </p:nvSpPr>
          <p:spPr>
            <a:xfrm>
              <a:off x="1503298" y="3719322"/>
              <a:ext cx="1129665" cy="1021080"/>
            </a:xfrm>
            <a:custGeom>
              <a:avLst/>
              <a:gdLst/>
              <a:ahLst/>
              <a:cxnLst/>
              <a:rect l="l" t="t" r="r" b="b"/>
              <a:pathLst>
                <a:path w="1129664" h="1021079">
                  <a:moveTo>
                    <a:pt x="967918" y="949396"/>
                  </a:moveTo>
                  <a:lnTo>
                    <a:pt x="961136" y="952150"/>
                  </a:lnTo>
                  <a:lnTo>
                    <a:pt x="955877" y="957238"/>
                  </a:lnTo>
                  <a:lnTo>
                    <a:pt x="952881" y="964183"/>
                  </a:lnTo>
                  <a:lnTo>
                    <a:pt x="952825" y="971752"/>
                  </a:lnTo>
                  <a:lnTo>
                    <a:pt x="955579" y="978534"/>
                  </a:lnTo>
                  <a:lnTo>
                    <a:pt x="960667" y="983793"/>
                  </a:lnTo>
                  <a:lnTo>
                    <a:pt x="967613" y="986789"/>
                  </a:lnTo>
                  <a:lnTo>
                    <a:pt x="1129157" y="1020698"/>
                  </a:lnTo>
                  <a:lnTo>
                    <a:pt x="1125562" y="1009395"/>
                  </a:lnTo>
                  <a:lnTo>
                    <a:pt x="1088263" y="1009395"/>
                  </a:lnTo>
                  <a:lnTo>
                    <a:pt x="1036005" y="962149"/>
                  </a:lnTo>
                  <a:lnTo>
                    <a:pt x="975487" y="949451"/>
                  </a:lnTo>
                  <a:lnTo>
                    <a:pt x="967918" y="949396"/>
                  </a:lnTo>
                  <a:close/>
                </a:path>
                <a:path w="1129664" h="1021079">
                  <a:moveTo>
                    <a:pt x="1036005" y="962149"/>
                  </a:moveTo>
                  <a:lnTo>
                    <a:pt x="1088263" y="1009395"/>
                  </a:lnTo>
                  <a:lnTo>
                    <a:pt x="1095889" y="1001013"/>
                  </a:lnTo>
                  <a:lnTo>
                    <a:pt x="1082928" y="1001013"/>
                  </a:lnTo>
                  <a:lnTo>
                    <a:pt x="1073033" y="969917"/>
                  </a:lnTo>
                  <a:lnTo>
                    <a:pt x="1036005" y="962149"/>
                  </a:lnTo>
                  <a:close/>
                </a:path>
                <a:path w="1129664" h="1021079">
                  <a:moveTo>
                    <a:pt x="1062759" y="850219"/>
                  </a:moveTo>
                  <a:lnTo>
                    <a:pt x="1055243" y="851026"/>
                  </a:lnTo>
                  <a:lnTo>
                    <a:pt x="1048619" y="854686"/>
                  </a:lnTo>
                  <a:lnTo>
                    <a:pt x="1044067" y="860393"/>
                  </a:lnTo>
                  <a:lnTo>
                    <a:pt x="1041991" y="867386"/>
                  </a:lnTo>
                  <a:lnTo>
                    <a:pt x="1042796" y="874902"/>
                  </a:lnTo>
                  <a:lnTo>
                    <a:pt x="1061562" y="933873"/>
                  </a:lnTo>
                  <a:lnTo>
                    <a:pt x="1113917" y="981201"/>
                  </a:lnTo>
                  <a:lnTo>
                    <a:pt x="1088263" y="1009395"/>
                  </a:lnTo>
                  <a:lnTo>
                    <a:pt x="1125562" y="1009395"/>
                  </a:lnTo>
                  <a:lnTo>
                    <a:pt x="1079119" y="863345"/>
                  </a:lnTo>
                  <a:lnTo>
                    <a:pt x="1075459" y="856795"/>
                  </a:lnTo>
                  <a:lnTo>
                    <a:pt x="1069752" y="852281"/>
                  </a:lnTo>
                  <a:lnTo>
                    <a:pt x="1062759" y="850219"/>
                  </a:lnTo>
                  <a:close/>
                </a:path>
                <a:path w="1129664" h="1021079">
                  <a:moveTo>
                    <a:pt x="1073033" y="969917"/>
                  </a:moveTo>
                  <a:lnTo>
                    <a:pt x="1082928" y="1001013"/>
                  </a:lnTo>
                  <a:lnTo>
                    <a:pt x="1105027" y="976629"/>
                  </a:lnTo>
                  <a:lnTo>
                    <a:pt x="1073033" y="969917"/>
                  </a:lnTo>
                  <a:close/>
                </a:path>
                <a:path w="1129664" h="1021079">
                  <a:moveTo>
                    <a:pt x="1061562" y="933873"/>
                  </a:moveTo>
                  <a:lnTo>
                    <a:pt x="1073033" y="969917"/>
                  </a:lnTo>
                  <a:lnTo>
                    <a:pt x="1105027" y="976629"/>
                  </a:lnTo>
                  <a:lnTo>
                    <a:pt x="1082928" y="1001013"/>
                  </a:lnTo>
                  <a:lnTo>
                    <a:pt x="1095889" y="1001013"/>
                  </a:lnTo>
                  <a:lnTo>
                    <a:pt x="1113917" y="981201"/>
                  </a:lnTo>
                  <a:lnTo>
                    <a:pt x="1061562" y="933873"/>
                  </a:lnTo>
                  <a:close/>
                </a:path>
                <a:path w="1129664" h="1021079">
                  <a:moveTo>
                    <a:pt x="56123" y="50654"/>
                  </a:moveTo>
                  <a:lnTo>
                    <a:pt x="67545" y="86545"/>
                  </a:lnTo>
                  <a:lnTo>
                    <a:pt x="1036005" y="962149"/>
                  </a:lnTo>
                  <a:lnTo>
                    <a:pt x="1073033" y="969917"/>
                  </a:lnTo>
                  <a:lnTo>
                    <a:pt x="1061562" y="933873"/>
                  </a:lnTo>
                  <a:lnTo>
                    <a:pt x="93159" y="58424"/>
                  </a:lnTo>
                  <a:lnTo>
                    <a:pt x="56123" y="50654"/>
                  </a:lnTo>
                  <a:close/>
                </a:path>
                <a:path w="1129664" h="1021079">
                  <a:moveTo>
                    <a:pt x="0" y="0"/>
                  </a:moveTo>
                  <a:lnTo>
                    <a:pt x="50037" y="157225"/>
                  </a:lnTo>
                  <a:lnTo>
                    <a:pt x="53697" y="163830"/>
                  </a:lnTo>
                  <a:lnTo>
                    <a:pt x="59404" y="168338"/>
                  </a:lnTo>
                  <a:lnTo>
                    <a:pt x="66397" y="170370"/>
                  </a:lnTo>
                  <a:lnTo>
                    <a:pt x="73913" y="169544"/>
                  </a:lnTo>
                  <a:lnTo>
                    <a:pt x="80537" y="165885"/>
                  </a:lnTo>
                  <a:lnTo>
                    <a:pt x="85090" y="160178"/>
                  </a:lnTo>
                  <a:lnTo>
                    <a:pt x="87165" y="153185"/>
                  </a:lnTo>
                  <a:lnTo>
                    <a:pt x="86359" y="145669"/>
                  </a:lnTo>
                  <a:lnTo>
                    <a:pt x="67545" y="86545"/>
                  </a:lnTo>
                  <a:lnTo>
                    <a:pt x="15366" y="39369"/>
                  </a:lnTo>
                  <a:lnTo>
                    <a:pt x="40893" y="11175"/>
                  </a:lnTo>
                  <a:lnTo>
                    <a:pt x="53443" y="11175"/>
                  </a:lnTo>
                  <a:lnTo>
                    <a:pt x="0" y="0"/>
                  </a:lnTo>
                  <a:close/>
                </a:path>
                <a:path w="1129664" h="1021079">
                  <a:moveTo>
                    <a:pt x="40893" y="11175"/>
                  </a:moveTo>
                  <a:lnTo>
                    <a:pt x="15366" y="39369"/>
                  </a:lnTo>
                  <a:lnTo>
                    <a:pt x="67545" y="86545"/>
                  </a:lnTo>
                  <a:lnTo>
                    <a:pt x="56123" y="50654"/>
                  </a:lnTo>
                  <a:lnTo>
                    <a:pt x="24129" y="43941"/>
                  </a:lnTo>
                  <a:lnTo>
                    <a:pt x="46228" y="19557"/>
                  </a:lnTo>
                  <a:lnTo>
                    <a:pt x="50165" y="19557"/>
                  </a:lnTo>
                  <a:lnTo>
                    <a:pt x="40893" y="11175"/>
                  </a:lnTo>
                  <a:close/>
                </a:path>
                <a:path w="1129664" h="1021079">
                  <a:moveTo>
                    <a:pt x="53443" y="11175"/>
                  </a:moveTo>
                  <a:lnTo>
                    <a:pt x="40893" y="11175"/>
                  </a:lnTo>
                  <a:lnTo>
                    <a:pt x="93159" y="58424"/>
                  </a:lnTo>
                  <a:lnTo>
                    <a:pt x="153669" y="71119"/>
                  </a:lnTo>
                  <a:lnTo>
                    <a:pt x="161238" y="71175"/>
                  </a:lnTo>
                  <a:lnTo>
                    <a:pt x="168020" y="68421"/>
                  </a:lnTo>
                  <a:lnTo>
                    <a:pt x="173279" y="63333"/>
                  </a:lnTo>
                  <a:lnTo>
                    <a:pt x="176275" y="56387"/>
                  </a:lnTo>
                  <a:lnTo>
                    <a:pt x="176331" y="48819"/>
                  </a:lnTo>
                  <a:lnTo>
                    <a:pt x="173577" y="42037"/>
                  </a:lnTo>
                  <a:lnTo>
                    <a:pt x="168489" y="36778"/>
                  </a:lnTo>
                  <a:lnTo>
                    <a:pt x="161544" y="33781"/>
                  </a:lnTo>
                  <a:lnTo>
                    <a:pt x="53443" y="11175"/>
                  </a:lnTo>
                  <a:close/>
                </a:path>
                <a:path w="1129664" h="1021079">
                  <a:moveTo>
                    <a:pt x="50165" y="19557"/>
                  </a:moveTo>
                  <a:lnTo>
                    <a:pt x="46228" y="19557"/>
                  </a:lnTo>
                  <a:lnTo>
                    <a:pt x="56123" y="50654"/>
                  </a:lnTo>
                  <a:lnTo>
                    <a:pt x="93159" y="58424"/>
                  </a:lnTo>
                  <a:lnTo>
                    <a:pt x="50165" y="19557"/>
                  </a:lnTo>
                  <a:close/>
                </a:path>
                <a:path w="1129664" h="1021079">
                  <a:moveTo>
                    <a:pt x="46228" y="19557"/>
                  </a:moveTo>
                  <a:lnTo>
                    <a:pt x="24129" y="43941"/>
                  </a:lnTo>
                  <a:lnTo>
                    <a:pt x="56123" y="50654"/>
                  </a:lnTo>
                  <a:lnTo>
                    <a:pt x="46228" y="19557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1" name="object 81"/>
            <p:cNvSpPr/>
            <p:nvPr/>
          </p:nvSpPr>
          <p:spPr>
            <a:xfrm>
              <a:off x="2267711" y="3329940"/>
              <a:ext cx="1778508" cy="446531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2" name="object 82"/>
            <p:cNvSpPr/>
            <p:nvPr/>
          </p:nvSpPr>
          <p:spPr>
            <a:xfrm>
              <a:off x="2294381" y="3440195"/>
              <a:ext cx="1501775" cy="171450"/>
            </a:xfrm>
            <a:custGeom>
              <a:avLst/>
              <a:gdLst/>
              <a:ahLst/>
              <a:cxnLst/>
              <a:rect l="l" t="t" r="r" b="b"/>
              <a:pathLst>
                <a:path w="1501775" h="171450">
                  <a:moveTo>
                    <a:pt x="1425847" y="85578"/>
                  </a:moveTo>
                  <a:lnTo>
                    <a:pt x="1339850" y="135743"/>
                  </a:lnTo>
                  <a:lnTo>
                    <a:pt x="1334170" y="140795"/>
                  </a:lnTo>
                  <a:lnTo>
                    <a:pt x="1330991" y="147395"/>
                  </a:lnTo>
                  <a:lnTo>
                    <a:pt x="1330527" y="154709"/>
                  </a:lnTo>
                  <a:lnTo>
                    <a:pt x="1332992" y="161905"/>
                  </a:lnTo>
                  <a:lnTo>
                    <a:pt x="1337970" y="167513"/>
                  </a:lnTo>
                  <a:lnTo>
                    <a:pt x="1344533" y="170668"/>
                  </a:lnTo>
                  <a:lnTo>
                    <a:pt x="1351833" y="171156"/>
                  </a:lnTo>
                  <a:lnTo>
                    <a:pt x="1359027" y="168763"/>
                  </a:lnTo>
                  <a:lnTo>
                    <a:pt x="1468888" y="104628"/>
                  </a:lnTo>
                  <a:lnTo>
                    <a:pt x="1463675" y="104628"/>
                  </a:lnTo>
                  <a:lnTo>
                    <a:pt x="1463675" y="102088"/>
                  </a:lnTo>
                  <a:lnTo>
                    <a:pt x="1454150" y="102088"/>
                  </a:lnTo>
                  <a:lnTo>
                    <a:pt x="1425847" y="85578"/>
                  </a:lnTo>
                  <a:close/>
                </a:path>
                <a:path w="1501775" h="171450">
                  <a:moveTo>
                    <a:pt x="1393190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1393190" y="104628"/>
                  </a:lnTo>
                  <a:lnTo>
                    <a:pt x="1425847" y="85578"/>
                  </a:lnTo>
                  <a:lnTo>
                    <a:pt x="1393190" y="66528"/>
                  </a:lnTo>
                  <a:close/>
                </a:path>
                <a:path w="1501775" h="171450">
                  <a:moveTo>
                    <a:pt x="1468888" y="66528"/>
                  </a:moveTo>
                  <a:lnTo>
                    <a:pt x="1463675" y="66528"/>
                  </a:lnTo>
                  <a:lnTo>
                    <a:pt x="1463675" y="104628"/>
                  </a:lnTo>
                  <a:lnTo>
                    <a:pt x="1468888" y="104628"/>
                  </a:lnTo>
                  <a:lnTo>
                    <a:pt x="1501520" y="85578"/>
                  </a:lnTo>
                  <a:lnTo>
                    <a:pt x="1468888" y="66528"/>
                  </a:lnTo>
                  <a:close/>
                </a:path>
                <a:path w="1501775" h="171450">
                  <a:moveTo>
                    <a:pt x="1454150" y="69068"/>
                  </a:moveTo>
                  <a:lnTo>
                    <a:pt x="1425847" y="85578"/>
                  </a:lnTo>
                  <a:lnTo>
                    <a:pt x="1454150" y="102088"/>
                  </a:lnTo>
                  <a:lnTo>
                    <a:pt x="1454150" y="69068"/>
                  </a:lnTo>
                  <a:close/>
                </a:path>
                <a:path w="1501775" h="171450">
                  <a:moveTo>
                    <a:pt x="1463675" y="69068"/>
                  </a:moveTo>
                  <a:lnTo>
                    <a:pt x="1454150" y="69068"/>
                  </a:lnTo>
                  <a:lnTo>
                    <a:pt x="1454150" y="102088"/>
                  </a:lnTo>
                  <a:lnTo>
                    <a:pt x="1463675" y="102088"/>
                  </a:lnTo>
                  <a:lnTo>
                    <a:pt x="1463675" y="69068"/>
                  </a:lnTo>
                  <a:close/>
                </a:path>
                <a:path w="1501775" h="171450">
                  <a:moveTo>
                    <a:pt x="1351833" y="0"/>
                  </a:moveTo>
                  <a:lnTo>
                    <a:pt x="1344533" y="488"/>
                  </a:lnTo>
                  <a:lnTo>
                    <a:pt x="1337970" y="3643"/>
                  </a:lnTo>
                  <a:lnTo>
                    <a:pt x="1332992" y="9251"/>
                  </a:lnTo>
                  <a:lnTo>
                    <a:pt x="1330527" y="16446"/>
                  </a:lnTo>
                  <a:lnTo>
                    <a:pt x="1330991" y="23760"/>
                  </a:lnTo>
                  <a:lnTo>
                    <a:pt x="1334170" y="30360"/>
                  </a:lnTo>
                  <a:lnTo>
                    <a:pt x="1339850" y="35413"/>
                  </a:lnTo>
                  <a:lnTo>
                    <a:pt x="1425847" y="85578"/>
                  </a:lnTo>
                  <a:lnTo>
                    <a:pt x="1454150" y="69068"/>
                  </a:lnTo>
                  <a:lnTo>
                    <a:pt x="1463675" y="69068"/>
                  </a:lnTo>
                  <a:lnTo>
                    <a:pt x="1463675" y="66528"/>
                  </a:lnTo>
                  <a:lnTo>
                    <a:pt x="1468888" y="66528"/>
                  </a:lnTo>
                  <a:lnTo>
                    <a:pt x="1359027" y="2393"/>
                  </a:lnTo>
                  <a:lnTo>
                    <a:pt x="1351833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3" name="object 83"/>
            <p:cNvSpPr/>
            <p:nvPr/>
          </p:nvSpPr>
          <p:spPr>
            <a:xfrm>
              <a:off x="3768852" y="2243328"/>
              <a:ext cx="5501640" cy="44653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4" name="object 84"/>
            <p:cNvSpPr/>
            <p:nvPr/>
          </p:nvSpPr>
          <p:spPr>
            <a:xfrm>
              <a:off x="3795521" y="2353583"/>
              <a:ext cx="5225415" cy="171450"/>
            </a:xfrm>
            <a:custGeom>
              <a:avLst/>
              <a:gdLst/>
              <a:ahLst/>
              <a:cxnLst/>
              <a:rect l="l" t="t" r="r" b="b"/>
              <a:pathLst>
                <a:path w="5225415" h="171450">
                  <a:moveTo>
                    <a:pt x="5149233" y="85578"/>
                  </a:moveTo>
                  <a:lnTo>
                    <a:pt x="5063235" y="135743"/>
                  </a:lnTo>
                  <a:lnTo>
                    <a:pt x="5057556" y="140795"/>
                  </a:lnTo>
                  <a:lnTo>
                    <a:pt x="5054377" y="147395"/>
                  </a:lnTo>
                  <a:lnTo>
                    <a:pt x="5053913" y="154709"/>
                  </a:lnTo>
                  <a:lnTo>
                    <a:pt x="5056378" y="161905"/>
                  </a:lnTo>
                  <a:lnTo>
                    <a:pt x="5061356" y="167512"/>
                  </a:lnTo>
                  <a:lnTo>
                    <a:pt x="5067919" y="170668"/>
                  </a:lnTo>
                  <a:lnTo>
                    <a:pt x="5075219" y="171156"/>
                  </a:lnTo>
                  <a:lnTo>
                    <a:pt x="5082412" y="168763"/>
                  </a:lnTo>
                  <a:lnTo>
                    <a:pt x="5192274" y="104628"/>
                  </a:lnTo>
                  <a:lnTo>
                    <a:pt x="5187060" y="104628"/>
                  </a:lnTo>
                  <a:lnTo>
                    <a:pt x="5187060" y="102088"/>
                  </a:lnTo>
                  <a:lnTo>
                    <a:pt x="5177535" y="102088"/>
                  </a:lnTo>
                  <a:lnTo>
                    <a:pt x="5149233" y="85578"/>
                  </a:lnTo>
                  <a:close/>
                </a:path>
                <a:path w="5225415" h="171450">
                  <a:moveTo>
                    <a:pt x="5116575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5116575" y="104628"/>
                  </a:lnTo>
                  <a:lnTo>
                    <a:pt x="5149233" y="85578"/>
                  </a:lnTo>
                  <a:lnTo>
                    <a:pt x="5116575" y="66528"/>
                  </a:lnTo>
                  <a:close/>
                </a:path>
                <a:path w="5225415" h="171450">
                  <a:moveTo>
                    <a:pt x="5192274" y="66528"/>
                  </a:moveTo>
                  <a:lnTo>
                    <a:pt x="5187060" y="66528"/>
                  </a:lnTo>
                  <a:lnTo>
                    <a:pt x="5187060" y="104628"/>
                  </a:lnTo>
                  <a:lnTo>
                    <a:pt x="5192274" y="104628"/>
                  </a:lnTo>
                  <a:lnTo>
                    <a:pt x="5224907" y="85578"/>
                  </a:lnTo>
                  <a:lnTo>
                    <a:pt x="5192274" y="66528"/>
                  </a:lnTo>
                  <a:close/>
                </a:path>
                <a:path w="5225415" h="171450">
                  <a:moveTo>
                    <a:pt x="5177535" y="69068"/>
                  </a:moveTo>
                  <a:lnTo>
                    <a:pt x="5149233" y="85578"/>
                  </a:lnTo>
                  <a:lnTo>
                    <a:pt x="5177535" y="102088"/>
                  </a:lnTo>
                  <a:lnTo>
                    <a:pt x="5177535" y="69068"/>
                  </a:lnTo>
                  <a:close/>
                </a:path>
                <a:path w="5225415" h="171450">
                  <a:moveTo>
                    <a:pt x="5187060" y="69068"/>
                  </a:moveTo>
                  <a:lnTo>
                    <a:pt x="5177535" y="69068"/>
                  </a:lnTo>
                  <a:lnTo>
                    <a:pt x="5177535" y="102088"/>
                  </a:lnTo>
                  <a:lnTo>
                    <a:pt x="5187060" y="102088"/>
                  </a:lnTo>
                  <a:lnTo>
                    <a:pt x="5187060" y="69068"/>
                  </a:lnTo>
                  <a:close/>
                </a:path>
                <a:path w="5225415" h="171450">
                  <a:moveTo>
                    <a:pt x="5075219" y="0"/>
                  </a:moveTo>
                  <a:lnTo>
                    <a:pt x="5067919" y="488"/>
                  </a:lnTo>
                  <a:lnTo>
                    <a:pt x="5061356" y="3643"/>
                  </a:lnTo>
                  <a:lnTo>
                    <a:pt x="5056378" y="9251"/>
                  </a:lnTo>
                  <a:lnTo>
                    <a:pt x="5053913" y="16446"/>
                  </a:lnTo>
                  <a:lnTo>
                    <a:pt x="5054377" y="23760"/>
                  </a:lnTo>
                  <a:lnTo>
                    <a:pt x="5057556" y="30360"/>
                  </a:lnTo>
                  <a:lnTo>
                    <a:pt x="5063235" y="35413"/>
                  </a:lnTo>
                  <a:lnTo>
                    <a:pt x="5149233" y="85578"/>
                  </a:lnTo>
                  <a:lnTo>
                    <a:pt x="5177535" y="69068"/>
                  </a:lnTo>
                  <a:lnTo>
                    <a:pt x="5187060" y="69068"/>
                  </a:lnTo>
                  <a:lnTo>
                    <a:pt x="5187060" y="66528"/>
                  </a:lnTo>
                  <a:lnTo>
                    <a:pt x="5192274" y="66528"/>
                  </a:lnTo>
                  <a:lnTo>
                    <a:pt x="5082412" y="2393"/>
                  </a:lnTo>
                  <a:lnTo>
                    <a:pt x="5075219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5" name="object 85"/>
            <p:cNvSpPr/>
            <p:nvPr/>
          </p:nvSpPr>
          <p:spPr>
            <a:xfrm>
              <a:off x="3784091" y="3758183"/>
              <a:ext cx="3939540" cy="536448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6" name="object 86"/>
            <p:cNvSpPr/>
            <p:nvPr/>
          </p:nvSpPr>
          <p:spPr>
            <a:xfrm>
              <a:off x="3810762" y="3784092"/>
              <a:ext cx="3748404" cy="260350"/>
            </a:xfrm>
            <a:custGeom>
              <a:avLst/>
              <a:gdLst/>
              <a:ahLst/>
              <a:cxnLst/>
              <a:rect l="l" t="t" r="r" b="b"/>
              <a:pathLst>
                <a:path w="3748404" h="260350">
                  <a:moveTo>
                    <a:pt x="3593728" y="89356"/>
                  </a:moveTo>
                  <a:lnTo>
                    <a:pt x="3586607" y="91820"/>
                  </a:lnTo>
                  <a:lnTo>
                    <a:pt x="3580927" y="96799"/>
                  </a:lnTo>
                  <a:lnTo>
                    <a:pt x="3577748" y="103362"/>
                  </a:lnTo>
                  <a:lnTo>
                    <a:pt x="3577284" y="110662"/>
                  </a:lnTo>
                  <a:lnTo>
                    <a:pt x="3579748" y="117855"/>
                  </a:lnTo>
                  <a:lnTo>
                    <a:pt x="3662807" y="260349"/>
                  </a:lnTo>
                  <a:lnTo>
                    <a:pt x="3684900" y="222503"/>
                  </a:lnTo>
                  <a:lnTo>
                    <a:pt x="3643757" y="222503"/>
                  </a:lnTo>
                  <a:lnTo>
                    <a:pt x="3643757" y="152019"/>
                  </a:lnTo>
                  <a:lnTo>
                    <a:pt x="3612641" y="98678"/>
                  </a:lnTo>
                  <a:lnTo>
                    <a:pt x="3607591" y="92999"/>
                  </a:lnTo>
                  <a:lnTo>
                    <a:pt x="3601005" y="89820"/>
                  </a:lnTo>
                  <a:lnTo>
                    <a:pt x="3593728" y="89356"/>
                  </a:lnTo>
                  <a:close/>
                </a:path>
                <a:path w="3748404" h="260350">
                  <a:moveTo>
                    <a:pt x="3643757" y="152019"/>
                  </a:moveTo>
                  <a:lnTo>
                    <a:pt x="3643757" y="222503"/>
                  </a:lnTo>
                  <a:lnTo>
                    <a:pt x="3681857" y="222503"/>
                  </a:lnTo>
                  <a:lnTo>
                    <a:pt x="3681857" y="212978"/>
                  </a:lnTo>
                  <a:lnTo>
                    <a:pt x="3646423" y="212978"/>
                  </a:lnTo>
                  <a:lnTo>
                    <a:pt x="3662870" y="184784"/>
                  </a:lnTo>
                  <a:lnTo>
                    <a:pt x="3643757" y="152019"/>
                  </a:lnTo>
                  <a:close/>
                </a:path>
                <a:path w="3748404" h="260350">
                  <a:moveTo>
                    <a:pt x="3731940" y="89356"/>
                  </a:moveTo>
                  <a:lnTo>
                    <a:pt x="3681983" y="152019"/>
                  </a:lnTo>
                  <a:lnTo>
                    <a:pt x="3681857" y="222503"/>
                  </a:lnTo>
                  <a:lnTo>
                    <a:pt x="3684900" y="222503"/>
                  </a:lnTo>
                  <a:lnTo>
                    <a:pt x="3745991" y="117855"/>
                  </a:lnTo>
                  <a:lnTo>
                    <a:pt x="3748385" y="110662"/>
                  </a:lnTo>
                  <a:lnTo>
                    <a:pt x="3747897" y="103362"/>
                  </a:lnTo>
                  <a:lnTo>
                    <a:pt x="3744741" y="96799"/>
                  </a:lnTo>
                  <a:lnTo>
                    <a:pt x="3739134" y="91820"/>
                  </a:lnTo>
                  <a:lnTo>
                    <a:pt x="3731940" y="89356"/>
                  </a:lnTo>
                  <a:close/>
                </a:path>
                <a:path w="3748404" h="260350">
                  <a:moveTo>
                    <a:pt x="3662870" y="184784"/>
                  </a:moveTo>
                  <a:lnTo>
                    <a:pt x="3646423" y="212978"/>
                  </a:lnTo>
                  <a:lnTo>
                    <a:pt x="3679316" y="212978"/>
                  </a:lnTo>
                  <a:lnTo>
                    <a:pt x="3662870" y="184784"/>
                  </a:lnTo>
                  <a:close/>
                </a:path>
                <a:path w="3748404" h="260350">
                  <a:moveTo>
                    <a:pt x="3681857" y="152236"/>
                  </a:moveTo>
                  <a:lnTo>
                    <a:pt x="3662870" y="184784"/>
                  </a:lnTo>
                  <a:lnTo>
                    <a:pt x="3679316" y="212978"/>
                  </a:lnTo>
                  <a:lnTo>
                    <a:pt x="3681857" y="212978"/>
                  </a:lnTo>
                  <a:lnTo>
                    <a:pt x="3681857" y="152236"/>
                  </a:lnTo>
                  <a:close/>
                </a:path>
                <a:path w="3748404" h="260350">
                  <a:moveTo>
                    <a:pt x="3643757" y="19049"/>
                  </a:moveTo>
                  <a:lnTo>
                    <a:pt x="3643883" y="152236"/>
                  </a:lnTo>
                  <a:lnTo>
                    <a:pt x="3662870" y="184784"/>
                  </a:lnTo>
                  <a:lnTo>
                    <a:pt x="3681857" y="152236"/>
                  </a:lnTo>
                  <a:lnTo>
                    <a:pt x="3681857" y="38099"/>
                  </a:lnTo>
                  <a:lnTo>
                    <a:pt x="3662807" y="38099"/>
                  </a:lnTo>
                  <a:lnTo>
                    <a:pt x="3643757" y="19049"/>
                  </a:lnTo>
                  <a:close/>
                </a:path>
                <a:path w="3748404" h="260350">
                  <a:moveTo>
                    <a:pt x="3662807" y="0"/>
                  </a:moveTo>
                  <a:lnTo>
                    <a:pt x="0" y="0"/>
                  </a:lnTo>
                  <a:lnTo>
                    <a:pt x="0" y="38099"/>
                  </a:lnTo>
                  <a:lnTo>
                    <a:pt x="3643757" y="38099"/>
                  </a:lnTo>
                  <a:lnTo>
                    <a:pt x="3643757" y="19049"/>
                  </a:lnTo>
                  <a:lnTo>
                    <a:pt x="3681857" y="19049"/>
                  </a:lnTo>
                  <a:lnTo>
                    <a:pt x="3680362" y="11626"/>
                  </a:lnTo>
                  <a:lnTo>
                    <a:pt x="3676284" y="5572"/>
                  </a:lnTo>
                  <a:lnTo>
                    <a:pt x="3670230" y="1494"/>
                  </a:lnTo>
                  <a:lnTo>
                    <a:pt x="3662807" y="0"/>
                  </a:lnTo>
                  <a:close/>
                </a:path>
                <a:path w="3748404" h="260350">
                  <a:moveTo>
                    <a:pt x="3681857" y="19049"/>
                  </a:moveTo>
                  <a:lnTo>
                    <a:pt x="3643757" y="19049"/>
                  </a:lnTo>
                  <a:lnTo>
                    <a:pt x="3662807" y="38099"/>
                  </a:lnTo>
                  <a:lnTo>
                    <a:pt x="3681857" y="38099"/>
                  </a:lnTo>
                  <a:lnTo>
                    <a:pt x="3681857" y="190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7" name="object 87"/>
            <p:cNvSpPr/>
            <p:nvPr/>
          </p:nvSpPr>
          <p:spPr>
            <a:xfrm>
              <a:off x="8031480" y="4038600"/>
              <a:ext cx="1342644" cy="446531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8" name="object 88"/>
            <p:cNvSpPr/>
            <p:nvPr/>
          </p:nvSpPr>
          <p:spPr>
            <a:xfrm>
              <a:off x="8058149" y="4148855"/>
              <a:ext cx="1066165" cy="171450"/>
            </a:xfrm>
            <a:custGeom>
              <a:avLst/>
              <a:gdLst/>
              <a:ahLst/>
              <a:cxnLst/>
              <a:rect l="l" t="t" r="r" b="b"/>
              <a:pathLst>
                <a:path w="1066165" h="171450">
                  <a:moveTo>
                    <a:pt x="990364" y="85578"/>
                  </a:moveTo>
                  <a:lnTo>
                    <a:pt x="904367" y="135743"/>
                  </a:lnTo>
                  <a:lnTo>
                    <a:pt x="898759" y="140795"/>
                  </a:lnTo>
                  <a:lnTo>
                    <a:pt x="895603" y="147395"/>
                  </a:lnTo>
                  <a:lnTo>
                    <a:pt x="895115" y="154709"/>
                  </a:lnTo>
                  <a:lnTo>
                    <a:pt x="897508" y="161905"/>
                  </a:lnTo>
                  <a:lnTo>
                    <a:pt x="902561" y="167512"/>
                  </a:lnTo>
                  <a:lnTo>
                    <a:pt x="909161" y="170668"/>
                  </a:lnTo>
                  <a:lnTo>
                    <a:pt x="916475" y="171156"/>
                  </a:lnTo>
                  <a:lnTo>
                    <a:pt x="923671" y="168763"/>
                  </a:lnTo>
                  <a:lnTo>
                    <a:pt x="1033532" y="104628"/>
                  </a:lnTo>
                  <a:lnTo>
                    <a:pt x="1028319" y="104628"/>
                  </a:lnTo>
                  <a:lnTo>
                    <a:pt x="1028319" y="102088"/>
                  </a:lnTo>
                  <a:lnTo>
                    <a:pt x="1018667" y="102088"/>
                  </a:lnTo>
                  <a:lnTo>
                    <a:pt x="990364" y="85578"/>
                  </a:lnTo>
                  <a:close/>
                </a:path>
                <a:path w="1066165" h="171450">
                  <a:moveTo>
                    <a:pt x="957706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957707" y="104628"/>
                  </a:lnTo>
                  <a:lnTo>
                    <a:pt x="990364" y="85578"/>
                  </a:lnTo>
                  <a:lnTo>
                    <a:pt x="957706" y="66528"/>
                  </a:lnTo>
                  <a:close/>
                </a:path>
                <a:path w="1066165" h="171450">
                  <a:moveTo>
                    <a:pt x="1033532" y="66528"/>
                  </a:moveTo>
                  <a:lnTo>
                    <a:pt x="1028319" y="66528"/>
                  </a:lnTo>
                  <a:lnTo>
                    <a:pt x="1028319" y="104628"/>
                  </a:lnTo>
                  <a:lnTo>
                    <a:pt x="1033532" y="104628"/>
                  </a:lnTo>
                  <a:lnTo>
                    <a:pt x="1066165" y="85578"/>
                  </a:lnTo>
                  <a:lnTo>
                    <a:pt x="1033532" y="66528"/>
                  </a:lnTo>
                  <a:close/>
                </a:path>
                <a:path w="1066165" h="171450">
                  <a:moveTo>
                    <a:pt x="1018667" y="69068"/>
                  </a:moveTo>
                  <a:lnTo>
                    <a:pt x="990364" y="85578"/>
                  </a:lnTo>
                  <a:lnTo>
                    <a:pt x="1018667" y="102088"/>
                  </a:lnTo>
                  <a:lnTo>
                    <a:pt x="1018667" y="69068"/>
                  </a:lnTo>
                  <a:close/>
                </a:path>
                <a:path w="1066165" h="171450">
                  <a:moveTo>
                    <a:pt x="1028319" y="69068"/>
                  </a:moveTo>
                  <a:lnTo>
                    <a:pt x="1018667" y="69068"/>
                  </a:lnTo>
                  <a:lnTo>
                    <a:pt x="1018667" y="102088"/>
                  </a:lnTo>
                  <a:lnTo>
                    <a:pt x="1028319" y="102088"/>
                  </a:lnTo>
                  <a:lnTo>
                    <a:pt x="1028319" y="69068"/>
                  </a:lnTo>
                  <a:close/>
                </a:path>
                <a:path w="1066165" h="171450">
                  <a:moveTo>
                    <a:pt x="916475" y="0"/>
                  </a:moveTo>
                  <a:lnTo>
                    <a:pt x="909161" y="488"/>
                  </a:lnTo>
                  <a:lnTo>
                    <a:pt x="902561" y="3643"/>
                  </a:lnTo>
                  <a:lnTo>
                    <a:pt x="897508" y="9251"/>
                  </a:lnTo>
                  <a:lnTo>
                    <a:pt x="895115" y="16446"/>
                  </a:lnTo>
                  <a:lnTo>
                    <a:pt x="895603" y="23760"/>
                  </a:lnTo>
                  <a:lnTo>
                    <a:pt x="898759" y="30360"/>
                  </a:lnTo>
                  <a:lnTo>
                    <a:pt x="904367" y="35413"/>
                  </a:lnTo>
                  <a:lnTo>
                    <a:pt x="990364" y="85578"/>
                  </a:lnTo>
                  <a:lnTo>
                    <a:pt x="1018667" y="69068"/>
                  </a:lnTo>
                  <a:lnTo>
                    <a:pt x="1028319" y="69068"/>
                  </a:lnTo>
                  <a:lnTo>
                    <a:pt x="1028319" y="66528"/>
                  </a:lnTo>
                  <a:lnTo>
                    <a:pt x="1033532" y="66528"/>
                  </a:lnTo>
                  <a:lnTo>
                    <a:pt x="923671" y="2393"/>
                  </a:lnTo>
                  <a:lnTo>
                    <a:pt x="916475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9" name="object 89"/>
          <p:cNvSpPr txBox="1"/>
          <p:nvPr/>
        </p:nvSpPr>
        <p:spPr>
          <a:xfrm>
            <a:off x="5160455" y="3432238"/>
            <a:ext cx="407670" cy="193803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>
              <a:spcBef>
                <a:spcPts val="71"/>
              </a:spcBef>
            </a:pPr>
            <a:r>
              <a:rPr sz="1200" b="1" spc="-4" dirty="0">
                <a:solidFill>
                  <a:srgbClr val="1C1C1C"/>
                </a:solidFill>
                <a:latin typeface="Arial"/>
                <a:cs typeface="Arial"/>
              </a:rPr>
              <a:t>Store</a:t>
            </a:r>
            <a:endParaRPr sz="12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911047" y="2725484"/>
            <a:ext cx="74437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52400" marR="3810" indent="-143351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1.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Get</a:t>
            </a:r>
            <a:r>
              <a:rPr sz="900" b="1" spc="-4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-19" dirty="0">
                <a:solidFill>
                  <a:srgbClr val="1C1C1C"/>
                </a:solidFill>
                <a:latin typeface="Arial"/>
                <a:cs typeface="Arial"/>
              </a:rPr>
              <a:t>.META. 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827608" y="3998557"/>
            <a:ext cx="75676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2. Get</a:t>
            </a:r>
            <a:r>
              <a:rPr sz="900" b="1" spc="-68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Region</a:t>
            </a:r>
            <a:endParaRPr sz="900">
              <a:latin typeface="Arial"/>
              <a:cs typeface="Arial"/>
            </a:endParaRPr>
          </a:p>
          <a:p>
            <a:pPr algn="ctr">
              <a:spcBef>
                <a:spcPts val="4"/>
              </a:spcBef>
            </a:pP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2109406" y="3298984"/>
            <a:ext cx="330518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3.</a:t>
            </a:r>
            <a:r>
              <a:rPr sz="900" b="1" spc="-60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Put</a:t>
            </a:r>
            <a:endParaRPr sz="90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3352038" y="2492312"/>
            <a:ext cx="43005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4.</a:t>
            </a:r>
            <a:r>
              <a:rPr sz="90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Write</a:t>
            </a:r>
            <a:endParaRPr sz="900">
              <a:latin typeface="Arial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3413570" y="3539300"/>
            <a:ext cx="43005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5.</a:t>
            </a:r>
            <a:r>
              <a:rPr sz="90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Write</a:t>
            </a:r>
            <a:endParaRPr sz="9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6146006" y="3850386"/>
            <a:ext cx="324326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Flush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96" name="object 96"/>
          <p:cNvGrpSpPr/>
          <p:nvPr/>
        </p:nvGrpSpPr>
        <p:grpSpPr>
          <a:xfrm>
            <a:off x="2996946" y="4634865"/>
            <a:ext cx="1022033" cy="858679"/>
            <a:chOff x="3995928" y="5036820"/>
            <a:chExt cx="1362710" cy="1144905"/>
          </a:xfrm>
        </p:grpSpPr>
        <p:sp>
          <p:nvSpPr>
            <p:cNvPr id="97" name="object 97"/>
            <p:cNvSpPr/>
            <p:nvPr/>
          </p:nvSpPr>
          <p:spPr>
            <a:xfrm>
              <a:off x="3995928" y="5532120"/>
              <a:ext cx="1362455" cy="6492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8" name="object 98"/>
            <p:cNvSpPr/>
            <p:nvPr/>
          </p:nvSpPr>
          <p:spPr>
            <a:xfrm>
              <a:off x="4003548" y="5036820"/>
              <a:ext cx="1347215" cy="63398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9" name="object 99"/>
            <p:cNvSpPr/>
            <p:nvPr/>
          </p:nvSpPr>
          <p:spPr>
            <a:xfrm>
              <a:off x="4074414" y="510768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4" h="492760">
                  <a:moveTo>
                    <a:pt x="1123441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1" y="492251"/>
                  </a:lnTo>
                  <a:lnTo>
                    <a:pt x="1123441" y="492251"/>
                  </a:lnTo>
                  <a:lnTo>
                    <a:pt x="1155388" y="485808"/>
                  </a:lnTo>
                  <a:lnTo>
                    <a:pt x="1181465" y="468233"/>
                  </a:lnTo>
                  <a:lnTo>
                    <a:pt x="1199040" y="442156"/>
                  </a:lnTo>
                  <a:lnTo>
                    <a:pt x="1205484" y="410209"/>
                  </a:lnTo>
                  <a:lnTo>
                    <a:pt x="1205484" y="82041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4074414" y="510768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4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1123441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4" y="82041"/>
                  </a:lnTo>
                  <a:lnTo>
                    <a:pt x="1205484" y="410209"/>
                  </a:lnTo>
                  <a:lnTo>
                    <a:pt x="1199040" y="442156"/>
                  </a:lnTo>
                  <a:lnTo>
                    <a:pt x="1181465" y="468233"/>
                  </a:lnTo>
                  <a:lnTo>
                    <a:pt x="1155388" y="485808"/>
                  </a:lnTo>
                  <a:lnTo>
                    <a:pt x="1123441" y="492251"/>
                  </a:lnTo>
                  <a:lnTo>
                    <a:pt x="82041" y="492251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1" name="object 101"/>
          <p:cNvSpPr txBox="1"/>
          <p:nvPr/>
        </p:nvSpPr>
        <p:spPr>
          <a:xfrm>
            <a:off x="3207829" y="4726400"/>
            <a:ext cx="6000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2" name="object 102"/>
          <p:cNvGrpSpPr/>
          <p:nvPr/>
        </p:nvGrpSpPr>
        <p:grpSpPr>
          <a:xfrm>
            <a:off x="4047363" y="4634865"/>
            <a:ext cx="1022033" cy="858679"/>
            <a:chOff x="5396484" y="5036820"/>
            <a:chExt cx="1362710" cy="1144905"/>
          </a:xfrm>
        </p:grpSpPr>
        <p:sp>
          <p:nvSpPr>
            <p:cNvPr id="103" name="object 103"/>
            <p:cNvSpPr/>
            <p:nvPr/>
          </p:nvSpPr>
          <p:spPr>
            <a:xfrm>
              <a:off x="5396484" y="5532120"/>
              <a:ext cx="1362456" cy="6492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5404104" y="5036820"/>
              <a:ext cx="1347216" cy="63398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5474970" y="510768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1123441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1" y="492251"/>
                  </a:lnTo>
                  <a:lnTo>
                    <a:pt x="1123441" y="492251"/>
                  </a:lnTo>
                  <a:lnTo>
                    <a:pt x="1155388" y="485808"/>
                  </a:lnTo>
                  <a:lnTo>
                    <a:pt x="1181465" y="468233"/>
                  </a:lnTo>
                  <a:lnTo>
                    <a:pt x="1199040" y="442156"/>
                  </a:lnTo>
                  <a:lnTo>
                    <a:pt x="1205483" y="410209"/>
                  </a:lnTo>
                  <a:lnTo>
                    <a:pt x="1205483" y="82041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5474970" y="510768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1123441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3" y="82041"/>
                  </a:lnTo>
                  <a:lnTo>
                    <a:pt x="1205483" y="410209"/>
                  </a:lnTo>
                  <a:lnTo>
                    <a:pt x="1199040" y="442156"/>
                  </a:lnTo>
                  <a:lnTo>
                    <a:pt x="1181465" y="468233"/>
                  </a:lnTo>
                  <a:lnTo>
                    <a:pt x="1155388" y="485808"/>
                  </a:lnTo>
                  <a:lnTo>
                    <a:pt x="1123441" y="492251"/>
                  </a:lnTo>
                  <a:lnTo>
                    <a:pt x="82041" y="492251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4257770" y="4726400"/>
            <a:ext cx="6000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5116067" y="4491990"/>
            <a:ext cx="2267903" cy="1001554"/>
            <a:chOff x="6821423" y="4846320"/>
            <a:chExt cx="3023870" cy="1335405"/>
          </a:xfrm>
        </p:grpSpPr>
        <p:sp>
          <p:nvSpPr>
            <p:cNvPr id="109" name="object 109"/>
            <p:cNvSpPr/>
            <p:nvPr/>
          </p:nvSpPr>
          <p:spPr>
            <a:xfrm>
              <a:off x="6821423" y="5532120"/>
              <a:ext cx="1362455" cy="6492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6829043" y="5036820"/>
              <a:ext cx="1347216" cy="63398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6899909" y="510768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1123442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56"/>
                  </a:lnTo>
                  <a:lnTo>
                    <a:pt x="24018" y="468233"/>
                  </a:lnTo>
                  <a:lnTo>
                    <a:pt x="50095" y="485808"/>
                  </a:lnTo>
                  <a:lnTo>
                    <a:pt x="82042" y="492251"/>
                  </a:lnTo>
                  <a:lnTo>
                    <a:pt x="1123442" y="492251"/>
                  </a:lnTo>
                  <a:lnTo>
                    <a:pt x="1155388" y="485808"/>
                  </a:lnTo>
                  <a:lnTo>
                    <a:pt x="1181465" y="468233"/>
                  </a:lnTo>
                  <a:lnTo>
                    <a:pt x="1199040" y="442156"/>
                  </a:lnTo>
                  <a:lnTo>
                    <a:pt x="1205484" y="410209"/>
                  </a:lnTo>
                  <a:lnTo>
                    <a:pt x="1205484" y="82041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6899909" y="510768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1123442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4" y="82041"/>
                  </a:lnTo>
                  <a:lnTo>
                    <a:pt x="1205484" y="410209"/>
                  </a:lnTo>
                  <a:lnTo>
                    <a:pt x="1199040" y="442156"/>
                  </a:lnTo>
                  <a:lnTo>
                    <a:pt x="1181465" y="468233"/>
                  </a:lnTo>
                  <a:lnTo>
                    <a:pt x="1155388" y="485808"/>
                  </a:lnTo>
                  <a:lnTo>
                    <a:pt x="1123442" y="492251"/>
                  </a:lnTo>
                  <a:lnTo>
                    <a:pt x="82042" y="492251"/>
                  </a:lnTo>
                  <a:lnTo>
                    <a:pt x="50095" y="485808"/>
                  </a:lnTo>
                  <a:lnTo>
                    <a:pt x="24018" y="468233"/>
                  </a:lnTo>
                  <a:lnTo>
                    <a:pt x="6443" y="442156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079991" y="4846320"/>
              <a:ext cx="765048" cy="80772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4" name="object 114"/>
            <p:cNvSpPr/>
            <p:nvPr/>
          </p:nvSpPr>
          <p:spPr>
            <a:xfrm>
              <a:off x="9083039" y="4981956"/>
              <a:ext cx="755903" cy="48005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5" name="object 115"/>
            <p:cNvSpPr/>
            <p:nvPr/>
          </p:nvSpPr>
          <p:spPr>
            <a:xfrm>
              <a:off x="9111233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6" name="object 116"/>
            <p:cNvSpPr/>
            <p:nvPr/>
          </p:nvSpPr>
          <p:spPr>
            <a:xfrm>
              <a:off x="9650983" y="545998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4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9111233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8" name="object 118"/>
          <p:cNvSpPr txBox="1"/>
          <p:nvPr/>
        </p:nvSpPr>
        <p:spPr>
          <a:xfrm>
            <a:off x="6903815" y="4639723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9" name="object 119"/>
          <p:cNvGrpSpPr/>
          <p:nvPr/>
        </p:nvGrpSpPr>
        <p:grpSpPr>
          <a:xfrm>
            <a:off x="7431785" y="4491990"/>
            <a:ext cx="575310" cy="605790"/>
            <a:chOff x="9909047" y="4846320"/>
            <a:chExt cx="767080" cy="807720"/>
          </a:xfrm>
        </p:grpSpPr>
        <p:sp>
          <p:nvSpPr>
            <p:cNvPr id="120" name="object 120"/>
            <p:cNvSpPr/>
            <p:nvPr/>
          </p:nvSpPr>
          <p:spPr>
            <a:xfrm>
              <a:off x="9909047" y="4846320"/>
              <a:ext cx="766572" cy="807720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1" name="object 121"/>
            <p:cNvSpPr/>
            <p:nvPr/>
          </p:nvSpPr>
          <p:spPr>
            <a:xfrm>
              <a:off x="9913619" y="4981956"/>
              <a:ext cx="755903" cy="48005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2" name="object 122"/>
            <p:cNvSpPr/>
            <p:nvPr/>
          </p:nvSpPr>
          <p:spPr>
            <a:xfrm>
              <a:off x="9940289" y="4877562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649224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41019" y="690372"/>
                  </a:lnTo>
                  <a:lnTo>
                    <a:pt x="649224" y="582168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3" name="object 123"/>
            <p:cNvSpPr/>
            <p:nvPr/>
          </p:nvSpPr>
          <p:spPr>
            <a:xfrm>
              <a:off x="10481309" y="545973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4" y="0"/>
                  </a:moveTo>
                  <a:lnTo>
                    <a:pt x="21590" y="21590"/>
                  </a:lnTo>
                  <a:lnTo>
                    <a:pt x="0" y="108204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4" name="object 124"/>
            <p:cNvSpPr/>
            <p:nvPr/>
          </p:nvSpPr>
          <p:spPr>
            <a:xfrm>
              <a:off x="9940289" y="4877562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541019" y="690372"/>
                  </a:moveTo>
                  <a:lnTo>
                    <a:pt x="562609" y="603757"/>
                  </a:lnTo>
                  <a:lnTo>
                    <a:pt x="649224" y="582168"/>
                  </a:lnTo>
                  <a:lnTo>
                    <a:pt x="541019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2168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25" name="object 125"/>
          <p:cNvSpPr txBox="1"/>
          <p:nvPr/>
        </p:nvSpPr>
        <p:spPr>
          <a:xfrm>
            <a:off x="7526084" y="4639723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26" name="object 126"/>
          <p:cNvGrpSpPr/>
          <p:nvPr/>
        </p:nvGrpSpPr>
        <p:grpSpPr>
          <a:xfrm>
            <a:off x="7984999" y="4491990"/>
            <a:ext cx="573881" cy="605790"/>
            <a:chOff x="10646664" y="4846320"/>
            <a:chExt cx="765175" cy="807720"/>
          </a:xfrm>
        </p:grpSpPr>
        <p:sp>
          <p:nvSpPr>
            <p:cNvPr id="127" name="object 127"/>
            <p:cNvSpPr/>
            <p:nvPr/>
          </p:nvSpPr>
          <p:spPr>
            <a:xfrm>
              <a:off x="10646664" y="4846320"/>
              <a:ext cx="765048" cy="80772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8" name="object 128"/>
            <p:cNvSpPr/>
            <p:nvPr/>
          </p:nvSpPr>
          <p:spPr>
            <a:xfrm>
              <a:off x="10651236" y="4981956"/>
              <a:ext cx="755903" cy="480059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9" name="object 129"/>
            <p:cNvSpPr/>
            <p:nvPr/>
          </p:nvSpPr>
          <p:spPr>
            <a:xfrm>
              <a:off x="10677906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11217656" y="545998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4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1" name="object 131"/>
            <p:cNvSpPr/>
            <p:nvPr/>
          </p:nvSpPr>
          <p:spPr>
            <a:xfrm>
              <a:off x="10677906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2" name="object 132"/>
          <p:cNvSpPr txBox="1"/>
          <p:nvPr/>
        </p:nvSpPr>
        <p:spPr>
          <a:xfrm>
            <a:off x="8079010" y="4640009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33" name="object 133"/>
          <p:cNvGrpSpPr/>
          <p:nvPr/>
        </p:nvGrpSpPr>
        <p:grpSpPr>
          <a:xfrm>
            <a:off x="8075295" y="4572000"/>
            <a:ext cx="573881" cy="605790"/>
            <a:chOff x="10767059" y="4953000"/>
            <a:chExt cx="765175" cy="807720"/>
          </a:xfrm>
        </p:grpSpPr>
        <p:sp>
          <p:nvSpPr>
            <p:cNvPr id="134" name="object 134"/>
            <p:cNvSpPr/>
            <p:nvPr/>
          </p:nvSpPr>
          <p:spPr>
            <a:xfrm>
              <a:off x="10767059" y="4953000"/>
              <a:ext cx="765048" cy="80771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0847831" y="5088636"/>
              <a:ext cx="598931" cy="480059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0798301" y="498424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1"/>
                  </a:lnTo>
                  <a:lnTo>
                    <a:pt x="539750" y="690371"/>
                  </a:lnTo>
                  <a:lnTo>
                    <a:pt x="647700" y="582421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1338051" y="556666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90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8" name="object 138"/>
            <p:cNvSpPr/>
            <p:nvPr/>
          </p:nvSpPr>
          <p:spPr>
            <a:xfrm>
              <a:off x="10798301" y="498424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1"/>
                  </a:moveTo>
                  <a:lnTo>
                    <a:pt x="561340" y="604011"/>
                  </a:lnTo>
                  <a:lnTo>
                    <a:pt x="647700" y="582421"/>
                  </a:lnTo>
                  <a:lnTo>
                    <a:pt x="539750" y="690371"/>
                  </a:lnTo>
                  <a:lnTo>
                    <a:pt x="0" y="690371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1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9" name="object 139"/>
          <p:cNvSpPr txBox="1"/>
          <p:nvPr/>
        </p:nvSpPr>
        <p:spPr>
          <a:xfrm>
            <a:off x="8227599" y="4720209"/>
            <a:ext cx="22764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…..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40" name="object 140"/>
          <p:cNvGrpSpPr/>
          <p:nvPr/>
        </p:nvGrpSpPr>
        <p:grpSpPr>
          <a:xfrm>
            <a:off x="5196078" y="4714875"/>
            <a:ext cx="1022033" cy="858679"/>
            <a:chOff x="6928104" y="5143500"/>
            <a:chExt cx="1362710" cy="1144905"/>
          </a:xfrm>
        </p:grpSpPr>
        <p:sp>
          <p:nvSpPr>
            <p:cNvPr id="141" name="object 141"/>
            <p:cNvSpPr/>
            <p:nvPr/>
          </p:nvSpPr>
          <p:spPr>
            <a:xfrm>
              <a:off x="6928104" y="5638800"/>
              <a:ext cx="1362455" cy="64922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6935724" y="5143500"/>
              <a:ext cx="1347216" cy="633984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006590" y="5214365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1123441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1"/>
                  </a:lnTo>
                  <a:lnTo>
                    <a:pt x="0" y="410209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1"/>
                  </a:lnTo>
                  <a:lnTo>
                    <a:pt x="1123441" y="492251"/>
                  </a:lnTo>
                  <a:lnTo>
                    <a:pt x="1155388" y="485805"/>
                  </a:lnTo>
                  <a:lnTo>
                    <a:pt x="1181465" y="468223"/>
                  </a:lnTo>
                  <a:lnTo>
                    <a:pt x="1199040" y="442145"/>
                  </a:lnTo>
                  <a:lnTo>
                    <a:pt x="1205483" y="410209"/>
                  </a:lnTo>
                  <a:lnTo>
                    <a:pt x="1205483" y="82041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4" name="object 144"/>
            <p:cNvSpPr/>
            <p:nvPr/>
          </p:nvSpPr>
          <p:spPr>
            <a:xfrm>
              <a:off x="7006590" y="5214365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0" y="82041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1123441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3" y="82041"/>
                  </a:lnTo>
                  <a:lnTo>
                    <a:pt x="1205483" y="410209"/>
                  </a:lnTo>
                  <a:lnTo>
                    <a:pt x="1199040" y="442145"/>
                  </a:lnTo>
                  <a:lnTo>
                    <a:pt x="1181465" y="468223"/>
                  </a:lnTo>
                  <a:lnTo>
                    <a:pt x="1155388" y="485805"/>
                  </a:lnTo>
                  <a:lnTo>
                    <a:pt x="1123441" y="492251"/>
                  </a:lnTo>
                  <a:lnTo>
                    <a:pt x="82041" y="492251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09"/>
                  </a:lnTo>
                  <a:lnTo>
                    <a:pt x="0" y="82041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45" name="object 145"/>
          <p:cNvSpPr txBox="1"/>
          <p:nvPr/>
        </p:nvSpPr>
        <p:spPr>
          <a:xfrm>
            <a:off x="5464493" y="4726400"/>
            <a:ext cx="40433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350" b="1" spc="-248" dirty="0">
                <a:solidFill>
                  <a:srgbClr val="1C1C1C"/>
                </a:solidFill>
                <a:latin typeface="Arial"/>
                <a:cs typeface="Arial"/>
              </a:rPr>
              <a:t>…</a:t>
            </a:r>
            <a:r>
              <a:rPr sz="2025" b="1" spc="-371" baseline="-26234" dirty="0">
                <a:solidFill>
                  <a:srgbClr val="1C1C1C"/>
                </a:solidFill>
                <a:latin typeface="Arial"/>
                <a:cs typeface="Arial"/>
              </a:rPr>
              <a:t>…</a:t>
            </a:r>
            <a:r>
              <a:rPr sz="1350" b="1" spc="-248" dirty="0">
                <a:solidFill>
                  <a:srgbClr val="1C1C1C"/>
                </a:solidFill>
                <a:latin typeface="Arial"/>
                <a:cs typeface="Arial"/>
              </a:rPr>
              <a:t>..</a:t>
            </a:r>
            <a:r>
              <a:rPr sz="2025" b="1" spc="-371" baseline="-26234" dirty="0">
                <a:solidFill>
                  <a:srgbClr val="1C1C1C"/>
                </a:solidFill>
                <a:latin typeface="Arial"/>
                <a:cs typeface="Arial"/>
              </a:rPr>
              <a:t>..</a:t>
            </a:r>
            <a:endParaRPr sz="2025" baseline="-26234">
              <a:latin typeface="Arial"/>
              <a:cs typeface="Arial"/>
            </a:endParaRPr>
          </a:p>
        </p:txBody>
      </p:sp>
      <p:sp>
        <p:nvSpPr>
          <p:cNvPr id="146" name="object 146"/>
          <p:cNvSpPr/>
          <p:nvPr/>
        </p:nvSpPr>
        <p:spPr>
          <a:xfrm>
            <a:off x="3134106" y="3881628"/>
            <a:ext cx="848106" cy="326897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7" name="object 147"/>
          <p:cNvSpPr txBox="1"/>
          <p:nvPr/>
        </p:nvSpPr>
        <p:spPr>
          <a:xfrm>
            <a:off x="3232690" y="3925825"/>
            <a:ext cx="65151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11" dirty="0">
                <a:solidFill>
                  <a:srgbClr val="1C1C1C"/>
                </a:solidFill>
                <a:latin typeface="Arial"/>
                <a:cs typeface="Arial"/>
              </a:rPr>
              <a:t>M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emst</a:t>
            </a: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or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8" name="object 148"/>
          <p:cNvSpPr/>
          <p:nvPr/>
        </p:nvSpPr>
        <p:spPr>
          <a:xfrm>
            <a:off x="4075938" y="3881628"/>
            <a:ext cx="846963" cy="326897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49" name="object 149"/>
          <p:cNvSpPr txBox="1"/>
          <p:nvPr/>
        </p:nvSpPr>
        <p:spPr>
          <a:xfrm>
            <a:off x="4192810" y="3925825"/>
            <a:ext cx="61341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spc="-4" dirty="0">
                <a:solidFill>
                  <a:srgbClr val="1C1C1C"/>
                </a:solidFill>
                <a:latin typeface="Arial"/>
                <a:cs typeface="Arial"/>
              </a:rPr>
              <a:t>Memstore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50" name="object 150"/>
          <p:cNvSpPr/>
          <p:nvPr/>
        </p:nvSpPr>
        <p:spPr>
          <a:xfrm>
            <a:off x="4130801" y="3947923"/>
            <a:ext cx="846963" cy="32575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1" name="object 151"/>
          <p:cNvSpPr txBox="1"/>
          <p:nvPr/>
        </p:nvSpPr>
        <p:spPr>
          <a:xfrm>
            <a:off x="4440649" y="3991451"/>
            <a:ext cx="22764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…..</a:t>
            </a:r>
            <a:endParaRPr sz="10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6225350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" y="762000"/>
            <a:ext cx="4838700" cy="960038"/>
          </a:xfrm>
          <a:prstGeom prst="rect">
            <a:avLst/>
          </a:prstGeom>
        </p:spPr>
        <p:txBody>
          <a:bodyPr vert="horz" wrap="square" lIns="0" tIns="41433" rIns="0" bIns="0" rtlCol="0" anchor="ctr">
            <a:spAutoFit/>
          </a:bodyPr>
          <a:lstStyle/>
          <a:p>
            <a:pPr marL="9525">
              <a:spcBef>
                <a:spcPts val="326"/>
              </a:spcBef>
            </a:pPr>
            <a:r>
              <a:rPr dirty="0"/>
              <a:t>HBase</a:t>
            </a:r>
            <a:r>
              <a:rPr spc="-53" dirty="0"/>
              <a:t> </a:t>
            </a:r>
            <a:r>
              <a:rPr spc="-4" dirty="0"/>
              <a:t>Internals</a:t>
            </a:r>
          </a:p>
          <a:p>
            <a:pPr marL="9525">
              <a:spcBef>
                <a:spcPts val="188"/>
              </a:spcBef>
            </a:pPr>
            <a:r>
              <a:rPr sz="1800" spc="-4" dirty="0">
                <a:solidFill>
                  <a:srgbClr val="7B858D"/>
                </a:solidFill>
              </a:rPr>
              <a:t>Compaction</a:t>
            </a:r>
            <a:endParaRPr sz="1800" dirty="0"/>
          </a:p>
        </p:txBody>
      </p:sp>
      <p:grpSp>
        <p:nvGrpSpPr>
          <p:cNvPr id="3" name="object 3"/>
          <p:cNvGrpSpPr/>
          <p:nvPr/>
        </p:nvGrpSpPr>
        <p:grpSpPr>
          <a:xfrm>
            <a:off x="422911" y="2165984"/>
            <a:ext cx="573881" cy="605790"/>
            <a:chOff x="563880" y="1744979"/>
            <a:chExt cx="765175" cy="807720"/>
          </a:xfrm>
        </p:grpSpPr>
        <p:sp>
          <p:nvSpPr>
            <p:cNvPr id="4" name="object 4"/>
            <p:cNvSpPr/>
            <p:nvPr/>
          </p:nvSpPr>
          <p:spPr>
            <a:xfrm>
              <a:off x="563880" y="1744979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" name="object 5"/>
            <p:cNvSpPr/>
            <p:nvPr/>
          </p:nvSpPr>
          <p:spPr>
            <a:xfrm>
              <a:off x="566928" y="1880615"/>
              <a:ext cx="755904" cy="480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595122" y="1776221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1134872" y="235864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595122" y="1776221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515340" y="2313527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044703" y="2165984"/>
            <a:ext cx="573881" cy="605790"/>
            <a:chOff x="1392936" y="1744979"/>
            <a:chExt cx="765175" cy="807720"/>
          </a:xfrm>
        </p:grpSpPr>
        <p:sp>
          <p:nvSpPr>
            <p:cNvPr id="11" name="object 11"/>
            <p:cNvSpPr/>
            <p:nvPr/>
          </p:nvSpPr>
          <p:spPr>
            <a:xfrm>
              <a:off x="1392936" y="1744979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1395984" y="1880615"/>
              <a:ext cx="755904" cy="480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" name="object 13"/>
            <p:cNvSpPr/>
            <p:nvPr/>
          </p:nvSpPr>
          <p:spPr>
            <a:xfrm>
              <a:off x="1424178" y="1776221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699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49" y="690372"/>
                  </a:lnTo>
                  <a:lnTo>
                    <a:pt x="647699" y="582422"/>
                  </a:lnTo>
                  <a:lnTo>
                    <a:pt x="6476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14"/>
            <p:cNvSpPr/>
            <p:nvPr/>
          </p:nvSpPr>
          <p:spPr>
            <a:xfrm>
              <a:off x="1963927" y="235864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5" name="object 15"/>
            <p:cNvSpPr/>
            <p:nvPr/>
          </p:nvSpPr>
          <p:spPr>
            <a:xfrm>
              <a:off x="1424178" y="1776221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49" y="690372"/>
                  </a:moveTo>
                  <a:lnTo>
                    <a:pt x="561340" y="604012"/>
                  </a:lnTo>
                  <a:lnTo>
                    <a:pt x="647699" y="582422"/>
                  </a:lnTo>
                  <a:lnTo>
                    <a:pt x="539749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699" y="0"/>
                  </a:lnTo>
                  <a:lnTo>
                    <a:pt x="647699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137381" y="2313527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637920" y="2165984"/>
            <a:ext cx="573881" cy="605790"/>
            <a:chOff x="2183892" y="1744979"/>
            <a:chExt cx="765175" cy="807720"/>
          </a:xfrm>
        </p:grpSpPr>
        <p:sp>
          <p:nvSpPr>
            <p:cNvPr id="18" name="object 18"/>
            <p:cNvSpPr/>
            <p:nvPr/>
          </p:nvSpPr>
          <p:spPr>
            <a:xfrm>
              <a:off x="2183892" y="1744979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9" name="object 19"/>
            <p:cNvSpPr/>
            <p:nvPr/>
          </p:nvSpPr>
          <p:spPr>
            <a:xfrm>
              <a:off x="2186940" y="1880615"/>
              <a:ext cx="755904" cy="480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0" name="object 20"/>
            <p:cNvSpPr/>
            <p:nvPr/>
          </p:nvSpPr>
          <p:spPr>
            <a:xfrm>
              <a:off x="2215134" y="1776221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1" name="object 21"/>
            <p:cNvSpPr/>
            <p:nvPr/>
          </p:nvSpPr>
          <p:spPr>
            <a:xfrm>
              <a:off x="2754884" y="235864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2215134" y="1776221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1730312" y="2313527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13208" y="2245995"/>
            <a:ext cx="573881" cy="605790"/>
            <a:chOff x="684276" y="1851660"/>
            <a:chExt cx="765175" cy="807720"/>
          </a:xfrm>
        </p:grpSpPr>
        <p:sp>
          <p:nvSpPr>
            <p:cNvPr id="25" name="object 25"/>
            <p:cNvSpPr/>
            <p:nvPr/>
          </p:nvSpPr>
          <p:spPr>
            <a:xfrm>
              <a:off x="684276" y="1851660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6" name="object 26"/>
            <p:cNvSpPr/>
            <p:nvPr/>
          </p:nvSpPr>
          <p:spPr>
            <a:xfrm>
              <a:off x="687324" y="1987296"/>
              <a:ext cx="755904" cy="480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7" name="object 27"/>
            <p:cNvSpPr/>
            <p:nvPr/>
          </p:nvSpPr>
          <p:spPr>
            <a:xfrm>
              <a:off x="715518" y="188290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8" name="object 28"/>
            <p:cNvSpPr/>
            <p:nvPr/>
          </p:nvSpPr>
          <p:spPr>
            <a:xfrm>
              <a:off x="1255268" y="246532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9" name="object 29"/>
            <p:cNvSpPr/>
            <p:nvPr/>
          </p:nvSpPr>
          <p:spPr>
            <a:xfrm>
              <a:off x="715518" y="188290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605637" y="2393728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35000" y="2245995"/>
            <a:ext cx="573881" cy="605790"/>
            <a:chOff x="1513332" y="1851660"/>
            <a:chExt cx="765175" cy="807720"/>
          </a:xfrm>
        </p:grpSpPr>
        <p:sp>
          <p:nvSpPr>
            <p:cNvPr id="32" name="object 32"/>
            <p:cNvSpPr/>
            <p:nvPr/>
          </p:nvSpPr>
          <p:spPr>
            <a:xfrm>
              <a:off x="1513332" y="1851660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3" name="object 33"/>
            <p:cNvSpPr/>
            <p:nvPr/>
          </p:nvSpPr>
          <p:spPr>
            <a:xfrm>
              <a:off x="1516380" y="1987296"/>
              <a:ext cx="755904" cy="480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4" name="object 34"/>
            <p:cNvSpPr/>
            <p:nvPr/>
          </p:nvSpPr>
          <p:spPr>
            <a:xfrm>
              <a:off x="1544574" y="188290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5" name="object 35"/>
            <p:cNvSpPr/>
            <p:nvPr/>
          </p:nvSpPr>
          <p:spPr>
            <a:xfrm>
              <a:off x="2084324" y="246532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6" name="object 36"/>
            <p:cNvSpPr/>
            <p:nvPr/>
          </p:nvSpPr>
          <p:spPr>
            <a:xfrm>
              <a:off x="1544574" y="188290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227677" y="2393728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728217" y="2245995"/>
            <a:ext cx="573881" cy="605790"/>
            <a:chOff x="2304288" y="1851660"/>
            <a:chExt cx="765175" cy="807720"/>
          </a:xfrm>
        </p:grpSpPr>
        <p:sp>
          <p:nvSpPr>
            <p:cNvPr id="39" name="object 39"/>
            <p:cNvSpPr/>
            <p:nvPr/>
          </p:nvSpPr>
          <p:spPr>
            <a:xfrm>
              <a:off x="2304288" y="1851660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0" name="object 40"/>
            <p:cNvSpPr/>
            <p:nvPr/>
          </p:nvSpPr>
          <p:spPr>
            <a:xfrm>
              <a:off x="2307336" y="1987296"/>
              <a:ext cx="755904" cy="4800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1" name="object 41"/>
            <p:cNvSpPr/>
            <p:nvPr/>
          </p:nvSpPr>
          <p:spPr>
            <a:xfrm>
              <a:off x="2335530" y="188290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2" name="object 42"/>
            <p:cNvSpPr/>
            <p:nvPr/>
          </p:nvSpPr>
          <p:spPr>
            <a:xfrm>
              <a:off x="2875280" y="246532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3" name="object 43"/>
            <p:cNvSpPr/>
            <p:nvPr/>
          </p:nvSpPr>
          <p:spPr>
            <a:xfrm>
              <a:off x="2335530" y="188290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820608" y="2393728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593217" y="2346579"/>
            <a:ext cx="573881" cy="605790"/>
            <a:chOff x="790955" y="1985772"/>
            <a:chExt cx="765175" cy="807720"/>
          </a:xfrm>
        </p:grpSpPr>
        <p:sp>
          <p:nvSpPr>
            <p:cNvPr id="46" name="object 46"/>
            <p:cNvSpPr/>
            <p:nvPr/>
          </p:nvSpPr>
          <p:spPr>
            <a:xfrm>
              <a:off x="790955" y="1985772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7" name="object 47"/>
            <p:cNvSpPr/>
            <p:nvPr/>
          </p:nvSpPr>
          <p:spPr>
            <a:xfrm>
              <a:off x="794003" y="2121408"/>
              <a:ext cx="755904" cy="480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8" name="object 48"/>
            <p:cNvSpPr/>
            <p:nvPr/>
          </p:nvSpPr>
          <p:spPr>
            <a:xfrm>
              <a:off x="822197" y="2017014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9" name="object 49"/>
            <p:cNvSpPr/>
            <p:nvPr/>
          </p:nvSpPr>
          <p:spPr>
            <a:xfrm>
              <a:off x="1361947" y="2599436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0" name="object 50"/>
            <p:cNvSpPr/>
            <p:nvPr/>
          </p:nvSpPr>
          <p:spPr>
            <a:xfrm>
              <a:off x="822197" y="2017014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685876" y="2493835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2" name="object 52"/>
          <p:cNvGrpSpPr/>
          <p:nvPr/>
        </p:nvGrpSpPr>
        <p:grpSpPr>
          <a:xfrm>
            <a:off x="1215009" y="2346579"/>
            <a:ext cx="573881" cy="605790"/>
            <a:chOff x="1620011" y="1985772"/>
            <a:chExt cx="765175" cy="807720"/>
          </a:xfrm>
        </p:grpSpPr>
        <p:sp>
          <p:nvSpPr>
            <p:cNvPr id="53" name="object 53"/>
            <p:cNvSpPr/>
            <p:nvPr/>
          </p:nvSpPr>
          <p:spPr>
            <a:xfrm>
              <a:off x="1620011" y="1985772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4" name="object 54"/>
            <p:cNvSpPr/>
            <p:nvPr/>
          </p:nvSpPr>
          <p:spPr>
            <a:xfrm>
              <a:off x="1623059" y="2121408"/>
              <a:ext cx="755904" cy="4800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5" name="object 55"/>
            <p:cNvSpPr/>
            <p:nvPr/>
          </p:nvSpPr>
          <p:spPr>
            <a:xfrm>
              <a:off x="1651253" y="2017014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6" name="object 56"/>
            <p:cNvSpPr/>
            <p:nvPr/>
          </p:nvSpPr>
          <p:spPr>
            <a:xfrm>
              <a:off x="2191003" y="2599436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7" name="object 57"/>
            <p:cNvSpPr/>
            <p:nvPr/>
          </p:nvSpPr>
          <p:spPr>
            <a:xfrm>
              <a:off x="1651253" y="2017014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8" name="object 58"/>
          <p:cNvSpPr txBox="1"/>
          <p:nvPr/>
        </p:nvSpPr>
        <p:spPr>
          <a:xfrm>
            <a:off x="1307877" y="2493835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1808226" y="2346579"/>
            <a:ext cx="573881" cy="605790"/>
            <a:chOff x="2410967" y="1985772"/>
            <a:chExt cx="765175" cy="807720"/>
          </a:xfrm>
        </p:grpSpPr>
        <p:sp>
          <p:nvSpPr>
            <p:cNvPr id="60" name="object 60"/>
            <p:cNvSpPr/>
            <p:nvPr/>
          </p:nvSpPr>
          <p:spPr>
            <a:xfrm>
              <a:off x="2410967" y="1985772"/>
              <a:ext cx="765048" cy="807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1" name="object 61"/>
            <p:cNvSpPr/>
            <p:nvPr/>
          </p:nvSpPr>
          <p:spPr>
            <a:xfrm>
              <a:off x="2442209" y="2017014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2" name="object 62"/>
            <p:cNvSpPr/>
            <p:nvPr/>
          </p:nvSpPr>
          <p:spPr>
            <a:xfrm>
              <a:off x="2981959" y="2599436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3" name="object 63"/>
            <p:cNvSpPr/>
            <p:nvPr/>
          </p:nvSpPr>
          <p:spPr>
            <a:xfrm>
              <a:off x="2442209" y="2017014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80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4" name="object 64"/>
          <p:cNvSpPr txBox="1"/>
          <p:nvPr/>
        </p:nvSpPr>
        <p:spPr>
          <a:xfrm>
            <a:off x="1996916" y="2493835"/>
            <a:ext cx="152876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…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2920365" y="2146554"/>
            <a:ext cx="1324928" cy="827723"/>
            <a:chOff x="3893820" y="1719072"/>
            <a:chExt cx="1766570" cy="1103630"/>
          </a:xfrm>
        </p:grpSpPr>
        <p:sp>
          <p:nvSpPr>
            <p:cNvPr id="66" name="object 66"/>
            <p:cNvSpPr/>
            <p:nvPr/>
          </p:nvSpPr>
          <p:spPr>
            <a:xfrm>
              <a:off x="3893820" y="1719072"/>
              <a:ext cx="1766316" cy="1103376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7" name="object 67"/>
            <p:cNvSpPr/>
            <p:nvPr/>
          </p:nvSpPr>
          <p:spPr>
            <a:xfrm>
              <a:off x="3925062" y="1750314"/>
              <a:ext cx="1649095" cy="986155"/>
            </a:xfrm>
            <a:custGeom>
              <a:avLst/>
              <a:gdLst/>
              <a:ahLst/>
              <a:cxnLst/>
              <a:rect l="l" t="t" r="r" b="b"/>
              <a:pathLst>
                <a:path w="1649095" h="986155">
                  <a:moveTo>
                    <a:pt x="1648967" y="0"/>
                  </a:moveTo>
                  <a:lnTo>
                    <a:pt x="0" y="0"/>
                  </a:lnTo>
                  <a:lnTo>
                    <a:pt x="0" y="986027"/>
                  </a:lnTo>
                  <a:lnTo>
                    <a:pt x="1484629" y="986027"/>
                  </a:lnTo>
                  <a:lnTo>
                    <a:pt x="1648967" y="821689"/>
                  </a:lnTo>
                  <a:lnTo>
                    <a:pt x="164896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8" name="object 68"/>
            <p:cNvSpPr/>
            <p:nvPr/>
          </p:nvSpPr>
          <p:spPr>
            <a:xfrm>
              <a:off x="5409692" y="2572004"/>
              <a:ext cx="164465" cy="164465"/>
            </a:xfrm>
            <a:custGeom>
              <a:avLst/>
              <a:gdLst/>
              <a:ahLst/>
              <a:cxnLst/>
              <a:rect l="l" t="t" r="r" b="b"/>
              <a:pathLst>
                <a:path w="164464" h="164464">
                  <a:moveTo>
                    <a:pt x="164337" y="0"/>
                  </a:moveTo>
                  <a:lnTo>
                    <a:pt x="32893" y="32893"/>
                  </a:lnTo>
                  <a:lnTo>
                    <a:pt x="0" y="164337"/>
                  </a:lnTo>
                  <a:lnTo>
                    <a:pt x="164337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9" name="object 69"/>
            <p:cNvSpPr/>
            <p:nvPr/>
          </p:nvSpPr>
          <p:spPr>
            <a:xfrm>
              <a:off x="3925062" y="1750314"/>
              <a:ext cx="1649095" cy="986155"/>
            </a:xfrm>
            <a:custGeom>
              <a:avLst/>
              <a:gdLst/>
              <a:ahLst/>
              <a:cxnLst/>
              <a:rect l="l" t="t" r="r" b="b"/>
              <a:pathLst>
                <a:path w="1649095" h="986155">
                  <a:moveTo>
                    <a:pt x="1484629" y="986027"/>
                  </a:moveTo>
                  <a:lnTo>
                    <a:pt x="1517523" y="854583"/>
                  </a:lnTo>
                  <a:lnTo>
                    <a:pt x="1648967" y="821689"/>
                  </a:lnTo>
                  <a:lnTo>
                    <a:pt x="1484629" y="986027"/>
                  </a:lnTo>
                  <a:lnTo>
                    <a:pt x="0" y="986027"/>
                  </a:lnTo>
                  <a:lnTo>
                    <a:pt x="0" y="0"/>
                  </a:lnTo>
                  <a:lnTo>
                    <a:pt x="1648967" y="0"/>
                  </a:lnTo>
                  <a:lnTo>
                    <a:pt x="1648967" y="821689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0" name="object 70"/>
          <p:cNvSpPr txBox="1"/>
          <p:nvPr/>
        </p:nvSpPr>
        <p:spPr>
          <a:xfrm>
            <a:off x="3388423" y="2383440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1" name="object 71"/>
          <p:cNvGrpSpPr/>
          <p:nvPr/>
        </p:nvGrpSpPr>
        <p:grpSpPr>
          <a:xfrm>
            <a:off x="2367153" y="2434590"/>
            <a:ext cx="761524" cy="335280"/>
            <a:chOff x="3156204" y="2103120"/>
            <a:chExt cx="1015365" cy="447040"/>
          </a:xfrm>
        </p:grpSpPr>
        <p:sp>
          <p:nvSpPr>
            <p:cNvPr id="72" name="object 72"/>
            <p:cNvSpPr/>
            <p:nvPr/>
          </p:nvSpPr>
          <p:spPr>
            <a:xfrm>
              <a:off x="3156204" y="2103120"/>
              <a:ext cx="1014983" cy="446531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3" name="object 73"/>
            <p:cNvSpPr/>
            <p:nvPr/>
          </p:nvSpPr>
          <p:spPr>
            <a:xfrm>
              <a:off x="3182874" y="2213375"/>
              <a:ext cx="739140" cy="171450"/>
            </a:xfrm>
            <a:custGeom>
              <a:avLst/>
              <a:gdLst/>
              <a:ahLst/>
              <a:cxnLst/>
              <a:rect l="l" t="t" r="r" b="b"/>
              <a:pathLst>
                <a:path w="739139" h="171450">
                  <a:moveTo>
                    <a:pt x="663085" y="85578"/>
                  </a:moveTo>
                  <a:lnTo>
                    <a:pt x="577088" y="135743"/>
                  </a:lnTo>
                  <a:lnTo>
                    <a:pt x="571462" y="140795"/>
                  </a:lnTo>
                  <a:lnTo>
                    <a:pt x="568277" y="147395"/>
                  </a:lnTo>
                  <a:lnTo>
                    <a:pt x="567783" y="154709"/>
                  </a:lnTo>
                  <a:lnTo>
                    <a:pt x="570229" y="161905"/>
                  </a:lnTo>
                  <a:lnTo>
                    <a:pt x="575280" y="167512"/>
                  </a:lnTo>
                  <a:lnTo>
                    <a:pt x="581866" y="170668"/>
                  </a:lnTo>
                  <a:lnTo>
                    <a:pt x="589143" y="171156"/>
                  </a:lnTo>
                  <a:lnTo>
                    <a:pt x="596264" y="168763"/>
                  </a:lnTo>
                  <a:lnTo>
                    <a:pt x="706126" y="104628"/>
                  </a:lnTo>
                  <a:lnTo>
                    <a:pt x="701039" y="104628"/>
                  </a:lnTo>
                  <a:lnTo>
                    <a:pt x="701039" y="102088"/>
                  </a:lnTo>
                  <a:lnTo>
                    <a:pt x="691388" y="102088"/>
                  </a:lnTo>
                  <a:lnTo>
                    <a:pt x="663085" y="85578"/>
                  </a:lnTo>
                  <a:close/>
                </a:path>
                <a:path w="739139" h="171450">
                  <a:moveTo>
                    <a:pt x="630427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630428" y="104628"/>
                  </a:lnTo>
                  <a:lnTo>
                    <a:pt x="663085" y="85578"/>
                  </a:lnTo>
                  <a:lnTo>
                    <a:pt x="630427" y="66528"/>
                  </a:lnTo>
                  <a:close/>
                </a:path>
                <a:path w="739139" h="171450">
                  <a:moveTo>
                    <a:pt x="706126" y="66528"/>
                  </a:moveTo>
                  <a:lnTo>
                    <a:pt x="701039" y="66528"/>
                  </a:lnTo>
                  <a:lnTo>
                    <a:pt x="701039" y="104628"/>
                  </a:lnTo>
                  <a:lnTo>
                    <a:pt x="706126" y="104628"/>
                  </a:lnTo>
                  <a:lnTo>
                    <a:pt x="738759" y="85578"/>
                  </a:lnTo>
                  <a:lnTo>
                    <a:pt x="706126" y="66528"/>
                  </a:lnTo>
                  <a:close/>
                </a:path>
                <a:path w="739139" h="171450">
                  <a:moveTo>
                    <a:pt x="691388" y="69068"/>
                  </a:moveTo>
                  <a:lnTo>
                    <a:pt x="663085" y="85578"/>
                  </a:lnTo>
                  <a:lnTo>
                    <a:pt x="691388" y="102088"/>
                  </a:lnTo>
                  <a:lnTo>
                    <a:pt x="691388" y="69068"/>
                  </a:lnTo>
                  <a:close/>
                </a:path>
                <a:path w="739139" h="171450">
                  <a:moveTo>
                    <a:pt x="701039" y="69068"/>
                  </a:moveTo>
                  <a:lnTo>
                    <a:pt x="691388" y="69068"/>
                  </a:lnTo>
                  <a:lnTo>
                    <a:pt x="691388" y="102088"/>
                  </a:lnTo>
                  <a:lnTo>
                    <a:pt x="701039" y="102088"/>
                  </a:lnTo>
                  <a:lnTo>
                    <a:pt x="701039" y="69068"/>
                  </a:lnTo>
                  <a:close/>
                </a:path>
                <a:path w="739139" h="171450">
                  <a:moveTo>
                    <a:pt x="589143" y="0"/>
                  </a:moveTo>
                  <a:lnTo>
                    <a:pt x="581866" y="488"/>
                  </a:lnTo>
                  <a:lnTo>
                    <a:pt x="575280" y="3643"/>
                  </a:lnTo>
                  <a:lnTo>
                    <a:pt x="570229" y="9251"/>
                  </a:lnTo>
                  <a:lnTo>
                    <a:pt x="567783" y="16446"/>
                  </a:lnTo>
                  <a:lnTo>
                    <a:pt x="568277" y="23760"/>
                  </a:lnTo>
                  <a:lnTo>
                    <a:pt x="571462" y="30360"/>
                  </a:lnTo>
                  <a:lnTo>
                    <a:pt x="577088" y="35413"/>
                  </a:lnTo>
                  <a:lnTo>
                    <a:pt x="663085" y="85578"/>
                  </a:lnTo>
                  <a:lnTo>
                    <a:pt x="691388" y="69068"/>
                  </a:lnTo>
                  <a:lnTo>
                    <a:pt x="701039" y="69068"/>
                  </a:lnTo>
                  <a:lnTo>
                    <a:pt x="701039" y="66528"/>
                  </a:lnTo>
                  <a:lnTo>
                    <a:pt x="706126" y="66528"/>
                  </a:lnTo>
                  <a:lnTo>
                    <a:pt x="596264" y="2393"/>
                  </a:lnTo>
                  <a:lnTo>
                    <a:pt x="589143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4" name="object 74"/>
          <p:cNvSpPr txBox="1"/>
          <p:nvPr/>
        </p:nvSpPr>
        <p:spPr>
          <a:xfrm>
            <a:off x="4514279" y="2314918"/>
            <a:ext cx="3867150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Main purpose of compaction </a:t>
            </a:r>
            <a:r>
              <a:rPr sz="1350" dirty="0">
                <a:solidFill>
                  <a:srgbClr val="5C646A"/>
                </a:solidFill>
                <a:latin typeface="Arial"/>
                <a:cs typeface="Arial"/>
              </a:rPr>
              <a:t>is to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optimize</a:t>
            </a:r>
            <a:r>
              <a:rPr sz="1350" spc="15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read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4"/>
              </a:spcBef>
            </a:pP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performance by reducing </a:t>
            </a:r>
            <a:r>
              <a:rPr sz="1350" dirty="0">
                <a:solidFill>
                  <a:srgbClr val="5C646A"/>
                </a:solidFill>
                <a:latin typeface="Arial"/>
                <a:cs typeface="Arial"/>
              </a:rPr>
              <a:t>the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number </a:t>
            </a:r>
            <a:r>
              <a:rPr sz="1350" dirty="0">
                <a:solidFill>
                  <a:srgbClr val="5C646A"/>
                </a:solidFill>
                <a:latin typeface="Arial"/>
                <a:cs typeface="Arial"/>
              </a:rPr>
              <a:t>of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disk</a:t>
            </a:r>
            <a:r>
              <a:rPr sz="1350" spc="34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seeks</a:t>
            </a:r>
            <a:endParaRPr sz="1350">
              <a:latin typeface="Arial"/>
              <a:cs typeface="Arial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4578287" y="3529013"/>
            <a:ext cx="0" cy="1963579"/>
          </a:xfrm>
          <a:custGeom>
            <a:avLst/>
            <a:gdLst/>
            <a:ahLst/>
            <a:cxnLst/>
            <a:rect l="l" t="t" r="r" b="b"/>
            <a:pathLst>
              <a:path h="2618104">
                <a:moveTo>
                  <a:pt x="0" y="0"/>
                </a:moveTo>
                <a:lnTo>
                  <a:pt x="0" y="2617508"/>
                </a:lnTo>
              </a:path>
            </a:pathLst>
          </a:custGeom>
          <a:ln w="28956">
            <a:solidFill>
              <a:srgbClr val="7B858D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6" name="object 76"/>
          <p:cNvSpPr txBox="1"/>
          <p:nvPr/>
        </p:nvSpPr>
        <p:spPr>
          <a:xfrm>
            <a:off x="428473" y="3508401"/>
            <a:ext cx="3804761" cy="1379704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211455" algn="ctr">
              <a:spcBef>
                <a:spcPts val="79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Minor</a:t>
            </a:r>
            <a:r>
              <a:rPr sz="1500" spc="-26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Compaction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1039"/>
              </a:spcBef>
            </a:pPr>
            <a:r>
              <a:rPr sz="1350" b="1" spc="-11" dirty="0">
                <a:solidFill>
                  <a:srgbClr val="5C646A"/>
                </a:solidFill>
                <a:latin typeface="Arial"/>
                <a:cs typeface="Arial"/>
              </a:rPr>
              <a:t>Trigger</a:t>
            </a:r>
            <a:r>
              <a:rPr sz="1350" spc="-11" dirty="0">
                <a:solidFill>
                  <a:srgbClr val="5C646A"/>
                </a:solidFill>
                <a:latin typeface="Arial"/>
                <a:cs typeface="Arial"/>
              </a:rPr>
              <a:t>: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Automatic based on</a:t>
            </a:r>
            <a:r>
              <a:rPr sz="1350" spc="-64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configurations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675"/>
              </a:spcBef>
            </a:pPr>
            <a:r>
              <a:rPr sz="1350" b="1" spc="-4" dirty="0">
                <a:solidFill>
                  <a:srgbClr val="5C646A"/>
                </a:solidFill>
                <a:latin typeface="Arial"/>
                <a:cs typeface="Arial"/>
              </a:rPr>
              <a:t>Mechanism</a:t>
            </a:r>
            <a:endParaRPr sz="1350">
              <a:latin typeface="Arial"/>
              <a:cs typeface="Arial"/>
            </a:endParaRPr>
          </a:p>
          <a:p>
            <a:pPr marL="224314" marR="3810" indent="-215265">
              <a:spcBef>
                <a:spcPts val="675"/>
              </a:spcBef>
              <a:buChar char="•"/>
              <a:tabLst>
                <a:tab pos="224314" algn="l"/>
                <a:tab pos="224790" algn="l"/>
              </a:tabLst>
            </a:pP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Reads a configurable number </a:t>
            </a:r>
            <a:r>
              <a:rPr sz="1350" dirty="0">
                <a:solidFill>
                  <a:srgbClr val="5C646A"/>
                </a:solidFill>
                <a:latin typeface="Arial"/>
                <a:cs typeface="Arial"/>
              </a:rPr>
              <a:t>of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smaller HFiles  and </a:t>
            </a:r>
            <a:r>
              <a:rPr sz="1350" spc="-8" dirty="0">
                <a:solidFill>
                  <a:srgbClr val="5C646A"/>
                </a:solidFill>
                <a:latin typeface="Arial"/>
                <a:cs typeface="Arial"/>
              </a:rPr>
              <a:t>writes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into a single large</a:t>
            </a:r>
            <a:r>
              <a:rPr sz="1350" spc="6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HFile</a:t>
            </a:r>
            <a:endParaRPr sz="13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4764120" y="3508400"/>
            <a:ext cx="2480309" cy="874438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22973">
              <a:spcBef>
                <a:spcPts val="79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Major</a:t>
            </a:r>
            <a:r>
              <a:rPr sz="1500" spc="-64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Compaction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1039"/>
              </a:spcBef>
            </a:pPr>
            <a:r>
              <a:rPr sz="1350" b="1" spc="-11" dirty="0">
                <a:solidFill>
                  <a:srgbClr val="5C646A"/>
                </a:solidFill>
                <a:latin typeface="Arial"/>
                <a:cs typeface="Arial"/>
              </a:rPr>
              <a:t>Trigger</a:t>
            </a:r>
            <a:r>
              <a:rPr sz="1350" spc="-11" dirty="0">
                <a:solidFill>
                  <a:srgbClr val="5C646A"/>
                </a:solidFill>
                <a:latin typeface="Arial"/>
                <a:cs typeface="Arial"/>
              </a:rPr>
              <a:t>: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Scheduled or</a:t>
            </a:r>
            <a:r>
              <a:rPr sz="1350" spc="8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Manual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675"/>
              </a:spcBef>
            </a:pPr>
            <a:r>
              <a:rPr sz="1350" b="1" spc="-4" dirty="0">
                <a:solidFill>
                  <a:srgbClr val="5C646A"/>
                </a:solidFill>
                <a:latin typeface="Arial"/>
                <a:cs typeface="Arial"/>
              </a:rPr>
              <a:t>Mechanism</a:t>
            </a:r>
            <a:endParaRPr sz="13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4764119" y="4452557"/>
            <a:ext cx="3500438" cy="102015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24314" marR="3810" indent="-215265">
              <a:spcBef>
                <a:spcPts val="75"/>
              </a:spcBef>
              <a:buChar char="•"/>
              <a:tabLst>
                <a:tab pos="224314" algn="l"/>
                <a:tab pos="224790" algn="l"/>
              </a:tabLst>
            </a:pP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Reads all HFiles of a region and </a:t>
            </a:r>
            <a:r>
              <a:rPr sz="1350" spc="-8" dirty="0">
                <a:solidFill>
                  <a:srgbClr val="5C646A"/>
                </a:solidFill>
                <a:latin typeface="Arial"/>
                <a:cs typeface="Arial"/>
              </a:rPr>
              <a:t>writes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to a  single large</a:t>
            </a:r>
            <a:r>
              <a:rPr sz="1350" spc="8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HFile</a:t>
            </a:r>
            <a:endParaRPr sz="1350">
              <a:latin typeface="Arial"/>
              <a:cs typeface="Arial"/>
            </a:endParaRPr>
          </a:p>
          <a:p>
            <a:pPr marL="224314" indent="-215265">
              <a:spcBef>
                <a:spcPts val="675"/>
              </a:spcBef>
              <a:buChar char="•"/>
              <a:tabLst>
                <a:tab pos="224314" algn="l"/>
                <a:tab pos="224790" algn="l"/>
              </a:tabLst>
            </a:pPr>
            <a:r>
              <a:rPr sz="1350" spc="-8" dirty="0">
                <a:solidFill>
                  <a:srgbClr val="5C646A"/>
                </a:solidFill>
                <a:latin typeface="Arial"/>
                <a:cs typeface="Arial"/>
              </a:rPr>
              <a:t>Physical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deletion </a:t>
            </a:r>
            <a:r>
              <a:rPr sz="1350" dirty="0">
                <a:solidFill>
                  <a:srgbClr val="5C646A"/>
                </a:solidFill>
                <a:latin typeface="Arial"/>
                <a:cs typeface="Arial"/>
              </a:rPr>
              <a:t>of</a:t>
            </a:r>
            <a:r>
              <a:rPr sz="1350" spc="34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records</a:t>
            </a:r>
            <a:endParaRPr sz="1350">
              <a:latin typeface="Arial"/>
              <a:cs typeface="Arial"/>
            </a:endParaRPr>
          </a:p>
          <a:p>
            <a:pPr marL="224314" indent="-215265">
              <a:spcBef>
                <a:spcPts val="675"/>
              </a:spcBef>
              <a:buChar char="•"/>
              <a:tabLst>
                <a:tab pos="224314" algn="l"/>
                <a:tab pos="224790" algn="l"/>
              </a:tabLst>
            </a:pPr>
            <a:r>
              <a:rPr sz="1350" spc="-11" dirty="0">
                <a:solidFill>
                  <a:srgbClr val="5C646A"/>
                </a:solidFill>
                <a:latin typeface="Arial"/>
                <a:cs typeface="Arial"/>
              </a:rPr>
              <a:t>Tries </a:t>
            </a:r>
            <a:r>
              <a:rPr sz="1350" dirty="0">
                <a:solidFill>
                  <a:srgbClr val="5C646A"/>
                </a:solidFill>
                <a:latin typeface="Arial"/>
                <a:cs typeface="Arial"/>
              </a:rPr>
              <a:t>to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achieve high data</a:t>
            </a:r>
            <a:r>
              <a:rPr sz="1350" spc="15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350" spc="-4" dirty="0">
                <a:solidFill>
                  <a:srgbClr val="5C646A"/>
                </a:solidFill>
                <a:latin typeface="Arial"/>
                <a:cs typeface="Arial"/>
              </a:rPr>
              <a:t>locality</a:t>
            </a:r>
            <a:endParaRPr sz="135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1164152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28951" y="2183129"/>
            <a:ext cx="3310127" cy="30986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/>
          <p:nvPr/>
        </p:nvSpPr>
        <p:spPr>
          <a:xfrm>
            <a:off x="4095940" y="2206562"/>
            <a:ext cx="117633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Region</a:t>
            </a:r>
            <a:r>
              <a:rPr sz="1350" b="1" spc="-4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1C1C1C"/>
                </a:solidFill>
                <a:latin typeface="Arial"/>
                <a:cs typeface="Arial"/>
              </a:rPr>
              <a:t>Server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138677" y="2486025"/>
            <a:ext cx="3107055" cy="3514725"/>
            <a:chOff x="4184903" y="2171700"/>
            <a:chExt cx="4142740" cy="4686300"/>
          </a:xfrm>
        </p:grpSpPr>
        <p:sp>
          <p:nvSpPr>
            <p:cNvPr id="5" name="object 5"/>
            <p:cNvSpPr/>
            <p:nvPr/>
          </p:nvSpPr>
          <p:spPr>
            <a:xfrm>
              <a:off x="4184903" y="4684774"/>
              <a:ext cx="4142232" cy="21732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" name="object 6"/>
            <p:cNvSpPr/>
            <p:nvPr/>
          </p:nvSpPr>
          <p:spPr>
            <a:xfrm>
              <a:off x="4192523" y="2171700"/>
              <a:ext cx="4126991" cy="2651760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7"/>
            <p:cNvSpPr/>
            <p:nvPr/>
          </p:nvSpPr>
          <p:spPr>
            <a:xfrm>
              <a:off x="4263389" y="2242565"/>
              <a:ext cx="3985260" cy="2510155"/>
            </a:xfrm>
            <a:custGeom>
              <a:avLst/>
              <a:gdLst/>
              <a:ahLst/>
              <a:cxnLst/>
              <a:rect l="l" t="t" r="r" b="b"/>
              <a:pathLst>
                <a:path w="3985259" h="2510154">
                  <a:moveTo>
                    <a:pt x="3566921" y="0"/>
                  </a:moveTo>
                  <a:lnTo>
                    <a:pt x="418338" y="0"/>
                  </a:lnTo>
                  <a:lnTo>
                    <a:pt x="369556" y="2814"/>
                  </a:lnTo>
                  <a:lnTo>
                    <a:pt x="322425" y="11050"/>
                  </a:lnTo>
                  <a:lnTo>
                    <a:pt x="277261" y="24391"/>
                  </a:lnTo>
                  <a:lnTo>
                    <a:pt x="234376" y="42525"/>
                  </a:lnTo>
                  <a:lnTo>
                    <a:pt x="194084" y="65137"/>
                  </a:lnTo>
                  <a:lnTo>
                    <a:pt x="156700" y="91913"/>
                  </a:lnTo>
                  <a:lnTo>
                    <a:pt x="122539" y="122539"/>
                  </a:lnTo>
                  <a:lnTo>
                    <a:pt x="91913" y="156700"/>
                  </a:lnTo>
                  <a:lnTo>
                    <a:pt x="65137" y="194084"/>
                  </a:lnTo>
                  <a:lnTo>
                    <a:pt x="42525" y="234376"/>
                  </a:lnTo>
                  <a:lnTo>
                    <a:pt x="24391" y="277261"/>
                  </a:lnTo>
                  <a:lnTo>
                    <a:pt x="11050" y="322425"/>
                  </a:lnTo>
                  <a:lnTo>
                    <a:pt x="2814" y="369556"/>
                  </a:lnTo>
                  <a:lnTo>
                    <a:pt x="0" y="418338"/>
                  </a:lnTo>
                  <a:lnTo>
                    <a:pt x="0" y="2091690"/>
                  </a:lnTo>
                  <a:lnTo>
                    <a:pt x="2814" y="2140471"/>
                  </a:lnTo>
                  <a:lnTo>
                    <a:pt x="11050" y="2187602"/>
                  </a:lnTo>
                  <a:lnTo>
                    <a:pt x="24391" y="2232766"/>
                  </a:lnTo>
                  <a:lnTo>
                    <a:pt x="42525" y="2275651"/>
                  </a:lnTo>
                  <a:lnTo>
                    <a:pt x="65137" y="2315943"/>
                  </a:lnTo>
                  <a:lnTo>
                    <a:pt x="91913" y="2353327"/>
                  </a:lnTo>
                  <a:lnTo>
                    <a:pt x="122539" y="2387488"/>
                  </a:lnTo>
                  <a:lnTo>
                    <a:pt x="156700" y="2418114"/>
                  </a:lnTo>
                  <a:lnTo>
                    <a:pt x="194084" y="2444890"/>
                  </a:lnTo>
                  <a:lnTo>
                    <a:pt x="234376" y="2467502"/>
                  </a:lnTo>
                  <a:lnTo>
                    <a:pt x="277261" y="2485636"/>
                  </a:lnTo>
                  <a:lnTo>
                    <a:pt x="322425" y="2498977"/>
                  </a:lnTo>
                  <a:lnTo>
                    <a:pt x="369556" y="2507213"/>
                  </a:lnTo>
                  <a:lnTo>
                    <a:pt x="418338" y="2510028"/>
                  </a:lnTo>
                  <a:lnTo>
                    <a:pt x="3566921" y="2510028"/>
                  </a:lnTo>
                  <a:lnTo>
                    <a:pt x="3615703" y="2507213"/>
                  </a:lnTo>
                  <a:lnTo>
                    <a:pt x="3662834" y="2498977"/>
                  </a:lnTo>
                  <a:lnTo>
                    <a:pt x="3707998" y="2485636"/>
                  </a:lnTo>
                  <a:lnTo>
                    <a:pt x="3750883" y="2467502"/>
                  </a:lnTo>
                  <a:lnTo>
                    <a:pt x="3791175" y="2444890"/>
                  </a:lnTo>
                  <a:lnTo>
                    <a:pt x="3828559" y="2418114"/>
                  </a:lnTo>
                  <a:lnTo>
                    <a:pt x="3862720" y="2387488"/>
                  </a:lnTo>
                  <a:lnTo>
                    <a:pt x="3893346" y="2353327"/>
                  </a:lnTo>
                  <a:lnTo>
                    <a:pt x="3920122" y="2315943"/>
                  </a:lnTo>
                  <a:lnTo>
                    <a:pt x="3942734" y="2275651"/>
                  </a:lnTo>
                  <a:lnTo>
                    <a:pt x="3960868" y="2232766"/>
                  </a:lnTo>
                  <a:lnTo>
                    <a:pt x="3974209" y="2187602"/>
                  </a:lnTo>
                  <a:lnTo>
                    <a:pt x="3982445" y="2140471"/>
                  </a:lnTo>
                  <a:lnTo>
                    <a:pt x="3985260" y="2091690"/>
                  </a:lnTo>
                  <a:lnTo>
                    <a:pt x="3985260" y="418338"/>
                  </a:lnTo>
                  <a:lnTo>
                    <a:pt x="3982445" y="369556"/>
                  </a:lnTo>
                  <a:lnTo>
                    <a:pt x="3974209" y="322425"/>
                  </a:lnTo>
                  <a:lnTo>
                    <a:pt x="3960868" y="277261"/>
                  </a:lnTo>
                  <a:lnTo>
                    <a:pt x="3942734" y="234376"/>
                  </a:lnTo>
                  <a:lnTo>
                    <a:pt x="3920122" y="194084"/>
                  </a:lnTo>
                  <a:lnTo>
                    <a:pt x="3893346" y="156700"/>
                  </a:lnTo>
                  <a:lnTo>
                    <a:pt x="3862720" y="122539"/>
                  </a:lnTo>
                  <a:lnTo>
                    <a:pt x="3828559" y="91913"/>
                  </a:lnTo>
                  <a:lnTo>
                    <a:pt x="3791175" y="65137"/>
                  </a:lnTo>
                  <a:lnTo>
                    <a:pt x="3750883" y="42525"/>
                  </a:lnTo>
                  <a:lnTo>
                    <a:pt x="3707998" y="24391"/>
                  </a:lnTo>
                  <a:lnTo>
                    <a:pt x="3662834" y="11050"/>
                  </a:lnTo>
                  <a:lnTo>
                    <a:pt x="3615703" y="2814"/>
                  </a:lnTo>
                  <a:lnTo>
                    <a:pt x="356692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8"/>
            <p:cNvSpPr/>
            <p:nvPr/>
          </p:nvSpPr>
          <p:spPr>
            <a:xfrm>
              <a:off x="4263389" y="2242565"/>
              <a:ext cx="3985260" cy="2510155"/>
            </a:xfrm>
            <a:custGeom>
              <a:avLst/>
              <a:gdLst/>
              <a:ahLst/>
              <a:cxnLst/>
              <a:rect l="l" t="t" r="r" b="b"/>
              <a:pathLst>
                <a:path w="3985259" h="2510154">
                  <a:moveTo>
                    <a:pt x="0" y="418338"/>
                  </a:moveTo>
                  <a:lnTo>
                    <a:pt x="2814" y="369556"/>
                  </a:lnTo>
                  <a:lnTo>
                    <a:pt x="11050" y="322425"/>
                  </a:lnTo>
                  <a:lnTo>
                    <a:pt x="24391" y="277261"/>
                  </a:lnTo>
                  <a:lnTo>
                    <a:pt x="42525" y="234376"/>
                  </a:lnTo>
                  <a:lnTo>
                    <a:pt x="65137" y="194084"/>
                  </a:lnTo>
                  <a:lnTo>
                    <a:pt x="91913" y="156700"/>
                  </a:lnTo>
                  <a:lnTo>
                    <a:pt x="122539" y="122539"/>
                  </a:lnTo>
                  <a:lnTo>
                    <a:pt x="156700" y="91913"/>
                  </a:lnTo>
                  <a:lnTo>
                    <a:pt x="194084" y="65137"/>
                  </a:lnTo>
                  <a:lnTo>
                    <a:pt x="234376" y="42525"/>
                  </a:lnTo>
                  <a:lnTo>
                    <a:pt x="277261" y="24391"/>
                  </a:lnTo>
                  <a:lnTo>
                    <a:pt x="322425" y="11050"/>
                  </a:lnTo>
                  <a:lnTo>
                    <a:pt x="369556" y="2814"/>
                  </a:lnTo>
                  <a:lnTo>
                    <a:pt x="418338" y="0"/>
                  </a:lnTo>
                  <a:lnTo>
                    <a:pt x="3566921" y="0"/>
                  </a:lnTo>
                  <a:lnTo>
                    <a:pt x="3615703" y="2814"/>
                  </a:lnTo>
                  <a:lnTo>
                    <a:pt x="3662834" y="11050"/>
                  </a:lnTo>
                  <a:lnTo>
                    <a:pt x="3707998" y="24391"/>
                  </a:lnTo>
                  <a:lnTo>
                    <a:pt x="3750883" y="42525"/>
                  </a:lnTo>
                  <a:lnTo>
                    <a:pt x="3791175" y="65137"/>
                  </a:lnTo>
                  <a:lnTo>
                    <a:pt x="3828559" y="91913"/>
                  </a:lnTo>
                  <a:lnTo>
                    <a:pt x="3862720" y="122539"/>
                  </a:lnTo>
                  <a:lnTo>
                    <a:pt x="3893346" y="156700"/>
                  </a:lnTo>
                  <a:lnTo>
                    <a:pt x="3920122" y="194084"/>
                  </a:lnTo>
                  <a:lnTo>
                    <a:pt x="3942734" y="234376"/>
                  </a:lnTo>
                  <a:lnTo>
                    <a:pt x="3960868" y="277261"/>
                  </a:lnTo>
                  <a:lnTo>
                    <a:pt x="3974209" y="322425"/>
                  </a:lnTo>
                  <a:lnTo>
                    <a:pt x="3982445" y="369556"/>
                  </a:lnTo>
                  <a:lnTo>
                    <a:pt x="3985260" y="418338"/>
                  </a:lnTo>
                  <a:lnTo>
                    <a:pt x="3985260" y="2091690"/>
                  </a:lnTo>
                  <a:lnTo>
                    <a:pt x="3982445" y="2140471"/>
                  </a:lnTo>
                  <a:lnTo>
                    <a:pt x="3974209" y="2187602"/>
                  </a:lnTo>
                  <a:lnTo>
                    <a:pt x="3960868" y="2232766"/>
                  </a:lnTo>
                  <a:lnTo>
                    <a:pt x="3942734" y="2275651"/>
                  </a:lnTo>
                  <a:lnTo>
                    <a:pt x="3920122" y="2315943"/>
                  </a:lnTo>
                  <a:lnTo>
                    <a:pt x="3893346" y="2353327"/>
                  </a:lnTo>
                  <a:lnTo>
                    <a:pt x="3862720" y="2387488"/>
                  </a:lnTo>
                  <a:lnTo>
                    <a:pt x="3828559" y="2418114"/>
                  </a:lnTo>
                  <a:lnTo>
                    <a:pt x="3791175" y="2444890"/>
                  </a:lnTo>
                  <a:lnTo>
                    <a:pt x="3750883" y="2467502"/>
                  </a:lnTo>
                  <a:lnTo>
                    <a:pt x="3707998" y="2485636"/>
                  </a:lnTo>
                  <a:lnTo>
                    <a:pt x="3662834" y="2498977"/>
                  </a:lnTo>
                  <a:lnTo>
                    <a:pt x="3615703" y="2507213"/>
                  </a:lnTo>
                  <a:lnTo>
                    <a:pt x="3566921" y="2510028"/>
                  </a:lnTo>
                  <a:lnTo>
                    <a:pt x="418338" y="2510028"/>
                  </a:lnTo>
                  <a:lnTo>
                    <a:pt x="369556" y="2507213"/>
                  </a:lnTo>
                  <a:lnTo>
                    <a:pt x="322425" y="2498977"/>
                  </a:lnTo>
                  <a:lnTo>
                    <a:pt x="277261" y="2485636"/>
                  </a:lnTo>
                  <a:lnTo>
                    <a:pt x="234376" y="2467502"/>
                  </a:lnTo>
                  <a:lnTo>
                    <a:pt x="194084" y="2444890"/>
                  </a:lnTo>
                  <a:lnTo>
                    <a:pt x="156700" y="2418114"/>
                  </a:lnTo>
                  <a:lnTo>
                    <a:pt x="122539" y="2387488"/>
                  </a:lnTo>
                  <a:lnTo>
                    <a:pt x="91913" y="2353327"/>
                  </a:lnTo>
                  <a:lnTo>
                    <a:pt x="65137" y="2315943"/>
                  </a:lnTo>
                  <a:lnTo>
                    <a:pt x="42525" y="2275651"/>
                  </a:lnTo>
                  <a:lnTo>
                    <a:pt x="24391" y="2232766"/>
                  </a:lnTo>
                  <a:lnTo>
                    <a:pt x="11050" y="2187602"/>
                  </a:lnTo>
                  <a:lnTo>
                    <a:pt x="2814" y="2140471"/>
                  </a:lnTo>
                  <a:lnTo>
                    <a:pt x="0" y="2091690"/>
                  </a:lnTo>
                  <a:lnTo>
                    <a:pt x="0" y="418338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91215" y="2650674"/>
            <a:ext cx="60055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gion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526922" y="3347848"/>
            <a:ext cx="1201293" cy="30632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1"/>
          <p:cNvSpPr txBox="1"/>
          <p:nvPr/>
        </p:nvSpPr>
        <p:spPr>
          <a:xfrm>
            <a:off x="879501" y="3389529"/>
            <a:ext cx="495776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Cli</a:t>
            </a:r>
            <a:r>
              <a:rPr sz="1350" b="1" spc="-8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nt</a:t>
            </a:r>
            <a:endParaRPr sz="135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40105" y="2041669"/>
            <a:ext cx="1472309" cy="58467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3" name="object 13"/>
          <p:cNvSpPr txBox="1"/>
          <p:nvPr/>
        </p:nvSpPr>
        <p:spPr>
          <a:xfrm>
            <a:off x="1612869" y="2196427"/>
            <a:ext cx="886301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Zookeeper</a:t>
            </a:r>
            <a:endParaRPr sz="135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283839" y="3891916"/>
            <a:ext cx="873252" cy="32575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5" name="object 15"/>
          <p:cNvSpPr txBox="1"/>
          <p:nvPr/>
        </p:nvSpPr>
        <p:spPr>
          <a:xfrm>
            <a:off x="3395281" y="3935445"/>
            <a:ext cx="65151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11" dirty="0">
                <a:solidFill>
                  <a:srgbClr val="1C1C1C"/>
                </a:solidFill>
                <a:latin typeface="Arial"/>
                <a:cs typeface="Arial"/>
              </a:rPr>
              <a:t>M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emst</a:t>
            </a: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or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654546" y="2183129"/>
            <a:ext cx="2057400" cy="30986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7" name="object 17"/>
          <p:cNvSpPr txBox="1"/>
          <p:nvPr/>
        </p:nvSpPr>
        <p:spPr>
          <a:xfrm>
            <a:off x="7440549" y="2206562"/>
            <a:ext cx="485299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H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D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FS</a:t>
            </a:r>
            <a:endParaRPr sz="135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296162" y="4408550"/>
            <a:ext cx="1515618" cy="100012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9" name="object 19"/>
          <p:cNvSpPr txBox="1"/>
          <p:nvPr/>
        </p:nvSpPr>
        <p:spPr>
          <a:xfrm>
            <a:off x="1465897" y="4432840"/>
            <a:ext cx="1176338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Region</a:t>
            </a:r>
            <a:r>
              <a:rPr sz="1350" b="1" spc="-4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350" b="1" spc="-8" dirty="0">
                <a:solidFill>
                  <a:srgbClr val="1C1C1C"/>
                </a:solidFill>
                <a:latin typeface="Arial"/>
                <a:cs typeface="Arial"/>
              </a:rPr>
              <a:t>Server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428750" y="4703444"/>
            <a:ext cx="1274445" cy="1073468"/>
            <a:chOff x="1905000" y="5128259"/>
            <a:chExt cx="1699260" cy="1431290"/>
          </a:xfrm>
        </p:grpSpPr>
        <p:sp>
          <p:nvSpPr>
            <p:cNvPr id="21" name="object 21"/>
            <p:cNvSpPr/>
            <p:nvPr/>
          </p:nvSpPr>
          <p:spPr>
            <a:xfrm>
              <a:off x="1905000" y="5708903"/>
              <a:ext cx="1699260" cy="85039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2" name="object 22"/>
            <p:cNvSpPr/>
            <p:nvPr/>
          </p:nvSpPr>
          <p:spPr>
            <a:xfrm>
              <a:off x="1912620" y="5128259"/>
              <a:ext cx="1684020" cy="77723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3" name="object 23"/>
            <p:cNvSpPr/>
            <p:nvPr/>
          </p:nvSpPr>
          <p:spPr>
            <a:xfrm>
              <a:off x="1983485" y="5199125"/>
              <a:ext cx="1542415" cy="635635"/>
            </a:xfrm>
            <a:custGeom>
              <a:avLst/>
              <a:gdLst/>
              <a:ahLst/>
              <a:cxnLst/>
              <a:rect l="l" t="t" r="r" b="b"/>
              <a:pathLst>
                <a:path w="1542414" h="635635">
                  <a:moveTo>
                    <a:pt x="1436369" y="0"/>
                  </a:moveTo>
                  <a:lnTo>
                    <a:pt x="105918" y="0"/>
                  </a:lnTo>
                  <a:lnTo>
                    <a:pt x="64668" y="8316"/>
                  </a:lnTo>
                  <a:lnTo>
                    <a:pt x="31003" y="31003"/>
                  </a:lnTo>
                  <a:lnTo>
                    <a:pt x="8316" y="64668"/>
                  </a:lnTo>
                  <a:lnTo>
                    <a:pt x="0" y="105918"/>
                  </a:lnTo>
                  <a:lnTo>
                    <a:pt x="0" y="529590"/>
                  </a:lnTo>
                  <a:lnTo>
                    <a:pt x="8316" y="570817"/>
                  </a:lnTo>
                  <a:lnTo>
                    <a:pt x="31003" y="604485"/>
                  </a:lnTo>
                  <a:lnTo>
                    <a:pt x="64668" y="627184"/>
                  </a:lnTo>
                  <a:lnTo>
                    <a:pt x="105918" y="635508"/>
                  </a:lnTo>
                  <a:lnTo>
                    <a:pt x="1436369" y="635508"/>
                  </a:lnTo>
                  <a:lnTo>
                    <a:pt x="1477619" y="627184"/>
                  </a:lnTo>
                  <a:lnTo>
                    <a:pt x="1511284" y="604485"/>
                  </a:lnTo>
                  <a:lnTo>
                    <a:pt x="1533971" y="570817"/>
                  </a:lnTo>
                  <a:lnTo>
                    <a:pt x="1542288" y="529590"/>
                  </a:lnTo>
                  <a:lnTo>
                    <a:pt x="1542288" y="105918"/>
                  </a:lnTo>
                  <a:lnTo>
                    <a:pt x="1533971" y="64668"/>
                  </a:lnTo>
                  <a:lnTo>
                    <a:pt x="1511284" y="31003"/>
                  </a:lnTo>
                  <a:lnTo>
                    <a:pt x="1477619" y="8316"/>
                  </a:lnTo>
                  <a:lnTo>
                    <a:pt x="143636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24" name="object 24"/>
            <p:cNvSpPr/>
            <p:nvPr/>
          </p:nvSpPr>
          <p:spPr>
            <a:xfrm>
              <a:off x="1983485" y="5199125"/>
              <a:ext cx="1542415" cy="635635"/>
            </a:xfrm>
            <a:custGeom>
              <a:avLst/>
              <a:gdLst/>
              <a:ahLst/>
              <a:cxnLst/>
              <a:rect l="l" t="t" r="r" b="b"/>
              <a:pathLst>
                <a:path w="1542414" h="635635">
                  <a:moveTo>
                    <a:pt x="0" y="105918"/>
                  </a:moveTo>
                  <a:lnTo>
                    <a:pt x="8316" y="64668"/>
                  </a:lnTo>
                  <a:lnTo>
                    <a:pt x="31003" y="31003"/>
                  </a:lnTo>
                  <a:lnTo>
                    <a:pt x="64668" y="8316"/>
                  </a:lnTo>
                  <a:lnTo>
                    <a:pt x="105918" y="0"/>
                  </a:lnTo>
                  <a:lnTo>
                    <a:pt x="1436369" y="0"/>
                  </a:lnTo>
                  <a:lnTo>
                    <a:pt x="1477619" y="8316"/>
                  </a:lnTo>
                  <a:lnTo>
                    <a:pt x="1511284" y="31003"/>
                  </a:lnTo>
                  <a:lnTo>
                    <a:pt x="1533971" y="64668"/>
                  </a:lnTo>
                  <a:lnTo>
                    <a:pt x="1542288" y="105918"/>
                  </a:lnTo>
                  <a:lnTo>
                    <a:pt x="1542288" y="529590"/>
                  </a:lnTo>
                  <a:lnTo>
                    <a:pt x="1533971" y="570817"/>
                  </a:lnTo>
                  <a:lnTo>
                    <a:pt x="1511284" y="604485"/>
                  </a:lnTo>
                  <a:lnTo>
                    <a:pt x="1477619" y="627184"/>
                  </a:lnTo>
                  <a:lnTo>
                    <a:pt x="1436369" y="635508"/>
                  </a:lnTo>
                  <a:lnTo>
                    <a:pt x="105918" y="635508"/>
                  </a:lnTo>
                  <a:lnTo>
                    <a:pt x="64668" y="627184"/>
                  </a:lnTo>
                  <a:lnTo>
                    <a:pt x="31003" y="604485"/>
                  </a:lnTo>
                  <a:lnTo>
                    <a:pt x="8316" y="570817"/>
                  </a:lnTo>
                  <a:lnTo>
                    <a:pt x="0" y="529590"/>
                  </a:lnTo>
                  <a:lnTo>
                    <a:pt x="0" y="105918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65363" y="4800466"/>
            <a:ext cx="600075" cy="425116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7145">
              <a:spcBef>
                <a:spcPts val="75"/>
              </a:spcBef>
            </a:pPr>
            <a:r>
              <a:rPr sz="1350" b="1" spc="-23" dirty="0">
                <a:solidFill>
                  <a:srgbClr val="1C1C1C"/>
                </a:solidFill>
                <a:latin typeface="Arial"/>
                <a:cs typeface="Arial"/>
              </a:rPr>
              <a:t>.META.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4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757416" y="2528316"/>
            <a:ext cx="1852803" cy="31661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27" name="object 27"/>
          <p:cNvSpPr txBox="1"/>
          <p:nvPr/>
        </p:nvSpPr>
        <p:spPr>
          <a:xfrm>
            <a:off x="7485603" y="2571179"/>
            <a:ext cx="395764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71" dirty="0">
                <a:solidFill>
                  <a:srgbClr val="1C1C1C"/>
                </a:solidFill>
                <a:latin typeface="Arial"/>
                <a:cs typeface="Arial"/>
              </a:rPr>
              <a:t>W</a:t>
            </a:r>
            <a:r>
              <a:rPr sz="1350" b="1" spc="-45" dirty="0">
                <a:solidFill>
                  <a:srgbClr val="1C1C1C"/>
                </a:solidFill>
                <a:latin typeface="Arial"/>
                <a:cs typeface="Arial"/>
              </a:rPr>
              <a:t>A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L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7431785" y="3727323"/>
            <a:ext cx="575310" cy="605790"/>
            <a:chOff x="9909047" y="3826764"/>
            <a:chExt cx="767080" cy="807720"/>
          </a:xfrm>
        </p:grpSpPr>
        <p:sp>
          <p:nvSpPr>
            <p:cNvPr id="29" name="object 29"/>
            <p:cNvSpPr/>
            <p:nvPr/>
          </p:nvSpPr>
          <p:spPr>
            <a:xfrm>
              <a:off x="9909047" y="3826764"/>
              <a:ext cx="766572" cy="8077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0" name="object 30"/>
            <p:cNvSpPr/>
            <p:nvPr/>
          </p:nvSpPr>
          <p:spPr>
            <a:xfrm>
              <a:off x="9913619" y="3962400"/>
              <a:ext cx="755903" cy="4800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1" name="object 31"/>
            <p:cNvSpPr/>
            <p:nvPr/>
          </p:nvSpPr>
          <p:spPr>
            <a:xfrm>
              <a:off x="9940289" y="3858006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649224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41019" y="690372"/>
                  </a:lnTo>
                  <a:lnTo>
                    <a:pt x="649224" y="582168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2" name="object 32"/>
            <p:cNvSpPr/>
            <p:nvPr/>
          </p:nvSpPr>
          <p:spPr>
            <a:xfrm>
              <a:off x="10481309" y="4440174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4" y="0"/>
                  </a:moveTo>
                  <a:lnTo>
                    <a:pt x="21590" y="21589"/>
                  </a:lnTo>
                  <a:lnTo>
                    <a:pt x="0" y="108203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3" name="object 33"/>
            <p:cNvSpPr/>
            <p:nvPr/>
          </p:nvSpPr>
          <p:spPr>
            <a:xfrm>
              <a:off x="9940289" y="3858006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541019" y="690372"/>
                  </a:moveTo>
                  <a:lnTo>
                    <a:pt x="562609" y="603758"/>
                  </a:lnTo>
                  <a:lnTo>
                    <a:pt x="649224" y="582168"/>
                  </a:lnTo>
                  <a:lnTo>
                    <a:pt x="541019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2168"/>
                  </a:lnTo>
                </a:path>
              </a:pathLst>
            </a:custGeom>
            <a:ln w="10667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7526084" y="3875341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025004" y="3727323"/>
            <a:ext cx="573881" cy="605790"/>
            <a:chOff x="10700004" y="3826764"/>
            <a:chExt cx="765175" cy="807720"/>
          </a:xfrm>
        </p:grpSpPr>
        <p:sp>
          <p:nvSpPr>
            <p:cNvPr id="36" name="object 36"/>
            <p:cNvSpPr/>
            <p:nvPr/>
          </p:nvSpPr>
          <p:spPr>
            <a:xfrm>
              <a:off x="10700004" y="3826764"/>
              <a:ext cx="765048" cy="80771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7" name="object 37"/>
            <p:cNvSpPr/>
            <p:nvPr/>
          </p:nvSpPr>
          <p:spPr>
            <a:xfrm>
              <a:off x="10703052" y="3962400"/>
              <a:ext cx="755903" cy="4800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8" name="object 38"/>
            <p:cNvSpPr/>
            <p:nvPr/>
          </p:nvSpPr>
          <p:spPr>
            <a:xfrm>
              <a:off x="10731246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39" name="object 39"/>
            <p:cNvSpPr/>
            <p:nvPr/>
          </p:nvSpPr>
          <p:spPr>
            <a:xfrm>
              <a:off x="11270996" y="4440428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90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0" name="object 40"/>
            <p:cNvSpPr/>
            <p:nvPr/>
          </p:nvSpPr>
          <p:spPr>
            <a:xfrm>
              <a:off x="10731246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8119015" y="3875341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6809995" y="3018662"/>
            <a:ext cx="573881" cy="604838"/>
            <a:chOff x="9079992" y="2881883"/>
            <a:chExt cx="765175" cy="806450"/>
          </a:xfrm>
        </p:grpSpPr>
        <p:sp>
          <p:nvSpPr>
            <p:cNvPr id="43" name="object 43"/>
            <p:cNvSpPr/>
            <p:nvPr/>
          </p:nvSpPr>
          <p:spPr>
            <a:xfrm>
              <a:off x="9079992" y="2881883"/>
              <a:ext cx="765048" cy="80619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4" name="object 44"/>
            <p:cNvSpPr/>
            <p:nvPr/>
          </p:nvSpPr>
          <p:spPr>
            <a:xfrm>
              <a:off x="9083040" y="3015995"/>
              <a:ext cx="755903" cy="4800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5" name="object 45"/>
            <p:cNvSpPr/>
            <p:nvPr/>
          </p:nvSpPr>
          <p:spPr>
            <a:xfrm>
              <a:off x="9111234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647700" y="0"/>
                  </a:moveTo>
                  <a:lnTo>
                    <a:pt x="0" y="0"/>
                  </a:lnTo>
                  <a:lnTo>
                    <a:pt x="0" y="688848"/>
                  </a:lnTo>
                  <a:lnTo>
                    <a:pt x="539750" y="688848"/>
                  </a:lnTo>
                  <a:lnTo>
                    <a:pt x="647700" y="58089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6" name="object 46"/>
            <p:cNvSpPr/>
            <p:nvPr/>
          </p:nvSpPr>
          <p:spPr>
            <a:xfrm>
              <a:off x="9650984" y="349402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47" name="object 47"/>
            <p:cNvSpPr/>
            <p:nvPr/>
          </p:nvSpPr>
          <p:spPr>
            <a:xfrm>
              <a:off x="9111234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539750" y="688848"/>
                  </a:moveTo>
                  <a:lnTo>
                    <a:pt x="561340" y="602488"/>
                  </a:lnTo>
                  <a:lnTo>
                    <a:pt x="647700" y="580898"/>
                  </a:lnTo>
                  <a:lnTo>
                    <a:pt x="539750" y="688848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0898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6903815" y="3165729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7431785" y="3018662"/>
            <a:ext cx="575310" cy="604838"/>
            <a:chOff x="9909047" y="2881883"/>
            <a:chExt cx="767080" cy="806450"/>
          </a:xfrm>
        </p:grpSpPr>
        <p:sp>
          <p:nvSpPr>
            <p:cNvPr id="50" name="object 50"/>
            <p:cNvSpPr/>
            <p:nvPr/>
          </p:nvSpPr>
          <p:spPr>
            <a:xfrm>
              <a:off x="9909047" y="2881883"/>
              <a:ext cx="766572" cy="806195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1" name="object 51"/>
            <p:cNvSpPr/>
            <p:nvPr/>
          </p:nvSpPr>
          <p:spPr>
            <a:xfrm>
              <a:off x="9913619" y="3015995"/>
              <a:ext cx="755903" cy="480060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2" name="object 52"/>
            <p:cNvSpPr/>
            <p:nvPr/>
          </p:nvSpPr>
          <p:spPr>
            <a:xfrm>
              <a:off x="9940289" y="2913125"/>
              <a:ext cx="649605" cy="688975"/>
            </a:xfrm>
            <a:custGeom>
              <a:avLst/>
              <a:gdLst/>
              <a:ahLst/>
              <a:cxnLst/>
              <a:rect l="l" t="t" r="r" b="b"/>
              <a:pathLst>
                <a:path w="649604" h="688975">
                  <a:moveTo>
                    <a:pt x="649224" y="0"/>
                  </a:moveTo>
                  <a:lnTo>
                    <a:pt x="0" y="0"/>
                  </a:lnTo>
                  <a:lnTo>
                    <a:pt x="0" y="688848"/>
                  </a:lnTo>
                  <a:lnTo>
                    <a:pt x="541019" y="688848"/>
                  </a:lnTo>
                  <a:lnTo>
                    <a:pt x="649224" y="580644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3" name="object 53"/>
            <p:cNvSpPr/>
            <p:nvPr/>
          </p:nvSpPr>
          <p:spPr>
            <a:xfrm>
              <a:off x="10481309" y="3493769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4" y="0"/>
                  </a:moveTo>
                  <a:lnTo>
                    <a:pt x="21590" y="21589"/>
                  </a:lnTo>
                  <a:lnTo>
                    <a:pt x="0" y="108203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4" name="object 54"/>
            <p:cNvSpPr/>
            <p:nvPr/>
          </p:nvSpPr>
          <p:spPr>
            <a:xfrm>
              <a:off x="9940289" y="2913125"/>
              <a:ext cx="649605" cy="688975"/>
            </a:xfrm>
            <a:custGeom>
              <a:avLst/>
              <a:gdLst/>
              <a:ahLst/>
              <a:cxnLst/>
              <a:rect l="l" t="t" r="r" b="b"/>
              <a:pathLst>
                <a:path w="649604" h="688975">
                  <a:moveTo>
                    <a:pt x="541019" y="688848"/>
                  </a:moveTo>
                  <a:lnTo>
                    <a:pt x="562609" y="602234"/>
                  </a:lnTo>
                  <a:lnTo>
                    <a:pt x="649224" y="580644"/>
                  </a:lnTo>
                  <a:lnTo>
                    <a:pt x="541019" y="688848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0644"/>
                  </a:lnTo>
                </a:path>
              </a:pathLst>
            </a:custGeom>
            <a:ln w="10667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55" name="object 55"/>
          <p:cNvSpPr txBox="1"/>
          <p:nvPr/>
        </p:nvSpPr>
        <p:spPr>
          <a:xfrm>
            <a:off x="7526084" y="3165729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8025004" y="3018662"/>
            <a:ext cx="573881" cy="604838"/>
            <a:chOff x="10700004" y="2881883"/>
            <a:chExt cx="765175" cy="806450"/>
          </a:xfrm>
        </p:grpSpPr>
        <p:sp>
          <p:nvSpPr>
            <p:cNvPr id="57" name="object 57"/>
            <p:cNvSpPr/>
            <p:nvPr/>
          </p:nvSpPr>
          <p:spPr>
            <a:xfrm>
              <a:off x="10700004" y="2881883"/>
              <a:ext cx="765048" cy="806195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8" name="object 58"/>
            <p:cNvSpPr/>
            <p:nvPr/>
          </p:nvSpPr>
          <p:spPr>
            <a:xfrm>
              <a:off x="10703052" y="3015995"/>
              <a:ext cx="755903" cy="4800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59" name="object 59"/>
            <p:cNvSpPr/>
            <p:nvPr/>
          </p:nvSpPr>
          <p:spPr>
            <a:xfrm>
              <a:off x="10731246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647700" y="0"/>
                  </a:moveTo>
                  <a:lnTo>
                    <a:pt x="0" y="0"/>
                  </a:lnTo>
                  <a:lnTo>
                    <a:pt x="0" y="688848"/>
                  </a:lnTo>
                  <a:lnTo>
                    <a:pt x="539750" y="688848"/>
                  </a:lnTo>
                  <a:lnTo>
                    <a:pt x="647700" y="580898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0" name="object 60"/>
            <p:cNvSpPr/>
            <p:nvPr/>
          </p:nvSpPr>
          <p:spPr>
            <a:xfrm>
              <a:off x="11270996" y="3494023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1" name="object 61"/>
            <p:cNvSpPr/>
            <p:nvPr/>
          </p:nvSpPr>
          <p:spPr>
            <a:xfrm>
              <a:off x="10731246" y="2913125"/>
              <a:ext cx="647700" cy="688975"/>
            </a:xfrm>
            <a:custGeom>
              <a:avLst/>
              <a:gdLst/>
              <a:ahLst/>
              <a:cxnLst/>
              <a:rect l="l" t="t" r="r" b="b"/>
              <a:pathLst>
                <a:path w="647700" h="688975">
                  <a:moveTo>
                    <a:pt x="539750" y="688848"/>
                  </a:moveTo>
                  <a:lnTo>
                    <a:pt x="561339" y="602488"/>
                  </a:lnTo>
                  <a:lnTo>
                    <a:pt x="647700" y="580898"/>
                  </a:lnTo>
                  <a:lnTo>
                    <a:pt x="539750" y="688848"/>
                  </a:lnTo>
                  <a:lnTo>
                    <a:pt x="0" y="688848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0898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119015" y="3165729"/>
            <a:ext cx="345757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258942" y="3881628"/>
            <a:ext cx="835533" cy="326897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4" name="object 64"/>
          <p:cNvSpPr txBox="1"/>
          <p:nvPr/>
        </p:nvSpPr>
        <p:spPr>
          <a:xfrm>
            <a:off x="5351621" y="3925825"/>
            <a:ext cx="65151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11" dirty="0">
                <a:solidFill>
                  <a:srgbClr val="1C1C1C"/>
                </a:solidFill>
                <a:latin typeface="Arial"/>
                <a:cs typeface="Arial"/>
              </a:rPr>
              <a:t>M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emst</a:t>
            </a: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or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6809995" y="3727323"/>
            <a:ext cx="573881" cy="605790"/>
            <a:chOff x="9079992" y="3826764"/>
            <a:chExt cx="765175" cy="807720"/>
          </a:xfrm>
        </p:grpSpPr>
        <p:sp>
          <p:nvSpPr>
            <p:cNvPr id="66" name="object 66"/>
            <p:cNvSpPr/>
            <p:nvPr/>
          </p:nvSpPr>
          <p:spPr>
            <a:xfrm>
              <a:off x="9079992" y="3826764"/>
              <a:ext cx="765048" cy="807719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7" name="object 67"/>
            <p:cNvSpPr/>
            <p:nvPr/>
          </p:nvSpPr>
          <p:spPr>
            <a:xfrm>
              <a:off x="9083040" y="3962400"/>
              <a:ext cx="755903" cy="48006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8" name="object 68"/>
            <p:cNvSpPr/>
            <p:nvPr/>
          </p:nvSpPr>
          <p:spPr>
            <a:xfrm>
              <a:off x="9111234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69" name="object 69"/>
            <p:cNvSpPr/>
            <p:nvPr/>
          </p:nvSpPr>
          <p:spPr>
            <a:xfrm>
              <a:off x="9650984" y="4440428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90"/>
                  </a:lnTo>
                  <a:lnTo>
                    <a:pt x="0" y="107950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0" name="object 70"/>
            <p:cNvSpPr/>
            <p:nvPr/>
          </p:nvSpPr>
          <p:spPr>
            <a:xfrm>
              <a:off x="9111234" y="3858006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71" name="object 71"/>
          <p:cNvSpPr txBox="1"/>
          <p:nvPr/>
        </p:nvSpPr>
        <p:spPr>
          <a:xfrm>
            <a:off x="6903815" y="3875341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72" name="object 72"/>
          <p:cNvGrpSpPr/>
          <p:nvPr/>
        </p:nvGrpSpPr>
        <p:grpSpPr>
          <a:xfrm>
            <a:off x="980694" y="2420874"/>
            <a:ext cx="4884419" cy="2178844"/>
            <a:chOff x="1307591" y="2084832"/>
            <a:chExt cx="6512559" cy="2905125"/>
          </a:xfrm>
        </p:grpSpPr>
        <p:sp>
          <p:nvSpPr>
            <p:cNvPr id="73" name="object 73"/>
            <p:cNvSpPr/>
            <p:nvPr/>
          </p:nvSpPr>
          <p:spPr>
            <a:xfrm>
              <a:off x="1307591" y="2084832"/>
              <a:ext cx="1684020" cy="1495044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4" name="object 74"/>
            <p:cNvSpPr/>
            <p:nvPr/>
          </p:nvSpPr>
          <p:spPr>
            <a:xfrm>
              <a:off x="1503298" y="2280666"/>
              <a:ext cx="1238250" cy="1049655"/>
            </a:xfrm>
            <a:custGeom>
              <a:avLst/>
              <a:gdLst/>
              <a:ahLst/>
              <a:cxnLst/>
              <a:rect l="l" t="t" r="r" b="b"/>
              <a:pathLst>
                <a:path w="1238250" h="1049654">
                  <a:moveTo>
                    <a:pt x="71760" y="881381"/>
                  </a:moveTo>
                  <a:lnTo>
                    <a:pt x="64690" y="883237"/>
                  </a:lnTo>
                  <a:lnTo>
                    <a:pt x="58834" y="887593"/>
                  </a:lnTo>
                  <a:lnTo>
                    <a:pt x="54990" y="894080"/>
                  </a:lnTo>
                  <a:lnTo>
                    <a:pt x="0" y="1049655"/>
                  </a:lnTo>
                  <a:lnTo>
                    <a:pt x="55857" y="1039749"/>
                  </a:lnTo>
                  <a:lnTo>
                    <a:pt x="41275" y="1039749"/>
                  </a:lnTo>
                  <a:lnTo>
                    <a:pt x="16637" y="1010666"/>
                  </a:lnTo>
                  <a:lnTo>
                    <a:pt x="70305" y="965153"/>
                  </a:lnTo>
                  <a:lnTo>
                    <a:pt x="90931" y="906780"/>
                  </a:lnTo>
                  <a:lnTo>
                    <a:pt x="91946" y="899290"/>
                  </a:lnTo>
                  <a:lnTo>
                    <a:pt x="90090" y="892206"/>
                  </a:lnTo>
                  <a:lnTo>
                    <a:pt x="85734" y="886313"/>
                  </a:lnTo>
                  <a:lnTo>
                    <a:pt x="79247" y="882396"/>
                  </a:lnTo>
                  <a:lnTo>
                    <a:pt x="71760" y="881381"/>
                  </a:lnTo>
                  <a:close/>
                </a:path>
                <a:path w="1238250" h="1049654">
                  <a:moveTo>
                    <a:pt x="70305" y="965153"/>
                  </a:moveTo>
                  <a:lnTo>
                    <a:pt x="16637" y="1010666"/>
                  </a:lnTo>
                  <a:lnTo>
                    <a:pt x="41275" y="1039749"/>
                  </a:lnTo>
                  <a:lnTo>
                    <a:pt x="51007" y="1031494"/>
                  </a:lnTo>
                  <a:lnTo>
                    <a:pt x="46862" y="1031494"/>
                  </a:lnTo>
                  <a:lnTo>
                    <a:pt x="25526" y="1006475"/>
                  </a:lnTo>
                  <a:lnTo>
                    <a:pt x="57721" y="1000764"/>
                  </a:lnTo>
                  <a:lnTo>
                    <a:pt x="70305" y="965153"/>
                  </a:lnTo>
                  <a:close/>
                </a:path>
                <a:path w="1238250" h="1049654">
                  <a:moveTo>
                    <a:pt x="155828" y="983361"/>
                  </a:moveTo>
                  <a:lnTo>
                    <a:pt x="95046" y="994143"/>
                  </a:lnTo>
                  <a:lnTo>
                    <a:pt x="41275" y="1039749"/>
                  </a:lnTo>
                  <a:lnTo>
                    <a:pt x="55857" y="1039749"/>
                  </a:lnTo>
                  <a:lnTo>
                    <a:pt x="162559" y="1020826"/>
                  </a:lnTo>
                  <a:lnTo>
                    <a:pt x="177926" y="998855"/>
                  </a:lnTo>
                  <a:lnTo>
                    <a:pt x="175188" y="991790"/>
                  </a:lnTo>
                  <a:lnTo>
                    <a:pt x="170116" y="986536"/>
                  </a:lnTo>
                  <a:lnTo>
                    <a:pt x="163425" y="983567"/>
                  </a:lnTo>
                  <a:lnTo>
                    <a:pt x="155828" y="983361"/>
                  </a:lnTo>
                  <a:close/>
                </a:path>
                <a:path w="1238250" h="1049654">
                  <a:moveTo>
                    <a:pt x="57721" y="1000764"/>
                  </a:moveTo>
                  <a:lnTo>
                    <a:pt x="25526" y="1006475"/>
                  </a:lnTo>
                  <a:lnTo>
                    <a:pt x="46862" y="1031494"/>
                  </a:lnTo>
                  <a:lnTo>
                    <a:pt x="57721" y="1000764"/>
                  </a:lnTo>
                  <a:close/>
                </a:path>
                <a:path w="1238250" h="1049654">
                  <a:moveTo>
                    <a:pt x="95046" y="994143"/>
                  </a:moveTo>
                  <a:lnTo>
                    <a:pt x="57721" y="1000764"/>
                  </a:lnTo>
                  <a:lnTo>
                    <a:pt x="46862" y="1031494"/>
                  </a:lnTo>
                  <a:lnTo>
                    <a:pt x="51007" y="1031494"/>
                  </a:lnTo>
                  <a:lnTo>
                    <a:pt x="95046" y="994143"/>
                  </a:lnTo>
                  <a:close/>
                </a:path>
                <a:path w="1238250" h="1049654">
                  <a:moveTo>
                    <a:pt x="1180156" y="48857"/>
                  </a:moveTo>
                  <a:lnTo>
                    <a:pt x="1143075" y="55399"/>
                  </a:lnTo>
                  <a:lnTo>
                    <a:pt x="70305" y="965153"/>
                  </a:lnTo>
                  <a:lnTo>
                    <a:pt x="57721" y="1000764"/>
                  </a:lnTo>
                  <a:lnTo>
                    <a:pt x="95046" y="994143"/>
                  </a:lnTo>
                  <a:lnTo>
                    <a:pt x="1167637" y="84426"/>
                  </a:lnTo>
                  <a:lnTo>
                    <a:pt x="1180156" y="48857"/>
                  </a:lnTo>
                  <a:close/>
                </a:path>
                <a:path w="1238250" h="1049654">
                  <a:moveTo>
                    <a:pt x="1234375" y="9906"/>
                  </a:moveTo>
                  <a:lnTo>
                    <a:pt x="1196720" y="9906"/>
                  </a:lnTo>
                  <a:lnTo>
                    <a:pt x="1221358" y="38862"/>
                  </a:lnTo>
                  <a:lnTo>
                    <a:pt x="1167637" y="84426"/>
                  </a:lnTo>
                  <a:lnTo>
                    <a:pt x="1147064" y="142875"/>
                  </a:lnTo>
                  <a:lnTo>
                    <a:pt x="1145976" y="150344"/>
                  </a:lnTo>
                  <a:lnTo>
                    <a:pt x="1147794" y="157384"/>
                  </a:lnTo>
                  <a:lnTo>
                    <a:pt x="1152136" y="163234"/>
                  </a:lnTo>
                  <a:lnTo>
                    <a:pt x="1158620" y="167132"/>
                  </a:lnTo>
                  <a:lnTo>
                    <a:pt x="1166110" y="168219"/>
                  </a:lnTo>
                  <a:lnTo>
                    <a:pt x="1173194" y="166401"/>
                  </a:lnTo>
                  <a:lnTo>
                    <a:pt x="1179087" y="162059"/>
                  </a:lnTo>
                  <a:lnTo>
                    <a:pt x="1183005" y="155575"/>
                  </a:lnTo>
                  <a:lnTo>
                    <a:pt x="1234375" y="9906"/>
                  </a:lnTo>
                  <a:close/>
                </a:path>
                <a:path w="1238250" h="1049654">
                  <a:moveTo>
                    <a:pt x="1203636" y="18034"/>
                  </a:moveTo>
                  <a:lnTo>
                    <a:pt x="1191006" y="18034"/>
                  </a:lnTo>
                  <a:lnTo>
                    <a:pt x="1212342" y="43180"/>
                  </a:lnTo>
                  <a:lnTo>
                    <a:pt x="1180156" y="48857"/>
                  </a:lnTo>
                  <a:lnTo>
                    <a:pt x="1167637" y="84426"/>
                  </a:lnTo>
                  <a:lnTo>
                    <a:pt x="1221358" y="38862"/>
                  </a:lnTo>
                  <a:lnTo>
                    <a:pt x="1203636" y="18034"/>
                  </a:lnTo>
                  <a:close/>
                </a:path>
                <a:path w="1238250" h="1049654">
                  <a:moveTo>
                    <a:pt x="1237869" y="0"/>
                  </a:moveTo>
                  <a:lnTo>
                    <a:pt x="1075436" y="28701"/>
                  </a:lnTo>
                  <a:lnTo>
                    <a:pt x="1059942" y="50800"/>
                  </a:lnTo>
                  <a:lnTo>
                    <a:pt x="1062751" y="57862"/>
                  </a:lnTo>
                  <a:lnTo>
                    <a:pt x="1067847" y="63103"/>
                  </a:lnTo>
                  <a:lnTo>
                    <a:pt x="1074515" y="66034"/>
                  </a:lnTo>
                  <a:lnTo>
                    <a:pt x="1082039" y="66167"/>
                  </a:lnTo>
                  <a:lnTo>
                    <a:pt x="1143075" y="55399"/>
                  </a:lnTo>
                  <a:lnTo>
                    <a:pt x="1196720" y="9906"/>
                  </a:lnTo>
                  <a:lnTo>
                    <a:pt x="1234375" y="9906"/>
                  </a:lnTo>
                  <a:lnTo>
                    <a:pt x="1237869" y="0"/>
                  </a:lnTo>
                  <a:close/>
                </a:path>
                <a:path w="1238250" h="1049654">
                  <a:moveTo>
                    <a:pt x="1196720" y="9906"/>
                  </a:moveTo>
                  <a:lnTo>
                    <a:pt x="1143075" y="55399"/>
                  </a:lnTo>
                  <a:lnTo>
                    <a:pt x="1180156" y="48857"/>
                  </a:lnTo>
                  <a:lnTo>
                    <a:pt x="1191006" y="18034"/>
                  </a:lnTo>
                  <a:lnTo>
                    <a:pt x="1203636" y="18034"/>
                  </a:lnTo>
                  <a:lnTo>
                    <a:pt x="1196720" y="9906"/>
                  </a:lnTo>
                  <a:close/>
                </a:path>
                <a:path w="1238250" h="1049654">
                  <a:moveTo>
                    <a:pt x="1191006" y="18034"/>
                  </a:moveTo>
                  <a:lnTo>
                    <a:pt x="1180156" y="48857"/>
                  </a:lnTo>
                  <a:lnTo>
                    <a:pt x="1212342" y="43180"/>
                  </a:lnTo>
                  <a:lnTo>
                    <a:pt x="1191006" y="18034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5" name="object 75"/>
            <p:cNvSpPr/>
            <p:nvPr/>
          </p:nvSpPr>
          <p:spPr>
            <a:xfrm>
              <a:off x="1307591" y="3523488"/>
              <a:ext cx="1680972" cy="1466088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6" name="object 76"/>
            <p:cNvSpPr/>
            <p:nvPr/>
          </p:nvSpPr>
          <p:spPr>
            <a:xfrm>
              <a:off x="1503298" y="3719322"/>
              <a:ext cx="1235710" cy="1021080"/>
            </a:xfrm>
            <a:custGeom>
              <a:avLst/>
              <a:gdLst/>
              <a:ahLst/>
              <a:cxnLst/>
              <a:rect l="l" t="t" r="r" b="b"/>
              <a:pathLst>
                <a:path w="1235710" h="1021079">
                  <a:moveTo>
                    <a:pt x="1078864" y="956309"/>
                  </a:moveTo>
                  <a:lnTo>
                    <a:pt x="1071344" y="956609"/>
                  </a:lnTo>
                  <a:lnTo>
                    <a:pt x="1064704" y="959659"/>
                  </a:lnTo>
                  <a:lnTo>
                    <a:pt x="1059684" y="964971"/>
                  </a:lnTo>
                  <a:lnTo>
                    <a:pt x="1057020" y="972057"/>
                  </a:lnTo>
                  <a:lnTo>
                    <a:pt x="1057320" y="979632"/>
                  </a:lnTo>
                  <a:lnTo>
                    <a:pt x="1060370" y="986266"/>
                  </a:lnTo>
                  <a:lnTo>
                    <a:pt x="1065682" y="991256"/>
                  </a:lnTo>
                  <a:lnTo>
                    <a:pt x="1072769" y="993901"/>
                  </a:lnTo>
                  <a:lnTo>
                    <a:pt x="1235583" y="1020698"/>
                  </a:lnTo>
                  <a:lnTo>
                    <a:pt x="1232131" y="1011301"/>
                  </a:lnTo>
                  <a:lnTo>
                    <a:pt x="1194308" y="1011301"/>
                  </a:lnTo>
                  <a:lnTo>
                    <a:pt x="1139884" y="966341"/>
                  </a:lnTo>
                  <a:lnTo>
                    <a:pt x="1078864" y="956309"/>
                  </a:lnTo>
                  <a:close/>
                </a:path>
                <a:path w="1235710" h="1021079">
                  <a:moveTo>
                    <a:pt x="1139884" y="966341"/>
                  </a:moveTo>
                  <a:lnTo>
                    <a:pt x="1194308" y="1011301"/>
                  </a:lnTo>
                  <a:lnTo>
                    <a:pt x="1200999" y="1003172"/>
                  </a:lnTo>
                  <a:lnTo>
                    <a:pt x="1188465" y="1003172"/>
                  </a:lnTo>
                  <a:lnTo>
                    <a:pt x="1177197" y="972475"/>
                  </a:lnTo>
                  <a:lnTo>
                    <a:pt x="1139884" y="966341"/>
                  </a:lnTo>
                  <a:close/>
                </a:path>
                <a:path w="1235710" h="1021079">
                  <a:moveTo>
                    <a:pt x="1161667" y="853328"/>
                  </a:moveTo>
                  <a:lnTo>
                    <a:pt x="1154176" y="854455"/>
                  </a:lnTo>
                  <a:lnTo>
                    <a:pt x="1147712" y="858446"/>
                  </a:lnTo>
                  <a:lnTo>
                    <a:pt x="1143428" y="864377"/>
                  </a:lnTo>
                  <a:lnTo>
                    <a:pt x="1141692" y="871475"/>
                  </a:lnTo>
                  <a:lnTo>
                    <a:pt x="1142873" y="878966"/>
                  </a:lnTo>
                  <a:lnTo>
                    <a:pt x="1164126" y="936865"/>
                  </a:lnTo>
                  <a:lnTo>
                    <a:pt x="1218564" y="981836"/>
                  </a:lnTo>
                  <a:lnTo>
                    <a:pt x="1194308" y="1011301"/>
                  </a:lnTo>
                  <a:lnTo>
                    <a:pt x="1232131" y="1011301"/>
                  </a:lnTo>
                  <a:lnTo>
                    <a:pt x="1178687" y="865758"/>
                  </a:lnTo>
                  <a:lnTo>
                    <a:pt x="1174696" y="859313"/>
                  </a:lnTo>
                  <a:lnTo>
                    <a:pt x="1168765" y="855059"/>
                  </a:lnTo>
                  <a:lnTo>
                    <a:pt x="1161667" y="853328"/>
                  </a:lnTo>
                  <a:close/>
                </a:path>
                <a:path w="1235710" h="1021079">
                  <a:moveTo>
                    <a:pt x="1177197" y="972475"/>
                  </a:moveTo>
                  <a:lnTo>
                    <a:pt x="1188465" y="1003172"/>
                  </a:lnTo>
                  <a:lnTo>
                    <a:pt x="1209420" y="977772"/>
                  </a:lnTo>
                  <a:lnTo>
                    <a:pt x="1177197" y="972475"/>
                  </a:lnTo>
                  <a:close/>
                </a:path>
                <a:path w="1235710" h="1021079">
                  <a:moveTo>
                    <a:pt x="1164126" y="936865"/>
                  </a:moveTo>
                  <a:lnTo>
                    <a:pt x="1177197" y="972475"/>
                  </a:lnTo>
                  <a:lnTo>
                    <a:pt x="1209420" y="977772"/>
                  </a:lnTo>
                  <a:lnTo>
                    <a:pt x="1188465" y="1003172"/>
                  </a:lnTo>
                  <a:lnTo>
                    <a:pt x="1200999" y="1003172"/>
                  </a:lnTo>
                  <a:lnTo>
                    <a:pt x="1218564" y="981836"/>
                  </a:lnTo>
                  <a:lnTo>
                    <a:pt x="1164126" y="936865"/>
                  </a:lnTo>
                  <a:close/>
                </a:path>
                <a:path w="1235710" h="1021079">
                  <a:moveTo>
                    <a:pt x="58385" y="48096"/>
                  </a:moveTo>
                  <a:lnTo>
                    <a:pt x="71457" y="83707"/>
                  </a:lnTo>
                  <a:lnTo>
                    <a:pt x="1139884" y="966341"/>
                  </a:lnTo>
                  <a:lnTo>
                    <a:pt x="1177197" y="972475"/>
                  </a:lnTo>
                  <a:lnTo>
                    <a:pt x="1164126" y="936865"/>
                  </a:lnTo>
                  <a:lnTo>
                    <a:pt x="95666" y="54225"/>
                  </a:lnTo>
                  <a:lnTo>
                    <a:pt x="58385" y="48096"/>
                  </a:lnTo>
                  <a:close/>
                </a:path>
                <a:path w="1235710" h="1021079">
                  <a:moveTo>
                    <a:pt x="0" y="0"/>
                  </a:moveTo>
                  <a:lnTo>
                    <a:pt x="57022" y="154812"/>
                  </a:lnTo>
                  <a:lnTo>
                    <a:pt x="60940" y="161258"/>
                  </a:lnTo>
                  <a:lnTo>
                    <a:pt x="66833" y="165512"/>
                  </a:lnTo>
                  <a:lnTo>
                    <a:pt x="73917" y="167243"/>
                  </a:lnTo>
                  <a:lnTo>
                    <a:pt x="81406" y="166115"/>
                  </a:lnTo>
                  <a:lnTo>
                    <a:pt x="87870" y="162125"/>
                  </a:lnTo>
                  <a:lnTo>
                    <a:pt x="92154" y="156194"/>
                  </a:lnTo>
                  <a:lnTo>
                    <a:pt x="93890" y="149096"/>
                  </a:lnTo>
                  <a:lnTo>
                    <a:pt x="92709" y="141604"/>
                  </a:lnTo>
                  <a:lnTo>
                    <a:pt x="71457" y="83707"/>
                  </a:lnTo>
                  <a:lnTo>
                    <a:pt x="17017" y="38734"/>
                  </a:lnTo>
                  <a:lnTo>
                    <a:pt x="41401" y="9397"/>
                  </a:lnTo>
                  <a:lnTo>
                    <a:pt x="57372" y="9397"/>
                  </a:lnTo>
                  <a:lnTo>
                    <a:pt x="0" y="0"/>
                  </a:lnTo>
                  <a:close/>
                </a:path>
                <a:path w="1235710" h="1021079">
                  <a:moveTo>
                    <a:pt x="41401" y="9397"/>
                  </a:moveTo>
                  <a:lnTo>
                    <a:pt x="17017" y="38734"/>
                  </a:lnTo>
                  <a:lnTo>
                    <a:pt x="71457" y="83707"/>
                  </a:lnTo>
                  <a:lnTo>
                    <a:pt x="58385" y="48096"/>
                  </a:lnTo>
                  <a:lnTo>
                    <a:pt x="26162" y="42798"/>
                  </a:lnTo>
                  <a:lnTo>
                    <a:pt x="47116" y="17398"/>
                  </a:lnTo>
                  <a:lnTo>
                    <a:pt x="51087" y="17398"/>
                  </a:lnTo>
                  <a:lnTo>
                    <a:pt x="41401" y="9397"/>
                  </a:lnTo>
                  <a:close/>
                </a:path>
                <a:path w="1235710" h="1021079">
                  <a:moveTo>
                    <a:pt x="57372" y="9397"/>
                  </a:moveTo>
                  <a:lnTo>
                    <a:pt x="41401" y="9397"/>
                  </a:lnTo>
                  <a:lnTo>
                    <a:pt x="95666" y="54225"/>
                  </a:lnTo>
                  <a:lnTo>
                    <a:pt x="156718" y="64261"/>
                  </a:lnTo>
                  <a:lnTo>
                    <a:pt x="164292" y="63962"/>
                  </a:lnTo>
                  <a:lnTo>
                    <a:pt x="170926" y="60912"/>
                  </a:lnTo>
                  <a:lnTo>
                    <a:pt x="175916" y="55600"/>
                  </a:lnTo>
                  <a:lnTo>
                    <a:pt x="178562" y="48513"/>
                  </a:lnTo>
                  <a:lnTo>
                    <a:pt x="178315" y="40939"/>
                  </a:lnTo>
                  <a:lnTo>
                    <a:pt x="175259" y="34305"/>
                  </a:lnTo>
                  <a:lnTo>
                    <a:pt x="169918" y="29315"/>
                  </a:lnTo>
                  <a:lnTo>
                    <a:pt x="162813" y="26669"/>
                  </a:lnTo>
                  <a:lnTo>
                    <a:pt x="57372" y="9397"/>
                  </a:lnTo>
                  <a:close/>
                </a:path>
                <a:path w="1235710" h="1021079">
                  <a:moveTo>
                    <a:pt x="51087" y="17398"/>
                  </a:moveTo>
                  <a:lnTo>
                    <a:pt x="47116" y="17398"/>
                  </a:lnTo>
                  <a:lnTo>
                    <a:pt x="58385" y="48096"/>
                  </a:lnTo>
                  <a:lnTo>
                    <a:pt x="95666" y="54225"/>
                  </a:lnTo>
                  <a:lnTo>
                    <a:pt x="51087" y="17398"/>
                  </a:lnTo>
                  <a:close/>
                </a:path>
                <a:path w="1235710" h="1021079">
                  <a:moveTo>
                    <a:pt x="47116" y="17398"/>
                  </a:moveTo>
                  <a:lnTo>
                    <a:pt x="26162" y="42798"/>
                  </a:lnTo>
                  <a:lnTo>
                    <a:pt x="58385" y="48096"/>
                  </a:lnTo>
                  <a:lnTo>
                    <a:pt x="47116" y="17398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7" name="object 77"/>
            <p:cNvSpPr/>
            <p:nvPr/>
          </p:nvSpPr>
          <p:spPr>
            <a:xfrm>
              <a:off x="2267711" y="3329940"/>
              <a:ext cx="2039112" cy="446531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8" name="object 78"/>
            <p:cNvSpPr/>
            <p:nvPr/>
          </p:nvSpPr>
          <p:spPr>
            <a:xfrm>
              <a:off x="2294381" y="3440195"/>
              <a:ext cx="1762760" cy="171450"/>
            </a:xfrm>
            <a:custGeom>
              <a:avLst/>
              <a:gdLst/>
              <a:ahLst/>
              <a:cxnLst/>
              <a:rect l="l" t="t" r="r" b="b"/>
              <a:pathLst>
                <a:path w="1762760" h="171450">
                  <a:moveTo>
                    <a:pt x="1686959" y="85578"/>
                  </a:moveTo>
                  <a:lnTo>
                    <a:pt x="1600962" y="135743"/>
                  </a:lnTo>
                  <a:lnTo>
                    <a:pt x="1595282" y="140795"/>
                  </a:lnTo>
                  <a:lnTo>
                    <a:pt x="1592103" y="147395"/>
                  </a:lnTo>
                  <a:lnTo>
                    <a:pt x="1591639" y="154709"/>
                  </a:lnTo>
                  <a:lnTo>
                    <a:pt x="1594104" y="161905"/>
                  </a:lnTo>
                  <a:lnTo>
                    <a:pt x="1599136" y="167513"/>
                  </a:lnTo>
                  <a:lnTo>
                    <a:pt x="1605692" y="170668"/>
                  </a:lnTo>
                  <a:lnTo>
                    <a:pt x="1612963" y="171156"/>
                  </a:lnTo>
                  <a:lnTo>
                    <a:pt x="1620139" y="168763"/>
                  </a:lnTo>
                  <a:lnTo>
                    <a:pt x="1730000" y="104628"/>
                  </a:lnTo>
                  <a:lnTo>
                    <a:pt x="1724787" y="104628"/>
                  </a:lnTo>
                  <a:lnTo>
                    <a:pt x="1724787" y="102088"/>
                  </a:lnTo>
                  <a:lnTo>
                    <a:pt x="1715262" y="102088"/>
                  </a:lnTo>
                  <a:lnTo>
                    <a:pt x="1686959" y="85578"/>
                  </a:lnTo>
                  <a:close/>
                </a:path>
                <a:path w="1762760" h="171450">
                  <a:moveTo>
                    <a:pt x="1654302" y="66528"/>
                  </a:moveTo>
                  <a:lnTo>
                    <a:pt x="0" y="66528"/>
                  </a:lnTo>
                  <a:lnTo>
                    <a:pt x="0" y="104628"/>
                  </a:lnTo>
                  <a:lnTo>
                    <a:pt x="1654302" y="104628"/>
                  </a:lnTo>
                  <a:lnTo>
                    <a:pt x="1686959" y="85578"/>
                  </a:lnTo>
                  <a:lnTo>
                    <a:pt x="1654302" y="66528"/>
                  </a:lnTo>
                  <a:close/>
                </a:path>
                <a:path w="1762760" h="171450">
                  <a:moveTo>
                    <a:pt x="1730000" y="66528"/>
                  </a:moveTo>
                  <a:lnTo>
                    <a:pt x="1724787" y="66528"/>
                  </a:lnTo>
                  <a:lnTo>
                    <a:pt x="1724787" y="104628"/>
                  </a:lnTo>
                  <a:lnTo>
                    <a:pt x="1730000" y="104628"/>
                  </a:lnTo>
                  <a:lnTo>
                    <a:pt x="1762633" y="85578"/>
                  </a:lnTo>
                  <a:lnTo>
                    <a:pt x="1730000" y="66528"/>
                  </a:lnTo>
                  <a:close/>
                </a:path>
                <a:path w="1762760" h="171450">
                  <a:moveTo>
                    <a:pt x="1715262" y="69068"/>
                  </a:moveTo>
                  <a:lnTo>
                    <a:pt x="1686959" y="85578"/>
                  </a:lnTo>
                  <a:lnTo>
                    <a:pt x="1715262" y="102088"/>
                  </a:lnTo>
                  <a:lnTo>
                    <a:pt x="1715262" y="69068"/>
                  </a:lnTo>
                  <a:close/>
                </a:path>
                <a:path w="1762760" h="171450">
                  <a:moveTo>
                    <a:pt x="1724787" y="69068"/>
                  </a:moveTo>
                  <a:lnTo>
                    <a:pt x="1715262" y="69068"/>
                  </a:lnTo>
                  <a:lnTo>
                    <a:pt x="1715262" y="102088"/>
                  </a:lnTo>
                  <a:lnTo>
                    <a:pt x="1724787" y="102088"/>
                  </a:lnTo>
                  <a:lnTo>
                    <a:pt x="1724787" y="69068"/>
                  </a:lnTo>
                  <a:close/>
                </a:path>
                <a:path w="1762760" h="171450">
                  <a:moveTo>
                    <a:pt x="1612963" y="0"/>
                  </a:moveTo>
                  <a:lnTo>
                    <a:pt x="1605692" y="488"/>
                  </a:lnTo>
                  <a:lnTo>
                    <a:pt x="1599136" y="3643"/>
                  </a:lnTo>
                  <a:lnTo>
                    <a:pt x="1594104" y="9251"/>
                  </a:lnTo>
                  <a:lnTo>
                    <a:pt x="1591639" y="16446"/>
                  </a:lnTo>
                  <a:lnTo>
                    <a:pt x="1592103" y="23760"/>
                  </a:lnTo>
                  <a:lnTo>
                    <a:pt x="1595282" y="30360"/>
                  </a:lnTo>
                  <a:lnTo>
                    <a:pt x="1600962" y="35413"/>
                  </a:lnTo>
                  <a:lnTo>
                    <a:pt x="1686959" y="85578"/>
                  </a:lnTo>
                  <a:lnTo>
                    <a:pt x="1715262" y="69068"/>
                  </a:lnTo>
                  <a:lnTo>
                    <a:pt x="1724787" y="69068"/>
                  </a:lnTo>
                  <a:lnTo>
                    <a:pt x="1724787" y="66528"/>
                  </a:lnTo>
                  <a:lnTo>
                    <a:pt x="1730000" y="66528"/>
                  </a:lnTo>
                  <a:lnTo>
                    <a:pt x="1620139" y="2393"/>
                  </a:lnTo>
                  <a:lnTo>
                    <a:pt x="1612963" y="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9" name="object 79"/>
            <p:cNvSpPr/>
            <p:nvPr/>
          </p:nvSpPr>
          <p:spPr>
            <a:xfrm>
              <a:off x="4041647" y="3372612"/>
              <a:ext cx="3777996" cy="922019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0" name="object 80"/>
            <p:cNvSpPr/>
            <p:nvPr/>
          </p:nvSpPr>
          <p:spPr>
            <a:xfrm>
              <a:off x="4068318" y="3398520"/>
              <a:ext cx="3587115" cy="646430"/>
            </a:xfrm>
            <a:custGeom>
              <a:avLst/>
              <a:gdLst/>
              <a:ahLst/>
              <a:cxnLst/>
              <a:rect l="l" t="t" r="r" b="b"/>
              <a:pathLst>
                <a:path w="3587115" h="646429">
                  <a:moveTo>
                    <a:pt x="3432129" y="475309"/>
                  </a:moveTo>
                  <a:lnTo>
                    <a:pt x="3424936" y="477773"/>
                  </a:lnTo>
                  <a:lnTo>
                    <a:pt x="3419328" y="482752"/>
                  </a:lnTo>
                  <a:lnTo>
                    <a:pt x="3416173" y="489315"/>
                  </a:lnTo>
                  <a:lnTo>
                    <a:pt x="3415684" y="496615"/>
                  </a:lnTo>
                  <a:lnTo>
                    <a:pt x="3418078" y="503808"/>
                  </a:lnTo>
                  <a:lnTo>
                    <a:pt x="3501263" y="646302"/>
                  </a:lnTo>
                  <a:lnTo>
                    <a:pt x="3523322" y="608456"/>
                  </a:lnTo>
                  <a:lnTo>
                    <a:pt x="3482213" y="608456"/>
                  </a:lnTo>
                  <a:lnTo>
                    <a:pt x="3482086" y="537972"/>
                  </a:lnTo>
                  <a:lnTo>
                    <a:pt x="3450971" y="484631"/>
                  </a:lnTo>
                  <a:lnTo>
                    <a:pt x="3445992" y="478952"/>
                  </a:lnTo>
                  <a:lnTo>
                    <a:pt x="3439429" y="475773"/>
                  </a:lnTo>
                  <a:lnTo>
                    <a:pt x="3432129" y="475309"/>
                  </a:lnTo>
                  <a:close/>
                </a:path>
                <a:path w="3587115" h="646429">
                  <a:moveTo>
                    <a:pt x="3482213" y="538189"/>
                  </a:moveTo>
                  <a:lnTo>
                    <a:pt x="3482213" y="608456"/>
                  </a:lnTo>
                  <a:lnTo>
                    <a:pt x="3520313" y="608456"/>
                  </a:lnTo>
                  <a:lnTo>
                    <a:pt x="3520313" y="598931"/>
                  </a:lnTo>
                  <a:lnTo>
                    <a:pt x="3484753" y="598931"/>
                  </a:lnTo>
                  <a:lnTo>
                    <a:pt x="3501199" y="570737"/>
                  </a:lnTo>
                  <a:lnTo>
                    <a:pt x="3482213" y="538189"/>
                  </a:lnTo>
                  <a:close/>
                </a:path>
                <a:path w="3587115" h="646429">
                  <a:moveTo>
                    <a:pt x="3570341" y="475309"/>
                  </a:moveTo>
                  <a:lnTo>
                    <a:pt x="3563064" y="475773"/>
                  </a:lnTo>
                  <a:lnTo>
                    <a:pt x="3556478" y="478952"/>
                  </a:lnTo>
                  <a:lnTo>
                    <a:pt x="3551428" y="484631"/>
                  </a:lnTo>
                  <a:lnTo>
                    <a:pt x="3520313" y="537972"/>
                  </a:lnTo>
                  <a:lnTo>
                    <a:pt x="3520313" y="608456"/>
                  </a:lnTo>
                  <a:lnTo>
                    <a:pt x="3523322" y="608456"/>
                  </a:lnTo>
                  <a:lnTo>
                    <a:pt x="3584321" y="503808"/>
                  </a:lnTo>
                  <a:lnTo>
                    <a:pt x="3586785" y="496615"/>
                  </a:lnTo>
                  <a:lnTo>
                    <a:pt x="3586321" y="489315"/>
                  </a:lnTo>
                  <a:lnTo>
                    <a:pt x="3583142" y="482752"/>
                  </a:lnTo>
                  <a:lnTo>
                    <a:pt x="3577463" y="477773"/>
                  </a:lnTo>
                  <a:lnTo>
                    <a:pt x="3570341" y="475309"/>
                  </a:lnTo>
                  <a:close/>
                </a:path>
                <a:path w="3587115" h="646429">
                  <a:moveTo>
                    <a:pt x="3501199" y="570737"/>
                  </a:moveTo>
                  <a:lnTo>
                    <a:pt x="3484753" y="598931"/>
                  </a:lnTo>
                  <a:lnTo>
                    <a:pt x="3517646" y="598931"/>
                  </a:lnTo>
                  <a:lnTo>
                    <a:pt x="3501199" y="570737"/>
                  </a:lnTo>
                  <a:close/>
                </a:path>
                <a:path w="3587115" h="646429">
                  <a:moveTo>
                    <a:pt x="3520313" y="537972"/>
                  </a:moveTo>
                  <a:lnTo>
                    <a:pt x="3501199" y="570737"/>
                  </a:lnTo>
                  <a:lnTo>
                    <a:pt x="3517646" y="598931"/>
                  </a:lnTo>
                  <a:lnTo>
                    <a:pt x="3520313" y="598931"/>
                  </a:lnTo>
                  <a:lnTo>
                    <a:pt x="3520313" y="537972"/>
                  </a:lnTo>
                  <a:close/>
                </a:path>
                <a:path w="3587115" h="646429">
                  <a:moveTo>
                    <a:pt x="3482213" y="19050"/>
                  </a:moveTo>
                  <a:lnTo>
                    <a:pt x="3482213" y="538189"/>
                  </a:lnTo>
                  <a:lnTo>
                    <a:pt x="3501199" y="570737"/>
                  </a:lnTo>
                  <a:lnTo>
                    <a:pt x="3520186" y="538189"/>
                  </a:lnTo>
                  <a:lnTo>
                    <a:pt x="3520313" y="38100"/>
                  </a:lnTo>
                  <a:lnTo>
                    <a:pt x="3501263" y="38100"/>
                  </a:lnTo>
                  <a:lnTo>
                    <a:pt x="3482213" y="19050"/>
                  </a:lnTo>
                  <a:close/>
                </a:path>
                <a:path w="3587115" h="646429">
                  <a:moveTo>
                    <a:pt x="3501263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3482213" y="38100"/>
                  </a:lnTo>
                  <a:lnTo>
                    <a:pt x="3482213" y="19050"/>
                  </a:lnTo>
                  <a:lnTo>
                    <a:pt x="3520313" y="19050"/>
                  </a:lnTo>
                  <a:lnTo>
                    <a:pt x="3518818" y="11626"/>
                  </a:lnTo>
                  <a:lnTo>
                    <a:pt x="3514740" y="5572"/>
                  </a:lnTo>
                  <a:lnTo>
                    <a:pt x="3508686" y="1494"/>
                  </a:lnTo>
                  <a:lnTo>
                    <a:pt x="3501263" y="0"/>
                  </a:lnTo>
                  <a:close/>
                </a:path>
                <a:path w="3587115" h="646429">
                  <a:moveTo>
                    <a:pt x="3520313" y="19050"/>
                  </a:moveTo>
                  <a:lnTo>
                    <a:pt x="3482213" y="19050"/>
                  </a:lnTo>
                  <a:lnTo>
                    <a:pt x="3501263" y="38100"/>
                  </a:lnTo>
                  <a:lnTo>
                    <a:pt x="3520313" y="38100"/>
                  </a:lnTo>
                  <a:lnTo>
                    <a:pt x="3520313" y="190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81" name="object 81"/>
          <p:cNvSpPr txBox="1"/>
          <p:nvPr/>
        </p:nvSpPr>
        <p:spPr>
          <a:xfrm>
            <a:off x="911047" y="2725484"/>
            <a:ext cx="744379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52400" marR="3810" indent="-143351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1.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Get</a:t>
            </a:r>
            <a:r>
              <a:rPr sz="900" b="1" spc="-49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spc="-19" dirty="0">
                <a:solidFill>
                  <a:srgbClr val="1C1C1C"/>
                </a:solidFill>
                <a:latin typeface="Arial"/>
                <a:cs typeface="Arial"/>
              </a:rPr>
              <a:t>.META. 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827608" y="3998557"/>
            <a:ext cx="756761" cy="2866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algn="ctr">
              <a:spcBef>
                <a:spcPts val="75"/>
              </a:spcBef>
            </a:pP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2. Get</a:t>
            </a:r>
            <a:r>
              <a:rPr sz="900" b="1" spc="-68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Region</a:t>
            </a:r>
            <a:endParaRPr sz="900">
              <a:latin typeface="Arial"/>
              <a:cs typeface="Arial"/>
            </a:endParaRPr>
          </a:p>
          <a:p>
            <a:pPr algn="ctr">
              <a:spcBef>
                <a:spcPts val="4"/>
              </a:spcBef>
            </a:pP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location</a:t>
            </a:r>
            <a:endParaRPr sz="9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106167" y="3298984"/>
            <a:ext cx="337185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3.</a:t>
            </a:r>
            <a:r>
              <a:rPr sz="90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Get</a:t>
            </a:r>
            <a:endParaRPr sz="90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820859" y="3276790"/>
            <a:ext cx="42624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5.</a:t>
            </a:r>
            <a:r>
              <a:rPr sz="90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Read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85" name="object 85"/>
          <p:cNvGrpSpPr/>
          <p:nvPr/>
        </p:nvGrpSpPr>
        <p:grpSpPr>
          <a:xfrm>
            <a:off x="3139821" y="4668012"/>
            <a:ext cx="1022033" cy="858679"/>
            <a:chOff x="4186428" y="5081015"/>
            <a:chExt cx="1362710" cy="1144905"/>
          </a:xfrm>
        </p:grpSpPr>
        <p:sp>
          <p:nvSpPr>
            <p:cNvPr id="86" name="object 86"/>
            <p:cNvSpPr/>
            <p:nvPr/>
          </p:nvSpPr>
          <p:spPr>
            <a:xfrm>
              <a:off x="4186428" y="5576315"/>
              <a:ext cx="1362455" cy="649223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7" name="object 87"/>
            <p:cNvSpPr/>
            <p:nvPr/>
          </p:nvSpPr>
          <p:spPr>
            <a:xfrm>
              <a:off x="4194048" y="5081015"/>
              <a:ext cx="1347215" cy="63398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8" name="object 88"/>
            <p:cNvSpPr/>
            <p:nvPr/>
          </p:nvSpPr>
          <p:spPr>
            <a:xfrm>
              <a:off x="4264914" y="5151881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4" h="492760">
                  <a:moveTo>
                    <a:pt x="1123441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1123441" y="492252"/>
                  </a:lnTo>
                  <a:lnTo>
                    <a:pt x="1155388" y="485805"/>
                  </a:lnTo>
                  <a:lnTo>
                    <a:pt x="1181465" y="468223"/>
                  </a:lnTo>
                  <a:lnTo>
                    <a:pt x="1199040" y="442145"/>
                  </a:lnTo>
                  <a:lnTo>
                    <a:pt x="1205484" y="410210"/>
                  </a:lnTo>
                  <a:lnTo>
                    <a:pt x="1205484" y="82042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9" name="object 89"/>
            <p:cNvSpPr/>
            <p:nvPr/>
          </p:nvSpPr>
          <p:spPr>
            <a:xfrm>
              <a:off x="4264914" y="5151881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4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1123441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4" y="82042"/>
                  </a:lnTo>
                  <a:lnTo>
                    <a:pt x="1205484" y="410210"/>
                  </a:lnTo>
                  <a:lnTo>
                    <a:pt x="1199040" y="442145"/>
                  </a:lnTo>
                  <a:lnTo>
                    <a:pt x="1181465" y="468223"/>
                  </a:lnTo>
                  <a:lnTo>
                    <a:pt x="1155388" y="485805"/>
                  </a:lnTo>
                  <a:lnTo>
                    <a:pt x="1123441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10667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0" name="object 90"/>
          <p:cNvSpPr txBox="1"/>
          <p:nvPr/>
        </p:nvSpPr>
        <p:spPr>
          <a:xfrm>
            <a:off x="3350228" y="4759262"/>
            <a:ext cx="6000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1" name="object 91"/>
          <p:cNvGrpSpPr/>
          <p:nvPr/>
        </p:nvGrpSpPr>
        <p:grpSpPr>
          <a:xfrm>
            <a:off x="4189094" y="4668012"/>
            <a:ext cx="1022033" cy="858679"/>
            <a:chOff x="5585459" y="5081015"/>
            <a:chExt cx="1362710" cy="1144905"/>
          </a:xfrm>
        </p:grpSpPr>
        <p:sp>
          <p:nvSpPr>
            <p:cNvPr id="92" name="object 92"/>
            <p:cNvSpPr/>
            <p:nvPr/>
          </p:nvSpPr>
          <p:spPr>
            <a:xfrm>
              <a:off x="5585459" y="5576315"/>
              <a:ext cx="1362456" cy="649223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3" name="object 93"/>
            <p:cNvSpPr/>
            <p:nvPr/>
          </p:nvSpPr>
          <p:spPr>
            <a:xfrm>
              <a:off x="5593079" y="5081015"/>
              <a:ext cx="1347216" cy="63398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4" name="object 94"/>
            <p:cNvSpPr/>
            <p:nvPr/>
          </p:nvSpPr>
          <p:spPr>
            <a:xfrm>
              <a:off x="5663945" y="5151881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1123442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1123442" y="492252"/>
                  </a:lnTo>
                  <a:lnTo>
                    <a:pt x="1155388" y="485805"/>
                  </a:lnTo>
                  <a:lnTo>
                    <a:pt x="1181465" y="468223"/>
                  </a:lnTo>
                  <a:lnTo>
                    <a:pt x="1199040" y="442145"/>
                  </a:lnTo>
                  <a:lnTo>
                    <a:pt x="1205483" y="410210"/>
                  </a:lnTo>
                  <a:lnTo>
                    <a:pt x="1205483" y="82042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5" name="object 95"/>
            <p:cNvSpPr/>
            <p:nvPr/>
          </p:nvSpPr>
          <p:spPr>
            <a:xfrm>
              <a:off x="5663945" y="5151881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1123442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3" y="82042"/>
                  </a:lnTo>
                  <a:lnTo>
                    <a:pt x="1205483" y="410210"/>
                  </a:lnTo>
                  <a:lnTo>
                    <a:pt x="1199040" y="442145"/>
                  </a:lnTo>
                  <a:lnTo>
                    <a:pt x="1181465" y="468223"/>
                  </a:lnTo>
                  <a:lnTo>
                    <a:pt x="1155388" y="485805"/>
                  </a:lnTo>
                  <a:lnTo>
                    <a:pt x="1123442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96" name="object 96"/>
          <p:cNvSpPr txBox="1"/>
          <p:nvPr/>
        </p:nvSpPr>
        <p:spPr>
          <a:xfrm>
            <a:off x="4399979" y="4759262"/>
            <a:ext cx="6000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350" b="1" spc="-4" dirty="0">
                <a:solidFill>
                  <a:srgbClr val="1C1C1C"/>
                </a:solidFill>
                <a:latin typeface="Arial"/>
                <a:cs typeface="Arial"/>
              </a:rPr>
              <a:t>R</a:t>
            </a:r>
            <a:r>
              <a:rPr sz="1350" b="1" spc="-11" dirty="0">
                <a:solidFill>
                  <a:srgbClr val="1C1C1C"/>
                </a:solidFill>
                <a:latin typeface="Arial"/>
                <a:cs typeface="Arial"/>
              </a:rPr>
              <a:t>e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g</a:t>
            </a:r>
            <a:r>
              <a:rPr sz="1350" b="1" spc="4" dirty="0">
                <a:solidFill>
                  <a:srgbClr val="1C1C1C"/>
                </a:solidFill>
                <a:latin typeface="Arial"/>
                <a:cs typeface="Arial"/>
              </a:rPr>
              <a:t>i</a:t>
            </a:r>
            <a:r>
              <a:rPr sz="1350" b="1" dirty="0">
                <a:solidFill>
                  <a:srgbClr val="1C1C1C"/>
                </a:solidFill>
                <a:latin typeface="Arial"/>
                <a:cs typeface="Arial"/>
              </a:rPr>
              <a:t>on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97" name="object 97"/>
          <p:cNvGrpSpPr/>
          <p:nvPr/>
        </p:nvGrpSpPr>
        <p:grpSpPr>
          <a:xfrm>
            <a:off x="5258942" y="4491990"/>
            <a:ext cx="2125028" cy="1034415"/>
            <a:chOff x="7011923" y="4846320"/>
            <a:chExt cx="2833370" cy="1379220"/>
          </a:xfrm>
        </p:grpSpPr>
        <p:sp>
          <p:nvSpPr>
            <p:cNvPr id="98" name="object 98"/>
            <p:cNvSpPr/>
            <p:nvPr/>
          </p:nvSpPr>
          <p:spPr>
            <a:xfrm>
              <a:off x="7011923" y="5576316"/>
              <a:ext cx="1360931" cy="649223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9" name="object 99"/>
            <p:cNvSpPr/>
            <p:nvPr/>
          </p:nvSpPr>
          <p:spPr>
            <a:xfrm>
              <a:off x="7019543" y="5081016"/>
              <a:ext cx="1345692" cy="63398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0" name="object 100"/>
            <p:cNvSpPr/>
            <p:nvPr/>
          </p:nvSpPr>
          <p:spPr>
            <a:xfrm>
              <a:off x="7090409" y="5151882"/>
              <a:ext cx="1203960" cy="492759"/>
            </a:xfrm>
            <a:custGeom>
              <a:avLst/>
              <a:gdLst/>
              <a:ahLst/>
              <a:cxnLst/>
              <a:rect l="l" t="t" r="r" b="b"/>
              <a:pathLst>
                <a:path w="1203959" h="492760">
                  <a:moveTo>
                    <a:pt x="1121918" y="0"/>
                  </a:moveTo>
                  <a:lnTo>
                    <a:pt x="82042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2" y="492252"/>
                  </a:lnTo>
                  <a:lnTo>
                    <a:pt x="1121918" y="492252"/>
                  </a:lnTo>
                  <a:lnTo>
                    <a:pt x="1153864" y="485805"/>
                  </a:lnTo>
                  <a:lnTo>
                    <a:pt x="1179941" y="468223"/>
                  </a:lnTo>
                  <a:lnTo>
                    <a:pt x="1197516" y="442145"/>
                  </a:lnTo>
                  <a:lnTo>
                    <a:pt x="1203960" y="410210"/>
                  </a:lnTo>
                  <a:lnTo>
                    <a:pt x="1203960" y="82042"/>
                  </a:lnTo>
                  <a:lnTo>
                    <a:pt x="1197516" y="50095"/>
                  </a:lnTo>
                  <a:lnTo>
                    <a:pt x="1179941" y="24018"/>
                  </a:lnTo>
                  <a:lnTo>
                    <a:pt x="1153864" y="6443"/>
                  </a:lnTo>
                  <a:lnTo>
                    <a:pt x="1121918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1" name="object 101"/>
            <p:cNvSpPr/>
            <p:nvPr/>
          </p:nvSpPr>
          <p:spPr>
            <a:xfrm>
              <a:off x="7090409" y="5151882"/>
              <a:ext cx="1203960" cy="492759"/>
            </a:xfrm>
            <a:custGeom>
              <a:avLst/>
              <a:gdLst/>
              <a:ahLst/>
              <a:cxnLst/>
              <a:rect l="l" t="t" r="r" b="b"/>
              <a:pathLst>
                <a:path w="1203959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2" y="0"/>
                  </a:lnTo>
                  <a:lnTo>
                    <a:pt x="1121918" y="0"/>
                  </a:lnTo>
                  <a:lnTo>
                    <a:pt x="1153864" y="6443"/>
                  </a:lnTo>
                  <a:lnTo>
                    <a:pt x="1179941" y="24018"/>
                  </a:lnTo>
                  <a:lnTo>
                    <a:pt x="1197516" y="50095"/>
                  </a:lnTo>
                  <a:lnTo>
                    <a:pt x="1203960" y="82042"/>
                  </a:lnTo>
                  <a:lnTo>
                    <a:pt x="1203960" y="410210"/>
                  </a:lnTo>
                  <a:lnTo>
                    <a:pt x="1197516" y="442145"/>
                  </a:lnTo>
                  <a:lnTo>
                    <a:pt x="1179941" y="468223"/>
                  </a:lnTo>
                  <a:lnTo>
                    <a:pt x="1153864" y="485805"/>
                  </a:lnTo>
                  <a:lnTo>
                    <a:pt x="1121918" y="492252"/>
                  </a:lnTo>
                  <a:lnTo>
                    <a:pt x="82042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10667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2" name="object 102"/>
            <p:cNvSpPr/>
            <p:nvPr/>
          </p:nvSpPr>
          <p:spPr>
            <a:xfrm>
              <a:off x="9079991" y="4846320"/>
              <a:ext cx="765048" cy="8077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3" name="object 103"/>
            <p:cNvSpPr/>
            <p:nvPr/>
          </p:nvSpPr>
          <p:spPr>
            <a:xfrm>
              <a:off x="9083039" y="4981956"/>
              <a:ext cx="755903" cy="48005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4" name="object 104"/>
            <p:cNvSpPr/>
            <p:nvPr/>
          </p:nvSpPr>
          <p:spPr>
            <a:xfrm>
              <a:off x="9111233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5" name="object 105"/>
            <p:cNvSpPr/>
            <p:nvPr/>
          </p:nvSpPr>
          <p:spPr>
            <a:xfrm>
              <a:off x="9650983" y="545998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90" y="21589"/>
                  </a:lnTo>
                  <a:lnTo>
                    <a:pt x="0" y="10794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6" name="object 106"/>
            <p:cNvSpPr/>
            <p:nvPr/>
          </p:nvSpPr>
          <p:spPr>
            <a:xfrm>
              <a:off x="9111233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40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07" name="object 107"/>
          <p:cNvSpPr txBox="1"/>
          <p:nvPr/>
        </p:nvSpPr>
        <p:spPr>
          <a:xfrm>
            <a:off x="6903815" y="4639723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08" name="object 108"/>
          <p:cNvGrpSpPr/>
          <p:nvPr/>
        </p:nvGrpSpPr>
        <p:grpSpPr>
          <a:xfrm>
            <a:off x="7431785" y="4491990"/>
            <a:ext cx="575310" cy="605790"/>
            <a:chOff x="9909047" y="4846320"/>
            <a:chExt cx="767080" cy="807720"/>
          </a:xfrm>
        </p:grpSpPr>
        <p:sp>
          <p:nvSpPr>
            <p:cNvPr id="109" name="object 109"/>
            <p:cNvSpPr/>
            <p:nvPr/>
          </p:nvSpPr>
          <p:spPr>
            <a:xfrm>
              <a:off x="9909047" y="4846320"/>
              <a:ext cx="766572" cy="807720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0" name="object 110"/>
            <p:cNvSpPr/>
            <p:nvPr/>
          </p:nvSpPr>
          <p:spPr>
            <a:xfrm>
              <a:off x="9913619" y="4981956"/>
              <a:ext cx="755903" cy="48005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1" name="object 111"/>
            <p:cNvSpPr/>
            <p:nvPr/>
          </p:nvSpPr>
          <p:spPr>
            <a:xfrm>
              <a:off x="9940289" y="4877562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649224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41019" y="690372"/>
                  </a:lnTo>
                  <a:lnTo>
                    <a:pt x="649224" y="582168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2" name="object 112"/>
            <p:cNvSpPr/>
            <p:nvPr/>
          </p:nvSpPr>
          <p:spPr>
            <a:xfrm>
              <a:off x="10481309" y="5459730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4" y="0"/>
                  </a:moveTo>
                  <a:lnTo>
                    <a:pt x="21590" y="21590"/>
                  </a:lnTo>
                  <a:lnTo>
                    <a:pt x="0" y="108204"/>
                  </a:lnTo>
                  <a:lnTo>
                    <a:pt x="108204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3" name="object 113"/>
            <p:cNvSpPr/>
            <p:nvPr/>
          </p:nvSpPr>
          <p:spPr>
            <a:xfrm>
              <a:off x="9940289" y="4877562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541019" y="690372"/>
                  </a:moveTo>
                  <a:lnTo>
                    <a:pt x="562609" y="603757"/>
                  </a:lnTo>
                  <a:lnTo>
                    <a:pt x="649224" y="582168"/>
                  </a:lnTo>
                  <a:lnTo>
                    <a:pt x="541019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2168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4" name="object 114"/>
          <p:cNvSpPr txBox="1"/>
          <p:nvPr/>
        </p:nvSpPr>
        <p:spPr>
          <a:xfrm>
            <a:off x="7526084" y="4639723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15" name="object 115"/>
          <p:cNvGrpSpPr/>
          <p:nvPr/>
        </p:nvGrpSpPr>
        <p:grpSpPr>
          <a:xfrm>
            <a:off x="8025004" y="4491990"/>
            <a:ext cx="573881" cy="605790"/>
            <a:chOff x="10700004" y="4846320"/>
            <a:chExt cx="765175" cy="807720"/>
          </a:xfrm>
        </p:grpSpPr>
        <p:sp>
          <p:nvSpPr>
            <p:cNvPr id="116" name="object 116"/>
            <p:cNvSpPr/>
            <p:nvPr/>
          </p:nvSpPr>
          <p:spPr>
            <a:xfrm>
              <a:off x="10700004" y="4846320"/>
              <a:ext cx="765048" cy="807720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7" name="object 117"/>
            <p:cNvSpPr/>
            <p:nvPr/>
          </p:nvSpPr>
          <p:spPr>
            <a:xfrm>
              <a:off x="10703052" y="4981956"/>
              <a:ext cx="755903" cy="48005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8" name="object 118"/>
            <p:cNvSpPr/>
            <p:nvPr/>
          </p:nvSpPr>
          <p:spPr>
            <a:xfrm>
              <a:off x="10731246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647700" y="0"/>
                  </a:moveTo>
                  <a:lnTo>
                    <a:pt x="0" y="0"/>
                  </a:lnTo>
                  <a:lnTo>
                    <a:pt x="0" y="690372"/>
                  </a:lnTo>
                  <a:lnTo>
                    <a:pt x="539750" y="690372"/>
                  </a:lnTo>
                  <a:lnTo>
                    <a:pt x="647700" y="582422"/>
                  </a:lnTo>
                  <a:lnTo>
                    <a:pt x="6477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19" name="object 119"/>
            <p:cNvSpPr/>
            <p:nvPr/>
          </p:nvSpPr>
          <p:spPr>
            <a:xfrm>
              <a:off x="11270996" y="5459984"/>
              <a:ext cx="107950" cy="107950"/>
            </a:xfrm>
            <a:custGeom>
              <a:avLst/>
              <a:gdLst/>
              <a:ahLst/>
              <a:cxnLst/>
              <a:rect l="l" t="t" r="r" b="b"/>
              <a:pathLst>
                <a:path w="107950" h="107950">
                  <a:moveTo>
                    <a:pt x="107950" y="0"/>
                  </a:moveTo>
                  <a:lnTo>
                    <a:pt x="21589" y="21589"/>
                  </a:lnTo>
                  <a:lnTo>
                    <a:pt x="0" y="107949"/>
                  </a:lnTo>
                  <a:lnTo>
                    <a:pt x="107950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0" name="object 120"/>
            <p:cNvSpPr/>
            <p:nvPr/>
          </p:nvSpPr>
          <p:spPr>
            <a:xfrm>
              <a:off x="10731246" y="4877562"/>
              <a:ext cx="647700" cy="690880"/>
            </a:xfrm>
            <a:custGeom>
              <a:avLst/>
              <a:gdLst/>
              <a:ahLst/>
              <a:cxnLst/>
              <a:rect l="l" t="t" r="r" b="b"/>
              <a:pathLst>
                <a:path w="647700" h="690879">
                  <a:moveTo>
                    <a:pt x="539750" y="690372"/>
                  </a:moveTo>
                  <a:lnTo>
                    <a:pt x="561339" y="604012"/>
                  </a:lnTo>
                  <a:lnTo>
                    <a:pt x="647700" y="582422"/>
                  </a:lnTo>
                  <a:lnTo>
                    <a:pt x="539750" y="690372"/>
                  </a:lnTo>
                  <a:lnTo>
                    <a:pt x="0" y="690372"/>
                  </a:lnTo>
                  <a:lnTo>
                    <a:pt x="0" y="0"/>
                  </a:lnTo>
                  <a:lnTo>
                    <a:pt x="647700" y="0"/>
                  </a:lnTo>
                  <a:lnTo>
                    <a:pt x="647700" y="582422"/>
                  </a:lnTo>
                </a:path>
              </a:pathLst>
            </a:custGeom>
            <a:ln w="10668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21" name="object 121"/>
          <p:cNvSpPr txBox="1"/>
          <p:nvPr/>
        </p:nvSpPr>
        <p:spPr>
          <a:xfrm>
            <a:off x="8119015" y="4639723"/>
            <a:ext cx="345757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spc="-8" dirty="0">
                <a:solidFill>
                  <a:srgbClr val="1C1C1C"/>
                </a:solidFill>
                <a:latin typeface="Arial"/>
                <a:cs typeface="Arial"/>
              </a:rPr>
              <a:t>HF</a:t>
            </a: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ile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22" name="object 122"/>
          <p:cNvSpPr/>
          <p:nvPr/>
        </p:nvSpPr>
        <p:spPr>
          <a:xfrm>
            <a:off x="4700017" y="3007234"/>
            <a:ext cx="1120139" cy="326897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23" name="object 123"/>
          <p:cNvSpPr txBox="1"/>
          <p:nvPr/>
        </p:nvSpPr>
        <p:spPr>
          <a:xfrm>
            <a:off x="4851463" y="3076766"/>
            <a:ext cx="818198" cy="17168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1050" b="1" spc="-4" dirty="0">
                <a:solidFill>
                  <a:srgbClr val="1C1C1C"/>
                </a:solidFill>
                <a:latin typeface="Arial"/>
                <a:cs typeface="Arial"/>
              </a:rPr>
              <a:t>Block</a:t>
            </a:r>
            <a:r>
              <a:rPr sz="105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1050" b="1" spc="-4" dirty="0">
                <a:solidFill>
                  <a:srgbClr val="1C1C1C"/>
                </a:solidFill>
                <a:latin typeface="Arial"/>
                <a:cs typeface="Arial"/>
              </a:rPr>
              <a:t>Cache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24" name="object 124"/>
          <p:cNvGrpSpPr/>
          <p:nvPr/>
        </p:nvGrpSpPr>
        <p:grpSpPr>
          <a:xfrm>
            <a:off x="3010661" y="3024378"/>
            <a:ext cx="1884998" cy="335280"/>
            <a:chOff x="4014215" y="2889504"/>
            <a:chExt cx="2513330" cy="447040"/>
          </a:xfrm>
        </p:grpSpPr>
        <p:sp>
          <p:nvSpPr>
            <p:cNvPr id="125" name="object 125"/>
            <p:cNvSpPr/>
            <p:nvPr/>
          </p:nvSpPr>
          <p:spPr>
            <a:xfrm>
              <a:off x="4014215" y="2889504"/>
              <a:ext cx="2513076" cy="446532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26" name="object 126"/>
            <p:cNvSpPr/>
            <p:nvPr/>
          </p:nvSpPr>
          <p:spPr>
            <a:xfrm>
              <a:off x="4040885" y="2999942"/>
              <a:ext cx="2237105" cy="171450"/>
            </a:xfrm>
            <a:custGeom>
              <a:avLst/>
              <a:gdLst/>
              <a:ahLst/>
              <a:cxnLst/>
              <a:rect l="l" t="t" r="r" b="b"/>
              <a:pathLst>
                <a:path w="2237104" h="171450">
                  <a:moveTo>
                    <a:pt x="2128719" y="104716"/>
                  </a:moveTo>
                  <a:lnTo>
                    <a:pt x="2075306" y="135814"/>
                  </a:lnTo>
                  <a:lnTo>
                    <a:pt x="2069625" y="140793"/>
                  </a:lnTo>
                  <a:lnTo>
                    <a:pt x="2066432" y="147355"/>
                  </a:lnTo>
                  <a:lnTo>
                    <a:pt x="2065930" y="154656"/>
                  </a:lnTo>
                  <a:lnTo>
                    <a:pt x="2068322" y="161849"/>
                  </a:lnTo>
                  <a:lnTo>
                    <a:pt x="2073372" y="167528"/>
                  </a:lnTo>
                  <a:lnTo>
                    <a:pt x="2079958" y="170707"/>
                  </a:lnTo>
                  <a:lnTo>
                    <a:pt x="2087235" y="171172"/>
                  </a:lnTo>
                  <a:lnTo>
                    <a:pt x="2094356" y="168707"/>
                  </a:lnTo>
                  <a:lnTo>
                    <a:pt x="2204216" y="104826"/>
                  </a:lnTo>
                  <a:lnTo>
                    <a:pt x="2128719" y="104716"/>
                  </a:lnTo>
                  <a:close/>
                </a:path>
                <a:path w="2237104" h="171450">
                  <a:moveTo>
                    <a:pt x="2161428" y="85672"/>
                  </a:moveTo>
                  <a:lnTo>
                    <a:pt x="2128719" y="104716"/>
                  </a:lnTo>
                  <a:lnTo>
                    <a:pt x="2199259" y="104826"/>
                  </a:lnTo>
                  <a:lnTo>
                    <a:pt x="2199259" y="102159"/>
                  </a:lnTo>
                  <a:lnTo>
                    <a:pt x="2189606" y="102159"/>
                  </a:lnTo>
                  <a:lnTo>
                    <a:pt x="2161428" y="85672"/>
                  </a:lnTo>
                  <a:close/>
                </a:path>
                <a:path w="2237104" h="171450">
                  <a:moveTo>
                    <a:pt x="2087489" y="0"/>
                  </a:moveTo>
                  <a:lnTo>
                    <a:pt x="2080212" y="464"/>
                  </a:lnTo>
                  <a:lnTo>
                    <a:pt x="2073626" y="3643"/>
                  </a:lnTo>
                  <a:lnTo>
                    <a:pt x="2068576" y="9322"/>
                  </a:lnTo>
                  <a:lnTo>
                    <a:pt x="2066111" y="16444"/>
                  </a:lnTo>
                  <a:lnTo>
                    <a:pt x="2066575" y="23721"/>
                  </a:lnTo>
                  <a:lnTo>
                    <a:pt x="2069754" y="30307"/>
                  </a:lnTo>
                  <a:lnTo>
                    <a:pt x="2075434" y="35357"/>
                  </a:lnTo>
                  <a:lnTo>
                    <a:pt x="2128859" y="66616"/>
                  </a:lnTo>
                  <a:lnTo>
                    <a:pt x="2199259" y="66726"/>
                  </a:lnTo>
                  <a:lnTo>
                    <a:pt x="2199259" y="104826"/>
                  </a:lnTo>
                  <a:lnTo>
                    <a:pt x="2204216" y="104826"/>
                  </a:lnTo>
                  <a:lnTo>
                    <a:pt x="2236978" y="85776"/>
                  </a:lnTo>
                  <a:lnTo>
                    <a:pt x="2094611" y="2464"/>
                  </a:lnTo>
                  <a:lnTo>
                    <a:pt x="2087489" y="0"/>
                  </a:lnTo>
                  <a:close/>
                </a:path>
                <a:path w="2237104" h="171450">
                  <a:moveTo>
                    <a:pt x="0" y="63297"/>
                  </a:moveTo>
                  <a:lnTo>
                    <a:pt x="0" y="101397"/>
                  </a:lnTo>
                  <a:lnTo>
                    <a:pt x="2128719" y="104716"/>
                  </a:lnTo>
                  <a:lnTo>
                    <a:pt x="2161428" y="85672"/>
                  </a:lnTo>
                  <a:lnTo>
                    <a:pt x="2128859" y="66616"/>
                  </a:lnTo>
                  <a:lnTo>
                    <a:pt x="0" y="63297"/>
                  </a:lnTo>
                  <a:close/>
                </a:path>
                <a:path w="2237104" h="171450">
                  <a:moveTo>
                    <a:pt x="2189606" y="69266"/>
                  </a:moveTo>
                  <a:lnTo>
                    <a:pt x="2161428" y="85672"/>
                  </a:lnTo>
                  <a:lnTo>
                    <a:pt x="2189606" y="102159"/>
                  </a:lnTo>
                  <a:lnTo>
                    <a:pt x="2189606" y="69266"/>
                  </a:lnTo>
                  <a:close/>
                </a:path>
                <a:path w="2237104" h="171450">
                  <a:moveTo>
                    <a:pt x="2199259" y="69266"/>
                  </a:moveTo>
                  <a:lnTo>
                    <a:pt x="2189606" y="69266"/>
                  </a:lnTo>
                  <a:lnTo>
                    <a:pt x="2189606" y="102159"/>
                  </a:lnTo>
                  <a:lnTo>
                    <a:pt x="2199259" y="102159"/>
                  </a:lnTo>
                  <a:lnTo>
                    <a:pt x="2199259" y="69266"/>
                  </a:lnTo>
                  <a:close/>
                </a:path>
                <a:path w="2237104" h="171450">
                  <a:moveTo>
                    <a:pt x="2128859" y="66616"/>
                  </a:moveTo>
                  <a:lnTo>
                    <a:pt x="2161428" y="85672"/>
                  </a:lnTo>
                  <a:lnTo>
                    <a:pt x="2189606" y="69266"/>
                  </a:lnTo>
                  <a:lnTo>
                    <a:pt x="2199259" y="69266"/>
                  </a:lnTo>
                  <a:lnTo>
                    <a:pt x="2199259" y="66726"/>
                  </a:lnTo>
                  <a:lnTo>
                    <a:pt x="2128859" y="66616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27" name="object 127"/>
          <p:cNvSpPr txBox="1"/>
          <p:nvPr/>
        </p:nvSpPr>
        <p:spPr>
          <a:xfrm>
            <a:off x="3820859" y="2985135"/>
            <a:ext cx="42624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4.</a:t>
            </a:r>
            <a:r>
              <a:rPr sz="90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Read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28" name="object 128"/>
          <p:cNvGrpSpPr/>
          <p:nvPr/>
        </p:nvGrpSpPr>
        <p:grpSpPr>
          <a:xfrm>
            <a:off x="3023234" y="3649599"/>
            <a:ext cx="3998595" cy="547688"/>
            <a:chOff x="4030979" y="3723132"/>
            <a:chExt cx="5331460" cy="730250"/>
          </a:xfrm>
        </p:grpSpPr>
        <p:sp>
          <p:nvSpPr>
            <p:cNvPr id="129" name="object 129"/>
            <p:cNvSpPr/>
            <p:nvPr/>
          </p:nvSpPr>
          <p:spPr>
            <a:xfrm>
              <a:off x="4030979" y="3723132"/>
              <a:ext cx="5330952" cy="729995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0" name="object 130"/>
            <p:cNvSpPr/>
            <p:nvPr/>
          </p:nvSpPr>
          <p:spPr>
            <a:xfrm>
              <a:off x="4057649" y="3749040"/>
              <a:ext cx="5054600" cy="540385"/>
            </a:xfrm>
            <a:custGeom>
              <a:avLst/>
              <a:gdLst/>
              <a:ahLst/>
              <a:cxnLst/>
              <a:rect l="l" t="t" r="r" b="b"/>
              <a:pathLst>
                <a:path w="5054600" h="540385">
                  <a:moveTo>
                    <a:pt x="4978908" y="454596"/>
                  </a:moveTo>
                  <a:lnTo>
                    <a:pt x="4892802" y="504825"/>
                  </a:lnTo>
                  <a:lnTo>
                    <a:pt x="4887122" y="509875"/>
                  </a:lnTo>
                  <a:lnTo>
                    <a:pt x="4883943" y="516461"/>
                  </a:lnTo>
                  <a:lnTo>
                    <a:pt x="4883479" y="523738"/>
                  </a:lnTo>
                  <a:lnTo>
                    <a:pt x="4885944" y="530860"/>
                  </a:lnTo>
                  <a:lnTo>
                    <a:pt x="4890922" y="536539"/>
                  </a:lnTo>
                  <a:lnTo>
                    <a:pt x="4897485" y="539718"/>
                  </a:lnTo>
                  <a:lnTo>
                    <a:pt x="4904785" y="540182"/>
                  </a:lnTo>
                  <a:lnTo>
                    <a:pt x="4911979" y="537718"/>
                  </a:lnTo>
                  <a:lnTo>
                    <a:pt x="5021790" y="473710"/>
                  </a:lnTo>
                  <a:lnTo>
                    <a:pt x="5016627" y="473710"/>
                  </a:lnTo>
                  <a:lnTo>
                    <a:pt x="5016627" y="471043"/>
                  </a:lnTo>
                  <a:lnTo>
                    <a:pt x="5007102" y="471043"/>
                  </a:lnTo>
                  <a:lnTo>
                    <a:pt x="4978908" y="454596"/>
                  </a:lnTo>
                  <a:close/>
                </a:path>
                <a:path w="5054600" h="540385">
                  <a:moveTo>
                    <a:pt x="4179951" y="19050"/>
                  </a:moveTo>
                  <a:lnTo>
                    <a:pt x="4179951" y="454660"/>
                  </a:lnTo>
                  <a:lnTo>
                    <a:pt x="4181445" y="462083"/>
                  </a:lnTo>
                  <a:lnTo>
                    <a:pt x="4185523" y="468137"/>
                  </a:lnTo>
                  <a:lnTo>
                    <a:pt x="4191577" y="472215"/>
                  </a:lnTo>
                  <a:lnTo>
                    <a:pt x="4199001" y="473710"/>
                  </a:lnTo>
                  <a:lnTo>
                    <a:pt x="4946141" y="473710"/>
                  </a:lnTo>
                  <a:lnTo>
                    <a:pt x="4978799" y="454660"/>
                  </a:lnTo>
                  <a:lnTo>
                    <a:pt x="4218051" y="454660"/>
                  </a:lnTo>
                  <a:lnTo>
                    <a:pt x="4199001" y="435610"/>
                  </a:lnTo>
                  <a:lnTo>
                    <a:pt x="4218051" y="435610"/>
                  </a:lnTo>
                  <a:lnTo>
                    <a:pt x="4218051" y="38100"/>
                  </a:lnTo>
                  <a:lnTo>
                    <a:pt x="4199001" y="38100"/>
                  </a:lnTo>
                  <a:lnTo>
                    <a:pt x="4179951" y="19050"/>
                  </a:lnTo>
                  <a:close/>
                </a:path>
                <a:path w="5054600" h="540385">
                  <a:moveTo>
                    <a:pt x="5021840" y="435610"/>
                  </a:moveTo>
                  <a:lnTo>
                    <a:pt x="5016627" y="435610"/>
                  </a:lnTo>
                  <a:lnTo>
                    <a:pt x="5016627" y="473710"/>
                  </a:lnTo>
                  <a:lnTo>
                    <a:pt x="5021790" y="473710"/>
                  </a:lnTo>
                  <a:lnTo>
                    <a:pt x="5054473" y="454660"/>
                  </a:lnTo>
                  <a:lnTo>
                    <a:pt x="5021840" y="435610"/>
                  </a:lnTo>
                  <a:close/>
                </a:path>
                <a:path w="5054600" h="540385">
                  <a:moveTo>
                    <a:pt x="5007102" y="438150"/>
                  </a:moveTo>
                  <a:lnTo>
                    <a:pt x="4978908" y="454596"/>
                  </a:lnTo>
                  <a:lnTo>
                    <a:pt x="5007102" y="471043"/>
                  </a:lnTo>
                  <a:lnTo>
                    <a:pt x="5007102" y="438150"/>
                  </a:lnTo>
                  <a:close/>
                </a:path>
                <a:path w="5054600" h="540385">
                  <a:moveTo>
                    <a:pt x="5016627" y="438150"/>
                  </a:moveTo>
                  <a:lnTo>
                    <a:pt x="5007102" y="438150"/>
                  </a:lnTo>
                  <a:lnTo>
                    <a:pt x="5007102" y="471043"/>
                  </a:lnTo>
                  <a:lnTo>
                    <a:pt x="5016627" y="471043"/>
                  </a:lnTo>
                  <a:lnTo>
                    <a:pt x="5016627" y="438150"/>
                  </a:lnTo>
                  <a:close/>
                </a:path>
                <a:path w="5054600" h="540385">
                  <a:moveTo>
                    <a:pt x="4218051" y="435610"/>
                  </a:moveTo>
                  <a:lnTo>
                    <a:pt x="4199001" y="435610"/>
                  </a:lnTo>
                  <a:lnTo>
                    <a:pt x="4218051" y="454660"/>
                  </a:lnTo>
                  <a:lnTo>
                    <a:pt x="4218051" y="435610"/>
                  </a:lnTo>
                  <a:close/>
                </a:path>
                <a:path w="5054600" h="540385">
                  <a:moveTo>
                    <a:pt x="4946359" y="435610"/>
                  </a:moveTo>
                  <a:lnTo>
                    <a:pt x="4218051" y="435610"/>
                  </a:lnTo>
                  <a:lnTo>
                    <a:pt x="4218051" y="454660"/>
                  </a:lnTo>
                  <a:lnTo>
                    <a:pt x="4978799" y="454660"/>
                  </a:lnTo>
                  <a:lnTo>
                    <a:pt x="4946359" y="435610"/>
                  </a:lnTo>
                  <a:close/>
                </a:path>
                <a:path w="5054600" h="540385">
                  <a:moveTo>
                    <a:pt x="4904785" y="369028"/>
                  </a:moveTo>
                  <a:lnTo>
                    <a:pt x="4897485" y="369522"/>
                  </a:lnTo>
                  <a:lnTo>
                    <a:pt x="4890922" y="372707"/>
                  </a:lnTo>
                  <a:lnTo>
                    <a:pt x="4885944" y="378333"/>
                  </a:lnTo>
                  <a:lnTo>
                    <a:pt x="4883479" y="385526"/>
                  </a:lnTo>
                  <a:lnTo>
                    <a:pt x="4883943" y="392826"/>
                  </a:lnTo>
                  <a:lnTo>
                    <a:pt x="4887122" y="399389"/>
                  </a:lnTo>
                  <a:lnTo>
                    <a:pt x="4892802" y="404368"/>
                  </a:lnTo>
                  <a:lnTo>
                    <a:pt x="4978908" y="454596"/>
                  </a:lnTo>
                  <a:lnTo>
                    <a:pt x="5007102" y="438150"/>
                  </a:lnTo>
                  <a:lnTo>
                    <a:pt x="5016627" y="438150"/>
                  </a:lnTo>
                  <a:lnTo>
                    <a:pt x="5016627" y="435610"/>
                  </a:lnTo>
                  <a:lnTo>
                    <a:pt x="5021840" y="435610"/>
                  </a:lnTo>
                  <a:lnTo>
                    <a:pt x="4911979" y="371475"/>
                  </a:lnTo>
                  <a:lnTo>
                    <a:pt x="4904785" y="369028"/>
                  </a:lnTo>
                  <a:close/>
                </a:path>
                <a:path w="5054600" h="540385">
                  <a:moveTo>
                    <a:pt x="4199001" y="0"/>
                  </a:moveTo>
                  <a:lnTo>
                    <a:pt x="0" y="0"/>
                  </a:lnTo>
                  <a:lnTo>
                    <a:pt x="0" y="38100"/>
                  </a:lnTo>
                  <a:lnTo>
                    <a:pt x="4179951" y="38100"/>
                  </a:lnTo>
                  <a:lnTo>
                    <a:pt x="4179951" y="19050"/>
                  </a:lnTo>
                  <a:lnTo>
                    <a:pt x="4218051" y="19050"/>
                  </a:lnTo>
                  <a:lnTo>
                    <a:pt x="4216556" y="11626"/>
                  </a:lnTo>
                  <a:lnTo>
                    <a:pt x="4212478" y="5572"/>
                  </a:lnTo>
                  <a:lnTo>
                    <a:pt x="4206424" y="1494"/>
                  </a:lnTo>
                  <a:lnTo>
                    <a:pt x="4199001" y="0"/>
                  </a:lnTo>
                  <a:close/>
                </a:path>
                <a:path w="5054600" h="540385">
                  <a:moveTo>
                    <a:pt x="4218051" y="19050"/>
                  </a:moveTo>
                  <a:lnTo>
                    <a:pt x="4179951" y="19050"/>
                  </a:lnTo>
                  <a:lnTo>
                    <a:pt x="4199001" y="38100"/>
                  </a:lnTo>
                  <a:lnTo>
                    <a:pt x="4218051" y="38100"/>
                  </a:lnTo>
                  <a:lnTo>
                    <a:pt x="4218051" y="19050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1" name="object 131"/>
          <p:cNvSpPr txBox="1"/>
          <p:nvPr/>
        </p:nvSpPr>
        <p:spPr>
          <a:xfrm>
            <a:off x="3820859" y="3519868"/>
            <a:ext cx="426244" cy="14811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900" b="1" spc="-4" dirty="0">
                <a:solidFill>
                  <a:srgbClr val="1C1C1C"/>
                </a:solidFill>
                <a:latin typeface="Arial"/>
                <a:cs typeface="Arial"/>
              </a:rPr>
              <a:t>6.</a:t>
            </a:r>
            <a:r>
              <a:rPr sz="900" b="1" spc="-56" dirty="0">
                <a:solidFill>
                  <a:srgbClr val="1C1C1C"/>
                </a:solidFill>
                <a:latin typeface="Arial"/>
                <a:cs typeface="Arial"/>
              </a:rPr>
              <a:t> </a:t>
            </a:r>
            <a:r>
              <a:rPr sz="900" b="1" dirty="0">
                <a:solidFill>
                  <a:srgbClr val="1C1C1C"/>
                </a:solidFill>
                <a:latin typeface="Arial"/>
                <a:cs typeface="Arial"/>
              </a:rPr>
              <a:t>Read</a:t>
            </a:r>
            <a:endParaRPr sz="900">
              <a:latin typeface="Arial"/>
              <a:cs typeface="Arial"/>
            </a:endParaRPr>
          </a:p>
        </p:txBody>
      </p:sp>
      <p:grpSp>
        <p:nvGrpSpPr>
          <p:cNvPr id="132" name="object 132"/>
          <p:cNvGrpSpPr/>
          <p:nvPr/>
        </p:nvGrpSpPr>
        <p:grpSpPr>
          <a:xfrm>
            <a:off x="8097012" y="4572000"/>
            <a:ext cx="575310" cy="605790"/>
            <a:chOff x="10796016" y="4953000"/>
            <a:chExt cx="767080" cy="807720"/>
          </a:xfrm>
        </p:grpSpPr>
        <p:sp>
          <p:nvSpPr>
            <p:cNvPr id="133" name="object 133"/>
            <p:cNvSpPr/>
            <p:nvPr/>
          </p:nvSpPr>
          <p:spPr>
            <a:xfrm>
              <a:off x="10796016" y="4953000"/>
              <a:ext cx="766572" cy="80771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4" name="object 134"/>
            <p:cNvSpPr/>
            <p:nvPr/>
          </p:nvSpPr>
          <p:spPr>
            <a:xfrm>
              <a:off x="10878312" y="5088636"/>
              <a:ext cx="598931" cy="480059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5" name="object 135"/>
            <p:cNvSpPr/>
            <p:nvPr/>
          </p:nvSpPr>
          <p:spPr>
            <a:xfrm>
              <a:off x="10827258" y="4984242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649224" y="0"/>
                  </a:moveTo>
                  <a:lnTo>
                    <a:pt x="0" y="0"/>
                  </a:lnTo>
                  <a:lnTo>
                    <a:pt x="0" y="690371"/>
                  </a:lnTo>
                  <a:lnTo>
                    <a:pt x="541020" y="690371"/>
                  </a:lnTo>
                  <a:lnTo>
                    <a:pt x="649224" y="582167"/>
                  </a:lnTo>
                  <a:lnTo>
                    <a:pt x="6492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6" name="object 136"/>
            <p:cNvSpPr/>
            <p:nvPr/>
          </p:nvSpPr>
          <p:spPr>
            <a:xfrm>
              <a:off x="11368278" y="5566409"/>
              <a:ext cx="108585" cy="108585"/>
            </a:xfrm>
            <a:custGeom>
              <a:avLst/>
              <a:gdLst/>
              <a:ahLst/>
              <a:cxnLst/>
              <a:rect l="l" t="t" r="r" b="b"/>
              <a:pathLst>
                <a:path w="108584" h="108585">
                  <a:moveTo>
                    <a:pt x="108203" y="0"/>
                  </a:moveTo>
                  <a:lnTo>
                    <a:pt x="21590" y="21640"/>
                  </a:lnTo>
                  <a:lnTo>
                    <a:pt x="0" y="108203"/>
                  </a:lnTo>
                  <a:lnTo>
                    <a:pt x="108203" y="0"/>
                  </a:lnTo>
                  <a:close/>
                </a:path>
              </a:pathLst>
            </a:custGeom>
            <a:solidFill>
              <a:srgbClr val="CDCDCD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37" name="object 137"/>
            <p:cNvSpPr/>
            <p:nvPr/>
          </p:nvSpPr>
          <p:spPr>
            <a:xfrm>
              <a:off x="10827258" y="4984242"/>
              <a:ext cx="649605" cy="690880"/>
            </a:xfrm>
            <a:custGeom>
              <a:avLst/>
              <a:gdLst/>
              <a:ahLst/>
              <a:cxnLst/>
              <a:rect l="l" t="t" r="r" b="b"/>
              <a:pathLst>
                <a:path w="649604" h="690879">
                  <a:moveTo>
                    <a:pt x="541020" y="690371"/>
                  </a:moveTo>
                  <a:lnTo>
                    <a:pt x="562610" y="603808"/>
                  </a:lnTo>
                  <a:lnTo>
                    <a:pt x="649224" y="582167"/>
                  </a:lnTo>
                  <a:lnTo>
                    <a:pt x="541020" y="690371"/>
                  </a:lnTo>
                  <a:lnTo>
                    <a:pt x="0" y="690371"/>
                  </a:lnTo>
                  <a:lnTo>
                    <a:pt x="0" y="0"/>
                  </a:lnTo>
                  <a:lnTo>
                    <a:pt x="649224" y="0"/>
                  </a:lnTo>
                  <a:lnTo>
                    <a:pt x="649224" y="582167"/>
                  </a:lnTo>
                </a:path>
              </a:pathLst>
            </a:custGeom>
            <a:ln w="10667">
              <a:solidFill>
                <a:srgbClr val="7B858D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38" name="object 138"/>
          <p:cNvSpPr txBox="1"/>
          <p:nvPr/>
        </p:nvSpPr>
        <p:spPr>
          <a:xfrm>
            <a:off x="8249602" y="4720209"/>
            <a:ext cx="227648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050" b="1" dirty="0">
                <a:solidFill>
                  <a:srgbClr val="1C1C1C"/>
                </a:solidFill>
                <a:latin typeface="Arial"/>
                <a:cs typeface="Arial"/>
              </a:rPr>
              <a:t>…..</a:t>
            </a:r>
            <a:endParaRPr sz="1050">
              <a:latin typeface="Arial"/>
              <a:cs typeface="Arial"/>
            </a:endParaRPr>
          </a:p>
        </p:txBody>
      </p:sp>
      <p:grpSp>
        <p:nvGrpSpPr>
          <p:cNvPr id="139" name="object 139"/>
          <p:cNvGrpSpPr/>
          <p:nvPr/>
        </p:nvGrpSpPr>
        <p:grpSpPr>
          <a:xfrm>
            <a:off x="5335523" y="4754880"/>
            <a:ext cx="1022033" cy="858679"/>
            <a:chOff x="7114031" y="5196840"/>
            <a:chExt cx="1362710" cy="1144905"/>
          </a:xfrm>
        </p:grpSpPr>
        <p:sp>
          <p:nvSpPr>
            <p:cNvPr id="140" name="object 140"/>
            <p:cNvSpPr/>
            <p:nvPr/>
          </p:nvSpPr>
          <p:spPr>
            <a:xfrm>
              <a:off x="7114031" y="5692140"/>
              <a:ext cx="1362455" cy="64922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1" name="object 141"/>
            <p:cNvSpPr/>
            <p:nvPr/>
          </p:nvSpPr>
          <p:spPr>
            <a:xfrm>
              <a:off x="7121651" y="5196840"/>
              <a:ext cx="1347216" cy="633984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2" name="object 142"/>
            <p:cNvSpPr/>
            <p:nvPr/>
          </p:nvSpPr>
          <p:spPr>
            <a:xfrm>
              <a:off x="7192517" y="526770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1123441" y="0"/>
                  </a:moveTo>
                  <a:lnTo>
                    <a:pt x="82041" y="0"/>
                  </a:lnTo>
                  <a:lnTo>
                    <a:pt x="50095" y="6443"/>
                  </a:lnTo>
                  <a:lnTo>
                    <a:pt x="24018" y="24018"/>
                  </a:lnTo>
                  <a:lnTo>
                    <a:pt x="6443" y="50095"/>
                  </a:lnTo>
                  <a:lnTo>
                    <a:pt x="0" y="82042"/>
                  </a:lnTo>
                  <a:lnTo>
                    <a:pt x="0" y="410210"/>
                  </a:lnTo>
                  <a:lnTo>
                    <a:pt x="6443" y="442145"/>
                  </a:lnTo>
                  <a:lnTo>
                    <a:pt x="24018" y="468223"/>
                  </a:lnTo>
                  <a:lnTo>
                    <a:pt x="50095" y="485805"/>
                  </a:lnTo>
                  <a:lnTo>
                    <a:pt x="82041" y="492252"/>
                  </a:lnTo>
                  <a:lnTo>
                    <a:pt x="1123441" y="492252"/>
                  </a:lnTo>
                  <a:lnTo>
                    <a:pt x="1155388" y="485805"/>
                  </a:lnTo>
                  <a:lnTo>
                    <a:pt x="1181465" y="468223"/>
                  </a:lnTo>
                  <a:lnTo>
                    <a:pt x="1199040" y="442145"/>
                  </a:lnTo>
                  <a:lnTo>
                    <a:pt x="1205483" y="410210"/>
                  </a:lnTo>
                  <a:lnTo>
                    <a:pt x="1205483" y="82042"/>
                  </a:lnTo>
                  <a:lnTo>
                    <a:pt x="1199040" y="50095"/>
                  </a:lnTo>
                  <a:lnTo>
                    <a:pt x="1181465" y="24018"/>
                  </a:lnTo>
                  <a:lnTo>
                    <a:pt x="1155388" y="6443"/>
                  </a:lnTo>
                  <a:lnTo>
                    <a:pt x="112344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3" name="object 143"/>
            <p:cNvSpPr/>
            <p:nvPr/>
          </p:nvSpPr>
          <p:spPr>
            <a:xfrm>
              <a:off x="7192517" y="5267706"/>
              <a:ext cx="1205865" cy="492759"/>
            </a:xfrm>
            <a:custGeom>
              <a:avLst/>
              <a:gdLst/>
              <a:ahLst/>
              <a:cxnLst/>
              <a:rect l="l" t="t" r="r" b="b"/>
              <a:pathLst>
                <a:path w="1205865" h="492760">
                  <a:moveTo>
                    <a:pt x="0" y="82042"/>
                  </a:moveTo>
                  <a:lnTo>
                    <a:pt x="6443" y="50095"/>
                  </a:lnTo>
                  <a:lnTo>
                    <a:pt x="24018" y="24018"/>
                  </a:lnTo>
                  <a:lnTo>
                    <a:pt x="50095" y="6443"/>
                  </a:lnTo>
                  <a:lnTo>
                    <a:pt x="82041" y="0"/>
                  </a:lnTo>
                  <a:lnTo>
                    <a:pt x="1123441" y="0"/>
                  </a:lnTo>
                  <a:lnTo>
                    <a:pt x="1155388" y="6443"/>
                  </a:lnTo>
                  <a:lnTo>
                    <a:pt x="1181465" y="24018"/>
                  </a:lnTo>
                  <a:lnTo>
                    <a:pt x="1199040" y="50095"/>
                  </a:lnTo>
                  <a:lnTo>
                    <a:pt x="1205483" y="82042"/>
                  </a:lnTo>
                  <a:lnTo>
                    <a:pt x="1205483" y="410210"/>
                  </a:lnTo>
                  <a:lnTo>
                    <a:pt x="1199040" y="442145"/>
                  </a:lnTo>
                  <a:lnTo>
                    <a:pt x="1181465" y="468223"/>
                  </a:lnTo>
                  <a:lnTo>
                    <a:pt x="1155388" y="485805"/>
                  </a:lnTo>
                  <a:lnTo>
                    <a:pt x="1123441" y="492252"/>
                  </a:lnTo>
                  <a:lnTo>
                    <a:pt x="82041" y="492252"/>
                  </a:lnTo>
                  <a:lnTo>
                    <a:pt x="50095" y="485805"/>
                  </a:lnTo>
                  <a:lnTo>
                    <a:pt x="24018" y="468223"/>
                  </a:lnTo>
                  <a:lnTo>
                    <a:pt x="6443" y="442145"/>
                  </a:lnTo>
                  <a:lnTo>
                    <a:pt x="0" y="410210"/>
                  </a:lnTo>
                  <a:lnTo>
                    <a:pt x="0" y="82042"/>
                  </a:lnTo>
                  <a:close/>
                </a:path>
              </a:pathLst>
            </a:custGeom>
            <a:ln w="10668">
              <a:solidFill>
                <a:srgbClr val="00A0DF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44" name="object 144"/>
          <p:cNvSpPr txBox="1"/>
          <p:nvPr/>
        </p:nvSpPr>
        <p:spPr>
          <a:xfrm>
            <a:off x="5450300" y="4759262"/>
            <a:ext cx="638175" cy="217367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350" b="1" spc="-236" dirty="0">
                <a:solidFill>
                  <a:srgbClr val="1C1C1C"/>
                </a:solidFill>
                <a:latin typeface="Arial"/>
                <a:cs typeface="Arial"/>
              </a:rPr>
              <a:t>Reg</a:t>
            </a:r>
            <a:r>
              <a:rPr sz="2025" b="1" spc="-354" baseline="-27777" dirty="0">
                <a:solidFill>
                  <a:srgbClr val="1C1C1C"/>
                </a:solidFill>
                <a:latin typeface="Arial"/>
                <a:cs typeface="Arial"/>
              </a:rPr>
              <a:t>.…</a:t>
            </a:r>
            <a:r>
              <a:rPr sz="1350" b="1" spc="-236" dirty="0">
                <a:solidFill>
                  <a:srgbClr val="1C1C1C"/>
                </a:solidFill>
                <a:latin typeface="Arial"/>
                <a:cs typeface="Arial"/>
              </a:rPr>
              <a:t>io</a:t>
            </a:r>
            <a:r>
              <a:rPr sz="2025" b="1" spc="-354" baseline="-27777" dirty="0">
                <a:solidFill>
                  <a:srgbClr val="1C1C1C"/>
                </a:solidFill>
                <a:latin typeface="Arial"/>
                <a:cs typeface="Arial"/>
              </a:rPr>
              <a:t>.</a:t>
            </a:r>
            <a:r>
              <a:rPr sz="1350" b="1" spc="-236" dirty="0">
                <a:solidFill>
                  <a:srgbClr val="1C1C1C"/>
                </a:solidFill>
                <a:latin typeface="Arial"/>
                <a:cs typeface="Arial"/>
              </a:rPr>
              <a:t>n</a:t>
            </a:r>
            <a:endParaRPr sz="1350">
              <a:latin typeface="Arial"/>
              <a:cs typeface="Arial"/>
            </a:endParaRPr>
          </a:p>
        </p:txBody>
      </p:sp>
      <p:grpSp>
        <p:nvGrpSpPr>
          <p:cNvPr id="145" name="object 145"/>
          <p:cNvGrpSpPr/>
          <p:nvPr/>
        </p:nvGrpSpPr>
        <p:grpSpPr>
          <a:xfrm>
            <a:off x="4203953" y="3891915"/>
            <a:ext cx="971550" cy="392430"/>
            <a:chOff x="5605271" y="4046220"/>
            <a:chExt cx="1295400" cy="523240"/>
          </a:xfrm>
        </p:grpSpPr>
        <p:sp>
          <p:nvSpPr>
            <p:cNvPr id="146" name="object 146"/>
            <p:cNvSpPr/>
            <p:nvPr/>
          </p:nvSpPr>
          <p:spPr>
            <a:xfrm>
              <a:off x="5605271" y="4046220"/>
              <a:ext cx="1162812" cy="434339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7" name="object 147"/>
            <p:cNvSpPr/>
            <p:nvPr/>
          </p:nvSpPr>
          <p:spPr>
            <a:xfrm>
              <a:off x="5736335" y="4133088"/>
              <a:ext cx="1164336" cy="435863"/>
            </a:xfrm>
            <a:prstGeom prst="rect">
              <a:avLst/>
            </a:prstGeom>
            <a:blipFill>
              <a:blip r:embed="rId3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48" name="object 148"/>
          <p:cNvSpPr txBox="1"/>
          <p:nvPr/>
        </p:nvSpPr>
        <p:spPr>
          <a:xfrm>
            <a:off x="4295870" y="3935445"/>
            <a:ext cx="689610" cy="171201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28575">
              <a:spcBef>
                <a:spcPts val="75"/>
              </a:spcBef>
            </a:pPr>
            <a:r>
              <a:rPr sz="1050" b="1" spc="-150" dirty="0">
                <a:solidFill>
                  <a:srgbClr val="1C1C1C"/>
                </a:solidFill>
                <a:latin typeface="Arial"/>
                <a:cs typeface="Arial"/>
              </a:rPr>
              <a:t>Mems</a:t>
            </a:r>
            <a:r>
              <a:rPr sz="1575" b="1" spc="-225" baseline="-27777" dirty="0">
                <a:solidFill>
                  <a:srgbClr val="1C1C1C"/>
                </a:solidFill>
                <a:latin typeface="Arial"/>
                <a:cs typeface="Arial"/>
              </a:rPr>
              <a:t>…</a:t>
            </a:r>
            <a:r>
              <a:rPr sz="1050" b="1" spc="-150" dirty="0">
                <a:solidFill>
                  <a:srgbClr val="1C1C1C"/>
                </a:solidFill>
                <a:latin typeface="Arial"/>
                <a:cs typeface="Arial"/>
              </a:rPr>
              <a:t>to</a:t>
            </a:r>
            <a:r>
              <a:rPr sz="1575" b="1" spc="-225" baseline="-27777" dirty="0">
                <a:solidFill>
                  <a:srgbClr val="1C1C1C"/>
                </a:solidFill>
                <a:latin typeface="Arial"/>
                <a:cs typeface="Arial"/>
              </a:rPr>
              <a:t>..</a:t>
            </a:r>
            <a:r>
              <a:rPr sz="1050" b="1" spc="-150" dirty="0">
                <a:solidFill>
                  <a:srgbClr val="1C1C1C"/>
                </a:solidFill>
                <a:latin typeface="Arial"/>
                <a:cs typeface="Arial"/>
              </a:rPr>
              <a:t>re</a:t>
            </a:r>
            <a:endParaRPr sz="1050">
              <a:latin typeface="Arial"/>
              <a:cs typeface="Arial"/>
            </a:endParaRPr>
          </a:p>
        </p:txBody>
      </p:sp>
      <p:sp>
        <p:nvSpPr>
          <p:cNvPr id="149" name="object 149"/>
          <p:cNvSpPr txBox="1">
            <a:spLocks noGrp="1"/>
          </p:cNvSpPr>
          <p:nvPr>
            <p:ph type="title"/>
          </p:nvPr>
        </p:nvSpPr>
        <p:spPr>
          <a:xfrm>
            <a:off x="419099" y="762000"/>
            <a:ext cx="5250561" cy="960038"/>
          </a:xfrm>
          <a:prstGeom prst="rect">
            <a:avLst/>
          </a:prstGeom>
        </p:spPr>
        <p:txBody>
          <a:bodyPr vert="horz" wrap="square" lIns="0" tIns="41433" rIns="0" bIns="0" rtlCol="0" anchor="ctr">
            <a:spAutoFit/>
          </a:bodyPr>
          <a:lstStyle/>
          <a:p>
            <a:pPr marL="9525">
              <a:spcBef>
                <a:spcPts val="326"/>
              </a:spcBef>
            </a:pPr>
            <a:r>
              <a:rPr dirty="0"/>
              <a:t>HBase</a:t>
            </a:r>
            <a:r>
              <a:rPr spc="-53" dirty="0"/>
              <a:t> </a:t>
            </a:r>
            <a:r>
              <a:rPr spc="-4" dirty="0"/>
              <a:t>Internals</a:t>
            </a:r>
          </a:p>
          <a:p>
            <a:pPr marL="9525">
              <a:spcBef>
                <a:spcPts val="188"/>
              </a:spcBef>
            </a:pPr>
            <a:r>
              <a:rPr sz="1800" spc="-4" dirty="0">
                <a:solidFill>
                  <a:srgbClr val="7B858D"/>
                </a:solidFill>
              </a:rPr>
              <a:t>Read</a:t>
            </a:r>
            <a:r>
              <a:rPr sz="1800" dirty="0">
                <a:solidFill>
                  <a:srgbClr val="7B858D"/>
                </a:solidFill>
              </a:rPr>
              <a:t> </a:t>
            </a:r>
            <a:r>
              <a:rPr sz="1800" spc="-4" dirty="0">
                <a:solidFill>
                  <a:srgbClr val="7B858D"/>
                </a:solidFill>
              </a:rPr>
              <a:t>Operation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28399171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9100" y="762000"/>
            <a:ext cx="3619500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dirty="0"/>
              <a:t>Co</a:t>
            </a:r>
            <a:r>
              <a:rPr spc="-11" dirty="0"/>
              <a:t>m</a:t>
            </a:r>
            <a:r>
              <a:rPr dirty="0"/>
              <a:t>pr</a:t>
            </a:r>
            <a:r>
              <a:rPr spc="-11" dirty="0"/>
              <a:t>e</a:t>
            </a:r>
            <a:r>
              <a:rPr dirty="0"/>
              <a:t>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19100" y="1725055"/>
            <a:ext cx="6323648" cy="357264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1460659">
              <a:lnSpc>
                <a:spcPct val="158500"/>
              </a:lnSpc>
              <a:spcBef>
                <a:spcPts val="75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Compression is one of the storage optimization</a:t>
            </a:r>
            <a:r>
              <a:rPr sz="1500" spc="-116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technique  Commonly used compression algorithms in</a:t>
            </a:r>
            <a:r>
              <a:rPr sz="1500" spc="-101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HBase</a:t>
            </a:r>
            <a:endParaRPr sz="1500">
              <a:latin typeface="Arial"/>
              <a:cs typeface="Arial"/>
            </a:endParaRPr>
          </a:p>
          <a:p>
            <a:pPr marL="146685" indent="-137160">
              <a:spcBef>
                <a:spcPts val="304"/>
              </a:spcBef>
              <a:buChar char="•"/>
              <a:tabLst>
                <a:tab pos="146685" algn="l"/>
              </a:tabLst>
            </a:pPr>
            <a:r>
              <a:rPr sz="1350" spc="-4" dirty="0">
                <a:solidFill>
                  <a:srgbClr val="7B858D"/>
                </a:solidFill>
                <a:latin typeface="Arial"/>
                <a:cs typeface="Arial"/>
              </a:rPr>
              <a:t>Snappy</a:t>
            </a:r>
            <a:endParaRPr sz="1350">
              <a:latin typeface="Arial"/>
              <a:cs typeface="Arial"/>
            </a:endParaRPr>
          </a:p>
          <a:p>
            <a:pPr marL="146685" indent="-137160">
              <a:spcBef>
                <a:spcPts val="604"/>
              </a:spcBef>
              <a:buChar char="•"/>
              <a:tabLst>
                <a:tab pos="146685" algn="l"/>
              </a:tabLst>
            </a:pPr>
            <a:r>
              <a:rPr sz="1350" dirty="0">
                <a:solidFill>
                  <a:srgbClr val="7B858D"/>
                </a:solidFill>
                <a:latin typeface="Arial"/>
                <a:cs typeface="Arial"/>
              </a:rPr>
              <a:t>Gzip</a:t>
            </a:r>
            <a:endParaRPr sz="1350">
              <a:latin typeface="Arial"/>
              <a:cs typeface="Arial"/>
            </a:endParaRPr>
          </a:p>
          <a:p>
            <a:pPr marL="146685" indent="-137160">
              <a:spcBef>
                <a:spcPts val="593"/>
              </a:spcBef>
              <a:buChar char="•"/>
              <a:tabLst>
                <a:tab pos="146685" algn="l"/>
              </a:tabLst>
            </a:pPr>
            <a:r>
              <a:rPr sz="1350" dirty="0">
                <a:solidFill>
                  <a:srgbClr val="7B858D"/>
                </a:solidFill>
                <a:latin typeface="Arial"/>
                <a:cs typeface="Arial"/>
              </a:rPr>
              <a:t>LZO</a:t>
            </a:r>
            <a:endParaRPr sz="1350">
              <a:latin typeface="Arial"/>
              <a:cs typeface="Arial"/>
            </a:endParaRPr>
          </a:p>
          <a:p>
            <a:pPr marL="146685" indent="-137160">
              <a:spcBef>
                <a:spcPts val="604"/>
              </a:spcBef>
              <a:buChar char="•"/>
              <a:tabLst>
                <a:tab pos="146685" algn="l"/>
              </a:tabLst>
            </a:pPr>
            <a:r>
              <a:rPr sz="1350" dirty="0">
                <a:solidFill>
                  <a:srgbClr val="7B858D"/>
                </a:solidFill>
                <a:latin typeface="Arial"/>
                <a:cs typeface="Arial"/>
              </a:rPr>
              <a:t>LZ4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9525">
              <a:spcBef>
                <a:spcPts val="1095"/>
              </a:spcBef>
            </a:pPr>
            <a:r>
              <a:rPr sz="1350" b="1" spc="-4" dirty="0">
                <a:solidFill>
                  <a:srgbClr val="7B858D"/>
                </a:solidFill>
                <a:latin typeface="Arial"/>
                <a:cs typeface="Arial"/>
              </a:rPr>
              <a:t>Compression</a:t>
            </a:r>
            <a:r>
              <a:rPr sz="1350" b="1" dirty="0">
                <a:solidFill>
                  <a:srgbClr val="7B858D"/>
                </a:solidFill>
                <a:latin typeface="Arial"/>
                <a:cs typeface="Arial"/>
              </a:rPr>
              <a:t> </a:t>
            </a:r>
            <a:r>
              <a:rPr sz="1350" b="1" spc="-4" dirty="0">
                <a:solidFill>
                  <a:srgbClr val="7B858D"/>
                </a:solidFill>
                <a:latin typeface="Arial"/>
                <a:cs typeface="Arial"/>
              </a:rPr>
              <a:t>Ratio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600"/>
              </a:spcBef>
            </a:pPr>
            <a:r>
              <a:rPr sz="1350" spc="-4" dirty="0">
                <a:solidFill>
                  <a:srgbClr val="7B858D"/>
                </a:solidFill>
                <a:latin typeface="Arial"/>
                <a:cs typeface="Arial"/>
              </a:rPr>
              <a:t>Gzip compression ratio is better than Snappy and</a:t>
            </a:r>
            <a:r>
              <a:rPr sz="1350" spc="41" dirty="0">
                <a:solidFill>
                  <a:srgbClr val="7B858D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7B858D"/>
                </a:solidFill>
                <a:latin typeface="Arial"/>
                <a:cs typeface="Arial"/>
              </a:rPr>
              <a:t>LZO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500">
              <a:latin typeface="Arial"/>
              <a:cs typeface="Arial"/>
            </a:endParaRPr>
          </a:p>
          <a:p>
            <a:pPr marL="9525">
              <a:spcBef>
                <a:spcPts val="1095"/>
              </a:spcBef>
            </a:pPr>
            <a:r>
              <a:rPr sz="1350" b="1" spc="-4" dirty="0">
                <a:solidFill>
                  <a:srgbClr val="7B858D"/>
                </a:solidFill>
                <a:latin typeface="Arial"/>
                <a:cs typeface="Arial"/>
              </a:rPr>
              <a:t>Resource</a:t>
            </a:r>
            <a:r>
              <a:rPr sz="1350" b="1" dirty="0">
                <a:solidFill>
                  <a:srgbClr val="7B858D"/>
                </a:solidFill>
                <a:latin typeface="Arial"/>
                <a:cs typeface="Arial"/>
              </a:rPr>
              <a:t> Consumption</a:t>
            </a:r>
            <a:endParaRPr sz="1350">
              <a:latin typeface="Arial"/>
              <a:cs typeface="Arial"/>
            </a:endParaRPr>
          </a:p>
          <a:p>
            <a:pPr marL="9525">
              <a:spcBef>
                <a:spcPts val="604"/>
              </a:spcBef>
            </a:pPr>
            <a:r>
              <a:rPr sz="1350" spc="-4" dirty="0">
                <a:solidFill>
                  <a:srgbClr val="7B858D"/>
                </a:solidFill>
                <a:latin typeface="Arial"/>
                <a:cs typeface="Arial"/>
              </a:rPr>
              <a:t>Snappy consumes lesser resources for compression and decompression than</a:t>
            </a:r>
            <a:r>
              <a:rPr sz="1350" spc="116" dirty="0">
                <a:solidFill>
                  <a:srgbClr val="7B858D"/>
                </a:solidFill>
                <a:latin typeface="Arial"/>
                <a:cs typeface="Arial"/>
              </a:rPr>
              <a:t> </a:t>
            </a:r>
            <a:r>
              <a:rPr sz="1350" dirty="0">
                <a:solidFill>
                  <a:srgbClr val="7B858D"/>
                </a:solidFill>
                <a:latin typeface="Arial"/>
                <a:cs typeface="Arial"/>
              </a:rPr>
              <a:t>Gzip</a:t>
            </a:r>
            <a:endParaRPr sz="135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220206" y="2019313"/>
            <a:ext cx="2221991" cy="18754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</p:spTree>
    <p:extLst>
      <p:ext uri="{BB962C8B-B14F-4D97-AF65-F5344CB8AC3E}">
        <p14:creationId xmlns:p14="http://schemas.microsoft.com/office/powerpoint/2010/main" val="328108509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93208" y="1612773"/>
            <a:ext cx="3010661" cy="21682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419100" y="914400"/>
            <a:ext cx="4838699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/>
          <a:p>
            <a:pPr marL="9525">
              <a:spcBef>
                <a:spcPts val="79"/>
              </a:spcBef>
            </a:pPr>
            <a:r>
              <a:rPr spc="-4" dirty="0"/>
              <a:t>Optimization</a:t>
            </a:r>
            <a:r>
              <a:rPr spc="-38" dirty="0"/>
              <a:t> </a:t>
            </a:r>
            <a:r>
              <a:rPr spc="-4" dirty="0"/>
              <a:t>Benefit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488972" y="3874389"/>
            <a:ext cx="2292668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b="1" spc="-30" dirty="0">
                <a:solidFill>
                  <a:srgbClr val="008000"/>
                </a:solidFill>
                <a:latin typeface="Arial"/>
                <a:cs typeface="Arial"/>
              </a:rPr>
              <a:t>Productivity</a:t>
            </a:r>
            <a:r>
              <a:rPr sz="1500" b="1" spc="-38" dirty="0">
                <a:solidFill>
                  <a:srgbClr val="008000"/>
                </a:solidFill>
                <a:latin typeface="Arial"/>
                <a:cs typeface="Arial"/>
              </a:rPr>
              <a:t> </a:t>
            </a:r>
            <a:r>
              <a:rPr sz="1500" b="1" spc="-30" dirty="0">
                <a:solidFill>
                  <a:srgbClr val="008000"/>
                </a:solidFill>
                <a:latin typeface="Arial"/>
                <a:cs typeface="Arial"/>
              </a:rPr>
              <a:t>Improvement</a:t>
            </a:r>
            <a:endParaRPr sz="15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791265" y="1720025"/>
            <a:ext cx="1012031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186214">
              <a:spcBef>
                <a:spcPts val="71"/>
              </a:spcBef>
            </a:pPr>
            <a:r>
              <a:rPr sz="1200" b="1" spc="-30" dirty="0">
                <a:solidFill>
                  <a:srgbClr val="5C646A"/>
                </a:solidFill>
                <a:latin typeface="Arial"/>
                <a:cs typeface="Arial"/>
              </a:rPr>
              <a:t>Reduced  Storage</a:t>
            </a:r>
            <a:r>
              <a:rPr sz="1200" b="1" spc="-64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200" b="1" spc="-26" dirty="0">
                <a:solidFill>
                  <a:srgbClr val="5C646A"/>
                </a:solidFill>
                <a:latin typeface="Arial"/>
                <a:cs typeface="Arial"/>
              </a:rPr>
              <a:t>Costs</a:t>
            </a:r>
            <a:endParaRPr sz="12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083224" y="2640918"/>
            <a:ext cx="1969149" cy="4443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7" name="object 7"/>
          <p:cNvSpPr txBox="1"/>
          <p:nvPr/>
        </p:nvSpPr>
        <p:spPr>
          <a:xfrm>
            <a:off x="7878794" y="1827085"/>
            <a:ext cx="839629" cy="37846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3810" indent="80963">
              <a:spcBef>
                <a:spcPts val="71"/>
              </a:spcBef>
            </a:pPr>
            <a:r>
              <a:rPr sz="1200" b="1" spc="-30" dirty="0">
                <a:solidFill>
                  <a:srgbClr val="5C646A"/>
                </a:solidFill>
                <a:latin typeface="Arial"/>
                <a:cs typeface="Arial"/>
              </a:rPr>
              <a:t>Improved  </a:t>
            </a:r>
            <a:r>
              <a:rPr sz="1200" b="1" spc="-34" dirty="0">
                <a:solidFill>
                  <a:srgbClr val="5C646A"/>
                </a:solidFill>
                <a:latin typeface="Arial"/>
                <a:cs typeface="Arial"/>
              </a:rPr>
              <a:t>Th</a:t>
            </a:r>
            <a:r>
              <a:rPr sz="1200" b="1" spc="-30" dirty="0">
                <a:solidFill>
                  <a:srgbClr val="5C646A"/>
                </a:solidFill>
                <a:latin typeface="Arial"/>
                <a:cs typeface="Arial"/>
              </a:rPr>
              <a:t>r</a:t>
            </a:r>
            <a:r>
              <a:rPr sz="1200" b="1" spc="-34" dirty="0">
                <a:solidFill>
                  <a:srgbClr val="5C646A"/>
                </a:solidFill>
                <a:latin typeface="Arial"/>
                <a:cs typeface="Arial"/>
              </a:rPr>
              <a:t>oughp</a:t>
            </a:r>
            <a:r>
              <a:rPr sz="1200" b="1" spc="-26" dirty="0">
                <a:solidFill>
                  <a:srgbClr val="5C646A"/>
                </a:solidFill>
                <a:latin typeface="Arial"/>
                <a:cs typeface="Arial"/>
              </a:rPr>
              <a:t>u</a:t>
            </a:r>
            <a:r>
              <a:rPr sz="1200" b="1" spc="-4" dirty="0">
                <a:solidFill>
                  <a:srgbClr val="5C646A"/>
                </a:solidFill>
                <a:latin typeface="Arial"/>
                <a:cs typeface="Arial"/>
              </a:rPr>
              <a:t>t</a:t>
            </a:r>
            <a:endParaRPr sz="12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501777" y="2009425"/>
            <a:ext cx="2258568" cy="19063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9"/>
          <p:cNvSpPr txBox="1"/>
          <p:nvPr/>
        </p:nvSpPr>
        <p:spPr>
          <a:xfrm>
            <a:off x="1035178" y="3970400"/>
            <a:ext cx="1204436" cy="24045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>
              <a:spcBef>
                <a:spcPts val="75"/>
              </a:spcBef>
            </a:pPr>
            <a:r>
              <a:rPr sz="1500" b="1" spc="-26" dirty="0">
                <a:solidFill>
                  <a:srgbClr val="5C646A"/>
                </a:solidFill>
                <a:latin typeface="Arial"/>
                <a:cs typeface="Arial"/>
              </a:rPr>
              <a:t>Compression</a:t>
            </a:r>
            <a:endParaRPr sz="1500" dirty="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1177099" y="4537503"/>
          <a:ext cx="6812756" cy="92630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69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8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35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821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614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3655" algn="ctr">
                        <a:lnSpc>
                          <a:spcPts val="2215"/>
                        </a:lnSpc>
                      </a:pPr>
                      <a:r>
                        <a:rPr sz="1500" b="1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Before</a:t>
                      </a:r>
                      <a:r>
                        <a:rPr sz="1500" b="1" spc="-50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Optimization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2384" algn="ctr">
                        <a:lnSpc>
                          <a:spcPts val="2215"/>
                        </a:lnSpc>
                      </a:pPr>
                      <a:r>
                        <a:rPr sz="1500" b="1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After</a:t>
                      </a:r>
                      <a:r>
                        <a:rPr sz="1500" b="1" spc="-65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500" b="1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Optimization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3180" algn="ctr">
                        <a:lnSpc>
                          <a:spcPts val="2215"/>
                        </a:lnSpc>
                      </a:pPr>
                      <a:r>
                        <a:rPr sz="1500" b="1" spc="-5" dirty="0">
                          <a:solidFill>
                            <a:srgbClr val="5C646A"/>
                          </a:solidFill>
                          <a:latin typeface="Arial"/>
                          <a:cs typeface="Arial"/>
                        </a:rPr>
                        <a:t>%Improvement</a:t>
                      </a:r>
                      <a:endParaRPr sz="1500">
                        <a:latin typeface="Arial"/>
                        <a:cs typeface="Arial"/>
                      </a:endParaRPr>
                    </a:p>
                  </a:txBody>
                  <a:tcPr marL="0" marR="0" marT="0" marB="0"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08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b="1" spc="-5" dirty="0">
                          <a:solidFill>
                            <a:srgbClr val="00A0DF"/>
                          </a:solidFill>
                          <a:latin typeface="Arial"/>
                          <a:cs typeface="Arial"/>
                        </a:rPr>
                        <a:t>Storage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3300</a:t>
                      </a:r>
                      <a:r>
                        <a:rPr sz="1400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 GB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963 </a:t>
                      </a:r>
                      <a:r>
                        <a:rPr sz="1400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GB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27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~71%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07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b="1" dirty="0">
                          <a:solidFill>
                            <a:srgbClr val="00A0DF"/>
                          </a:solidFill>
                          <a:latin typeface="Arial"/>
                          <a:cs typeface="Arial"/>
                        </a:rPr>
                        <a:t>Throughput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260K</a:t>
                      </a:r>
                      <a:r>
                        <a:rPr sz="1400" spc="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Records/Min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29209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380K</a:t>
                      </a:r>
                      <a:r>
                        <a:rPr sz="1400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Records/Min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41275" algn="ctr">
                        <a:lnSpc>
                          <a:spcPct val="100000"/>
                        </a:lnSpc>
                        <a:spcBef>
                          <a:spcPts val="610"/>
                        </a:spcBef>
                      </a:pPr>
                      <a:r>
                        <a:rPr sz="1400" spc="-5" dirty="0">
                          <a:solidFill>
                            <a:srgbClr val="7B858D"/>
                          </a:solidFill>
                          <a:latin typeface="Arial"/>
                          <a:cs typeface="Arial"/>
                        </a:rPr>
                        <a:t>~42%</a:t>
                      </a:r>
                      <a:endParaRPr sz="1400">
                        <a:latin typeface="Arial"/>
                        <a:cs typeface="Arial"/>
                      </a:endParaRPr>
                    </a:p>
                  </a:txBody>
                  <a:tcPr marL="0" marR="0" marT="58103" marB="0">
                    <a:lnT w="12700">
                      <a:solidFill>
                        <a:srgbClr val="D0D9DE"/>
                      </a:solidFill>
                      <a:prstDash val="solid"/>
                    </a:lnT>
                    <a:lnB w="12700">
                      <a:solidFill>
                        <a:srgbClr val="D0D9DE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37734729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1CE6DD-25BA-DF43-8EFE-B011EF261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k-SK"/>
              <a:t>CSP554</a:t>
            </a:r>
            <a:r>
              <a:rPr lang="en-US"/>
              <a:t> Module 12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15BA40-1D46-7E4B-8B27-8CB43DE4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A7C465-8597-4488-B68C-958448427716}" type="slidenum">
              <a:rPr lang="en-US" smtClean="0"/>
              <a:t>70</a:t>
            </a:fld>
            <a:endParaRPr lang="en-US" dirty="0"/>
          </a:p>
        </p:txBody>
      </p:sp>
      <p:sp>
        <p:nvSpPr>
          <p:cNvPr id="4" name="object 54">
            <a:extLst>
              <a:ext uri="{FF2B5EF4-FFF2-40B4-BE49-F238E27FC236}">
                <a16:creationId xmlns:a16="http://schemas.microsoft.com/office/drawing/2014/main" id="{33D1726E-4535-A642-9E30-43E80BB094BF}"/>
              </a:ext>
            </a:extLst>
          </p:cNvPr>
          <p:cNvSpPr/>
          <p:nvPr/>
        </p:nvSpPr>
        <p:spPr>
          <a:xfrm>
            <a:off x="4652010" y="1809368"/>
            <a:ext cx="592073" cy="6320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350"/>
          </a:p>
        </p:txBody>
      </p:sp>
      <p:grpSp>
        <p:nvGrpSpPr>
          <p:cNvPr id="5" name="object 55">
            <a:extLst>
              <a:ext uri="{FF2B5EF4-FFF2-40B4-BE49-F238E27FC236}">
                <a16:creationId xmlns:a16="http://schemas.microsoft.com/office/drawing/2014/main" id="{2DBD46A9-56DF-CA4F-BA68-636EBDA68F13}"/>
              </a:ext>
            </a:extLst>
          </p:cNvPr>
          <p:cNvGrpSpPr/>
          <p:nvPr/>
        </p:nvGrpSpPr>
        <p:grpSpPr>
          <a:xfrm>
            <a:off x="115443" y="1809368"/>
            <a:ext cx="4368641" cy="3484245"/>
            <a:chOff x="153923" y="1269491"/>
            <a:chExt cx="5824855" cy="4645660"/>
          </a:xfrm>
        </p:grpSpPr>
        <p:sp>
          <p:nvSpPr>
            <p:cNvPr id="6" name="object 56">
              <a:extLst>
                <a:ext uri="{FF2B5EF4-FFF2-40B4-BE49-F238E27FC236}">
                  <a16:creationId xmlns:a16="http://schemas.microsoft.com/office/drawing/2014/main" id="{A0F02F36-2094-344C-8CB8-13DB5BED547C}"/>
                </a:ext>
              </a:extLst>
            </p:cNvPr>
            <p:cNvSpPr/>
            <p:nvPr/>
          </p:nvSpPr>
          <p:spPr>
            <a:xfrm>
              <a:off x="201167" y="1269491"/>
              <a:ext cx="815340" cy="84277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7" name="object 57">
              <a:extLst>
                <a:ext uri="{FF2B5EF4-FFF2-40B4-BE49-F238E27FC236}">
                  <a16:creationId xmlns:a16="http://schemas.microsoft.com/office/drawing/2014/main" id="{1C634AAF-7A5A-9D4C-A419-7F7DB54FD64C}"/>
                </a:ext>
              </a:extLst>
            </p:cNvPr>
            <p:cNvSpPr/>
            <p:nvPr/>
          </p:nvSpPr>
          <p:spPr>
            <a:xfrm>
              <a:off x="963168" y="1283207"/>
              <a:ext cx="144780" cy="463143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8" name="object 58">
              <a:extLst>
                <a:ext uri="{FF2B5EF4-FFF2-40B4-BE49-F238E27FC236}">
                  <a16:creationId xmlns:a16="http://schemas.microsoft.com/office/drawing/2014/main" id="{7A553C20-8771-924A-B586-D41390C4B030}"/>
                </a:ext>
              </a:extLst>
            </p:cNvPr>
            <p:cNvSpPr/>
            <p:nvPr/>
          </p:nvSpPr>
          <p:spPr>
            <a:xfrm>
              <a:off x="1073657" y="1337309"/>
              <a:ext cx="0" cy="4505325"/>
            </a:xfrm>
            <a:custGeom>
              <a:avLst/>
              <a:gdLst/>
              <a:ahLst/>
              <a:cxnLst/>
              <a:rect l="l" t="t" r="r" b="b"/>
              <a:pathLst>
                <a:path h="4505325">
                  <a:moveTo>
                    <a:pt x="0" y="0"/>
                  </a:moveTo>
                  <a:lnTo>
                    <a:pt x="0" y="4505274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9" name="object 59">
              <a:extLst>
                <a:ext uri="{FF2B5EF4-FFF2-40B4-BE49-F238E27FC236}">
                  <a16:creationId xmlns:a16="http://schemas.microsoft.com/office/drawing/2014/main" id="{4E49B8B8-496D-C34F-B7CD-FA31C4E8EC1D}"/>
                </a:ext>
              </a:extLst>
            </p:cNvPr>
            <p:cNvSpPr/>
            <p:nvPr/>
          </p:nvSpPr>
          <p:spPr>
            <a:xfrm>
              <a:off x="153923" y="2092452"/>
              <a:ext cx="5824728" cy="1447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0" name="object 60">
              <a:extLst>
                <a:ext uri="{FF2B5EF4-FFF2-40B4-BE49-F238E27FC236}">
                  <a16:creationId xmlns:a16="http://schemas.microsoft.com/office/drawing/2014/main" id="{60B900C4-BE9B-E249-9154-8ABA49F782A7}"/>
                </a:ext>
              </a:extLst>
            </p:cNvPr>
            <p:cNvSpPr/>
            <p:nvPr/>
          </p:nvSpPr>
          <p:spPr>
            <a:xfrm>
              <a:off x="264413" y="2164841"/>
              <a:ext cx="5699125" cy="0"/>
            </a:xfrm>
            <a:custGeom>
              <a:avLst/>
              <a:gdLst/>
              <a:ahLst/>
              <a:cxnLst/>
              <a:rect l="l" t="t" r="r" b="b"/>
              <a:pathLst>
                <a:path w="5699125">
                  <a:moveTo>
                    <a:pt x="5698871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008000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1" name="object 61">
            <a:extLst>
              <a:ext uri="{FF2B5EF4-FFF2-40B4-BE49-F238E27FC236}">
                <a16:creationId xmlns:a16="http://schemas.microsoft.com/office/drawing/2014/main" id="{D8A5ACE4-0056-EA41-A458-E0574EB627F0}"/>
              </a:ext>
            </a:extLst>
          </p:cNvPr>
          <p:cNvSpPr txBox="1">
            <a:spLocks/>
          </p:cNvSpPr>
          <p:nvPr/>
        </p:nvSpPr>
        <p:spPr>
          <a:xfrm>
            <a:off x="419099" y="1142938"/>
            <a:ext cx="3815715" cy="625652"/>
          </a:xfrm>
          <a:prstGeom prst="rect">
            <a:avLst/>
          </a:prstGeom>
        </p:spPr>
        <p:txBody>
          <a:bodyPr vert="horz" wrap="square" lIns="0" tIns="10001" rIns="0" bIns="0" rtlCol="0" anchor="ctr">
            <a:sp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 spc="-1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9525">
              <a:spcBef>
                <a:spcPts val="79"/>
              </a:spcBef>
            </a:pPr>
            <a:r>
              <a:rPr lang="en-US" spc="-4" dirty="0"/>
              <a:t>When</a:t>
            </a:r>
            <a:r>
              <a:rPr lang="en-US" spc="-60" dirty="0"/>
              <a:t> </a:t>
            </a:r>
            <a:r>
              <a:rPr lang="en-US" dirty="0"/>
              <a:t>HBase?</a:t>
            </a:r>
          </a:p>
        </p:txBody>
      </p:sp>
      <p:grpSp>
        <p:nvGrpSpPr>
          <p:cNvPr id="12" name="object 62">
            <a:extLst>
              <a:ext uri="{FF2B5EF4-FFF2-40B4-BE49-F238E27FC236}">
                <a16:creationId xmlns:a16="http://schemas.microsoft.com/office/drawing/2014/main" id="{F5AA0F4A-49F3-F145-BC5D-E7E27C7F895C}"/>
              </a:ext>
            </a:extLst>
          </p:cNvPr>
          <p:cNvGrpSpPr/>
          <p:nvPr/>
        </p:nvGrpSpPr>
        <p:grpSpPr>
          <a:xfrm>
            <a:off x="4607434" y="1819656"/>
            <a:ext cx="4328636" cy="3433763"/>
            <a:chOff x="6143244" y="1283208"/>
            <a:chExt cx="5771515" cy="4578350"/>
          </a:xfrm>
        </p:grpSpPr>
        <p:sp>
          <p:nvSpPr>
            <p:cNvPr id="13" name="object 63">
              <a:extLst>
                <a:ext uri="{FF2B5EF4-FFF2-40B4-BE49-F238E27FC236}">
                  <a16:creationId xmlns:a16="http://schemas.microsoft.com/office/drawing/2014/main" id="{AC05AEA5-4BE2-3040-AC21-AD151C3BF9B3}"/>
                </a:ext>
              </a:extLst>
            </p:cNvPr>
            <p:cNvSpPr/>
            <p:nvPr/>
          </p:nvSpPr>
          <p:spPr>
            <a:xfrm>
              <a:off x="6952488" y="1283208"/>
              <a:ext cx="144779" cy="4578096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4" name="object 64">
              <a:extLst>
                <a:ext uri="{FF2B5EF4-FFF2-40B4-BE49-F238E27FC236}">
                  <a16:creationId xmlns:a16="http://schemas.microsoft.com/office/drawing/2014/main" id="{6AA37C59-BD43-C74D-8EF6-26102CC0F87D}"/>
                </a:ext>
              </a:extLst>
            </p:cNvPr>
            <p:cNvSpPr/>
            <p:nvPr/>
          </p:nvSpPr>
          <p:spPr>
            <a:xfrm>
              <a:off x="7062977" y="1337310"/>
              <a:ext cx="0" cy="4451985"/>
            </a:xfrm>
            <a:custGeom>
              <a:avLst/>
              <a:gdLst/>
              <a:ahLst/>
              <a:cxnLst/>
              <a:rect l="l" t="t" r="r" b="b"/>
              <a:pathLst>
                <a:path h="4451985">
                  <a:moveTo>
                    <a:pt x="0" y="0"/>
                  </a:moveTo>
                  <a:lnTo>
                    <a:pt x="0" y="4451807"/>
                  </a:lnTo>
                </a:path>
              </a:pathLst>
            </a:custGeom>
            <a:ln w="38100">
              <a:solidFill>
                <a:srgbClr val="9F0009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5" name="object 65">
              <a:extLst>
                <a:ext uri="{FF2B5EF4-FFF2-40B4-BE49-F238E27FC236}">
                  <a16:creationId xmlns:a16="http://schemas.microsoft.com/office/drawing/2014/main" id="{06D5BB50-4515-764D-9A49-281878D74346}"/>
                </a:ext>
              </a:extLst>
            </p:cNvPr>
            <p:cNvSpPr/>
            <p:nvPr/>
          </p:nvSpPr>
          <p:spPr>
            <a:xfrm>
              <a:off x="6143244" y="2092452"/>
              <a:ext cx="5771388" cy="14477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/>
            </a:p>
          </p:txBody>
        </p:sp>
        <p:sp>
          <p:nvSpPr>
            <p:cNvPr id="16" name="object 66">
              <a:extLst>
                <a:ext uri="{FF2B5EF4-FFF2-40B4-BE49-F238E27FC236}">
                  <a16:creationId xmlns:a16="http://schemas.microsoft.com/office/drawing/2014/main" id="{B6F662F5-0567-4F43-BA06-D5FB76A82BA9}"/>
                </a:ext>
              </a:extLst>
            </p:cNvPr>
            <p:cNvSpPr/>
            <p:nvPr/>
          </p:nvSpPr>
          <p:spPr>
            <a:xfrm>
              <a:off x="6253734" y="2164841"/>
              <a:ext cx="5645785" cy="0"/>
            </a:xfrm>
            <a:custGeom>
              <a:avLst/>
              <a:gdLst/>
              <a:ahLst/>
              <a:cxnLst/>
              <a:rect l="l" t="t" r="r" b="b"/>
              <a:pathLst>
                <a:path w="5645784">
                  <a:moveTo>
                    <a:pt x="5645404" y="0"/>
                  </a:moveTo>
                  <a:lnTo>
                    <a:pt x="0" y="0"/>
                  </a:lnTo>
                </a:path>
              </a:pathLst>
            </a:custGeom>
            <a:ln w="38100">
              <a:solidFill>
                <a:srgbClr val="9F0009"/>
              </a:solidFill>
            </a:ln>
          </p:spPr>
          <p:txBody>
            <a:bodyPr wrap="square" lIns="0" tIns="0" rIns="0" bIns="0" rtlCol="0"/>
            <a:lstStyle/>
            <a:p>
              <a:endParaRPr sz="1350"/>
            </a:p>
          </p:txBody>
        </p:sp>
      </p:grpSp>
      <p:sp>
        <p:nvSpPr>
          <p:cNvPr id="17" name="object 67">
            <a:extLst>
              <a:ext uri="{FF2B5EF4-FFF2-40B4-BE49-F238E27FC236}">
                <a16:creationId xmlns:a16="http://schemas.microsoft.com/office/drawing/2014/main" id="{8D3ED88F-E29E-5C44-98E5-24A6A0333EEF}"/>
              </a:ext>
            </a:extLst>
          </p:cNvPr>
          <p:cNvSpPr txBox="1"/>
          <p:nvPr/>
        </p:nvSpPr>
        <p:spPr>
          <a:xfrm>
            <a:off x="971646" y="1996249"/>
            <a:ext cx="2254091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dirty="0">
                <a:solidFill>
                  <a:srgbClr val="5C646A"/>
                </a:solidFill>
                <a:latin typeface="Arial"/>
                <a:cs typeface="Arial"/>
              </a:rPr>
              <a:t>HBase is for</a:t>
            </a:r>
            <a:r>
              <a:rPr sz="2400" spc="-9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C646A"/>
                </a:solidFill>
                <a:latin typeface="Arial"/>
                <a:cs typeface="Arial"/>
              </a:rPr>
              <a:t>you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68">
            <a:extLst>
              <a:ext uri="{FF2B5EF4-FFF2-40B4-BE49-F238E27FC236}">
                <a16:creationId xmlns:a16="http://schemas.microsoft.com/office/drawing/2014/main" id="{45F61AE0-D720-9049-88F0-40DCE8EC9536}"/>
              </a:ext>
            </a:extLst>
          </p:cNvPr>
          <p:cNvSpPr txBox="1"/>
          <p:nvPr/>
        </p:nvSpPr>
        <p:spPr>
          <a:xfrm>
            <a:off x="5483923" y="1996249"/>
            <a:ext cx="2976563" cy="37943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spcBef>
                <a:spcPts val="79"/>
              </a:spcBef>
            </a:pPr>
            <a:r>
              <a:rPr sz="2400" dirty="0">
                <a:solidFill>
                  <a:srgbClr val="5C646A"/>
                </a:solidFill>
                <a:latin typeface="Arial"/>
                <a:cs typeface="Arial"/>
              </a:rPr>
              <a:t>HBase is NOT for</a:t>
            </a:r>
            <a:r>
              <a:rPr sz="2400" spc="-135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5C646A"/>
                </a:solidFill>
                <a:latin typeface="Arial"/>
                <a:cs typeface="Arial"/>
              </a:rPr>
              <a:t>you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69">
            <a:extLst>
              <a:ext uri="{FF2B5EF4-FFF2-40B4-BE49-F238E27FC236}">
                <a16:creationId xmlns:a16="http://schemas.microsoft.com/office/drawing/2014/main" id="{AA438245-2136-7F42-AA86-7F223507599D}"/>
              </a:ext>
            </a:extLst>
          </p:cNvPr>
          <p:cNvSpPr txBox="1"/>
          <p:nvPr/>
        </p:nvSpPr>
        <p:spPr>
          <a:xfrm>
            <a:off x="910590" y="2646807"/>
            <a:ext cx="3278981" cy="2408191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387191">
              <a:spcBef>
                <a:spcPts val="79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Random read/write access to</a:t>
            </a:r>
            <a:r>
              <a:rPr sz="1500" spc="-12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high  volumes of data in real</a:t>
            </a:r>
            <a:r>
              <a:rPr sz="1500" spc="-64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spc="-4" dirty="0">
                <a:solidFill>
                  <a:srgbClr val="5C646A"/>
                </a:solidFill>
                <a:latin typeface="Arial"/>
                <a:cs typeface="Arial"/>
              </a:rPr>
              <a:t>time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1054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No dependency on RDBMS</a:t>
            </a:r>
            <a:r>
              <a:rPr sz="1500" spc="-71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features</a:t>
            </a:r>
            <a:endParaRPr sz="1500">
              <a:latin typeface="Arial"/>
              <a:cs typeface="Arial"/>
            </a:endParaRPr>
          </a:p>
          <a:p>
            <a:pPr marL="9525" marR="112395">
              <a:spcBef>
                <a:spcPts val="1043"/>
              </a:spcBef>
            </a:pPr>
            <a:r>
              <a:rPr sz="1500" spc="-15" dirty="0">
                <a:solidFill>
                  <a:srgbClr val="5C646A"/>
                </a:solidFill>
                <a:latin typeface="Arial"/>
                <a:cs typeface="Arial"/>
              </a:rPr>
              <a:t>Variable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schema with </a:t>
            </a:r>
            <a:r>
              <a:rPr sz="1500" spc="-4" dirty="0">
                <a:solidFill>
                  <a:srgbClr val="5C646A"/>
                </a:solidFill>
                <a:latin typeface="Arial"/>
                <a:cs typeface="Arial"/>
              </a:rPr>
              <a:t>flexibility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to</a:t>
            </a:r>
            <a:r>
              <a:rPr sz="1500" spc="-3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add  columns</a:t>
            </a:r>
            <a:endParaRPr sz="1500">
              <a:latin typeface="Arial"/>
              <a:cs typeface="Arial"/>
            </a:endParaRPr>
          </a:p>
          <a:p>
            <a:pPr marL="9525" marR="3810">
              <a:spcBef>
                <a:spcPts val="1054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Single/Range of key based lookups</a:t>
            </a:r>
            <a:r>
              <a:rPr sz="1500" spc="-113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for  de-normalized</a:t>
            </a:r>
            <a:r>
              <a:rPr sz="1500" spc="-3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data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1054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Multiple versions of Big</a:t>
            </a:r>
            <a:r>
              <a:rPr sz="1500" spc="-56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Data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70">
            <a:extLst>
              <a:ext uri="{FF2B5EF4-FFF2-40B4-BE49-F238E27FC236}">
                <a16:creationId xmlns:a16="http://schemas.microsoft.com/office/drawing/2014/main" id="{9755DA7E-8A08-6C42-B487-12AC33C02380}"/>
              </a:ext>
            </a:extLst>
          </p:cNvPr>
          <p:cNvSpPr txBox="1"/>
          <p:nvPr/>
        </p:nvSpPr>
        <p:spPr>
          <a:xfrm>
            <a:off x="5392769" y="2513342"/>
            <a:ext cx="2985134" cy="1935819"/>
          </a:xfrm>
          <a:prstGeom prst="rect">
            <a:avLst/>
          </a:prstGeom>
        </p:spPr>
        <p:txBody>
          <a:bodyPr vert="horz" wrap="square" lIns="0" tIns="9049" rIns="0" bIns="0" rtlCol="0">
            <a:spAutoFit/>
          </a:bodyPr>
          <a:lstStyle/>
          <a:p>
            <a:pPr marL="9525" marR="829628">
              <a:lnSpc>
                <a:spcPct val="158600"/>
              </a:lnSpc>
              <a:spcBef>
                <a:spcPts val="71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Replacement for</a:t>
            </a:r>
            <a:r>
              <a:rPr sz="1500" spc="-75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RDBMS  Low data</a:t>
            </a:r>
            <a:r>
              <a:rPr sz="1500" spc="-26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volume</a:t>
            </a:r>
            <a:endParaRPr sz="1500">
              <a:latin typeface="Arial"/>
              <a:cs typeface="Arial"/>
            </a:endParaRPr>
          </a:p>
          <a:p>
            <a:pPr marL="9525" marR="3810">
              <a:spcBef>
                <a:spcPts val="1046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Scanning and aggregation on</a:t>
            </a:r>
            <a:r>
              <a:rPr sz="1500" spc="-9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large  volumes of</a:t>
            </a:r>
            <a:r>
              <a:rPr sz="1500" spc="-30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data</a:t>
            </a:r>
            <a:endParaRPr sz="1500">
              <a:latin typeface="Arial"/>
              <a:cs typeface="Arial"/>
            </a:endParaRPr>
          </a:p>
          <a:p>
            <a:pPr marL="9525">
              <a:spcBef>
                <a:spcPts val="1054"/>
              </a:spcBef>
            </a:pP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Replacement for batch</a:t>
            </a:r>
            <a:r>
              <a:rPr sz="1500" spc="-75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processing</a:t>
            </a:r>
            <a:endParaRPr sz="1500">
              <a:latin typeface="Arial"/>
              <a:cs typeface="Arial"/>
            </a:endParaRPr>
          </a:p>
          <a:p>
            <a:pPr marL="9525"/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engines like</a:t>
            </a:r>
            <a:r>
              <a:rPr sz="1500" spc="-26" dirty="0">
                <a:solidFill>
                  <a:srgbClr val="5C646A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5C646A"/>
                </a:solidFill>
                <a:latin typeface="Arial"/>
                <a:cs typeface="Arial"/>
              </a:rPr>
              <a:t>MapReduce/Spark</a:t>
            </a:r>
            <a:endParaRPr sz="15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130510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EF55019BAB0549B2C20BFAAB8A2896" ma:contentTypeVersion="17" ma:contentTypeDescription="Create a new document." ma:contentTypeScope="" ma:versionID="76077723e4e34c3b5aeef4b04efa78bf">
  <xsd:schema xmlns:xsd="http://www.w3.org/2001/XMLSchema" xmlns:xs="http://www.w3.org/2001/XMLSchema" xmlns:p="http://schemas.microsoft.com/office/2006/metadata/properties" xmlns:ns2="5e41b080-9453-459c-bb93-b19be7335f42" xmlns:ns3="4e58ebf2-e4df-4cd3-9186-1e42b3ede124" targetNamespace="http://schemas.microsoft.com/office/2006/metadata/properties" ma:root="true" ma:fieldsID="19e363e40d36e188a1c3db48bbcaf99f" ns2:_="" ns3:_="">
    <xsd:import namespace="5e41b080-9453-459c-bb93-b19be7335f42"/>
    <xsd:import namespace="4e58ebf2-e4df-4cd3-9186-1e42b3ede124"/>
    <xsd:element name="properties">
      <xsd:complexType>
        <xsd:sequence>
          <xsd:element name="documentManagement">
            <xsd:complexType>
              <xsd:all>
                <xsd:element ref="ns2:Due_x0020_Date" minOccurs="0"/>
                <xsd:element ref="ns2:Status" minOccurs="0"/>
                <xsd:element ref="ns2:Comment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e41b080-9453-459c-bb93-b19be7335f42" elementFormDefault="qualified">
    <xsd:import namespace="http://schemas.microsoft.com/office/2006/documentManagement/types"/>
    <xsd:import namespace="http://schemas.microsoft.com/office/infopath/2007/PartnerControls"/>
    <xsd:element name="Due_x0020_Date" ma:index="8" nillable="true" ma:displayName="Due Date" ma:format="DateOnly" ma:indexed="true" ma:internalName="Due_x0020_Date">
      <xsd:simpleType>
        <xsd:restriction base="dms:DateTime"/>
      </xsd:simpleType>
    </xsd:element>
    <xsd:element name="Status" ma:index="9" nillable="true" ma:displayName="Status" ma:format="Dropdown" ma:indexed="true" ma:internalName="Status">
      <xsd:simpleType>
        <xsd:restriction base="dms:Choice">
          <xsd:enumeration value="For Partner Review"/>
          <xsd:enumeration value="For Collegis Review"/>
          <xsd:enumeration value="Approved by Partner"/>
        </xsd:restriction>
      </xsd:simpleType>
    </xsd:element>
    <xsd:element name="Comments" ma:index="10" nillable="true" ma:displayName="Comments" ma:internalName="Comments">
      <xsd:simpleType>
        <xsd:restriction base="dms:Note">
          <xsd:maxLength value="255"/>
        </xsd:restriction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11040b95-0fdc-46ce-be91-73dc895452d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58ebf2-e4df-4cd3-9186-1e42b3ede124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ef5f3a8b-878a-4d06-a8de-79a1d9f1fffd}" ma:internalName="TaxCatchAll" ma:showField="CatchAllData" ma:web="4e58ebf2-e4df-4cd3-9186-1e42b3ede12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5e41b080-9453-459c-bb93-b19be7335f42" xsi:nil="true"/>
    <Comments xmlns="5e41b080-9453-459c-bb93-b19be7335f42" xsi:nil="true"/>
    <Due_x0020_Date xmlns="5e41b080-9453-459c-bb93-b19be7335f42" xsi:nil="true"/>
    <lcf76f155ced4ddcb4097134ff3c332f xmlns="5e41b080-9453-459c-bb93-b19be7335f42">
      <Terms xmlns="http://schemas.microsoft.com/office/infopath/2007/PartnerControls"/>
    </lcf76f155ced4ddcb4097134ff3c332f>
    <TaxCatchAll xmlns="4e58ebf2-e4df-4cd3-9186-1e42b3ede124" xsi:nil="true"/>
  </documentManagement>
</p:properties>
</file>

<file path=customXml/itemProps1.xml><?xml version="1.0" encoding="utf-8"?>
<ds:datastoreItem xmlns:ds="http://schemas.openxmlformats.org/officeDocument/2006/customXml" ds:itemID="{81173D5D-C44C-468D-888E-45C2B77A66A1}"/>
</file>

<file path=customXml/itemProps2.xml><?xml version="1.0" encoding="utf-8"?>
<ds:datastoreItem xmlns:ds="http://schemas.openxmlformats.org/officeDocument/2006/customXml" ds:itemID="{626B9466-5D7C-4F0D-8B28-29EC2CF56EF8}"/>
</file>

<file path=customXml/itemProps3.xml><?xml version="1.0" encoding="utf-8"?>
<ds:datastoreItem xmlns:ds="http://schemas.openxmlformats.org/officeDocument/2006/customXml" ds:itemID="{055553B4-B2B4-4EAC-8AF6-1D636E7AAF27}"/>
</file>

<file path=docProps/app.xml><?xml version="1.0" encoding="utf-8"?>
<Properties xmlns="http://schemas.openxmlformats.org/officeDocument/2006/extended-properties" xmlns:vt="http://schemas.openxmlformats.org/officeDocument/2006/docPropsVTypes">
  <Template>pptB0B1.tmp</Template>
  <TotalTime>69210</TotalTime>
  <Words>3453</Words>
  <Application>Microsoft Macintosh PowerPoint</Application>
  <PresentationFormat>On-screen Show (4:3)</PresentationFormat>
  <Paragraphs>590</Paragraphs>
  <Slides>70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Calibri</vt:lpstr>
      <vt:lpstr>Helvetica</vt:lpstr>
      <vt:lpstr>Times New Roman</vt:lpstr>
      <vt:lpstr>Clarity</vt:lpstr>
      <vt:lpstr>CSP554 Big Data Technologies</vt:lpstr>
      <vt:lpstr>HBase</vt:lpstr>
      <vt:lpstr>HBase</vt:lpstr>
      <vt:lpstr>HBase Features</vt:lpstr>
      <vt:lpstr>HBase Features</vt:lpstr>
      <vt:lpstr>HBase @ Salesforce</vt:lpstr>
      <vt:lpstr>HBase Data Model</vt:lpstr>
      <vt:lpstr>HBase Data Model: Components</vt:lpstr>
      <vt:lpstr>HBase Logical Data Organization</vt:lpstr>
      <vt:lpstr>HBase Data Model</vt:lpstr>
      <vt:lpstr>HBase Logical Data Organization</vt:lpstr>
      <vt:lpstr>HBase Data Model</vt:lpstr>
      <vt:lpstr>HBase Data Model</vt:lpstr>
      <vt:lpstr>HBase Data Model</vt:lpstr>
      <vt:lpstr>ACID Properties</vt:lpstr>
      <vt:lpstr>When to Consider HBase</vt:lpstr>
      <vt:lpstr>When to Consider HBase</vt:lpstr>
      <vt:lpstr>HDFS vs. HBase</vt:lpstr>
      <vt:lpstr>HBase vs. RDBMS Summary</vt:lpstr>
      <vt:lpstr>HBase vs. RDBMS Details</vt:lpstr>
      <vt:lpstr>HBase vs. RDBMS Details</vt:lpstr>
      <vt:lpstr>Hbase Uses</vt:lpstr>
      <vt:lpstr>HBase Uses</vt:lpstr>
      <vt:lpstr>Time Series Data</vt:lpstr>
      <vt:lpstr>Information Exchange</vt:lpstr>
      <vt:lpstr>Content Serving</vt:lpstr>
      <vt:lpstr>What HBase is NOT</vt:lpstr>
      <vt:lpstr>HBase Shell</vt:lpstr>
      <vt:lpstr>Using the HBase Shell</vt:lpstr>
      <vt:lpstr>Using the HBase Shell</vt:lpstr>
      <vt:lpstr>Create a Table</vt:lpstr>
      <vt:lpstr>Create a Table</vt:lpstr>
      <vt:lpstr>Create a Table</vt:lpstr>
      <vt:lpstr>Basic Data Access Operations</vt:lpstr>
      <vt:lpstr>Put Data into a Table</vt:lpstr>
      <vt:lpstr>Get Data From a Table</vt:lpstr>
      <vt:lpstr>Scan Data From a Table</vt:lpstr>
      <vt:lpstr>Scan Data From a Table</vt:lpstr>
      <vt:lpstr>HBase Scalability</vt:lpstr>
      <vt:lpstr>HFile Physical View</vt:lpstr>
      <vt:lpstr>HBase Scalability</vt:lpstr>
      <vt:lpstr>HBase Scalability</vt:lpstr>
      <vt:lpstr>Sparse Table Storage</vt:lpstr>
      <vt:lpstr>Apache Phoenix</vt:lpstr>
      <vt:lpstr>Apache Phoenix</vt:lpstr>
      <vt:lpstr>Apache Phoenix: Current Capabilities</vt:lpstr>
      <vt:lpstr>Phoenix Provides Familiar SQL Constructs</vt:lpstr>
      <vt:lpstr>Phoenix Performance</vt:lpstr>
      <vt:lpstr>HBase Architecture: Table</vt:lpstr>
      <vt:lpstr>HBase Architecture: Region</vt:lpstr>
      <vt:lpstr>HBase Architecture: Region </vt:lpstr>
      <vt:lpstr>HBase Architecture: Region </vt:lpstr>
      <vt:lpstr>HFile Format Information</vt:lpstr>
      <vt:lpstr>HBase Architecture: Region Servers</vt:lpstr>
      <vt:lpstr>HBase Logical Architecture</vt:lpstr>
      <vt:lpstr>HBase Architecture: General</vt:lpstr>
      <vt:lpstr>HBase Architecture: General</vt:lpstr>
      <vt:lpstr>HBase Architecture: General</vt:lpstr>
      <vt:lpstr>HBase Scalability</vt:lpstr>
      <vt:lpstr>HBase HMaster</vt:lpstr>
      <vt:lpstr>Regions</vt:lpstr>
      <vt:lpstr>Zookeeper (Coordinator)</vt:lpstr>
      <vt:lpstr>HBase Meta Table</vt:lpstr>
      <vt:lpstr>HBase Meta Table</vt:lpstr>
      <vt:lpstr>HBase Internals Write Operation</vt:lpstr>
      <vt:lpstr>HBase Internals Compaction</vt:lpstr>
      <vt:lpstr>HBase Internals Read Operation</vt:lpstr>
      <vt:lpstr>Compression</vt:lpstr>
      <vt:lpstr>Optimization Benefit</vt:lpstr>
      <vt:lpstr>PowerPoint Presentation</vt:lpstr>
    </vt:vector>
  </TitlesOfParts>
  <Company>BCBSA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Rosen, Joseph</dc:creator>
  <cp:lastModifiedBy>Jawahar Panchal</cp:lastModifiedBy>
  <cp:revision>946</cp:revision>
  <cp:lastPrinted>2021-04-15T17:48:56Z</cp:lastPrinted>
  <dcterms:created xsi:type="dcterms:W3CDTF">2016-12-18T19:56:54Z</dcterms:created>
  <dcterms:modified xsi:type="dcterms:W3CDTF">2024-09-11T05:05:20Z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0x010100F3EF55019BAB0549B2C20BFAAB8A2896</vt:lpwstr>
  </property>
</Properties>
</file>