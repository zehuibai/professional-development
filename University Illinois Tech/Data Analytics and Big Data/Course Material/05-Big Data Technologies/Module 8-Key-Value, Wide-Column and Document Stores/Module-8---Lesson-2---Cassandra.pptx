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slides/slide6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9"/>
  </p:notesMasterIdLst>
  <p:sldIdLst>
    <p:sldId id="256" r:id="rId2"/>
    <p:sldId id="377" r:id="rId3"/>
    <p:sldId id="378" r:id="rId4"/>
    <p:sldId id="379" r:id="rId5"/>
    <p:sldId id="400" r:id="rId6"/>
    <p:sldId id="402" r:id="rId7"/>
    <p:sldId id="383" r:id="rId8"/>
    <p:sldId id="380" r:id="rId9"/>
    <p:sldId id="403" r:id="rId10"/>
    <p:sldId id="385" r:id="rId11"/>
    <p:sldId id="393" r:id="rId12"/>
    <p:sldId id="387" r:id="rId13"/>
    <p:sldId id="435" r:id="rId14"/>
    <p:sldId id="437" r:id="rId15"/>
    <p:sldId id="438" r:id="rId16"/>
    <p:sldId id="439" r:id="rId17"/>
    <p:sldId id="440" r:id="rId18"/>
    <p:sldId id="441" r:id="rId19"/>
    <p:sldId id="443" r:id="rId20"/>
    <p:sldId id="445" r:id="rId21"/>
    <p:sldId id="446" r:id="rId22"/>
    <p:sldId id="447" r:id="rId23"/>
    <p:sldId id="448" r:id="rId24"/>
    <p:sldId id="449" r:id="rId25"/>
    <p:sldId id="450" r:id="rId26"/>
    <p:sldId id="395" r:id="rId27"/>
    <p:sldId id="394" r:id="rId28"/>
    <p:sldId id="414" r:id="rId29"/>
    <p:sldId id="417" r:id="rId30"/>
    <p:sldId id="392" r:id="rId31"/>
    <p:sldId id="381" r:id="rId32"/>
    <p:sldId id="382" r:id="rId33"/>
    <p:sldId id="384" r:id="rId34"/>
    <p:sldId id="390" r:id="rId35"/>
    <p:sldId id="391" r:id="rId36"/>
    <p:sldId id="404" r:id="rId37"/>
    <p:sldId id="405" r:id="rId38"/>
    <p:sldId id="406" r:id="rId39"/>
    <p:sldId id="407" r:id="rId40"/>
    <p:sldId id="408" r:id="rId41"/>
    <p:sldId id="409" r:id="rId42"/>
    <p:sldId id="399" r:id="rId43"/>
    <p:sldId id="410" r:id="rId44"/>
    <p:sldId id="411" r:id="rId45"/>
    <p:sldId id="412" r:id="rId46"/>
    <p:sldId id="413" r:id="rId47"/>
    <p:sldId id="386" r:id="rId48"/>
    <p:sldId id="434" r:id="rId49"/>
    <p:sldId id="420" r:id="rId50"/>
    <p:sldId id="433" r:id="rId51"/>
    <p:sldId id="421" r:id="rId52"/>
    <p:sldId id="422" r:id="rId53"/>
    <p:sldId id="423" r:id="rId54"/>
    <p:sldId id="424" r:id="rId55"/>
    <p:sldId id="425" r:id="rId56"/>
    <p:sldId id="426" r:id="rId57"/>
    <p:sldId id="427" r:id="rId58"/>
    <p:sldId id="428" r:id="rId59"/>
    <p:sldId id="429" r:id="rId60"/>
    <p:sldId id="430" r:id="rId61"/>
    <p:sldId id="431" r:id="rId62"/>
    <p:sldId id="432" r:id="rId63"/>
    <p:sldId id="396" r:id="rId64"/>
    <p:sldId id="397" r:id="rId65"/>
    <p:sldId id="398" r:id="rId66"/>
    <p:sldId id="388" r:id="rId67"/>
    <p:sldId id="389" r:id="rId6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753"/>
  </p:normalViewPr>
  <p:slideViewPr>
    <p:cSldViewPr>
      <p:cViewPr varScale="1">
        <p:scale>
          <a:sx n="106" d="100"/>
          <a:sy n="106" d="100"/>
        </p:scale>
        <p:origin x="180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21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customXml" Target="../customXml/item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75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customXml" Target="../customXml/item3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32D181-0768-491C-BCCD-1E688F6524C4}" type="datetimeFigureOut">
              <a:rPr lang="en-US" smtClean="0"/>
              <a:t>9/10/24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447E5-1454-46F0-8474-6A688ED01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380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B447E5-1454-46F0-8474-6A688ED017C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479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CCDC-640C-4A7F-B692-4C1523D9D395}" type="datetime1">
              <a:rPr lang="en-US" smtClean="0"/>
              <a:t>9/10/24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425D-3D70-4C58-9D1C-32FE869CAE25}" type="datetime1">
              <a:rPr lang="en-US" smtClean="0"/>
              <a:t>9/10/24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9CB9-37D3-4AA1-A0E8-1F21F80458C9}" type="datetime1">
              <a:rPr lang="en-US" smtClean="0"/>
              <a:t>9/10/24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20D93-E667-4B09-8397-464042F8D1E6}" type="datetime1">
              <a:rPr lang="en-US" smtClean="0"/>
              <a:t>9/10/24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C4A8-DF68-4BD1-9580-3D7A978CBC79}" type="datetime1">
              <a:rPr lang="en-US" smtClean="0"/>
              <a:t>9/10/24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1D517-DA72-4B14-BFA1-564FEB37473B}" type="datetime1">
              <a:rPr lang="en-US" smtClean="0"/>
              <a:t>9/10/24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2C685-08B2-4847-8BAD-ECD260AC9AE5}" type="datetime1">
              <a:rPr lang="en-US" smtClean="0"/>
              <a:t>9/10/24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0A5CB-7E2B-46E3-AFE1-F37429F15A1F}" type="datetime1">
              <a:rPr lang="en-US" smtClean="0"/>
              <a:t>9/10/24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E3D7C-325E-46F9-9F25-C4465D7D474C}" type="datetime1">
              <a:rPr lang="en-US" smtClean="0"/>
              <a:t>9/10/24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FE74-165E-406D-A23C-66A90DA8FA1E}" type="datetime1">
              <a:rPr lang="en-US" smtClean="0"/>
              <a:t>9/10/24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3A87E-6A7C-48A3-B69F-55CC7E84042C}" type="datetime1">
              <a:rPr lang="en-US" smtClean="0"/>
              <a:t>9/10/24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400CF54E-4BF1-40ED-99F8-F0037AE49C3F}" type="datetime1">
              <a:rPr lang="en-US" smtClean="0"/>
              <a:t>9/10/24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7A5931E9-30B5-4501-87AE-498D28A709D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CSP554</a:t>
            </a:r>
            <a:br>
              <a:rPr lang="en-US" sz="4800" dirty="0"/>
            </a:br>
            <a:r>
              <a:rPr lang="en-US" sz="4800" dirty="0"/>
              <a:t>Big Data Technologies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NoSQL Databases: Cassandra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776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629274" y="507964"/>
            <a:ext cx="2776489" cy="59558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550170" y="457200"/>
            <a:ext cx="2984230" cy="62379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09496" y="602948"/>
            <a:ext cx="3557704" cy="652536"/>
          </a:xfrm>
          <a:prstGeom prst="rect">
            <a:avLst/>
          </a:prstGeom>
        </p:spPr>
        <p:txBody>
          <a:bodyPr vert="horz" wrap="square" lIns="0" tIns="6145" rIns="0" bIns="0" rtlCol="0">
            <a:spAutoFit/>
          </a:bodyPr>
          <a:lstStyle/>
          <a:p>
            <a:pPr marL="6468">
              <a:spcBef>
                <a:spcPts val="48"/>
              </a:spcBef>
            </a:pPr>
            <a:r>
              <a:rPr sz="4200" spc="51" dirty="0"/>
              <a:t>C</a:t>
            </a:r>
            <a:r>
              <a:rPr sz="4200" spc="18" dirty="0"/>
              <a:t>AS</a:t>
            </a:r>
            <a:r>
              <a:rPr sz="4200" spc="41" dirty="0"/>
              <a:t>S</a:t>
            </a:r>
            <a:r>
              <a:rPr sz="4200" spc="-31" dirty="0"/>
              <a:t>AND</a:t>
            </a:r>
            <a:r>
              <a:rPr sz="4200" spc="-135" dirty="0"/>
              <a:t>R</a:t>
            </a:r>
            <a:r>
              <a:rPr sz="4200" spc="-3" dirty="0"/>
              <a:t>A</a:t>
            </a:r>
            <a:endParaRPr sz="4200" dirty="0"/>
          </a:p>
        </p:txBody>
      </p:sp>
      <p:sp>
        <p:nvSpPr>
          <p:cNvPr id="6" name="object 6"/>
          <p:cNvSpPr txBox="1"/>
          <p:nvPr/>
        </p:nvSpPr>
        <p:spPr>
          <a:xfrm>
            <a:off x="265686" y="2091521"/>
            <a:ext cx="4992114" cy="3145573"/>
          </a:xfrm>
          <a:prstGeom prst="rect">
            <a:avLst/>
          </a:prstGeom>
        </p:spPr>
        <p:txBody>
          <a:bodyPr vert="horz" wrap="square" lIns="0" tIns="8732" rIns="0" bIns="0" rtlCol="0">
            <a:spAutoFit/>
          </a:bodyPr>
          <a:lstStyle/>
          <a:p>
            <a:pPr marL="251609" indent="-245141">
              <a:spcBef>
                <a:spcPts val="69"/>
              </a:spcBef>
              <a:buSzPct val="82352"/>
              <a:buChar char="•"/>
              <a:tabLst>
                <a:tab pos="251609" algn="l"/>
                <a:tab pos="251933" algn="l"/>
              </a:tabLst>
            </a:pPr>
            <a:r>
              <a:rPr sz="2200" spc="-53" dirty="0">
                <a:solidFill>
                  <a:srgbClr val="535353"/>
                </a:solidFill>
                <a:latin typeface="Gill Sans MT"/>
                <a:cs typeface="Gill Sans MT"/>
              </a:rPr>
              <a:t>A.k.a </a:t>
            </a:r>
            <a:r>
              <a:rPr sz="2200" spc="-18" dirty="0">
                <a:solidFill>
                  <a:srgbClr val="535353"/>
                </a:solidFill>
                <a:latin typeface="Gill Sans MT"/>
                <a:cs typeface="Gill Sans MT"/>
              </a:rPr>
              <a:t>Alexandra </a:t>
            </a:r>
            <a:r>
              <a:rPr sz="2200" spc="-71" dirty="0">
                <a:solidFill>
                  <a:srgbClr val="535353"/>
                </a:solidFill>
                <a:latin typeface="Gill Sans MT"/>
                <a:cs typeface="Gill Sans MT"/>
              </a:rPr>
              <a:t>or</a:t>
            </a:r>
            <a:r>
              <a:rPr sz="2200" spc="-66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200" spc="-51" dirty="0">
                <a:solidFill>
                  <a:srgbClr val="535353"/>
                </a:solidFill>
                <a:latin typeface="Gill Sans MT"/>
                <a:cs typeface="Gill Sans MT"/>
              </a:rPr>
              <a:t>Kassandra</a:t>
            </a:r>
            <a:endParaRPr sz="2200" dirty="0">
              <a:latin typeface="Gill Sans MT"/>
              <a:cs typeface="Gill Sans MT"/>
            </a:endParaRPr>
          </a:p>
          <a:p>
            <a:pPr>
              <a:spcBef>
                <a:spcPts val="3"/>
              </a:spcBef>
              <a:buClr>
                <a:srgbClr val="535353"/>
              </a:buClr>
              <a:buFont typeface="Gill Sans MT"/>
              <a:buChar char="•"/>
            </a:pPr>
            <a:endParaRPr sz="2000" dirty="0">
              <a:latin typeface="Times New Roman"/>
              <a:cs typeface="Times New Roman"/>
            </a:endParaRPr>
          </a:p>
          <a:p>
            <a:pPr marL="251609" marR="114809" indent="-245141">
              <a:lnSpc>
                <a:spcPts val="2475"/>
              </a:lnSpc>
              <a:spcBef>
                <a:spcPts val="3"/>
              </a:spcBef>
              <a:buSzPct val="82352"/>
              <a:buChar char="•"/>
              <a:tabLst>
                <a:tab pos="251609" algn="l"/>
                <a:tab pos="251933" algn="l"/>
              </a:tabLst>
            </a:pPr>
            <a:r>
              <a:rPr sz="2200" spc="-28" dirty="0">
                <a:solidFill>
                  <a:srgbClr val="535353"/>
                </a:solidFill>
                <a:latin typeface="Gill Sans MT"/>
                <a:cs typeface="Gill Sans MT"/>
              </a:rPr>
              <a:t>Daughter </a:t>
            </a:r>
            <a:r>
              <a:rPr sz="2200" spc="-15" dirty="0">
                <a:solidFill>
                  <a:srgbClr val="535353"/>
                </a:solidFill>
                <a:latin typeface="Gill Sans MT"/>
                <a:cs typeface="Gill Sans MT"/>
              </a:rPr>
              <a:t>of </a:t>
            </a:r>
            <a:r>
              <a:rPr sz="2200" spc="-84" dirty="0">
                <a:solidFill>
                  <a:srgbClr val="535353"/>
                </a:solidFill>
                <a:latin typeface="Gill Sans MT"/>
                <a:cs typeface="Gill Sans MT"/>
              </a:rPr>
              <a:t>King </a:t>
            </a:r>
            <a:r>
              <a:rPr sz="2200" spc="-23" dirty="0">
                <a:solidFill>
                  <a:srgbClr val="535353"/>
                </a:solidFill>
                <a:latin typeface="Gill Sans MT"/>
                <a:cs typeface="Gill Sans MT"/>
              </a:rPr>
              <a:t>Priam </a:t>
            </a:r>
            <a:r>
              <a:rPr sz="2200" dirty="0">
                <a:solidFill>
                  <a:srgbClr val="535353"/>
                </a:solidFill>
                <a:latin typeface="Gill Sans MT"/>
                <a:cs typeface="Gill Sans MT"/>
              </a:rPr>
              <a:t>and </a:t>
            </a:r>
            <a:r>
              <a:rPr sz="2200" spc="-3" dirty="0">
                <a:solidFill>
                  <a:srgbClr val="535353"/>
                </a:solidFill>
                <a:latin typeface="Gill Sans MT"/>
                <a:cs typeface="Gill Sans MT"/>
              </a:rPr>
              <a:t>Queen </a:t>
            </a:r>
            <a:r>
              <a:rPr sz="2200" spc="-5" dirty="0">
                <a:solidFill>
                  <a:srgbClr val="535353"/>
                </a:solidFill>
                <a:latin typeface="Gill Sans MT"/>
                <a:cs typeface="Gill Sans MT"/>
              </a:rPr>
              <a:t>Hecuba  </a:t>
            </a:r>
            <a:r>
              <a:rPr sz="2200" spc="-15" dirty="0">
                <a:solidFill>
                  <a:srgbClr val="535353"/>
                </a:solidFill>
                <a:latin typeface="Gill Sans MT"/>
                <a:cs typeface="Gill Sans MT"/>
              </a:rPr>
              <a:t>of</a:t>
            </a:r>
            <a:r>
              <a:rPr sz="2200" spc="-349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200" spc="-158" dirty="0">
                <a:solidFill>
                  <a:srgbClr val="535353"/>
                </a:solidFill>
                <a:latin typeface="Gill Sans MT"/>
                <a:cs typeface="Gill Sans MT"/>
              </a:rPr>
              <a:t>Troy.</a:t>
            </a:r>
            <a:endParaRPr sz="2200" dirty="0">
              <a:latin typeface="Gill Sans MT"/>
              <a:cs typeface="Gill Sans MT"/>
            </a:endParaRPr>
          </a:p>
          <a:p>
            <a:pPr>
              <a:spcBef>
                <a:spcPts val="3"/>
              </a:spcBef>
              <a:buClr>
                <a:srgbClr val="535353"/>
              </a:buClr>
              <a:buFont typeface="Gill Sans MT"/>
              <a:buChar char="•"/>
            </a:pPr>
            <a:endParaRPr sz="1900" dirty="0">
              <a:latin typeface="Times New Roman"/>
              <a:cs typeface="Times New Roman"/>
            </a:endParaRPr>
          </a:p>
          <a:p>
            <a:pPr marL="251609" marR="2587" indent="-245141">
              <a:lnSpc>
                <a:spcPts val="2475"/>
              </a:lnSpc>
              <a:buSzPct val="82352"/>
              <a:buChar char="•"/>
              <a:tabLst>
                <a:tab pos="251609" algn="l"/>
                <a:tab pos="251933" algn="l"/>
              </a:tabLst>
            </a:pPr>
            <a:r>
              <a:rPr sz="2200" spc="-20" dirty="0">
                <a:solidFill>
                  <a:srgbClr val="535353"/>
                </a:solidFill>
                <a:latin typeface="Gill Sans MT"/>
                <a:cs typeface="Gill Sans MT"/>
              </a:rPr>
              <a:t>Apollo gave </a:t>
            </a:r>
            <a:r>
              <a:rPr sz="2200" spc="-48" dirty="0">
                <a:solidFill>
                  <a:srgbClr val="535353"/>
                </a:solidFill>
                <a:latin typeface="Gill Sans MT"/>
                <a:cs typeface="Gill Sans MT"/>
              </a:rPr>
              <a:t>her </a:t>
            </a:r>
            <a:r>
              <a:rPr sz="2200" spc="-23" dirty="0">
                <a:solidFill>
                  <a:srgbClr val="535353"/>
                </a:solidFill>
                <a:latin typeface="Gill Sans MT"/>
                <a:cs typeface="Gill Sans MT"/>
              </a:rPr>
              <a:t>the </a:t>
            </a:r>
            <a:r>
              <a:rPr sz="2200" spc="-38" dirty="0">
                <a:solidFill>
                  <a:srgbClr val="535353"/>
                </a:solidFill>
                <a:latin typeface="Gill Sans MT"/>
                <a:cs typeface="Gill Sans MT"/>
              </a:rPr>
              <a:t>power </a:t>
            </a:r>
            <a:r>
              <a:rPr sz="2200" spc="-15" dirty="0">
                <a:solidFill>
                  <a:srgbClr val="535353"/>
                </a:solidFill>
                <a:latin typeface="Gill Sans MT"/>
                <a:cs typeface="Gill Sans MT"/>
              </a:rPr>
              <a:t>of </a:t>
            </a:r>
            <a:r>
              <a:rPr sz="2200" spc="-23" dirty="0">
                <a:solidFill>
                  <a:srgbClr val="535353"/>
                </a:solidFill>
                <a:latin typeface="Gill Sans MT"/>
                <a:cs typeface="Gill Sans MT"/>
              </a:rPr>
              <a:t>prophecy </a:t>
            </a:r>
            <a:r>
              <a:rPr sz="2200" spc="-38" dirty="0">
                <a:solidFill>
                  <a:srgbClr val="535353"/>
                </a:solidFill>
                <a:latin typeface="Gill Sans MT"/>
                <a:cs typeface="Gill Sans MT"/>
              </a:rPr>
              <a:t>to  </a:t>
            </a:r>
            <a:r>
              <a:rPr sz="2200" spc="-15" dirty="0">
                <a:solidFill>
                  <a:srgbClr val="535353"/>
                </a:solidFill>
                <a:latin typeface="Gill Sans MT"/>
                <a:cs typeface="Gill Sans MT"/>
              </a:rPr>
              <a:t>seduce </a:t>
            </a:r>
            <a:r>
              <a:rPr sz="2200" spc="-107" dirty="0">
                <a:solidFill>
                  <a:srgbClr val="535353"/>
                </a:solidFill>
                <a:latin typeface="Gill Sans MT"/>
                <a:cs typeface="Gill Sans MT"/>
              </a:rPr>
              <a:t>her. </a:t>
            </a:r>
            <a:r>
              <a:rPr lang="en-US" sz="2200" spc="-107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200" spc="5" dirty="0">
                <a:solidFill>
                  <a:srgbClr val="535353"/>
                </a:solidFill>
                <a:latin typeface="Gill Sans MT"/>
                <a:cs typeface="Gill Sans MT"/>
              </a:rPr>
              <a:t>She </a:t>
            </a:r>
            <a:r>
              <a:rPr sz="2200" spc="-31" dirty="0">
                <a:solidFill>
                  <a:srgbClr val="535353"/>
                </a:solidFill>
                <a:latin typeface="Gill Sans MT"/>
                <a:cs typeface="Gill Sans MT"/>
              </a:rPr>
              <a:t>refused </a:t>
            </a:r>
            <a:r>
              <a:rPr sz="2200" dirty="0">
                <a:solidFill>
                  <a:srgbClr val="535353"/>
                </a:solidFill>
                <a:latin typeface="Gill Sans MT"/>
                <a:cs typeface="Gill Sans MT"/>
              </a:rPr>
              <a:t>and </a:t>
            </a:r>
            <a:r>
              <a:rPr sz="2200" spc="-23" dirty="0">
                <a:solidFill>
                  <a:srgbClr val="535353"/>
                </a:solidFill>
                <a:latin typeface="Gill Sans MT"/>
                <a:cs typeface="Gill Sans MT"/>
              </a:rPr>
              <a:t>then </a:t>
            </a:r>
            <a:r>
              <a:rPr sz="2200" spc="-20" dirty="0">
                <a:solidFill>
                  <a:srgbClr val="535353"/>
                </a:solidFill>
                <a:latin typeface="Gill Sans MT"/>
                <a:cs typeface="Gill Sans MT"/>
              </a:rPr>
              <a:t>Apollo</a:t>
            </a:r>
            <a:r>
              <a:rPr sz="2200" spc="-112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lang="en-US" sz="2200" spc="-112" dirty="0">
                <a:solidFill>
                  <a:srgbClr val="535353"/>
                </a:solidFill>
                <a:latin typeface="Gill Sans MT"/>
                <a:cs typeface="Gill Sans MT"/>
              </a:rPr>
              <a:t>cursed </a:t>
            </a:r>
            <a:r>
              <a:rPr sz="2200" spc="-48" dirty="0">
                <a:solidFill>
                  <a:srgbClr val="535353"/>
                </a:solidFill>
                <a:latin typeface="Gill Sans MT"/>
                <a:cs typeface="Gill Sans MT"/>
              </a:rPr>
              <a:t>her </a:t>
            </a:r>
            <a:r>
              <a:rPr sz="2200" spc="-38" dirty="0">
                <a:solidFill>
                  <a:srgbClr val="535353"/>
                </a:solidFill>
                <a:latin typeface="Gill Sans MT"/>
                <a:cs typeface="Gill Sans MT"/>
              </a:rPr>
              <a:t>never to </a:t>
            </a:r>
            <a:r>
              <a:rPr sz="2200" spc="15" dirty="0">
                <a:solidFill>
                  <a:srgbClr val="535353"/>
                </a:solidFill>
                <a:latin typeface="Gill Sans MT"/>
                <a:cs typeface="Gill Sans MT"/>
              </a:rPr>
              <a:t>be  </a:t>
            </a:r>
            <a:r>
              <a:rPr sz="2200" spc="-25" dirty="0">
                <a:solidFill>
                  <a:srgbClr val="535353"/>
                </a:solidFill>
                <a:latin typeface="Gill Sans MT"/>
                <a:cs typeface="Gill Sans MT"/>
              </a:rPr>
              <a:t>believed.</a:t>
            </a:r>
            <a:endParaRPr sz="2200" dirty="0">
              <a:latin typeface="Gill Sans MT"/>
              <a:cs typeface="Gill Sans MT"/>
            </a:endParaRPr>
          </a:p>
          <a:p>
            <a:pPr marL="251609" indent="-245141">
              <a:spcBef>
                <a:spcPts val="2042"/>
              </a:spcBef>
              <a:buSzPct val="82352"/>
              <a:buChar char="•"/>
              <a:tabLst>
                <a:tab pos="251609" algn="l"/>
                <a:tab pos="251933" algn="l"/>
              </a:tabLst>
            </a:pPr>
            <a:r>
              <a:rPr sz="2200" u="heavy" spc="-33" dirty="0">
                <a:solidFill>
                  <a:srgbClr val="535353"/>
                </a:solidFill>
                <a:latin typeface="Gill Sans MT"/>
                <a:cs typeface="Gill Sans MT"/>
              </a:rPr>
              <a:t>https://en.wikipedia.org/wiki/Cassandra</a:t>
            </a:r>
            <a:endParaRPr sz="2200" dirty="0">
              <a:latin typeface="Gill Sans MT"/>
              <a:cs typeface="Gill Sans M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238750" y="2457277"/>
            <a:ext cx="3586162" cy="27112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155940" y="2387990"/>
            <a:ext cx="3750643" cy="29906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88239" y="642864"/>
            <a:ext cx="3812561" cy="652536"/>
          </a:xfrm>
          <a:prstGeom prst="rect">
            <a:avLst/>
          </a:prstGeom>
        </p:spPr>
        <p:txBody>
          <a:bodyPr vert="horz" wrap="square" lIns="0" tIns="6145" rIns="0" bIns="0" rtlCol="0">
            <a:spAutoFit/>
          </a:bodyPr>
          <a:lstStyle/>
          <a:p>
            <a:pPr marL="6468">
              <a:spcBef>
                <a:spcPts val="48"/>
              </a:spcBef>
            </a:pPr>
            <a:r>
              <a:rPr sz="4200" spc="51" dirty="0"/>
              <a:t>C</a:t>
            </a:r>
            <a:r>
              <a:rPr sz="4200" spc="18" dirty="0"/>
              <a:t>AS</a:t>
            </a:r>
            <a:r>
              <a:rPr sz="4200" spc="41" dirty="0"/>
              <a:t>S</a:t>
            </a:r>
            <a:r>
              <a:rPr sz="4200" spc="-31" dirty="0"/>
              <a:t>AND</a:t>
            </a:r>
            <a:r>
              <a:rPr sz="4200" spc="-135" dirty="0"/>
              <a:t>R</a:t>
            </a:r>
            <a:r>
              <a:rPr sz="4200" spc="-3" dirty="0"/>
              <a:t>A</a:t>
            </a:r>
            <a:endParaRPr sz="4200" dirty="0"/>
          </a:p>
        </p:txBody>
      </p:sp>
      <p:sp>
        <p:nvSpPr>
          <p:cNvPr id="6" name="object 6"/>
          <p:cNvSpPr txBox="1"/>
          <p:nvPr/>
        </p:nvSpPr>
        <p:spPr>
          <a:xfrm>
            <a:off x="265686" y="2110569"/>
            <a:ext cx="4704279" cy="4079919"/>
          </a:xfrm>
          <a:prstGeom prst="rect">
            <a:avLst/>
          </a:prstGeom>
        </p:spPr>
        <p:txBody>
          <a:bodyPr vert="horz" wrap="square" lIns="0" tIns="32341" rIns="0" bIns="0" rtlCol="0">
            <a:spAutoFit/>
          </a:bodyPr>
          <a:lstStyle/>
          <a:p>
            <a:pPr marL="251609" marR="1273247" indent="-245141">
              <a:lnSpc>
                <a:spcPts val="2475"/>
              </a:lnSpc>
              <a:spcBef>
                <a:spcPts val="255"/>
              </a:spcBef>
              <a:buSzPct val="82352"/>
              <a:buChar char="•"/>
              <a:tabLst>
                <a:tab pos="251609" algn="l"/>
                <a:tab pos="251933" algn="l"/>
              </a:tabLst>
            </a:pPr>
            <a:r>
              <a:rPr sz="2200" spc="5" dirty="0">
                <a:solidFill>
                  <a:srgbClr val="535353"/>
                </a:solidFill>
                <a:latin typeface="Gill Sans MT"/>
                <a:cs typeface="Gill Sans MT"/>
              </a:rPr>
              <a:t>Open </a:t>
            </a:r>
            <a:r>
              <a:rPr sz="2200" spc="-28" dirty="0">
                <a:solidFill>
                  <a:srgbClr val="535353"/>
                </a:solidFill>
                <a:latin typeface="Gill Sans MT"/>
                <a:cs typeface="Gill Sans MT"/>
              </a:rPr>
              <a:t>Source </a:t>
            </a:r>
            <a:r>
              <a:rPr sz="2200" spc="-36" dirty="0">
                <a:solidFill>
                  <a:srgbClr val="535353"/>
                </a:solidFill>
                <a:latin typeface="Gill Sans MT"/>
                <a:cs typeface="Gill Sans MT"/>
              </a:rPr>
              <a:t>distributed </a:t>
            </a:r>
            <a:r>
              <a:rPr sz="2200" spc="-8" dirty="0">
                <a:solidFill>
                  <a:srgbClr val="535353"/>
                </a:solidFill>
                <a:latin typeface="Gill Sans MT"/>
                <a:cs typeface="Gill Sans MT"/>
              </a:rPr>
              <a:t>database  </a:t>
            </a:r>
            <a:r>
              <a:rPr sz="2200" spc="-5" dirty="0">
                <a:solidFill>
                  <a:srgbClr val="535353"/>
                </a:solidFill>
                <a:latin typeface="Gill Sans MT"/>
                <a:cs typeface="Gill Sans MT"/>
              </a:rPr>
              <a:t>management</a:t>
            </a:r>
            <a:r>
              <a:rPr sz="2200" spc="-20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200" spc="-36" dirty="0">
                <a:solidFill>
                  <a:srgbClr val="535353"/>
                </a:solidFill>
                <a:latin typeface="Gill Sans MT"/>
                <a:cs typeface="Gill Sans MT"/>
              </a:rPr>
              <a:t>system</a:t>
            </a:r>
            <a:endParaRPr sz="2200">
              <a:latin typeface="Gill Sans MT"/>
              <a:cs typeface="Gill Sans MT"/>
            </a:endParaRPr>
          </a:p>
          <a:p>
            <a:pPr marL="251609" indent="-245141">
              <a:spcBef>
                <a:spcPts val="2042"/>
              </a:spcBef>
              <a:buSzPct val="82352"/>
              <a:buChar char="•"/>
              <a:tabLst>
                <a:tab pos="251609" algn="l"/>
                <a:tab pos="251933" algn="l"/>
              </a:tabLst>
            </a:pPr>
            <a:r>
              <a:rPr sz="2200" spc="-53" dirty="0">
                <a:solidFill>
                  <a:srgbClr val="535353"/>
                </a:solidFill>
                <a:latin typeface="Gill Sans MT"/>
                <a:cs typeface="Gill Sans MT"/>
              </a:rPr>
              <a:t>Initially </a:t>
            </a:r>
            <a:r>
              <a:rPr sz="2200" spc="-8" dirty="0">
                <a:solidFill>
                  <a:srgbClr val="535353"/>
                </a:solidFill>
                <a:latin typeface="Gill Sans MT"/>
                <a:cs typeface="Gill Sans MT"/>
              </a:rPr>
              <a:t>developed </a:t>
            </a:r>
            <a:r>
              <a:rPr sz="2200" spc="-28" dirty="0">
                <a:solidFill>
                  <a:srgbClr val="535353"/>
                </a:solidFill>
                <a:latin typeface="Gill Sans MT"/>
                <a:cs typeface="Gill Sans MT"/>
              </a:rPr>
              <a:t>at</a:t>
            </a:r>
            <a:r>
              <a:rPr sz="2200" spc="33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200" spc="-23" dirty="0">
                <a:solidFill>
                  <a:srgbClr val="535353"/>
                </a:solidFill>
                <a:latin typeface="Gill Sans MT"/>
                <a:cs typeface="Gill Sans MT"/>
              </a:rPr>
              <a:t>Facebook</a:t>
            </a:r>
            <a:endParaRPr sz="2200">
              <a:latin typeface="Gill Sans MT"/>
              <a:cs typeface="Gill Sans MT"/>
            </a:endParaRPr>
          </a:p>
          <a:p>
            <a:pPr>
              <a:spcBef>
                <a:spcPts val="3"/>
              </a:spcBef>
              <a:buClr>
                <a:srgbClr val="535353"/>
              </a:buClr>
              <a:buFont typeface="Gill Sans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251609" marR="355099" indent="-245141">
              <a:lnSpc>
                <a:spcPts val="2475"/>
              </a:lnSpc>
              <a:buSzPct val="82352"/>
              <a:buChar char="•"/>
              <a:tabLst>
                <a:tab pos="251609" algn="l"/>
                <a:tab pos="251933" algn="l"/>
              </a:tabLst>
            </a:pPr>
            <a:r>
              <a:rPr sz="2200" spc="-41" dirty="0">
                <a:solidFill>
                  <a:srgbClr val="535353"/>
                </a:solidFill>
                <a:latin typeface="Gill Sans MT"/>
                <a:cs typeface="Gill Sans MT"/>
              </a:rPr>
              <a:t>Inspired </a:t>
            </a:r>
            <a:r>
              <a:rPr sz="2200" spc="-23" dirty="0">
                <a:solidFill>
                  <a:srgbClr val="535353"/>
                </a:solidFill>
                <a:latin typeface="Gill Sans MT"/>
                <a:cs typeface="Gill Sans MT"/>
              </a:rPr>
              <a:t>by </a:t>
            </a:r>
            <a:r>
              <a:rPr sz="2200" spc="-38" dirty="0">
                <a:solidFill>
                  <a:srgbClr val="535353"/>
                </a:solidFill>
                <a:latin typeface="Gill Sans MT"/>
                <a:cs typeface="Gill Sans MT"/>
              </a:rPr>
              <a:t>Amazon’s </a:t>
            </a:r>
            <a:r>
              <a:rPr sz="2200" spc="-10" dirty="0">
                <a:solidFill>
                  <a:srgbClr val="535353"/>
                </a:solidFill>
                <a:latin typeface="Gill Sans MT"/>
                <a:cs typeface="Gill Sans MT"/>
              </a:rPr>
              <a:t>Dynamo </a:t>
            </a:r>
            <a:r>
              <a:rPr sz="2200" dirty="0">
                <a:solidFill>
                  <a:srgbClr val="535353"/>
                </a:solidFill>
                <a:latin typeface="Gill Sans MT"/>
                <a:cs typeface="Gill Sans MT"/>
              </a:rPr>
              <a:t>and </a:t>
            </a:r>
            <a:r>
              <a:rPr sz="2200" spc="-18" dirty="0">
                <a:solidFill>
                  <a:srgbClr val="535353"/>
                </a:solidFill>
                <a:latin typeface="Gill Sans MT"/>
                <a:cs typeface="Gill Sans MT"/>
              </a:rPr>
              <a:t>Google  </a:t>
            </a:r>
            <a:r>
              <a:rPr sz="2200" spc="-66" dirty="0">
                <a:solidFill>
                  <a:srgbClr val="535353"/>
                </a:solidFill>
                <a:latin typeface="Gill Sans MT"/>
                <a:cs typeface="Gill Sans MT"/>
              </a:rPr>
              <a:t>BigTable</a:t>
            </a:r>
            <a:r>
              <a:rPr sz="2200" spc="-25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535353"/>
                </a:solidFill>
                <a:latin typeface="Gill Sans MT"/>
                <a:cs typeface="Gill Sans MT"/>
              </a:rPr>
              <a:t>papers</a:t>
            </a:r>
            <a:endParaRPr sz="2200">
              <a:latin typeface="Gill Sans MT"/>
              <a:cs typeface="Gill Sans MT"/>
            </a:endParaRPr>
          </a:p>
          <a:p>
            <a:pPr marL="251609" indent="-245141">
              <a:spcBef>
                <a:spcPts val="2039"/>
              </a:spcBef>
              <a:buSzPct val="82352"/>
              <a:buChar char="•"/>
              <a:tabLst>
                <a:tab pos="251609" algn="l"/>
                <a:tab pos="251933" algn="l"/>
              </a:tabLst>
            </a:pPr>
            <a:r>
              <a:rPr sz="2200" spc="-13" dirty="0">
                <a:solidFill>
                  <a:srgbClr val="535353"/>
                </a:solidFill>
                <a:latin typeface="Gill Sans MT"/>
                <a:cs typeface="Gill Sans MT"/>
              </a:rPr>
              <a:t>Became </a:t>
            </a:r>
            <a:r>
              <a:rPr sz="2200" dirty="0">
                <a:solidFill>
                  <a:srgbClr val="535353"/>
                </a:solidFill>
                <a:latin typeface="Gill Sans MT"/>
                <a:cs typeface="Gill Sans MT"/>
              </a:rPr>
              <a:t>Apache </a:t>
            </a:r>
            <a:r>
              <a:rPr sz="2200" spc="-25" dirty="0">
                <a:solidFill>
                  <a:srgbClr val="535353"/>
                </a:solidFill>
                <a:latin typeface="Gill Sans MT"/>
                <a:cs typeface="Gill Sans MT"/>
              </a:rPr>
              <a:t>top-level </a:t>
            </a:r>
            <a:r>
              <a:rPr sz="2200" spc="-41" dirty="0">
                <a:solidFill>
                  <a:srgbClr val="535353"/>
                </a:solidFill>
                <a:latin typeface="Gill Sans MT"/>
                <a:cs typeface="Gill Sans MT"/>
              </a:rPr>
              <a:t>project </a:t>
            </a:r>
            <a:r>
              <a:rPr sz="2200" spc="-38" dirty="0">
                <a:solidFill>
                  <a:srgbClr val="535353"/>
                </a:solidFill>
                <a:latin typeface="Gill Sans MT"/>
                <a:cs typeface="Gill Sans MT"/>
              </a:rPr>
              <a:t>in </a:t>
            </a:r>
            <a:r>
              <a:rPr sz="2200" spc="-41" dirty="0">
                <a:solidFill>
                  <a:srgbClr val="535353"/>
                </a:solidFill>
                <a:latin typeface="Gill Sans MT"/>
                <a:cs typeface="Gill Sans MT"/>
              </a:rPr>
              <a:t>Feb,</a:t>
            </a:r>
            <a:r>
              <a:rPr sz="2200" spc="-166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200" spc="5" dirty="0">
                <a:solidFill>
                  <a:srgbClr val="535353"/>
                </a:solidFill>
                <a:latin typeface="Gill Sans MT"/>
                <a:cs typeface="Gill Sans MT"/>
              </a:rPr>
              <a:t>2010</a:t>
            </a:r>
            <a:endParaRPr sz="2200">
              <a:latin typeface="Gill Sans MT"/>
              <a:cs typeface="Gill Sans MT"/>
            </a:endParaRPr>
          </a:p>
          <a:p>
            <a:pPr marL="251609" indent="-245141">
              <a:spcBef>
                <a:spcPts val="2103"/>
              </a:spcBef>
              <a:buSzPct val="82352"/>
              <a:buChar char="•"/>
              <a:tabLst>
                <a:tab pos="251609" algn="l"/>
                <a:tab pos="251933" algn="l"/>
              </a:tabLst>
            </a:pPr>
            <a:r>
              <a:rPr sz="2200" spc="-23" dirty="0">
                <a:solidFill>
                  <a:srgbClr val="535353"/>
                </a:solidFill>
                <a:latin typeface="Gill Sans MT"/>
                <a:cs typeface="Gill Sans MT"/>
              </a:rPr>
              <a:t>Nowadays </a:t>
            </a:r>
            <a:r>
              <a:rPr sz="2200" spc="-8" dirty="0">
                <a:solidFill>
                  <a:srgbClr val="535353"/>
                </a:solidFill>
                <a:latin typeface="Gill Sans MT"/>
                <a:cs typeface="Gill Sans MT"/>
              </a:rPr>
              <a:t>developed </a:t>
            </a:r>
            <a:r>
              <a:rPr sz="2200" spc="-23" dirty="0">
                <a:solidFill>
                  <a:srgbClr val="535353"/>
                </a:solidFill>
                <a:latin typeface="Gill Sans MT"/>
                <a:cs typeface="Gill Sans MT"/>
              </a:rPr>
              <a:t>by</a:t>
            </a:r>
            <a:r>
              <a:rPr sz="2200" spc="15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200" spc="-15" dirty="0">
                <a:solidFill>
                  <a:srgbClr val="535353"/>
                </a:solidFill>
                <a:latin typeface="Gill Sans MT"/>
                <a:cs typeface="Gill Sans MT"/>
              </a:rPr>
              <a:t>DataStax</a:t>
            </a:r>
            <a:endParaRPr sz="2200">
              <a:latin typeface="Gill Sans MT"/>
              <a:cs typeface="Gill Sans M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18885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17077" y="869061"/>
            <a:ext cx="127706" cy="1243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1193"/>
            <a:ext cx="9144000" cy="17986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1092" y="6357575"/>
            <a:ext cx="826443" cy="153174"/>
          </a:xfrm>
          <a:prstGeom prst="rect">
            <a:avLst/>
          </a:prstGeom>
        </p:spPr>
        <p:txBody>
          <a:bodyPr vert="horz" wrap="square" lIns="0" tIns="8830" rIns="0" bIns="0" rtlCol="0">
            <a:spAutoFit/>
          </a:bodyPr>
          <a:lstStyle/>
          <a:p>
            <a:pPr marL="8830">
              <a:spcBef>
                <a:spcPts val="70"/>
              </a:spcBef>
            </a:pPr>
            <a:r>
              <a:rPr sz="900" dirty="0">
                <a:solidFill>
                  <a:srgbClr val="9B9B9B"/>
                </a:solidFill>
                <a:latin typeface="Book Antiqua"/>
                <a:cs typeface="Book Antiqua"/>
              </a:rPr>
              <a:t>©2012</a:t>
            </a:r>
            <a:r>
              <a:rPr sz="900" spc="-49" dirty="0">
                <a:solidFill>
                  <a:srgbClr val="9B9B9B"/>
                </a:solidFill>
                <a:latin typeface="Book Antiqua"/>
                <a:cs typeface="Book Antiqua"/>
              </a:rPr>
              <a:t> </a:t>
            </a:r>
            <a:r>
              <a:rPr sz="900" spc="-3" dirty="0">
                <a:solidFill>
                  <a:srgbClr val="9B9B9B"/>
                </a:solidFill>
                <a:latin typeface="Book Antiqua"/>
                <a:cs typeface="Book Antiqua"/>
              </a:rPr>
              <a:t>DataStax</a:t>
            </a:r>
            <a:endParaRPr sz="9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82203" y="565698"/>
            <a:ext cx="5903416" cy="685800"/>
          </a:xfrm>
          <a:prstGeom prst="rect">
            <a:avLst/>
          </a:prstGeom>
        </p:spPr>
        <p:txBody>
          <a:bodyPr vert="horz" wrap="square" lIns="0" tIns="8830" rIns="0" bIns="0" rtlCol="0">
            <a:spAutoFit/>
          </a:bodyPr>
          <a:lstStyle/>
          <a:p>
            <a:pPr marL="8830">
              <a:spcBef>
                <a:spcPts val="70"/>
              </a:spcBef>
            </a:pPr>
            <a:r>
              <a:rPr sz="4400" spc="-3" dirty="0"/>
              <a:t>Cassandra is </a:t>
            </a:r>
            <a:r>
              <a:rPr sz="4400" spc="-17" dirty="0"/>
              <a:t>great</a:t>
            </a:r>
            <a:r>
              <a:rPr sz="4400" spc="-31" dirty="0"/>
              <a:t> </a:t>
            </a:r>
            <a:r>
              <a:rPr sz="4400" spc="-59" dirty="0"/>
              <a:t>for...</a:t>
            </a:r>
            <a:endParaRPr sz="4400" dirty="0"/>
          </a:p>
        </p:txBody>
      </p:sp>
      <p:sp>
        <p:nvSpPr>
          <p:cNvPr id="7" name="object 7"/>
          <p:cNvSpPr txBox="1"/>
          <p:nvPr/>
        </p:nvSpPr>
        <p:spPr>
          <a:xfrm>
            <a:off x="8594824" y="6309708"/>
            <a:ext cx="178594" cy="208971"/>
          </a:xfrm>
          <a:prstGeom prst="rect">
            <a:avLst/>
          </a:prstGeom>
        </p:spPr>
        <p:txBody>
          <a:bodyPr vert="horz" wrap="square" lIns="0" tIns="8830" rIns="0" bIns="0" rtlCol="0">
            <a:spAutoFit/>
          </a:bodyPr>
          <a:lstStyle/>
          <a:p>
            <a:pPr marL="8830">
              <a:spcBef>
                <a:spcPts val="70"/>
              </a:spcBef>
            </a:pPr>
            <a:r>
              <a:rPr sz="1300" dirty="0">
                <a:solidFill>
                  <a:srgbClr val="9B9B9B"/>
                </a:solidFill>
                <a:latin typeface="Gill Sans MT"/>
                <a:cs typeface="Gill Sans MT"/>
              </a:rPr>
              <a:t>13</a:t>
            </a:r>
            <a:endParaRPr sz="130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5446" y="1488221"/>
            <a:ext cx="7933581" cy="3407282"/>
          </a:xfrm>
          <a:prstGeom prst="rect">
            <a:avLst/>
          </a:prstGeom>
        </p:spPr>
        <p:txBody>
          <a:bodyPr vert="horz" wrap="square" lIns="0" tIns="8830" rIns="0" bIns="0" rtlCol="0">
            <a:spAutoFit/>
          </a:bodyPr>
          <a:lstStyle/>
          <a:p>
            <a:pPr marL="406194" indent="-397364">
              <a:lnSpc>
                <a:spcPts val="2997"/>
              </a:lnSpc>
              <a:spcBef>
                <a:spcPts val="70"/>
              </a:spcBef>
              <a:buClr>
                <a:srgbClr val="007DC0"/>
              </a:buClr>
              <a:buSzPct val="170833"/>
              <a:buFont typeface="Lucida Sans"/>
              <a:buChar char="•"/>
              <a:tabLst>
                <a:tab pos="406194" algn="l"/>
              </a:tabLst>
            </a:pPr>
            <a:r>
              <a:rPr sz="2500" b="1" spc="-3" dirty="0">
                <a:solidFill>
                  <a:srgbClr val="15242D"/>
                </a:solidFill>
                <a:latin typeface="Lucida Sans"/>
                <a:cs typeface="Lucida Sans"/>
              </a:rPr>
              <a:t>Massive, </a:t>
            </a:r>
            <a:r>
              <a:rPr sz="2500" b="1" dirty="0">
                <a:solidFill>
                  <a:srgbClr val="15242D"/>
                </a:solidFill>
                <a:latin typeface="Lucida Sans"/>
                <a:cs typeface="Lucida Sans"/>
              </a:rPr>
              <a:t>linear</a:t>
            </a:r>
            <a:r>
              <a:rPr sz="2500" b="1" spc="17" dirty="0">
                <a:solidFill>
                  <a:srgbClr val="15242D"/>
                </a:solidFill>
                <a:latin typeface="Lucida Sans"/>
                <a:cs typeface="Lucida Sans"/>
              </a:rPr>
              <a:t> </a:t>
            </a:r>
            <a:r>
              <a:rPr sz="2500" b="1" spc="-3" dirty="0">
                <a:solidFill>
                  <a:srgbClr val="15242D"/>
                </a:solidFill>
                <a:latin typeface="Lucida Sans"/>
                <a:cs typeface="Lucida Sans"/>
              </a:rPr>
              <a:t>scaling</a:t>
            </a:r>
            <a:endParaRPr sz="2500">
              <a:latin typeface="Lucida Sans"/>
              <a:cs typeface="Lucida Sans"/>
            </a:endParaRPr>
          </a:p>
          <a:p>
            <a:pPr marL="406194">
              <a:lnSpc>
                <a:spcPts val="2997"/>
              </a:lnSpc>
              <a:tabLst>
                <a:tab pos="1186352" algn="l"/>
                <a:tab pos="2115301" algn="l"/>
                <a:tab pos="3311366" algn="l"/>
                <a:tab pos="4653573" algn="l"/>
              </a:tabLst>
            </a:pPr>
            <a:r>
              <a:rPr sz="2500" spc="-3" dirty="0">
                <a:solidFill>
                  <a:srgbClr val="15242D"/>
                </a:solidFill>
                <a:latin typeface="Lucida Sans Unicode"/>
                <a:cs typeface="Lucida Sans Unicode"/>
              </a:rPr>
              <a:t>(e.g.	</a:t>
            </a:r>
            <a:r>
              <a:rPr sz="2500" dirty="0">
                <a:solidFill>
                  <a:srgbClr val="15242D"/>
                </a:solidFill>
                <a:latin typeface="Lucida Sans Unicode"/>
                <a:cs typeface="Lucida Sans Unicode"/>
              </a:rPr>
              <a:t>CERN	</a:t>
            </a:r>
            <a:r>
              <a:rPr sz="2500" spc="-3" dirty="0">
                <a:solidFill>
                  <a:srgbClr val="15242D"/>
                </a:solidFill>
                <a:latin typeface="Lucida Sans Unicode"/>
                <a:cs typeface="Lucida Sans Unicode"/>
              </a:rPr>
              <a:t>hadron	collider,	Barracuda</a:t>
            </a:r>
            <a:r>
              <a:rPr sz="2500" spc="-35" dirty="0">
                <a:solidFill>
                  <a:srgbClr val="15242D"/>
                </a:solidFill>
                <a:latin typeface="Lucida Sans Unicode"/>
                <a:cs typeface="Lucida Sans Unicode"/>
              </a:rPr>
              <a:t> </a:t>
            </a:r>
            <a:r>
              <a:rPr sz="2500" spc="-3" dirty="0">
                <a:solidFill>
                  <a:srgbClr val="15242D"/>
                </a:solidFill>
                <a:latin typeface="Lucida Sans Unicode"/>
                <a:cs typeface="Lucida Sans Unicode"/>
              </a:rPr>
              <a:t>Networks)</a:t>
            </a:r>
            <a:endParaRPr sz="2500">
              <a:latin typeface="Lucida Sans Unicode"/>
              <a:cs typeface="Lucida Sans Unicode"/>
            </a:endParaRPr>
          </a:p>
          <a:p>
            <a:pPr marL="406194" indent="-397364">
              <a:lnSpc>
                <a:spcPts val="2997"/>
              </a:lnSpc>
              <a:spcBef>
                <a:spcPts val="1238"/>
              </a:spcBef>
              <a:buClr>
                <a:srgbClr val="007DC0"/>
              </a:buClr>
              <a:buSzPct val="170833"/>
              <a:buFont typeface="Lucida Sans"/>
              <a:buChar char="•"/>
              <a:tabLst>
                <a:tab pos="406194" algn="l"/>
              </a:tabLst>
            </a:pPr>
            <a:r>
              <a:rPr sz="2500" b="1" spc="-3" dirty="0">
                <a:solidFill>
                  <a:srgbClr val="15242D"/>
                </a:solidFill>
                <a:latin typeface="Lucida Sans"/>
                <a:cs typeface="Lucida Sans"/>
              </a:rPr>
              <a:t>Extremely heavy</a:t>
            </a:r>
            <a:r>
              <a:rPr sz="2500" b="1" spc="24" dirty="0">
                <a:solidFill>
                  <a:srgbClr val="15242D"/>
                </a:solidFill>
                <a:latin typeface="Lucida Sans"/>
                <a:cs typeface="Lucida Sans"/>
              </a:rPr>
              <a:t> </a:t>
            </a:r>
            <a:r>
              <a:rPr sz="2500" b="1" spc="-3" dirty="0">
                <a:solidFill>
                  <a:srgbClr val="15242D"/>
                </a:solidFill>
                <a:latin typeface="Lucida Sans"/>
                <a:cs typeface="Lucida Sans"/>
              </a:rPr>
              <a:t>writes</a:t>
            </a:r>
            <a:endParaRPr sz="2500">
              <a:latin typeface="Lucida Sans"/>
              <a:cs typeface="Lucida Sans"/>
            </a:endParaRPr>
          </a:p>
          <a:p>
            <a:pPr marL="406194">
              <a:lnSpc>
                <a:spcPts val="2997"/>
              </a:lnSpc>
              <a:tabLst>
                <a:tab pos="1186352" algn="l"/>
                <a:tab pos="3383333" algn="l"/>
                <a:tab pos="4557765" algn="l"/>
                <a:tab pos="4817375" algn="l"/>
                <a:tab pos="6215214" algn="l"/>
                <a:tab pos="6875279" algn="l"/>
              </a:tabLst>
            </a:pPr>
            <a:r>
              <a:rPr sz="2500" spc="-3" dirty="0">
                <a:solidFill>
                  <a:srgbClr val="15242D"/>
                </a:solidFill>
                <a:latin typeface="Lucida Sans Unicode"/>
                <a:cs typeface="Lucida Sans Unicode"/>
              </a:rPr>
              <a:t>(e.g.	BlueMountain	Capital	</a:t>
            </a:r>
            <a:r>
              <a:rPr sz="2500" dirty="0">
                <a:solidFill>
                  <a:srgbClr val="15242D"/>
                </a:solidFill>
                <a:latin typeface="Lucida Sans Unicode"/>
                <a:cs typeface="Lucida Sans Unicode"/>
              </a:rPr>
              <a:t>–	</a:t>
            </a:r>
            <a:r>
              <a:rPr sz="2500" spc="-7" dirty="0">
                <a:solidFill>
                  <a:srgbClr val="15242D"/>
                </a:solidFill>
                <a:latin typeface="Lucida Sans Unicode"/>
                <a:cs typeface="Lucida Sans Unicode"/>
              </a:rPr>
              <a:t>financial	</a:t>
            </a:r>
            <a:r>
              <a:rPr sz="2500" spc="-3" dirty="0">
                <a:solidFill>
                  <a:srgbClr val="15242D"/>
                </a:solidFill>
                <a:latin typeface="Lucida Sans Unicode"/>
                <a:cs typeface="Lucida Sans Unicode"/>
              </a:rPr>
              <a:t>tick	data)</a:t>
            </a:r>
            <a:endParaRPr sz="2500">
              <a:latin typeface="Lucida Sans Unicode"/>
              <a:cs typeface="Lucida Sans Unicode"/>
            </a:endParaRPr>
          </a:p>
          <a:p>
            <a:pPr marL="406194" indent="-397364">
              <a:lnSpc>
                <a:spcPts val="2997"/>
              </a:lnSpc>
              <a:spcBef>
                <a:spcPts val="1238"/>
              </a:spcBef>
              <a:buClr>
                <a:srgbClr val="007DC0"/>
              </a:buClr>
              <a:buSzPct val="170833"/>
              <a:buFont typeface="Lucida Sans"/>
              <a:buChar char="•"/>
              <a:tabLst>
                <a:tab pos="406194" algn="l"/>
              </a:tabLst>
            </a:pPr>
            <a:r>
              <a:rPr sz="2500" b="1" spc="-3" dirty="0">
                <a:solidFill>
                  <a:srgbClr val="15242D"/>
                </a:solidFill>
                <a:latin typeface="Lucida Sans"/>
                <a:cs typeface="Lucida Sans"/>
              </a:rPr>
              <a:t>High</a:t>
            </a:r>
            <a:r>
              <a:rPr sz="2500" b="1" dirty="0">
                <a:solidFill>
                  <a:srgbClr val="15242D"/>
                </a:solidFill>
                <a:latin typeface="Lucida Sans"/>
                <a:cs typeface="Lucida Sans"/>
              </a:rPr>
              <a:t> </a:t>
            </a:r>
            <a:r>
              <a:rPr sz="2500" b="1" spc="-3" dirty="0">
                <a:solidFill>
                  <a:srgbClr val="15242D"/>
                </a:solidFill>
                <a:latin typeface="Lucida Sans"/>
                <a:cs typeface="Lucida Sans"/>
              </a:rPr>
              <a:t>availability</a:t>
            </a:r>
            <a:endParaRPr sz="2500">
              <a:latin typeface="Lucida Sans"/>
              <a:cs typeface="Lucida Sans"/>
            </a:endParaRPr>
          </a:p>
          <a:p>
            <a:pPr marL="406194" marR="390741">
              <a:lnSpc>
                <a:spcPts val="2990"/>
              </a:lnSpc>
              <a:spcBef>
                <a:spcPts val="104"/>
              </a:spcBef>
              <a:tabLst>
                <a:tab pos="1186352" algn="l"/>
                <a:tab pos="2089251" algn="l"/>
                <a:tab pos="3579808" algn="l"/>
                <a:tab pos="3838536" algn="l"/>
                <a:tab pos="5063300" algn="l"/>
                <a:tab pos="6718983" algn="l"/>
              </a:tabLst>
            </a:pPr>
            <a:r>
              <a:rPr sz="2500" spc="-3" dirty="0">
                <a:solidFill>
                  <a:srgbClr val="15242D"/>
                </a:solidFill>
                <a:latin typeface="Lucida Sans Unicode"/>
                <a:cs typeface="Lucida Sans Unicode"/>
              </a:rPr>
              <a:t>(e.g.	eBay,	Eventbrite,	</a:t>
            </a:r>
            <a:r>
              <a:rPr sz="2500" spc="-7" dirty="0">
                <a:solidFill>
                  <a:srgbClr val="15242D"/>
                </a:solidFill>
                <a:latin typeface="Lucida Sans Unicode"/>
                <a:cs typeface="Lucida Sans Unicode"/>
              </a:rPr>
              <a:t>Netflix,	</a:t>
            </a:r>
            <a:r>
              <a:rPr sz="2500" spc="-3" dirty="0">
                <a:solidFill>
                  <a:srgbClr val="15242D"/>
                </a:solidFill>
                <a:latin typeface="Lucida Sans Unicode"/>
                <a:cs typeface="Lucida Sans Unicode"/>
              </a:rPr>
              <a:t>SoundCloud,  </a:t>
            </a:r>
            <a:r>
              <a:rPr sz="2500" dirty="0">
                <a:solidFill>
                  <a:srgbClr val="15242D"/>
                </a:solidFill>
                <a:latin typeface="Lucida Sans Unicode"/>
                <a:cs typeface="Lucida Sans Unicode"/>
              </a:rPr>
              <a:t>H</a:t>
            </a:r>
            <a:r>
              <a:rPr sz="2500" spc="-3" dirty="0">
                <a:solidFill>
                  <a:srgbClr val="15242D"/>
                </a:solidFill>
                <a:latin typeface="Lucida Sans Unicode"/>
                <a:cs typeface="Lucida Sans Unicode"/>
              </a:rPr>
              <a:t>eath</a:t>
            </a:r>
            <a:r>
              <a:rPr sz="2500" dirty="0">
                <a:solidFill>
                  <a:srgbClr val="15242D"/>
                </a:solidFill>
                <a:latin typeface="Lucida Sans Unicode"/>
                <a:cs typeface="Lucida Sans Unicode"/>
              </a:rPr>
              <a:t>C</a:t>
            </a:r>
            <a:r>
              <a:rPr sz="2500" spc="-3" dirty="0">
                <a:solidFill>
                  <a:srgbClr val="15242D"/>
                </a:solidFill>
                <a:latin typeface="Lucida Sans Unicode"/>
                <a:cs typeface="Lucida Sans Unicode"/>
              </a:rPr>
              <a:t>a</a:t>
            </a:r>
            <a:r>
              <a:rPr sz="2500" dirty="0">
                <a:solidFill>
                  <a:srgbClr val="15242D"/>
                </a:solidFill>
                <a:latin typeface="Lucida Sans Unicode"/>
                <a:cs typeface="Lucida Sans Unicode"/>
              </a:rPr>
              <a:t>re</a:t>
            </a:r>
            <a:r>
              <a:rPr sz="2500" spc="-3" dirty="0">
                <a:solidFill>
                  <a:srgbClr val="15242D"/>
                </a:solidFill>
                <a:latin typeface="Lucida Sans Unicode"/>
                <a:cs typeface="Lucida Sans Unicode"/>
              </a:rPr>
              <a:t> An</a:t>
            </a:r>
            <a:r>
              <a:rPr sz="2500" dirty="0">
                <a:solidFill>
                  <a:srgbClr val="15242D"/>
                </a:solidFill>
                <a:latin typeface="Lucida Sans Unicode"/>
                <a:cs typeface="Lucida Sans Unicode"/>
              </a:rPr>
              <a:t>y</a:t>
            </a:r>
            <a:r>
              <a:rPr sz="2500" spc="-3" dirty="0">
                <a:solidFill>
                  <a:srgbClr val="15242D"/>
                </a:solidFill>
                <a:latin typeface="Lucida Sans Unicode"/>
                <a:cs typeface="Lucida Sans Unicode"/>
              </a:rPr>
              <a:t>t</a:t>
            </a:r>
            <a:r>
              <a:rPr sz="2500" dirty="0">
                <a:solidFill>
                  <a:srgbClr val="15242D"/>
                </a:solidFill>
                <a:latin typeface="Lucida Sans Unicode"/>
                <a:cs typeface="Lucida Sans Unicode"/>
              </a:rPr>
              <a:t>im</a:t>
            </a:r>
            <a:r>
              <a:rPr sz="2500" spc="-3" dirty="0">
                <a:solidFill>
                  <a:srgbClr val="15242D"/>
                </a:solidFill>
                <a:latin typeface="Lucida Sans Unicode"/>
                <a:cs typeface="Lucida Sans Unicode"/>
              </a:rPr>
              <a:t>e</a:t>
            </a:r>
            <a:r>
              <a:rPr sz="2500" dirty="0">
                <a:solidFill>
                  <a:srgbClr val="15242D"/>
                </a:solidFill>
                <a:latin typeface="Lucida Sans Unicode"/>
                <a:cs typeface="Lucida Sans Unicode"/>
              </a:rPr>
              <a:t>,	Com</a:t>
            </a:r>
            <a:r>
              <a:rPr sz="2500" spc="-3" dirty="0">
                <a:solidFill>
                  <a:srgbClr val="15242D"/>
                </a:solidFill>
                <a:latin typeface="Lucida Sans Unicode"/>
                <a:cs typeface="Lucida Sans Unicode"/>
              </a:rPr>
              <a:t>ca</a:t>
            </a:r>
            <a:r>
              <a:rPr sz="2500" dirty="0">
                <a:solidFill>
                  <a:srgbClr val="15242D"/>
                </a:solidFill>
                <a:latin typeface="Lucida Sans Unicode"/>
                <a:cs typeface="Lucida Sans Unicode"/>
              </a:rPr>
              <a:t>s</a:t>
            </a:r>
            <a:r>
              <a:rPr sz="2500" spc="-3" dirty="0">
                <a:solidFill>
                  <a:srgbClr val="15242D"/>
                </a:solidFill>
                <a:latin typeface="Lucida Sans Unicode"/>
                <a:cs typeface="Lucida Sans Unicode"/>
              </a:rPr>
              <a:t>t</a:t>
            </a:r>
            <a:r>
              <a:rPr sz="2500" dirty="0">
                <a:solidFill>
                  <a:srgbClr val="15242D"/>
                </a:solidFill>
                <a:latin typeface="Lucida Sans Unicode"/>
                <a:cs typeface="Lucida Sans Unicode"/>
              </a:rPr>
              <a:t>, Go</a:t>
            </a:r>
            <a:r>
              <a:rPr sz="2500" spc="-3" dirty="0">
                <a:solidFill>
                  <a:srgbClr val="15242D"/>
                </a:solidFill>
                <a:latin typeface="Lucida Sans Unicode"/>
                <a:cs typeface="Lucida Sans Unicode"/>
              </a:rPr>
              <a:t>D</a:t>
            </a:r>
            <a:r>
              <a:rPr sz="2500" dirty="0">
                <a:solidFill>
                  <a:srgbClr val="15242D"/>
                </a:solidFill>
                <a:latin typeface="Lucida Sans Unicode"/>
                <a:cs typeface="Lucida Sans Unicode"/>
              </a:rPr>
              <a:t>addy,	So</a:t>
            </a:r>
            <a:r>
              <a:rPr sz="2500" spc="-3" dirty="0">
                <a:solidFill>
                  <a:srgbClr val="15242D"/>
                </a:solidFill>
                <a:latin typeface="Lucida Sans Unicode"/>
                <a:cs typeface="Lucida Sans Unicode"/>
              </a:rPr>
              <a:t>n</a:t>
            </a:r>
            <a:r>
              <a:rPr sz="2500" dirty="0">
                <a:solidFill>
                  <a:srgbClr val="15242D"/>
                </a:solidFill>
                <a:latin typeface="Lucida Sans Unicode"/>
                <a:cs typeface="Lucida Sans Unicode"/>
              </a:rPr>
              <a:t>y  </a:t>
            </a:r>
            <a:r>
              <a:rPr sz="2500" spc="-3" dirty="0">
                <a:solidFill>
                  <a:srgbClr val="15242D"/>
                </a:solidFill>
                <a:latin typeface="Lucida Sans Unicode"/>
                <a:cs typeface="Lucida Sans Unicode"/>
              </a:rPr>
              <a:t>Entertainment</a:t>
            </a:r>
            <a:r>
              <a:rPr sz="2500" spc="-31" dirty="0">
                <a:solidFill>
                  <a:srgbClr val="15242D"/>
                </a:solidFill>
                <a:latin typeface="Lucida Sans Unicode"/>
                <a:cs typeface="Lucida Sans Unicode"/>
              </a:rPr>
              <a:t> </a:t>
            </a:r>
            <a:r>
              <a:rPr sz="2500" spc="-3" dirty="0">
                <a:solidFill>
                  <a:srgbClr val="15242D"/>
                </a:solidFill>
                <a:latin typeface="Lucida Sans Unicode"/>
                <a:cs typeface="Lucida Sans Unicode"/>
              </a:rPr>
              <a:t>Network)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9144000" cy="6683939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0" y="9753600"/>
                </a:moveTo>
                <a:lnTo>
                  <a:pt x="13004800" y="9753600"/>
                </a:lnTo>
                <a:lnTo>
                  <a:pt x="13004800" y="0"/>
                </a:lnTo>
                <a:lnTo>
                  <a:pt x="0" y="0"/>
                </a:lnTo>
                <a:lnTo>
                  <a:pt x="0" y="9753600"/>
                </a:lnTo>
                <a:close/>
              </a:path>
            </a:pathLst>
          </a:custGeom>
          <a:ln w="12700">
            <a:solidFill>
              <a:srgbClr val="4C4C4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Cassandra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2011079"/>
            <a:ext cx="9906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Arial"/>
                <a:cs typeface="Arial"/>
              </a:rPr>
              <a:t>•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0087" y="1981200"/>
            <a:ext cx="6784340" cy="70358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40"/>
              </a:spcBef>
            </a:pPr>
            <a:r>
              <a:rPr sz="2200" dirty="0">
                <a:latin typeface="Verdana"/>
                <a:cs typeface="Verdana"/>
              </a:rPr>
              <a:t>A </a:t>
            </a:r>
            <a:r>
              <a:rPr sz="2200" spc="-5" dirty="0">
                <a:latin typeface="Verdana"/>
                <a:cs typeface="Verdana"/>
              </a:rPr>
              <a:t>Linearly Scaling and </a:t>
            </a:r>
            <a:r>
              <a:rPr sz="2200" spc="-25" dirty="0">
                <a:latin typeface="Verdana"/>
                <a:cs typeface="Verdana"/>
              </a:rPr>
              <a:t>Fault </a:t>
            </a:r>
            <a:r>
              <a:rPr sz="2200" spc="-40" dirty="0">
                <a:latin typeface="Verdana"/>
                <a:cs typeface="Verdana"/>
              </a:rPr>
              <a:t>Tolerant </a:t>
            </a:r>
            <a:r>
              <a:rPr sz="2200" spc="-5" dirty="0">
                <a:latin typeface="Verdana"/>
                <a:cs typeface="Verdana"/>
              </a:rPr>
              <a:t>Distributed  Database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3173891"/>
            <a:ext cx="9906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Arial"/>
                <a:cs typeface="Arial"/>
              </a:rPr>
              <a:t>•</a:t>
            </a:r>
            <a:endParaRPr sz="16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0087" y="3144012"/>
            <a:ext cx="232473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latin typeface="Verdana"/>
                <a:cs typeface="Verdana"/>
              </a:rPr>
              <a:t>Fully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Distributed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3479799"/>
            <a:ext cx="4008120" cy="136271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570"/>
              </a:spcBef>
              <a:buFont typeface="Arial"/>
              <a:buChar char="–"/>
              <a:tabLst>
                <a:tab pos="297815" algn="l"/>
                <a:tab pos="298450" algn="l"/>
              </a:tabLst>
            </a:pPr>
            <a:r>
              <a:rPr sz="1800" spc="-5" dirty="0">
                <a:latin typeface="Verdana"/>
                <a:cs typeface="Verdana"/>
              </a:rPr>
              <a:t>Data spread </a:t>
            </a:r>
            <a:r>
              <a:rPr sz="1800" spc="-10" dirty="0">
                <a:latin typeface="Verdana"/>
                <a:cs typeface="Verdana"/>
              </a:rPr>
              <a:t>over </a:t>
            </a:r>
            <a:r>
              <a:rPr sz="1800" spc="-5" dirty="0">
                <a:latin typeface="Verdana"/>
                <a:cs typeface="Verdana"/>
              </a:rPr>
              <a:t>many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nodes</a:t>
            </a:r>
            <a:endParaRPr sz="1800" dirty="0">
              <a:latin typeface="Verdana"/>
              <a:cs typeface="Verdana"/>
            </a:endParaRPr>
          </a:p>
          <a:p>
            <a:pPr marL="298450" indent="-285750">
              <a:lnSpc>
                <a:spcPct val="100000"/>
              </a:lnSpc>
              <a:spcBef>
                <a:spcPts val="470"/>
              </a:spcBef>
              <a:buFont typeface="Arial"/>
              <a:buChar char="–"/>
              <a:tabLst>
                <a:tab pos="297815" algn="l"/>
                <a:tab pos="298450" algn="l"/>
              </a:tabLst>
            </a:pPr>
            <a:r>
              <a:rPr sz="1800" spc="-5" dirty="0">
                <a:latin typeface="Verdana"/>
                <a:cs typeface="Verdana"/>
              </a:rPr>
              <a:t>All nodes participate in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cluster</a:t>
            </a:r>
            <a:endParaRPr sz="1800" dirty="0">
              <a:latin typeface="Verdana"/>
              <a:cs typeface="Verdana"/>
            </a:endParaRPr>
          </a:p>
          <a:p>
            <a:pPr marL="298450" indent="-285750">
              <a:lnSpc>
                <a:spcPct val="100000"/>
              </a:lnSpc>
              <a:spcBef>
                <a:spcPts val="470"/>
              </a:spcBef>
              <a:buFont typeface="Arial"/>
              <a:buChar char="–"/>
              <a:tabLst>
                <a:tab pos="297815" algn="l"/>
                <a:tab pos="298450" algn="l"/>
              </a:tabLst>
            </a:pPr>
            <a:r>
              <a:rPr sz="1800" spc="-5" dirty="0">
                <a:latin typeface="Verdana"/>
                <a:cs typeface="Verdana"/>
              </a:rPr>
              <a:t>All nodes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equal</a:t>
            </a:r>
            <a:endParaRPr sz="1800" dirty="0">
              <a:latin typeface="Verdana"/>
              <a:cs typeface="Verdana"/>
            </a:endParaRPr>
          </a:p>
          <a:p>
            <a:pPr marL="298450" indent="-285750">
              <a:lnSpc>
                <a:spcPct val="100000"/>
              </a:lnSpc>
              <a:spcBef>
                <a:spcPts val="470"/>
              </a:spcBef>
              <a:buFont typeface="Arial"/>
              <a:buChar char="–"/>
              <a:tabLst>
                <a:tab pos="297815" algn="l"/>
                <a:tab pos="298450" algn="l"/>
              </a:tabLst>
            </a:pPr>
            <a:r>
              <a:rPr sz="1800" spc="-5" dirty="0">
                <a:latin typeface="Verdana"/>
                <a:cs typeface="Verdana"/>
              </a:rPr>
              <a:t>No SPOF (shared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nothing)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55714" y="5475027"/>
            <a:ext cx="984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88888"/>
                </a:solidFill>
                <a:latin typeface="Verdana"/>
                <a:cs typeface="Verdana"/>
              </a:rPr>
              <a:t>8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967009" y="2945827"/>
            <a:ext cx="1869439" cy="1824355"/>
          </a:xfrm>
          <a:custGeom>
            <a:avLst/>
            <a:gdLst/>
            <a:ahLst/>
            <a:cxnLst/>
            <a:rect l="l" t="t" r="r" b="b"/>
            <a:pathLst>
              <a:path w="1869440" h="1824354">
                <a:moveTo>
                  <a:pt x="1595656" y="267143"/>
                </a:moveTo>
                <a:lnTo>
                  <a:pt x="1629848" y="302289"/>
                </a:lnTo>
                <a:lnTo>
                  <a:pt x="1661761" y="338728"/>
                </a:lnTo>
                <a:lnTo>
                  <a:pt x="1691394" y="376370"/>
                </a:lnTo>
                <a:lnTo>
                  <a:pt x="1718747" y="415127"/>
                </a:lnTo>
                <a:lnTo>
                  <a:pt x="1743821" y="454909"/>
                </a:lnTo>
                <a:lnTo>
                  <a:pt x="1766616" y="495626"/>
                </a:lnTo>
                <a:lnTo>
                  <a:pt x="1787131" y="537191"/>
                </a:lnTo>
                <a:lnTo>
                  <a:pt x="1805366" y="579513"/>
                </a:lnTo>
                <a:lnTo>
                  <a:pt x="1821323" y="622504"/>
                </a:lnTo>
                <a:lnTo>
                  <a:pt x="1834999" y="666075"/>
                </a:lnTo>
                <a:lnTo>
                  <a:pt x="1846397" y="710135"/>
                </a:lnTo>
                <a:lnTo>
                  <a:pt x="1855515" y="754597"/>
                </a:lnTo>
                <a:lnTo>
                  <a:pt x="1862353" y="799371"/>
                </a:lnTo>
                <a:lnTo>
                  <a:pt x="1866912" y="844368"/>
                </a:lnTo>
                <a:lnTo>
                  <a:pt x="1869191" y="889498"/>
                </a:lnTo>
                <a:lnTo>
                  <a:pt x="1869191" y="934673"/>
                </a:lnTo>
                <a:lnTo>
                  <a:pt x="1866912" y="979803"/>
                </a:lnTo>
                <a:lnTo>
                  <a:pt x="1862353" y="1024800"/>
                </a:lnTo>
                <a:lnTo>
                  <a:pt x="1855515" y="1069574"/>
                </a:lnTo>
                <a:lnTo>
                  <a:pt x="1846397" y="1114036"/>
                </a:lnTo>
                <a:lnTo>
                  <a:pt x="1834999" y="1158096"/>
                </a:lnTo>
                <a:lnTo>
                  <a:pt x="1821323" y="1201666"/>
                </a:lnTo>
                <a:lnTo>
                  <a:pt x="1805366" y="1244657"/>
                </a:lnTo>
                <a:lnTo>
                  <a:pt x="1787131" y="1286980"/>
                </a:lnTo>
                <a:lnTo>
                  <a:pt x="1766616" y="1328544"/>
                </a:lnTo>
                <a:lnTo>
                  <a:pt x="1743821" y="1369262"/>
                </a:lnTo>
                <a:lnTo>
                  <a:pt x="1718747" y="1409044"/>
                </a:lnTo>
                <a:lnTo>
                  <a:pt x="1691394" y="1447800"/>
                </a:lnTo>
                <a:lnTo>
                  <a:pt x="1661761" y="1485442"/>
                </a:lnTo>
                <a:lnTo>
                  <a:pt x="1629848" y="1521881"/>
                </a:lnTo>
                <a:lnTo>
                  <a:pt x="1595656" y="1557027"/>
                </a:lnTo>
                <a:lnTo>
                  <a:pt x="1560778" y="1589377"/>
                </a:lnTo>
                <a:lnTo>
                  <a:pt x="1524654" y="1619639"/>
                </a:lnTo>
                <a:lnTo>
                  <a:pt x="1487366" y="1647814"/>
                </a:lnTo>
                <a:lnTo>
                  <a:pt x="1448999" y="1673903"/>
                </a:lnTo>
                <a:lnTo>
                  <a:pt x="1409635" y="1697904"/>
                </a:lnTo>
                <a:lnTo>
                  <a:pt x="1369357" y="1719818"/>
                </a:lnTo>
                <a:lnTo>
                  <a:pt x="1328248" y="1739645"/>
                </a:lnTo>
                <a:lnTo>
                  <a:pt x="1286392" y="1757385"/>
                </a:lnTo>
                <a:lnTo>
                  <a:pt x="1243871" y="1773038"/>
                </a:lnTo>
                <a:lnTo>
                  <a:pt x="1200769" y="1786604"/>
                </a:lnTo>
                <a:lnTo>
                  <a:pt x="1157168" y="1798083"/>
                </a:lnTo>
                <a:lnTo>
                  <a:pt x="1113152" y="1807475"/>
                </a:lnTo>
                <a:lnTo>
                  <a:pt x="1068804" y="1814779"/>
                </a:lnTo>
                <a:lnTo>
                  <a:pt x="1024206" y="1819997"/>
                </a:lnTo>
                <a:lnTo>
                  <a:pt x="979442" y="1823127"/>
                </a:lnTo>
                <a:lnTo>
                  <a:pt x="934596" y="1824171"/>
                </a:lnTo>
                <a:lnTo>
                  <a:pt x="889749" y="1823127"/>
                </a:lnTo>
                <a:lnTo>
                  <a:pt x="844985" y="1819997"/>
                </a:lnTo>
                <a:lnTo>
                  <a:pt x="800387" y="1814779"/>
                </a:lnTo>
                <a:lnTo>
                  <a:pt x="756039" y="1807475"/>
                </a:lnTo>
                <a:lnTo>
                  <a:pt x="712023" y="1798083"/>
                </a:lnTo>
                <a:lnTo>
                  <a:pt x="668422" y="1786604"/>
                </a:lnTo>
                <a:lnTo>
                  <a:pt x="625320" y="1773038"/>
                </a:lnTo>
                <a:lnTo>
                  <a:pt x="582799" y="1757385"/>
                </a:lnTo>
                <a:lnTo>
                  <a:pt x="540943" y="1739645"/>
                </a:lnTo>
                <a:lnTo>
                  <a:pt x="499834" y="1719818"/>
                </a:lnTo>
                <a:lnTo>
                  <a:pt x="459556" y="1697904"/>
                </a:lnTo>
                <a:lnTo>
                  <a:pt x="420192" y="1673903"/>
                </a:lnTo>
                <a:lnTo>
                  <a:pt x="381825" y="1647814"/>
                </a:lnTo>
                <a:lnTo>
                  <a:pt x="344537" y="1619639"/>
                </a:lnTo>
                <a:lnTo>
                  <a:pt x="308413" y="1589377"/>
                </a:lnTo>
                <a:lnTo>
                  <a:pt x="273535" y="1557027"/>
                </a:lnTo>
                <a:lnTo>
                  <a:pt x="239343" y="1521881"/>
                </a:lnTo>
                <a:lnTo>
                  <a:pt x="207430" y="1485442"/>
                </a:lnTo>
                <a:lnTo>
                  <a:pt x="177797" y="1447800"/>
                </a:lnTo>
                <a:lnTo>
                  <a:pt x="150444" y="1409044"/>
                </a:lnTo>
                <a:lnTo>
                  <a:pt x="125370" y="1369262"/>
                </a:lnTo>
                <a:lnTo>
                  <a:pt x="102575" y="1328544"/>
                </a:lnTo>
                <a:lnTo>
                  <a:pt x="82060" y="1286980"/>
                </a:lnTo>
                <a:lnTo>
                  <a:pt x="63824" y="1244657"/>
                </a:lnTo>
                <a:lnTo>
                  <a:pt x="47868" y="1201666"/>
                </a:lnTo>
                <a:lnTo>
                  <a:pt x="34191" y="1158096"/>
                </a:lnTo>
                <a:lnTo>
                  <a:pt x="22794" y="1114036"/>
                </a:lnTo>
                <a:lnTo>
                  <a:pt x="13676" y="1069574"/>
                </a:lnTo>
                <a:lnTo>
                  <a:pt x="6838" y="1024800"/>
                </a:lnTo>
                <a:lnTo>
                  <a:pt x="2279" y="979803"/>
                </a:lnTo>
                <a:lnTo>
                  <a:pt x="0" y="934673"/>
                </a:lnTo>
                <a:lnTo>
                  <a:pt x="0" y="889498"/>
                </a:lnTo>
                <a:lnTo>
                  <a:pt x="2279" y="844368"/>
                </a:lnTo>
                <a:lnTo>
                  <a:pt x="6838" y="799371"/>
                </a:lnTo>
                <a:lnTo>
                  <a:pt x="13676" y="754597"/>
                </a:lnTo>
                <a:lnTo>
                  <a:pt x="22794" y="710135"/>
                </a:lnTo>
                <a:lnTo>
                  <a:pt x="34191" y="666075"/>
                </a:lnTo>
                <a:lnTo>
                  <a:pt x="47868" y="622504"/>
                </a:lnTo>
                <a:lnTo>
                  <a:pt x="63824" y="579513"/>
                </a:lnTo>
                <a:lnTo>
                  <a:pt x="82060" y="537191"/>
                </a:lnTo>
                <a:lnTo>
                  <a:pt x="102575" y="495626"/>
                </a:lnTo>
                <a:lnTo>
                  <a:pt x="125370" y="454909"/>
                </a:lnTo>
                <a:lnTo>
                  <a:pt x="150444" y="415127"/>
                </a:lnTo>
                <a:lnTo>
                  <a:pt x="177797" y="376370"/>
                </a:lnTo>
                <a:lnTo>
                  <a:pt x="207430" y="338728"/>
                </a:lnTo>
                <a:lnTo>
                  <a:pt x="239343" y="302289"/>
                </a:lnTo>
                <a:lnTo>
                  <a:pt x="273535" y="267143"/>
                </a:lnTo>
                <a:lnTo>
                  <a:pt x="308413" y="234794"/>
                </a:lnTo>
                <a:lnTo>
                  <a:pt x="344537" y="204531"/>
                </a:lnTo>
                <a:lnTo>
                  <a:pt x="381825" y="176356"/>
                </a:lnTo>
                <a:lnTo>
                  <a:pt x="420192" y="150268"/>
                </a:lnTo>
                <a:lnTo>
                  <a:pt x="459556" y="126267"/>
                </a:lnTo>
                <a:lnTo>
                  <a:pt x="499834" y="104353"/>
                </a:lnTo>
                <a:lnTo>
                  <a:pt x="540943" y="84525"/>
                </a:lnTo>
                <a:lnTo>
                  <a:pt x="582799" y="66785"/>
                </a:lnTo>
                <a:lnTo>
                  <a:pt x="625320" y="51132"/>
                </a:lnTo>
                <a:lnTo>
                  <a:pt x="668422" y="37567"/>
                </a:lnTo>
                <a:lnTo>
                  <a:pt x="712023" y="26088"/>
                </a:lnTo>
                <a:lnTo>
                  <a:pt x="756039" y="16696"/>
                </a:lnTo>
                <a:lnTo>
                  <a:pt x="800387" y="9391"/>
                </a:lnTo>
                <a:lnTo>
                  <a:pt x="844985" y="4174"/>
                </a:lnTo>
                <a:lnTo>
                  <a:pt x="889749" y="1043"/>
                </a:lnTo>
                <a:lnTo>
                  <a:pt x="934596" y="0"/>
                </a:lnTo>
                <a:lnTo>
                  <a:pt x="979442" y="1043"/>
                </a:lnTo>
                <a:lnTo>
                  <a:pt x="1024206" y="4174"/>
                </a:lnTo>
                <a:lnTo>
                  <a:pt x="1068804" y="9391"/>
                </a:lnTo>
                <a:lnTo>
                  <a:pt x="1113152" y="16696"/>
                </a:lnTo>
                <a:lnTo>
                  <a:pt x="1157168" y="26088"/>
                </a:lnTo>
                <a:lnTo>
                  <a:pt x="1200769" y="37567"/>
                </a:lnTo>
                <a:lnTo>
                  <a:pt x="1243871" y="51132"/>
                </a:lnTo>
                <a:lnTo>
                  <a:pt x="1286392" y="66785"/>
                </a:lnTo>
                <a:lnTo>
                  <a:pt x="1328248" y="84525"/>
                </a:lnTo>
                <a:lnTo>
                  <a:pt x="1369357" y="104353"/>
                </a:lnTo>
                <a:lnTo>
                  <a:pt x="1409635" y="126267"/>
                </a:lnTo>
                <a:lnTo>
                  <a:pt x="1448999" y="150268"/>
                </a:lnTo>
                <a:lnTo>
                  <a:pt x="1487366" y="176356"/>
                </a:lnTo>
                <a:lnTo>
                  <a:pt x="1524654" y="204531"/>
                </a:lnTo>
                <a:lnTo>
                  <a:pt x="1560778" y="234794"/>
                </a:lnTo>
                <a:lnTo>
                  <a:pt x="1595656" y="267143"/>
                </a:lnTo>
                <a:close/>
              </a:path>
            </a:pathLst>
          </a:custGeom>
          <a:ln w="101600">
            <a:solidFill>
              <a:srgbClr val="1F49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14678" y="2666566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19">
                <a:moveTo>
                  <a:pt x="274965" y="0"/>
                </a:moveTo>
                <a:lnTo>
                  <a:pt x="225539" y="4253"/>
                </a:lnTo>
                <a:lnTo>
                  <a:pt x="179020" y="16517"/>
                </a:lnTo>
                <a:lnTo>
                  <a:pt x="136185" y="36045"/>
                </a:lnTo>
                <a:lnTo>
                  <a:pt x="97808" y="62091"/>
                </a:lnTo>
                <a:lnTo>
                  <a:pt x="64668" y="93911"/>
                </a:lnTo>
                <a:lnTo>
                  <a:pt x="37540" y="130759"/>
                </a:lnTo>
                <a:lnTo>
                  <a:pt x="17202" y="171888"/>
                </a:lnTo>
                <a:lnTo>
                  <a:pt x="4430" y="216554"/>
                </a:lnTo>
                <a:lnTo>
                  <a:pt x="0" y="264010"/>
                </a:lnTo>
                <a:lnTo>
                  <a:pt x="4430" y="311466"/>
                </a:lnTo>
                <a:lnTo>
                  <a:pt x="17202" y="356131"/>
                </a:lnTo>
                <a:lnTo>
                  <a:pt x="37540" y="397261"/>
                </a:lnTo>
                <a:lnTo>
                  <a:pt x="64668" y="434108"/>
                </a:lnTo>
                <a:lnTo>
                  <a:pt x="97808" y="465928"/>
                </a:lnTo>
                <a:lnTo>
                  <a:pt x="136185" y="491975"/>
                </a:lnTo>
                <a:lnTo>
                  <a:pt x="179020" y="511503"/>
                </a:lnTo>
                <a:lnTo>
                  <a:pt x="225539" y="523766"/>
                </a:lnTo>
                <a:lnTo>
                  <a:pt x="274965" y="528020"/>
                </a:lnTo>
                <a:lnTo>
                  <a:pt x="324390" y="523766"/>
                </a:lnTo>
                <a:lnTo>
                  <a:pt x="370909" y="511503"/>
                </a:lnTo>
                <a:lnTo>
                  <a:pt x="413745" y="491975"/>
                </a:lnTo>
                <a:lnTo>
                  <a:pt x="452121" y="465928"/>
                </a:lnTo>
                <a:lnTo>
                  <a:pt x="485261" y="434108"/>
                </a:lnTo>
                <a:lnTo>
                  <a:pt x="512389" y="397261"/>
                </a:lnTo>
                <a:lnTo>
                  <a:pt x="532727" y="356131"/>
                </a:lnTo>
                <a:lnTo>
                  <a:pt x="545500" y="311466"/>
                </a:lnTo>
                <a:lnTo>
                  <a:pt x="549930" y="264010"/>
                </a:lnTo>
                <a:lnTo>
                  <a:pt x="545500" y="216554"/>
                </a:lnTo>
                <a:lnTo>
                  <a:pt x="532727" y="171888"/>
                </a:lnTo>
                <a:lnTo>
                  <a:pt x="512389" y="130759"/>
                </a:lnTo>
                <a:lnTo>
                  <a:pt x="485261" y="93911"/>
                </a:lnTo>
                <a:lnTo>
                  <a:pt x="452121" y="62091"/>
                </a:lnTo>
                <a:lnTo>
                  <a:pt x="413745" y="36045"/>
                </a:lnTo>
                <a:lnTo>
                  <a:pt x="370909" y="16517"/>
                </a:lnTo>
                <a:lnTo>
                  <a:pt x="324390" y="4253"/>
                </a:lnTo>
                <a:lnTo>
                  <a:pt x="274965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614678" y="2666566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19">
                <a:moveTo>
                  <a:pt x="0" y="264010"/>
                </a:moveTo>
                <a:lnTo>
                  <a:pt x="4430" y="216553"/>
                </a:lnTo>
                <a:lnTo>
                  <a:pt x="17202" y="171888"/>
                </a:lnTo>
                <a:lnTo>
                  <a:pt x="37540" y="130759"/>
                </a:lnTo>
                <a:lnTo>
                  <a:pt x="64668" y="93911"/>
                </a:lnTo>
                <a:lnTo>
                  <a:pt x="97808" y="62091"/>
                </a:lnTo>
                <a:lnTo>
                  <a:pt x="136184" y="36045"/>
                </a:lnTo>
                <a:lnTo>
                  <a:pt x="179020" y="16517"/>
                </a:lnTo>
                <a:lnTo>
                  <a:pt x="225539" y="4253"/>
                </a:lnTo>
                <a:lnTo>
                  <a:pt x="274965" y="0"/>
                </a:lnTo>
                <a:lnTo>
                  <a:pt x="324390" y="4253"/>
                </a:lnTo>
                <a:lnTo>
                  <a:pt x="370909" y="16517"/>
                </a:lnTo>
                <a:lnTo>
                  <a:pt x="413745" y="36045"/>
                </a:lnTo>
                <a:lnTo>
                  <a:pt x="452121" y="62091"/>
                </a:lnTo>
                <a:lnTo>
                  <a:pt x="485261" y="93911"/>
                </a:lnTo>
                <a:lnTo>
                  <a:pt x="512389" y="130759"/>
                </a:lnTo>
                <a:lnTo>
                  <a:pt x="532727" y="171888"/>
                </a:lnTo>
                <a:lnTo>
                  <a:pt x="545499" y="216553"/>
                </a:lnTo>
                <a:lnTo>
                  <a:pt x="549929" y="264010"/>
                </a:lnTo>
                <a:lnTo>
                  <a:pt x="545499" y="311466"/>
                </a:lnTo>
                <a:lnTo>
                  <a:pt x="532727" y="356131"/>
                </a:lnTo>
                <a:lnTo>
                  <a:pt x="512389" y="397260"/>
                </a:lnTo>
                <a:lnTo>
                  <a:pt x="485261" y="434108"/>
                </a:lnTo>
                <a:lnTo>
                  <a:pt x="452121" y="465928"/>
                </a:lnTo>
                <a:lnTo>
                  <a:pt x="413745" y="491974"/>
                </a:lnTo>
                <a:lnTo>
                  <a:pt x="370909" y="511502"/>
                </a:lnTo>
                <a:lnTo>
                  <a:pt x="324390" y="523766"/>
                </a:lnTo>
                <a:lnTo>
                  <a:pt x="274965" y="528020"/>
                </a:lnTo>
                <a:lnTo>
                  <a:pt x="225539" y="523766"/>
                </a:lnTo>
                <a:lnTo>
                  <a:pt x="179020" y="511502"/>
                </a:lnTo>
                <a:lnTo>
                  <a:pt x="136184" y="491974"/>
                </a:lnTo>
                <a:lnTo>
                  <a:pt x="97808" y="465928"/>
                </a:lnTo>
                <a:lnTo>
                  <a:pt x="64668" y="434108"/>
                </a:lnTo>
                <a:lnTo>
                  <a:pt x="37540" y="397260"/>
                </a:lnTo>
                <a:lnTo>
                  <a:pt x="17202" y="356131"/>
                </a:lnTo>
                <a:lnTo>
                  <a:pt x="4430" y="311466"/>
                </a:lnTo>
                <a:lnTo>
                  <a:pt x="0" y="26401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507432" y="3335773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19">
                <a:moveTo>
                  <a:pt x="274965" y="0"/>
                </a:moveTo>
                <a:lnTo>
                  <a:pt x="225539" y="4253"/>
                </a:lnTo>
                <a:lnTo>
                  <a:pt x="179020" y="16517"/>
                </a:lnTo>
                <a:lnTo>
                  <a:pt x="136185" y="36045"/>
                </a:lnTo>
                <a:lnTo>
                  <a:pt x="97808" y="62091"/>
                </a:lnTo>
                <a:lnTo>
                  <a:pt x="64668" y="93911"/>
                </a:lnTo>
                <a:lnTo>
                  <a:pt x="37540" y="130759"/>
                </a:lnTo>
                <a:lnTo>
                  <a:pt x="17202" y="171888"/>
                </a:lnTo>
                <a:lnTo>
                  <a:pt x="4430" y="216554"/>
                </a:lnTo>
                <a:lnTo>
                  <a:pt x="0" y="264010"/>
                </a:lnTo>
                <a:lnTo>
                  <a:pt x="4430" y="311465"/>
                </a:lnTo>
                <a:lnTo>
                  <a:pt x="17202" y="356131"/>
                </a:lnTo>
                <a:lnTo>
                  <a:pt x="37540" y="397260"/>
                </a:lnTo>
                <a:lnTo>
                  <a:pt x="64668" y="434107"/>
                </a:lnTo>
                <a:lnTo>
                  <a:pt x="97808" y="465927"/>
                </a:lnTo>
                <a:lnTo>
                  <a:pt x="136185" y="491973"/>
                </a:lnTo>
                <a:lnTo>
                  <a:pt x="179020" y="511501"/>
                </a:lnTo>
                <a:lnTo>
                  <a:pt x="225539" y="523765"/>
                </a:lnTo>
                <a:lnTo>
                  <a:pt x="274965" y="528019"/>
                </a:lnTo>
                <a:lnTo>
                  <a:pt x="324390" y="523765"/>
                </a:lnTo>
                <a:lnTo>
                  <a:pt x="370909" y="511501"/>
                </a:lnTo>
                <a:lnTo>
                  <a:pt x="413745" y="491973"/>
                </a:lnTo>
                <a:lnTo>
                  <a:pt x="452121" y="465927"/>
                </a:lnTo>
                <a:lnTo>
                  <a:pt x="485261" y="434107"/>
                </a:lnTo>
                <a:lnTo>
                  <a:pt x="512389" y="397260"/>
                </a:lnTo>
                <a:lnTo>
                  <a:pt x="532727" y="356131"/>
                </a:lnTo>
                <a:lnTo>
                  <a:pt x="545500" y="311465"/>
                </a:lnTo>
                <a:lnTo>
                  <a:pt x="549930" y="264010"/>
                </a:lnTo>
                <a:lnTo>
                  <a:pt x="545500" y="216554"/>
                </a:lnTo>
                <a:lnTo>
                  <a:pt x="532727" y="171888"/>
                </a:lnTo>
                <a:lnTo>
                  <a:pt x="512389" y="130759"/>
                </a:lnTo>
                <a:lnTo>
                  <a:pt x="485261" y="93911"/>
                </a:lnTo>
                <a:lnTo>
                  <a:pt x="452121" y="62091"/>
                </a:lnTo>
                <a:lnTo>
                  <a:pt x="413745" y="36045"/>
                </a:lnTo>
                <a:lnTo>
                  <a:pt x="370909" y="16517"/>
                </a:lnTo>
                <a:lnTo>
                  <a:pt x="324390" y="4253"/>
                </a:lnTo>
                <a:lnTo>
                  <a:pt x="274965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507432" y="3335773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19">
                <a:moveTo>
                  <a:pt x="0" y="264010"/>
                </a:moveTo>
                <a:lnTo>
                  <a:pt x="4430" y="216553"/>
                </a:lnTo>
                <a:lnTo>
                  <a:pt x="17202" y="171888"/>
                </a:lnTo>
                <a:lnTo>
                  <a:pt x="37540" y="130759"/>
                </a:lnTo>
                <a:lnTo>
                  <a:pt x="64668" y="93911"/>
                </a:lnTo>
                <a:lnTo>
                  <a:pt x="97808" y="62091"/>
                </a:lnTo>
                <a:lnTo>
                  <a:pt x="136184" y="36045"/>
                </a:lnTo>
                <a:lnTo>
                  <a:pt x="179020" y="16517"/>
                </a:lnTo>
                <a:lnTo>
                  <a:pt x="225539" y="4253"/>
                </a:lnTo>
                <a:lnTo>
                  <a:pt x="274965" y="0"/>
                </a:lnTo>
                <a:lnTo>
                  <a:pt x="324390" y="4253"/>
                </a:lnTo>
                <a:lnTo>
                  <a:pt x="370909" y="16517"/>
                </a:lnTo>
                <a:lnTo>
                  <a:pt x="413745" y="36045"/>
                </a:lnTo>
                <a:lnTo>
                  <a:pt x="452121" y="62091"/>
                </a:lnTo>
                <a:lnTo>
                  <a:pt x="485261" y="93911"/>
                </a:lnTo>
                <a:lnTo>
                  <a:pt x="512389" y="130759"/>
                </a:lnTo>
                <a:lnTo>
                  <a:pt x="532727" y="171888"/>
                </a:lnTo>
                <a:lnTo>
                  <a:pt x="545499" y="216553"/>
                </a:lnTo>
                <a:lnTo>
                  <a:pt x="549929" y="264010"/>
                </a:lnTo>
                <a:lnTo>
                  <a:pt x="545499" y="311466"/>
                </a:lnTo>
                <a:lnTo>
                  <a:pt x="532727" y="356131"/>
                </a:lnTo>
                <a:lnTo>
                  <a:pt x="512389" y="397260"/>
                </a:lnTo>
                <a:lnTo>
                  <a:pt x="485261" y="434108"/>
                </a:lnTo>
                <a:lnTo>
                  <a:pt x="452121" y="465928"/>
                </a:lnTo>
                <a:lnTo>
                  <a:pt x="413745" y="491974"/>
                </a:lnTo>
                <a:lnTo>
                  <a:pt x="370909" y="511502"/>
                </a:lnTo>
                <a:lnTo>
                  <a:pt x="324390" y="523766"/>
                </a:lnTo>
                <a:lnTo>
                  <a:pt x="274965" y="528020"/>
                </a:lnTo>
                <a:lnTo>
                  <a:pt x="225539" y="523766"/>
                </a:lnTo>
                <a:lnTo>
                  <a:pt x="179020" y="511502"/>
                </a:lnTo>
                <a:lnTo>
                  <a:pt x="136184" y="491974"/>
                </a:lnTo>
                <a:lnTo>
                  <a:pt x="97808" y="465928"/>
                </a:lnTo>
                <a:lnTo>
                  <a:pt x="64668" y="434108"/>
                </a:lnTo>
                <a:lnTo>
                  <a:pt x="37540" y="397260"/>
                </a:lnTo>
                <a:lnTo>
                  <a:pt x="17202" y="356131"/>
                </a:lnTo>
                <a:lnTo>
                  <a:pt x="4430" y="311466"/>
                </a:lnTo>
                <a:lnTo>
                  <a:pt x="0" y="26401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60531" y="4327957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20">
                <a:moveTo>
                  <a:pt x="274965" y="0"/>
                </a:moveTo>
                <a:lnTo>
                  <a:pt x="225539" y="4253"/>
                </a:lnTo>
                <a:lnTo>
                  <a:pt x="179020" y="16517"/>
                </a:lnTo>
                <a:lnTo>
                  <a:pt x="136185" y="36045"/>
                </a:lnTo>
                <a:lnTo>
                  <a:pt x="97808" y="62091"/>
                </a:lnTo>
                <a:lnTo>
                  <a:pt x="64668" y="93911"/>
                </a:lnTo>
                <a:lnTo>
                  <a:pt x="37540" y="130759"/>
                </a:lnTo>
                <a:lnTo>
                  <a:pt x="17202" y="171888"/>
                </a:lnTo>
                <a:lnTo>
                  <a:pt x="4430" y="216554"/>
                </a:lnTo>
                <a:lnTo>
                  <a:pt x="0" y="264010"/>
                </a:lnTo>
                <a:lnTo>
                  <a:pt x="4430" y="311466"/>
                </a:lnTo>
                <a:lnTo>
                  <a:pt x="17202" y="356131"/>
                </a:lnTo>
                <a:lnTo>
                  <a:pt x="37540" y="397260"/>
                </a:lnTo>
                <a:lnTo>
                  <a:pt x="64668" y="434108"/>
                </a:lnTo>
                <a:lnTo>
                  <a:pt x="97808" y="465927"/>
                </a:lnTo>
                <a:lnTo>
                  <a:pt x="136185" y="491974"/>
                </a:lnTo>
                <a:lnTo>
                  <a:pt x="179020" y="511502"/>
                </a:lnTo>
                <a:lnTo>
                  <a:pt x="225539" y="523766"/>
                </a:lnTo>
                <a:lnTo>
                  <a:pt x="274965" y="528019"/>
                </a:lnTo>
                <a:lnTo>
                  <a:pt x="324390" y="523766"/>
                </a:lnTo>
                <a:lnTo>
                  <a:pt x="370909" y="511502"/>
                </a:lnTo>
                <a:lnTo>
                  <a:pt x="413744" y="491974"/>
                </a:lnTo>
                <a:lnTo>
                  <a:pt x="452121" y="465927"/>
                </a:lnTo>
                <a:lnTo>
                  <a:pt x="485261" y="434108"/>
                </a:lnTo>
                <a:lnTo>
                  <a:pt x="512388" y="397260"/>
                </a:lnTo>
                <a:lnTo>
                  <a:pt x="532726" y="356131"/>
                </a:lnTo>
                <a:lnTo>
                  <a:pt x="545499" y="311466"/>
                </a:lnTo>
                <a:lnTo>
                  <a:pt x="549929" y="264010"/>
                </a:lnTo>
                <a:lnTo>
                  <a:pt x="545499" y="216554"/>
                </a:lnTo>
                <a:lnTo>
                  <a:pt x="532726" y="171888"/>
                </a:lnTo>
                <a:lnTo>
                  <a:pt x="512388" y="130759"/>
                </a:lnTo>
                <a:lnTo>
                  <a:pt x="485261" y="93911"/>
                </a:lnTo>
                <a:lnTo>
                  <a:pt x="452121" y="62091"/>
                </a:lnTo>
                <a:lnTo>
                  <a:pt x="413744" y="36045"/>
                </a:lnTo>
                <a:lnTo>
                  <a:pt x="370909" y="16517"/>
                </a:lnTo>
                <a:lnTo>
                  <a:pt x="324390" y="4253"/>
                </a:lnTo>
                <a:lnTo>
                  <a:pt x="274965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60531" y="4327957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20">
                <a:moveTo>
                  <a:pt x="0" y="264010"/>
                </a:moveTo>
                <a:lnTo>
                  <a:pt x="4430" y="216553"/>
                </a:lnTo>
                <a:lnTo>
                  <a:pt x="17202" y="171888"/>
                </a:lnTo>
                <a:lnTo>
                  <a:pt x="37540" y="130759"/>
                </a:lnTo>
                <a:lnTo>
                  <a:pt x="64668" y="93911"/>
                </a:lnTo>
                <a:lnTo>
                  <a:pt x="97808" y="62091"/>
                </a:lnTo>
                <a:lnTo>
                  <a:pt x="136184" y="36045"/>
                </a:lnTo>
                <a:lnTo>
                  <a:pt x="179020" y="16517"/>
                </a:lnTo>
                <a:lnTo>
                  <a:pt x="225539" y="4253"/>
                </a:lnTo>
                <a:lnTo>
                  <a:pt x="274965" y="0"/>
                </a:lnTo>
                <a:lnTo>
                  <a:pt x="324390" y="4253"/>
                </a:lnTo>
                <a:lnTo>
                  <a:pt x="370909" y="16517"/>
                </a:lnTo>
                <a:lnTo>
                  <a:pt x="413745" y="36045"/>
                </a:lnTo>
                <a:lnTo>
                  <a:pt x="452121" y="62091"/>
                </a:lnTo>
                <a:lnTo>
                  <a:pt x="485261" y="93911"/>
                </a:lnTo>
                <a:lnTo>
                  <a:pt x="512389" y="130759"/>
                </a:lnTo>
                <a:lnTo>
                  <a:pt x="532727" y="171888"/>
                </a:lnTo>
                <a:lnTo>
                  <a:pt x="545499" y="216553"/>
                </a:lnTo>
                <a:lnTo>
                  <a:pt x="549929" y="264010"/>
                </a:lnTo>
                <a:lnTo>
                  <a:pt x="545499" y="311466"/>
                </a:lnTo>
                <a:lnTo>
                  <a:pt x="532727" y="356131"/>
                </a:lnTo>
                <a:lnTo>
                  <a:pt x="512389" y="397260"/>
                </a:lnTo>
                <a:lnTo>
                  <a:pt x="485261" y="434108"/>
                </a:lnTo>
                <a:lnTo>
                  <a:pt x="452121" y="465928"/>
                </a:lnTo>
                <a:lnTo>
                  <a:pt x="413745" y="491974"/>
                </a:lnTo>
                <a:lnTo>
                  <a:pt x="370909" y="511502"/>
                </a:lnTo>
                <a:lnTo>
                  <a:pt x="324390" y="523766"/>
                </a:lnTo>
                <a:lnTo>
                  <a:pt x="274965" y="528020"/>
                </a:lnTo>
                <a:lnTo>
                  <a:pt x="225539" y="523766"/>
                </a:lnTo>
                <a:lnTo>
                  <a:pt x="179020" y="511502"/>
                </a:lnTo>
                <a:lnTo>
                  <a:pt x="136184" y="491974"/>
                </a:lnTo>
                <a:lnTo>
                  <a:pt x="97808" y="465928"/>
                </a:lnTo>
                <a:lnTo>
                  <a:pt x="64668" y="434108"/>
                </a:lnTo>
                <a:lnTo>
                  <a:pt x="37540" y="397260"/>
                </a:lnTo>
                <a:lnTo>
                  <a:pt x="17202" y="356131"/>
                </a:lnTo>
                <a:lnTo>
                  <a:pt x="4430" y="311466"/>
                </a:lnTo>
                <a:lnTo>
                  <a:pt x="0" y="26401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687978" y="3347330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19">
                <a:moveTo>
                  <a:pt x="274965" y="0"/>
                </a:moveTo>
                <a:lnTo>
                  <a:pt x="225539" y="4253"/>
                </a:lnTo>
                <a:lnTo>
                  <a:pt x="179020" y="16517"/>
                </a:lnTo>
                <a:lnTo>
                  <a:pt x="136185" y="36045"/>
                </a:lnTo>
                <a:lnTo>
                  <a:pt x="97808" y="62091"/>
                </a:lnTo>
                <a:lnTo>
                  <a:pt x="64668" y="93911"/>
                </a:lnTo>
                <a:lnTo>
                  <a:pt x="37540" y="130759"/>
                </a:lnTo>
                <a:lnTo>
                  <a:pt x="17202" y="171888"/>
                </a:lnTo>
                <a:lnTo>
                  <a:pt x="4430" y="216554"/>
                </a:lnTo>
                <a:lnTo>
                  <a:pt x="0" y="264010"/>
                </a:lnTo>
                <a:lnTo>
                  <a:pt x="4430" y="311466"/>
                </a:lnTo>
                <a:lnTo>
                  <a:pt x="17202" y="356131"/>
                </a:lnTo>
                <a:lnTo>
                  <a:pt x="37540" y="397261"/>
                </a:lnTo>
                <a:lnTo>
                  <a:pt x="64668" y="434108"/>
                </a:lnTo>
                <a:lnTo>
                  <a:pt x="97808" y="465928"/>
                </a:lnTo>
                <a:lnTo>
                  <a:pt x="136185" y="491975"/>
                </a:lnTo>
                <a:lnTo>
                  <a:pt x="179020" y="511503"/>
                </a:lnTo>
                <a:lnTo>
                  <a:pt x="225539" y="523766"/>
                </a:lnTo>
                <a:lnTo>
                  <a:pt x="274965" y="528020"/>
                </a:lnTo>
                <a:lnTo>
                  <a:pt x="324390" y="523766"/>
                </a:lnTo>
                <a:lnTo>
                  <a:pt x="370909" y="511503"/>
                </a:lnTo>
                <a:lnTo>
                  <a:pt x="413745" y="491975"/>
                </a:lnTo>
                <a:lnTo>
                  <a:pt x="452121" y="465928"/>
                </a:lnTo>
                <a:lnTo>
                  <a:pt x="485261" y="434108"/>
                </a:lnTo>
                <a:lnTo>
                  <a:pt x="512389" y="397261"/>
                </a:lnTo>
                <a:lnTo>
                  <a:pt x="532727" y="356131"/>
                </a:lnTo>
                <a:lnTo>
                  <a:pt x="545500" y="311466"/>
                </a:lnTo>
                <a:lnTo>
                  <a:pt x="549930" y="264010"/>
                </a:lnTo>
                <a:lnTo>
                  <a:pt x="545500" y="216554"/>
                </a:lnTo>
                <a:lnTo>
                  <a:pt x="532727" y="171888"/>
                </a:lnTo>
                <a:lnTo>
                  <a:pt x="512389" y="130759"/>
                </a:lnTo>
                <a:lnTo>
                  <a:pt x="485261" y="93911"/>
                </a:lnTo>
                <a:lnTo>
                  <a:pt x="452121" y="62091"/>
                </a:lnTo>
                <a:lnTo>
                  <a:pt x="413745" y="36045"/>
                </a:lnTo>
                <a:lnTo>
                  <a:pt x="370909" y="16517"/>
                </a:lnTo>
                <a:lnTo>
                  <a:pt x="324390" y="4253"/>
                </a:lnTo>
                <a:lnTo>
                  <a:pt x="274965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687978" y="3347330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19">
                <a:moveTo>
                  <a:pt x="0" y="264010"/>
                </a:moveTo>
                <a:lnTo>
                  <a:pt x="4430" y="216553"/>
                </a:lnTo>
                <a:lnTo>
                  <a:pt x="17202" y="171888"/>
                </a:lnTo>
                <a:lnTo>
                  <a:pt x="37540" y="130759"/>
                </a:lnTo>
                <a:lnTo>
                  <a:pt x="64668" y="93911"/>
                </a:lnTo>
                <a:lnTo>
                  <a:pt x="97808" y="62091"/>
                </a:lnTo>
                <a:lnTo>
                  <a:pt x="136184" y="36045"/>
                </a:lnTo>
                <a:lnTo>
                  <a:pt x="179020" y="16517"/>
                </a:lnTo>
                <a:lnTo>
                  <a:pt x="225539" y="4253"/>
                </a:lnTo>
                <a:lnTo>
                  <a:pt x="274965" y="0"/>
                </a:lnTo>
                <a:lnTo>
                  <a:pt x="324390" y="4253"/>
                </a:lnTo>
                <a:lnTo>
                  <a:pt x="370909" y="16517"/>
                </a:lnTo>
                <a:lnTo>
                  <a:pt x="413745" y="36045"/>
                </a:lnTo>
                <a:lnTo>
                  <a:pt x="452121" y="62091"/>
                </a:lnTo>
                <a:lnTo>
                  <a:pt x="485261" y="93911"/>
                </a:lnTo>
                <a:lnTo>
                  <a:pt x="512389" y="130759"/>
                </a:lnTo>
                <a:lnTo>
                  <a:pt x="532727" y="171888"/>
                </a:lnTo>
                <a:lnTo>
                  <a:pt x="545499" y="216553"/>
                </a:lnTo>
                <a:lnTo>
                  <a:pt x="549929" y="264010"/>
                </a:lnTo>
                <a:lnTo>
                  <a:pt x="545499" y="311466"/>
                </a:lnTo>
                <a:lnTo>
                  <a:pt x="532727" y="356131"/>
                </a:lnTo>
                <a:lnTo>
                  <a:pt x="512389" y="397260"/>
                </a:lnTo>
                <a:lnTo>
                  <a:pt x="485261" y="434108"/>
                </a:lnTo>
                <a:lnTo>
                  <a:pt x="452121" y="465928"/>
                </a:lnTo>
                <a:lnTo>
                  <a:pt x="413745" y="491974"/>
                </a:lnTo>
                <a:lnTo>
                  <a:pt x="370909" y="511502"/>
                </a:lnTo>
                <a:lnTo>
                  <a:pt x="324390" y="523766"/>
                </a:lnTo>
                <a:lnTo>
                  <a:pt x="274965" y="528020"/>
                </a:lnTo>
                <a:lnTo>
                  <a:pt x="225539" y="523766"/>
                </a:lnTo>
                <a:lnTo>
                  <a:pt x="179020" y="511502"/>
                </a:lnTo>
                <a:lnTo>
                  <a:pt x="136184" y="491974"/>
                </a:lnTo>
                <a:lnTo>
                  <a:pt x="97808" y="465928"/>
                </a:lnTo>
                <a:lnTo>
                  <a:pt x="64668" y="434108"/>
                </a:lnTo>
                <a:lnTo>
                  <a:pt x="37540" y="397260"/>
                </a:lnTo>
                <a:lnTo>
                  <a:pt x="17202" y="356131"/>
                </a:lnTo>
                <a:lnTo>
                  <a:pt x="4430" y="311466"/>
                </a:lnTo>
                <a:lnTo>
                  <a:pt x="0" y="26401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168829" y="4327959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20">
                <a:moveTo>
                  <a:pt x="274965" y="0"/>
                </a:moveTo>
                <a:lnTo>
                  <a:pt x="225539" y="4253"/>
                </a:lnTo>
                <a:lnTo>
                  <a:pt x="179020" y="16517"/>
                </a:lnTo>
                <a:lnTo>
                  <a:pt x="136185" y="36045"/>
                </a:lnTo>
                <a:lnTo>
                  <a:pt x="97808" y="62091"/>
                </a:lnTo>
                <a:lnTo>
                  <a:pt x="64668" y="93911"/>
                </a:lnTo>
                <a:lnTo>
                  <a:pt x="37540" y="130759"/>
                </a:lnTo>
                <a:lnTo>
                  <a:pt x="17202" y="171888"/>
                </a:lnTo>
                <a:lnTo>
                  <a:pt x="4430" y="216554"/>
                </a:lnTo>
                <a:lnTo>
                  <a:pt x="0" y="264010"/>
                </a:lnTo>
                <a:lnTo>
                  <a:pt x="4430" y="311466"/>
                </a:lnTo>
                <a:lnTo>
                  <a:pt x="17202" y="356131"/>
                </a:lnTo>
                <a:lnTo>
                  <a:pt x="37540" y="397261"/>
                </a:lnTo>
                <a:lnTo>
                  <a:pt x="64668" y="434108"/>
                </a:lnTo>
                <a:lnTo>
                  <a:pt x="97808" y="465928"/>
                </a:lnTo>
                <a:lnTo>
                  <a:pt x="136185" y="491975"/>
                </a:lnTo>
                <a:lnTo>
                  <a:pt x="179020" y="511503"/>
                </a:lnTo>
                <a:lnTo>
                  <a:pt x="225539" y="523766"/>
                </a:lnTo>
                <a:lnTo>
                  <a:pt x="274965" y="528020"/>
                </a:lnTo>
                <a:lnTo>
                  <a:pt x="324390" y="523766"/>
                </a:lnTo>
                <a:lnTo>
                  <a:pt x="370909" y="511503"/>
                </a:lnTo>
                <a:lnTo>
                  <a:pt x="413745" y="491975"/>
                </a:lnTo>
                <a:lnTo>
                  <a:pt x="452121" y="465928"/>
                </a:lnTo>
                <a:lnTo>
                  <a:pt x="485261" y="434108"/>
                </a:lnTo>
                <a:lnTo>
                  <a:pt x="512389" y="397261"/>
                </a:lnTo>
                <a:lnTo>
                  <a:pt x="532727" y="356131"/>
                </a:lnTo>
                <a:lnTo>
                  <a:pt x="545500" y="311466"/>
                </a:lnTo>
                <a:lnTo>
                  <a:pt x="549930" y="264010"/>
                </a:lnTo>
                <a:lnTo>
                  <a:pt x="545500" y="216554"/>
                </a:lnTo>
                <a:lnTo>
                  <a:pt x="532727" y="171888"/>
                </a:lnTo>
                <a:lnTo>
                  <a:pt x="512389" y="130759"/>
                </a:lnTo>
                <a:lnTo>
                  <a:pt x="485261" y="93911"/>
                </a:lnTo>
                <a:lnTo>
                  <a:pt x="452121" y="62091"/>
                </a:lnTo>
                <a:lnTo>
                  <a:pt x="413745" y="36045"/>
                </a:lnTo>
                <a:lnTo>
                  <a:pt x="370909" y="16517"/>
                </a:lnTo>
                <a:lnTo>
                  <a:pt x="324390" y="4253"/>
                </a:lnTo>
                <a:lnTo>
                  <a:pt x="274965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168829" y="4327959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20">
                <a:moveTo>
                  <a:pt x="0" y="264010"/>
                </a:moveTo>
                <a:lnTo>
                  <a:pt x="4430" y="216553"/>
                </a:lnTo>
                <a:lnTo>
                  <a:pt x="17202" y="171888"/>
                </a:lnTo>
                <a:lnTo>
                  <a:pt x="37540" y="130759"/>
                </a:lnTo>
                <a:lnTo>
                  <a:pt x="64668" y="93911"/>
                </a:lnTo>
                <a:lnTo>
                  <a:pt x="97808" y="62091"/>
                </a:lnTo>
                <a:lnTo>
                  <a:pt x="136184" y="36045"/>
                </a:lnTo>
                <a:lnTo>
                  <a:pt x="179020" y="16517"/>
                </a:lnTo>
                <a:lnTo>
                  <a:pt x="225539" y="4253"/>
                </a:lnTo>
                <a:lnTo>
                  <a:pt x="274965" y="0"/>
                </a:lnTo>
                <a:lnTo>
                  <a:pt x="324390" y="4253"/>
                </a:lnTo>
                <a:lnTo>
                  <a:pt x="370909" y="16517"/>
                </a:lnTo>
                <a:lnTo>
                  <a:pt x="413745" y="36045"/>
                </a:lnTo>
                <a:lnTo>
                  <a:pt x="452121" y="62091"/>
                </a:lnTo>
                <a:lnTo>
                  <a:pt x="485261" y="93911"/>
                </a:lnTo>
                <a:lnTo>
                  <a:pt x="512389" y="130759"/>
                </a:lnTo>
                <a:lnTo>
                  <a:pt x="532727" y="171888"/>
                </a:lnTo>
                <a:lnTo>
                  <a:pt x="545499" y="216553"/>
                </a:lnTo>
                <a:lnTo>
                  <a:pt x="549929" y="264010"/>
                </a:lnTo>
                <a:lnTo>
                  <a:pt x="545499" y="311466"/>
                </a:lnTo>
                <a:lnTo>
                  <a:pt x="532727" y="356131"/>
                </a:lnTo>
                <a:lnTo>
                  <a:pt x="512389" y="397260"/>
                </a:lnTo>
                <a:lnTo>
                  <a:pt x="485261" y="434108"/>
                </a:lnTo>
                <a:lnTo>
                  <a:pt x="452121" y="465928"/>
                </a:lnTo>
                <a:lnTo>
                  <a:pt x="413745" y="491974"/>
                </a:lnTo>
                <a:lnTo>
                  <a:pt x="370909" y="511502"/>
                </a:lnTo>
                <a:lnTo>
                  <a:pt x="324390" y="523766"/>
                </a:lnTo>
                <a:lnTo>
                  <a:pt x="274965" y="528020"/>
                </a:lnTo>
                <a:lnTo>
                  <a:pt x="225539" y="523766"/>
                </a:lnTo>
                <a:lnTo>
                  <a:pt x="179020" y="511502"/>
                </a:lnTo>
                <a:lnTo>
                  <a:pt x="136184" y="491974"/>
                </a:lnTo>
                <a:lnTo>
                  <a:pt x="97808" y="465928"/>
                </a:lnTo>
                <a:lnTo>
                  <a:pt x="64668" y="434108"/>
                </a:lnTo>
                <a:lnTo>
                  <a:pt x="37540" y="397260"/>
                </a:lnTo>
                <a:lnTo>
                  <a:pt x="17202" y="356131"/>
                </a:lnTo>
                <a:lnTo>
                  <a:pt x="4430" y="311466"/>
                </a:lnTo>
                <a:lnTo>
                  <a:pt x="0" y="26401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5</a:t>
            </a:fld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6031EC-D4E4-164C-BF09-3ABA0A6A620B}"/>
              </a:ext>
            </a:extLst>
          </p:cNvPr>
          <p:cNvSpPr txBox="1"/>
          <p:nvPr/>
        </p:nvSpPr>
        <p:spPr>
          <a:xfrm>
            <a:off x="6060531" y="5637587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Node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844664-5C27-FF41-82D3-0ED3906774BC}"/>
              </a:ext>
            </a:extLst>
          </p:cNvPr>
          <p:cNvSpPr txBox="1"/>
          <p:nvPr/>
        </p:nvSpPr>
        <p:spPr>
          <a:xfrm>
            <a:off x="5257800" y="3048000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Node 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8222A8-877F-AE4F-BF64-C04346B832FA}"/>
              </a:ext>
            </a:extLst>
          </p:cNvPr>
          <p:cNvSpPr txBox="1"/>
          <p:nvPr/>
        </p:nvSpPr>
        <p:spPr>
          <a:xfrm>
            <a:off x="6212931" y="2362200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Node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BC2BF7-6BC6-754F-82F4-BC45B3842399}"/>
              </a:ext>
            </a:extLst>
          </p:cNvPr>
          <p:cNvSpPr txBox="1"/>
          <p:nvPr/>
        </p:nvSpPr>
        <p:spPr>
          <a:xfrm>
            <a:off x="5410200" y="4800600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Node 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205EA0-57AE-2C45-9EDF-8A53883EB7F4}"/>
              </a:ext>
            </a:extLst>
          </p:cNvPr>
          <p:cNvSpPr txBox="1"/>
          <p:nvPr/>
        </p:nvSpPr>
        <p:spPr>
          <a:xfrm>
            <a:off x="7620253" y="4797623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Node 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209667-5B63-E348-B2FB-A122DEE2E4EC}"/>
              </a:ext>
            </a:extLst>
          </p:cNvPr>
          <p:cNvSpPr txBox="1"/>
          <p:nvPr/>
        </p:nvSpPr>
        <p:spPr>
          <a:xfrm>
            <a:off x="7696453" y="2971800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Node 2</a:t>
            </a:r>
          </a:p>
        </p:txBody>
      </p:sp>
    </p:spTree>
    <p:extLst>
      <p:ext uri="{BB962C8B-B14F-4D97-AF65-F5344CB8AC3E}">
        <p14:creationId xmlns:p14="http://schemas.microsoft.com/office/powerpoint/2010/main" val="1125304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Cassandra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2696802"/>
            <a:ext cx="9906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Arial"/>
                <a:cs typeface="Arial"/>
              </a:rPr>
              <a:t>•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0087" y="2666923"/>
            <a:ext cx="192595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 dirty="0">
                <a:latin typeface="Verdana"/>
                <a:cs typeface="Verdana"/>
              </a:rPr>
              <a:t>Fault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40" dirty="0">
                <a:latin typeface="Verdana"/>
                <a:cs typeface="Verdana"/>
              </a:rPr>
              <a:t>Tolerant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30521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–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87450" y="3062654"/>
            <a:ext cx="3700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Verdana"/>
                <a:cs typeface="Verdana"/>
              </a:rPr>
              <a:t>Nodes Down </a:t>
            </a:r>
            <a:r>
              <a:rPr sz="1800" dirty="0">
                <a:latin typeface="Verdana"/>
                <a:cs typeface="Verdana"/>
              </a:rPr>
              <a:t>!= </a:t>
            </a:r>
            <a:r>
              <a:rPr sz="1800" spc="-5" dirty="0">
                <a:latin typeface="Verdana"/>
                <a:cs typeface="Verdana"/>
              </a:rPr>
              <a:t>Database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Down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3396918"/>
            <a:ext cx="4542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z="2700" baseline="3086" dirty="0">
                <a:latin typeface="Arial"/>
                <a:cs typeface="Arial"/>
              </a:rPr>
              <a:t>–	</a:t>
            </a:r>
            <a:r>
              <a:rPr sz="1800" spc="-5" dirty="0">
                <a:latin typeface="Verdana"/>
                <a:cs typeface="Verdana"/>
              </a:rPr>
              <a:t>Datacenter Down </a:t>
            </a:r>
            <a:r>
              <a:rPr sz="1800" dirty="0">
                <a:latin typeface="Verdana"/>
                <a:cs typeface="Verdana"/>
              </a:rPr>
              <a:t>!= </a:t>
            </a:r>
            <a:r>
              <a:rPr sz="1800" spc="-5" dirty="0">
                <a:latin typeface="Verdana"/>
                <a:cs typeface="Verdana"/>
              </a:rPr>
              <a:t>Database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Down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67009" y="3631550"/>
            <a:ext cx="1869439" cy="1824355"/>
          </a:xfrm>
          <a:custGeom>
            <a:avLst/>
            <a:gdLst/>
            <a:ahLst/>
            <a:cxnLst/>
            <a:rect l="l" t="t" r="r" b="b"/>
            <a:pathLst>
              <a:path w="1869440" h="1824354">
                <a:moveTo>
                  <a:pt x="1595656" y="267143"/>
                </a:moveTo>
                <a:lnTo>
                  <a:pt x="1629848" y="302289"/>
                </a:lnTo>
                <a:lnTo>
                  <a:pt x="1661761" y="338728"/>
                </a:lnTo>
                <a:lnTo>
                  <a:pt x="1691394" y="376370"/>
                </a:lnTo>
                <a:lnTo>
                  <a:pt x="1718747" y="415127"/>
                </a:lnTo>
                <a:lnTo>
                  <a:pt x="1743821" y="454909"/>
                </a:lnTo>
                <a:lnTo>
                  <a:pt x="1766616" y="495626"/>
                </a:lnTo>
                <a:lnTo>
                  <a:pt x="1787131" y="537191"/>
                </a:lnTo>
                <a:lnTo>
                  <a:pt x="1805366" y="579513"/>
                </a:lnTo>
                <a:lnTo>
                  <a:pt x="1821323" y="622504"/>
                </a:lnTo>
                <a:lnTo>
                  <a:pt x="1834999" y="666075"/>
                </a:lnTo>
                <a:lnTo>
                  <a:pt x="1846397" y="710135"/>
                </a:lnTo>
                <a:lnTo>
                  <a:pt x="1855515" y="754597"/>
                </a:lnTo>
                <a:lnTo>
                  <a:pt x="1862353" y="799371"/>
                </a:lnTo>
                <a:lnTo>
                  <a:pt x="1866912" y="844368"/>
                </a:lnTo>
                <a:lnTo>
                  <a:pt x="1869191" y="889498"/>
                </a:lnTo>
                <a:lnTo>
                  <a:pt x="1869191" y="934673"/>
                </a:lnTo>
                <a:lnTo>
                  <a:pt x="1866912" y="979803"/>
                </a:lnTo>
                <a:lnTo>
                  <a:pt x="1862353" y="1024800"/>
                </a:lnTo>
                <a:lnTo>
                  <a:pt x="1855515" y="1069574"/>
                </a:lnTo>
                <a:lnTo>
                  <a:pt x="1846397" y="1114036"/>
                </a:lnTo>
                <a:lnTo>
                  <a:pt x="1834999" y="1158096"/>
                </a:lnTo>
                <a:lnTo>
                  <a:pt x="1821323" y="1201666"/>
                </a:lnTo>
                <a:lnTo>
                  <a:pt x="1805366" y="1244657"/>
                </a:lnTo>
                <a:lnTo>
                  <a:pt x="1787131" y="1286980"/>
                </a:lnTo>
                <a:lnTo>
                  <a:pt x="1766616" y="1328544"/>
                </a:lnTo>
                <a:lnTo>
                  <a:pt x="1743821" y="1369262"/>
                </a:lnTo>
                <a:lnTo>
                  <a:pt x="1718747" y="1409044"/>
                </a:lnTo>
                <a:lnTo>
                  <a:pt x="1691394" y="1447800"/>
                </a:lnTo>
                <a:lnTo>
                  <a:pt x="1661761" y="1485442"/>
                </a:lnTo>
                <a:lnTo>
                  <a:pt x="1629848" y="1521881"/>
                </a:lnTo>
                <a:lnTo>
                  <a:pt x="1595656" y="1557027"/>
                </a:lnTo>
                <a:lnTo>
                  <a:pt x="1560778" y="1589377"/>
                </a:lnTo>
                <a:lnTo>
                  <a:pt x="1524654" y="1619639"/>
                </a:lnTo>
                <a:lnTo>
                  <a:pt x="1487366" y="1647814"/>
                </a:lnTo>
                <a:lnTo>
                  <a:pt x="1448999" y="1673903"/>
                </a:lnTo>
                <a:lnTo>
                  <a:pt x="1409635" y="1697904"/>
                </a:lnTo>
                <a:lnTo>
                  <a:pt x="1369357" y="1719818"/>
                </a:lnTo>
                <a:lnTo>
                  <a:pt x="1328248" y="1739645"/>
                </a:lnTo>
                <a:lnTo>
                  <a:pt x="1286392" y="1757385"/>
                </a:lnTo>
                <a:lnTo>
                  <a:pt x="1243871" y="1773038"/>
                </a:lnTo>
                <a:lnTo>
                  <a:pt x="1200769" y="1786604"/>
                </a:lnTo>
                <a:lnTo>
                  <a:pt x="1157168" y="1798083"/>
                </a:lnTo>
                <a:lnTo>
                  <a:pt x="1113152" y="1807475"/>
                </a:lnTo>
                <a:lnTo>
                  <a:pt x="1068804" y="1814779"/>
                </a:lnTo>
                <a:lnTo>
                  <a:pt x="1024206" y="1819997"/>
                </a:lnTo>
                <a:lnTo>
                  <a:pt x="979442" y="1823127"/>
                </a:lnTo>
                <a:lnTo>
                  <a:pt x="934596" y="1824171"/>
                </a:lnTo>
                <a:lnTo>
                  <a:pt x="889749" y="1823127"/>
                </a:lnTo>
                <a:lnTo>
                  <a:pt x="844985" y="1819997"/>
                </a:lnTo>
                <a:lnTo>
                  <a:pt x="800387" y="1814779"/>
                </a:lnTo>
                <a:lnTo>
                  <a:pt x="756039" y="1807475"/>
                </a:lnTo>
                <a:lnTo>
                  <a:pt x="712023" y="1798083"/>
                </a:lnTo>
                <a:lnTo>
                  <a:pt x="668422" y="1786604"/>
                </a:lnTo>
                <a:lnTo>
                  <a:pt x="625320" y="1773038"/>
                </a:lnTo>
                <a:lnTo>
                  <a:pt x="582799" y="1757385"/>
                </a:lnTo>
                <a:lnTo>
                  <a:pt x="540943" y="1739645"/>
                </a:lnTo>
                <a:lnTo>
                  <a:pt x="499834" y="1719818"/>
                </a:lnTo>
                <a:lnTo>
                  <a:pt x="459556" y="1697904"/>
                </a:lnTo>
                <a:lnTo>
                  <a:pt x="420192" y="1673903"/>
                </a:lnTo>
                <a:lnTo>
                  <a:pt x="381825" y="1647814"/>
                </a:lnTo>
                <a:lnTo>
                  <a:pt x="344537" y="1619639"/>
                </a:lnTo>
                <a:lnTo>
                  <a:pt x="308413" y="1589377"/>
                </a:lnTo>
                <a:lnTo>
                  <a:pt x="273535" y="1557027"/>
                </a:lnTo>
                <a:lnTo>
                  <a:pt x="239343" y="1521881"/>
                </a:lnTo>
                <a:lnTo>
                  <a:pt x="207430" y="1485442"/>
                </a:lnTo>
                <a:lnTo>
                  <a:pt x="177797" y="1447800"/>
                </a:lnTo>
                <a:lnTo>
                  <a:pt x="150444" y="1409044"/>
                </a:lnTo>
                <a:lnTo>
                  <a:pt x="125370" y="1369262"/>
                </a:lnTo>
                <a:lnTo>
                  <a:pt x="102575" y="1328544"/>
                </a:lnTo>
                <a:lnTo>
                  <a:pt x="82060" y="1286980"/>
                </a:lnTo>
                <a:lnTo>
                  <a:pt x="63824" y="1244657"/>
                </a:lnTo>
                <a:lnTo>
                  <a:pt x="47868" y="1201666"/>
                </a:lnTo>
                <a:lnTo>
                  <a:pt x="34191" y="1158096"/>
                </a:lnTo>
                <a:lnTo>
                  <a:pt x="22794" y="1114036"/>
                </a:lnTo>
                <a:lnTo>
                  <a:pt x="13676" y="1069574"/>
                </a:lnTo>
                <a:lnTo>
                  <a:pt x="6838" y="1024800"/>
                </a:lnTo>
                <a:lnTo>
                  <a:pt x="2279" y="979803"/>
                </a:lnTo>
                <a:lnTo>
                  <a:pt x="0" y="934673"/>
                </a:lnTo>
                <a:lnTo>
                  <a:pt x="0" y="889498"/>
                </a:lnTo>
                <a:lnTo>
                  <a:pt x="2279" y="844368"/>
                </a:lnTo>
                <a:lnTo>
                  <a:pt x="6838" y="799371"/>
                </a:lnTo>
                <a:lnTo>
                  <a:pt x="13676" y="754597"/>
                </a:lnTo>
                <a:lnTo>
                  <a:pt x="22794" y="710135"/>
                </a:lnTo>
                <a:lnTo>
                  <a:pt x="34191" y="666075"/>
                </a:lnTo>
                <a:lnTo>
                  <a:pt x="47868" y="622504"/>
                </a:lnTo>
                <a:lnTo>
                  <a:pt x="63824" y="579513"/>
                </a:lnTo>
                <a:lnTo>
                  <a:pt x="82060" y="537191"/>
                </a:lnTo>
                <a:lnTo>
                  <a:pt x="102575" y="495626"/>
                </a:lnTo>
                <a:lnTo>
                  <a:pt x="125370" y="454909"/>
                </a:lnTo>
                <a:lnTo>
                  <a:pt x="150444" y="415127"/>
                </a:lnTo>
                <a:lnTo>
                  <a:pt x="177797" y="376370"/>
                </a:lnTo>
                <a:lnTo>
                  <a:pt x="207430" y="338728"/>
                </a:lnTo>
                <a:lnTo>
                  <a:pt x="239343" y="302289"/>
                </a:lnTo>
                <a:lnTo>
                  <a:pt x="273535" y="267143"/>
                </a:lnTo>
                <a:lnTo>
                  <a:pt x="308413" y="234794"/>
                </a:lnTo>
                <a:lnTo>
                  <a:pt x="344537" y="204531"/>
                </a:lnTo>
                <a:lnTo>
                  <a:pt x="381825" y="176356"/>
                </a:lnTo>
                <a:lnTo>
                  <a:pt x="420192" y="150268"/>
                </a:lnTo>
                <a:lnTo>
                  <a:pt x="459556" y="126267"/>
                </a:lnTo>
                <a:lnTo>
                  <a:pt x="499834" y="104353"/>
                </a:lnTo>
                <a:lnTo>
                  <a:pt x="540943" y="84525"/>
                </a:lnTo>
                <a:lnTo>
                  <a:pt x="582799" y="66785"/>
                </a:lnTo>
                <a:lnTo>
                  <a:pt x="625320" y="51132"/>
                </a:lnTo>
                <a:lnTo>
                  <a:pt x="668422" y="37567"/>
                </a:lnTo>
                <a:lnTo>
                  <a:pt x="712023" y="26088"/>
                </a:lnTo>
                <a:lnTo>
                  <a:pt x="756039" y="16696"/>
                </a:lnTo>
                <a:lnTo>
                  <a:pt x="800387" y="9391"/>
                </a:lnTo>
                <a:lnTo>
                  <a:pt x="844985" y="4174"/>
                </a:lnTo>
                <a:lnTo>
                  <a:pt x="889749" y="1043"/>
                </a:lnTo>
                <a:lnTo>
                  <a:pt x="934596" y="0"/>
                </a:lnTo>
                <a:lnTo>
                  <a:pt x="979442" y="1043"/>
                </a:lnTo>
                <a:lnTo>
                  <a:pt x="1024206" y="4174"/>
                </a:lnTo>
                <a:lnTo>
                  <a:pt x="1068804" y="9391"/>
                </a:lnTo>
                <a:lnTo>
                  <a:pt x="1113152" y="16696"/>
                </a:lnTo>
                <a:lnTo>
                  <a:pt x="1157168" y="26088"/>
                </a:lnTo>
                <a:lnTo>
                  <a:pt x="1200769" y="37567"/>
                </a:lnTo>
                <a:lnTo>
                  <a:pt x="1243871" y="51132"/>
                </a:lnTo>
                <a:lnTo>
                  <a:pt x="1286392" y="66785"/>
                </a:lnTo>
                <a:lnTo>
                  <a:pt x="1328248" y="84525"/>
                </a:lnTo>
                <a:lnTo>
                  <a:pt x="1369357" y="104353"/>
                </a:lnTo>
                <a:lnTo>
                  <a:pt x="1409635" y="126267"/>
                </a:lnTo>
                <a:lnTo>
                  <a:pt x="1448999" y="150268"/>
                </a:lnTo>
                <a:lnTo>
                  <a:pt x="1487366" y="176356"/>
                </a:lnTo>
                <a:lnTo>
                  <a:pt x="1524654" y="204531"/>
                </a:lnTo>
                <a:lnTo>
                  <a:pt x="1560778" y="234794"/>
                </a:lnTo>
                <a:lnTo>
                  <a:pt x="1595656" y="267143"/>
                </a:lnTo>
                <a:close/>
              </a:path>
            </a:pathLst>
          </a:custGeom>
          <a:ln w="101600">
            <a:solidFill>
              <a:srgbClr val="1F49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14678" y="3352289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19">
                <a:moveTo>
                  <a:pt x="274965" y="0"/>
                </a:moveTo>
                <a:lnTo>
                  <a:pt x="225539" y="4253"/>
                </a:lnTo>
                <a:lnTo>
                  <a:pt x="179020" y="16517"/>
                </a:lnTo>
                <a:lnTo>
                  <a:pt x="136185" y="36045"/>
                </a:lnTo>
                <a:lnTo>
                  <a:pt x="97808" y="62091"/>
                </a:lnTo>
                <a:lnTo>
                  <a:pt x="64668" y="93911"/>
                </a:lnTo>
                <a:lnTo>
                  <a:pt x="37540" y="130759"/>
                </a:lnTo>
                <a:lnTo>
                  <a:pt x="17202" y="171888"/>
                </a:lnTo>
                <a:lnTo>
                  <a:pt x="4430" y="216554"/>
                </a:lnTo>
                <a:lnTo>
                  <a:pt x="0" y="264010"/>
                </a:lnTo>
                <a:lnTo>
                  <a:pt x="4430" y="311466"/>
                </a:lnTo>
                <a:lnTo>
                  <a:pt x="17202" y="356131"/>
                </a:lnTo>
                <a:lnTo>
                  <a:pt x="37540" y="397261"/>
                </a:lnTo>
                <a:lnTo>
                  <a:pt x="64668" y="434108"/>
                </a:lnTo>
                <a:lnTo>
                  <a:pt x="97808" y="465928"/>
                </a:lnTo>
                <a:lnTo>
                  <a:pt x="136185" y="491975"/>
                </a:lnTo>
                <a:lnTo>
                  <a:pt x="179020" y="511503"/>
                </a:lnTo>
                <a:lnTo>
                  <a:pt x="225539" y="523766"/>
                </a:lnTo>
                <a:lnTo>
                  <a:pt x="274965" y="528020"/>
                </a:lnTo>
                <a:lnTo>
                  <a:pt x="324390" y="523766"/>
                </a:lnTo>
                <a:lnTo>
                  <a:pt x="370909" y="511503"/>
                </a:lnTo>
                <a:lnTo>
                  <a:pt x="413745" y="491975"/>
                </a:lnTo>
                <a:lnTo>
                  <a:pt x="452121" y="465928"/>
                </a:lnTo>
                <a:lnTo>
                  <a:pt x="485261" y="434108"/>
                </a:lnTo>
                <a:lnTo>
                  <a:pt x="512389" y="397261"/>
                </a:lnTo>
                <a:lnTo>
                  <a:pt x="532727" y="356131"/>
                </a:lnTo>
                <a:lnTo>
                  <a:pt x="545500" y="311466"/>
                </a:lnTo>
                <a:lnTo>
                  <a:pt x="549930" y="264010"/>
                </a:lnTo>
                <a:lnTo>
                  <a:pt x="545500" y="216554"/>
                </a:lnTo>
                <a:lnTo>
                  <a:pt x="532727" y="171888"/>
                </a:lnTo>
                <a:lnTo>
                  <a:pt x="512389" y="130759"/>
                </a:lnTo>
                <a:lnTo>
                  <a:pt x="485261" y="93911"/>
                </a:lnTo>
                <a:lnTo>
                  <a:pt x="452121" y="62091"/>
                </a:lnTo>
                <a:lnTo>
                  <a:pt x="413745" y="36045"/>
                </a:lnTo>
                <a:lnTo>
                  <a:pt x="370909" y="16517"/>
                </a:lnTo>
                <a:lnTo>
                  <a:pt x="324390" y="4253"/>
                </a:lnTo>
                <a:lnTo>
                  <a:pt x="274965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14678" y="3352289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19">
                <a:moveTo>
                  <a:pt x="0" y="264010"/>
                </a:moveTo>
                <a:lnTo>
                  <a:pt x="4430" y="216553"/>
                </a:lnTo>
                <a:lnTo>
                  <a:pt x="17202" y="171888"/>
                </a:lnTo>
                <a:lnTo>
                  <a:pt x="37540" y="130759"/>
                </a:lnTo>
                <a:lnTo>
                  <a:pt x="64668" y="93911"/>
                </a:lnTo>
                <a:lnTo>
                  <a:pt x="97808" y="62091"/>
                </a:lnTo>
                <a:lnTo>
                  <a:pt x="136184" y="36045"/>
                </a:lnTo>
                <a:lnTo>
                  <a:pt x="179020" y="16517"/>
                </a:lnTo>
                <a:lnTo>
                  <a:pt x="225539" y="4253"/>
                </a:lnTo>
                <a:lnTo>
                  <a:pt x="274965" y="0"/>
                </a:lnTo>
                <a:lnTo>
                  <a:pt x="324390" y="4253"/>
                </a:lnTo>
                <a:lnTo>
                  <a:pt x="370909" y="16517"/>
                </a:lnTo>
                <a:lnTo>
                  <a:pt x="413745" y="36045"/>
                </a:lnTo>
                <a:lnTo>
                  <a:pt x="452121" y="62091"/>
                </a:lnTo>
                <a:lnTo>
                  <a:pt x="485261" y="93911"/>
                </a:lnTo>
                <a:lnTo>
                  <a:pt x="512389" y="130759"/>
                </a:lnTo>
                <a:lnTo>
                  <a:pt x="532727" y="171888"/>
                </a:lnTo>
                <a:lnTo>
                  <a:pt x="545499" y="216553"/>
                </a:lnTo>
                <a:lnTo>
                  <a:pt x="549929" y="264010"/>
                </a:lnTo>
                <a:lnTo>
                  <a:pt x="545499" y="311466"/>
                </a:lnTo>
                <a:lnTo>
                  <a:pt x="532727" y="356131"/>
                </a:lnTo>
                <a:lnTo>
                  <a:pt x="512389" y="397260"/>
                </a:lnTo>
                <a:lnTo>
                  <a:pt x="485261" y="434108"/>
                </a:lnTo>
                <a:lnTo>
                  <a:pt x="452121" y="465928"/>
                </a:lnTo>
                <a:lnTo>
                  <a:pt x="413745" y="491974"/>
                </a:lnTo>
                <a:lnTo>
                  <a:pt x="370909" y="511502"/>
                </a:lnTo>
                <a:lnTo>
                  <a:pt x="324390" y="523766"/>
                </a:lnTo>
                <a:lnTo>
                  <a:pt x="274965" y="528020"/>
                </a:lnTo>
                <a:lnTo>
                  <a:pt x="225539" y="523766"/>
                </a:lnTo>
                <a:lnTo>
                  <a:pt x="179020" y="511502"/>
                </a:lnTo>
                <a:lnTo>
                  <a:pt x="136184" y="491974"/>
                </a:lnTo>
                <a:lnTo>
                  <a:pt x="97808" y="465928"/>
                </a:lnTo>
                <a:lnTo>
                  <a:pt x="64668" y="434108"/>
                </a:lnTo>
                <a:lnTo>
                  <a:pt x="37540" y="397260"/>
                </a:lnTo>
                <a:lnTo>
                  <a:pt x="17202" y="356131"/>
                </a:lnTo>
                <a:lnTo>
                  <a:pt x="4430" y="311466"/>
                </a:lnTo>
                <a:lnTo>
                  <a:pt x="0" y="26401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507432" y="4021496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19">
                <a:moveTo>
                  <a:pt x="274965" y="0"/>
                </a:moveTo>
                <a:lnTo>
                  <a:pt x="225539" y="4253"/>
                </a:lnTo>
                <a:lnTo>
                  <a:pt x="179020" y="16517"/>
                </a:lnTo>
                <a:lnTo>
                  <a:pt x="136185" y="36045"/>
                </a:lnTo>
                <a:lnTo>
                  <a:pt x="97808" y="62091"/>
                </a:lnTo>
                <a:lnTo>
                  <a:pt x="64668" y="93911"/>
                </a:lnTo>
                <a:lnTo>
                  <a:pt x="37540" y="130759"/>
                </a:lnTo>
                <a:lnTo>
                  <a:pt x="17202" y="171888"/>
                </a:lnTo>
                <a:lnTo>
                  <a:pt x="4430" y="216554"/>
                </a:lnTo>
                <a:lnTo>
                  <a:pt x="0" y="264010"/>
                </a:lnTo>
                <a:lnTo>
                  <a:pt x="4430" y="311465"/>
                </a:lnTo>
                <a:lnTo>
                  <a:pt x="17202" y="356131"/>
                </a:lnTo>
                <a:lnTo>
                  <a:pt x="37540" y="397260"/>
                </a:lnTo>
                <a:lnTo>
                  <a:pt x="64668" y="434107"/>
                </a:lnTo>
                <a:lnTo>
                  <a:pt x="97808" y="465927"/>
                </a:lnTo>
                <a:lnTo>
                  <a:pt x="136185" y="491973"/>
                </a:lnTo>
                <a:lnTo>
                  <a:pt x="179020" y="511501"/>
                </a:lnTo>
                <a:lnTo>
                  <a:pt x="225539" y="523765"/>
                </a:lnTo>
                <a:lnTo>
                  <a:pt x="274965" y="528019"/>
                </a:lnTo>
                <a:lnTo>
                  <a:pt x="324390" y="523765"/>
                </a:lnTo>
                <a:lnTo>
                  <a:pt x="370909" y="511501"/>
                </a:lnTo>
                <a:lnTo>
                  <a:pt x="413745" y="491973"/>
                </a:lnTo>
                <a:lnTo>
                  <a:pt x="452121" y="465927"/>
                </a:lnTo>
                <a:lnTo>
                  <a:pt x="485261" y="434107"/>
                </a:lnTo>
                <a:lnTo>
                  <a:pt x="512389" y="397260"/>
                </a:lnTo>
                <a:lnTo>
                  <a:pt x="532727" y="356131"/>
                </a:lnTo>
                <a:lnTo>
                  <a:pt x="545500" y="311465"/>
                </a:lnTo>
                <a:lnTo>
                  <a:pt x="549930" y="264010"/>
                </a:lnTo>
                <a:lnTo>
                  <a:pt x="545500" y="216554"/>
                </a:lnTo>
                <a:lnTo>
                  <a:pt x="532727" y="171888"/>
                </a:lnTo>
                <a:lnTo>
                  <a:pt x="512389" y="130759"/>
                </a:lnTo>
                <a:lnTo>
                  <a:pt x="485261" y="93911"/>
                </a:lnTo>
                <a:lnTo>
                  <a:pt x="452121" y="62091"/>
                </a:lnTo>
                <a:lnTo>
                  <a:pt x="413745" y="36045"/>
                </a:lnTo>
                <a:lnTo>
                  <a:pt x="370909" y="16517"/>
                </a:lnTo>
                <a:lnTo>
                  <a:pt x="324390" y="4253"/>
                </a:lnTo>
                <a:lnTo>
                  <a:pt x="274965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507432" y="4021496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19">
                <a:moveTo>
                  <a:pt x="0" y="264010"/>
                </a:moveTo>
                <a:lnTo>
                  <a:pt x="4430" y="216553"/>
                </a:lnTo>
                <a:lnTo>
                  <a:pt x="17202" y="171888"/>
                </a:lnTo>
                <a:lnTo>
                  <a:pt x="37540" y="130759"/>
                </a:lnTo>
                <a:lnTo>
                  <a:pt x="64668" y="93911"/>
                </a:lnTo>
                <a:lnTo>
                  <a:pt x="97808" y="62091"/>
                </a:lnTo>
                <a:lnTo>
                  <a:pt x="136184" y="36045"/>
                </a:lnTo>
                <a:lnTo>
                  <a:pt x="179020" y="16517"/>
                </a:lnTo>
                <a:lnTo>
                  <a:pt x="225539" y="4253"/>
                </a:lnTo>
                <a:lnTo>
                  <a:pt x="274965" y="0"/>
                </a:lnTo>
                <a:lnTo>
                  <a:pt x="324390" y="4253"/>
                </a:lnTo>
                <a:lnTo>
                  <a:pt x="370909" y="16517"/>
                </a:lnTo>
                <a:lnTo>
                  <a:pt x="413745" y="36045"/>
                </a:lnTo>
                <a:lnTo>
                  <a:pt x="452121" y="62091"/>
                </a:lnTo>
                <a:lnTo>
                  <a:pt x="485261" y="93911"/>
                </a:lnTo>
                <a:lnTo>
                  <a:pt x="512389" y="130759"/>
                </a:lnTo>
                <a:lnTo>
                  <a:pt x="532727" y="171888"/>
                </a:lnTo>
                <a:lnTo>
                  <a:pt x="545499" y="216553"/>
                </a:lnTo>
                <a:lnTo>
                  <a:pt x="549929" y="264010"/>
                </a:lnTo>
                <a:lnTo>
                  <a:pt x="545499" y="311466"/>
                </a:lnTo>
                <a:lnTo>
                  <a:pt x="532727" y="356131"/>
                </a:lnTo>
                <a:lnTo>
                  <a:pt x="512389" y="397260"/>
                </a:lnTo>
                <a:lnTo>
                  <a:pt x="485261" y="434108"/>
                </a:lnTo>
                <a:lnTo>
                  <a:pt x="452121" y="465928"/>
                </a:lnTo>
                <a:lnTo>
                  <a:pt x="413745" y="491974"/>
                </a:lnTo>
                <a:lnTo>
                  <a:pt x="370909" y="511502"/>
                </a:lnTo>
                <a:lnTo>
                  <a:pt x="324390" y="523766"/>
                </a:lnTo>
                <a:lnTo>
                  <a:pt x="274965" y="528020"/>
                </a:lnTo>
                <a:lnTo>
                  <a:pt x="225539" y="523766"/>
                </a:lnTo>
                <a:lnTo>
                  <a:pt x="179020" y="511502"/>
                </a:lnTo>
                <a:lnTo>
                  <a:pt x="136184" y="491974"/>
                </a:lnTo>
                <a:lnTo>
                  <a:pt x="97808" y="465928"/>
                </a:lnTo>
                <a:lnTo>
                  <a:pt x="64668" y="434108"/>
                </a:lnTo>
                <a:lnTo>
                  <a:pt x="37540" y="397260"/>
                </a:lnTo>
                <a:lnTo>
                  <a:pt x="17202" y="356131"/>
                </a:lnTo>
                <a:lnTo>
                  <a:pt x="4430" y="311466"/>
                </a:lnTo>
                <a:lnTo>
                  <a:pt x="0" y="26401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60531" y="5013680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20">
                <a:moveTo>
                  <a:pt x="274965" y="0"/>
                </a:moveTo>
                <a:lnTo>
                  <a:pt x="225539" y="4253"/>
                </a:lnTo>
                <a:lnTo>
                  <a:pt x="179020" y="16517"/>
                </a:lnTo>
                <a:lnTo>
                  <a:pt x="136185" y="36045"/>
                </a:lnTo>
                <a:lnTo>
                  <a:pt x="97808" y="62091"/>
                </a:lnTo>
                <a:lnTo>
                  <a:pt x="64668" y="93911"/>
                </a:lnTo>
                <a:lnTo>
                  <a:pt x="37540" y="130759"/>
                </a:lnTo>
                <a:lnTo>
                  <a:pt x="17202" y="171888"/>
                </a:lnTo>
                <a:lnTo>
                  <a:pt x="4430" y="216554"/>
                </a:lnTo>
                <a:lnTo>
                  <a:pt x="0" y="264010"/>
                </a:lnTo>
                <a:lnTo>
                  <a:pt x="4430" y="311466"/>
                </a:lnTo>
                <a:lnTo>
                  <a:pt x="17202" y="356131"/>
                </a:lnTo>
                <a:lnTo>
                  <a:pt x="37540" y="397260"/>
                </a:lnTo>
                <a:lnTo>
                  <a:pt x="64668" y="434108"/>
                </a:lnTo>
                <a:lnTo>
                  <a:pt x="97808" y="465927"/>
                </a:lnTo>
                <a:lnTo>
                  <a:pt x="136185" y="491974"/>
                </a:lnTo>
                <a:lnTo>
                  <a:pt x="179020" y="511502"/>
                </a:lnTo>
                <a:lnTo>
                  <a:pt x="225539" y="523766"/>
                </a:lnTo>
                <a:lnTo>
                  <a:pt x="274965" y="528019"/>
                </a:lnTo>
                <a:lnTo>
                  <a:pt x="324390" y="523766"/>
                </a:lnTo>
                <a:lnTo>
                  <a:pt x="370909" y="511502"/>
                </a:lnTo>
                <a:lnTo>
                  <a:pt x="413744" y="491974"/>
                </a:lnTo>
                <a:lnTo>
                  <a:pt x="452121" y="465927"/>
                </a:lnTo>
                <a:lnTo>
                  <a:pt x="485261" y="434108"/>
                </a:lnTo>
                <a:lnTo>
                  <a:pt x="512388" y="397260"/>
                </a:lnTo>
                <a:lnTo>
                  <a:pt x="532726" y="356131"/>
                </a:lnTo>
                <a:lnTo>
                  <a:pt x="545499" y="311466"/>
                </a:lnTo>
                <a:lnTo>
                  <a:pt x="549929" y="264010"/>
                </a:lnTo>
                <a:lnTo>
                  <a:pt x="545499" y="216554"/>
                </a:lnTo>
                <a:lnTo>
                  <a:pt x="532726" y="171888"/>
                </a:lnTo>
                <a:lnTo>
                  <a:pt x="512388" y="130759"/>
                </a:lnTo>
                <a:lnTo>
                  <a:pt x="485261" y="93911"/>
                </a:lnTo>
                <a:lnTo>
                  <a:pt x="452121" y="62091"/>
                </a:lnTo>
                <a:lnTo>
                  <a:pt x="413744" y="36045"/>
                </a:lnTo>
                <a:lnTo>
                  <a:pt x="370909" y="16517"/>
                </a:lnTo>
                <a:lnTo>
                  <a:pt x="324390" y="4253"/>
                </a:lnTo>
                <a:lnTo>
                  <a:pt x="274965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60531" y="5013680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20">
                <a:moveTo>
                  <a:pt x="0" y="264010"/>
                </a:moveTo>
                <a:lnTo>
                  <a:pt x="4430" y="216553"/>
                </a:lnTo>
                <a:lnTo>
                  <a:pt x="17202" y="171888"/>
                </a:lnTo>
                <a:lnTo>
                  <a:pt x="37540" y="130759"/>
                </a:lnTo>
                <a:lnTo>
                  <a:pt x="64668" y="93911"/>
                </a:lnTo>
                <a:lnTo>
                  <a:pt x="97808" y="62091"/>
                </a:lnTo>
                <a:lnTo>
                  <a:pt x="136184" y="36045"/>
                </a:lnTo>
                <a:lnTo>
                  <a:pt x="179020" y="16517"/>
                </a:lnTo>
                <a:lnTo>
                  <a:pt x="225539" y="4253"/>
                </a:lnTo>
                <a:lnTo>
                  <a:pt x="274965" y="0"/>
                </a:lnTo>
                <a:lnTo>
                  <a:pt x="324390" y="4253"/>
                </a:lnTo>
                <a:lnTo>
                  <a:pt x="370909" y="16517"/>
                </a:lnTo>
                <a:lnTo>
                  <a:pt x="413745" y="36045"/>
                </a:lnTo>
                <a:lnTo>
                  <a:pt x="452121" y="62091"/>
                </a:lnTo>
                <a:lnTo>
                  <a:pt x="485261" y="93911"/>
                </a:lnTo>
                <a:lnTo>
                  <a:pt x="512389" y="130759"/>
                </a:lnTo>
                <a:lnTo>
                  <a:pt x="532727" y="171888"/>
                </a:lnTo>
                <a:lnTo>
                  <a:pt x="545499" y="216553"/>
                </a:lnTo>
                <a:lnTo>
                  <a:pt x="549929" y="264010"/>
                </a:lnTo>
                <a:lnTo>
                  <a:pt x="545499" y="311466"/>
                </a:lnTo>
                <a:lnTo>
                  <a:pt x="532727" y="356131"/>
                </a:lnTo>
                <a:lnTo>
                  <a:pt x="512389" y="397260"/>
                </a:lnTo>
                <a:lnTo>
                  <a:pt x="485261" y="434108"/>
                </a:lnTo>
                <a:lnTo>
                  <a:pt x="452121" y="465928"/>
                </a:lnTo>
                <a:lnTo>
                  <a:pt x="413745" y="491974"/>
                </a:lnTo>
                <a:lnTo>
                  <a:pt x="370909" y="511502"/>
                </a:lnTo>
                <a:lnTo>
                  <a:pt x="324390" y="523766"/>
                </a:lnTo>
                <a:lnTo>
                  <a:pt x="274965" y="528020"/>
                </a:lnTo>
                <a:lnTo>
                  <a:pt x="225539" y="523766"/>
                </a:lnTo>
                <a:lnTo>
                  <a:pt x="179020" y="511502"/>
                </a:lnTo>
                <a:lnTo>
                  <a:pt x="136184" y="491974"/>
                </a:lnTo>
                <a:lnTo>
                  <a:pt x="97808" y="465928"/>
                </a:lnTo>
                <a:lnTo>
                  <a:pt x="64668" y="434108"/>
                </a:lnTo>
                <a:lnTo>
                  <a:pt x="37540" y="397260"/>
                </a:lnTo>
                <a:lnTo>
                  <a:pt x="17202" y="356131"/>
                </a:lnTo>
                <a:lnTo>
                  <a:pt x="4430" y="311466"/>
                </a:lnTo>
                <a:lnTo>
                  <a:pt x="0" y="26401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168829" y="5013682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20">
                <a:moveTo>
                  <a:pt x="274965" y="0"/>
                </a:moveTo>
                <a:lnTo>
                  <a:pt x="225539" y="4253"/>
                </a:lnTo>
                <a:lnTo>
                  <a:pt x="179020" y="16517"/>
                </a:lnTo>
                <a:lnTo>
                  <a:pt x="136185" y="36045"/>
                </a:lnTo>
                <a:lnTo>
                  <a:pt x="97808" y="62091"/>
                </a:lnTo>
                <a:lnTo>
                  <a:pt x="64668" y="93911"/>
                </a:lnTo>
                <a:lnTo>
                  <a:pt x="37540" y="130759"/>
                </a:lnTo>
                <a:lnTo>
                  <a:pt x="17202" y="171888"/>
                </a:lnTo>
                <a:lnTo>
                  <a:pt x="4430" y="216554"/>
                </a:lnTo>
                <a:lnTo>
                  <a:pt x="0" y="264010"/>
                </a:lnTo>
                <a:lnTo>
                  <a:pt x="4430" y="311466"/>
                </a:lnTo>
                <a:lnTo>
                  <a:pt x="17202" y="356131"/>
                </a:lnTo>
                <a:lnTo>
                  <a:pt x="37540" y="397261"/>
                </a:lnTo>
                <a:lnTo>
                  <a:pt x="64668" y="434108"/>
                </a:lnTo>
                <a:lnTo>
                  <a:pt x="97808" y="465928"/>
                </a:lnTo>
                <a:lnTo>
                  <a:pt x="136185" y="491975"/>
                </a:lnTo>
                <a:lnTo>
                  <a:pt x="179020" y="511503"/>
                </a:lnTo>
                <a:lnTo>
                  <a:pt x="225539" y="523766"/>
                </a:lnTo>
                <a:lnTo>
                  <a:pt x="274965" y="528020"/>
                </a:lnTo>
                <a:lnTo>
                  <a:pt x="324390" y="523766"/>
                </a:lnTo>
                <a:lnTo>
                  <a:pt x="370909" y="511503"/>
                </a:lnTo>
                <a:lnTo>
                  <a:pt x="413745" y="491975"/>
                </a:lnTo>
                <a:lnTo>
                  <a:pt x="452121" y="465928"/>
                </a:lnTo>
                <a:lnTo>
                  <a:pt x="485261" y="434108"/>
                </a:lnTo>
                <a:lnTo>
                  <a:pt x="512389" y="397261"/>
                </a:lnTo>
                <a:lnTo>
                  <a:pt x="532727" y="356131"/>
                </a:lnTo>
                <a:lnTo>
                  <a:pt x="545500" y="311466"/>
                </a:lnTo>
                <a:lnTo>
                  <a:pt x="549930" y="264010"/>
                </a:lnTo>
                <a:lnTo>
                  <a:pt x="545500" y="216554"/>
                </a:lnTo>
                <a:lnTo>
                  <a:pt x="532727" y="171888"/>
                </a:lnTo>
                <a:lnTo>
                  <a:pt x="512389" y="130759"/>
                </a:lnTo>
                <a:lnTo>
                  <a:pt x="485261" y="93911"/>
                </a:lnTo>
                <a:lnTo>
                  <a:pt x="452121" y="62091"/>
                </a:lnTo>
                <a:lnTo>
                  <a:pt x="413745" y="36045"/>
                </a:lnTo>
                <a:lnTo>
                  <a:pt x="370909" y="16517"/>
                </a:lnTo>
                <a:lnTo>
                  <a:pt x="324390" y="4253"/>
                </a:lnTo>
                <a:lnTo>
                  <a:pt x="274965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168829" y="5013682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20">
                <a:moveTo>
                  <a:pt x="0" y="264010"/>
                </a:moveTo>
                <a:lnTo>
                  <a:pt x="4430" y="216553"/>
                </a:lnTo>
                <a:lnTo>
                  <a:pt x="17202" y="171888"/>
                </a:lnTo>
                <a:lnTo>
                  <a:pt x="37540" y="130759"/>
                </a:lnTo>
                <a:lnTo>
                  <a:pt x="64668" y="93911"/>
                </a:lnTo>
                <a:lnTo>
                  <a:pt x="97808" y="62091"/>
                </a:lnTo>
                <a:lnTo>
                  <a:pt x="136184" y="36045"/>
                </a:lnTo>
                <a:lnTo>
                  <a:pt x="179020" y="16517"/>
                </a:lnTo>
                <a:lnTo>
                  <a:pt x="225539" y="4253"/>
                </a:lnTo>
                <a:lnTo>
                  <a:pt x="274965" y="0"/>
                </a:lnTo>
                <a:lnTo>
                  <a:pt x="324390" y="4253"/>
                </a:lnTo>
                <a:lnTo>
                  <a:pt x="370909" y="16517"/>
                </a:lnTo>
                <a:lnTo>
                  <a:pt x="413745" y="36045"/>
                </a:lnTo>
                <a:lnTo>
                  <a:pt x="452121" y="62091"/>
                </a:lnTo>
                <a:lnTo>
                  <a:pt x="485261" y="93911"/>
                </a:lnTo>
                <a:lnTo>
                  <a:pt x="512389" y="130759"/>
                </a:lnTo>
                <a:lnTo>
                  <a:pt x="532727" y="171888"/>
                </a:lnTo>
                <a:lnTo>
                  <a:pt x="545499" y="216553"/>
                </a:lnTo>
                <a:lnTo>
                  <a:pt x="549929" y="264010"/>
                </a:lnTo>
                <a:lnTo>
                  <a:pt x="545499" y="311466"/>
                </a:lnTo>
                <a:lnTo>
                  <a:pt x="532727" y="356131"/>
                </a:lnTo>
                <a:lnTo>
                  <a:pt x="512389" y="397260"/>
                </a:lnTo>
                <a:lnTo>
                  <a:pt x="485261" y="434108"/>
                </a:lnTo>
                <a:lnTo>
                  <a:pt x="452121" y="465928"/>
                </a:lnTo>
                <a:lnTo>
                  <a:pt x="413745" y="491974"/>
                </a:lnTo>
                <a:lnTo>
                  <a:pt x="370909" y="511502"/>
                </a:lnTo>
                <a:lnTo>
                  <a:pt x="324390" y="523766"/>
                </a:lnTo>
                <a:lnTo>
                  <a:pt x="274965" y="528020"/>
                </a:lnTo>
                <a:lnTo>
                  <a:pt x="225539" y="523766"/>
                </a:lnTo>
                <a:lnTo>
                  <a:pt x="179020" y="511502"/>
                </a:lnTo>
                <a:lnTo>
                  <a:pt x="136184" y="491974"/>
                </a:lnTo>
                <a:lnTo>
                  <a:pt x="97808" y="465928"/>
                </a:lnTo>
                <a:lnTo>
                  <a:pt x="64668" y="434108"/>
                </a:lnTo>
                <a:lnTo>
                  <a:pt x="37540" y="397260"/>
                </a:lnTo>
                <a:lnTo>
                  <a:pt x="17202" y="356131"/>
                </a:lnTo>
                <a:lnTo>
                  <a:pt x="4430" y="311466"/>
                </a:lnTo>
                <a:lnTo>
                  <a:pt x="0" y="26401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029600" y="4972834"/>
            <a:ext cx="612140" cy="610235"/>
          </a:xfrm>
          <a:custGeom>
            <a:avLst/>
            <a:gdLst/>
            <a:ahLst/>
            <a:cxnLst/>
            <a:rect l="l" t="t" r="r" b="b"/>
            <a:pathLst>
              <a:path w="612140" h="610235">
                <a:moveTo>
                  <a:pt x="147217" y="0"/>
                </a:moveTo>
                <a:lnTo>
                  <a:pt x="0" y="148192"/>
                </a:lnTo>
                <a:lnTo>
                  <a:pt x="157699" y="304854"/>
                </a:lnTo>
                <a:lnTo>
                  <a:pt x="0" y="461515"/>
                </a:lnTo>
                <a:lnTo>
                  <a:pt x="147217" y="609708"/>
                </a:lnTo>
                <a:lnTo>
                  <a:pt x="305896" y="452075"/>
                </a:lnTo>
                <a:lnTo>
                  <a:pt x="602288" y="452075"/>
                </a:lnTo>
                <a:lnTo>
                  <a:pt x="454091" y="304854"/>
                </a:lnTo>
                <a:lnTo>
                  <a:pt x="602288" y="157632"/>
                </a:lnTo>
                <a:lnTo>
                  <a:pt x="305896" y="157632"/>
                </a:lnTo>
                <a:lnTo>
                  <a:pt x="147217" y="0"/>
                </a:lnTo>
                <a:close/>
              </a:path>
              <a:path w="612140" h="610235">
                <a:moveTo>
                  <a:pt x="602288" y="452075"/>
                </a:moveTo>
                <a:lnTo>
                  <a:pt x="305896" y="452075"/>
                </a:lnTo>
                <a:lnTo>
                  <a:pt x="464572" y="609708"/>
                </a:lnTo>
                <a:lnTo>
                  <a:pt x="611790" y="461515"/>
                </a:lnTo>
                <a:lnTo>
                  <a:pt x="602288" y="452075"/>
                </a:lnTo>
                <a:close/>
              </a:path>
              <a:path w="612140" h="610235">
                <a:moveTo>
                  <a:pt x="464572" y="0"/>
                </a:moveTo>
                <a:lnTo>
                  <a:pt x="305896" y="157632"/>
                </a:lnTo>
                <a:lnTo>
                  <a:pt x="602288" y="157632"/>
                </a:lnTo>
                <a:lnTo>
                  <a:pt x="611790" y="148192"/>
                </a:lnTo>
                <a:lnTo>
                  <a:pt x="464572" y="0"/>
                </a:lnTo>
                <a:close/>
              </a:path>
            </a:pathLst>
          </a:custGeom>
          <a:solidFill>
            <a:srgbClr val="4B3C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029600" y="4972834"/>
            <a:ext cx="612140" cy="610235"/>
          </a:xfrm>
          <a:custGeom>
            <a:avLst/>
            <a:gdLst/>
            <a:ahLst/>
            <a:cxnLst/>
            <a:rect l="l" t="t" r="r" b="b"/>
            <a:pathLst>
              <a:path w="612140" h="610235">
                <a:moveTo>
                  <a:pt x="0" y="148192"/>
                </a:moveTo>
                <a:lnTo>
                  <a:pt x="147218" y="0"/>
                </a:lnTo>
                <a:lnTo>
                  <a:pt x="305896" y="157633"/>
                </a:lnTo>
                <a:lnTo>
                  <a:pt x="464572" y="0"/>
                </a:lnTo>
                <a:lnTo>
                  <a:pt x="611791" y="148192"/>
                </a:lnTo>
                <a:lnTo>
                  <a:pt x="454091" y="304854"/>
                </a:lnTo>
                <a:lnTo>
                  <a:pt x="611791" y="461515"/>
                </a:lnTo>
                <a:lnTo>
                  <a:pt x="464572" y="609708"/>
                </a:lnTo>
                <a:lnTo>
                  <a:pt x="305896" y="452075"/>
                </a:lnTo>
                <a:lnTo>
                  <a:pt x="147218" y="609708"/>
                </a:lnTo>
                <a:lnTo>
                  <a:pt x="0" y="461515"/>
                </a:lnTo>
                <a:lnTo>
                  <a:pt x="157699" y="304854"/>
                </a:lnTo>
                <a:lnTo>
                  <a:pt x="0" y="148192"/>
                </a:lnTo>
                <a:close/>
              </a:path>
            </a:pathLst>
          </a:custGeom>
          <a:ln w="25400">
            <a:solidFill>
              <a:srgbClr val="372C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4294967295"/>
          </p:nvPr>
        </p:nvSpPr>
        <p:spPr>
          <a:xfrm>
            <a:off x="8470348" y="6160136"/>
            <a:ext cx="196215" cy="1644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8692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305681" y="2218457"/>
            <a:ext cx="4467247" cy="3292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67200" y="2209800"/>
            <a:ext cx="4522950" cy="3397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200" y="653233"/>
            <a:ext cx="7315200" cy="4833167"/>
          </a:xfrm>
          <a:prstGeom prst="rect">
            <a:avLst/>
          </a:prstGeom>
        </p:spPr>
        <p:txBody>
          <a:bodyPr vert="horz" wrap="square" lIns="0" tIns="6145" rIns="0" bIns="0" rtlCol="0">
            <a:spAutoFit/>
          </a:bodyPr>
          <a:lstStyle/>
          <a:p>
            <a:pPr marL="3292591">
              <a:spcBef>
                <a:spcPts val="48"/>
              </a:spcBef>
            </a:pPr>
            <a:r>
              <a:rPr sz="4200" spc="-10" dirty="0">
                <a:solidFill>
                  <a:srgbClr val="535353"/>
                </a:solidFill>
                <a:latin typeface="Gill Sans MT"/>
                <a:cs typeface="Gill Sans MT"/>
              </a:rPr>
              <a:t>CASSANDRA</a:t>
            </a:r>
            <a:endParaRPr sz="4200" dirty="0">
              <a:latin typeface="Gill Sans MT"/>
              <a:cs typeface="Gill Sans MT"/>
            </a:endParaRPr>
          </a:p>
          <a:p>
            <a:pPr marL="234469" indent="-228001">
              <a:spcBef>
                <a:spcPts val="3794"/>
              </a:spcBef>
              <a:buSzPct val="82278"/>
              <a:buChar char="•"/>
              <a:tabLst>
                <a:tab pos="234469" algn="l"/>
                <a:tab pos="234792" algn="l"/>
              </a:tabLst>
            </a:pPr>
            <a:r>
              <a:rPr sz="2000" spc="-43" dirty="0">
                <a:solidFill>
                  <a:srgbClr val="535353"/>
                </a:solidFill>
                <a:latin typeface="Gill Sans MT"/>
                <a:cs typeface="Gill Sans MT"/>
              </a:rPr>
              <a:t>Fast </a:t>
            </a:r>
            <a:r>
              <a:rPr sz="2000" spc="-33" dirty="0">
                <a:solidFill>
                  <a:srgbClr val="535353"/>
                </a:solidFill>
                <a:latin typeface="Gill Sans MT"/>
                <a:cs typeface="Gill Sans MT"/>
              </a:rPr>
              <a:t>Distributed </a:t>
            </a:r>
            <a:r>
              <a:rPr sz="2000" spc="-3" dirty="0">
                <a:solidFill>
                  <a:srgbClr val="535353"/>
                </a:solidFill>
                <a:latin typeface="Gill Sans MT"/>
                <a:cs typeface="Gill Sans MT"/>
              </a:rPr>
              <a:t>NoSQL</a:t>
            </a:r>
            <a:r>
              <a:rPr sz="2000" spc="76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535353"/>
                </a:solidFill>
                <a:latin typeface="Gill Sans MT"/>
                <a:cs typeface="Gill Sans MT"/>
              </a:rPr>
              <a:t>Database</a:t>
            </a:r>
            <a:endParaRPr sz="2000" dirty="0">
              <a:latin typeface="Gill Sans MT"/>
              <a:cs typeface="Gill Sans MT"/>
            </a:endParaRPr>
          </a:p>
          <a:p>
            <a:pPr marL="234469" indent="-228001">
              <a:spcBef>
                <a:spcPts val="1963"/>
              </a:spcBef>
              <a:buSzPct val="82278"/>
              <a:buChar char="•"/>
              <a:tabLst>
                <a:tab pos="234469" algn="l"/>
                <a:tab pos="234792" algn="l"/>
              </a:tabLst>
            </a:pPr>
            <a:r>
              <a:rPr sz="2000" spc="-20" dirty="0">
                <a:solidFill>
                  <a:srgbClr val="535353"/>
                </a:solidFill>
                <a:latin typeface="Gill Sans MT"/>
                <a:cs typeface="Gill Sans MT"/>
              </a:rPr>
              <a:t>High</a:t>
            </a:r>
            <a:r>
              <a:rPr sz="2000" spc="-143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000" spc="-36" dirty="0">
                <a:solidFill>
                  <a:srgbClr val="535353"/>
                </a:solidFill>
                <a:latin typeface="Gill Sans MT"/>
                <a:cs typeface="Gill Sans MT"/>
              </a:rPr>
              <a:t>Availability</a:t>
            </a:r>
            <a:endParaRPr sz="2000" dirty="0">
              <a:latin typeface="Gill Sans MT"/>
              <a:cs typeface="Gill Sans MT"/>
            </a:endParaRPr>
          </a:p>
          <a:p>
            <a:pPr marL="234469" indent="-228001">
              <a:spcBef>
                <a:spcPts val="1963"/>
              </a:spcBef>
              <a:buSzPct val="82278"/>
              <a:buChar char="•"/>
              <a:tabLst>
                <a:tab pos="234469" algn="l"/>
                <a:tab pos="234792" algn="l"/>
              </a:tabLst>
            </a:pPr>
            <a:r>
              <a:rPr sz="2000" spc="-38" dirty="0">
                <a:solidFill>
                  <a:srgbClr val="535353"/>
                </a:solidFill>
                <a:latin typeface="Gill Sans MT"/>
                <a:cs typeface="Gill Sans MT"/>
              </a:rPr>
              <a:t>Linear </a:t>
            </a:r>
            <a:r>
              <a:rPr sz="2000" spc="-28" dirty="0">
                <a:solidFill>
                  <a:srgbClr val="535353"/>
                </a:solidFill>
                <a:latin typeface="Gill Sans MT"/>
                <a:cs typeface="Gill Sans MT"/>
              </a:rPr>
              <a:t>Scalability </a:t>
            </a:r>
            <a:r>
              <a:rPr sz="2000" spc="166" dirty="0">
                <a:solidFill>
                  <a:srgbClr val="535353"/>
                </a:solidFill>
                <a:latin typeface="Gill Sans MT"/>
                <a:cs typeface="Gill Sans MT"/>
              </a:rPr>
              <a:t>=&gt;</a:t>
            </a:r>
            <a:r>
              <a:rPr sz="2000" spc="66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000" spc="-36" dirty="0">
                <a:solidFill>
                  <a:srgbClr val="535353"/>
                </a:solidFill>
                <a:latin typeface="Gill Sans MT"/>
                <a:cs typeface="Gill Sans MT"/>
              </a:rPr>
              <a:t>Predictability</a:t>
            </a:r>
            <a:endParaRPr sz="2000" dirty="0">
              <a:latin typeface="Gill Sans MT"/>
              <a:cs typeface="Gill Sans MT"/>
            </a:endParaRPr>
          </a:p>
          <a:p>
            <a:pPr marL="234469" indent="-228001">
              <a:spcBef>
                <a:spcPts val="1963"/>
              </a:spcBef>
              <a:buSzPct val="82278"/>
              <a:buChar char="•"/>
              <a:tabLst>
                <a:tab pos="234469" algn="l"/>
                <a:tab pos="234792" algn="l"/>
              </a:tabLst>
            </a:pPr>
            <a:r>
              <a:rPr sz="2000" spc="-8" dirty="0">
                <a:solidFill>
                  <a:srgbClr val="535353"/>
                </a:solidFill>
                <a:latin typeface="Gill Sans MT"/>
                <a:cs typeface="Gill Sans MT"/>
              </a:rPr>
              <a:t>No</a:t>
            </a:r>
            <a:r>
              <a:rPr sz="2000" spc="-38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000" spc="-3" dirty="0">
                <a:solidFill>
                  <a:srgbClr val="535353"/>
                </a:solidFill>
                <a:latin typeface="Gill Sans MT"/>
                <a:cs typeface="Gill Sans MT"/>
              </a:rPr>
              <a:t>SPOF</a:t>
            </a:r>
            <a:r>
              <a:rPr lang="en-US" sz="2000" spc="-3" dirty="0">
                <a:solidFill>
                  <a:srgbClr val="535353"/>
                </a:solidFill>
                <a:latin typeface="Gill Sans MT"/>
                <a:cs typeface="Gill Sans MT"/>
              </a:rPr>
              <a:t> (single point of failure)</a:t>
            </a:r>
            <a:endParaRPr sz="2000" dirty="0">
              <a:latin typeface="Gill Sans MT"/>
              <a:cs typeface="Gill Sans MT"/>
            </a:endParaRPr>
          </a:p>
          <a:p>
            <a:pPr marL="234469" indent="-228001">
              <a:spcBef>
                <a:spcPts val="1963"/>
              </a:spcBef>
              <a:buSzPct val="82278"/>
              <a:buChar char="•"/>
              <a:tabLst>
                <a:tab pos="234469" algn="l"/>
                <a:tab pos="234792" algn="l"/>
              </a:tabLst>
            </a:pPr>
            <a:r>
              <a:rPr sz="2000" spc="-33" dirty="0">
                <a:solidFill>
                  <a:srgbClr val="535353"/>
                </a:solidFill>
                <a:latin typeface="Gill Sans MT"/>
                <a:cs typeface="Gill Sans MT"/>
              </a:rPr>
              <a:t>Multi-DC</a:t>
            </a:r>
            <a:r>
              <a:rPr lang="en-US" sz="2000" spc="-33" dirty="0">
                <a:solidFill>
                  <a:srgbClr val="535353"/>
                </a:solidFill>
                <a:latin typeface="Gill Sans MT"/>
                <a:cs typeface="Gill Sans MT"/>
              </a:rPr>
              <a:t> (data center)</a:t>
            </a:r>
            <a:endParaRPr sz="2000" dirty="0">
              <a:latin typeface="Gill Sans MT"/>
              <a:cs typeface="Gill Sans MT"/>
            </a:endParaRPr>
          </a:p>
          <a:p>
            <a:pPr marL="234469" indent="-228001">
              <a:spcBef>
                <a:spcPts val="1963"/>
              </a:spcBef>
              <a:buSzPct val="82278"/>
              <a:buChar char="•"/>
              <a:tabLst>
                <a:tab pos="234469" algn="l"/>
                <a:tab pos="234792" algn="l"/>
              </a:tabLst>
            </a:pPr>
            <a:r>
              <a:rPr sz="2000" spc="-41" dirty="0">
                <a:solidFill>
                  <a:srgbClr val="535353"/>
                </a:solidFill>
                <a:latin typeface="Gill Sans MT"/>
                <a:cs typeface="Gill Sans MT"/>
              </a:rPr>
              <a:t>Horizontally </a:t>
            </a:r>
            <a:r>
              <a:rPr sz="2000" spc="-25" dirty="0">
                <a:solidFill>
                  <a:srgbClr val="535353"/>
                </a:solidFill>
                <a:latin typeface="Gill Sans MT"/>
                <a:cs typeface="Gill Sans MT"/>
              </a:rPr>
              <a:t>scalable</a:t>
            </a:r>
            <a:endParaRPr sz="2000" dirty="0">
              <a:latin typeface="Gill Sans MT"/>
              <a:cs typeface="Gill Sans MT"/>
            </a:endParaRPr>
          </a:p>
          <a:p>
            <a:pPr marL="234469" indent="-228001">
              <a:spcBef>
                <a:spcPts val="1963"/>
              </a:spcBef>
              <a:buSzPct val="82278"/>
              <a:buChar char="•"/>
              <a:tabLst>
                <a:tab pos="234469" algn="l"/>
                <a:tab pos="234792" algn="l"/>
              </a:tabLst>
            </a:pPr>
            <a:r>
              <a:rPr sz="2000" spc="-25" dirty="0">
                <a:solidFill>
                  <a:srgbClr val="535353"/>
                </a:solidFill>
                <a:latin typeface="Gill Sans MT"/>
                <a:cs typeface="Gill Sans MT"/>
              </a:rPr>
              <a:t>Not </a:t>
            </a:r>
            <a:r>
              <a:rPr sz="2000" spc="5" dirty="0">
                <a:solidFill>
                  <a:srgbClr val="535353"/>
                </a:solidFill>
                <a:latin typeface="Gill Sans MT"/>
                <a:cs typeface="Gill Sans MT"/>
              </a:rPr>
              <a:t>a </a:t>
            </a:r>
            <a:r>
              <a:rPr sz="2000" spc="-25" dirty="0">
                <a:solidFill>
                  <a:srgbClr val="535353"/>
                </a:solidFill>
                <a:latin typeface="Gill Sans MT"/>
                <a:cs typeface="Gill Sans MT"/>
              </a:rPr>
              <a:t>drop </a:t>
            </a:r>
            <a:r>
              <a:rPr sz="2000" spc="-36" dirty="0">
                <a:solidFill>
                  <a:srgbClr val="535353"/>
                </a:solidFill>
                <a:latin typeface="Gill Sans MT"/>
                <a:cs typeface="Gill Sans MT"/>
              </a:rPr>
              <a:t>in </a:t>
            </a:r>
            <a:r>
              <a:rPr sz="2000" spc="-20" dirty="0">
                <a:solidFill>
                  <a:srgbClr val="535353"/>
                </a:solidFill>
                <a:latin typeface="Gill Sans MT"/>
                <a:cs typeface="Gill Sans MT"/>
              </a:rPr>
              <a:t>replacement </a:t>
            </a:r>
            <a:r>
              <a:rPr sz="2000" spc="-56" dirty="0">
                <a:solidFill>
                  <a:srgbClr val="535353"/>
                </a:solidFill>
                <a:latin typeface="Gill Sans MT"/>
                <a:cs typeface="Gill Sans MT"/>
              </a:rPr>
              <a:t>for</a:t>
            </a:r>
            <a:r>
              <a:rPr sz="2000" spc="104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000" spc="-15" dirty="0">
                <a:solidFill>
                  <a:srgbClr val="535353"/>
                </a:solidFill>
                <a:latin typeface="Gill Sans MT"/>
                <a:cs typeface="Gill Sans MT"/>
              </a:rPr>
              <a:t>RDBMS</a:t>
            </a:r>
            <a:endParaRPr sz="2000" dirty="0">
              <a:latin typeface="Gill Sans MT"/>
              <a:cs typeface="Gill Sans M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18885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17077" y="869061"/>
            <a:ext cx="127706" cy="1243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1193"/>
            <a:ext cx="9144000" cy="17986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1092" y="6357575"/>
            <a:ext cx="826443" cy="153174"/>
          </a:xfrm>
          <a:prstGeom prst="rect">
            <a:avLst/>
          </a:prstGeom>
        </p:spPr>
        <p:txBody>
          <a:bodyPr vert="horz" wrap="square" lIns="0" tIns="8830" rIns="0" bIns="0" rtlCol="0">
            <a:spAutoFit/>
          </a:bodyPr>
          <a:lstStyle/>
          <a:p>
            <a:pPr marL="8830">
              <a:spcBef>
                <a:spcPts val="70"/>
              </a:spcBef>
            </a:pPr>
            <a:r>
              <a:rPr sz="900" dirty="0">
                <a:solidFill>
                  <a:srgbClr val="9B9B9B"/>
                </a:solidFill>
                <a:latin typeface="Book Antiqua"/>
                <a:cs typeface="Book Antiqua"/>
              </a:rPr>
              <a:t>©2012</a:t>
            </a:r>
            <a:r>
              <a:rPr sz="900" spc="-49" dirty="0">
                <a:solidFill>
                  <a:srgbClr val="9B9B9B"/>
                </a:solidFill>
                <a:latin typeface="Book Antiqua"/>
                <a:cs typeface="Book Antiqua"/>
              </a:rPr>
              <a:t> </a:t>
            </a:r>
            <a:r>
              <a:rPr sz="900" spc="-3" dirty="0">
                <a:solidFill>
                  <a:srgbClr val="9B9B9B"/>
                </a:solidFill>
                <a:latin typeface="Book Antiqua"/>
                <a:cs typeface="Book Antiqua"/>
              </a:rPr>
              <a:t>DataStax</a:t>
            </a:r>
            <a:endParaRPr sz="9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94824" y="6309708"/>
            <a:ext cx="178594" cy="208971"/>
          </a:xfrm>
          <a:prstGeom prst="rect">
            <a:avLst/>
          </a:prstGeom>
        </p:spPr>
        <p:txBody>
          <a:bodyPr vert="horz" wrap="square" lIns="0" tIns="8830" rIns="0" bIns="0" rtlCol="0">
            <a:spAutoFit/>
          </a:bodyPr>
          <a:lstStyle/>
          <a:p>
            <a:pPr marL="8830">
              <a:spcBef>
                <a:spcPts val="70"/>
              </a:spcBef>
            </a:pPr>
            <a:r>
              <a:rPr sz="1300" dirty="0">
                <a:solidFill>
                  <a:srgbClr val="9B9B9B"/>
                </a:solidFill>
                <a:latin typeface="Gill Sans MT"/>
                <a:cs typeface="Gill Sans MT"/>
              </a:rPr>
              <a:t>14</a:t>
            </a:r>
            <a:endParaRPr sz="1300">
              <a:latin typeface="Gill Sans MT"/>
              <a:cs typeface="Gill Sans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2570" y="417746"/>
            <a:ext cx="8009930" cy="58571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9144000" cy="6683939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0" y="9753600"/>
                </a:moveTo>
                <a:lnTo>
                  <a:pt x="13004800" y="9753600"/>
                </a:lnTo>
                <a:lnTo>
                  <a:pt x="13004800" y="0"/>
                </a:lnTo>
                <a:lnTo>
                  <a:pt x="0" y="0"/>
                </a:lnTo>
                <a:lnTo>
                  <a:pt x="0" y="9753600"/>
                </a:lnTo>
                <a:close/>
              </a:path>
            </a:pathLst>
          </a:custGeom>
          <a:ln w="12700">
            <a:solidFill>
              <a:srgbClr val="4C4C4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Cassandra</a:t>
            </a:r>
          </a:p>
        </p:txBody>
      </p:sp>
      <p:sp>
        <p:nvSpPr>
          <p:cNvPr id="3" name="object 4"/>
          <p:cNvSpPr txBox="1"/>
          <p:nvPr/>
        </p:nvSpPr>
        <p:spPr>
          <a:xfrm>
            <a:off x="444500" y="1953665"/>
            <a:ext cx="99060" cy="1506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Arial"/>
                <a:cs typeface="Arial"/>
              </a:rPr>
              <a:t>•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650" dirty="0">
                <a:latin typeface="Arial"/>
                <a:cs typeface="Arial"/>
              </a:rPr>
              <a:t>•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650" dirty="0">
                <a:latin typeface="Arial"/>
                <a:cs typeface="Arial"/>
              </a:rPr>
              <a:t>•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650" dirty="0">
                <a:latin typeface="Arial"/>
                <a:cs typeface="Arial"/>
              </a:rPr>
              <a:t>•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5"/>
          <p:cNvSpPr txBox="1"/>
          <p:nvPr/>
        </p:nvSpPr>
        <p:spPr>
          <a:xfrm>
            <a:off x="700087" y="1849109"/>
            <a:ext cx="3577590" cy="1665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75690">
              <a:lnSpc>
                <a:spcPct val="122300"/>
              </a:lnSpc>
              <a:spcBef>
                <a:spcPts val="100"/>
              </a:spcBef>
            </a:pPr>
            <a:r>
              <a:rPr sz="2200" spc="-5" dirty="0">
                <a:latin typeface="Verdana"/>
                <a:cs typeface="Verdana"/>
              </a:rPr>
              <a:t>Fully </a:t>
            </a:r>
            <a:r>
              <a:rPr sz="2200" spc="-10" dirty="0">
                <a:latin typeface="Verdana"/>
                <a:cs typeface="Verdana"/>
              </a:rPr>
              <a:t>Replicated  </a:t>
            </a:r>
            <a:r>
              <a:rPr sz="2200" spc="-5" dirty="0">
                <a:latin typeface="Verdana"/>
                <a:cs typeface="Verdana"/>
              </a:rPr>
              <a:t>Clients write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local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22300"/>
              </a:lnSpc>
            </a:pPr>
            <a:r>
              <a:rPr sz="2200" spc="-5" dirty="0">
                <a:latin typeface="Verdana"/>
                <a:cs typeface="Verdana"/>
              </a:rPr>
              <a:t>Data syncs across </a:t>
            </a:r>
            <a:r>
              <a:rPr sz="2200" spc="-20" dirty="0">
                <a:latin typeface="Verdana"/>
                <a:cs typeface="Verdana"/>
              </a:rPr>
              <a:t>WAN  </a:t>
            </a:r>
            <a:r>
              <a:rPr sz="2200" spc="-10" dirty="0">
                <a:latin typeface="Verdana"/>
                <a:cs typeface="Verdana"/>
              </a:rPr>
              <a:t>Replication </a:t>
            </a:r>
            <a:r>
              <a:rPr sz="2200" spc="-20" dirty="0">
                <a:latin typeface="Verdana"/>
                <a:cs typeface="Verdana"/>
              </a:rPr>
              <a:t>Factor </a:t>
            </a:r>
            <a:r>
              <a:rPr sz="2200" spc="-5" dirty="0">
                <a:latin typeface="Verdana"/>
                <a:cs typeface="Verdana"/>
              </a:rPr>
              <a:t>per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DC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6258946" y="3915500"/>
            <a:ext cx="1869439" cy="1824355"/>
          </a:xfrm>
          <a:custGeom>
            <a:avLst/>
            <a:gdLst/>
            <a:ahLst/>
            <a:cxnLst/>
            <a:rect l="l" t="t" r="r" b="b"/>
            <a:pathLst>
              <a:path w="1869440" h="1824354">
                <a:moveTo>
                  <a:pt x="1595656" y="267143"/>
                </a:moveTo>
                <a:lnTo>
                  <a:pt x="1629848" y="302289"/>
                </a:lnTo>
                <a:lnTo>
                  <a:pt x="1661761" y="338728"/>
                </a:lnTo>
                <a:lnTo>
                  <a:pt x="1691394" y="376370"/>
                </a:lnTo>
                <a:lnTo>
                  <a:pt x="1718747" y="415127"/>
                </a:lnTo>
                <a:lnTo>
                  <a:pt x="1743821" y="454909"/>
                </a:lnTo>
                <a:lnTo>
                  <a:pt x="1766616" y="495626"/>
                </a:lnTo>
                <a:lnTo>
                  <a:pt x="1787131" y="537191"/>
                </a:lnTo>
                <a:lnTo>
                  <a:pt x="1805366" y="579513"/>
                </a:lnTo>
                <a:lnTo>
                  <a:pt x="1821323" y="622504"/>
                </a:lnTo>
                <a:lnTo>
                  <a:pt x="1834999" y="666075"/>
                </a:lnTo>
                <a:lnTo>
                  <a:pt x="1846397" y="710135"/>
                </a:lnTo>
                <a:lnTo>
                  <a:pt x="1855515" y="754597"/>
                </a:lnTo>
                <a:lnTo>
                  <a:pt x="1862353" y="799371"/>
                </a:lnTo>
                <a:lnTo>
                  <a:pt x="1866912" y="844368"/>
                </a:lnTo>
                <a:lnTo>
                  <a:pt x="1869191" y="889498"/>
                </a:lnTo>
                <a:lnTo>
                  <a:pt x="1869191" y="934673"/>
                </a:lnTo>
                <a:lnTo>
                  <a:pt x="1866912" y="979803"/>
                </a:lnTo>
                <a:lnTo>
                  <a:pt x="1862353" y="1024800"/>
                </a:lnTo>
                <a:lnTo>
                  <a:pt x="1855515" y="1069574"/>
                </a:lnTo>
                <a:lnTo>
                  <a:pt x="1846397" y="1114036"/>
                </a:lnTo>
                <a:lnTo>
                  <a:pt x="1834999" y="1158096"/>
                </a:lnTo>
                <a:lnTo>
                  <a:pt x="1821323" y="1201666"/>
                </a:lnTo>
                <a:lnTo>
                  <a:pt x="1805366" y="1244657"/>
                </a:lnTo>
                <a:lnTo>
                  <a:pt x="1787131" y="1286980"/>
                </a:lnTo>
                <a:lnTo>
                  <a:pt x="1766616" y="1328544"/>
                </a:lnTo>
                <a:lnTo>
                  <a:pt x="1743821" y="1369262"/>
                </a:lnTo>
                <a:lnTo>
                  <a:pt x="1718747" y="1409044"/>
                </a:lnTo>
                <a:lnTo>
                  <a:pt x="1691394" y="1447800"/>
                </a:lnTo>
                <a:lnTo>
                  <a:pt x="1661761" y="1485442"/>
                </a:lnTo>
                <a:lnTo>
                  <a:pt x="1629848" y="1521881"/>
                </a:lnTo>
                <a:lnTo>
                  <a:pt x="1595656" y="1557027"/>
                </a:lnTo>
                <a:lnTo>
                  <a:pt x="1560778" y="1589377"/>
                </a:lnTo>
                <a:lnTo>
                  <a:pt x="1524654" y="1619639"/>
                </a:lnTo>
                <a:lnTo>
                  <a:pt x="1487366" y="1647814"/>
                </a:lnTo>
                <a:lnTo>
                  <a:pt x="1448999" y="1673903"/>
                </a:lnTo>
                <a:lnTo>
                  <a:pt x="1409635" y="1697904"/>
                </a:lnTo>
                <a:lnTo>
                  <a:pt x="1369357" y="1719818"/>
                </a:lnTo>
                <a:lnTo>
                  <a:pt x="1328248" y="1739645"/>
                </a:lnTo>
                <a:lnTo>
                  <a:pt x="1286392" y="1757385"/>
                </a:lnTo>
                <a:lnTo>
                  <a:pt x="1243871" y="1773038"/>
                </a:lnTo>
                <a:lnTo>
                  <a:pt x="1200769" y="1786604"/>
                </a:lnTo>
                <a:lnTo>
                  <a:pt x="1157168" y="1798083"/>
                </a:lnTo>
                <a:lnTo>
                  <a:pt x="1113152" y="1807475"/>
                </a:lnTo>
                <a:lnTo>
                  <a:pt x="1068804" y="1814779"/>
                </a:lnTo>
                <a:lnTo>
                  <a:pt x="1024206" y="1819997"/>
                </a:lnTo>
                <a:lnTo>
                  <a:pt x="979442" y="1823127"/>
                </a:lnTo>
                <a:lnTo>
                  <a:pt x="934596" y="1824171"/>
                </a:lnTo>
                <a:lnTo>
                  <a:pt x="889749" y="1823127"/>
                </a:lnTo>
                <a:lnTo>
                  <a:pt x="844985" y="1819997"/>
                </a:lnTo>
                <a:lnTo>
                  <a:pt x="800387" y="1814779"/>
                </a:lnTo>
                <a:lnTo>
                  <a:pt x="756039" y="1807475"/>
                </a:lnTo>
                <a:lnTo>
                  <a:pt x="712023" y="1798083"/>
                </a:lnTo>
                <a:lnTo>
                  <a:pt x="668422" y="1786604"/>
                </a:lnTo>
                <a:lnTo>
                  <a:pt x="625320" y="1773038"/>
                </a:lnTo>
                <a:lnTo>
                  <a:pt x="582799" y="1757385"/>
                </a:lnTo>
                <a:lnTo>
                  <a:pt x="540943" y="1739645"/>
                </a:lnTo>
                <a:lnTo>
                  <a:pt x="499834" y="1719818"/>
                </a:lnTo>
                <a:lnTo>
                  <a:pt x="459556" y="1697904"/>
                </a:lnTo>
                <a:lnTo>
                  <a:pt x="420192" y="1673903"/>
                </a:lnTo>
                <a:lnTo>
                  <a:pt x="381825" y="1647814"/>
                </a:lnTo>
                <a:lnTo>
                  <a:pt x="344537" y="1619639"/>
                </a:lnTo>
                <a:lnTo>
                  <a:pt x="308413" y="1589377"/>
                </a:lnTo>
                <a:lnTo>
                  <a:pt x="273535" y="1557027"/>
                </a:lnTo>
                <a:lnTo>
                  <a:pt x="239343" y="1521881"/>
                </a:lnTo>
                <a:lnTo>
                  <a:pt x="207430" y="1485442"/>
                </a:lnTo>
                <a:lnTo>
                  <a:pt x="177797" y="1447800"/>
                </a:lnTo>
                <a:lnTo>
                  <a:pt x="150444" y="1409044"/>
                </a:lnTo>
                <a:lnTo>
                  <a:pt x="125370" y="1369262"/>
                </a:lnTo>
                <a:lnTo>
                  <a:pt x="102575" y="1328544"/>
                </a:lnTo>
                <a:lnTo>
                  <a:pt x="82060" y="1286980"/>
                </a:lnTo>
                <a:lnTo>
                  <a:pt x="63824" y="1244657"/>
                </a:lnTo>
                <a:lnTo>
                  <a:pt x="47868" y="1201666"/>
                </a:lnTo>
                <a:lnTo>
                  <a:pt x="34191" y="1158096"/>
                </a:lnTo>
                <a:lnTo>
                  <a:pt x="22794" y="1114036"/>
                </a:lnTo>
                <a:lnTo>
                  <a:pt x="13676" y="1069574"/>
                </a:lnTo>
                <a:lnTo>
                  <a:pt x="6838" y="1024800"/>
                </a:lnTo>
                <a:lnTo>
                  <a:pt x="2279" y="979803"/>
                </a:lnTo>
                <a:lnTo>
                  <a:pt x="0" y="934673"/>
                </a:lnTo>
                <a:lnTo>
                  <a:pt x="0" y="889498"/>
                </a:lnTo>
                <a:lnTo>
                  <a:pt x="2279" y="844368"/>
                </a:lnTo>
                <a:lnTo>
                  <a:pt x="6838" y="799371"/>
                </a:lnTo>
                <a:lnTo>
                  <a:pt x="13676" y="754597"/>
                </a:lnTo>
                <a:lnTo>
                  <a:pt x="22794" y="710135"/>
                </a:lnTo>
                <a:lnTo>
                  <a:pt x="34191" y="666075"/>
                </a:lnTo>
                <a:lnTo>
                  <a:pt x="47868" y="622504"/>
                </a:lnTo>
                <a:lnTo>
                  <a:pt x="63824" y="579513"/>
                </a:lnTo>
                <a:lnTo>
                  <a:pt x="82060" y="537191"/>
                </a:lnTo>
                <a:lnTo>
                  <a:pt x="102575" y="495626"/>
                </a:lnTo>
                <a:lnTo>
                  <a:pt x="125370" y="454909"/>
                </a:lnTo>
                <a:lnTo>
                  <a:pt x="150444" y="415127"/>
                </a:lnTo>
                <a:lnTo>
                  <a:pt x="177797" y="376370"/>
                </a:lnTo>
                <a:lnTo>
                  <a:pt x="207430" y="338728"/>
                </a:lnTo>
                <a:lnTo>
                  <a:pt x="239343" y="302289"/>
                </a:lnTo>
                <a:lnTo>
                  <a:pt x="273535" y="267143"/>
                </a:lnTo>
                <a:lnTo>
                  <a:pt x="308413" y="234794"/>
                </a:lnTo>
                <a:lnTo>
                  <a:pt x="344537" y="204531"/>
                </a:lnTo>
                <a:lnTo>
                  <a:pt x="381825" y="176356"/>
                </a:lnTo>
                <a:lnTo>
                  <a:pt x="420192" y="150268"/>
                </a:lnTo>
                <a:lnTo>
                  <a:pt x="459556" y="126267"/>
                </a:lnTo>
                <a:lnTo>
                  <a:pt x="499834" y="104353"/>
                </a:lnTo>
                <a:lnTo>
                  <a:pt x="540943" y="84525"/>
                </a:lnTo>
                <a:lnTo>
                  <a:pt x="582799" y="66785"/>
                </a:lnTo>
                <a:lnTo>
                  <a:pt x="625320" y="51132"/>
                </a:lnTo>
                <a:lnTo>
                  <a:pt x="668422" y="37567"/>
                </a:lnTo>
                <a:lnTo>
                  <a:pt x="712023" y="26088"/>
                </a:lnTo>
                <a:lnTo>
                  <a:pt x="756039" y="16696"/>
                </a:lnTo>
                <a:lnTo>
                  <a:pt x="800387" y="9391"/>
                </a:lnTo>
                <a:lnTo>
                  <a:pt x="844985" y="4174"/>
                </a:lnTo>
                <a:lnTo>
                  <a:pt x="889749" y="1043"/>
                </a:lnTo>
                <a:lnTo>
                  <a:pt x="934596" y="0"/>
                </a:lnTo>
                <a:lnTo>
                  <a:pt x="979442" y="1043"/>
                </a:lnTo>
                <a:lnTo>
                  <a:pt x="1024206" y="4174"/>
                </a:lnTo>
                <a:lnTo>
                  <a:pt x="1068804" y="9391"/>
                </a:lnTo>
                <a:lnTo>
                  <a:pt x="1113152" y="16696"/>
                </a:lnTo>
                <a:lnTo>
                  <a:pt x="1157168" y="26088"/>
                </a:lnTo>
                <a:lnTo>
                  <a:pt x="1200769" y="37567"/>
                </a:lnTo>
                <a:lnTo>
                  <a:pt x="1243871" y="51132"/>
                </a:lnTo>
                <a:lnTo>
                  <a:pt x="1286392" y="66785"/>
                </a:lnTo>
                <a:lnTo>
                  <a:pt x="1328248" y="84525"/>
                </a:lnTo>
                <a:lnTo>
                  <a:pt x="1369357" y="104353"/>
                </a:lnTo>
                <a:lnTo>
                  <a:pt x="1409635" y="126267"/>
                </a:lnTo>
                <a:lnTo>
                  <a:pt x="1448999" y="150268"/>
                </a:lnTo>
                <a:lnTo>
                  <a:pt x="1487366" y="176356"/>
                </a:lnTo>
                <a:lnTo>
                  <a:pt x="1524654" y="204531"/>
                </a:lnTo>
                <a:lnTo>
                  <a:pt x="1560778" y="234794"/>
                </a:lnTo>
                <a:lnTo>
                  <a:pt x="1595656" y="267143"/>
                </a:lnTo>
                <a:close/>
              </a:path>
            </a:pathLst>
          </a:custGeom>
          <a:ln w="101600">
            <a:solidFill>
              <a:srgbClr val="1F49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7"/>
          <p:cNvSpPr/>
          <p:nvPr/>
        </p:nvSpPr>
        <p:spPr>
          <a:xfrm>
            <a:off x="6906615" y="3636237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19">
                <a:moveTo>
                  <a:pt x="274965" y="0"/>
                </a:moveTo>
                <a:lnTo>
                  <a:pt x="225539" y="4253"/>
                </a:lnTo>
                <a:lnTo>
                  <a:pt x="179020" y="16517"/>
                </a:lnTo>
                <a:lnTo>
                  <a:pt x="136185" y="36045"/>
                </a:lnTo>
                <a:lnTo>
                  <a:pt x="97808" y="62091"/>
                </a:lnTo>
                <a:lnTo>
                  <a:pt x="64668" y="93911"/>
                </a:lnTo>
                <a:lnTo>
                  <a:pt x="37540" y="130759"/>
                </a:lnTo>
                <a:lnTo>
                  <a:pt x="17202" y="171888"/>
                </a:lnTo>
                <a:lnTo>
                  <a:pt x="4430" y="216554"/>
                </a:lnTo>
                <a:lnTo>
                  <a:pt x="0" y="264010"/>
                </a:lnTo>
                <a:lnTo>
                  <a:pt x="4430" y="311466"/>
                </a:lnTo>
                <a:lnTo>
                  <a:pt x="17202" y="356131"/>
                </a:lnTo>
                <a:lnTo>
                  <a:pt x="37540" y="397261"/>
                </a:lnTo>
                <a:lnTo>
                  <a:pt x="64668" y="434108"/>
                </a:lnTo>
                <a:lnTo>
                  <a:pt x="97808" y="465928"/>
                </a:lnTo>
                <a:lnTo>
                  <a:pt x="136185" y="491975"/>
                </a:lnTo>
                <a:lnTo>
                  <a:pt x="179020" y="511503"/>
                </a:lnTo>
                <a:lnTo>
                  <a:pt x="225539" y="523766"/>
                </a:lnTo>
                <a:lnTo>
                  <a:pt x="274965" y="528020"/>
                </a:lnTo>
                <a:lnTo>
                  <a:pt x="324390" y="523766"/>
                </a:lnTo>
                <a:lnTo>
                  <a:pt x="370909" y="511503"/>
                </a:lnTo>
                <a:lnTo>
                  <a:pt x="413745" y="491975"/>
                </a:lnTo>
                <a:lnTo>
                  <a:pt x="452121" y="465928"/>
                </a:lnTo>
                <a:lnTo>
                  <a:pt x="485261" y="434108"/>
                </a:lnTo>
                <a:lnTo>
                  <a:pt x="512389" y="397261"/>
                </a:lnTo>
                <a:lnTo>
                  <a:pt x="532727" y="356131"/>
                </a:lnTo>
                <a:lnTo>
                  <a:pt x="545500" y="311466"/>
                </a:lnTo>
                <a:lnTo>
                  <a:pt x="549930" y="264010"/>
                </a:lnTo>
                <a:lnTo>
                  <a:pt x="545500" y="216554"/>
                </a:lnTo>
                <a:lnTo>
                  <a:pt x="532727" y="171888"/>
                </a:lnTo>
                <a:lnTo>
                  <a:pt x="512389" y="130759"/>
                </a:lnTo>
                <a:lnTo>
                  <a:pt x="485261" y="93911"/>
                </a:lnTo>
                <a:lnTo>
                  <a:pt x="452121" y="62091"/>
                </a:lnTo>
                <a:lnTo>
                  <a:pt x="413745" y="36045"/>
                </a:lnTo>
                <a:lnTo>
                  <a:pt x="370909" y="16517"/>
                </a:lnTo>
                <a:lnTo>
                  <a:pt x="324390" y="4253"/>
                </a:lnTo>
                <a:lnTo>
                  <a:pt x="274965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8"/>
          <p:cNvSpPr/>
          <p:nvPr/>
        </p:nvSpPr>
        <p:spPr>
          <a:xfrm>
            <a:off x="6906615" y="3636237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19">
                <a:moveTo>
                  <a:pt x="0" y="264010"/>
                </a:moveTo>
                <a:lnTo>
                  <a:pt x="4430" y="216553"/>
                </a:lnTo>
                <a:lnTo>
                  <a:pt x="17202" y="171888"/>
                </a:lnTo>
                <a:lnTo>
                  <a:pt x="37540" y="130759"/>
                </a:lnTo>
                <a:lnTo>
                  <a:pt x="64668" y="93911"/>
                </a:lnTo>
                <a:lnTo>
                  <a:pt x="97808" y="62091"/>
                </a:lnTo>
                <a:lnTo>
                  <a:pt x="136184" y="36045"/>
                </a:lnTo>
                <a:lnTo>
                  <a:pt x="179020" y="16517"/>
                </a:lnTo>
                <a:lnTo>
                  <a:pt x="225539" y="4253"/>
                </a:lnTo>
                <a:lnTo>
                  <a:pt x="274965" y="0"/>
                </a:lnTo>
                <a:lnTo>
                  <a:pt x="324390" y="4253"/>
                </a:lnTo>
                <a:lnTo>
                  <a:pt x="370909" y="16517"/>
                </a:lnTo>
                <a:lnTo>
                  <a:pt x="413745" y="36045"/>
                </a:lnTo>
                <a:lnTo>
                  <a:pt x="452121" y="62091"/>
                </a:lnTo>
                <a:lnTo>
                  <a:pt x="485261" y="93911"/>
                </a:lnTo>
                <a:lnTo>
                  <a:pt x="512389" y="130759"/>
                </a:lnTo>
                <a:lnTo>
                  <a:pt x="532727" y="171888"/>
                </a:lnTo>
                <a:lnTo>
                  <a:pt x="545499" y="216553"/>
                </a:lnTo>
                <a:lnTo>
                  <a:pt x="549929" y="264010"/>
                </a:lnTo>
                <a:lnTo>
                  <a:pt x="545499" y="311466"/>
                </a:lnTo>
                <a:lnTo>
                  <a:pt x="532727" y="356131"/>
                </a:lnTo>
                <a:lnTo>
                  <a:pt x="512389" y="397260"/>
                </a:lnTo>
                <a:lnTo>
                  <a:pt x="485261" y="434108"/>
                </a:lnTo>
                <a:lnTo>
                  <a:pt x="452121" y="465928"/>
                </a:lnTo>
                <a:lnTo>
                  <a:pt x="413745" y="491974"/>
                </a:lnTo>
                <a:lnTo>
                  <a:pt x="370909" y="511502"/>
                </a:lnTo>
                <a:lnTo>
                  <a:pt x="324390" y="523766"/>
                </a:lnTo>
                <a:lnTo>
                  <a:pt x="274965" y="528020"/>
                </a:lnTo>
                <a:lnTo>
                  <a:pt x="225539" y="523766"/>
                </a:lnTo>
                <a:lnTo>
                  <a:pt x="179020" y="511502"/>
                </a:lnTo>
                <a:lnTo>
                  <a:pt x="136184" y="491974"/>
                </a:lnTo>
                <a:lnTo>
                  <a:pt x="97808" y="465928"/>
                </a:lnTo>
                <a:lnTo>
                  <a:pt x="64668" y="434108"/>
                </a:lnTo>
                <a:lnTo>
                  <a:pt x="37540" y="397260"/>
                </a:lnTo>
                <a:lnTo>
                  <a:pt x="17202" y="356131"/>
                </a:lnTo>
                <a:lnTo>
                  <a:pt x="4430" y="311466"/>
                </a:lnTo>
                <a:lnTo>
                  <a:pt x="0" y="26401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9"/>
          <p:cNvSpPr/>
          <p:nvPr/>
        </p:nvSpPr>
        <p:spPr>
          <a:xfrm>
            <a:off x="7799369" y="4305444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20">
                <a:moveTo>
                  <a:pt x="274965" y="0"/>
                </a:moveTo>
                <a:lnTo>
                  <a:pt x="225539" y="4253"/>
                </a:lnTo>
                <a:lnTo>
                  <a:pt x="179020" y="16517"/>
                </a:lnTo>
                <a:lnTo>
                  <a:pt x="136185" y="36045"/>
                </a:lnTo>
                <a:lnTo>
                  <a:pt x="97808" y="62091"/>
                </a:lnTo>
                <a:lnTo>
                  <a:pt x="64668" y="93911"/>
                </a:lnTo>
                <a:lnTo>
                  <a:pt x="37540" y="130759"/>
                </a:lnTo>
                <a:lnTo>
                  <a:pt x="17202" y="171888"/>
                </a:lnTo>
                <a:lnTo>
                  <a:pt x="4430" y="216554"/>
                </a:lnTo>
                <a:lnTo>
                  <a:pt x="0" y="264010"/>
                </a:lnTo>
                <a:lnTo>
                  <a:pt x="4430" y="311466"/>
                </a:lnTo>
                <a:lnTo>
                  <a:pt x="17202" y="356131"/>
                </a:lnTo>
                <a:lnTo>
                  <a:pt x="37540" y="397261"/>
                </a:lnTo>
                <a:lnTo>
                  <a:pt x="64668" y="434108"/>
                </a:lnTo>
                <a:lnTo>
                  <a:pt x="97808" y="465928"/>
                </a:lnTo>
                <a:lnTo>
                  <a:pt x="136185" y="491975"/>
                </a:lnTo>
                <a:lnTo>
                  <a:pt x="179020" y="511503"/>
                </a:lnTo>
                <a:lnTo>
                  <a:pt x="225539" y="523766"/>
                </a:lnTo>
                <a:lnTo>
                  <a:pt x="274965" y="528020"/>
                </a:lnTo>
                <a:lnTo>
                  <a:pt x="324390" y="523766"/>
                </a:lnTo>
                <a:lnTo>
                  <a:pt x="370909" y="511503"/>
                </a:lnTo>
                <a:lnTo>
                  <a:pt x="413745" y="491975"/>
                </a:lnTo>
                <a:lnTo>
                  <a:pt x="452121" y="465928"/>
                </a:lnTo>
                <a:lnTo>
                  <a:pt x="485261" y="434108"/>
                </a:lnTo>
                <a:lnTo>
                  <a:pt x="512389" y="397261"/>
                </a:lnTo>
                <a:lnTo>
                  <a:pt x="532727" y="356131"/>
                </a:lnTo>
                <a:lnTo>
                  <a:pt x="545500" y="311466"/>
                </a:lnTo>
                <a:lnTo>
                  <a:pt x="549930" y="264010"/>
                </a:lnTo>
                <a:lnTo>
                  <a:pt x="545500" y="216554"/>
                </a:lnTo>
                <a:lnTo>
                  <a:pt x="532727" y="171888"/>
                </a:lnTo>
                <a:lnTo>
                  <a:pt x="512389" y="130759"/>
                </a:lnTo>
                <a:lnTo>
                  <a:pt x="485261" y="93911"/>
                </a:lnTo>
                <a:lnTo>
                  <a:pt x="452121" y="62091"/>
                </a:lnTo>
                <a:lnTo>
                  <a:pt x="413745" y="36045"/>
                </a:lnTo>
                <a:lnTo>
                  <a:pt x="370909" y="16517"/>
                </a:lnTo>
                <a:lnTo>
                  <a:pt x="324390" y="4253"/>
                </a:lnTo>
                <a:lnTo>
                  <a:pt x="274965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0"/>
          <p:cNvSpPr/>
          <p:nvPr/>
        </p:nvSpPr>
        <p:spPr>
          <a:xfrm>
            <a:off x="7799369" y="4305444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20">
                <a:moveTo>
                  <a:pt x="0" y="264010"/>
                </a:moveTo>
                <a:lnTo>
                  <a:pt x="4430" y="216553"/>
                </a:lnTo>
                <a:lnTo>
                  <a:pt x="17202" y="171888"/>
                </a:lnTo>
                <a:lnTo>
                  <a:pt x="37540" y="130759"/>
                </a:lnTo>
                <a:lnTo>
                  <a:pt x="64668" y="93911"/>
                </a:lnTo>
                <a:lnTo>
                  <a:pt x="97808" y="62091"/>
                </a:lnTo>
                <a:lnTo>
                  <a:pt x="136184" y="36045"/>
                </a:lnTo>
                <a:lnTo>
                  <a:pt x="179020" y="16517"/>
                </a:lnTo>
                <a:lnTo>
                  <a:pt x="225539" y="4253"/>
                </a:lnTo>
                <a:lnTo>
                  <a:pt x="274965" y="0"/>
                </a:lnTo>
                <a:lnTo>
                  <a:pt x="324390" y="4253"/>
                </a:lnTo>
                <a:lnTo>
                  <a:pt x="370909" y="16517"/>
                </a:lnTo>
                <a:lnTo>
                  <a:pt x="413745" y="36045"/>
                </a:lnTo>
                <a:lnTo>
                  <a:pt x="452121" y="62091"/>
                </a:lnTo>
                <a:lnTo>
                  <a:pt x="485261" y="93911"/>
                </a:lnTo>
                <a:lnTo>
                  <a:pt x="512389" y="130759"/>
                </a:lnTo>
                <a:lnTo>
                  <a:pt x="532727" y="171888"/>
                </a:lnTo>
                <a:lnTo>
                  <a:pt x="545499" y="216553"/>
                </a:lnTo>
                <a:lnTo>
                  <a:pt x="549929" y="264010"/>
                </a:lnTo>
                <a:lnTo>
                  <a:pt x="545499" y="311466"/>
                </a:lnTo>
                <a:lnTo>
                  <a:pt x="532727" y="356131"/>
                </a:lnTo>
                <a:lnTo>
                  <a:pt x="512389" y="397260"/>
                </a:lnTo>
                <a:lnTo>
                  <a:pt x="485261" y="434108"/>
                </a:lnTo>
                <a:lnTo>
                  <a:pt x="452121" y="465928"/>
                </a:lnTo>
                <a:lnTo>
                  <a:pt x="413745" y="491974"/>
                </a:lnTo>
                <a:lnTo>
                  <a:pt x="370909" y="511502"/>
                </a:lnTo>
                <a:lnTo>
                  <a:pt x="324390" y="523766"/>
                </a:lnTo>
                <a:lnTo>
                  <a:pt x="274965" y="528020"/>
                </a:lnTo>
                <a:lnTo>
                  <a:pt x="225539" y="523766"/>
                </a:lnTo>
                <a:lnTo>
                  <a:pt x="179020" y="511502"/>
                </a:lnTo>
                <a:lnTo>
                  <a:pt x="136184" y="491974"/>
                </a:lnTo>
                <a:lnTo>
                  <a:pt x="97808" y="465928"/>
                </a:lnTo>
                <a:lnTo>
                  <a:pt x="64668" y="434108"/>
                </a:lnTo>
                <a:lnTo>
                  <a:pt x="37540" y="397260"/>
                </a:lnTo>
                <a:lnTo>
                  <a:pt x="17202" y="356131"/>
                </a:lnTo>
                <a:lnTo>
                  <a:pt x="4430" y="311466"/>
                </a:lnTo>
                <a:lnTo>
                  <a:pt x="0" y="26401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1"/>
          <p:cNvSpPr/>
          <p:nvPr/>
        </p:nvSpPr>
        <p:spPr>
          <a:xfrm>
            <a:off x="6352468" y="5297628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20">
                <a:moveTo>
                  <a:pt x="274965" y="0"/>
                </a:moveTo>
                <a:lnTo>
                  <a:pt x="225539" y="4253"/>
                </a:lnTo>
                <a:lnTo>
                  <a:pt x="179020" y="16517"/>
                </a:lnTo>
                <a:lnTo>
                  <a:pt x="136185" y="36045"/>
                </a:lnTo>
                <a:lnTo>
                  <a:pt x="97808" y="62091"/>
                </a:lnTo>
                <a:lnTo>
                  <a:pt x="64668" y="93911"/>
                </a:lnTo>
                <a:lnTo>
                  <a:pt x="37540" y="130759"/>
                </a:lnTo>
                <a:lnTo>
                  <a:pt x="17202" y="171888"/>
                </a:lnTo>
                <a:lnTo>
                  <a:pt x="4430" y="216553"/>
                </a:lnTo>
                <a:lnTo>
                  <a:pt x="0" y="264010"/>
                </a:lnTo>
                <a:lnTo>
                  <a:pt x="4430" y="311466"/>
                </a:lnTo>
                <a:lnTo>
                  <a:pt x="17202" y="356131"/>
                </a:lnTo>
                <a:lnTo>
                  <a:pt x="37540" y="397260"/>
                </a:lnTo>
                <a:lnTo>
                  <a:pt x="64668" y="434108"/>
                </a:lnTo>
                <a:lnTo>
                  <a:pt x="97808" y="465928"/>
                </a:lnTo>
                <a:lnTo>
                  <a:pt x="136185" y="491974"/>
                </a:lnTo>
                <a:lnTo>
                  <a:pt x="179020" y="511502"/>
                </a:lnTo>
                <a:lnTo>
                  <a:pt x="225539" y="523766"/>
                </a:lnTo>
                <a:lnTo>
                  <a:pt x="274965" y="528020"/>
                </a:lnTo>
                <a:lnTo>
                  <a:pt x="324390" y="523766"/>
                </a:lnTo>
                <a:lnTo>
                  <a:pt x="370909" y="511502"/>
                </a:lnTo>
                <a:lnTo>
                  <a:pt x="413745" y="491974"/>
                </a:lnTo>
                <a:lnTo>
                  <a:pt x="452121" y="465928"/>
                </a:lnTo>
                <a:lnTo>
                  <a:pt x="485261" y="434108"/>
                </a:lnTo>
                <a:lnTo>
                  <a:pt x="512389" y="397260"/>
                </a:lnTo>
                <a:lnTo>
                  <a:pt x="532727" y="356131"/>
                </a:lnTo>
                <a:lnTo>
                  <a:pt x="545500" y="311466"/>
                </a:lnTo>
                <a:lnTo>
                  <a:pt x="549930" y="264010"/>
                </a:lnTo>
                <a:lnTo>
                  <a:pt x="545500" y="216553"/>
                </a:lnTo>
                <a:lnTo>
                  <a:pt x="532727" y="171888"/>
                </a:lnTo>
                <a:lnTo>
                  <a:pt x="512389" y="130759"/>
                </a:lnTo>
                <a:lnTo>
                  <a:pt x="485261" y="93911"/>
                </a:lnTo>
                <a:lnTo>
                  <a:pt x="452121" y="62091"/>
                </a:lnTo>
                <a:lnTo>
                  <a:pt x="413745" y="36045"/>
                </a:lnTo>
                <a:lnTo>
                  <a:pt x="370909" y="16517"/>
                </a:lnTo>
                <a:lnTo>
                  <a:pt x="324390" y="4253"/>
                </a:lnTo>
                <a:lnTo>
                  <a:pt x="274965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/>
          <p:cNvSpPr/>
          <p:nvPr/>
        </p:nvSpPr>
        <p:spPr>
          <a:xfrm>
            <a:off x="6352468" y="5297628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20">
                <a:moveTo>
                  <a:pt x="0" y="264010"/>
                </a:moveTo>
                <a:lnTo>
                  <a:pt x="4430" y="216553"/>
                </a:lnTo>
                <a:lnTo>
                  <a:pt x="17202" y="171888"/>
                </a:lnTo>
                <a:lnTo>
                  <a:pt x="37540" y="130759"/>
                </a:lnTo>
                <a:lnTo>
                  <a:pt x="64668" y="93911"/>
                </a:lnTo>
                <a:lnTo>
                  <a:pt x="97808" y="62091"/>
                </a:lnTo>
                <a:lnTo>
                  <a:pt x="136184" y="36045"/>
                </a:lnTo>
                <a:lnTo>
                  <a:pt x="179020" y="16517"/>
                </a:lnTo>
                <a:lnTo>
                  <a:pt x="225539" y="4253"/>
                </a:lnTo>
                <a:lnTo>
                  <a:pt x="274965" y="0"/>
                </a:lnTo>
                <a:lnTo>
                  <a:pt x="324390" y="4253"/>
                </a:lnTo>
                <a:lnTo>
                  <a:pt x="370909" y="16517"/>
                </a:lnTo>
                <a:lnTo>
                  <a:pt x="413745" y="36045"/>
                </a:lnTo>
                <a:lnTo>
                  <a:pt x="452121" y="62091"/>
                </a:lnTo>
                <a:lnTo>
                  <a:pt x="485261" y="93911"/>
                </a:lnTo>
                <a:lnTo>
                  <a:pt x="512389" y="130759"/>
                </a:lnTo>
                <a:lnTo>
                  <a:pt x="532727" y="171888"/>
                </a:lnTo>
                <a:lnTo>
                  <a:pt x="545499" y="216553"/>
                </a:lnTo>
                <a:lnTo>
                  <a:pt x="549929" y="264010"/>
                </a:lnTo>
                <a:lnTo>
                  <a:pt x="545499" y="311466"/>
                </a:lnTo>
                <a:lnTo>
                  <a:pt x="532727" y="356131"/>
                </a:lnTo>
                <a:lnTo>
                  <a:pt x="512389" y="397260"/>
                </a:lnTo>
                <a:lnTo>
                  <a:pt x="485261" y="434108"/>
                </a:lnTo>
                <a:lnTo>
                  <a:pt x="452121" y="465928"/>
                </a:lnTo>
                <a:lnTo>
                  <a:pt x="413745" y="491974"/>
                </a:lnTo>
                <a:lnTo>
                  <a:pt x="370909" y="511502"/>
                </a:lnTo>
                <a:lnTo>
                  <a:pt x="324390" y="523766"/>
                </a:lnTo>
                <a:lnTo>
                  <a:pt x="274965" y="528020"/>
                </a:lnTo>
                <a:lnTo>
                  <a:pt x="225539" y="523766"/>
                </a:lnTo>
                <a:lnTo>
                  <a:pt x="179020" y="511502"/>
                </a:lnTo>
                <a:lnTo>
                  <a:pt x="136184" y="491974"/>
                </a:lnTo>
                <a:lnTo>
                  <a:pt x="97808" y="465928"/>
                </a:lnTo>
                <a:lnTo>
                  <a:pt x="64668" y="434108"/>
                </a:lnTo>
                <a:lnTo>
                  <a:pt x="37540" y="397260"/>
                </a:lnTo>
                <a:lnTo>
                  <a:pt x="17202" y="356131"/>
                </a:lnTo>
                <a:lnTo>
                  <a:pt x="4430" y="311466"/>
                </a:lnTo>
                <a:lnTo>
                  <a:pt x="0" y="26401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3"/>
          <p:cNvSpPr/>
          <p:nvPr/>
        </p:nvSpPr>
        <p:spPr>
          <a:xfrm>
            <a:off x="5979915" y="4317002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20">
                <a:moveTo>
                  <a:pt x="274965" y="0"/>
                </a:moveTo>
                <a:lnTo>
                  <a:pt x="225539" y="4253"/>
                </a:lnTo>
                <a:lnTo>
                  <a:pt x="179020" y="16517"/>
                </a:lnTo>
                <a:lnTo>
                  <a:pt x="136185" y="36045"/>
                </a:lnTo>
                <a:lnTo>
                  <a:pt x="97808" y="62091"/>
                </a:lnTo>
                <a:lnTo>
                  <a:pt x="64668" y="93911"/>
                </a:lnTo>
                <a:lnTo>
                  <a:pt x="37540" y="130759"/>
                </a:lnTo>
                <a:lnTo>
                  <a:pt x="17202" y="171888"/>
                </a:lnTo>
                <a:lnTo>
                  <a:pt x="4430" y="216554"/>
                </a:lnTo>
                <a:lnTo>
                  <a:pt x="0" y="264010"/>
                </a:lnTo>
                <a:lnTo>
                  <a:pt x="4430" y="311466"/>
                </a:lnTo>
                <a:lnTo>
                  <a:pt x="17202" y="356131"/>
                </a:lnTo>
                <a:lnTo>
                  <a:pt x="37540" y="397261"/>
                </a:lnTo>
                <a:lnTo>
                  <a:pt x="64668" y="434108"/>
                </a:lnTo>
                <a:lnTo>
                  <a:pt x="97808" y="465928"/>
                </a:lnTo>
                <a:lnTo>
                  <a:pt x="136185" y="491975"/>
                </a:lnTo>
                <a:lnTo>
                  <a:pt x="179020" y="511503"/>
                </a:lnTo>
                <a:lnTo>
                  <a:pt x="225539" y="523766"/>
                </a:lnTo>
                <a:lnTo>
                  <a:pt x="274965" y="528020"/>
                </a:lnTo>
                <a:lnTo>
                  <a:pt x="324390" y="523766"/>
                </a:lnTo>
                <a:lnTo>
                  <a:pt x="370909" y="511503"/>
                </a:lnTo>
                <a:lnTo>
                  <a:pt x="413745" y="491975"/>
                </a:lnTo>
                <a:lnTo>
                  <a:pt x="452121" y="465928"/>
                </a:lnTo>
                <a:lnTo>
                  <a:pt x="485261" y="434108"/>
                </a:lnTo>
                <a:lnTo>
                  <a:pt x="512389" y="397261"/>
                </a:lnTo>
                <a:lnTo>
                  <a:pt x="532727" y="356131"/>
                </a:lnTo>
                <a:lnTo>
                  <a:pt x="545500" y="311466"/>
                </a:lnTo>
                <a:lnTo>
                  <a:pt x="549930" y="264010"/>
                </a:lnTo>
                <a:lnTo>
                  <a:pt x="545500" y="216554"/>
                </a:lnTo>
                <a:lnTo>
                  <a:pt x="532727" y="171888"/>
                </a:lnTo>
                <a:lnTo>
                  <a:pt x="512389" y="130759"/>
                </a:lnTo>
                <a:lnTo>
                  <a:pt x="485261" y="93911"/>
                </a:lnTo>
                <a:lnTo>
                  <a:pt x="452121" y="62091"/>
                </a:lnTo>
                <a:lnTo>
                  <a:pt x="413745" y="36045"/>
                </a:lnTo>
                <a:lnTo>
                  <a:pt x="370909" y="16517"/>
                </a:lnTo>
                <a:lnTo>
                  <a:pt x="324390" y="4253"/>
                </a:lnTo>
                <a:lnTo>
                  <a:pt x="274965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4"/>
          <p:cNvSpPr/>
          <p:nvPr/>
        </p:nvSpPr>
        <p:spPr>
          <a:xfrm>
            <a:off x="5979915" y="4317002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20">
                <a:moveTo>
                  <a:pt x="0" y="264010"/>
                </a:moveTo>
                <a:lnTo>
                  <a:pt x="4430" y="216553"/>
                </a:lnTo>
                <a:lnTo>
                  <a:pt x="17202" y="171888"/>
                </a:lnTo>
                <a:lnTo>
                  <a:pt x="37540" y="130759"/>
                </a:lnTo>
                <a:lnTo>
                  <a:pt x="64668" y="93911"/>
                </a:lnTo>
                <a:lnTo>
                  <a:pt x="97808" y="62091"/>
                </a:lnTo>
                <a:lnTo>
                  <a:pt x="136184" y="36045"/>
                </a:lnTo>
                <a:lnTo>
                  <a:pt x="179020" y="16517"/>
                </a:lnTo>
                <a:lnTo>
                  <a:pt x="225539" y="4253"/>
                </a:lnTo>
                <a:lnTo>
                  <a:pt x="274965" y="0"/>
                </a:lnTo>
                <a:lnTo>
                  <a:pt x="324390" y="4253"/>
                </a:lnTo>
                <a:lnTo>
                  <a:pt x="370909" y="16517"/>
                </a:lnTo>
                <a:lnTo>
                  <a:pt x="413745" y="36045"/>
                </a:lnTo>
                <a:lnTo>
                  <a:pt x="452121" y="62091"/>
                </a:lnTo>
                <a:lnTo>
                  <a:pt x="485261" y="93911"/>
                </a:lnTo>
                <a:lnTo>
                  <a:pt x="512389" y="130759"/>
                </a:lnTo>
                <a:lnTo>
                  <a:pt x="532727" y="171888"/>
                </a:lnTo>
                <a:lnTo>
                  <a:pt x="545499" y="216553"/>
                </a:lnTo>
                <a:lnTo>
                  <a:pt x="549929" y="264010"/>
                </a:lnTo>
                <a:lnTo>
                  <a:pt x="545499" y="311466"/>
                </a:lnTo>
                <a:lnTo>
                  <a:pt x="532727" y="356131"/>
                </a:lnTo>
                <a:lnTo>
                  <a:pt x="512389" y="397260"/>
                </a:lnTo>
                <a:lnTo>
                  <a:pt x="485261" y="434108"/>
                </a:lnTo>
                <a:lnTo>
                  <a:pt x="452121" y="465928"/>
                </a:lnTo>
                <a:lnTo>
                  <a:pt x="413745" y="491974"/>
                </a:lnTo>
                <a:lnTo>
                  <a:pt x="370909" y="511502"/>
                </a:lnTo>
                <a:lnTo>
                  <a:pt x="324390" y="523766"/>
                </a:lnTo>
                <a:lnTo>
                  <a:pt x="274965" y="528020"/>
                </a:lnTo>
                <a:lnTo>
                  <a:pt x="225539" y="523766"/>
                </a:lnTo>
                <a:lnTo>
                  <a:pt x="179020" y="511502"/>
                </a:lnTo>
                <a:lnTo>
                  <a:pt x="136184" y="491974"/>
                </a:lnTo>
                <a:lnTo>
                  <a:pt x="97808" y="465928"/>
                </a:lnTo>
                <a:lnTo>
                  <a:pt x="64668" y="434108"/>
                </a:lnTo>
                <a:lnTo>
                  <a:pt x="37540" y="397260"/>
                </a:lnTo>
                <a:lnTo>
                  <a:pt x="17202" y="356131"/>
                </a:lnTo>
                <a:lnTo>
                  <a:pt x="4430" y="311466"/>
                </a:lnTo>
                <a:lnTo>
                  <a:pt x="0" y="26401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5"/>
          <p:cNvSpPr/>
          <p:nvPr/>
        </p:nvSpPr>
        <p:spPr>
          <a:xfrm>
            <a:off x="7460768" y="5297632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20">
                <a:moveTo>
                  <a:pt x="274963" y="0"/>
                </a:moveTo>
                <a:lnTo>
                  <a:pt x="225538" y="4253"/>
                </a:lnTo>
                <a:lnTo>
                  <a:pt x="179019" y="16517"/>
                </a:lnTo>
                <a:lnTo>
                  <a:pt x="136184" y="36045"/>
                </a:lnTo>
                <a:lnTo>
                  <a:pt x="97807" y="62091"/>
                </a:lnTo>
                <a:lnTo>
                  <a:pt x="64667" y="93911"/>
                </a:lnTo>
                <a:lnTo>
                  <a:pt x="37540" y="130759"/>
                </a:lnTo>
                <a:lnTo>
                  <a:pt x="17202" y="171888"/>
                </a:lnTo>
                <a:lnTo>
                  <a:pt x="4430" y="216553"/>
                </a:lnTo>
                <a:lnTo>
                  <a:pt x="0" y="264010"/>
                </a:lnTo>
                <a:lnTo>
                  <a:pt x="4430" y="311466"/>
                </a:lnTo>
                <a:lnTo>
                  <a:pt x="17202" y="356131"/>
                </a:lnTo>
                <a:lnTo>
                  <a:pt x="37540" y="397260"/>
                </a:lnTo>
                <a:lnTo>
                  <a:pt x="64667" y="434108"/>
                </a:lnTo>
                <a:lnTo>
                  <a:pt x="97807" y="465928"/>
                </a:lnTo>
                <a:lnTo>
                  <a:pt x="136184" y="491974"/>
                </a:lnTo>
                <a:lnTo>
                  <a:pt x="179019" y="511502"/>
                </a:lnTo>
                <a:lnTo>
                  <a:pt x="225538" y="523766"/>
                </a:lnTo>
                <a:lnTo>
                  <a:pt x="274963" y="528020"/>
                </a:lnTo>
                <a:lnTo>
                  <a:pt x="324389" y="523766"/>
                </a:lnTo>
                <a:lnTo>
                  <a:pt x="370908" y="511502"/>
                </a:lnTo>
                <a:lnTo>
                  <a:pt x="413744" y="491974"/>
                </a:lnTo>
                <a:lnTo>
                  <a:pt x="452120" y="465928"/>
                </a:lnTo>
                <a:lnTo>
                  <a:pt x="485260" y="434108"/>
                </a:lnTo>
                <a:lnTo>
                  <a:pt x="512388" y="397260"/>
                </a:lnTo>
                <a:lnTo>
                  <a:pt x="532726" y="356131"/>
                </a:lnTo>
                <a:lnTo>
                  <a:pt x="545498" y="311466"/>
                </a:lnTo>
                <a:lnTo>
                  <a:pt x="549929" y="264010"/>
                </a:lnTo>
                <a:lnTo>
                  <a:pt x="545498" y="216553"/>
                </a:lnTo>
                <a:lnTo>
                  <a:pt x="532726" y="171888"/>
                </a:lnTo>
                <a:lnTo>
                  <a:pt x="512388" y="130759"/>
                </a:lnTo>
                <a:lnTo>
                  <a:pt x="485260" y="93911"/>
                </a:lnTo>
                <a:lnTo>
                  <a:pt x="452120" y="62091"/>
                </a:lnTo>
                <a:lnTo>
                  <a:pt x="413744" y="36045"/>
                </a:lnTo>
                <a:lnTo>
                  <a:pt x="370908" y="16517"/>
                </a:lnTo>
                <a:lnTo>
                  <a:pt x="324389" y="4253"/>
                </a:lnTo>
                <a:lnTo>
                  <a:pt x="274963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6"/>
          <p:cNvSpPr/>
          <p:nvPr/>
        </p:nvSpPr>
        <p:spPr>
          <a:xfrm>
            <a:off x="7460768" y="5297632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20">
                <a:moveTo>
                  <a:pt x="0" y="264010"/>
                </a:moveTo>
                <a:lnTo>
                  <a:pt x="4430" y="216553"/>
                </a:lnTo>
                <a:lnTo>
                  <a:pt x="17202" y="171888"/>
                </a:lnTo>
                <a:lnTo>
                  <a:pt x="37540" y="130759"/>
                </a:lnTo>
                <a:lnTo>
                  <a:pt x="64668" y="93911"/>
                </a:lnTo>
                <a:lnTo>
                  <a:pt x="97808" y="62091"/>
                </a:lnTo>
                <a:lnTo>
                  <a:pt x="136184" y="36045"/>
                </a:lnTo>
                <a:lnTo>
                  <a:pt x="179020" y="16517"/>
                </a:lnTo>
                <a:lnTo>
                  <a:pt x="225539" y="4253"/>
                </a:lnTo>
                <a:lnTo>
                  <a:pt x="274965" y="0"/>
                </a:lnTo>
                <a:lnTo>
                  <a:pt x="324390" y="4253"/>
                </a:lnTo>
                <a:lnTo>
                  <a:pt x="370909" y="16517"/>
                </a:lnTo>
                <a:lnTo>
                  <a:pt x="413745" y="36045"/>
                </a:lnTo>
                <a:lnTo>
                  <a:pt x="452121" y="62091"/>
                </a:lnTo>
                <a:lnTo>
                  <a:pt x="485261" y="93911"/>
                </a:lnTo>
                <a:lnTo>
                  <a:pt x="512389" y="130759"/>
                </a:lnTo>
                <a:lnTo>
                  <a:pt x="532727" y="171888"/>
                </a:lnTo>
                <a:lnTo>
                  <a:pt x="545499" y="216553"/>
                </a:lnTo>
                <a:lnTo>
                  <a:pt x="549929" y="264010"/>
                </a:lnTo>
                <a:lnTo>
                  <a:pt x="545499" y="311466"/>
                </a:lnTo>
                <a:lnTo>
                  <a:pt x="532727" y="356131"/>
                </a:lnTo>
                <a:lnTo>
                  <a:pt x="512389" y="397260"/>
                </a:lnTo>
                <a:lnTo>
                  <a:pt x="485261" y="434108"/>
                </a:lnTo>
                <a:lnTo>
                  <a:pt x="452121" y="465928"/>
                </a:lnTo>
                <a:lnTo>
                  <a:pt x="413745" y="491974"/>
                </a:lnTo>
                <a:lnTo>
                  <a:pt x="370909" y="511502"/>
                </a:lnTo>
                <a:lnTo>
                  <a:pt x="324390" y="523766"/>
                </a:lnTo>
                <a:lnTo>
                  <a:pt x="274965" y="528020"/>
                </a:lnTo>
                <a:lnTo>
                  <a:pt x="225539" y="523766"/>
                </a:lnTo>
                <a:lnTo>
                  <a:pt x="179020" y="511502"/>
                </a:lnTo>
                <a:lnTo>
                  <a:pt x="136184" y="491974"/>
                </a:lnTo>
                <a:lnTo>
                  <a:pt x="97808" y="465928"/>
                </a:lnTo>
                <a:lnTo>
                  <a:pt x="64668" y="434108"/>
                </a:lnTo>
                <a:lnTo>
                  <a:pt x="37540" y="397260"/>
                </a:lnTo>
                <a:lnTo>
                  <a:pt x="17202" y="356131"/>
                </a:lnTo>
                <a:lnTo>
                  <a:pt x="4430" y="311466"/>
                </a:lnTo>
                <a:lnTo>
                  <a:pt x="0" y="26401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7"/>
          <p:cNvSpPr/>
          <p:nvPr/>
        </p:nvSpPr>
        <p:spPr>
          <a:xfrm>
            <a:off x="3203821" y="3915500"/>
            <a:ext cx="1869439" cy="1824355"/>
          </a:xfrm>
          <a:custGeom>
            <a:avLst/>
            <a:gdLst/>
            <a:ahLst/>
            <a:cxnLst/>
            <a:rect l="l" t="t" r="r" b="b"/>
            <a:pathLst>
              <a:path w="1869439" h="1824354">
                <a:moveTo>
                  <a:pt x="1595656" y="267143"/>
                </a:moveTo>
                <a:lnTo>
                  <a:pt x="1629848" y="302289"/>
                </a:lnTo>
                <a:lnTo>
                  <a:pt x="1661761" y="338728"/>
                </a:lnTo>
                <a:lnTo>
                  <a:pt x="1691394" y="376370"/>
                </a:lnTo>
                <a:lnTo>
                  <a:pt x="1718747" y="415127"/>
                </a:lnTo>
                <a:lnTo>
                  <a:pt x="1743821" y="454909"/>
                </a:lnTo>
                <a:lnTo>
                  <a:pt x="1766616" y="495626"/>
                </a:lnTo>
                <a:lnTo>
                  <a:pt x="1787131" y="537191"/>
                </a:lnTo>
                <a:lnTo>
                  <a:pt x="1805366" y="579513"/>
                </a:lnTo>
                <a:lnTo>
                  <a:pt x="1821323" y="622504"/>
                </a:lnTo>
                <a:lnTo>
                  <a:pt x="1834999" y="666075"/>
                </a:lnTo>
                <a:lnTo>
                  <a:pt x="1846397" y="710135"/>
                </a:lnTo>
                <a:lnTo>
                  <a:pt x="1855515" y="754597"/>
                </a:lnTo>
                <a:lnTo>
                  <a:pt x="1862353" y="799371"/>
                </a:lnTo>
                <a:lnTo>
                  <a:pt x="1866912" y="844368"/>
                </a:lnTo>
                <a:lnTo>
                  <a:pt x="1869191" y="889498"/>
                </a:lnTo>
                <a:lnTo>
                  <a:pt x="1869191" y="934673"/>
                </a:lnTo>
                <a:lnTo>
                  <a:pt x="1866912" y="979803"/>
                </a:lnTo>
                <a:lnTo>
                  <a:pt x="1862353" y="1024800"/>
                </a:lnTo>
                <a:lnTo>
                  <a:pt x="1855515" y="1069574"/>
                </a:lnTo>
                <a:lnTo>
                  <a:pt x="1846397" y="1114036"/>
                </a:lnTo>
                <a:lnTo>
                  <a:pt x="1834999" y="1158096"/>
                </a:lnTo>
                <a:lnTo>
                  <a:pt x="1821323" y="1201666"/>
                </a:lnTo>
                <a:lnTo>
                  <a:pt x="1805366" y="1244657"/>
                </a:lnTo>
                <a:lnTo>
                  <a:pt x="1787131" y="1286980"/>
                </a:lnTo>
                <a:lnTo>
                  <a:pt x="1766616" y="1328544"/>
                </a:lnTo>
                <a:lnTo>
                  <a:pt x="1743821" y="1369262"/>
                </a:lnTo>
                <a:lnTo>
                  <a:pt x="1718747" y="1409044"/>
                </a:lnTo>
                <a:lnTo>
                  <a:pt x="1691394" y="1447800"/>
                </a:lnTo>
                <a:lnTo>
                  <a:pt x="1661761" y="1485442"/>
                </a:lnTo>
                <a:lnTo>
                  <a:pt x="1629848" y="1521881"/>
                </a:lnTo>
                <a:lnTo>
                  <a:pt x="1595656" y="1557027"/>
                </a:lnTo>
                <a:lnTo>
                  <a:pt x="1560778" y="1589377"/>
                </a:lnTo>
                <a:lnTo>
                  <a:pt x="1524654" y="1619639"/>
                </a:lnTo>
                <a:lnTo>
                  <a:pt x="1487366" y="1647814"/>
                </a:lnTo>
                <a:lnTo>
                  <a:pt x="1448999" y="1673903"/>
                </a:lnTo>
                <a:lnTo>
                  <a:pt x="1409635" y="1697904"/>
                </a:lnTo>
                <a:lnTo>
                  <a:pt x="1369357" y="1719818"/>
                </a:lnTo>
                <a:lnTo>
                  <a:pt x="1328248" y="1739645"/>
                </a:lnTo>
                <a:lnTo>
                  <a:pt x="1286392" y="1757385"/>
                </a:lnTo>
                <a:lnTo>
                  <a:pt x="1243871" y="1773038"/>
                </a:lnTo>
                <a:lnTo>
                  <a:pt x="1200769" y="1786604"/>
                </a:lnTo>
                <a:lnTo>
                  <a:pt x="1157168" y="1798083"/>
                </a:lnTo>
                <a:lnTo>
                  <a:pt x="1113152" y="1807475"/>
                </a:lnTo>
                <a:lnTo>
                  <a:pt x="1068804" y="1814779"/>
                </a:lnTo>
                <a:lnTo>
                  <a:pt x="1024206" y="1819997"/>
                </a:lnTo>
                <a:lnTo>
                  <a:pt x="979442" y="1823127"/>
                </a:lnTo>
                <a:lnTo>
                  <a:pt x="934596" y="1824171"/>
                </a:lnTo>
                <a:lnTo>
                  <a:pt x="889749" y="1823127"/>
                </a:lnTo>
                <a:lnTo>
                  <a:pt x="844985" y="1819997"/>
                </a:lnTo>
                <a:lnTo>
                  <a:pt x="800387" y="1814779"/>
                </a:lnTo>
                <a:lnTo>
                  <a:pt x="756039" y="1807475"/>
                </a:lnTo>
                <a:lnTo>
                  <a:pt x="712023" y="1798083"/>
                </a:lnTo>
                <a:lnTo>
                  <a:pt x="668422" y="1786604"/>
                </a:lnTo>
                <a:lnTo>
                  <a:pt x="625320" y="1773038"/>
                </a:lnTo>
                <a:lnTo>
                  <a:pt x="582799" y="1757385"/>
                </a:lnTo>
                <a:lnTo>
                  <a:pt x="540943" y="1739645"/>
                </a:lnTo>
                <a:lnTo>
                  <a:pt x="499834" y="1719818"/>
                </a:lnTo>
                <a:lnTo>
                  <a:pt x="459556" y="1697904"/>
                </a:lnTo>
                <a:lnTo>
                  <a:pt x="420192" y="1673903"/>
                </a:lnTo>
                <a:lnTo>
                  <a:pt x="381825" y="1647814"/>
                </a:lnTo>
                <a:lnTo>
                  <a:pt x="344537" y="1619639"/>
                </a:lnTo>
                <a:lnTo>
                  <a:pt x="308413" y="1589377"/>
                </a:lnTo>
                <a:lnTo>
                  <a:pt x="273535" y="1557027"/>
                </a:lnTo>
                <a:lnTo>
                  <a:pt x="239343" y="1521881"/>
                </a:lnTo>
                <a:lnTo>
                  <a:pt x="207430" y="1485442"/>
                </a:lnTo>
                <a:lnTo>
                  <a:pt x="177797" y="1447800"/>
                </a:lnTo>
                <a:lnTo>
                  <a:pt x="150444" y="1409044"/>
                </a:lnTo>
                <a:lnTo>
                  <a:pt x="125370" y="1369262"/>
                </a:lnTo>
                <a:lnTo>
                  <a:pt x="102575" y="1328544"/>
                </a:lnTo>
                <a:lnTo>
                  <a:pt x="82060" y="1286980"/>
                </a:lnTo>
                <a:lnTo>
                  <a:pt x="63824" y="1244657"/>
                </a:lnTo>
                <a:lnTo>
                  <a:pt x="47868" y="1201666"/>
                </a:lnTo>
                <a:lnTo>
                  <a:pt x="34191" y="1158096"/>
                </a:lnTo>
                <a:lnTo>
                  <a:pt x="22794" y="1114036"/>
                </a:lnTo>
                <a:lnTo>
                  <a:pt x="13676" y="1069574"/>
                </a:lnTo>
                <a:lnTo>
                  <a:pt x="6838" y="1024800"/>
                </a:lnTo>
                <a:lnTo>
                  <a:pt x="2279" y="979803"/>
                </a:lnTo>
                <a:lnTo>
                  <a:pt x="0" y="934673"/>
                </a:lnTo>
                <a:lnTo>
                  <a:pt x="0" y="889498"/>
                </a:lnTo>
                <a:lnTo>
                  <a:pt x="2279" y="844368"/>
                </a:lnTo>
                <a:lnTo>
                  <a:pt x="6838" y="799371"/>
                </a:lnTo>
                <a:lnTo>
                  <a:pt x="13676" y="754597"/>
                </a:lnTo>
                <a:lnTo>
                  <a:pt x="22794" y="710135"/>
                </a:lnTo>
                <a:lnTo>
                  <a:pt x="34191" y="666075"/>
                </a:lnTo>
                <a:lnTo>
                  <a:pt x="47868" y="622504"/>
                </a:lnTo>
                <a:lnTo>
                  <a:pt x="63824" y="579513"/>
                </a:lnTo>
                <a:lnTo>
                  <a:pt x="82060" y="537191"/>
                </a:lnTo>
                <a:lnTo>
                  <a:pt x="102575" y="495626"/>
                </a:lnTo>
                <a:lnTo>
                  <a:pt x="125370" y="454909"/>
                </a:lnTo>
                <a:lnTo>
                  <a:pt x="150444" y="415127"/>
                </a:lnTo>
                <a:lnTo>
                  <a:pt x="177797" y="376370"/>
                </a:lnTo>
                <a:lnTo>
                  <a:pt x="207430" y="338728"/>
                </a:lnTo>
                <a:lnTo>
                  <a:pt x="239343" y="302289"/>
                </a:lnTo>
                <a:lnTo>
                  <a:pt x="273535" y="267143"/>
                </a:lnTo>
                <a:lnTo>
                  <a:pt x="308413" y="234794"/>
                </a:lnTo>
                <a:lnTo>
                  <a:pt x="344537" y="204531"/>
                </a:lnTo>
                <a:lnTo>
                  <a:pt x="381825" y="176356"/>
                </a:lnTo>
                <a:lnTo>
                  <a:pt x="420192" y="150268"/>
                </a:lnTo>
                <a:lnTo>
                  <a:pt x="459556" y="126267"/>
                </a:lnTo>
                <a:lnTo>
                  <a:pt x="499834" y="104353"/>
                </a:lnTo>
                <a:lnTo>
                  <a:pt x="540943" y="84525"/>
                </a:lnTo>
                <a:lnTo>
                  <a:pt x="582799" y="66785"/>
                </a:lnTo>
                <a:lnTo>
                  <a:pt x="625320" y="51132"/>
                </a:lnTo>
                <a:lnTo>
                  <a:pt x="668422" y="37567"/>
                </a:lnTo>
                <a:lnTo>
                  <a:pt x="712023" y="26088"/>
                </a:lnTo>
                <a:lnTo>
                  <a:pt x="756039" y="16696"/>
                </a:lnTo>
                <a:lnTo>
                  <a:pt x="800387" y="9391"/>
                </a:lnTo>
                <a:lnTo>
                  <a:pt x="844985" y="4174"/>
                </a:lnTo>
                <a:lnTo>
                  <a:pt x="889749" y="1043"/>
                </a:lnTo>
                <a:lnTo>
                  <a:pt x="934596" y="0"/>
                </a:lnTo>
                <a:lnTo>
                  <a:pt x="979442" y="1043"/>
                </a:lnTo>
                <a:lnTo>
                  <a:pt x="1024206" y="4174"/>
                </a:lnTo>
                <a:lnTo>
                  <a:pt x="1068804" y="9391"/>
                </a:lnTo>
                <a:lnTo>
                  <a:pt x="1113152" y="16696"/>
                </a:lnTo>
                <a:lnTo>
                  <a:pt x="1157168" y="26088"/>
                </a:lnTo>
                <a:lnTo>
                  <a:pt x="1200769" y="37567"/>
                </a:lnTo>
                <a:lnTo>
                  <a:pt x="1243871" y="51132"/>
                </a:lnTo>
                <a:lnTo>
                  <a:pt x="1286392" y="66785"/>
                </a:lnTo>
                <a:lnTo>
                  <a:pt x="1328248" y="84525"/>
                </a:lnTo>
                <a:lnTo>
                  <a:pt x="1369357" y="104353"/>
                </a:lnTo>
                <a:lnTo>
                  <a:pt x="1409635" y="126267"/>
                </a:lnTo>
                <a:lnTo>
                  <a:pt x="1448999" y="150268"/>
                </a:lnTo>
                <a:lnTo>
                  <a:pt x="1487366" y="176356"/>
                </a:lnTo>
                <a:lnTo>
                  <a:pt x="1524654" y="204531"/>
                </a:lnTo>
                <a:lnTo>
                  <a:pt x="1560778" y="234794"/>
                </a:lnTo>
                <a:lnTo>
                  <a:pt x="1595656" y="267143"/>
                </a:lnTo>
                <a:close/>
              </a:path>
            </a:pathLst>
          </a:custGeom>
          <a:ln w="101600">
            <a:solidFill>
              <a:srgbClr val="1F49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8"/>
          <p:cNvSpPr/>
          <p:nvPr/>
        </p:nvSpPr>
        <p:spPr>
          <a:xfrm>
            <a:off x="3851490" y="3636237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19">
                <a:moveTo>
                  <a:pt x="274965" y="0"/>
                </a:moveTo>
                <a:lnTo>
                  <a:pt x="225539" y="4253"/>
                </a:lnTo>
                <a:lnTo>
                  <a:pt x="179020" y="16517"/>
                </a:lnTo>
                <a:lnTo>
                  <a:pt x="136185" y="36045"/>
                </a:lnTo>
                <a:lnTo>
                  <a:pt x="97808" y="62091"/>
                </a:lnTo>
                <a:lnTo>
                  <a:pt x="64668" y="93911"/>
                </a:lnTo>
                <a:lnTo>
                  <a:pt x="37540" y="130759"/>
                </a:lnTo>
                <a:lnTo>
                  <a:pt x="17202" y="171888"/>
                </a:lnTo>
                <a:lnTo>
                  <a:pt x="4430" y="216554"/>
                </a:lnTo>
                <a:lnTo>
                  <a:pt x="0" y="264010"/>
                </a:lnTo>
                <a:lnTo>
                  <a:pt x="4430" y="311466"/>
                </a:lnTo>
                <a:lnTo>
                  <a:pt x="17202" y="356131"/>
                </a:lnTo>
                <a:lnTo>
                  <a:pt x="37540" y="397261"/>
                </a:lnTo>
                <a:lnTo>
                  <a:pt x="64668" y="434108"/>
                </a:lnTo>
                <a:lnTo>
                  <a:pt x="97808" y="465928"/>
                </a:lnTo>
                <a:lnTo>
                  <a:pt x="136185" y="491975"/>
                </a:lnTo>
                <a:lnTo>
                  <a:pt x="179020" y="511503"/>
                </a:lnTo>
                <a:lnTo>
                  <a:pt x="225539" y="523766"/>
                </a:lnTo>
                <a:lnTo>
                  <a:pt x="274965" y="528020"/>
                </a:lnTo>
                <a:lnTo>
                  <a:pt x="324390" y="523766"/>
                </a:lnTo>
                <a:lnTo>
                  <a:pt x="370909" y="511503"/>
                </a:lnTo>
                <a:lnTo>
                  <a:pt x="413745" y="491975"/>
                </a:lnTo>
                <a:lnTo>
                  <a:pt x="452121" y="465928"/>
                </a:lnTo>
                <a:lnTo>
                  <a:pt x="485261" y="434108"/>
                </a:lnTo>
                <a:lnTo>
                  <a:pt x="512389" y="397261"/>
                </a:lnTo>
                <a:lnTo>
                  <a:pt x="532727" y="356131"/>
                </a:lnTo>
                <a:lnTo>
                  <a:pt x="545500" y="311466"/>
                </a:lnTo>
                <a:lnTo>
                  <a:pt x="549930" y="264010"/>
                </a:lnTo>
                <a:lnTo>
                  <a:pt x="545500" y="216554"/>
                </a:lnTo>
                <a:lnTo>
                  <a:pt x="532727" y="171888"/>
                </a:lnTo>
                <a:lnTo>
                  <a:pt x="512389" y="130759"/>
                </a:lnTo>
                <a:lnTo>
                  <a:pt x="485261" y="93911"/>
                </a:lnTo>
                <a:lnTo>
                  <a:pt x="452121" y="62091"/>
                </a:lnTo>
                <a:lnTo>
                  <a:pt x="413745" y="36045"/>
                </a:lnTo>
                <a:lnTo>
                  <a:pt x="370909" y="16517"/>
                </a:lnTo>
                <a:lnTo>
                  <a:pt x="324390" y="4253"/>
                </a:lnTo>
                <a:lnTo>
                  <a:pt x="274965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9"/>
          <p:cNvSpPr/>
          <p:nvPr/>
        </p:nvSpPr>
        <p:spPr>
          <a:xfrm>
            <a:off x="3851490" y="3636237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19">
                <a:moveTo>
                  <a:pt x="0" y="264010"/>
                </a:moveTo>
                <a:lnTo>
                  <a:pt x="4430" y="216553"/>
                </a:lnTo>
                <a:lnTo>
                  <a:pt x="17202" y="171888"/>
                </a:lnTo>
                <a:lnTo>
                  <a:pt x="37540" y="130759"/>
                </a:lnTo>
                <a:lnTo>
                  <a:pt x="64668" y="93911"/>
                </a:lnTo>
                <a:lnTo>
                  <a:pt x="97808" y="62091"/>
                </a:lnTo>
                <a:lnTo>
                  <a:pt x="136184" y="36045"/>
                </a:lnTo>
                <a:lnTo>
                  <a:pt x="179020" y="16517"/>
                </a:lnTo>
                <a:lnTo>
                  <a:pt x="225539" y="4253"/>
                </a:lnTo>
                <a:lnTo>
                  <a:pt x="274965" y="0"/>
                </a:lnTo>
                <a:lnTo>
                  <a:pt x="324390" y="4253"/>
                </a:lnTo>
                <a:lnTo>
                  <a:pt x="370909" y="16517"/>
                </a:lnTo>
                <a:lnTo>
                  <a:pt x="413745" y="36045"/>
                </a:lnTo>
                <a:lnTo>
                  <a:pt x="452121" y="62091"/>
                </a:lnTo>
                <a:lnTo>
                  <a:pt x="485261" y="93911"/>
                </a:lnTo>
                <a:lnTo>
                  <a:pt x="512389" y="130759"/>
                </a:lnTo>
                <a:lnTo>
                  <a:pt x="532727" y="171888"/>
                </a:lnTo>
                <a:lnTo>
                  <a:pt x="545499" y="216553"/>
                </a:lnTo>
                <a:lnTo>
                  <a:pt x="549929" y="264010"/>
                </a:lnTo>
                <a:lnTo>
                  <a:pt x="545499" y="311466"/>
                </a:lnTo>
                <a:lnTo>
                  <a:pt x="532727" y="356131"/>
                </a:lnTo>
                <a:lnTo>
                  <a:pt x="512389" y="397260"/>
                </a:lnTo>
                <a:lnTo>
                  <a:pt x="485261" y="434108"/>
                </a:lnTo>
                <a:lnTo>
                  <a:pt x="452121" y="465928"/>
                </a:lnTo>
                <a:lnTo>
                  <a:pt x="413745" y="491974"/>
                </a:lnTo>
                <a:lnTo>
                  <a:pt x="370909" y="511502"/>
                </a:lnTo>
                <a:lnTo>
                  <a:pt x="324390" y="523766"/>
                </a:lnTo>
                <a:lnTo>
                  <a:pt x="274965" y="528020"/>
                </a:lnTo>
                <a:lnTo>
                  <a:pt x="225539" y="523766"/>
                </a:lnTo>
                <a:lnTo>
                  <a:pt x="179020" y="511502"/>
                </a:lnTo>
                <a:lnTo>
                  <a:pt x="136184" y="491974"/>
                </a:lnTo>
                <a:lnTo>
                  <a:pt x="97808" y="465928"/>
                </a:lnTo>
                <a:lnTo>
                  <a:pt x="64668" y="434108"/>
                </a:lnTo>
                <a:lnTo>
                  <a:pt x="37540" y="397260"/>
                </a:lnTo>
                <a:lnTo>
                  <a:pt x="17202" y="356131"/>
                </a:lnTo>
                <a:lnTo>
                  <a:pt x="4430" y="311466"/>
                </a:lnTo>
                <a:lnTo>
                  <a:pt x="0" y="26401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0"/>
          <p:cNvSpPr/>
          <p:nvPr/>
        </p:nvSpPr>
        <p:spPr>
          <a:xfrm>
            <a:off x="4744244" y="4305444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20">
                <a:moveTo>
                  <a:pt x="274965" y="0"/>
                </a:moveTo>
                <a:lnTo>
                  <a:pt x="225539" y="4253"/>
                </a:lnTo>
                <a:lnTo>
                  <a:pt x="179020" y="16517"/>
                </a:lnTo>
                <a:lnTo>
                  <a:pt x="136185" y="36045"/>
                </a:lnTo>
                <a:lnTo>
                  <a:pt x="97808" y="62091"/>
                </a:lnTo>
                <a:lnTo>
                  <a:pt x="64668" y="93911"/>
                </a:lnTo>
                <a:lnTo>
                  <a:pt x="37540" y="130759"/>
                </a:lnTo>
                <a:lnTo>
                  <a:pt x="17202" y="171888"/>
                </a:lnTo>
                <a:lnTo>
                  <a:pt x="4430" y="216554"/>
                </a:lnTo>
                <a:lnTo>
                  <a:pt x="0" y="264010"/>
                </a:lnTo>
                <a:lnTo>
                  <a:pt x="4430" y="311466"/>
                </a:lnTo>
                <a:lnTo>
                  <a:pt x="17202" y="356131"/>
                </a:lnTo>
                <a:lnTo>
                  <a:pt x="37540" y="397261"/>
                </a:lnTo>
                <a:lnTo>
                  <a:pt x="64668" y="434108"/>
                </a:lnTo>
                <a:lnTo>
                  <a:pt x="97808" y="465928"/>
                </a:lnTo>
                <a:lnTo>
                  <a:pt x="136185" y="491975"/>
                </a:lnTo>
                <a:lnTo>
                  <a:pt x="179020" y="511503"/>
                </a:lnTo>
                <a:lnTo>
                  <a:pt x="225539" y="523766"/>
                </a:lnTo>
                <a:lnTo>
                  <a:pt x="274965" y="528020"/>
                </a:lnTo>
                <a:lnTo>
                  <a:pt x="324390" y="523766"/>
                </a:lnTo>
                <a:lnTo>
                  <a:pt x="370909" y="511503"/>
                </a:lnTo>
                <a:lnTo>
                  <a:pt x="413745" y="491975"/>
                </a:lnTo>
                <a:lnTo>
                  <a:pt x="452121" y="465928"/>
                </a:lnTo>
                <a:lnTo>
                  <a:pt x="485261" y="434108"/>
                </a:lnTo>
                <a:lnTo>
                  <a:pt x="512389" y="397261"/>
                </a:lnTo>
                <a:lnTo>
                  <a:pt x="532727" y="356131"/>
                </a:lnTo>
                <a:lnTo>
                  <a:pt x="545500" y="311466"/>
                </a:lnTo>
                <a:lnTo>
                  <a:pt x="549930" y="264010"/>
                </a:lnTo>
                <a:lnTo>
                  <a:pt x="545500" y="216554"/>
                </a:lnTo>
                <a:lnTo>
                  <a:pt x="532727" y="171888"/>
                </a:lnTo>
                <a:lnTo>
                  <a:pt x="512389" y="130759"/>
                </a:lnTo>
                <a:lnTo>
                  <a:pt x="485261" y="93911"/>
                </a:lnTo>
                <a:lnTo>
                  <a:pt x="452121" y="62091"/>
                </a:lnTo>
                <a:lnTo>
                  <a:pt x="413745" y="36045"/>
                </a:lnTo>
                <a:lnTo>
                  <a:pt x="370909" y="16517"/>
                </a:lnTo>
                <a:lnTo>
                  <a:pt x="324390" y="4253"/>
                </a:lnTo>
                <a:lnTo>
                  <a:pt x="274965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1"/>
          <p:cNvSpPr/>
          <p:nvPr/>
        </p:nvSpPr>
        <p:spPr>
          <a:xfrm>
            <a:off x="4744244" y="4305444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20">
                <a:moveTo>
                  <a:pt x="0" y="264010"/>
                </a:moveTo>
                <a:lnTo>
                  <a:pt x="4430" y="216553"/>
                </a:lnTo>
                <a:lnTo>
                  <a:pt x="17202" y="171888"/>
                </a:lnTo>
                <a:lnTo>
                  <a:pt x="37540" y="130759"/>
                </a:lnTo>
                <a:lnTo>
                  <a:pt x="64668" y="93911"/>
                </a:lnTo>
                <a:lnTo>
                  <a:pt x="97808" y="62091"/>
                </a:lnTo>
                <a:lnTo>
                  <a:pt x="136184" y="36045"/>
                </a:lnTo>
                <a:lnTo>
                  <a:pt x="179020" y="16517"/>
                </a:lnTo>
                <a:lnTo>
                  <a:pt x="225539" y="4253"/>
                </a:lnTo>
                <a:lnTo>
                  <a:pt x="274965" y="0"/>
                </a:lnTo>
                <a:lnTo>
                  <a:pt x="324390" y="4253"/>
                </a:lnTo>
                <a:lnTo>
                  <a:pt x="370909" y="16517"/>
                </a:lnTo>
                <a:lnTo>
                  <a:pt x="413745" y="36045"/>
                </a:lnTo>
                <a:lnTo>
                  <a:pt x="452121" y="62091"/>
                </a:lnTo>
                <a:lnTo>
                  <a:pt x="485261" y="93911"/>
                </a:lnTo>
                <a:lnTo>
                  <a:pt x="512389" y="130759"/>
                </a:lnTo>
                <a:lnTo>
                  <a:pt x="532727" y="171888"/>
                </a:lnTo>
                <a:lnTo>
                  <a:pt x="545499" y="216553"/>
                </a:lnTo>
                <a:lnTo>
                  <a:pt x="549929" y="264010"/>
                </a:lnTo>
                <a:lnTo>
                  <a:pt x="545499" y="311466"/>
                </a:lnTo>
                <a:lnTo>
                  <a:pt x="532727" y="356131"/>
                </a:lnTo>
                <a:lnTo>
                  <a:pt x="512389" y="397260"/>
                </a:lnTo>
                <a:lnTo>
                  <a:pt x="485261" y="434108"/>
                </a:lnTo>
                <a:lnTo>
                  <a:pt x="452121" y="465928"/>
                </a:lnTo>
                <a:lnTo>
                  <a:pt x="413745" y="491974"/>
                </a:lnTo>
                <a:lnTo>
                  <a:pt x="370909" y="511502"/>
                </a:lnTo>
                <a:lnTo>
                  <a:pt x="324390" y="523766"/>
                </a:lnTo>
                <a:lnTo>
                  <a:pt x="274965" y="528020"/>
                </a:lnTo>
                <a:lnTo>
                  <a:pt x="225539" y="523766"/>
                </a:lnTo>
                <a:lnTo>
                  <a:pt x="179020" y="511502"/>
                </a:lnTo>
                <a:lnTo>
                  <a:pt x="136184" y="491974"/>
                </a:lnTo>
                <a:lnTo>
                  <a:pt x="97808" y="465928"/>
                </a:lnTo>
                <a:lnTo>
                  <a:pt x="64668" y="434108"/>
                </a:lnTo>
                <a:lnTo>
                  <a:pt x="37540" y="397260"/>
                </a:lnTo>
                <a:lnTo>
                  <a:pt x="17202" y="356131"/>
                </a:lnTo>
                <a:lnTo>
                  <a:pt x="4430" y="311466"/>
                </a:lnTo>
                <a:lnTo>
                  <a:pt x="0" y="26401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2"/>
          <p:cNvSpPr/>
          <p:nvPr/>
        </p:nvSpPr>
        <p:spPr>
          <a:xfrm>
            <a:off x="3297344" y="5297628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20">
                <a:moveTo>
                  <a:pt x="274965" y="0"/>
                </a:moveTo>
                <a:lnTo>
                  <a:pt x="225539" y="4253"/>
                </a:lnTo>
                <a:lnTo>
                  <a:pt x="179020" y="16517"/>
                </a:lnTo>
                <a:lnTo>
                  <a:pt x="136185" y="36045"/>
                </a:lnTo>
                <a:lnTo>
                  <a:pt x="97808" y="62091"/>
                </a:lnTo>
                <a:lnTo>
                  <a:pt x="64668" y="93911"/>
                </a:lnTo>
                <a:lnTo>
                  <a:pt x="37540" y="130759"/>
                </a:lnTo>
                <a:lnTo>
                  <a:pt x="17202" y="171888"/>
                </a:lnTo>
                <a:lnTo>
                  <a:pt x="4430" y="216553"/>
                </a:lnTo>
                <a:lnTo>
                  <a:pt x="0" y="264010"/>
                </a:lnTo>
                <a:lnTo>
                  <a:pt x="4430" y="311466"/>
                </a:lnTo>
                <a:lnTo>
                  <a:pt x="17202" y="356131"/>
                </a:lnTo>
                <a:lnTo>
                  <a:pt x="37540" y="397260"/>
                </a:lnTo>
                <a:lnTo>
                  <a:pt x="64668" y="434108"/>
                </a:lnTo>
                <a:lnTo>
                  <a:pt x="97808" y="465928"/>
                </a:lnTo>
                <a:lnTo>
                  <a:pt x="136185" y="491974"/>
                </a:lnTo>
                <a:lnTo>
                  <a:pt x="179020" y="511502"/>
                </a:lnTo>
                <a:lnTo>
                  <a:pt x="225539" y="523766"/>
                </a:lnTo>
                <a:lnTo>
                  <a:pt x="274965" y="528020"/>
                </a:lnTo>
                <a:lnTo>
                  <a:pt x="324390" y="523766"/>
                </a:lnTo>
                <a:lnTo>
                  <a:pt x="370909" y="511502"/>
                </a:lnTo>
                <a:lnTo>
                  <a:pt x="413745" y="491974"/>
                </a:lnTo>
                <a:lnTo>
                  <a:pt x="452121" y="465928"/>
                </a:lnTo>
                <a:lnTo>
                  <a:pt x="485261" y="434108"/>
                </a:lnTo>
                <a:lnTo>
                  <a:pt x="512389" y="397260"/>
                </a:lnTo>
                <a:lnTo>
                  <a:pt x="532727" y="356131"/>
                </a:lnTo>
                <a:lnTo>
                  <a:pt x="545500" y="311466"/>
                </a:lnTo>
                <a:lnTo>
                  <a:pt x="549930" y="264010"/>
                </a:lnTo>
                <a:lnTo>
                  <a:pt x="545500" y="216553"/>
                </a:lnTo>
                <a:lnTo>
                  <a:pt x="532727" y="171888"/>
                </a:lnTo>
                <a:lnTo>
                  <a:pt x="512389" y="130759"/>
                </a:lnTo>
                <a:lnTo>
                  <a:pt x="485261" y="93911"/>
                </a:lnTo>
                <a:lnTo>
                  <a:pt x="452121" y="62091"/>
                </a:lnTo>
                <a:lnTo>
                  <a:pt x="413745" y="36045"/>
                </a:lnTo>
                <a:lnTo>
                  <a:pt x="370909" y="16517"/>
                </a:lnTo>
                <a:lnTo>
                  <a:pt x="324390" y="4253"/>
                </a:lnTo>
                <a:lnTo>
                  <a:pt x="274965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/>
          <p:cNvSpPr/>
          <p:nvPr/>
        </p:nvSpPr>
        <p:spPr>
          <a:xfrm>
            <a:off x="3297344" y="5297628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20">
                <a:moveTo>
                  <a:pt x="0" y="264010"/>
                </a:moveTo>
                <a:lnTo>
                  <a:pt x="4430" y="216553"/>
                </a:lnTo>
                <a:lnTo>
                  <a:pt x="17202" y="171888"/>
                </a:lnTo>
                <a:lnTo>
                  <a:pt x="37540" y="130759"/>
                </a:lnTo>
                <a:lnTo>
                  <a:pt x="64668" y="93911"/>
                </a:lnTo>
                <a:lnTo>
                  <a:pt x="97808" y="62091"/>
                </a:lnTo>
                <a:lnTo>
                  <a:pt x="136184" y="36045"/>
                </a:lnTo>
                <a:lnTo>
                  <a:pt x="179020" y="16517"/>
                </a:lnTo>
                <a:lnTo>
                  <a:pt x="225539" y="4253"/>
                </a:lnTo>
                <a:lnTo>
                  <a:pt x="274965" y="0"/>
                </a:lnTo>
                <a:lnTo>
                  <a:pt x="324390" y="4253"/>
                </a:lnTo>
                <a:lnTo>
                  <a:pt x="370909" y="16517"/>
                </a:lnTo>
                <a:lnTo>
                  <a:pt x="413745" y="36045"/>
                </a:lnTo>
                <a:lnTo>
                  <a:pt x="452121" y="62091"/>
                </a:lnTo>
                <a:lnTo>
                  <a:pt x="485261" y="93911"/>
                </a:lnTo>
                <a:lnTo>
                  <a:pt x="512389" y="130759"/>
                </a:lnTo>
                <a:lnTo>
                  <a:pt x="532727" y="171888"/>
                </a:lnTo>
                <a:lnTo>
                  <a:pt x="545499" y="216553"/>
                </a:lnTo>
                <a:lnTo>
                  <a:pt x="549929" y="264010"/>
                </a:lnTo>
                <a:lnTo>
                  <a:pt x="545499" y="311466"/>
                </a:lnTo>
                <a:lnTo>
                  <a:pt x="532727" y="356131"/>
                </a:lnTo>
                <a:lnTo>
                  <a:pt x="512389" y="397260"/>
                </a:lnTo>
                <a:lnTo>
                  <a:pt x="485261" y="434108"/>
                </a:lnTo>
                <a:lnTo>
                  <a:pt x="452121" y="465928"/>
                </a:lnTo>
                <a:lnTo>
                  <a:pt x="413745" y="491974"/>
                </a:lnTo>
                <a:lnTo>
                  <a:pt x="370909" y="511502"/>
                </a:lnTo>
                <a:lnTo>
                  <a:pt x="324390" y="523766"/>
                </a:lnTo>
                <a:lnTo>
                  <a:pt x="274965" y="528020"/>
                </a:lnTo>
                <a:lnTo>
                  <a:pt x="225539" y="523766"/>
                </a:lnTo>
                <a:lnTo>
                  <a:pt x="179020" y="511502"/>
                </a:lnTo>
                <a:lnTo>
                  <a:pt x="136184" y="491974"/>
                </a:lnTo>
                <a:lnTo>
                  <a:pt x="97808" y="465928"/>
                </a:lnTo>
                <a:lnTo>
                  <a:pt x="64668" y="434108"/>
                </a:lnTo>
                <a:lnTo>
                  <a:pt x="37540" y="397260"/>
                </a:lnTo>
                <a:lnTo>
                  <a:pt x="17202" y="356131"/>
                </a:lnTo>
                <a:lnTo>
                  <a:pt x="4430" y="311466"/>
                </a:lnTo>
                <a:lnTo>
                  <a:pt x="0" y="26401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4"/>
          <p:cNvSpPr/>
          <p:nvPr/>
        </p:nvSpPr>
        <p:spPr>
          <a:xfrm>
            <a:off x="2924790" y="4317002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20">
                <a:moveTo>
                  <a:pt x="274965" y="0"/>
                </a:moveTo>
                <a:lnTo>
                  <a:pt x="225539" y="4253"/>
                </a:lnTo>
                <a:lnTo>
                  <a:pt x="179020" y="16517"/>
                </a:lnTo>
                <a:lnTo>
                  <a:pt x="136185" y="36045"/>
                </a:lnTo>
                <a:lnTo>
                  <a:pt x="97808" y="62091"/>
                </a:lnTo>
                <a:lnTo>
                  <a:pt x="64668" y="93911"/>
                </a:lnTo>
                <a:lnTo>
                  <a:pt x="37540" y="130759"/>
                </a:lnTo>
                <a:lnTo>
                  <a:pt x="17202" y="171888"/>
                </a:lnTo>
                <a:lnTo>
                  <a:pt x="4430" y="216554"/>
                </a:lnTo>
                <a:lnTo>
                  <a:pt x="0" y="264010"/>
                </a:lnTo>
                <a:lnTo>
                  <a:pt x="4430" y="311466"/>
                </a:lnTo>
                <a:lnTo>
                  <a:pt x="17202" y="356131"/>
                </a:lnTo>
                <a:lnTo>
                  <a:pt x="37540" y="397261"/>
                </a:lnTo>
                <a:lnTo>
                  <a:pt x="64668" y="434108"/>
                </a:lnTo>
                <a:lnTo>
                  <a:pt x="97808" y="465928"/>
                </a:lnTo>
                <a:lnTo>
                  <a:pt x="136185" y="491975"/>
                </a:lnTo>
                <a:lnTo>
                  <a:pt x="179020" y="511503"/>
                </a:lnTo>
                <a:lnTo>
                  <a:pt x="225539" y="523766"/>
                </a:lnTo>
                <a:lnTo>
                  <a:pt x="274965" y="528020"/>
                </a:lnTo>
                <a:lnTo>
                  <a:pt x="324390" y="523766"/>
                </a:lnTo>
                <a:lnTo>
                  <a:pt x="370909" y="511503"/>
                </a:lnTo>
                <a:lnTo>
                  <a:pt x="413745" y="491975"/>
                </a:lnTo>
                <a:lnTo>
                  <a:pt x="452121" y="465928"/>
                </a:lnTo>
                <a:lnTo>
                  <a:pt x="485261" y="434108"/>
                </a:lnTo>
                <a:lnTo>
                  <a:pt x="512389" y="397261"/>
                </a:lnTo>
                <a:lnTo>
                  <a:pt x="532727" y="356131"/>
                </a:lnTo>
                <a:lnTo>
                  <a:pt x="545500" y="311466"/>
                </a:lnTo>
                <a:lnTo>
                  <a:pt x="549930" y="264010"/>
                </a:lnTo>
                <a:lnTo>
                  <a:pt x="545500" y="216554"/>
                </a:lnTo>
                <a:lnTo>
                  <a:pt x="532727" y="171888"/>
                </a:lnTo>
                <a:lnTo>
                  <a:pt x="512389" y="130759"/>
                </a:lnTo>
                <a:lnTo>
                  <a:pt x="485261" y="93911"/>
                </a:lnTo>
                <a:lnTo>
                  <a:pt x="452121" y="62091"/>
                </a:lnTo>
                <a:lnTo>
                  <a:pt x="413745" y="36045"/>
                </a:lnTo>
                <a:lnTo>
                  <a:pt x="370909" y="16517"/>
                </a:lnTo>
                <a:lnTo>
                  <a:pt x="324390" y="4253"/>
                </a:lnTo>
                <a:lnTo>
                  <a:pt x="274965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5"/>
          <p:cNvSpPr/>
          <p:nvPr/>
        </p:nvSpPr>
        <p:spPr>
          <a:xfrm>
            <a:off x="2924790" y="4317002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20">
                <a:moveTo>
                  <a:pt x="0" y="264010"/>
                </a:moveTo>
                <a:lnTo>
                  <a:pt x="4430" y="216553"/>
                </a:lnTo>
                <a:lnTo>
                  <a:pt x="17202" y="171888"/>
                </a:lnTo>
                <a:lnTo>
                  <a:pt x="37540" y="130759"/>
                </a:lnTo>
                <a:lnTo>
                  <a:pt x="64668" y="93911"/>
                </a:lnTo>
                <a:lnTo>
                  <a:pt x="97808" y="62091"/>
                </a:lnTo>
                <a:lnTo>
                  <a:pt x="136184" y="36045"/>
                </a:lnTo>
                <a:lnTo>
                  <a:pt x="179020" y="16517"/>
                </a:lnTo>
                <a:lnTo>
                  <a:pt x="225539" y="4253"/>
                </a:lnTo>
                <a:lnTo>
                  <a:pt x="274965" y="0"/>
                </a:lnTo>
                <a:lnTo>
                  <a:pt x="324390" y="4253"/>
                </a:lnTo>
                <a:lnTo>
                  <a:pt x="370909" y="16517"/>
                </a:lnTo>
                <a:lnTo>
                  <a:pt x="413745" y="36045"/>
                </a:lnTo>
                <a:lnTo>
                  <a:pt x="452121" y="62091"/>
                </a:lnTo>
                <a:lnTo>
                  <a:pt x="485261" y="93911"/>
                </a:lnTo>
                <a:lnTo>
                  <a:pt x="512389" y="130759"/>
                </a:lnTo>
                <a:lnTo>
                  <a:pt x="532727" y="171888"/>
                </a:lnTo>
                <a:lnTo>
                  <a:pt x="545499" y="216553"/>
                </a:lnTo>
                <a:lnTo>
                  <a:pt x="549929" y="264010"/>
                </a:lnTo>
                <a:lnTo>
                  <a:pt x="545499" y="311466"/>
                </a:lnTo>
                <a:lnTo>
                  <a:pt x="532727" y="356131"/>
                </a:lnTo>
                <a:lnTo>
                  <a:pt x="512389" y="397260"/>
                </a:lnTo>
                <a:lnTo>
                  <a:pt x="485261" y="434108"/>
                </a:lnTo>
                <a:lnTo>
                  <a:pt x="452121" y="465928"/>
                </a:lnTo>
                <a:lnTo>
                  <a:pt x="413745" y="491974"/>
                </a:lnTo>
                <a:lnTo>
                  <a:pt x="370909" y="511502"/>
                </a:lnTo>
                <a:lnTo>
                  <a:pt x="324390" y="523766"/>
                </a:lnTo>
                <a:lnTo>
                  <a:pt x="274965" y="528020"/>
                </a:lnTo>
                <a:lnTo>
                  <a:pt x="225539" y="523766"/>
                </a:lnTo>
                <a:lnTo>
                  <a:pt x="179020" y="511502"/>
                </a:lnTo>
                <a:lnTo>
                  <a:pt x="136184" y="491974"/>
                </a:lnTo>
                <a:lnTo>
                  <a:pt x="97808" y="465928"/>
                </a:lnTo>
                <a:lnTo>
                  <a:pt x="64668" y="434108"/>
                </a:lnTo>
                <a:lnTo>
                  <a:pt x="37540" y="397260"/>
                </a:lnTo>
                <a:lnTo>
                  <a:pt x="17202" y="356131"/>
                </a:lnTo>
                <a:lnTo>
                  <a:pt x="4430" y="311466"/>
                </a:lnTo>
                <a:lnTo>
                  <a:pt x="0" y="26401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6"/>
          <p:cNvSpPr/>
          <p:nvPr/>
        </p:nvSpPr>
        <p:spPr>
          <a:xfrm>
            <a:off x="4405642" y="5297632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20">
                <a:moveTo>
                  <a:pt x="274965" y="0"/>
                </a:moveTo>
                <a:lnTo>
                  <a:pt x="225539" y="4253"/>
                </a:lnTo>
                <a:lnTo>
                  <a:pt x="179020" y="16517"/>
                </a:lnTo>
                <a:lnTo>
                  <a:pt x="136185" y="36045"/>
                </a:lnTo>
                <a:lnTo>
                  <a:pt x="97808" y="62091"/>
                </a:lnTo>
                <a:lnTo>
                  <a:pt x="64668" y="93911"/>
                </a:lnTo>
                <a:lnTo>
                  <a:pt x="37540" y="130759"/>
                </a:lnTo>
                <a:lnTo>
                  <a:pt x="17202" y="171888"/>
                </a:lnTo>
                <a:lnTo>
                  <a:pt x="4430" y="216553"/>
                </a:lnTo>
                <a:lnTo>
                  <a:pt x="0" y="264010"/>
                </a:lnTo>
                <a:lnTo>
                  <a:pt x="4430" y="311466"/>
                </a:lnTo>
                <a:lnTo>
                  <a:pt x="17202" y="356131"/>
                </a:lnTo>
                <a:lnTo>
                  <a:pt x="37540" y="397260"/>
                </a:lnTo>
                <a:lnTo>
                  <a:pt x="64668" y="434108"/>
                </a:lnTo>
                <a:lnTo>
                  <a:pt x="97808" y="465928"/>
                </a:lnTo>
                <a:lnTo>
                  <a:pt x="136185" y="491974"/>
                </a:lnTo>
                <a:lnTo>
                  <a:pt x="179020" y="511502"/>
                </a:lnTo>
                <a:lnTo>
                  <a:pt x="225539" y="523766"/>
                </a:lnTo>
                <a:lnTo>
                  <a:pt x="274965" y="528020"/>
                </a:lnTo>
                <a:lnTo>
                  <a:pt x="324390" y="523766"/>
                </a:lnTo>
                <a:lnTo>
                  <a:pt x="370909" y="511502"/>
                </a:lnTo>
                <a:lnTo>
                  <a:pt x="413745" y="491974"/>
                </a:lnTo>
                <a:lnTo>
                  <a:pt x="452121" y="465928"/>
                </a:lnTo>
                <a:lnTo>
                  <a:pt x="485261" y="434108"/>
                </a:lnTo>
                <a:lnTo>
                  <a:pt x="512389" y="397260"/>
                </a:lnTo>
                <a:lnTo>
                  <a:pt x="532727" y="356131"/>
                </a:lnTo>
                <a:lnTo>
                  <a:pt x="545500" y="311466"/>
                </a:lnTo>
                <a:lnTo>
                  <a:pt x="549930" y="264010"/>
                </a:lnTo>
                <a:lnTo>
                  <a:pt x="545500" y="216553"/>
                </a:lnTo>
                <a:lnTo>
                  <a:pt x="532727" y="171888"/>
                </a:lnTo>
                <a:lnTo>
                  <a:pt x="512389" y="130759"/>
                </a:lnTo>
                <a:lnTo>
                  <a:pt x="485261" y="93911"/>
                </a:lnTo>
                <a:lnTo>
                  <a:pt x="452121" y="62091"/>
                </a:lnTo>
                <a:lnTo>
                  <a:pt x="413745" y="36045"/>
                </a:lnTo>
                <a:lnTo>
                  <a:pt x="370909" y="16517"/>
                </a:lnTo>
                <a:lnTo>
                  <a:pt x="324390" y="4253"/>
                </a:lnTo>
                <a:lnTo>
                  <a:pt x="274965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7"/>
          <p:cNvSpPr/>
          <p:nvPr/>
        </p:nvSpPr>
        <p:spPr>
          <a:xfrm>
            <a:off x="4405642" y="5297632"/>
            <a:ext cx="550545" cy="528320"/>
          </a:xfrm>
          <a:custGeom>
            <a:avLst/>
            <a:gdLst/>
            <a:ahLst/>
            <a:cxnLst/>
            <a:rect l="l" t="t" r="r" b="b"/>
            <a:pathLst>
              <a:path w="550545" h="528320">
                <a:moveTo>
                  <a:pt x="0" y="264010"/>
                </a:moveTo>
                <a:lnTo>
                  <a:pt x="4430" y="216553"/>
                </a:lnTo>
                <a:lnTo>
                  <a:pt x="17202" y="171888"/>
                </a:lnTo>
                <a:lnTo>
                  <a:pt x="37540" y="130759"/>
                </a:lnTo>
                <a:lnTo>
                  <a:pt x="64668" y="93911"/>
                </a:lnTo>
                <a:lnTo>
                  <a:pt x="97808" y="62091"/>
                </a:lnTo>
                <a:lnTo>
                  <a:pt x="136184" y="36045"/>
                </a:lnTo>
                <a:lnTo>
                  <a:pt x="179020" y="16517"/>
                </a:lnTo>
                <a:lnTo>
                  <a:pt x="225539" y="4253"/>
                </a:lnTo>
                <a:lnTo>
                  <a:pt x="274965" y="0"/>
                </a:lnTo>
                <a:lnTo>
                  <a:pt x="324390" y="4253"/>
                </a:lnTo>
                <a:lnTo>
                  <a:pt x="370909" y="16517"/>
                </a:lnTo>
                <a:lnTo>
                  <a:pt x="413745" y="36045"/>
                </a:lnTo>
                <a:lnTo>
                  <a:pt x="452121" y="62091"/>
                </a:lnTo>
                <a:lnTo>
                  <a:pt x="485261" y="93911"/>
                </a:lnTo>
                <a:lnTo>
                  <a:pt x="512389" y="130759"/>
                </a:lnTo>
                <a:lnTo>
                  <a:pt x="532727" y="171888"/>
                </a:lnTo>
                <a:lnTo>
                  <a:pt x="545499" y="216553"/>
                </a:lnTo>
                <a:lnTo>
                  <a:pt x="549929" y="264010"/>
                </a:lnTo>
                <a:lnTo>
                  <a:pt x="545499" y="311466"/>
                </a:lnTo>
                <a:lnTo>
                  <a:pt x="532727" y="356131"/>
                </a:lnTo>
                <a:lnTo>
                  <a:pt x="512389" y="397260"/>
                </a:lnTo>
                <a:lnTo>
                  <a:pt x="485261" y="434108"/>
                </a:lnTo>
                <a:lnTo>
                  <a:pt x="452121" y="465928"/>
                </a:lnTo>
                <a:lnTo>
                  <a:pt x="413745" y="491974"/>
                </a:lnTo>
                <a:lnTo>
                  <a:pt x="370909" y="511502"/>
                </a:lnTo>
                <a:lnTo>
                  <a:pt x="324390" y="523766"/>
                </a:lnTo>
                <a:lnTo>
                  <a:pt x="274965" y="528020"/>
                </a:lnTo>
                <a:lnTo>
                  <a:pt x="225539" y="523766"/>
                </a:lnTo>
                <a:lnTo>
                  <a:pt x="179020" y="511502"/>
                </a:lnTo>
                <a:lnTo>
                  <a:pt x="136184" y="491974"/>
                </a:lnTo>
                <a:lnTo>
                  <a:pt x="97808" y="465928"/>
                </a:lnTo>
                <a:lnTo>
                  <a:pt x="64668" y="434108"/>
                </a:lnTo>
                <a:lnTo>
                  <a:pt x="37540" y="397260"/>
                </a:lnTo>
                <a:lnTo>
                  <a:pt x="17202" y="356131"/>
                </a:lnTo>
                <a:lnTo>
                  <a:pt x="4430" y="311466"/>
                </a:lnTo>
                <a:lnTo>
                  <a:pt x="0" y="26401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8"/>
          <p:cNvSpPr/>
          <p:nvPr/>
        </p:nvSpPr>
        <p:spPr>
          <a:xfrm>
            <a:off x="5626100" y="2997200"/>
            <a:ext cx="0" cy="2946400"/>
          </a:xfrm>
          <a:custGeom>
            <a:avLst/>
            <a:gdLst/>
            <a:ahLst/>
            <a:cxnLst/>
            <a:rect l="l" t="t" r="r" b="b"/>
            <a:pathLst>
              <a:path h="2946400">
                <a:moveTo>
                  <a:pt x="0" y="0"/>
                </a:moveTo>
                <a:lnTo>
                  <a:pt x="0" y="2946399"/>
                </a:lnTo>
              </a:path>
            </a:pathLst>
          </a:custGeom>
          <a:ln w="25400">
            <a:solidFill>
              <a:srgbClr val="007894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9"/>
          <p:cNvSpPr txBox="1"/>
          <p:nvPr/>
        </p:nvSpPr>
        <p:spPr>
          <a:xfrm>
            <a:off x="4855590" y="3027197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7B98"/>
                </a:solidFill>
                <a:latin typeface="Arial"/>
                <a:cs typeface="Arial"/>
              </a:rPr>
              <a:t>US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30"/>
          <p:cNvSpPr txBox="1"/>
          <p:nvPr/>
        </p:nvSpPr>
        <p:spPr>
          <a:xfrm>
            <a:off x="6012216" y="3027197"/>
            <a:ext cx="813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7B98"/>
                </a:solidFill>
                <a:latin typeface="Arial"/>
                <a:cs typeface="Arial"/>
              </a:rPr>
              <a:t>E</a:t>
            </a:r>
            <a:r>
              <a:rPr sz="1800" b="1" spc="-5" dirty="0">
                <a:solidFill>
                  <a:srgbClr val="007B98"/>
                </a:solidFill>
                <a:latin typeface="Arial"/>
                <a:cs typeface="Arial"/>
              </a:rPr>
              <a:t>u</a:t>
            </a:r>
            <a:r>
              <a:rPr sz="1800" b="1" dirty="0">
                <a:solidFill>
                  <a:srgbClr val="007B98"/>
                </a:solidFill>
                <a:latin typeface="Arial"/>
                <a:cs typeface="Arial"/>
              </a:rPr>
              <a:t>r</a:t>
            </a:r>
            <a:r>
              <a:rPr sz="1800" b="1" spc="-5" dirty="0">
                <a:solidFill>
                  <a:srgbClr val="007B98"/>
                </a:solidFill>
                <a:latin typeface="Arial"/>
                <a:cs typeface="Arial"/>
              </a:rPr>
              <a:t>op</a:t>
            </a:r>
            <a:r>
              <a:rPr sz="1800" b="1" dirty="0">
                <a:solidFill>
                  <a:srgbClr val="007B98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1"/>
          <p:cNvSpPr/>
          <p:nvPr/>
        </p:nvSpPr>
        <p:spPr>
          <a:xfrm>
            <a:off x="5222307" y="4652773"/>
            <a:ext cx="821552" cy="1963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2"/>
          <p:cNvSpPr/>
          <p:nvPr/>
        </p:nvSpPr>
        <p:spPr>
          <a:xfrm>
            <a:off x="5384800" y="4730749"/>
            <a:ext cx="621030" cy="635"/>
          </a:xfrm>
          <a:custGeom>
            <a:avLst/>
            <a:gdLst/>
            <a:ahLst/>
            <a:cxnLst/>
            <a:rect l="l" t="t" r="r" b="b"/>
            <a:pathLst>
              <a:path w="621029" h="635">
                <a:moveTo>
                  <a:pt x="-19050" y="97"/>
                </a:moveTo>
                <a:lnTo>
                  <a:pt x="640009" y="97"/>
                </a:lnTo>
              </a:path>
            </a:pathLst>
          </a:custGeom>
          <a:ln w="38294">
            <a:solidFill>
              <a:srgbClr val="A18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3"/>
          <p:cNvSpPr/>
          <p:nvPr/>
        </p:nvSpPr>
        <p:spPr>
          <a:xfrm>
            <a:off x="5260425" y="4670678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120141" y="0"/>
                </a:moveTo>
                <a:lnTo>
                  <a:pt x="0" y="60071"/>
                </a:lnTo>
                <a:lnTo>
                  <a:pt x="120141" y="120142"/>
                </a:lnTo>
                <a:lnTo>
                  <a:pt x="120141" y="0"/>
                </a:lnTo>
                <a:close/>
              </a:path>
            </a:pathLst>
          </a:custGeom>
          <a:solidFill>
            <a:srgbClr val="A189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4"/>
          <p:cNvSpPr txBox="1"/>
          <p:nvPr/>
        </p:nvSpPr>
        <p:spPr>
          <a:xfrm>
            <a:off x="7493000" y="2400300"/>
            <a:ext cx="1155700" cy="520700"/>
          </a:xfrm>
          <a:prstGeom prst="rect">
            <a:avLst/>
          </a:prstGeom>
          <a:solidFill>
            <a:srgbClr val="DDAE54"/>
          </a:solidFill>
          <a:ln w="25400">
            <a:solidFill>
              <a:srgbClr val="A17F3D"/>
            </a:solidFill>
          </a:ln>
        </p:spPr>
        <p:txBody>
          <a:bodyPr vert="horz" wrap="square" lIns="0" tIns="118110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930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Client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5"/>
          <p:cNvSpPr/>
          <p:nvPr/>
        </p:nvSpPr>
        <p:spPr>
          <a:xfrm>
            <a:off x="7465828" y="2906228"/>
            <a:ext cx="544850" cy="10786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6"/>
          <p:cNvSpPr/>
          <p:nvPr/>
        </p:nvSpPr>
        <p:spPr>
          <a:xfrm>
            <a:off x="7575550" y="2931991"/>
            <a:ext cx="379730" cy="878205"/>
          </a:xfrm>
          <a:custGeom>
            <a:avLst/>
            <a:gdLst/>
            <a:ahLst/>
            <a:cxnLst/>
            <a:rect l="l" t="t" r="r" b="b"/>
            <a:pathLst>
              <a:path w="379729" h="878205">
                <a:moveTo>
                  <a:pt x="379588" y="0"/>
                </a:moveTo>
                <a:lnTo>
                  <a:pt x="358665" y="47542"/>
                </a:lnTo>
                <a:lnTo>
                  <a:pt x="337683" y="95084"/>
                </a:lnTo>
                <a:lnTo>
                  <a:pt x="316651" y="142626"/>
                </a:lnTo>
                <a:lnTo>
                  <a:pt x="295574" y="190168"/>
                </a:lnTo>
                <a:lnTo>
                  <a:pt x="274462" y="237710"/>
                </a:lnTo>
                <a:lnTo>
                  <a:pt x="253320" y="285252"/>
                </a:lnTo>
                <a:lnTo>
                  <a:pt x="232157" y="332794"/>
                </a:lnTo>
                <a:lnTo>
                  <a:pt x="210979" y="380336"/>
                </a:lnTo>
                <a:lnTo>
                  <a:pt x="189794" y="427878"/>
                </a:lnTo>
                <a:lnTo>
                  <a:pt x="168609" y="475420"/>
                </a:lnTo>
                <a:lnTo>
                  <a:pt x="147431" y="522962"/>
                </a:lnTo>
                <a:lnTo>
                  <a:pt x="126267" y="570504"/>
                </a:lnTo>
                <a:lnTo>
                  <a:pt x="105126" y="618046"/>
                </a:lnTo>
                <a:lnTo>
                  <a:pt x="84013" y="665588"/>
                </a:lnTo>
                <a:lnTo>
                  <a:pt x="62937" y="713130"/>
                </a:lnTo>
                <a:lnTo>
                  <a:pt x="41904" y="760672"/>
                </a:lnTo>
                <a:lnTo>
                  <a:pt x="20923" y="808214"/>
                </a:lnTo>
                <a:lnTo>
                  <a:pt x="0" y="855756"/>
                </a:lnTo>
                <a:lnTo>
                  <a:pt x="0" y="878007"/>
                </a:lnTo>
              </a:path>
            </a:pathLst>
          </a:custGeom>
          <a:ln w="38100">
            <a:solidFill>
              <a:srgbClr val="DDAE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7"/>
          <p:cNvSpPr/>
          <p:nvPr/>
        </p:nvSpPr>
        <p:spPr>
          <a:xfrm>
            <a:off x="7518851" y="3789708"/>
            <a:ext cx="110489" cy="134620"/>
          </a:xfrm>
          <a:custGeom>
            <a:avLst/>
            <a:gdLst/>
            <a:ahLst/>
            <a:cxnLst/>
            <a:rect l="l" t="t" r="r" b="b"/>
            <a:pathLst>
              <a:path w="110490" h="134619">
                <a:moveTo>
                  <a:pt x="0" y="0"/>
                </a:moveTo>
                <a:lnTo>
                  <a:pt x="6661" y="134157"/>
                </a:lnTo>
                <a:lnTo>
                  <a:pt x="109989" y="48334"/>
                </a:lnTo>
                <a:lnTo>
                  <a:pt x="0" y="0"/>
                </a:lnTo>
                <a:close/>
              </a:path>
            </a:pathLst>
          </a:custGeom>
          <a:solidFill>
            <a:srgbClr val="DDAE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8"/>
          <p:cNvSpPr/>
          <p:nvPr/>
        </p:nvSpPr>
        <p:spPr>
          <a:xfrm>
            <a:off x="4068950" y="4146156"/>
            <a:ext cx="713395" cy="5004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9"/>
          <p:cNvSpPr/>
          <p:nvPr/>
        </p:nvSpPr>
        <p:spPr>
          <a:xfrm>
            <a:off x="4184650" y="4305299"/>
            <a:ext cx="560070" cy="264160"/>
          </a:xfrm>
          <a:custGeom>
            <a:avLst/>
            <a:gdLst/>
            <a:ahLst/>
            <a:cxnLst/>
            <a:rect l="l" t="t" r="r" b="b"/>
            <a:pathLst>
              <a:path w="560070" h="264160">
                <a:moveTo>
                  <a:pt x="0" y="0"/>
                </a:moveTo>
                <a:lnTo>
                  <a:pt x="0" y="15854"/>
                </a:lnTo>
                <a:lnTo>
                  <a:pt x="26205" y="47301"/>
                </a:lnTo>
                <a:lnTo>
                  <a:pt x="56465" y="77497"/>
                </a:lnTo>
                <a:lnTo>
                  <a:pt x="90440" y="106223"/>
                </a:lnTo>
                <a:lnTo>
                  <a:pt x="127789" y="133258"/>
                </a:lnTo>
                <a:lnTo>
                  <a:pt x="168171" y="158381"/>
                </a:lnTo>
                <a:lnTo>
                  <a:pt x="211247" y="181374"/>
                </a:lnTo>
                <a:lnTo>
                  <a:pt x="256676" y="202015"/>
                </a:lnTo>
                <a:lnTo>
                  <a:pt x="304117" y="220085"/>
                </a:lnTo>
                <a:lnTo>
                  <a:pt x="353230" y="235363"/>
                </a:lnTo>
                <a:lnTo>
                  <a:pt x="403675" y="247629"/>
                </a:lnTo>
                <a:lnTo>
                  <a:pt x="455111" y="256663"/>
                </a:lnTo>
                <a:lnTo>
                  <a:pt x="507197" y="262244"/>
                </a:lnTo>
                <a:lnTo>
                  <a:pt x="559594" y="264154"/>
                </a:lnTo>
              </a:path>
            </a:pathLst>
          </a:custGeom>
          <a:ln w="38100">
            <a:solidFill>
              <a:srgbClr val="A18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40"/>
          <p:cNvSpPr/>
          <p:nvPr/>
        </p:nvSpPr>
        <p:spPr>
          <a:xfrm>
            <a:off x="4112910" y="4166231"/>
            <a:ext cx="157480" cy="186690"/>
          </a:xfrm>
          <a:custGeom>
            <a:avLst/>
            <a:gdLst/>
            <a:ahLst/>
            <a:cxnLst/>
            <a:rect l="l" t="t" r="r" b="b"/>
            <a:pathLst>
              <a:path w="157479" h="186689">
                <a:moveTo>
                  <a:pt x="19405" y="0"/>
                </a:moveTo>
                <a:lnTo>
                  <a:pt x="0" y="186419"/>
                </a:lnTo>
                <a:lnTo>
                  <a:pt x="156898" y="127377"/>
                </a:lnTo>
                <a:lnTo>
                  <a:pt x="19405" y="0"/>
                </a:lnTo>
                <a:close/>
              </a:path>
            </a:pathLst>
          </a:custGeom>
          <a:solidFill>
            <a:srgbClr val="A189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1"/>
          <p:cNvSpPr/>
          <p:nvPr/>
        </p:nvSpPr>
        <p:spPr>
          <a:xfrm>
            <a:off x="4467358" y="4625283"/>
            <a:ext cx="317269" cy="79507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2"/>
          <p:cNvSpPr/>
          <p:nvPr/>
        </p:nvSpPr>
        <p:spPr>
          <a:xfrm>
            <a:off x="4565650" y="4643384"/>
            <a:ext cx="161925" cy="589280"/>
          </a:xfrm>
          <a:custGeom>
            <a:avLst/>
            <a:gdLst/>
            <a:ahLst/>
            <a:cxnLst/>
            <a:rect l="l" t="t" r="r" b="b"/>
            <a:pathLst>
              <a:path w="161925" h="589279">
                <a:moveTo>
                  <a:pt x="161827" y="0"/>
                </a:moveTo>
                <a:lnTo>
                  <a:pt x="159927" y="67043"/>
                </a:lnTo>
                <a:lnTo>
                  <a:pt x="154556" y="131981"/>
                </a:lnTo>
                <a:lnTo>
                  <a:pt x="146211" y="192706"/>
                </a:lnTo>
                <a:lnTo>
                  <a:pt x="135386" y="247113"/>
                </a:lnTo>
                <a:lnTo>
                  <a:pt x="122579" y="293095"/>
                </a:lnTo>
                <a:lnTo>
                  <a:pt x="108284" y="328548"/>
                </a:lnTo>
                <a:lnTo>
                  <a:pt x="77216" y="359437"/>
                </a:lnTo>
                <a:lnTo>
                  <a:pt x="58754" y="370304"/>
                </a:lnTo>
                <a:lnTo>
                  <a:pt x="40907" y="400688"/>
                </a:lnTo>
                <a:lnTo>
                  <a:pt x="24570" y="447266"/>
                </a:lnTo>
                <a:lnTo>
                  <a:pt x="10636" y="506712"/>
                </a:lnTo>
                <a:lnTo>
                  <a:pt x="0" y="575702"/>
                </a:lnTo>
                <a:lnTo>
                  <a:pt x="0" y="589015"/>
                </a:lnTo>
              </a:path>
            </a:pathLst>
          </a:custGeom>
          <a:ln w="38100">
            <a:solidFill>
              <a:srgbClr val="A18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3"/>
          <p:cNvSpPr/>
          <p:nvPr/>
        </p:nvSpPr>
        <p:spPr>
          <a:xfrm>
            <a:off x="4505433" y="5233042"/>
            <a:ext cx="120014" cy="123825"/>
          </a:xfrm>
          <a:custGeom>
            <a:avLst/>
            <a:gdLst/>
            <a:ahLst/>
            <a:cxnLst/>
            <a:rect l="l" t="t" r="r" b="b"/>
            <a:pathLst>
              <a:path w="120014" h="123825">
                <a:moveTo>
                  <a:pt x="0" y="0"/>
                </a:moveTo>
                <a:lnTo>
                  <a:pt x="52798" y="123511"/>
                </a:lnTo>
                <a:lnTo>
                  <a:pt x="119928" y="7166"/>
                </a:lnTo>
                <a:lnTo>
                  <a:pt x="0" y="0"/>
                </a:lnTo>
                <a:close/>
              </a:path>
            </a:pathLst>
          </a:custGeom>
          <a:solidFill>
            <a:srgbClr val="A189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4"/>
          <p:cNvSpPr/>
          <p:nvPr/>
        </p:nvSpPr>
        <p:spPr>
          <a:xfrm>
            <a:off x="7124431" y="4146156"/>
            <a:ext cx="713038" cy="52954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5"/>
          <p:cNvSpPr/>
          <p:nvPr/>
        </p:nvSpPr>
        <p:spPr>
          <a:xfrm>
            <a:off x="7181581" y="4164256"/>
            <a:ext cx="489584" cy="389255"/>
          </a:xfrm>
          <a:custGeom>
            <a:avLst/>
            <a:gdLst/>
            <a:ahLst/>
            <a:cxnLst/>
            <a:rect l="l" t="t" r="r" b="b"/>
            <a:pathLst>
              <a:path w="489584" h="389254">
                <a:moveTo>
                  <a:pt x="0" y="0"/>
                </a:moveTo>
                <a:lnTo>
                  <a:pt x="12951" y="72843"/>
                </a:lnTo>
                <a:lnTo>
                  <a:pt x="28529" y="108506"/>
                </a:lnTo>
                <a:lnTo>
                  <a:pt x="49634" y="143323"/>
                </a:lnTo>
                <a:lnTo>
                  <a:pt x="75857" y="177037"/>
                </a:lnTo>
                <a:lnTo>
                  <a:pt x="106791" y="209394"/>
                </a:lnTo>
                <a:lnTo>
                  <a:pt x="142030" y="240137"/>
                </a:lnTo>
                <a:lnTo>
                  <a:pt x="181167" y="269011"/>
                </a:lnTo>
                <a:lnTo>
                  <a:pt x="223793" y="295761"/>
                </a:lnTo>
                <a:lnTo>
                  <a:pt x="269503" y="320130"/>
                </a:lnTo>
                <a:lnTo>
                  <a:pt x="317890" y="341864"/>
                </a:lnTo>
                <a:lnTo>
                  <a:pt x="368545" y="360706"/>
                </a:lnTo>
                <a:lnTo>
                  <a:pt x="421062" y="376401"/>
                </a:lnTo>
                <a:lnTo>
                  <a:pt x="475034" y="388693"/>
                </a:lnTo>
                <a:lnTo>
                  <a:pt x="489219" y="388693"/>
                </a:lnTo>
              </a:path>
            </a:pathLst>
          </a:custGeom>
          <a:ln w="38099">
            <a:solidFill>
              <a:srgbClr val="A18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6"/>
          <p:cNvSpPr/>
          <p:nvPr/>
        </p:nvSpPr>
        <p:spPr>
          <a:xfrm>
            <a:off x="7669192" y="4493572"/>
            <a:ext cx="125730" cy="120014"/>
          </a:xfrm>
          <a:custGeom>
            <a:avLst/>
            <a:gdLst/>
            <a:ahLst/>
            <a:cxnLst/>
            <a:rect l="l" t="t" r="r" b="b"/>
            <a:pathLst>
              <a:path w="125729" h="120014">
                <a:moveTo>
                  <a:pt x="11642" y="0"/>
                </a:moveTo>
                <a:lnTo>
                  <a:pt x="0" y="119575"/>
                </a:lnTo>
                <a:lnTo>
                  <a:pt x="125397" y="71431"/>
                </a:lnTo>
                <a:lnTo>
                  <a:pt x="11642" y="0"/>
                </a:lnTo>
                <a:close/>
              </a:path>
            </a:pathLst>
          </a:custGeom>
          <a:solidFill>
            <a:srgbClr val="A189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7"/>
          <p:cNvSpPr/>
          <p:nvPr/>
        </p:nvSpPr>
        <p:spPr>
          <a:xfrm>
            <a:off x="7124430" y="4146157"/>
            <a:ext cx="509562" cy="128690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8"/>
          <p:cNvSpPr/>
          <p:nvPr/>
        </p:nvSpPr>
        <p:spPr>
          <a:xfrm>
            <a:off x="7181581" y="4164257"/>
            <a:ext cx="356235" cy="1081405"/>
          </a:xfrm>
          <a:custGeom>
            <a:avLst/>
            <a:gdLst/>
            <a:ahLst/>
            <a:cxnLst/>
            <a:rect l="l" t="t" r="r" b="b"/>
            <a:pathLst>
              <a:path w="356234" h="1081404">
                <a:moveTo>
                  <a:pt x="0" y="0"/>
                </a:moveTo>
                <a:lnTo>
                  <a:pt x="1343" y="64748"/>
                </a:lnTo>
                <a:lnTo>
                  <a:pt x="5243" y="128835"/>
                </a:lnTo>
                <a:lnTo>
                  <a:pt x="11503" y="191599"/>
                </a:lnTo>
                <a:lnTo>
                  <a:pt x="19926" y="252376"/>
                </a:lnTo>
                <a:lnTo>
                  <a:pt x="30315" y="310507"/>
                </a:lnTo>
                <a:lnTo>
                  <a:pt x="42474" y="365328"/>
                </a:lnTo>
                <a:lnTo>
                  <a:pt x="56206" y="416178"/>
                </a:lnTo>
                <a:lnTo>
                  <a:pt x="71315" y="462396"/>
                </a:lnTo>
                <a:lnTo>
                  <a:pt x="87603" y="503319"/>
                </a:lnTo>
                <a:lnTo>
                  <a:pt x="104875" y="538285"/>
                </a:lnTo>
                <a:lnTo>
                  <a:pt x="141581" y="587702"/>
                </a:lnTo>
                <a:lnTo>
                  <a:pt x="179860" y="605350"/>
                </a:lnTo>
                <a:lnTo>
                  <a:pt x="200505" y="610521"/>
                </a:lnTo>
                <a:lnTo>
                  <a:pt x="241124" y="649454"/>
                </a:lnTo>
                <a:lnTo>
                  <a:pt x="279087" y="721100"/>
                </a:lnTo>
                <a:lnTo>
                  <a:pt x="296411" y="767162"/>
                </a:lnTo>
                <a:lnTo>
                  <a:pt x="312277" y="818969"/>
                </a:lnTo>
                <a:lnTo>
                  <a:pt x="326420" y="875710"/>
                </a:lnTo>
                <a:lnTo>
                  <a:pt x="338576" y="936573"/>
                </a:lnTo>
                <a:lnTo>
                  <a:pt x="348481" y="1000747"/>
                </a:lnTo>
                <a:lnTo>
                  <a:pt x="355869" y="1067421"/>
                </a:lnTo>
                <a:lnTo>
                  <a:pt x="355869" y="1080843"/>
                </a:lnTo>
              </a:path>
            </a:pathLst>
          </a:custGeom>
          <a:ln w="38100">
            <a:solidFill>
              <a:srgbClr val="A18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9"/>
          <p:cNvSpPr/>
          <p:nvPr/>
        </p:nvSpPr>
        <p:spPr>
          <a:xfrm>
            <a:off x="7477631" y="5246619"/>
            <a:ext cx="120650" cy="123189"/>
          </a:xfrm>
          <a:custGeom>
            <a:avLst/>
            <a:gdLst/>
            <a:ahLst/>
            <a:cxnLst/>
            <a:rect l="l" t="t" r="r" b="b"/>
            <a:pathLst>
              <a:path w="120650" h="123189">
                <a:moveTo>
                  <a:pt x="120018" y="0"/>
                </a:moveTo>
                <a:lnTo>
                  <a:pt x="0" y="5419"/>
                </a:lnTo>
                <a:lnTo>
                  <a:pt x="65429" y="122729"/>
                </a:lnTo>
                <a:lnTo>
                  <a:pt x="120018" y="0"/>
                </a:lnTo>
                <a:close/>
              </a:path>
            </a:pathLst>
          </a:custGeom>
          <a:solidFill>
            <a:srgbClr val="A189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Slide Number Placeholder 4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80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810000" y="1143000"/>
            <a:ext cx="4419600" cy="4648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19200" y="296243"/>
            <a:ext cx="6906399" cy="652536"/>
          </a:xfrm>
          <a:prstGeom prst="rect">
            <a:avLst/>
          </a:prstGeom>
        </p:spPr>
        <p:txBody>
          <a:bodyPr vert="horz" wrap="square" lIns="0" tIns="6145" rIns="0" bIns="0" rtlCol="0">
            <a:spAutoFit/>
          </a:bodyPr>
          <a:lstStyle/>
          <a:p>
            <a:pPr marL="6468">
              <a:spcBef>
                <a:spcPts val="48"/>
              </a:spcBef>
            </a:pPr>
            <a:r>
              <a:rPr sz="4200" spc="-109" dirty="0">
                <a:solidFill>
                  <a:srgbClr val="535353"/>
                </a:solidFill>
                <a:latin typeface="Gill Sans MT"/>
                <a:cs typeface="Gill Sans MT"/>
              </a:rPr>
              <a:t>REPLICATION</a:t>
            </a:r>
            <a:r>
              <a:rPr sz="4200" spc="-28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4200" spc="-206" dirty="0">
                <a:solidFill>
                  <a:srgbClr val="535353"/>
                </a:solidFill>
                <a:latin typeface="Gill Sans MT"/>
                <a:cs typeface="Gill Sans MT"/>
              </a:rPr>
              <a:t>FACTOR</a:t>
            </a:r>
            <a:endParaRPr sz="4200" dirty="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127" y="2590800"/>
            <a:ext cx="3635273" cy="673858"/>
          </a:xfrm>
          <a:prstGeom prst="rect">
            <a:avLst/>
          </a:prstGeom>
        </p:spPr>
        <p:txBody>
          <a:bodyPr vert="horz" wrap="square" lIns="0" tIns="32341" rIns="0" bIns="0" rtlCol="0">
            <a:spAutoFit/>
          </a:bodyPr>
          <a:lstStyle/>
          <a:p>
            <a:pPr marL="1199834" marR="2587" indent="-1193690">
              <a:lnSpc>
                <a:spcPts val="2475"/>
              </a:lnSpc>
              <a:spcBef>
                <a:spcPts val="255"/>
              </a:spcBef>
            </a:pPr>
            <a:r>
              <a:rPr sz="2200" spc="-23" dirty="0">
                <a:solidFill>
                  <a:srgbClr val="535353"/>
                </a:solidFill>
                <a:latin typeface="Gill Sans MT"/>
                <a:cs typeface="Gill Sans MT"/>
              </a:rPr>
              <a:t>How </a:t>
            </a:r>
            <a:r>
              <a:rPr sz="2200" spc="-18" dirty="0">
                <a:solidFill>
                  <a:srgbClr val="535353"/>
                </a:solidFill>
                <a:latin typeface="Gill Sans MT"/>
                <a:cs typeface="Gill Sans MT"/>
              </a:rPr>
              <a:t>many </a:t>
            </a:r>
            <a:r>
              <a:rPr sz="2200" spc="-23" dirty="0">
                <a:solidFill>
                  <a:srgbClr val="535353"/>
                </a:solidFill>
                <a:latin typeface="Gill Sans MT"/>
                <a:cs typeface="Gill Sans MT"/>
              </a:rPr>
              <a:t>copies</a:t>
            </a:r>
            <a:r>
              <a:rPr lang="en-US" sz="2200" spc="-23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200" spc="-28" dirty="0">
                <a:solidFill>
                  <a:srgbClr val="535353"/>
                </a:solidFill>
                <a:latin typeface="Gill Sans MT"/>
                <a:cs typeface="Gill Sans MT"/>
              </a:rPr>
              <a:t>(replicas) </a:t>
            </a:r>
            <a:r>
              <a:rPr sz="2200" spc="-61" dirty="0">
                <a:solidFill>
                  <a:srgbClr val="535353"/>
                </a:solidFill>
                <a:latin typeface="Gill Sans MT"/>
                <a:cs typeface="Gill Sans MT"/>
              </a:rPr>
              <a:t>for  your</a:t>
            </a:r>
            <a:r>
              <a:rPr sz="2200" spc="-33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200" spc="-10" dirty="0">
                <a:solidFill>
                  <a:srgbClr val="535353"/>
                </a:solidFill>
                <a:latin typeface="Gill Sans MT"/>
                <a:cs typeface="Gill Sans MT"/>
              </a:rPr>
              <a:t>data</a:t>
            </a:r>
            <a:endParaRPr sz="2200" dirty="0">
              <a:latin typeface="Gill Sans MT"/>
              <a:cs typeface="Gill Sans M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35220" y="1524000"/>
            <a:ext cx="7278231" cy="867652"/>
          </a:xfrm>
          <a:prstGeom prst="rect">
            <a:avLst/>
          </a:prstGeom>
        </p:spPr>
        <p:txBody>
          <a:bodyPr vert="horz" wrap="square" lIns="0" tIns="5821" rIns="0" bIns="0" rtlCol="0">
            <a:spAutoFit/>
          </a:bodyPr>
          <a:lstStyle/>
          <a:p>
            <a:pPr marL="6468">
              <a:spcBef>
                <a:spcPts val="46"/>
              </a:spcBef>
            </a:pPr>
            <a:r>
              <a:rPr sz="2800" b="1" spc="-148" dirty="0">
                <a:solidFill>
                  <a:srgbClr val="535353"/>
                </a:solidFill>
                <a:latin typeface="Gill Sans MT"/>
                <a:cs typeface="Gill Sans MT"/>
              </a:rPr>
              <a:t>What </a:t>
            </a:r>
            <a:r>
              <a:rPr sz="2800" b="1" spc="-99" dirty="0">
                <a:solidFill>
                  <a:srgbClr val="535353"/>
                </a:solidFill>
                <a:latin typeface="Gill Sans MT"/>
                <a:cs typeface="Gill Sans MT"/>
              </a:rPr>
              <a:t>technology </a:t>
            </a:r>
            <a:r>
              <a:rPr sz="2800" b="1" spc="-84" dirty="0">
                <a:solidFill>
                  <a:srgbClr val="535353"/>
                </a:solidFill>
                <a:latin typeface="Gill Sans MT"/>
                <a:cs typeface="Gill Sans MT"/>
              </a:rPr>
              <a:t>does </a:t>
            </a:r>
            <a:r>
              <a:rPr sz="2800" b="1" spc="-112" dirty="0">
                <a:solidFill>
                  <a:srgbClr val="535353"/>
                </a:solidFill>
                <a:latin typeface="Gill Sans MT"/>
                <a:cs typeface="Gill Sans MT"/>
              </a:rPr>
              <a:t>Cassandra </a:t>
            </a:r>
            <a:r>
              <a:rPr sz="2800" b="1" spc="-99" dirty="0">
                <a:solidFill>
                  <a:srgbClr val="535353"/>
                </a:solidFill>
                <a:latin typeface="Gill Sans MT"/>
                <a:cs typeface="Gill Sans MT"/>
              </a:rPr>
              <a:t>use </a:t>
            </a:r>
            <a:r>
              <a:rPr sz="2800" b="1" spc="-84" dirty="0">
                <a:solidFill>
                  <a:srgbClr val="535353"/>
                </a:solidFill>
                <a:latin typeface="Gill Sans MT"/>
                <a:cs typeface="Gill Sans MT"/>
              </a:rPr>
              <a:t>to </a:t>
            </a:r>
            <a:r>
              <a:rPr sz="2800" b="1" spc="-129" dirty="0">
                <a:solidFill>
                  <a:srgbClr val="535353"/>
                </a:solidFill>
                <a:latin typeface="Gill Sans MT"/>
                <a:cs typeface="Gill Sans MT"/>
              </a:rPr>
              <a:t>model </a:t>
            </a:r>
            <a:r>
              <a:rPr sz="2800" b="1" spc="-31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800" b="1" spc="-109" dirty="0">
                <a:solidFill>
                  <a:srgbClr val="535353"/>
                </a:solidFill>
                <a:latin typeface="Gill Sans MT"/>
                <a:cs typeface="Gill Sans MT"/>
              </a:rPr>
              <a:t>data?</a:t>
            </a:r>
            <a:endParaRPr sz="28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8800" y="3676683"/>
            <a:ext cx="5536278" cy="500280"/>
          </a:xfrm>
          <a:prstGeom prst="rect">
            <a:avLst/>
          </a:prstGeom>
        </p:spPr>
        <p:txBody>
          <a:bodyPr vert="horz" wrap="square" lIns="0" tIns="7762" rIns="0" bIns="0" rtlCol="0">
            <a:spAutoFit/>
          </a:bodyPr>
          <a:lstStyle/>
          <a:p>
            <a:pPr marL="6468">
              <a:spcBef>
                <a:spcPts val="61"/>
              </a:spcBef>
            </a:pPr>
            <a:r>
              <a:rPr sz="3200" spc="-46" dirty="0">
                <a:solidFill>
                  <a:srgbClr val="535353"/>
                </a:solidFill>
                <a:latin typeface="Gill Sans MT"/>
                <a:cs typeface="Gill Sans MT"/>
              </a:rPr>
              <a:t>CQL: </a:t>
            </a:r>
            <a:r>
              <a:rPr sz="3200" spc="-31" dirty="0">
                <a:solidFill>
                  <a:srgbClr val="535353"/>
                </a:solidFill>
                <a:latin typeface="Gill Sans MT"/>
                <a:cs typeface="Gill Sans MT"/>
              </a:rPr>
              <a:t>Cassandra </a:t>
            </a:r>
            <a:r>
              <a:rPr sz="3200" spc="-8" dirty="0">
                <a:solidFill>
                  <a:srgbClr val="535353"/>
                </a:solidFill>
                <a:latin typeface="Gill Sans MT"/>
                <a:cs typeface="Gill Sans MT"/>
              </a:rPr>
              <a:t>Query</a:t>
            </a:r>
            <a:r>
              <a:rPr sz="3200" spc="-97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3200" spc="-8" dirty="0">
                <a:solidFill>
                  <a:srgbClr val="535353"/>
                </a:solidFill>
                <a:latin typeface="Gill Sans MT"/>
                <a:cs typeface="Gill Sans MT"/>
              </a:rPr>
              <a:t>Language</a:t>
            </a:r>
            <a:endParaRPr sz="3200" dirty="0">
              <a:latin typeface="Gill Sans MT"/>
              <a:cs typeface="Gill Sans M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35910" y="3346750"/>
            <a:ext cx="2612090" cy="30816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58404" y="3695745"/>
            <a:ext cx="2392105" cy="2171655"/>
          </a:xfrm>
          <a:prstGeom prst="rect">
            <a:avLst/>
          </a:prstGeom>
        </p:spPr>
        <p:txBody>
          <a:bodyPr vert="horz" wrap="square" lIns="0" tIns="29753" rIns="0" bIns="0" rtlCol="0">
            <a:spAutoFit/>
          </a:bodyPr>
          <a:lstStyle/>
          <a:p>
            <a:pPr marL="154588" marR="2587" indent="-84085">
              <a:lnSpc>
                <a:spcPts val="2394"/>
              </a:lnSpc>
              <a:spcBef>
                <a:spcPts val="234"/>
              </a:spcBef>
            </a:pPr>
            <a:r>
              <a:rPr sz="2100" spc="-71" dirty="0">
                <a:solidFill>
                  <a:srgbClr val="535353"/>
                </a:solidFill>
                <a:latin typeface="Gill Sans MT"/>
                <a:cs typeface="Gill Sans MT"/>
              </a:rPr>
              <a:t>CREATE </a:t>
            </a:r>
            <a:r>
              <a:rPr sz="2100" spc="-76" dirty="0">
                <a:solidFill>
                  <a:srgbClr val="535353"/>
                </a:solidFill>
                <a:latin typeface="Gill Sans MT"/>
                <a:cs typeface="Gill Sans MT"/>
              </a:rPr>
              <a:t>TABLE </a:t>
            </a:r>
            <a:r>
              <a:rPr sz="2100" spc="-38" dirty="0">
                <a:solidFill>
                  <a:srgbClr val="535353"/>
                </a:solidFill>
                <a:latin typeface="Gill Sans MT"/>
                <a:cs typeface="Gill Sans MT"/>
              </a:rPr>
              <a:t>users</a:t>
            </a:r>
            <a:r>
              <a:rPr sz="2100" spc="-168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100" spc="20" dirty="0">
                <a:solidFill>
                  <a:srgbClr val="535353"/>
                </a:solidFill>
                <a:latin typeface="Gill Sans MT"/>
                <a:cs typeface="Gill Sans MT"/>
              </a:rPr>
              <a:t>(  </a:t>
            </a:r>
            <a:r>
              <a:rPr sz="2100" spc="-31" dirty="0">
                <a:solidFill>
                  <a:srgbClr val="535353"/>
                </a:solidFill>
                <a:latin typeface="Gill Sans MT"/>
                <a:cs typeface="Gill Sans MT"/>
              </a:rPr>
              <a:t>id</a:t>
            </a:r>
            <a:r>
              <a:rPr sz="2100" spc="-46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100" spc="-69" dirty="0">
                <a:solidFill>
                  <a:srgbClr val="535353"/>
                </a:solidFill>
                <a:latin typeface="Gill Sans MT"/>
                <a:cs typeface="Gill Sans MT"/>
              </a:rPr>
              <a:t>UUID,</a:t>
            </a:r>
            <a:endParaRPr sz="2100" dirty="0">
              <a:latin typeface="Gill Sans MT"/>
              <a:cs typeface="Gill Sans MT"/>
            </a:endParaRPr>
          </a:p>
          <a:p>
            <a:pPr marL="154588" marR="17464">
              <a:lnSpc>
                <a:spcPts val="2394"/>
              </a:lnSpc>
            </a:pPr>
            <a:r>
              <a:rPr sz="2100" dirty="0">
                <a:solidFill>
                  <a:srgbClr val="535353"/>
                </a:solidFill>
                <a:latin typeface="Gill Sans MT"/>
                <a:cs typeface="Gill Sans MT"/>
              </a:rPr>
              <a:t>name </a:t>
            </a:r>
            <a:r>
              <a:rPr sz="2100" spc="-51" dirty="0">
                <a:solidFill>
                  <a:srgbClr val="535353"/>
                </a:solidFill>
                <a:latin typeface="Gill Sans MT"/>
                <a:cs typeface="Gill Sans MT"/>
              </a:rPr>
              <a:t>VARCHAR,  </a:t>
            </a:r>
            <a:r>
              <a:rPr sz="2100" spc="-23" dirty="0">
                <a:solidFill>
                  <a:srgbClr val="535353"/>
                </a:solidFill>
                <a:latin typeface="Gill Sans MT"/>
                <a:cs typeface="Gill Sans MT"/>
              </a:rPr>
              <a:t>surname </a:t>
            </a:r>
            <a:r>
              <a:rPr sz="2100" spc="-51" dirty="0">
                <a:solidFill>
                  <a:srgbClr val="535353"/>
                </a:solidFill>
                <a:latin typeface="Gill Sans MT"/>
                <a:cs typeface="Gill Sans MT"/>
              </a:rPr>
              <a:t>VARCHAR,  </a:t>
            </a:r>
            <a:r>
              <a:rPr sz="2100" spc="-15" dirty="0">
                <a:solidFill>
                  <a:srgbClr val="535353"/>
                </a:solidFill>
                <a:latin typeface="Gill Sans MT"/>
                <a:cs typeface="Gill Sans MT"/>
              </a:rPr>
              <a:t>birthdate</a:t>
            </a:r>
            <a:r>
              <a:rPr sz="2100" spc="-311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100" spc="-87" dirty="0">
                <a:solidFill>
                  <a:srgbClr val="535353"/>
                </a:solidFill>
                <a:latin typeface="Gill Sans MT"/>
                <a:cs typeface="Gill Sans MT"/>
              </a:rPr>
              <a:t>TIMESTAMP,  </a:t>
            </a:r>
            <a:r>
              <a:rPr sz="2100" spc="-46" dirty="0">
                <a:solidFill>
                  <a:srgbClr val="535353"/>
                </a:solidFill>
                <a:latin typeface="Gill Sans MT"/>
                <a:cs typeface="Gill Sans MT"/>
              </a:rPr>
              <a:t>PRIMARY</a:t>
            </a:r>
            <a:r>
              <a:rPr sz="2100" spc="-25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100" spc="-48" dirty="0">
                <a:solidFill>
                  <a:srgbClr val="535353"/>
                </a:solidFill>
                <a:latin typeface="Gill Sans MT"/>
                <a:cs typeface="Gill Sans MT"/>
              </a:rPr>
              <a:t>KEY(id)</a:t>
            </a:r>
            <a:endParaRPr sz="2100" dirty="0">
              <a:latin typeface="Gill Sans MT"/>
              <a:cs typeface="Gill Sans MT"/>
            </a:endParaRPr>
          </a:p>
          <a:p>
            <a:pPr marL="6468">
              <a:lnSpc>
                <a:spcPts val="2333"/>
              </a:lnSpc>
            </a:pPr>
            <a:r>
              <a:rPr sz="2100" spc="-46" dirty="0">
                <a:solidFill>
                  <a:srgbClr val="535353"/>
                </a:solidFill>
                <a:latin typeface="Gill Sans MT"/>
                <a:cs typeface="Gill Sans MT"/>
              </a:rPr>
              <a:t>);</a:t>
            </a:r>
            <a:endParaRPr sz="2100" dirty="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3649" y="279288"/>
            <a:ext cx="5576511" cy="1968159"/>
          </a:xfrm>
          <a:prstGeom prst="rect">
            <a:avLst/>
          </a:prstGeom>
        </p:spPr>
        <p:txBody>
          <a:bodyPr vert="horz" wrap="square" lIns="0" tIns="277805" rIns="0" bIns="0" rtlCol="0">
            <a:spAutoFit/>
          </a:bodyPr>
          <a:lstStyle/>
          <a:p>
            <a:pPr marL="5498" algn="ctr">
              <a:spcBef>
                <a:spcPts val="2187"/>
              </a:spcBef>
            </a:pPr>
            <a:r>
              <a:rPr sz="4200" spc="-76" dirty="0">
                <a:solidFill>
                  <a:srgbClr val="535353"/>
                </a:solidFill>
                <a:latin typeface="Gill Sans MT"/>
                <a:cs typeface="Gill Sans MT"/>
              </a:rPr>
              <a:t>CQL</a:t>
            </a:r>
            <a:endParaRPr sz="4200">
              <a:latin typeface="Gill Sans MT"/>
              <a:cs typeface="Gill Sans MT"/>
            </a:endParaRPr>
          </a:p>
          <a:p>
            <a:pPr algn="ctr">
              <a:spcBef>
                <a:spcPts val="1406"/>
              </a:spcBef>
            </a:pPr>
            <a:r>
              <a:rPr sz="2800" b="1" spc="-135" dirty="0">
                <a:solidFill>
                  <a:srgbClr val="535353"/>
                </a:solidFill>
                <a:latin typeface="Gill Sans MT"/>
                <a:cs typeface="Gill Sans MT"/>
              </a:rPr>
              <a:t>Familiar </a:t>
            </a:r>
            <a:r>
              <a:rPr sz="2800" b="1" spc="-104" dirty="0">
                <a:solidFill>
                  <a:srgbClr val="535353"/>
                </a:solidFill>
                <a:latin typeface="Gill Sans MT"/>
                <a:cs typeface="Gill Sans MT"/>
              </a:rPr>
              <a:t>row-column </a:t>
            </a:r>
            <a:r>
              <a:rPr sz="2800" b="1" spc="-102" dirty="0">
                <a:solidFill>
                  <a:srgbClr val="535353"/>
                </a:solidFill>
                <a:latin typeface="Gill Sans MT"/>
                <a:cs typeface="Gill Sans MT"/>
              </a:rPr>
              <a:t>SQL-like</a:t>
            </a:r>
            <a:r>
              <a:rPr sz="2800" b="1" spc="232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800" b="1" spc="-112" dirty="0">
                <a:solidFill>
                  <a:srgbClr val="535353"/>
                </a:solidFill>
                <a:latin typeface="Gill Sans MT"/>
                <a:cs typeface="Gill Sans MT"/>
              </a:rPr>
              <a:t>approach.</a:t>
            </a:r>
            <a:endParaRPr sz="2800">
              <a:latin typeface="Gill Sans MT"/>
              <a:cs typeface="Gill Sans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57600" y="2752946"/>
            <a:ext cx="4999100" cy="12094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776983" y="2784595"/>
            <a:ext cx="4760599" cy="953373"/>
          </a:xfrm>
          <a:prstGeom prst="rect">
            <a:avLst/>
          </a:prstGeom>
        </p:spPr>
        <p:txBody>
          <a:bodyPr vert="horz" wrap="square" lIns="0" tIns="29753" rIns="0" bIns="0" rtlCol="0">
            <a:spAutoFit/>
          </a:bodyPr>
          <a:lstStyle/>
          <a:p>
            <a:pPr marL="165584" marR="2587" indent="-159439">
              <a:lnSpc>
                <a:spcPts val="2394"/>
              </a:lnSpc>
              <a:spcBef>
                <a:spcPts val="234"/>
              </a:spcBef>
            </a:pPr>
            <a:r>
              <a:rPr sz="2100" spc="-46" dirty="0">
                <a:solidFill>
                  <a:srgbClr val="535353"/>
                </a:solidFill>
                <a:latin typeface="Gill Sans MT"/>
                <a:cs typeface="Gill Sans MT"/>
              </a:rPr>
              <a:t>INSERT </a:t>
            </a:r>
            <a:r>
              <a:rPr sz="2100" spc="-79" dirty="0">
                <a:solidFill>
                  <a:srgbClr val="535353"/>
                </a:solidFill>
                <a:latin typeface="Gill Sans MT"/>
                <a:cs typeface="Gill Sans MT"/>
              </a:rPr>
              <a:t>INTO </a:t>
            </a:r>
            <a:r>
              <a:rPr sz="2100" spc="-38" dirty="0">
                <a:solidFill>
                  <a:srgbClr val="535353"/>
                </a:solidFill>
                <a:latin typeface="Gill Sans MT"/>
                <a:cs typeface="Gill Sans MT"/>
              </a:rPr>
              <a:t>users </a:t>
            </a:r>
            <a:r>
              <a:rPr sz="2100" spc="-33" dirty="0">
                <a:solidFill>
                  <a:srgbClr val="535353"/>
                </a:solidFill>
                <a:latin typeface="Gill Sans MT"/>
                <a:cs typeface="Gill Sans MT"/>
              </a:rPr>
              <a:t>(id, </a:t>
            </a:r>
            <a:r>
              <a:rPr sz="2100" spc="-8" dirty="0">
                <a:solidFill>
                  <a:srgbClr val="535353"/>
                </a:solidFill>
                <a:latin typeface="Gill Sans MT"/>
                <a:cs typeface="Gill Sans MT"/>
              </a:rPr>
              <a:t>name, </a:t>
            </a:r>
            <a:r>
              <a:rPr sz="2100" spc="-23" dirty="0">
                <a:solidFill>
                  <a:srgbClr val="535353"/>
                </a:solidFill>
                <a:latin typeface="Gill Sans MT"/>
                <a:cs typeface="Gill Sans MT"/>
              </a:rPr>
              <a:t>surname,</a:t>
            </a:r>
            <a:r>
              <a:rPr sz="2100" spc="-267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100" spc="-13" dirty="0">
                <a:solidFill>
                  <a:srgbClr val="535353"/>
                </a:solidFill>
                <a:latin typeface="Gill Sans MT"/>
                <a:cs typeface="Gill Sans MT"/>
              </a:rPr>
              <a:t>birthdate)  </a:t>
            </a:r>
            <a:r>
              <a:rPr sz="2100" spc="-31" dirty="0">
                <a:solidFill>
                  <a:srgbClr val="535353"/>
                </a:solidFill>
                <a:latin typeface="Gill Sans MT"/>
                <a:cs typeface="Gill Sans MT"/>
              </a:rPr>
              <a:t>VALUES </a:t>
            </a:r>
            <a:r>
              <a:rPr sz="2100" spc="-15" dirty="0">
                <a:solidFill>
                  <a:srgbClr val="535353"/>
                </a:solidFill>
                <a:latin typeface="Gill Sans MT"/>
                <a:cs typeface="Gill Sans MT"/>
              </a:rPr>
              <a:t>(uuid(),</a:t>
            </a:r>
            <a:r>
              <a:rPr sz="2100" spc="-461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100" spc="-41" dirty="0">
                <a:solidFill>
                  <a:srgbClr val="535353"/>
                </a:solidFill>
                <a:latin typeface="Gill Sans MT"/>
                <a:cs typeface="Gill Sans MT"/>
              </a:rPr>
              <a:t>‘Carlos’,‘Alonso’, </a:t>
            </a:r>
            <a:r>
              <a:rPr sz="2100" spc="-20" dirty="0">
                <a:solidFill>
                  <a:srgbClr val="535353"/>
                </a:solidFill>
                <a:latin typeface="Gill Sans MT"/>
                <a:cs typeface="Gill Sans MT"/>
              </a:rPr>
              <a:t>’1985-03-19’);</a:t>
            </a:r>
            <a:endParaRPr sz="2100" dirty="0">
              <a:latin typeface="Gill Sans MT"/>
              <a:cs typeface="Gill Sans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26428" y="4251562"/>
            <a:ext cx="5091961" cy="120945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79652" y="4495800"/>
            <a:ext cx="5007147" cy="649039"/>
          </a:xfrm>
          <a:prstGeom prst="rect">
            <a:avLst/>
          </a:prstGeom>
        </p:spPr>
        <p:txBody>
          <a:bodyPr vert="horz" wrap="square" lIns="0" tIns="7762" rIns="0" bIns="0" rtlCol="0">
            <a:spAutoFit/>
          </a:bodyPr>
          <a:lstStyle/>
          <a:p>
            <a:pPr algn="ctr">
              <a:lnSpc>
                <a:spcPts val="2450"/>
              </a:lnSpc>
              <a:spcBef>
                <a:spcPts val="61"/>
              </a:spcBef>
            </a:pPr>
            <a:r>
              <a:rPr sz="2100" spc="-28" dirty="0">
                <a:solidFill>
                  <a:srgbClr val="535353"/>
                </a:solidFill>
                <a:latin typeface="Gill Sans MT"/>
                <a:cs typeface="Gill Sans MT"/>
              </a:rPr>
              <a:t>SELECT </a:t>
            </a:r>
            <a:r>
              <a:rPr sz="2100" spc="109" dirty="0">
                <a:solidFill>
                  <a:srgbClr val="535353"/>
                </a:solidFill>
                <a:latin typeface="Gill Sans MT"/>
                <a:cs typeface="Gill Sans MT"/>
              </a:rPr>
              <a:t>* </a:t>
            </a:r>
            <a:r>
              <a:rPr sz="2100" spc="-36" dirty="0">
                <a:solidFill>
                  <a:srgbClr val="535353"/>
                </a:solidFill>
                <a:latin typeface="Gill Sans MT"/>
                <a:cs typeface="Gill Sans MT"/>
              </a:rPr>
              <a:t>FROM </a:t>
            </a:r>
            <a:r>
              <a:rPr sz="2100" spc="-38" dirty="0">
                <a:solidFill>
                  <a:srgbClr val="535353"/>
                </a:solidFill>
                <a:latin typeface="Gill Sans MT"/>
                <a:cs typeface="Gill Sans MT"/>
              </a:rPr>
              <a:t>users</a:t>
            </a:r>
            <a:r>
              <a:rPr sz="2100" spc="-272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100" spc="-25" dirty="0">
                <a:solidFill>
                  <a:srgbClr val="535353"/>
                </a:solidFill>
                <a:latin typeface="Gill Sans MT"/>
                <a:cs typeface="Gill Sans MT"/>
              </a:rPr>
              <a:t>WHERE</a:t>
            </a:r>
            <a:endParaRPr sz="2100" dirty="0">
              <a:latin typeface="Gill Sans MT"/>
              <a:cs typeface="Gill Sans MT"/>
            </a:endParaRPr>
          </a:p>
          <a:p>
            <a:pPr algn="ctr">
              <a:lnSpc>
                <a:spcPts val="2450"/>
              </a:lnSpc>
            </a:pPr>
            <a:r>
              <a:rPr sz="2100" spc="-31" dirty="0">
                <a:solidFill>
                  <a:srgbClr val="535353"/>
                </a:solidFill>
                <a:latin typeface="Gill Sans MT"/>
                <a:cs typeface="Gill Sans MT"/>
              </a:rPr>
              <a:t>id </a:t>
            </a:r>
            <a:r>
              <a:rPr sz="2100" spc="166" dirty="0">
                <a:solidFill>
                  <a:srgbClr val="535353"/>
                </a:solidFill>
                <a:latin typeface="Gill Sans MT"/>
                <a:cs typeface="Gill Sans MT"/>
              </a:rPr>
              <a:t>=</a:t>
            </a:r>
            <a:r>
              <a:rPr sz="2100" spc="-176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100" spc="-10" dirty="0">
                <a:solidFill>
                  <a:srgbClr val="535353"/>
                </a:solidFill>
                <a:latin typeface="Gill Sans MT"/>
                <a:cs typeface="Gill Sans MT"/>
              </a:rPr>
              <a:t>‘f81d4fae-7dec-11d0-a765-00a0c91e6bf6’;</a:t>
            </a:r>
            <a:endParaRPr sz="2100" dirty="0">
              <a:latin typeface="Gill Sans MT"/>
              <a:cs typeface="Gill Sans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60148" y="5738169"/>
            <a:ext cx="5091960" cy="8405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810000" y="5917397"/>
            <a:ext cx="4821028" cy="331003"/>
          </a:xfrm>
          <a:prstGeom prst="rect">
            <a:avLst/>
          </a:prstGeom>
        </p:spPr>
        <p:txBody>
          <a:bodyPr vert="horz" wrap="square" lIns="0" tIns="7762" rIns="0" bIns="0" rtlCol="0">
            <a:spAutoFit/>
          </a:bodyPr>
          <a:lstStyle/>
          <a:p>
            <a:pPr marL="6468">
              <a:spcBef>
                <a:spcPts val="61"/>
              </a:spcBef>
            </a:pPr>
            <a:r>
              <a:rPr sz="2100" spc="-69" dirty="0">
                <a:solidFill>
                  <a:srgbClr val="535353"/>
                </a:solidFill>
                <a:latin typeface="Gill Sans MT"/>
                <a:cs typeface="Gill Sans MT"/>
              </a:rPr>
              <a:t>ALTER</a:t>
            </a:r>
            <a:r>
              <a:rPr sz="2100" spc="-295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100" spc="-76" dirty="0">
                <a:solidFill>
                  <a:srgbClr val="535353"/>
                </a:solidFill>
                <a:latin typeface="Gill Sans MT"/>
                <a:cs typeface="Gill Sans MT"/>
              </a:rPr>
              <a:t>TABLE</a:t>
            </a:r>
            <a:r>
              <a:rPr sz="2100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100" spc="-38" dirty="0">
                <a:solidFill>
                  <a:srgbClr val="535353"/>
                </a:solidFill>
                <a:latin typeface="Gill Sans MT"/>
                <a:cs typeface="Gill Sans MT"/>
              </a:rPr>
              <a:t>users</a:t>
            </a:r>
            <a:r>
              <a:rPr sz="2100" spc="-127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100" spc="-8" dirty="0">
                <a:solidFill>
                  <a:srgbClr val="535353"/>
                </a:solidFill>
                <a:latin typeface="Gill Sans MT"/>
                <a:cs typeface="Gill Sans MT"/>
              </a:rPr>
              <a:t>ADD</a:t>
            </a:r>
            <a:r>
              <a:rPr sz="2100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100" spc="-36" dirty="0">
                <a:solidFill>
                  <a:srgbClr val="535353"/>
                </a:solidFill>
                <a:latin typeface="Gill Sans MT"/>
                <a:cs typeface="Gill Sans MT"/>
              </a:rPr>
              <a:t>address</a:t>
            </a:r>
            <a:r>
              <a:rPr sz="2100" spc="-295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100" spc="-53" dirty="0">
                <a:solidFill>
                  <a:srgbClr val="535353"/>
                </a:solidFill>
                <a:latin typeface="Gill Sans MT"/>
                <a:cs typeface="Gill Sans MT"/>
              </a:rPr>
              <a:t>VARCHAR;</a:t>
            </a:r>
            <a:endParaRPr sz="2100" dirty="0">
              <a:latin typeface="Gill Sans MT"/>
              <a:cs typeface="Gill Sans M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0B604-AD00-9C49-877A-BB64A79F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Databases Scale Horizontally?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8BC887-88B9-5C44-8DCB-E11A50D51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71AB2D9-EF0A-B348-99BC-FEDC46A00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288751"/>
              </p:ext>
            </p:extLst>
          </p:nvPr>
        </p:nvGraphicFramePr>
        <p:xfrm>
          <a:off x="677545" y="3200400"/>
          <a:ext cx="419925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1989455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Sam@gmail.com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Joe@iit.com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Ali@yahoo.com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927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F6B3A946-F270-3A4B-8AC5-6946D07167E0}"/>
              </a:ext>
            </a:extLst>
          </p:cNvPr>
          <p:cNvSpPr txBox="1"/>
          <p:nvPr/>
        </p:nvSpPr>
        <p:spPr>
          <a:xfrm>
            <a:off x="5791200" y="3276600"/>
            <a:ext cx="264694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 TABLE users {</a:t>
            </a:r>
          </a:p>
          <a:p>
            <a:r>
              <a:rPr lang="en-US" dirty="0"/>
              <a:t>  id INT,</a:t>
            </a:r>
          </a:p>
          <a:p>
            <a:r>
              <a:rPr lang="en-US" dirty="0"/>
              <a:t>  name TEXT,</a:t>
            </a:r>
          </a:p>
          <a:p>
            <a:r>
              <a:rPr lang="en-US" dirty="0"/>
              <a:t>  email TEXT,</a:t>
            </a:r>
          </a:p>
          <a:p>
            <a:r>
              <a:rPr lang="en-US" dirty="0"/>
              <a:t>  PRIMARY KEY (id)</a:t>
            </a:r>
          </a:p>
          <a:p>
            <a:r>
              <a:rPr lang="en-US" dirty="0"/>
              <a:t>};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8FC59A-438D-7144-8C93-3929E45833F6}"/>
              </a:ext>
            </a:extLst>
          </p:cNvPr>
          <p:cNvSpPr txBox="1"/>
          <p:nvPr/>
        </p:nvSpPr>
        <p:spPr>
          <a:xfrm>
            <a:off x="533400" y="1371600"/>
            <a:ext cx="8153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Imagine we have a table of user information with hundreds of millions of records, each with a unique id.</a:t>
            </a:r>
          </a:p>
          <a:p>
            <a:endParaRPr lang="en-US" dirty="0"/>
          </a:p>
          <a:p>
            <a:r>
              <a:rPr lang="en-US" dirty="0"/>
              <a:t>Further imagine that the size of this table was greater than the storage capability of any single Server or EC2 instance</a:t>
            </a:r>
          </a:p>
        </p:txBody>
      </p:sp>
    </p:spTree>
    <p:extLst>
      <p:ext uri="{BB962C8B-B14F-4D97-AF65-F5344CB8AC3E}">
        <p14:creationId xmlns:p14="http://schemas.microsoft.com/office/powerpoint/2010/main" val="3684073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0B604-AD00-9C49-877A-BB64A79F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Databases Scale Horizontally?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8BC887-88B9-5C44-8DCB-E11A50D51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71AB2D9-EF0A-B348-99BC-FEDC46A00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125013"/>
              </p:ext>
            </p:extLst>
          </p:nvPr>
        </p:nvGraphicFramePr>
        <p:xfrm>
          <a:off x="152400" y="5257800"/>
          <a:ext cx="20574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858FC59A-438D-7144-8C93-3929E45833F6}"/>
              </a:ext>
            </a:extLst>
          </p:cNvPr>
          <p:cNvSpPr txBox="1"/>
          <p:nvPr/>
        </p:nvSpPr>
        <p:spPr>
          <a:xfrm>
            <a:off x="533400" y="1371600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One approach is to divide the table up into parts or partitions where each partition is stored and processed by a different server or VM of a cluster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081AD9-5007-D444-B03D-55ACDCFF6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146550"/>
            <a:ext cx="1072461" cy="1035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53D67A-40ED-0449-A48B-FD196192E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713" y="4146550"/>
            <a:ext cx="1072461" cy="1035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A9FE63-EB0B-4E49-9D04-E26FFA01E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26" y="4146550"/>
            <a:ext cx="1072461" cy="10350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C79CF1-D625-F24C-91C4-167BBCB2D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339" y="4133298"/>
            <a:ext cx="1072461" cy="103505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30AAB4-5CA1-3D4C-9E90-3E1240623F2E}"/>
              </a:ext>
            </a:extLst>
          </p:cNvPr>
          <p:cNvCxnSpPr>
            <a:cxnSpLocks/>
          </p:cNvCxnSpPr>
          <p:nvPr/>
        </p:nvCxnSpPr>
        <p:spPr>
          <a:xfrm>
            <a:off x="457200" y="3904698"/>
            <a:ext cx="82296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14A452-AD3C-5046-80D6-254575AA1880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069631" y="3904698"/>
            <a:ext cx="0" cy="24185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E1D9F9-54B8-D943-9AEB-AFABCE6D2263}"/>
              </a:ext>
            </a:extLst>
          </p:cNvPr>
          <p:cNvCxnSpPr>
            <a:cxnSpLocks/>
          </p:cNvCxnSpPr>
          <p:nvPr/>
        </p:nvCxnSpPr>
        <p:spPr>
          <a:xfrm flipH="1" flipV="1">
            <a:off x="3511827" y="3904698"/>
            <a:ext cx="1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427511-E327-8146-AAEA-235E28D8F423}"/>
              </a:ext>
            </a:extLst>
          </p:cNvPr>
          <p:cNvCxnSpPr>
            <a:cxnSpLocks/>
          </p:cNvCxnSpPr>
          <p:nvPr/>
        </p:nvCxnSpPr>
        <p:spPr>
          <a:xfrm flipV="1">
            <a:off x="5569227" y="3904698"/>
            <a:ext cx="2828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786E90-0DAC-714B-ADCC-7D265FFFA6F0}"/>
              </a:ext>
            </a:extLst>
          </p:cNvPr>
          <p:cNvCxnSpPr>
            <a:cxnSpLocks/>
          </p:cNvCxnSpPr>
          <p:nvPr/>
        </p:nvCxnSpPr>
        <p:spPr>
          <a:xfrm flipH="1" flipV="1">
            <a:off x="7855226" y="3904698"/>
            <a:ext cx="1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E92BB42-116C-C147-9D6A-27E164DFE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052534"/>
              </p:ext>
            </p:extLst>
          </p:nvPr>
        </p:nvGraphicFramePr>
        <p:xfrm>
          <a:off x="2362200" y="5283200"/>
          <a:ext cx="20574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384423B-831E-904D-9393-DC90438B51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970518"/>
              </p:ext>
            </p:extLst>
          </p:nvPr>
        </p:nvGraphicFramePr>
        <p:xfrm>
          <a:off x="4572000" y="5283200"/>
          <a:ext cx="20574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6E730A9-B966-144F-B44F-9499BD12B7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567871"/>
              </p:ext>
            </p:extLst>
          </p:nvPr>
        </p:nvGraphicFramePr>
        <p:xfrm>
          <a:off x="6781800" y="5257800"/>
          <a:ext cx="20574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6094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0B604-AD00-9C49-877A-BB64A79F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Databases Scale Horizontally?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8BC887-88B9-5C44-8DCB-E11A50D51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71AB2D9-EF0A-B348-99BC-FEDC46A003EE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5257800"/>
          <a:ext cx="20574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858FC59A-438D-7144-8C93-3929E45833F6}"/>
              </a:ext>
            </a:extLst>
          </p:cNvPr>
          <p:cNvSpPr txBox="1"/>
          <p:nvPr/>
        </p:nvSpPr>
        <p:spPr>
          <a:xfrm>
            <a:off x="533400" y="1371600"/>
            <a:ext cx="8153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Two questions…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How do we assign each user record to a partition so no partition gets too many records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When we want to query or update a record how can we QUICKLY go and find which partition it is in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081AD9-5007-D444-B03D-55ACDCFF6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146550"/>
            <a:ext cx="1072461" cy="1035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53D67A-40ED-0449-A48B-FD196192E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713" y="4146550"/>
            <a:ext cx="1072461" cy="1035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A9FE63-EB0B-4E49-9D04-E26FFA01E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26" y="4146550"/>
            <a:ext cx="1072461" cy="10350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C79CF1-D625-F24C-91C4-167BBCB2D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339" y="4133298"/>
            <a:ext cx="1072461" cy="103505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30AAB4-5CA1-3D4C-9E90-3E1240623F2E}"/>
              </a:ext>
            </a:extLst>
          </p:cNvPr>
          <p:cNvCxnSpPr>
            <a:cxnSpLocks/>
          </p:cNvCxnSpPr>
          <p:nvPr/>
        </p:nvCxnSpPr>
        <p:spPr>
          <a:xfrm>
            <a:off x="457200" y="3904698"/>
            <a:ext cx="82296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14A452-AD3C-5046-80D6-254575AA1880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069631" y="3904698"/>
            <a:ext cx="0" cy="24185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E1D9F9-54B8-D943-9AEB-AFABCE6D2263}"/>
              </a:ext>
            </a:extLst>
          </p:cNvPr>
          <p:cNvCxnSpPr>
            <a:cxnSpLocks/>
          </p:cNvCxnSpPr>
          <p:nvPr/>
        </p:nvCxnSpPr>
        <p:spPr>
          <a:xfrm flipH="1" flipV="1">
            <a:off x="3511827" y="3904698"/>
            <a:ext cx="1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427511-E327-8146-AAEA-235E28D8F423}"/>
              </a:ext>
            </a:extLst>
          </p:cNvPr>
          <p:cNvCxnSpPr>
            <a:cxnSpLocks/>
          </p:cNvCxnSpPr>
          <p:nvPr/>
        </p:nvCxnSpPr>
        <p:spPr>
          <a:xfrm flipV="1">
            <a:off x="5569227" y="3904698"/>
            <a:ext cx="2828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786E90-0DAC-714B-ADCC-7D265FFFA6F0}"/>
              </a:ext>
            </a:extLst>
          </p:cNvPr>
          <p:cNvCxnSpPr>
            <a:cxnSpLocks/>
          </p:cNvCxnSpPr>
          <p:nvPr/>
        </p:nvCxnSpPr>
        <p:spPr>
          <a:xfrm flipH="1" flipV="1">
            <a:off x="7855226" y="3904698"/>
            <a:ext cx="1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E92BB42-116C-C147-9D6A-27E164DFE6B0}"/>
              </a:ext>
            </a:extLst>
          </p:cNvPr>
          <p:cNvGraphicFramePr>
            <a:graphicFrameLocks noGrp="1"/>
          </p:cNvGraphicFramePr>
          <p:nvPr/>
        </p:nvGraphicFramePr>
        <p:xfrm>
          <a:off x="2362200" y="5283200"/>
          <a:ext cx="20574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384423B-831E-904D-9393-DC90438B5161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5283200"/>
          <a:ext cx="20574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6E730A9-B966-144F-B44F-9499BD12B7AF}"/>
              </a:ext>
            </a:extLst>
          </p:cNvPr>
          <p:cNvGraphicFramePr>
            <a:graphicFrameLocks noGrp="1"/>
          </p:cNvGraphicFramePr>
          <p:nvPr/>
        </p:nvGraphicFramePr>
        <p:xfrm>
          <a:off x="6781800" y="5257800"/>
          <a:ext cx="20574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8754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0B604-AD00-9C49-877A-BB64A79F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Databases Scale Horizontally?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8BC887-88B9-5C44-8DCB-E11A50D51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71AB2D9-EF0A-B348-99BC-FEDC46A003EE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5257800"/>
          <a:ext cx="20574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858FC59A-438D-7144-8C93-3929E45833F6}"/>
              </a:ext>
            </a:extLst>
          </p:cNvPr>
          <p:cNvSpPr txBox="1"/>
          <p:nvPr/>
        </p:nvSpPr>
        <p:spPr>
          <a:xfrm>
            <a:off x="533400" y="1371600"/>
            <a:ext cx="8153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let’s imagine…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We have a function H that takes as input a number or string, a sequence of bytes, and outputs in integer between 1 and 1,000,000</a:t>
            </a:r>
          </a:p>
          <a:p>
            <a:r>
              <a:rPr lang="en-US" dirty="0"/>
              <a:t>             </a:t>
            </a:r>
            <a:r>
              <a:rPr lang="en-US" i="1" dirty="0"/>
              <a:t>output_value_between_1_and_1000000 = H(number or string)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We have assigned a range of these numbers to each partition (server or VM) as indicated below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081AD9-5007-D444-B03D-55ACDCFF6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146550"/>
            <a:ext cx="1072461" cy="1035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53D67A-40ED-0449-A48B-FD196192E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713" y="4146550"/>
            <a:ext cx="1072461" cy="1035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A9FE63-EB0B-4E49-9D04-E26FFA01E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26" y="4146550"/>
            <a:ext cx="1072461" cy="10350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C79CF1-D625-F24C-91C4-167BBCB2D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339" y="4133298"/>
            <a:ext cx="1072461" cy="103505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30AAB4-5CA1-3D4C-9E90-3E1240623F2E}"/>
              </a:ext>
            </a:extLst>
          </p:cNvPr>
          <p:cNvCxnSpPr>
            <a:cxnSpLocks/>
          </p:cNvCxnSpPr>
          <p:nvPr/>
        </p:nvCxnSpPr>
        <p:spPr>
          <a:xfrm>
            <a:off x="457200" y="3904698"/>
            <a:ext cx="82296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14A452-AD3C-5046-80D6-254575AA1880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069631" y="3904698"/>
            <a:ext cx="0" cy="24185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E1D9F9-54B8-D943-9AEB-AFABCE6D2263}"/>
              </a:ext>
            </a:extLst>
          </p:cNvPr>
          <p:cNvCxnSpPr>
            <a:cxnSpLocks/>
          </p:cNvCxnSpPr>
          <p:nvPr/>
        </p:nvCxnSpPr>
        <p:spPr>
          <a:xfrm flipH="1" flipV="1">
            <a:off x="3511827" y="3904698"/>
            <a:ext cx="1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427511-E327-8146-AAEA-235E28D8F423}"/>
              </a:ext>
            </a:extLst>
          </p:cNvPr>
          <p:cNvCxnSpPr>
            <a:cxnSpLocks/>
          </p:cNvCxnSpPr>
          <p:nvPr/>
        </p:nvCxnSpPr>
        <p:spPr>
          <a:xfrm flipV="1">
            <a:off x="5569227" y="3904698"/>
            <a:ext cx="2828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786E90-0DAC-714B-ADCC-7D265FFFA6F0}"/>
              </a:ext>
            </a:extLst>
          </p:cNvPr>
          <p:cNvCxnSpPr>
            <a:cxnSpLocks/>
          </p:cNvCxnSpPr>
          <p:nvPr/>
        </p:nvCxnSpPr>
        <p:spPr>
          <a:xfrm flipH="1" flipV="1">
            <a:off x="7855226" y="3904698"/>
            <a:ext cx="1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E92BB42-116C-C147-9D6A-27E164DFE6B0}"/>
              </a:ext>
            </a:extLst>
          </p:cNvPr>
          <p:cNvGraphicFramePr>
            <a:graphicFrameLocks noGrp="1"/>
          </p:cNvGraphicFramePr>
          <p:nvPr/>
        </p:nvGraphicFramePr>
        <p:xfrm>
          <a:off x="2362200" y="5283200"/>
          <a:ext cx="20574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384423B-831E-904D-9393-DC90438B5161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5283200"/>
          <a:ext cx="20574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6E730A9-B966-144F-B44F-9499BD12B7AF}"/>
              </a:ext>
            </a:extLst>
          </p:cNvPr>
          <p:cNvGraphicFramePr>
            <a:graphicFrameLocks noGrp="1"/>
          </p:cNvGraphicFramePr>
          <p:nvPr/>
        </p:nvGraphicFramePr>
        <p:xfrm>
          <a:off x="6781800" y="5257800"/>
          <a:ext cx="20574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5FED482-7FAB-B748-9471-591C3048E0EB}"/>
              </a:ext>
            </a:extLst>
          </p:cNvPr>
          <p:cNvSpPr txBox="1"/>
          <p:nvPr/>
        </p:nvSpPr>
        <p:spPr>
          <a:xfrm>
            <a:off x="547565" y="3502223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 – 250,000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F49F21-EA1B-9747-A138-835DA406C174}"/>
              </a:ext>
            </a:extLst>
          </p:cNvPr>
          <p:cNvSpPr txBox="1"/>
          <p:nvPr/>
        </p:nvSpPr>
        <p:spPr>
          <a:xfrm>
            <a:off x="2667000" y="3502223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250,001 – 500,000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5FBF0E-00AC-F148-BD40-800BE980AD16}"/>
              </a:ext>
            </a:extLst>
          </p:cNvPr>
          <p:cNvSpPr txBox="1"/>
          <p:nvPr/>
        </p:nvSpPr>
        <p:spPr>
          <a:xfrm>
            <a:off x="4725341" y="3502223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500,001 – 750,000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AADF91-2D97-DE48-A549-06995492A795}"/>
              </a:ext>
            </a:extLst>
          </p:cNvPr>
          <p:cNvSpPr txBox="1"/>
          <p:nvPr/>
        </p:nvSpPr>
        <p:spPr>
          <a:xfrm>
            <a:off x="6938462" y="3502223"/>
            <a:ext cx="1824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750,001 – 1,000,000</a:t>
            </a:r>
          </a:p>
        </p:txBody>
      </p:sp>
    </p:spTree>
    <p:extLst>
      <p:ext uri="{BB962C8B-B14F-4D97-AF65-F5344CB8AC3E}">
        <p14:creationId xmlns:p14="http://schemas.microsoft.com/office/powerpoint/2010/main" val="3552058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0B604-AD00-9C49-877A-BB64A79F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Databases Scale Horizontally?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8BC887-88B9-5C44-8DCB-E11A50D51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71AB2D9-EF0A-B348-99BC-FEDC46A00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786422"/>
              </p:ext>
            </p:extLst>
          </p:nvPr>
        </p:nvGraphicFramePr>
        <p:xfrm>
          <a:off x="152400" y="5257800"/>
          <a:ext cx="2057400" cy="117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Joe@…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858FC59A-438D-7144-8C93-3929E45833F6}"/>
              </a:ext>
            </a:extLst>
          </p:cNvPr>
          <p:cNvSpPr txBox="1"/>
          <p:nvPr/>
        </p:nvSpPr>
        <p:spPr>
          <a:xfrm>
            <a:off x="533400" y="1371600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 now we apply our function H to the id field of each record as follows and map the record to the appropriate partition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081AD9-5007-D444-B03D-55ACDCFF6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146550"/>
            <a:ext cx="1072461" cy="1035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53D67A-40ED-0449-A48B-FD196192E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713" y="4146550"/>
            <a:ext cx="1072461" cy="1035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A9FE63-EB0B-4E49-9D04-E26FFA01E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26" y="4146550"/>
            <a:ext cx="1072461" cy="10350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C79CF1-D625-F24C-91C4-167BBCB2D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339" y="4133298"/>
            <a:ext cx="1072461" cy="103505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30AAB4-5CA1-3D4C-9E90-3E1240623F2E}"/>
              </a:ext>
            </a:extLst>
          </p:cNvPr>
          <p:cNvCxnSpPr>
            <a:cxnSpLocks/>
          </p:cNvCxnSpPr>
          <p:nvPr/>
        </p:nvCxnSpPr>
        <p:spPr>
          <a:xfrm>
            <a:off x="457200" y="3904698"/>
            <a:ext cx="82296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14A452-AD3C-5046-80D6-254575AA1880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069631" y="3904698"/>
            <a:ext cx="0" cy="24185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E1D9F9-54B8-D943-9AEB-AFABCE6D2263}"/>
              </a:ext>
            </a:extLst>
          </p:cNvPr>
          <p:cNvCxnSpPr>
            <a:cxnSpLocks/>
          </p:cNvCxnSpPr>
          <p:nvPr/>
        </p:nvCxnSpPr>
        <p:spPr>
          <a:xfrm flipH="1" flipV="1">
            <a:off x="3511827" y="3904698"/>
            <a:ext cx="1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427511-E327-8146-AAEA-235E28D8F423}"/>
              </a:ext>
            </a:extLst>
          </p:cNvPr>
          <p:cNvCxnSpPr>
            <a:cxnSpLocks/>
          </p:cNvCxnSpPr>
          <p:nvPr/>
        </p:nvCxnSpPr>
        <p:spPr>
          <a:xfrm flipV="1">
            <a:off x="5569227" y="3904698"/>
            <a:ext cx="2828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786E90-0DAC-714B-ADCC-7D265FFFA6F0}"/>
              </a:ext>
            </a:extLst>
          </p:cNvPr>
          <p:cNvCxnSpPr>
            <a:cxnSpLocks/>
          </p:cNvCxnSpPr>
          <p:nvPr/>
        </p:nvCxnSpPr>
        <p:spPr>
          <a:xfrm flipH="1" flipV="1">
            <a:off x="7855226" y="3904698"/>
            <a:ext cx="1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E92BB42-116C-C147-9D6A-27E164DFE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558649"/>
              </p:ext>
            </p:extLst>
          </p:nvPr>
        </p:nvGraphicFramePr>
        <p:xfrm>
          <a:off x="2362200" y="5283200"/>
          <a:ext cx="2057400" cy="117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Sam@...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384423B-831E-904D-9393-DC90438B5161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5283200"/>
          <a:ext cx="20574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6E730A9-B966-144F-B44F-9499BD12B7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894803"/>
              </p:ext>
            </p:extLst>
          </p:nvPr>
        </p:nvGraphicFramePr>
        <p:xfrm>
          <a:off x="6781800" y="5257800"/>
          <a:ext cx="2057400" cy="117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Ali@...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5FED482-7FAB-B748-9471-591C3048E0EB}"/>
              </a:ext>
            </a:extLst>
          </p:cNvPr>
          <p:cNvSpPr txBox="1"/>
          <p:nvPr/>
        </p:nvSpPr>
        <p:spPr>
          <a:xfrm>
            <a:off x="547565" y="3502223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 – 250,000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F49F21-EA1B-9747-A138-835DA406C174}"/>
              </a:ext>
            </a:extLst>
          </p:cNvPr>
          <p:cNvSpPr txBox="1"/>
          <p:nvPr/>
        </p:nvSpPr>
        <p:spPr>
          <a:xfrm>
            <a:off x="2667000" y="3502223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250,001 – 500,000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5FBF0E-00AC-F148-BD40-800BE980AD16}"/>
              </a:ext>
            </a:extLst>
          </p:cNvPr>
          <p:cNvSpPr txBox="1"/>
          <p:nvPr/>
        </p:nvSpPr>
        <p:spPr>
          <a:xfrm>
            <a:off x="4725341" y="3502223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500,001 – 750,000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AADF91-2D97-DE48-A549-06995492A795}"/>
              </a:ext>
            </a:extLst>
          </p:cNvPr>
          <p:cNvSpPr txBox="1"/>
          <p:nvPr/>
        </p:nvSpPr>
        <p:spPr>
          <a:xfrm>
            <a:off x="6938462" y="3502223"/>
            <a:ext cx="1824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750,001 – 1,000,000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2042A6A-56AE-6F4C-B720-A8C3A0E29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088855"/>
              </p:ext>
            </p:extLst>
          </p:nvPr>
        </p:nvGraphicFramePr>
        <p:xfrm>
          <a:off x="647700" y="2057400"/>
          <a:ext cx="2628900" cy="114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1567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51933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Sam@gmail.com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Joe@iit.com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100" dirty="0"/>
                        <a:t>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Ali@yahoo.com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D48C564-25A9-174A-A9D1-8E46046D0A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525297"/>
              </p:ext>
            </p:extLst>
          </p:nvPr>
        </p:nvGraphicFramePr>
        <p:xfrm>
          <a:off x="3321165" y="2067368"/>
          <a:ext cx="2628900" cy="1148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H(123) 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300,850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H(456) 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100" dirty="0"/>
                        <a:t>H(789) 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800,503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6833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0B604-AD00-9C49-877A-BB64A79F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Databases Scale Horizontally?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8BC887-88B9-5C44-8DCB-E11A50D51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71AB2D9-EF0A-B348-99BC-FEDC46A003EE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5257800"/>
          <a:ext cx="2057400" cy="117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Joe@…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858FC59A-438D-7144-8C93-3929E45833F6}"/>
              </a:ext>
            </a:extLst>
          </p:cNvPr>
          <p:cNvSpPr txBox="1"/>
          <p:nvPr/>
        </p:nvSpPr>
        <p:spPr>
          <a:xfrm>
            <a:off x="533400" y="1371600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this case the PRIMARY KEY, which is ‘id’, is also know as the partition key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081AD9-5007-D444-B03D-55ACDCFF6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146550"/>
            <a:ext cx="1072461" cy="1035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53D67A-40ED-0449-A48B-FD196192E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713" y="4146550"/>
            <a:ext cx="1072461" cy="1035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A9FE63-EB0B-4E49-9D04-E26FFA01E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26" y="4146550"/>
            <a:ext cx="1072461" cy="10350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C79CF1-D625-F24C-91C4-167BBCB2D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339" y="4133298"/>
            <a:ext cx="1072461" cy="103505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30AAB4-5CA1-3D4C-9E90-3E1240623F2E}"/>
              </a:ext>
            </a:extLst>
          </p:cNvPr>
          <p:cNvCxnSpPr>
            <a:cxnSpLocks/>
          </p:cNvCxnSpPr>
          <p:nvPr/>
        </p:nvCxnSpPr>
        <p:spPr>
          <a:xfrm>
            <a:off x="457200" y="3904698"/>
            <a:ext cx="82296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14A452-AD3C-5046-80D6-254575AA1880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069631" y="3904698"/>
            <a:ext cx="0" cy="24185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E1D9F9-54B8-D943-9AEB-AFABCE6D2263}"/>
              </a:ext>
            </a:extLst>
          </p:cNvPr>
          <p:cNvCxnSpPr>
            <a:cxnSpLocks/>
          </p:cNvCxnSpPr>
          <p:nvPr/>
        </p:nvCxnSpPr>
        <p:spPr>
          <a:xfrm flipH="1" flipV="1">
            <a:off x="3511827" y="3904698"/>
            <a:ext cx="1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427511-E327-8146-AAEA-235E28D8F423}"/>
              </a:ext>
            </a:extLst>
          </p:cNvPr>
          <p:cNvCxnSpPr>
            <a:cxnSpLocks/>
          </p:cNvCxnSpPr>
          <p:nvPr/>
        </p:nvCxnSpPr>
        <p:spPr>
          <a:xfrm flipV="1">
            <a:off x="5569227" y="3904698"/>
            <a:ext cx="2828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786E90-0DAC-714B-ADCC-7D265FFFA6F0}"/>
              </a:ext>
            </a:extLst>
          </p:cNvPr>
          <p:cNvCxnSpPr>
            <a:cxnSpLocks/>
          </p:cNvCxnSpPr>
          <p:nvPr/>
        </p:nvCxnSpPr>
        <p:spPr>
          <a:xfrm flipH="1" flipV="1">
            <a:off x="7855226" y="3904698"/>
            <a:ext cx="1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E92BB42-116C-C147-9D6A-27E164DFE6B0}"/>
              </a:ext>
            </a:extLst>
          </p:cNvPr>
          <p:cNvGraphicFramePr>
            <a:graphicFrameLocks noGrp="1"/>
          </p:cNvGraphicFramePr>
          <p:nvPr/>
        </p:nvGraphicFramePr>
        <p:xfrm>
          <a:off x="2362200" y="5283200"/>
          <a:ext cx="2057400" cy="117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Sam@...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384423B-831E-904D-9393-DC90438B5161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5283200"/>
          <a:ext cx="20574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6E730A9-B966-144F-B44F-9499BD12B7AF}"/>
              </a:ext>
            </a:extLst>
          </p:cNvPr>
          <p:cNvGraphicFramePr>
            <a:graphicFrameLocks noGrp="1"/>
          </p:cNvGraphicFramePr>
          <p:nvPr/>
        </p:nvGraphicFramePr>
        <p:xfrm>
          <a:off x="6781800" y="5257800"/>
          <a:ext cx="2057400" cy="117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Ali@...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5FED482-7FAB-B748-9471-591C3048E0EB}"/>
              </a:ext>
            </a:extLst>
          </p:cNvPr>
          <p:cNvSpPr txBox="1"/>
          <p:nvPr/>
        </p:nvSpPr>
        <p:spPr>
          <a:xfrm>
            <a:off x="547565" y="3502223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 – 250,000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F49F21-EA1B-9747-A138-835DA406C174}"/>
              </a:ext>
            </a:extLst>
          </p:cNvPr>
          <p:cNvSpPr txBox="1"/>
          <p:nvPr/>
        </p:nvSpPr>
        <p:spPr>
          <a:xfrm>
            <a:off x="2667000" y="3502223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250,001 – 500,000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5FBF0E-00AC-F148-BD40-800BE980AD16}"/>
              </a:ext>
            </a:extLst>
          </p:cNvPr>
          <p:cNvSpPr txBox="1"/>
          <p:nvPr/>
        </p:nvSpPr>
        <p:spPr>
          <a:xfrm>
            <a:off x="4725341" y="3502223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500,001 – 750,000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AADF91-2D97-DE48-A549-06995492A795}"/>
              </a:ext>
            </a:extLst>
          </p:cNvPr>
          <p:cNvSpPr txBox="1"/>
          <p:nvPr/>
        </p:nvSpPr>
        <p:spPr>
          <a:xfrm>
            <a:off x="6938462" y="3502223"/>
            <a:ext cx="1824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750,001 – 1,000,000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2042A6A-56AE-6F4C-B720-A8C3A0E29A74}"/>
              </a:ext>
            </a:extLst>
          </p:cNvPr>
          <p:cNvGraphicFramePr>
            <a:graphicFrameLocks noGrp="1"/>
          </p:cNvGraphicFramePr>
          <p:nvPr/>
        </p:nvGraphicFramePr>
        <p:xfrm>
          <a:off x="647700" y="2057400"/>
          <a:ext cx="2628900" cy="114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1567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51933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Sam@gmail.com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Joe@iit.com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100" dirty="0"/>
                        <a:t>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Ali@yahoo.com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D48C564-25A9-174A-A9D1-8E46046D0A08}"/>
              </a:ext>
            </a:extLst>
          </p:cNvPr>
          <p:cNvGraphicFramePr>
            <a:graphicFrameLocks noGrp="1"/>
          </p:cNvGraphicFramePr>
          <p:nvPr/>
        </p:nvGraphicFramePr>
        <p:xfrm>
          <a:off x="3321165" y="2067368"/>
          <a:ext cx="2628900" cy="1148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H(123) 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300,850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H(456) 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100" dirty="0"/>
                        <a:t>H(789) 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800,503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3177552A-BA19-F14C-9FFD-05956F537D59}"/>
              </a:ext>
            </a:extLst>
          </p:cNvPr>
          <p:cNvSpPr txBox="1"/>
          <p:nvPr/>
        </p:nvSpPr>
        <p:spPr>
          <a:xfrm>
            <a:off x="5105400" y="1967805"/>
            <a:ext cx="209916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CREATE TABLE users {</a:t>
            </a:r>
          </a:p>
          <a:p>
            <a:r>
              <a:rPr lang="en-US" sz="1400" dirty="0"/>
              <a:t>  id INT,</a:t>
            </a:r>
          </a:p>
          <a:p>
            <a:r>
              <a:rPr lang="en-US" sz="1400" dirty="0"/>
              <a:t>  name TEXT,</a:t>
            </a:r>
          </a:p>
          <a:p>
            <a:r>
              <a:rPr lang="en-US" sz="1400" dirty="0"/>
              <a:t>  email TEXT,</a:t>
            </a:r>
          </a:p>
          <a:p>
            <a:r>
              <a:rPr lang="en-US" sz="1400" dirty="0"/>
              <a:t>  PRIMARY KEY (id)</a:t>
            </a:r>
          </a:p>
          <a:p>
            <a:r>
              <a:rPr lang="en-US" sz="1400" dirty="0"/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696A0B-0C7F-3D43-A3F0-7DD5C8DC4F12}"/>
              </a:ext>
            </a:extLst>
          </p:cNvPr>
          <p:cNvSpPr txBox="1"/>
          <p:nvPr/>
        </p:nvSpPr>
        <p:spPr>
          <a:xfrm>
            <a:off x="6937603" y="2743200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← </a:t>
            </a:r>
            <a:r>
              <a:rPr lang="en-US" sz="1600" dirty="0"/>
              <a:t>Partition key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573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0B604-AD00-9C49-877A-BB64A79F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Databases Scale Horizontally?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8BC887-88B9-5C44-8DCB-E11A50D51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71AB2D9-EF0A-B348-99BC-FEDC46A003EE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5257800"/>
          <a:ext cx="2057400" cy="117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Joe@…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858FC59A-438D-7144-8C93-3929E45833F6}"/>
              </a:ext>
            </a:extLst>
          </p:cNvPr>
          <p:cNvSpPr txBox="1"/>
          <p:nvPr/>
        </p:nvSpPr>
        <p:spPr>
          <a:xfrm>
            <a:off x="533400" y="1371600"/>
            <a:ext cx="8153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Cassandra you must always identify the partition key in a query:</a:t>
            </a:r>
          </a:p>
          <a:p>
            <a:endParaRPr lang="en-US" dirty="0"/>
          </a:p>
          <a:p>
            <a:r>
              <a:rPr lang="en-US" dirty="0"/>
              <a:t>SELECT name, email FROM users WHERE id = 123;</a:t>
            </a:r>
          </a:p>
          <a:p>
            <a:endParaRPr lang="en-US" dirty="0"/>
          </a:p>
          <a:p>
            <a:r>
              <a:rPr lang="en-US" dirty="0"/>
              <a:t>Cassandra applies the H function to the given partition key to locate the partition holding the record of interest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081AD9-5007-D444-B03D-55ACDCFF6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146550"/>
            <a:ext cx="1072461" cy="1035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53D67A-40ED-0449-A48B-FD196192E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713" y="4146550"/>
            <a:ext cx="1072461" cy="1035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A9FE63-EB0B-4E49-9D04-E26FFA01E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26" y="4146550"/>
            <a:ext cx="1072461" cy="10350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C79CF1-D625-F24C-91C4-167BBCB2D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339" y="4133298"/>
            <a:ext cx="1072461" cy="103505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30AAB4-5CA1-3D4C-9E90-3E1240623F2E}"/>
              </a:ext>
            </a:extLst>
          </p:cNvPr>
          <p:cNvCxnSpPr>
            <a:cxnSpLocks/>
          </p:cNvCxnSpPr>
          <p:nvPr/>
        </p:nvCxnSpPr>
        <p:spPr>
          <a:xfrm>
            <a:off x="457200" y="3904698"/>
            <a:ext cx="82296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14A452-AD3C-5046-80D6-254575AA1880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069631" y="3904698"/>
            <a:ext cx="0" cy="24185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E1D9F9-54B8-D943-9AEB-AFABCE6D2263}"/>
              </a:ext>
            </a:extLst>
          </p:cNvPr>
          <p:cNvCxnSpPr>
            <a:cxnSpLocks/>
          </p:cNvCxnSpPr>
          <p:nvPr/>
        </p:nvCxnSpPr>
        <p:spPr>
          <a:xfrm flipH="1" flipV="1">
            <a:off x="3511827" y="3904698"/>
            <a:ext cx="1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427511-E327-8146-AAEA-235E28D8F423}"/>
              </a:ext>
            </a:extLst>
          </p:cNvPr>
          <p:cNvCxnSpPr>
            <a:cxnSpLocks/>
          </p:cNvCxnSpPr>
          <p:nvPr/>
        </p:nvCxnSpPr>
        <p:spPr>
          <a:xfrm flipV="1">
            <a:off x="5569227" y="3904698"/>
            <a:ext cx="2828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786E90-0DAC-714B-ADCC-7D265FFFA6F0}"/>
              </a:ext>
            </a:extLst>
          </p:cNvPr>
          <p:cNvCxnSpPr>
            <a:cxnSpLocks/>
          </p:cNvCxnSpPr>
          <p:nvPr/>
        </p:nvCxnSpPr>
        <p:spPr>
          <a:xfrm flipH="1" flipV="1">
            <a:off x="7855226" y="3904698"/>
            <a:ext cx="1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E92BB42-116C-C147-9D6A-27E164DFE6B0}"/>
              </a:ext>
            </a:extLst>
          </p:cNvPr>
          <p:cNvGraphicFramePr>
            <a:graphicFrameLocks noGrp="1"/>
          </p:cNvGraphicFramePr>
          <p:nvPr/>
        </p:nvGraphicFramePr>
        <p:xfrm>
          <a:off x="2362200" y="5283200"/>
          <a:ext cx="2057400" cy="117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Sam@...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384423B-831E-904D-9393-DC90438B5161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5283200"/>
          <a:ext cx="20574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6E730A9-B966-144F-B44F-9499BD12B7AF}"/>
              </a:ext>
            </a:extLst>
          </p:cNvPr>
          <p:cNvGraphicFramePr>
            <a:graphicFrameLocks noGrp="1"/>
          </p:cNvGraphicFramePr>
          <p:nvPr/>
        </p:nvGraphicFramePr>
        <p:xfrm>
          <a:off x="6781800" y="5257800"/>
          <a:ext cx="2057400" cy="117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Ali@...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5FED482-7FAB-B748-9471-591C3048E0EB}"/>
              </a:ext>
            </a:extLst>
          </p:cNvPr>
          <p:cNvSpPr txBox="1"/>
          <p:nvPr/>
        </p:nvSpPr>
        <p:spPr>
          <a:xfrm>
            <a:off x="547565" y="3502223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 – 250,000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F49F21-EA1B-9747-A138-835DA406C174}"/>
              </a:ext>
            </a:extLst>
          </p:cNvPr>
          <p:cNvSpPr txBox="1"/>
          <p:nvPr/>
        </p:nvSpPr>
        <p:spPr>
          <a:xfrm>
            <a:off x="2667000" y="3502223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250,001 – 500,000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5FBF0E-00AC-F148-BD40-800BE980AD16}"/>
              </a:ext>
            </a:extLst>
          </p:cNvPr>
          <p:cNvSpPr txBox="1"/>
          <p:nvPr/>
        </p:nvSpPr>
        <p:spPr>
          <a:xfrm>
            <a:off x="4725341" y="3502223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500,001 – 750,000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AADF91-2D97-DE48-A549-06995492A795}"/>
              </a:ext>
            </a:extLst>
          </p:cNvPr>
          <p:cNvSpPr txBox="1"/>
          <p:nvPr/>
        </p:nvSpPr>
        <p:spPr>
          <a:xfrm>
            <a:off x="6938462" y="3502223"/>
            <a:ext cx="1824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750,001 – 1,000,000</a:t>
            </a:r>
          </a:p>
        </p:txBody>
      </p:sp>
    </p:spTree>
    <p:extLst>
      <p:ext uri="{BB962C8B-B14F-4D97-AF65-F5344CB8AC3E}">
        <p14:creationId xmlns:p14="http://schemas.microsoft.com/office/powerpoint/2010/main" val="1748382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0B604-AD00-9C49-877A-BB64A79F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Databases Scale Horizontally?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8BC887-88B9-5C44-8DCB-E11A50D51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71AB2D9-EF0A-B348-99BC-FEDC46A003EE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5257800"/>
          <a:ext cx="2057400" cy="117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Joe@…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858FC59A-438D-7144-8C93-3929E45833F6}"/>
              </a:ext>
            </a:extLst>
          </p:cNvPr>
          <p:cNvSpPr txBox="1"/>
          <p:nvPr/>
        </p:nvSpPr>
        <p:spPr>
          <a:xfrm>
            <a:off x="533400" y="1371600"/>
            <a:ext cx="8153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 does Cassandra not allow this…</a:t>
            </a:r>
          </a:p>
          <a:p>
            <a:endParaRPr lang="en-US" dirty="0"/>
          </a:p>
          <a:p>
            <a:r>
              <a:rPr lang="en-US" dirty="0"/>
              <a:t>SELECT name, email FROM users WHERE id &gt; 100 and &lt; 200;</a:t>
            </a:r>
          </a:p>
          <a:p>
            <a:endParaRPr lang="en-US" dirty="0"/>
          </a:p>
          <a:p>
            <a:r>
              <a:rPr lang="en-US" dirty="0"/>
              <a:t>Because H(100) = 305, H(101) = 600,430 etc. That is, close together id’s are spread across many separate partitions and the query would be too inefficient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081AD9-5007-D444-B03D-55ACDCFF6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146550"/>
            <a:ext cx="1072461" cy="1035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53D67A-40ED-0449-A48B-FD196192E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713" y="4146550"/>
            <a:ext cx="1072461" cy="1035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A9FE63-EB0B-4E49-9D04-E26FFA01E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26" y="4146550"/>
            <a:ext cx="1072461" cy="10350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C79CF1-D625-F24C-91C4-167BBCB2D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339" y="4133298"/>
            <a:ext cx="1072461" cy="103505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30AAB4-5CA1-3D4C-9E90-3E1240623F2E}"/>
              </a:ext>
            </a:extLst>
          </p:cNvPr>
          <p:cNvCxnSpPr>
            <a:cxnSpLocks/>
          </p:cNvCxnSpPr>
          <p:nvPr/>
        </p:nvCxnSpPr>
        <p:spPr>
          <a:xfrm>
            <a:off x="457200" y="3904698"/>
            <a:ext cx="82296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14A452-AD3C-5046-80D6-254575AA1880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069631" y="3904698"/>
            <a:ext cx="0" cy="24185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E1D9F9-54B8-D943-9AEB-AFABCE6D2263}"/>
              </a:ext>
            </a:extLst>
          </p:cNvPr>
          <p:cNvCxnSpPr>
            <a:cxnSpLocks/>
          </p:cNvCxnSpPr>
          <p:nvPr/>
        </p:nvCxnSpPr>
        <p:spPr>
          <a:xfrm flipH="1" flipV="1">
            <a:off x="3511827" y="3904698"/>
            <a:ext cx="1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427511-E327-8146-AAEA-235E28D8F423}"/>
              </a:ext>
            </a:extLst>
          </p:cNvPr>
          <p:cNvCxnSpPr>
            <a:cxnSpLocks/>
          </p:cNvCxnSpPr>
          <p:nvPr/>
        </p:nvCxnSpPr>
        <p:spPr>
          <a:xfrm flipV="1">
            <a:off x="5569227" y="3904698"/>
            <a:ext cx="2828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786E90-0DAC-714B-ADCC-7D265FFFA6F0}"/>
              </a:ext>
            </a:extLst>
          </p:cNvPr>
          <p:cNvCxnSpPr>
            <a:cxnSpLocks/>
          </p:cNvCxnSpPr>
          <p:nvPr/>
        </p:nvCxnSpPr>
        <p:spPr>
          <a:xfrm flipH="1" flipV="1">
            <a:off x="7855226" y="3904698"/>
            <a:ext cx="1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E92BB42-116C-C147-9D6A-27E164DFE6B0}"/>
              </a:ext>
            </a:extLst>
          </p:cNvPr>
          <p:cNvGraphicFramePr>
            <a:graphicFrameLocks noGrp="1"/>
          </p:cNvGraphicFramePr>
          <p:nvPr/>
        </p:nvGraphicFramePr>
        <p:xfrm>
          <a:off x="2362200" y="5283200"/>
          <a:ext cx="2057400" cy="117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Sam@...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384423B-831E-904D-9393-DC90438B5161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5283200"/>
          <a:ext cx="20574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6E730A9-B966-144F-B44F-9499BD12B7AF}"/>
              </a:ext>
            </a:extLst>
          </p:cNvPr>
          <p:cNvGraphicFramePr>
            <a:graphicFrameLocks noGrp="1"/>
          </p:cNvGraphicFramePr>
          <p:nvPr/>
        </p:nvGraphicFramePr>
        <p:xfrm>
          <a:off x="6781800" y="5257800"/>
          <a:ext cx="2057400" cy="117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Ali@...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5FED482-7FAB-B748-9471-591C3048E0EB}"/>
              </a:ext>
            </a:extLst>
          </p:cNvPr>
          <p:cNvSpPr txBox="1"/>
          <p:nvPr/>
        </p:nvSpPr>
        <p:spPr>
          <a:xfrm>
            <a:off x="547565" y="3502223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 – 250,000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F49F21-EA1B-9747-A138-835DA406C174}"/>
              </a:ext>
            </a:extLst>
          </p:cNvPr>
          <p:cNvSpPr txBox="1"/>
          <p:nvPr/>
        </p:nvSpPr>
        <p:spPr>
          <a:xfrm>
            <a:off x="2667000" y="3502223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250,001 – 500,000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5FBF0E-00AC-F148-BD40-800BE980AD16}"/>
              </a:ext>
            </a:extLst>
          </p:cNvPr>
          <p:cNvSpPr txBox="1"/>
          <p:nvPr/>
        </p:nvSpPr>
        <p:spPr>
          <a:xfrm>
            <a:off x="4725341" y="3502223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500,001 – 750,000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AADF91-2D97-DE48-A549-06995492A795}"/>
              </a:ext>
            </a:extLst>
          </p:cNvPr>
          <p:cNvSpPr txBox="1"/>
          <p:nvPr/>
        </p:nvSpPr>
        <p:spPr>
          <a:xfrm>
            <a:off x="6938462" y="3502223"/>
            <a:ext cx="1824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750,001 – 1,000,000</a:t>
            </a:r>
          </a:p>
        </p:txBody>
      </p:sp>
    </p:spTree>
    <p:extLst>
      <p:ext uri="{BB962C8B-B14F-4D97-AF65-F5344CB8AC3E}">
        <p14:creationId xmlns:p14="http://schemas.microsoft.com/office/powerpoint/2010/main" val="14660767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0B604-AD00-9C49-877A-BB64A79F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Databases Scale Horizontally?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8BC887-88B9-5C44-8DCB-E11A50D51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71AB2D9-EF0A-B348-99BC-FEDC46A003EE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5257800"/>
          <a:ext cx="2057400" cy="117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Joe@…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858FC59A-438D-7144-8C93-3929E45833F6}"/>
              </a:ext>
            </a:extLst>
          </p:cNvPr>
          <p:cNvSpPr txBox="1"/>
          <p:nvPr/>
        </p:nvSpPr>
        <p:spPr>
          <a:xfrm>
            <a:off x="533400" y="1371600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 in the case of a simple primary key Cassandra allows for very fast single record create, update and reads but not much more. Is that all it can do?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081AD9-5007-D444-B03D-55ACDCFF6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191000"/>
            <a:ext cx="1072461" cy="1035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53D67A-40ED-0449-A48B-FD196192E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713" y="4146550"/>
            <a:ext cx="1072461" cy="1035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A9FE63-EB0B-4E49-9D04-E26FFA01E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26" y="4146550"/>
            <a:ext cx="1072461" cy="10350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C79CF1-D625-F24C-91C4-167BBCB2D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339" y="4133298"/>
            <a:ext cx="1072461" cy="103505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30AAB4-5CA1-3D4C-9E90-3E1240623F2E}"/>
              </a:ext>
            </a:extLst>
          </p:cNvPr>
          <p:cNvCxnSpPr>
            <a:cxnSpLocks/>
          </p:cNvCxnSpPr>
          <p:nvPr/>
        </p:nvCxnSpPr>
        <p:spPr>
          <a:xfrm>
            <a:off x="457200" y="3904698"/>
            <a:ext cx="82296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14A452-AD3C-5046-80D6-254575AA1880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069631" y="3949148"/>
            <a:ext cx="0" cy="24185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E1D9F9-54B8-D943-9AEB-AFABCE6D2263}"/>
              </a:ext>
            </a:extLst>
          </p:cNvPr>
          <p:cNvCxnSpPr>
            <a:cxnSpLocks/>
          </p:cNvCxnSpPr>
          <p:nvPr/>
        </p:nvCxnSpPr>
        <p:spPr>
          <a:xfrm flipH="1" flipV="1">
            <a:off x="3511827" y="3904698"/>
            <a:ext cx="1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427511-E327-8146-AAEA-235E28D8F423}"/>
              </a:ext>
            </a:extLst>
          </p:cNvPr>
          <p:cNvCxnSpPr>
            <a:cxnSpLocks/>
          </p:cNvCxnSpPr>
          <p:nvPr/>
        </p:nvCxnSpPr>
        <p:spPr>
          <a:xfrm flipV="1">
            <a:off x="5569227" y="3904698"/>
            <a:ext cx="2828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786E90-0DAC-714B-ADCC-7D265FFFA6F0}"/>
              </a:ext>
            </a:extLst>
          </p:cNvPr>
          <p:cNvCxnSpPr>
            <a:cxnSpLocks/>
          </p:cNvCxnSpPr>
          <p:nvPr/>
        </p:nvCxnSpPr>
        <p:spPr>
          <a:xfrm flipH="1" flipV="1">
            <a:off x="7855226" y="3904698"/>
            <a:ext cx="1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E92BB42-116C-C147-9D6A-27E164DFE6B0}"/>
              </a:ext>
            </a:extLst>
          </p:cNvPr>
          <p:cNvGraphicFramePr>
            <a:graphicFrameLocks noGrp="1"/>
          </p:cNvGraphicFramePr>
          <p:nvPr/>
        </p:nvGraphicFramePr>
        <p:xfrm>
          <a:off x="2362200" y="5283200"/>
          <a:ext cx="2057400" cy="117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Sam@...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384423B-831E-904D-9393-DC90438B5161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5283200"/>
          <a:ext cx="20574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6E730A9-B966-144F-B44F-9499BD12B7AF}"/>
              </a:ext>
            </a:extLst>
          </p:cNvPr>
          <p:cNvGraphicFramePr>
            <a:graphicFrameLocks noGrp="1"/>
          </p:cNvGraphicFramePr>
          <p:nvPr/>
        </p:nvGraphicFramePr>
        <p:xfrm>
          <a:off x="6781800" y="5257800"/>
          <a:ext cx="2057400" cy="117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Ali@...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5FED482-7FAB-B748-9471-591C3048E0EB}"/>
              </a:ext>
            </a:extLst>
          </p:cNvPr>
          <p:cNvSpPr txBox="1"/>
          <p:nvPr/>
        </p:nvSpPr>
        <p:spPr>
          <a:xfrm>
            <a:off x="547565" y="3502223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 – 250,000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F49F21-EA1B-9747-A138-835DA406C174}"/>
              </a:ext>
            </a:extLst>
          </p:cNvPr>
          <p:cNvSpPr txBox="1"/>
          <p:nvPr/>
        </p:nvSpPr>
        <p:spPr>
          <a:xfrm>
            <a:off x="2667000" y="3502223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250,001 – 500,000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5FBF0E-00AC-F148-BD40-800BE980AD16}"/>
              </a:ext>
            </a:extLst>
          </p:cNvPr>
          <p:cNvSpPr txBox="1"/>
          <p:nvPr/>
        </p:nvSpPr>
        <p:spPr>
          <a:xfrm>
            <a:off x="4725341" y="3502223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500,001 – 750,000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AADF91-2D97-DE48-A549-06995492A795}"/>
              </a:ext>
            </a:extLst>
          </p:cNvPr>
          <p:cNvSpPr txBox="1"/>
          <p:nvPr/>
        </p:nvSpPr>
        <p:spPr>
          <a:xfrm>
            <a:off x="6938462" y="3502223"/>
            <a:ext cx="1824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750,001 – 1,000,000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2042A6A-56AE-6F4C-B720-A8C3A0E29A74}"/>
              </a:ext>
            </a:extLst>
          </p:cNvPr>
          <p:cNvGraphicFramePr>
            <a:graphicFrameLocks noGrp="1"/>
          </p:cNvGraphicFramePr>
          <p:nvPr/>
        </p:nvGraphicFramePr>
        <p:xfrm>
          <a:off x="647700" y="2057400"/>
          <a:ext cx="2628900" cy="114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1567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51933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Sam@gmail.com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Joe@iit.com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100" dirty="0"/>
                        <a:t>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Ali@yahoo.com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3177552A-BA19-F14C-9FFD-05956F537D59}"/>
              </a:ext>
            </a:extLst>
          </p:cNvPr>
          <p:cNvSpPr txBox="1"/>
          <p:nvPr/>
        </p:nvSpPr>
        <p:spPr>
          <a:xfrm>
            <a:off x="5627464" y="1981200"/>
            <a:ext cx="209916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CREATE TABLE users {</a:t>
            </a:r>
          </a:p>
          <a:p>
            <a:r>
              <a:rPr lang="en-US" sz="1400" dirty="0"/>
              <a:t>  id INT,</a:t>
            </a:r>
          </a:p>
          <a:p>
            <a:r>
              <a:rPr lang="en-US" sz="1400" dirty="0"/>
              <a:t>  name TEXT,</a:t>
            </a:r>
          </a:p>
          <a:p>
            <a:r>
              <a:rPr lang="en-US" sz="1400" dirty="0"/>
              <a:t>  email TEXT,</a:t>
            </a:r>
          </a:p>
          <a:p>
            <a:r>
              <a:rPr lang="en-US" sz="1400" dirty="0"/>
              <a:t>  PRIMARY KEY (id)</a:t>
            </a:r>
          </a:p>
          <a:p>
            <a:r>
              <a:rPr lang="en-US" sz="1400" dirty="0"/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696A0B-0C7F-3D43-A3F0-7DD5C8DC4F12}"/>
              </a:ext>
            </a:extLst>
          </p:cNvPr>
          <p:cNvSpPr txBox="1"/>
          <p:nvPr/>
        </p:nvSpPr>
        <p:spPr>
          <a:xfrm>
            <a:off x="7459667" y="2756595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← </a:t>
            </a:r>
            <a:r>
              <a:rPr lang="en-US" sz="1600" dirty="0"/>
              <a:t>Partition key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18D33A-A6B0-994E-ACB0-DD23D38C4231}"/>
              </a:ext>
            </a:extLst>
          </p:cNvPr>
          <p:cNvSpPr txBox="1"/>
          <p:nvPr/>
        </p:nvSpPr>
        <p:spPr>
          <a:xfrm>
            <a:off x="3599526" y="2044005"/>
            <a:ext cx="1658274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SELECT name, email</a:t>
            </a:r>
          </a:p>
          <a:p>
            <a:r>
              <a:rPr lang="en-US" sz="1200" dirty="0"/>
              <a:t>FROM users</a:t>
            </a:r>
          </a:p>
          <a:p>
            <a:r>
              <a:rPr lang="en-US" sz="1200" dirty="0"/>
              <a:t>WHERE id = ?</a:t>
            </a:r>
          </a:p>
          <a:p>
            <a:endParaRPr lang="en-US" sz="1200" dirty="0"/>
          </a:p>
          <a:p>
            <a:r>
              <a:rPr lang="en-US" sz="1200" dirty="0"/>
              <a:t>SELECT name, email</a:t>
            </a:r>
          </a:p>
          <a:p>
            <a:r>
              <a:rPr lang="en-US" sz="1200" dirty="0"/>
              <a:t>FROM users</a:t>
            </a:r>
          </a:p>
          <a:p>
            <a:r>
              <a:rPr lang="en-US" sz="1200" dirty="0"/>
              <a:t>WHERE id IN (?, ?)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36815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0B604-AD00-9C49-877A-BB64A79F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Databases Scale Horizontally?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8BC887-88B9-5C44-8DCB-E11A50D51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22</a:t>
            </a:fld>
            <a:endParaRPr lang="en-US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71AB2D9-EF0A-B348-99BC-FEDC46A00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266882"/>
              </p:ext>
            </p:extLst>
          </p:nvPr>
        </p:nvGraphicFramePr>
        <p:xfrm>
          <a:off x="677545" y="3200400"/>
          <a:ext cx="419925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1989455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049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927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F6B3A946-F270-3A4B-8AC5-6946D07167E0}"/>
              </a:ext>
            </a:extLst>
          </p:cNvPr>
          <p:cNvSpPr txBox="1"/>
          <p:nvPr/>
        </p:nvSpPr>
        <p:spPr>
          <a:xfrm>
            <a:off x="5791200" y="3276600"/>
            <a:ext cx="285238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 TABLE users {</a:t>
            </a:r>
          </a:p>
          <a:p>
            <a:r>
              <a:rPr lang="en-US" dirty="0"/>
              <a:t>  id INT,</a:t>
            </a:r>
          </a:p>
          <a:p>
            <a:r>
              <a:rPr lang="en-US" dirty="0"/>
              <a:t>  year INT,</a:t>
            </a:r>
          </a:p>
          <a:p>
            <a:r>
              <a:rPr lang="en-US" dirty="0"/>
              <a:t>  weight int,</a:t>
            </a:r>
          </a:p>
          <a:p>
            <a:r>
              <a:rPr lang="en-US" dirty="0"/>
              <a:t>  PRIMARY KEY (id, year)</a:t>
            </a:r>
          </a:p>
          <a:p>
            <a:r>
              <a:rPr lang="en-US" dirty="0"/>
              <a:t>};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8FC59A-438D-7144-8C93-3929E45833F6}"/>
              </a:ext>
            </a:extLst>
          </p:cNvPr>
          <p:cNvSpPr txBox="1"/>
          <p:nvPr/>
        </p:nvSpPr>
        <p:spPr>
          <a:xfrm>
            <a:off x="533400" y="1371600"/>
            <a:ext cx="815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Imagine we have a composite primary key… that is, each record is uniquely identified by a combination of two or more attributes</a:t>
            </a:r>
          </a:p>
          <a:p>
            <a:endParaRPr lang="en-US" dirty="0"/>
          </a:p>
          <a:p>
            <a:r>
              <a:rPr lang="en-US" dirty="0"/>
              <a:t>Here each record is uniquely identified by a combination of id and year</a:t>
            </a:r>
          </a:p>
        </p:txBody>
      </p:sp>
    </p:spTree>
    <p:extLst>
      <p:ext uri="{BB962C8B-B14F-4D97-AF65-F5344CB8AC3E}">
        <p14:creationId xmlns:p14="http://schemas.microsoft.com/office/powerpoint/2010/main" val="39163405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0B604-AD00-9C49-877A-BB64A79F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Databases Scale Horizontally?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8BC887-88B9-5C44-8DCB-E11A50D51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23</a:t>
            </a:fld>
            <a:endParaRPr lang="en-US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71AB2D9-EF0A-B348-99BC-FEDC46A00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491457"/>
              </p:ext>
            </p:extLst>
          </p:nvPr>
        </p:nvGraphicFramePr>
        <p:xfrm>
          <a:off x="152400" y="5413177"/>
          <a:ext cx="2057400" cy="117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200" dirty="0"/>
                        <a:t>456`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858FC59A-438D-7144-8C93-3929E45833F6}"/>
              </a:ext>
            </a:extLst>
          </p:cNvPr>
          <p:cNvSpPr txBox="1"/>
          <p:nvPr/>
        </p:nvSpPr>
        <p:spPr>
          <a:xfrm>
            <a:off x="533400" y="1371600"/>
            <a:ext cx="815340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first attribute of the primary key (id) is still used to determine the partition as before</a:t>
            </a:r>
          </a:p>
          <a:p>
            <a:endParaRPr lang="en-US" sz="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081AD9-5007-D444-B03D-55ACDCFF6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301927"/>
            <a:ext cx="1072461" cy="1035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53D67A-40ED-0449-A48B-FD196192E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713" y="4301927"/>
            <a:ext cx="1072461" cy="1035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A9FE63-EB0B-4E49-9D04-E26FFA01E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26" y="4301927"/>
            <a:ext cx="1072461" cy="10350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C79CF1-D625-F24C-91C4-167BBCB2D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339" y="4288675"/>
            <a:ext cx="1072461" cy="103505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30AAB4-5CA1-3D4C-9E90-3E1240623F2E}"/>
              </a:ext>
            </a:extLst>
          </p:cNvPr>
          <p:cNvCxnSpPr>
            <a:cxnSpLocks/>
          </p:cNvCxnSpPr>
          <p:nvPr/>
        </p:nvCxnSpPr>
        <p:spPr>
          <a:xfrm>
            <a:off x="457200" y="4060075"/>
            <a:ext cx="82296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14A452-AD3C-5046-80D6-254575AA1880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069631" y="4060075"/>
            <a:ext cx="0" cy="24185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E1D9F9-54B8-D943-9AEB-AFABCE6D2263}"/>
              </a:ext>
            </a:extLst>
          </p:cNvPr>
          <p:cNvCxnSpPr>
            <a:cxnSpLocks/>
          </p:cNvCxnSpPr>
          <p:nvPr/>
        </p:nvCxnSpPr>
        <p:spPr>
          <a:xfrm flipH="1" flipV="1">
            <a:off x="3511827" y="4060075"/>
            <a:ext cx="1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427511-E327-8146-AAEA-235E28D8F423}"/>
              </a:ext>
            </a:extLst>
          </p:cNvPr>
          <p:cNvCxnSpPr>
            <a:cxnSpLocks/>
          </p:cNvCxnSpPr>
          <p:nvPr/>
        </p:nvCxnSpPr>
        <p:spPr>
          <a:xfrm flipV="1">
            <a:off x="5569227" y="4060075"/>
            <a:ext cx="2828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786E90-0DAC-714B-ADCC-7D265FFFA6F0}"/>
              </a:ext>
            </a:extLst>
          </p:cNvPr>
          <p:cNvCxnSpPr>
            <a:cxnSpLocks/>
          </p:cNvCxnSpPr>
          <p:nvPr/>
        </p:nvCxnSpPr>
        <p:spPr>
          <a:xfrm flipH="1" flipV="1">
            <a:off x="7855226" y="4060075"/>
            <a:ext cx="1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E92BB42-116C-C147-9D6A-27E164DFE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654477"/>
              </p:ext>
            </p:extLst>
          </p:nvPr>
        </p:nvGraphicFramePr>
        <p:xfrm>
          <a:off x="2362200" y="5438577"/>
          <a:ext cx="2057400" cy="117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20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384423B-831E-904D-9393-DC90438B51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004530"/>
              </p:ext>
            </p:extLst>
          </p:nvPr>
        </p:nvGraphicFramePr>
        <p:xfrm>
          <a:off x="4572000" y="5438577"/>
          <a:ext cx="20574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6E730A9-B966-144F-B44F-9499BD12B7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903678"/>
              </p:ext>
            </p:extLst>
          </p:nvPr>
        </p:nvGraphicFramePr>
        <p:xfrm>
          <a:off x="6781800" y="5413177"/>
          <a:ext cx="2057400" cy="117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5FED482-7FAB-B748-9471-591C3048E0EB}"/>
              </a:ext>
            </a:extLst>
          </p:cNvPr>
          <p:cNvSpPr txBox="1"/>
          <p:nvPr/>
        </p:nvSpPr>
        <p:spPr>
          <a:xfrm>
            <a:off x="547565" y="3657600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 – 250,000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F49F21-EA1B-9747-A138-835DA406C174}"/>
              </a:ext>
            </a:extLst>
          </p:cNvPr>
          <p:cNvSpPr txBox="1"/>
          <p:nvPr/>
        </p:nvSpPr>
        <p:spPr>
          <a:xfrm>
            <a:off x="2667000" y="3657600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250,001 – 500,000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5FBF0E-00AC-F148-BD40-800BE980AD16}"/>
              </a:ext>
            </a:extLst>
          </p:cNvPr>
          <p:cNvSpPr txBox="1"/>
          <p:nvPr/>
        </p:nvSpPr>
        <p:spPr>
          <a:xfrm>
            <a:off x="4725341" y="3657600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500,001 – 750,000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AADF91-2D97-DE48-A549-06995492A795}"/>
              </a:ext>
            </a:extLst>
          </p:cNvPr>
          <p:cNvSpPr txBox="1"/>
          <p:nvPr/>
        </p:nvSpPr>
        <p:spPr>
          <a:xfrm>
            <a:off x="6938462" y="3657600"/>
            <a:ext cx="1824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750,001 – 1,000,000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2042A6A-56AE-6F4C-B720-A8C3A0E29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905923"/>
              </p:ext>
            </p:extLst>
          </p:nvPr>
        </p:nvGraphicFramePr>
        <p:xfrm>
          <a:off x="647700" y="2057400"/>
          <a:ext cx="2628900" cy="146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1567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51933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20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20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54932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D48C564-25A9-174A-A9D1-8E46046D0A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652337"/>
              </p:ext>
            </p:extLst>
          </p:nvPr>
        </p:nvGraphicFramePr>
        <p:xfrm>
          <a:off x="3295650" y="2098040"/>
          <a:ext cx="2628900" cy="1407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H(123) 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300,850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H(456) 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300,659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100" dirty="0"/>
                        <a:t>H(456) 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100" dirty="0"/>
                        <a:t>H(456) 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59442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08CC1647-F3CC-1348-B660-CF889BA8059D}"/>
              </a:ext>
            </a:extLst>
          </p:cNvPr>
          <p:cNvSpPr txBox="1"/>
          <p:nvPr/>
        </p:nvSpPr>
        <p:spPr>
          <a:xfrm>
            <a:off x="5562600" y="2044005"/>
            <a:ext cx="225876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CREATE TABLE users {</a:t>
            </a:r>
          </a:p>
          <a:p>
            <a:r>
              <a:rPr lang="en-US" sz="1400" dirty="0"/>
              <a:t>  id INT,</a:t>
            </a:r>
          </a:p>
          <a:p>
            <a:r>
              <a:rPr lang="en-US" sz="1400" dirty="0"/>
              <a:t>  year INT,</a:t>
            </a:r>
          </a:p>
          <a:p>
            <a:r>
              <a:rPr lang="en-US" sz="1400" dirty="0"/>
              <a:t>  weight int,</a:t>
            </a:r>
          </a:p>
          <a:p>
            <a:r>
              <a:rPr lang="en-US" sz="1400" dirty="0"/>
              <a:t>  PRIMARY KEY (id, year)</a:t>
            </a:r>
          </a:p>
          <a:p>
            <a:r>
              <a:rPr lang="en-US" sz="1400" dirty="0"/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DCC37C-6CE6-0A47-92C5-2B3568ED8C03}"/>
              </a:ext>
            </a:extLst>
          </p:cNvPr>
          <p:cNvSpPr txBox="1"/>
          <p:nvPr/>
        </p:nvSpPr>
        <p:spPr>
          <a:xfrm>
            <a:off x="5948572" y="3275221"/>
            <a:ext cx="1170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Partition key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3188F36-B2C1-9E4C-ACDD-40A4B16D93D5}"/>
              </a:ext>
            </a:extLst>
          </p:cNvPr>
          <p:cNvCxnSpPr/>
          <p:nvPr/>
        </p:nvCxnSpPr>
        <p:spPr>
          <a:xfrm flipV="1">
            <a:off x="6781800" y="3200400"/>
            <a:ext cx="337285" cy="151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130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0B604-AD00-9C49-877A-BB64A79F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Databases Scale Horizontally?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8BC887-88B9-5C44-8DCB-E11A50D51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24</a:t>
            </a:fld>
            <a:endParaRPr lang="en-US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71AB2D9-EF0A-B348-99BC-FEDC46A003EE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5413177"/>
          <a:ext cx="2057400" cy="117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200" dirty="0"/>
                        <a:t>456`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858FC59A-438D-7144-8C93-3929E45833F6}"/>
              </a:ext>
            </a:extLst>
          </p:cNvPr>
          <p:cNvSpPr txBox="1"/>
          <p:nvPr/>
        </p:nvSpPr>
        <p:spPr>
          <a:xfrm>
            <a:off x="533400" y="1371600"/>
            <a:ext cx="815340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 the second attribute of the primary key (year) is used to physically group or cluster together all the records in a partition sharing the same partition key</a:t>
            </a:r>
          </a:p>
          <a:p>
            <a:endParaRPr lang="en-US" sz="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081AD9-5007-D444-B03D-55ACDCFF6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301927"/>
            <a:ext cx="1072461" cy="1035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53D67A-40ED-0449-A48B-FD196192E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713" y="4301927"/>
            <a:ext cx="1072461" cy="1035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A9FE63-EB0B-4E49-9D04-E26FFA01E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26" y="4301927"/>
            <a:ext cx="1072461" cy="10350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C79CF1-D625-F24C-91C4-167BBCB2D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339" y="4288675"/>
            <a:ext cx="1072461" cy="103505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30AAB4-5CA1-3D4C-9E90-3E1240623F2E}"/>
              </a:ext>
            </a:extLst>
          </p:cNvPr>
          <p:cNvCxnSpPr>
            <a:cxnSpLocks/>
          </p:cNvCxnSpPr>
          <p:nvPr/>
        </p:nvCxnSpPr>
        <p:spPr>
          <a:xfrm>
            <a:off x="457200" y="4060075"/>
            <a:ext cx="82296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14A452-AD3C-5046-80D6-254575AA1880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069631" y="4060075"/>
            <a:ext cx="0" cy="24185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E1D9F9-54B8-D943-9AEB-AFABCE6D2263}"/>
              </a:ext>
            </a:extLst>
          </p:cNvPr>
          <p:cNvCxnSpPr>
            <a:cxnSpLocks/>
          </p:cNvCxnSpPr>
          <p:nvPr/>
        </p:nvCxnSpPr>
        <p:spPr>
          <a:xfrm flipH="1" flipV="1">
            <a:off x="3511827" y="4060075"/>
            <a:ext cx="1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427511-E327-8146-AAEA-235E28D8F423}"/>
              </a:ext>
            </a:extLst>
          </p:cNvPr>
          <p:cNvCxnSpPr>
            <a:cxnSpLocks/>
          </p:cNvCxnSpPr>
          <p:nvPr/>
        </p:nvCxnSpPr>
        <p:spPr>
          <a:xfrm flipV="1">
            <a:off x="5569227" y="4060075"/>
            <a:ext cx="2828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786E90-0DAC-714B-ADCC-7D265FFFA6F0}"/>
              </a:ext>
            </a:extLst>
          </p:cNvPr>
          <p:cNvCxnSpPr>
            <a:cxnSpLocks/>
          </p:cNvCxnSpPr>
          <p:nvPr/>
        </p:nvCxnSpPr>
        <p:spPr>
          <a:xfrm flipH="1" flipV="1">
            <a:off x="7855226" y="4060075"/>
            <a:ext cx="1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E92BB42-116C-C147-9D6A-27E164DFE6B0}"/>
              </a:ext>
            </a:extLst>
          </p:cNvPr>
          <p:cNvGraphicFramePr>
            <a:graphicFrameLocks noGrp="1"/>
          </p:cNvGraphicFramePr>
          <p:nvPr/>
        </p:nvGraphicFramePr>
        <p:xfrm>
          <a:off x="2362200" y="5438577"/>
          <a:ext cx="2057400" cy="117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20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384423B-831E-904D-9393-DC90438B5161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5438577"/>
          <a:ext cx="20574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6E730A9-B966-144F-B44F-9499BD12B7AF}"/>
              </a:ext>
            </a:extLst>
          </p:cNvPr>
          <p:cNvGraphicFramePr>
            <a:graphicFrameLocks noGrp="1"/>
          </p:cNvGraphicFramePr>
          <p:nvPr/>
        </p:nvGraphicFramePr>
        <p:xfrm>
          <a:off x="6781800" y="5413177"/>
          <a:ext cx="2057400" cy="117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5FED482-7FAB-B748-9471-591C3048E0EB}"/>
              </a:ext>
            </a:extLst>
          </p:cNvPr>
          <p:cNvSpPr txBox="1"/>
          <p:nvPr/>
        </p:nvSpPr>
        <p:spPr>
          <a:xfrm>
            <a:off x="547565" y="3657600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 – 250,000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F49F21-EA1B-9747-A138-835DA406C174}"/>
              </a:ext>
            </a:extLst>
          </p:cNvPr>
          <p:cNvSpPr txBox="1"/>
          <p:nvPr/>
        </p:nvSpPr>
        <p:spPr>
          <a:xfrm>
            <a:off x="2667000" y="3657600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250,001 – 500,000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5FBF0E-00AC-F148-BD40-800BE980AD16}"/>
              </a:ext>
            </a:extLst>
          </p:cNvPr>
          <p:cNvSpPr txBox="1"/>
          <p:nvPr/>
        </p:nvSpPr>
        <p:spPr>
          <a:xfrm>
            <a:off x="4725341" y="3657600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500,001 – 750,000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AADF91-2D97-DE48-A549-06995492A795}"/>
              </a:ext>
            </a:extLst>
          </p:cNvPr>
          <p:cNvSpPr txBox="1"/>
          <p:nvPr/>
        </p:nvSpPr>
        <p:spPr>
          <a:xfrm>
            <a:off x="6938462" y="3657600"/>
            <a:ext cx="1824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750,001 – 1,000,000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2042A6A-56AE-6F4C-B720-A8C3A0E29A74}"/>
              </a:ext>
            </a:extLst>
          </p:cNvPr>
          <p:cNvGraphicFramePr>
            <a:graphicFrameLocks noGrp="1"/>
          </p:cNvGraphicFramePr>
          <p:nvPr/>
        </p:nvGraphicFramePr>
        <p:xfrm>
          <a:off x="647700" y="2057400"/>
          <a:ext cx="2628900" cy="146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1567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51933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20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20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54932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D48C564-25A9-174A-A9D1-8E46046D0A08}"/>
              </a:ext>
            </a:extLst>
          </p:cNvPr>
          <p:cNvGraphicFramePr>
            <a:graphicFrameLocks noGrp="1"/>
          </p:cNvGraphicFramePr>
          <p:nvPr/>
        </p:nvGraphicFramePr>
        <p:xfrm>
          <a:off x="3295650" y="2098040"/>
          <a:ext cx="2628900" cy="1407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H(123) 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300,850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H(456) 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300,659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100" dirty="0"/>
                        <a:t>H(456) 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100" dirty="0"/>
                        <a:t>H(456) 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59442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08CC1647-F3CC-1348-B660-CF889BA8059D}"/>
              </a:ext>
            </a:extLst>
          </p:cNvPr>
          <p:cNvSpPr txBox="1"/>
          <p:nvPr/>
        </p:nvSpPr>
        <p:spPr>
          <a:xfrm>
            <a:off x="5562600" y="2044005"/>
            <a:ext cx="225876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CREATE TABLE users {</a:t>
            </a:r>
          </a:p>
          <a:p>
            <a:r>
              <a:rPr lang="en-US" sz="1400" dirty="0"/>
              <a:t>  id INT,</a:t>
            </a:r>
          </a:p>
          <a:p>
            <a:r>
              <a:rPr lang="en-US" sz="1400" dirty="0"/>
              <a:t>  year INT,</a:t>
            </a:r>
          </a:p>
          <a:p>
            <a:r>
              <a:rPr lang="en-US" sz="1400" dirty="0"/>
              <a:t>  weight int,</a:t>
            </a:r>
          </a:p>
          <a:p>
            <a:r>
              <a:rPr lang="en-US" sz="1400" dirty="0"/>
              <a:t>  PRIMARY KEY (id, year)</a:t>
            </a:r>
          </a:p>
          <a:p>
            <a:r>
              <a:rPr lang="en-US" sz="1400" dirty="0"/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DCC37C-6CE6-0A47-92C5-2B3568ED8C03}"/>
              </a:ext>
            </a:extLst>
          </p:cNvPr>
          <p:cNvSpPr txBox="1"/>
          <p:nvPr/>
        </p:nvSpPr>
        <p:spPr>
          <a:xfrm>
            <a:off x="5948572" y="3275221"/>
            <a:ext cx="1170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Partition key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3188F36-B2C1-9E4C-ACDD-40A4B16D93D5}"/>
              </a:ext>
            </a:extLst>
          </p:cNvPr>
          <p:cNvCxnSpPr/>
          <p:nvPr/>
        </p:nvCxnSpPr>
        <p:spPr>
          <a:xfrm flipV="1">
            <a:off x="6781800" y="3200400"/>
            <a:ext cx="337285" cy="151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2D979C4-7A95-F141-9D26-FE139484D82F}"/>
              </a:ext>
            </a:extLst>
          </p:cNvPr>
          <p:cNvSpPr txBox="1"/>
          <p:nvPr/>
        </p:nvSpPr>
        <p:spPr>
          <a:xfrm>
            <a:off x="7543800" y="3276600"/>
            <a:ext cx="1080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Cluster key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42211E6-CBA0-5545-88BE-15F50CCD4DEF}"/>
              </a:ext>
            </a:extLst>
          </p:cNvPr>
          <p:cNvCxnSpPr>
            <a:cxnSpLocks/>
          </p:cNvCxnSpPr>
          <p:nvPr/>
        </p:nvCxnSpPr>
        <p:spPr>
          <a:xfrm flipH="1" flipV="1">
            <a:off x="7543800" y="3201779"/>
            <a:ext cx="337285" cy="151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25203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0B604-AD00-9C49-877A-BB64A79F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Databases Scale Horizontally?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8BC887-88B9-5C44-8DCB-E11A50D51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71AB2D9-EF0A-B348-99BC-FEDC46A003EE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5413177"/>
          <a:ext cx="2057400" cy="117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200" dirty="0"/>
                        <a:t>456`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858FC59A-438D-7144-8C93-3929E45833F6}"/>
              </a:ext>
            </a:extLst>
          </p:cNvPr>
          <p:cNvSpPr txBox="1"/>
          <p:nvPr/>
        </p:nvSpPr>
        <p:spPr>
          <a:xfrm>
            <a:off x="533400" y="1371600"/>
            <a:ext cx="815340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cluster key can be used for richer queries across records within a single partition</a:t>
            </a:r>
          </a:p>
          <a:p>
            <a:endParaRPr lang="en-US" sz="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081AD9-5007-D444-B03D-55ACDCFF6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301927"/>
            <a:ext cx="1072461" cy="1035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53D67A-40ED-0449-A48B-FD196192E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713" y="4301927"/>
            <a:ext cx="1072461" cy="1035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A9FE63-EB0B-4E49-9D04-E26FFA01E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26" y="4301927"/>
            <a:ext cx="1072461" cy="10350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C79CF1-D625-F24C-91C4-167BBCB2D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339" y="4288675"/>
            <a:ext cx="1072461" cy="103505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30AAB4-5CA1-3D4C-9E90-3E1240623F2E}"/>
              </a:ext>
            </a:extLst>
          </p:cNvPr>
          <p:cNvCxnSpPr>
            <a:cxnSpLocks/>
          </p:cNvCxnSpPr>
          <p:nvPr/>
        </p:nvCxnSpPr>
        <p:spPr>
          <a:xfrm>
            <a:off x="457200" y="4060075"/>
            <a:ext cx="82296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14A452-AD3C-5046-80D6-254575AA1880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069631" y="4060075"/>
            <a:ext cx="0" cy="24185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E1D9F9-54B8-D943-9AEB-AFABCE6D2263}"/>
              </a:ext>
            </a:extLst>
          </p:cNvPr>
          <p:cNvCxnSpPr>
            <a:cxnSpLocks/>
          </p:cNvCxnSpPr>
          <p:nvPr/>
        </p:nvCxnSpPr>
        <p:spPr>
          <a:xfrm flipH="1" flipV="1">
            <a:off x="3511827" y="4060075"/>
            <a:ext cx="1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427511-E327-8146-AAEA-235E28D8F423}"/>
              </a:ext>
            </a:extLst>
          </p:cNvPr>
          <p:cNvCxnSpPr>
            <a:cxnSpLocks/>
          </p:cNvCxnSpPr>
          <p:nvPr/>
        </p:nvCxnSpPr>
        <p:spPr>
          <a:xfrm flipV="1">
            <a:off x="5569227" y="4060075"/>
            <a:ext cx="2828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786E90-0DAC-714B-ADCC-7D265FFFA6F0}"/>
              </a:ext>
            </a:extLst>
          </p:cNvPr>
          <p:cNvCxnSpPr>
            <a:cxnSpLocks/>
          </p:cNvCxnSpPr>
          <p:nvPr/>
        </p:nvCxnSpPr>
        <p:spPr>
          <a:xfrm flipH="1" flipV="1">
            <a:off x="7855226" y="4060075"/>
            <a:ext cx="1" cy="2319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E92BB42-116C-C147-9D6A-27E164DFE6B0}"/>
              </a:ext>
            </a:extLst>
          </p:cNvPr>
          <p:cNvGraphicFramePr>
            <a:graphicFrameLocks noGrp="1"/>
          </p:cNvGraphicFramePr>
          <p:nvPr/>
        </p:nvGraphicFramePr>
        <p:xfrm>
          <a:off x="2362200" y="5438577"/>
          <a:ext cx="2057400" cy="117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10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20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384423B-831E-904D-9393-DC90438B5161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5438577"/>
          <a:ext cx="20574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6E730A9-B966-144F-B44F-9499BD12B7AF}"/>
              </a:ext>
            </a:extLst>
          </p:cNvPr>
          <p:cNvGraphicFramePr>
            <a:graphicFrameLocks noGrp="1"/>
          </p:cNvGraphicFramePr>
          <p:nvPr/>
        </p:nvGraphicFramePr>
        <p:xfrm>
          <a:off x="6781800" y="5413177"/>
          <a:ext cx="2057400" cy="117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5FED482-7FAB-B748-9471-591C3048E0EB}"/>
              </a:ext>
            </a:extLst>
          </p:cNvPr>
          <p:cNvSpPr txBox="1"/>
          <p:nvPr/>
        </p:nvSpPr>
        <p:spPr>
          <a:xfrm>
            <a:off x="547565" y="3657600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 – 250,000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F49F21-EA1B-9747-A138-835DA406C174}"/>
              </a:ext>
            </a:extLst>
          </p:cNvPr>
          <p:cNvSpPr txBox="1"/>
          <p:nvPr/>
        </p:nvSpPr>
        <p:spPr>
          <a:xfrm>
            <a:off x="2667000" y="3657600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250,001 – 500,000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5FBF0E-00AC-F148-BD40-800BE980AD16}"/>
              </a:ext>
            </a:extLst>
          </p:cNvPr>
          <p:cNvSpPr txBox="1"/>
          <p:nvPr/>
        </p:nvSpPr>
        <p:spPr>
          <a:xfrm>
            <a:off x="4725341" y="3657600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500,001 – 750,000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AADF91-2D97-DE48-A549-06995492A795}"/>
              </a:ext>
            </a:extLst>
          </p:cNvPr>
          <p:cNvSpPr txBox="1"/>
          <p:nvPr/>
        </p:nvSpPr>
        <p:spPr>
          <a:xfrm>
            <a:off x="6938462" y="3657600"/>
            <a:ext cx="1824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750,001 – 1,000,000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2042A6A-56AE-6F4C-B720-A8C3A0E29A74}"/>
              </a:ext>
            </a:extLst>
          </p:cNvPr>
          <p:cNvGraphicFramePr>
            <a:graphicFrameLocks noGrp="1"/>
          </p:cNvGraphicFramePr>
          <p:nvPr/>
        </p:nvGraphicFramePr>
        <p:xfrm>
          <a:off x="647700" y="2057400"/>
          <a:ext cx="2628900" cy="146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1567">
                  <a:extLst>
                    <a:ext uri="{9D8B030D-6E8A-4147-A177-3AD203B41FA5}">
                      <a16:colId xmlns:a16="http://schemas.microsoft.com/office/drawing/2014/main" val="2314738873"/>
                    </a:ext>
                  </a:extLst>
                </a:gridCol>
                <a:gridCol w="651933">
                  <a:extLst>
                    <a:ext uri="{9D8B030D-6E8A-4147-A177-3AD203B41FA5}">
                      <a16:colId xmlns:a16="http://schemas.microsoft.com/office/drawing/2014/main" val="47293428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032294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746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20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4639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20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3365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25387"/>
                  </a:ext>
                </a:extLst>
              </a:tr>
              <a:tr h="249583">
                <a:tc>
                  <a:txBody>
                    <a:bodyPr/>
                    <a:lstStyle/>
                    <a:p>
                      <a:r>
                        <a:rPr lang="en-US" sz="1200" dirty="0"/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54932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08CC1647-F3CC-1348-B660-CF889BA8059D}"/>
              </a:ext>
            </a:extLst>
          </p:cNvPr>
          <p:cNvSpPr txBox="1"/>
          <p:nvPr/>
        </p:nvSpPr>
        <p:spPr>
          <a:xfrm>
            <a:off x="3541174" y="2286000"/>
            <a:ext cx="50694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SELECT weight</a:t>
            </a:r>
          </a:p>
          <a:p>
            <a:r>
              <a:rPr lang="en-US" sz="1400" dirty="0"/>
              <a:t>FROM users</a:t>
            </a:r>
          </a:p>
          <a:p>
            <a:r>
              <a:rPr lang="en-US" sz="1400" dirty="0"/>
              <a:t>WHERE id = 123 AND ((year &gt; 2017) AND (year &lt; 2020))</a:t>
            </a:r>
          </a:p>
          <a:p>
            <a:r>
              <a:rPr lang="en-US" sz="1400" dirty="0"/>
              <a:t>ORDER BY year DESC;</a:t>
            </a:r>
          </a:p>
        </p:txBody>
      </p:sp>
    </p:spTree>
    <p:extLst>
      <p:ext uri="{BB962C8B-B14F-4D97-AF65-F5344CB8AC3E}">
        <p14:creationId xmlns:p14="http://schemas.microsoft.com/office/powerpoint/2010/main" val="5227526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76581" y="602948"/>
            <a:ext cx="4629019" cy="652536"/>
          </a:xfrm>
          <a:prstGeom prst="rect">
            <a:avLst/>
          </a:prstGeom>
        </p:spPr>
        <p:txBody>
          <a:bodyPr vert="horz" wrap="square" lIns="0" tIns="6145" rIns="0" bIns="0" rtlCol="0">
            <a:spAutoFit/>
          </a:bodyPr>
          <a:lstStyle/>
          <a:p>
            <a:pPr marL="6468">
              <a:spcBef>
                <a:spcPts val="48"/>
              </a:spcBef>
            </a:pPr>
            <a:r>
              <a:rPr sz="4200" spc="-74" dirty="0"/>
              <a:t>THE</a:t>
            </a:r>
            <a:r>
              <a:rPr lang="en-US" sz="4200" spc="-48" dirty="0"/>
              <a:t> </a:t>
            </a:r>
            <a:r>
              <a:rPr sz="4200" spc="-135" dirty="0"/>
              <a:t>PARTITIONER</a:t>
            </a:r>
            <a:endParaRPr sz="4200" dirty="0"/>
          </a:p>
        </p:txBody>
      </p:sp>
      <p:sp>
        <p:nvSpPr>
          <p:cNvPr id="4" name="object 4"/>
          <p:cNvSpPr txBox="1"/>
          <p:nvPr/>
        </p:nvSpPr>
        <p:spPr>
          <a:xfrm>
            <a:off x="265686" y="1733360"/>
            <a:ext cx="4303976" cy="2934962"/>
          </a:xfrm>
          <a:prstGeom prst="rect">
            <a:avLst/>
          </a:prstGeom>
        </p:spPr>
        <p:txBody>
          <a:bodyPr vert="horz" wrap="square" lIns="0" tIns="32341" rIns="0" bIns="0" rtlCol="0">
            <a:spAutoFit/>
          </a:bodyPr>
          <a:lstStyle/>
          <a:p>
            <a:pPr marL="251609" marR="2587" indent="-245141">
              <a:lnSpc>
                <a:spcPts val="2475"/>
              </a:lnSpc>
              <a:spcBef>
                <a:spcPts val="255"/>
              </a:spcBef>
              <a:buSzPct val="82352"/>
              <a:buChar char="•"/>
              <a:tabLst>
                <a:tab pos="251609" algn="l"/>
                <a:tab pos="251933" algn="l"/>
              </a:tabLst>
            </a:pPr>
            <a:r>
              <a:rPr sz="2200" spc="-20" dirty="0">
                <a:solidFill>
                  <a:srgbClr val="535353"/>
                </a:solidFill>
                <a:latin typeface="Gill Sans MT"/>
                <a:cs typeface="Gill Sans MT"/>
              </a:rPr>
              <a:t>System </a:t>
            </a:r>
            <a:r>
              <a:rPr sz="2200" spc="-23" dirty="0">
                <a:solidFill>
                  <a:srgbClr val="535353"/>
                </a:solidFill>
                <a:latin typeface="Gill Sans MT"/>
                <a:cs typeface="Gill Sans MT"/>
              </a:rPr>
              <a:t>running </a:t>
            </a:r>
            <a:r>
              <a:rPr sz="2200" spc="-13" dirty="0">
                <a:solidFill>
                  <a:srgbClr val="535353"/>
                </a:solidFill>
                <a:latin typeface="Gill Sans MT"/>
                <a:cs typeface="Gill Sans MT"/>
              </a:rPr>
              <a:t>on </a:t>
            </a:r>
            <a:r>
              <a:rPr sz="2200" spc="-10" dirty="0">
                <a:solidFill>
                  <a:srgbClr val="535353"/>
                </a:solidFill>
                <a:latin typeface="Gill Sans MT"/>
                <a:cs typeface="Gill Sans MT"/>
              </a:rPr>
              <a:t>each </a:t>
            </a:r>
            <a:r>
              <a:rPr sz="2200" spc="-3" dirty="0">
                <a:solidFill>
                  <a:srgbClr val="535353"/>
                </a:solidFill>
                <a:latin typeface="Gill Sans MT"/>
                <a:cs typeface="Gill Sans MT"/>
              </a:rPr>
              <a:t>node </a:t>
            </a:r>
            <a:r>
              <a:rPr sz="2200" spc="-33" dirty="0">
                <a:solidFill>
                  <a:srgbClr val="535353"/>
                </a:solidFill>
                <a:latin typeface="Gill Sans MT"/>
                <a:cs typeface="Gill Sans MT"/>
              </a:rPr>
              <a:t>that  </a:t>
            </a:r>
            <a:r>
              <a:rPr sz="2200" spc="-18" dirty="0">
                <a:solidFill>
                  <a:srgbClr val="535353"/>
                </a:solidFill>
                <a:latin typeface="Gill Sans MT"/>
                <a:cs typeface="Gill Sans MT"/>
              </a:rPr>
              <a:t>computes </a:t>
            </a:r>
            <a:r>
              <a:rPr sz="2200" spc="-23" dirty="0">
                <a:solidFill>
                  <a:srgbClr val="535353"/>
                </a:solidFill>
                <a:latin typeface="Gill Sans MT"/>
                <a:cs typeface="Gill Sans MT"/>
              </a:rPr>
              <a:t>hashes </a:t>
            </a:r>
            <a:r>
              <a:rPr sz="2200" spc="-36" dirty="0">
                <a:solidFill>
                  <a:srgbClr val="535353"/>
                </a:solidFill>
                <a:latin typeface="Gill Sans MT"/>
                <a:cs typeface="Gill Sans MT"/>
              </a:rPr>
              <a:t>through </a:t>
            </a:r>
            <a:r>
              <a:rPr sz="2200" spc="5" dirty="0">
                <a:solidFill>
                  <a:srgbClr val="535353"/>
                </a:solidFill>
                <a:latin typeface="Gill Sans MT"/>
                <a:cs typeface="Gill Sans MT"/>
              </a:rPr>
              <a:t>a </a:t>
            </a:r>
            <a:r>
              <a:rPr sz="2200" spc="-20" dirty="0">
                <a:solidFill>
                  <a:srgbClr val="535353"/>
                </a:solidFill>
                <a:latin typeface="Gill Sans MT"/>
                <a:cs typeface="Gill Sans MT"/>
              </a:rPr>
              <a:t>hash</a:t>
            </a:r>
            <a:r>
              <a:rPr sz="2200" spc="81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200" spc="-38" dirty="0">
                <a:solidFill>
                  <a:srgbClr val="535353"/>
                </a:solidFill>
                <a:latin typeface="Gill Sans MT"/>
                <a:cs typeface="Gill Sans MT"/>
              </a:rPr>
              <a:t>function.</a:t>
            </a:r>
            <a:endParaRPr sz="2200">
              <a:latin typeface="Gill Sans MT"/>
              <a:cs typeface="Gill Sans MT"/>
            </a:endParaRPr>
          </a:p>
          <a:p>
            <a:pPr marL="251609" indent="-245141">
              <a:spcBef>
                <a:spcPts val="2042"/>
              </a:spcBef>
              <a:buSzPct val="82352"/>
              <a:buChar char="•"/>
              <a:tabLst>
                <a:tab pos="251609" algn="l"/>
                <a:tab pos="251933" algn="l"/>
              </a:tabLst>
            </a:pPr>
            <a:r>
              <a:rPr sz="2200" spc="-48" dirty="0">
                <a:solidFill>
                  <a:srgbClr val="535353"/>
                </a:solidFill>
                <a:latin typeface="Gill Sans MT"/>
                <a:cs typeface="Gill Sans MT"/>
              </a:rPr>
              <a:t>Various </a:t>
            </a:r>
            <a:r>
              <a:rPr sz="2200" spc="-25" dirty="0">
                <a:solidFill>
                  <a:srgbClr val="535353"/>
                </a:solidFill>
                <a:latin typeface="Gill Sans MT"/>
                <a:cs typeface="Gill Sans MT"/>
              </a:rPr>
              <a:t>partitioners</a:t>
            </a:r>
            <a:r>
              <a:rPr sz="2200" spc="38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200" spc="-28" dirty="0">
                <a:solidFill>
                  <a:srgbClr val="535353"/>
                </a:solidFill>
                <a:latin typeface="Gill Sans MT"/>
                <a:cs typeface="Gill Sans MT"/>
              </a:rPr>
              <a:t>available.</a:t>
            </a:r>
            <a:endParaRPr sz="2200">
              <a:latin typeface="Gill Sans MT"/>
              <a:cs typeface="Gill Sans MT"/>
            </a:endParaRPr>
          </a:p>
          <a:p>
            <a:pPr marL="497074" lvl="1" indent="-245465">
              <a:spcBef>
                <a:spcPts val="2103"/>
              </a:spcBef>
              <a:buSzPct val="82352"/>
              <a:buChar char="•"/>
              <a:tabLst>
                <a:tab pos="496751" algn="l"/>
                <a:tab pos="497398" algn="l"/>
              </a:tabLst>
            </a:pPr>
            <a:r>
              <a:rPr sz="2200" spc="-23" dirty="0">
                <a:solidFill>
                  <a:srgbClr val="535353"/>
                </a:solidFill>
                <a:latin typeface="Gill Sans MT"/>
                <a:cs typeface="Gill Sans MT"/>
              </a:rPr>
              <a:t>Default </a:t>
            </a:r>
            <a:r>
              <a:rPr sz="2200" spc="-64" dirty="0">
                <a:solidFill>
                  <a:srgbClr val="535353"/>
                </a:solidFill>
                <a:latin typeface="Gill Sans MT"/>
                <a:cs typeface="Gill Sans MT"/>
              </a:rPr>
              <a:t>is</a:t>
            </a:r>
            <a:r>
              <a:rPr sz="2200" spc="5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200" spc="-41" dirty="0">
                <a:solidFill>
                  <a:srgbClr val="535353"/>
                </a:solidFill>
                <a:latin typeface="Gill Sans MT"/>
                <a:cs typeface="Gill Sans MT"/>
              </a:rPr>
              <a:t>murmur3</a:t>
            </a:r>
            <a:endParaRPr sz="2200">
              <a:latin typeface="Gill Sans MT"/>
              <a:cs typeface="Gill Sans MT"/>
            </a:endParaRPr>
          </a:p>
          <a:p>
            <a:pPr lvl="1">
              <a:spcBef>
                <a:spcPts val="8"/>
              </a:spcBef>
              <a:buClr>
                <a:srgbClr val="535353"/>
              </a:buClr>
              <a:buFont typeface="Gill Sans MT"/>
              <a:buChar char="•"/>
            </a:pPr>
            <a:endParaRPr sz="1900">
              <a:latin typeface="Times New Roman"/>
              <a:cs typeface="Times New Roman"/>
            </a:endParaRPr>
          </a:p>
          <a:p>
            <a:pPr marL="251609" indent="-245141">
              <a:buSzPct val="82352"/>
              <a:buChar char="•"/>
              <a:tabLst>
                <a:tab pos="251609" algn="l"/>
                <a:tab pos="251933" algn="l"/>
              </a:tabLst>
            </a:pPr>
            <a:r>
              <a:rPr sz="2200" spc="-41" dirty="0">
                <a:solidFill>
                  <a:srgbClr val="535353"/>
                </a:solidFill>
                <a:latin typeface="Gill Sans MT"/>
                <a:cs typeface="Gill Sans MT"/>
              </a:rPr>
              <a:t>All </a:t>
            </a:r>
            <a:r>
              <a:rPr sz="2200" spc="-15" dirty="0">
                <a:solidFill>
                  <a:srgbClr val="535353"/>
                </a:solidFill>
                <a:latin typeface="Gill Sans MT"/>
                <a:cs typeface="Gill Sans MT"/>
              </a:rPr>
              <a:t>nodes </a:t>
            </a:r>
            <a:r>
              <a:rPr sz="2200" b="1" spc="-125" dirty="0">
                <a:solidFill>
                  <a:srgbClr val="535353"/>
                </a:solidFill>
                <a:latin typeface="Gill Sans MT"/>
                <a:cs typeface="Gill Sans MT"/>
              </a:rPr>
              <a:t>MUST </a:t>
            </a:r>
            <a:r>
              <a:rPr sz="2200" spc="-23" dirty="0">
                <a:solidFill>
                  <a:srgbClr val="535353"/>
                </a:solidFill>
                <a:latin typeface="Gill Sans MT"/>
                <a:cs typeface="Gill Sans MT"/>
              </a:rPr>
              <a:t>use the</a:t>
            </a:r>
            <a:r>
              <a:rPr sz="2200" spc="206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200" spc="-107" dirty="0">
                <a:solidFill>
                  <a:srgbClr val="535353"/>
                </a:solidFill>
                <a:latin typeface="Gill Sans MT"/>
                <a:cs typeface="Gill Sans MT"/>
              </a:rPr>
              <a:t>same!!!!</a:t>
            </a:r>
            <a:endParaRPr sz="2200">
              <a:latin typeface="Gill Sans MT"/>
              <a:cs typeface="Gill Sans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66895" y="3679714"/>
            <a:ext cx="3448707" cy="634971"/>
          </a:xfrm>
          <a:custGeom>
            <a:avLst/>
            <a:gdLst/>
            <a:ahLst/>
            <a:cxnLst/>
            <a:rect l="l" t="t" r="r" b="b"/>
            <a:pathLst>
              <a:path w="5989955" h="1047115">
                <a:moveTo>
                  <a:pt x="5831215" y="0"/>
                </a:moveTo>
                <a:lnTo>
                  <a:pt x="161576" y="0"/>
                </a:lnTo>
                <a:lnTo>
                  <a:pt x="111463" y="7628"/>
                </a:lnTo>
                <a:lnTo>
                  <a:pt x="67229" y="29023"/>
                </a:lnTo>
                <a:lnTo>
                  <a:pt x="31893" y="61947"/>
                </a:lnTo>
                <a:lnTo>
                  <a:pt x="8476" y="104160"/>
                </a:lnTo>
                <a:lnTo>
                  <a:pt x="0" y="153426"/>
                </a:lnTo>
                <a:lnTo>
                  <a:pt x="4512" y="886388"/>
                </a:lnTo>
                <a:lnTo>
                  <a:pt x="12520" y="936411"/>
                </a:lnTo>
                <a:lnTo>
                  <a:pt x="34817" y="980428"/>
                </a:lnTo>
                <a:lnTo>
                  <a:pt x="68817" y="1015504"/>
                </a:lnTo>
                <a:lnTo>
                  <a:pt x="111933" y="1038703"/>
                </a:lnTo>
                <a:lnTo>
                  <a:pt x="161576" y="1047088"/>
                </a:lnTo>
                <a:lnTo>
                  <a:pt x="5831215" y="1047088"/>
                </a:lnTo>
                <a:lnTo>
                  <a:pt x="5880969" y="1038703"/>
                </a:lnTo>
                <a:lnTo>
                  <a:pt x="5924349" y="1015504"/>
                </a:lnTo>
                <a:lnTo>
                  <a:pt x="5958665" y="980428"/>
                </a:lnTo>
                <a:lnTo>
                  <a:pt x="5981227" y="936411"/>
                </a:lnTo>
                <a:lnTo>
                  <a:pt x="5989346" y="886388"/>
                </a:lnTo>
                <a:lnTo>
                  <a:pt x="5989346" y="153426"/>
                </a:lnTo>
                <a:lnTo>
                  <a:pt x="5981227" y="104160"/>
                </a:lnTo>
                <a:lnTo>
                  <a:pt x="5958665" y="61947"/>
                </a:lnTo>
                <a:lnTo>
                  <a:pt x="5924349" y="29023"/>
                </a:lnTo>
                <a:lnTo>
                  <a:pt x="5880969" y="7628"/>
                </a:lnTo>
                <a:lnTo>
                  <a:pt x="5831215" y="0"/>
                </a:lnTo>
                <a:close/>
              </a:path>
            </a:pathLst>
          </a:custGeom>
          <a:solidFill>
            <a:srgbClr val="8087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649159" y="2434413"/>
            <a:ext cx="1025142" cy="331003"/>
          </a:xfrm>
          <a:prstGeom prst="rect">
            <a:avLst/>
          </a:prstGeom>
        </p:spPr>
        <p:txBody>
          <a:bodyPr vert="horz" wrap="square" lIns="0" tIns="7762" rIns="0" bIns="0" rtlCol="0">
            <a:spAutoFit/>
          </a:bodyPr>
          <a:lstStyle/>
          <a:p>
            <a:pPr marL="6468">
              <a:spcBef>
                <a:spcPts val="61"/>
              </a:spcBef>
            </a:pPr>
            <a:r>
              <a:rPr sz="2100" spc="-46" dirty="0">
                <a:solidFill>
                  <a:srgbClr val="535353"/>
                </a:solidFill>
                <a:latin typeface="Gill Sans MT"/>
                <a:cs typeface="Gill Sans MT"/>
              </a:rPr>
              <a:t>“</a:t>
            </a:r>
            <a:r>
              <a:rPr sz="2100" spc="-76" dirty="0">
                <a:solidFill>
                  <a:srgbClr val="535353"/>
                </a:solidFill>
                <a:latin typeface="Gill Sans MT"/>
                <a:cs typeface="Gill Sans MT"/>
              </a:rPr>
              <a:t>C</a:t>
            </a:r>
            <a:r>
              <a:rPr sz="2100" dirty="0">
                <a:solidFill>
                  <a:srgbClr val="535353"/>
                </a:solidFill>
                <a:latin typeface="Gill Sans MT"/>
                <a:cs typeface="Gill Sans MT"/>
              </a:rPr>
              <a:t>a</a:t>
            </a:r>
            <a:r>
              <a:rPr sz="2100" spc="-51" dirty="0">
                <a:solidFill>
                  <a:srgbClr val="535353"/>
                </a:solidFill>
                <a:latin typeface="Gill Sans MT"/>
                <a:cs typeface="Gill Sans MT"/>
              </a:rPr>
              <a:t>rlos”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20757" y="2434413"/>
            <a:ext cx="919119" cy="331003"/>
          </a:xfrm>
          <a:prstGeom prst="rect">
            <a:avLst/>
          </a:prstGeom>
        </p:spPr>
        <p:txBody>
          <a:bodyPr vert="horz" wrap="square" lIns="0" tIns="7762" rIns="0" bIns="0" rtlCol="0">
            <a:spAutoFit/>
          </a:bodyPr>
          <a:lstStyle/>
          <a:p>
            <a:pPr marL="6468">
              <a:spcBef>
                <a:spcPts val="61"/>
              </a:spcBef>
            </a:pPr>
            <a:r>
              <a:rPr sz="2100" spc="3" dirty="0">
                <a:solidFill>
                  <a:srgbClr val="535353"/>
                </a:solidFill>
                <a:latin typeface="Gill Sans MT"/>
                <a:cs typeface="Gill Sans MT"/>
              </a:rPr>
              <a:t>185664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86200" y="3775120"/>
            <a:ext cx="5084037" cy="2016080"/>
          </a:xfrm>
          <a:prstGeom prst="rect">
            <a:avLst/>
          </a:prstGeom>
        </p:spPr>
        <p:txBody>
          <a:bodyPr vert="horz" wrap="square" lIns="0" tIns="7762" rIns="0" bIns="0" rtlCol="0">
            <a:spAutoFit/>
          </a:bodyPr>
          <a:lstStyle/>
          <a:p>
            <a:pPr marL="6468" indent="1509333">
              <a:spcBef>
                <a:spcPts val="61"/>
              </a:spcBef>
            </a:pPr>
            <a:r>
              <a:rPr sz="2100" spc="-23" dirty="0">
                <a:solidFill>
                  <a:srgbClr val="FFFFFF"/>
                </a:solidFill>
                <a:latin typeface="Gill Sans MT"/>
                <a:cs typeface="Gill Sans MT"/>
              </a:rPr>
              <a:t>Hash</a:t>
            </a:r>
            <a:r>
              <a:rPr sz="2100" spc="-31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2100" spc="-33" dirty="0">
                <a:solidFill>
                  <a:srgbClr val="FFFFFF"/>
                </a:solidFill>
                <a:latin typeface="Gill Sans MT"/>
                <a:cs typeface="Gill Sans MT"/>
              </a:rPr>
              <a:t>function</a:t>
            </a:r>
            <a:endParaRPr sz="21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6468">
              <a:spcBef>
                <a:spcPts val="1500"/>
              </a:spcBef>
            </a:pPr>
            <a:r>
              <a:rPr sz="2100" spc="3" dirty="0">
                <a:solidFill>
                  <a:srgbClr val="535353"/>
                </a:solidFill>
                <a:latin typeface="Gill Sans MT"/>
                <a:cs typeface="Gill Sans MT"/>
              </a:rPr>
              <a:t>1773456738847666528349</a:t>
            </a:r>
            <a:endParaRPr sz="2100">
              <a:latin typeface="Gill Sans MT"/>
              <a:cs typeface="Gill Sans MT"/>
            </a:endParaRPr>
          </a:p>
          <a:p>
            <a:pPr>
              <a:spcBef>
                <a:spcPts val="3"/>
              </a:spcBef>
            </a:pPr>
            <a:endParaRPr sz="3100">
              <a:latin typeface="Times New Roman"/>
              <a:cs typeface="Times New Roman"/>
            </a:endParaRPr>
          </a:p>
          <a:p>
            <a:pPr marL="1607002">
              <a:spcBef>
                <a:spcPts val="3"/>
              </a:spcBef>
            </a:pPr>
            <a:r>
              <a:rPr sz="2100" dirty="0">
                <a:solidFill>
                  <a:srgbClr val="535353"/>
                </a:solidFill>
                <a:latin typeface="Gill Sans MT"/>
                <a:cs typeface="Gill Sans MT"/>
              </a:rPr>
              <a:t>-894763734895827651234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18292" y="2932105"/>
            <a:ext cx="45719" cy="731238"/>
          </a:xfrm>
          <a:custGeom>
            <a:avLst/>
            <a:gdLst/>
            <a:ahLst/>
            <a:cxnLst/>
            <a:rect l="l" t="t" r="r" b="b"/>
            <a:pathLst>
              <a:path w="6984" h="1205864">
                <a:moveTo>
                  <a:pt x="3273" y="-10470"/>
                </a:moveTo>
                <a:lnTo>
                  <a:pt x="3273" y="1215835"/>
                </a:lnTo>
              </a:path>
            </a:pathLst>
          </a:custGeom>
          <a:ln w="27489">
            <a:solidFill>
              <a:srgbClr val="5A5F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25791" y="3656524"/>
            <a:ext cx="58130" cy="61225"/>
          </a:xfrm>
          <a:custGeom>
            <a:avLst/>
            <a:gdLst/>
            <a:ahLst/>
            <a:cxnLst/>
            <a:rect l="l" t="t" r="r" b="b"/>
            <a:pathLst>
              <a:path w="100965" h="100964">
                <a:moveTo>
                  <a:pt x="0" y="0"/>
                </a:moveTo>
                <a:lnTo>
                  <a:pt x="49715" y="100791"/>
                </a:lnTo>
                <a:lnTo>
                  <a:pt x="100520" y="545"/>
                </a:lnTo>
                <a:lnTo>
                  <a:pt x="0" y="0"/>
                </a:lnTo>
                <a:close/>
              </a:path>
            </a:pathLst>
          </a:custGeom>
          <a:solidFill>
            <a:srgbClr val="5A5F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634183" y="2932105"/>
            <a:ext cx="45719" cy="731238"/>
          </a:xfrm>
          <a:custGeom>
            <a:avLst/>
            <a:gdLst/>
            <a:ahLst/>
            <a:cxnLst/>
            <a:rect l="l" t="t" r="r" b="b"/>
            <a:pathLst>
              <a:path w="6984" h="1205864">
                <a:moveTo>
                  <a:pt x="3273" y="-10470"/>
                </a:moveTo>
                <a:lnTo>
                  <a:pt x="3273" y="1215835"/>
                </a:lnTo>
              </a:path>
            </a:pathLst>
          </a:custGeom>
          <a:ln w="27489">
            <a:solidFill>
              <a:srgbClr val="5A5F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41682" y="3656524"/>
            <a:ext cx="58130" cy="61225"/>
          </a:xfrm>
          <a:custGeom>
            <a:avLst/>
            <a:gdLst/>
            <a:ahLst/>
            <a:cxnLst/>
            <a:rect l="l" t="t" r="r" b="b"/>
            <a:pathLst>
              <a:path w="100965" h="100964">
                <a:moveTo>
                  <a:pt x="0" y="0"/>
                </a:moveTo>
                <a:lnTo>
                  <a:pt x="49715" y="100791"/>
                </a:lnTo>
                <a:lnTo>
                  <a:pt x="100520" y="545"/>
                </a:lnTo>
                <a:lnTo>
                  <a:pt x="0" y="0"/>
                </a:lnTo>
                <a:close/>
              </a:path>
            </a:pathLst>
          </a:custGeom>
          <a:solidFill>
            <a:srgbClr val="5A5F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 flipH="1">
            <a:off x="6262685" y="4276571"/>
            <a:ext cx="45719" cy="406628"/>
          </a:xfrm>
          <a:custGeom>
            <a:avLst/>
            <a:gdLst/>
            <a:ahLst/>
            <a:cxnLst/>
            <a:rect l="l" t="t" r="r" b="b"/>
            <a:pathLst>
              <a:path h="670559">
                <a:moveTo>
                  <a:pt x="0" y="0"/>
                </a:moveTo>
                <a:lnTo>
                  <a:pt x="0" y="670136"/>
                </a:lnTo>
              </a:path>
            </a:pathLst>
          </a:custGeom>
          <a:ln w="20941">
            <a:solidFill>
              <a:srgbClr val="5A5F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27619" y="4676594"/>
            <a:ext cx="58130" cy="61225"/>
          </a:xfrm>
          <a:custGeom>
            <a:avLst/>
            <a:gdLst/>
            <a:ahLst/>
            <a:cxnLst/>
            <a:rect l="l" t="t" r="r" b="b"/>
            <a:pathLst>
              <a:path w="100965" h="100965">
                <a:moveTo>
                  <a:pt x="100520" y="0"/>
                </a:moveTo>
                <a:lnTo>
                  <a:pt x="0" y="0"/>
                </a:lnTo>
                <a:lnTo>
                  <a:pt x="50260" y="100520"/>
                </a:lnTo>
                <a:lnTo>
                  <a:pt x="100520" y="0"/>
                </a:lnTo>
                <a:close/>
              </a:path>
            </a:pathLst>
          </a:custGeom>
          <a:solidFill>
            <a:srgbClr val="5A5F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 flipH="1">
            <a:off x="7681911" y="4270222"/>
            <a:ext cx="45719" cy="1327318"/>
          </a:xfrm>
          <a:custGeom>
            <a:avLst/>
            <a:gdLst/>
            <a:ahLst/>
            <a:cxnLst/>
            <a:rect l="l" t="t" r="r" b="b"/>
            <a:pathLst>
              <a:path h="2188845">
                <a:moveTo>
                  <a:pt x="0" y="0"/>
                </a:moveTo>
                <a:lnTo>
                  <a:pt x="0" y="2188415"/>
                </a:lnTo>
              </a:path>
            </a:pathLst>
          </a:custGeom>
          <a:ln w="20941">
            <a:solidFill>
              <a:srgbClr val="5A5F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646844" y="5590929"/>
            <a:ext cx="58130" cy="61225"/>
          </a:xfrm>
          <a:custGeom>
            <a:avLst/>
            <a:gdLst/>
            <a:ahLst/>
            <a:cxnLst/>
            <a:rect l="l" t="t" r="r" b="b"/>
            <a:pathLst>
              <a:path w="100965" h="100965">
                <a:moveTo>
                  <a:pt x="100520" y="0"/>
                </a:moveTo>
                <a:lnTo>
                  <a:pt x="0" y="0"/>
                </a:lnTo>
                <a:lnTo>
                  <a:pt x="50260" y="100520"/>
                </a:lnTo>
                <a:lnTo>
                  <a:pt x="100520" y="0"/>
                </a:lnTo>
                <a:close/>
              </a:path>
            </a:pathLst>
          </a:custGeom>
          <a:solidFill>
            <a:srgbClr val="5A5F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3390" y="602948"/>
            <a:ext cx="6856210" cy="652536"/>
          </a:xfrm>
          <a:prstGeom prst="rect">
            <a:avLst/>
          </a:prstGeom>
        </p:spPr>
        <p:txBody>
          <a:bodyPr vert="horz" wrap="square" lIns="0" tIns="6145" rIns="0" bIns="0" rtlCol="0">
            <a:spAutoFit/>
          </a:bodyPr>
          <a:lstStyle/>
          <a:p>
            <a:pPr marL="6468">
              <a:spcBef>
                <a:spcPts val="48"/>
              </a:spcBef>
              <a:tabLst>
                <a:tab pos="3261221" algn="l"/>
              </a:tabLst>
            </a:pPr>
            <a:r>
              <a:rPr sz="4200" spc="-64" dirty="0"/>
              <a:t>CONSISTENT</a:t>
            </a:r>
            <a:r>
              <a:rPr lang="en-US" sz="4200" spc="-64" dirty="0"/>
              <a:t> </a:t>
            </a:r>
            <a:r>
              <a:rPr sz="4200" spc="-53" dirty="0"/>
              <a:t>HASHING</a:t>
            </a:r>
            <a:endParaRPr sz="4200" dirty="0"/>
          </a:p>
        </p:txBody>
      </p:sp>
      <p:sp>
        <p:nvSpPr>
          <p:cNvPr id="4" name="object 4"/>
          <p:cNvSpPr txBox="1"/>
          <p:nvPr/>
        </p:nvSpPr>
        <p:spPr>
          <a:xfrm>
            <a:off x="265686" y="3177294"/>
            <a:ext cx="4280871" cy="1910094"/>
          </a:xfrm>
          <a:prstGeom prst="rect">
            <a:avLst/>
          </a:prstGeom>
        </p:spPr>
        <p:txBody>
          <a:bodyPr vert="horz" wrap="square" lIns="0" tIns="32341" rIns="0" bIns="0" rtlCol="0">
            <a:spAutoFit/>
          </a:bodyPr>
          <a:lstStyle/>
          <a:p>
            <a:pPr marL="251609" marR="2587" indent="-245141">
              <a:lnSpc>
                <a:spcPts val="2475"/>
              </a:lnSpc>
              <a:spcBef>
                <a:spcPts val="255"/>
              </a:spcBef>
              <a:buSzPct val="82352"/>
              <a:buChar char="•"/>
              <a:tabLst>
                <a:tab pos="251609" algn="l"/>
                <a:tab pos="251933" algn="l"/>
              </a:tabLst>
            </a:pPr>
            <a:r>
              <a:rPr sz="2200" spc="-15" dirty="0">
                <a:solidFill>
                  <a:srgbClr val="535353"/>
                </a:solidFill>
                <a:latin typeface="Gill Sans MT"/>
                <a:cs typeface="Gill Sans MT"/>
              </a:rPr>
              <a:t>Data </a:t>
            </a:r>
            <a:r>
              <a:rPr sz="2200" spc="-64" dirty="0">
                <a:solidFill>
                  <a:srgbClr val="535353"/>
                </a:solidFill>
                <a:latin typeface="Gill Sans MT"/>
                <a:cs typeface="Gill Sans MT"/>
              </a:rPr>
              <a:t>is </a:t>
            </a:r>
            <a:r>
              <a:rPr sz="2200" spc="-43" dirty="0">
                <a:solidFill>
                  <a:srgbClr val="535353"/>
                </a:solidFill>
                <a:latin typeface="Gill Sans MT"/>
                <a:cs typeface="Gill Sans MT"/>
              </a:rPr>
              <a:t>stored </a:t>
            </a:r>
            <a:r>
              <a:rPr sz="2200" spc="-38" dirty="0">
                <a:solidFill>
                  <a:srgbClr val="535353"/>
                </a:solidFill>
                <a:latin typeface="Gill Sans MT"/>
                <a:cs typeface="Gill Sans MT"/>
              </a:rPr>
              <a:t>in </a:t>
            </a:r>
            <a:r>
              <a:rPr sz="2200" spc="-33" dirty="0">
                <a:solidFill>
                  <a:srgbClr val="535353"/>
                </a:solidFill>
                <a:latin typeface="Gill Sans MT"/>
                <a:cs typeface="Gill Sans MT"/>
              </a:rPr>
              <a:t>partitions, </a:t>
            </a:r>
            <a:r>
              <a:rPr sz="2200" spc="-15" dirty="0">
                <a:solidFill>
                  <a:srgbClr val="535353"/>
                </a:solidFill>
                <a:latin typeface="Gill Sans MT"/>
                <a:cs typeface="Gill Sans MT"/>
              </a:rPr>
              <a:t>identified </a:t>
            </a:r>
            <a:r>
              <a:rPr sz="2200" spc="-23" dirty="0">
                <a:solidFill>
                  <a:srgbClr val="535353"/>
                </a:solidFill>
                <a:latin typeface="Gill Sans MT"/>
                <a:cs typeface="Gill Sans MT"/>
              </a:rPr>
              <a:t>by </a:t>
            </a:r>
            <a:r>
              <a:rPr sz="2200" spc="5" dirty="0">
                <a:solidFill>
                  <a:srgbClr val="535353"/>
                </a:solidFill>
                <a:latin typeface="Gill Sans MT"/>
                <a:cs typeface="Gill Sans MT"/>
              </a:rPr>
              <a:t>a  </a:t>
            </a:r>
            <a:r>
              <a:rPr sz="2200" spc="-13" dirty="0">
                <a:solidFill>
                  <a:srgbClr val="535353"/>
                </a:solidFill>
                <a:latin typeface="Gill Sans MT"/>
                <a:cs typeface="Gill Sans MT"/>
              </a:rPr>
              <a:t>unique </a:t>
            </a:r>
            <a:r>
              <a:rPr sz="2200" spc="-43" dirty="0">
                <a:solidFill>
                  <a:srgbClr val="535353"/>
                </a:solidFill>
                <a:latin typeface="Gill Sans MT"/>
                <a:cs typeface="Gill Sans MT"/>
              </a:rPr>
              <a:t>token </a:t>
            </a:r>
            <a:r>
              <a:rPr sz="2200" spc="-41" dirty="0">
                <a:solidFill>
                  <a:srgbClr val="535353"/>
                </a:solidFill>
                <a:latin typeface="Gill Sans MT"/>
                <a:cs typeface="Gill Sans MT"/>
              </a:rPr>
              <a:t>within </a:t>
            </a:r>
            <a:r>
              <a:rPr sz="2200" spc="-23" dirty="0">
                <a:solidFill>
                  <a:srgbClr val="535353"/>
                </a:solidFill>
                <a:latin typeface="Gill Sans MT"/>
                <a:cs typeface="Gill Sans MT"/>
              </a:rPr>
              <a:t>the</a:t>
            </a:r>
            <a:r>
              <a:rPr sz="2200" spc="102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200" spc="-15" dirty="0">
                <a:solidFill>
                  <a:srgbClr val="535353"/>
                </a:solidFill>
                <a:latin typeface="Gill Sans MT"/>
                <a:cs typeface="Gill Sans MT"/>
              </a:rPr>
              <a:t>range</a:t>
            </a:r>
            <a:endParaRPr sz="2200">
              <a:latin typeface="Gill Sans MT"/>
              <a:cs typeface="Gill Sans MT"/>
            </a:endParaRPr>
          </a:p>
          <a:p>
            <a:pPr marL="251609">
              <a:lnSpc>
                <a:spcPts val="2414"/>
              </a:lnSpc>
            </a:pPr>
            <a:r>
              <a:rPr sz="2200" spc="71" dirty="0">
                <a:solidFill>
                  <a:srgbClr val="535353"/>
                </a:solidFill>
                <a:latin typeface="Gill Sans MT"/>
                <a:cs typeface="Gill Sans MT"/>
              </a:rPr>
              <a:t>(-2^63 </a:t>
            </a:r>
            <a:r>
              <a:rPr sz="2200" spc="-18" dirty="0">
                <a:solidFill>
                  <a:srgbClr val="535353"/>
                </a:solidFill>
                <a:latin typeface="Gill Sans MT"/>
                <a:cs typeface="Gill Sans MT"/>
              </a:rPr>
              <a:t>-</a:t>
            </a:r>
            <a:r>
              <a:rPr sz="2200" spc="-89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200" spc="92" dirty="0">
                <a:solidFill>
                  <a:srgbClr val="535353"/>
                </a:solidFill>
                <a:latin typeface="Gill Sans MT"/>
                <a:cs typeface="Gill Sans MT"/>
              </a:rPr>
              <a:t>2^63)</a:t>
            </a:r>
            <a:endParaRPr sz="2200">
              <a:latin typeface="Gill Sans MT"/>
              <a:cs typeface="Gill Sans MT"/>
            </a:endParaRPr>
          </a:p>
          <a:p>
            <a:pPr marL="251609" indent="-245141">
              <a:spcBef>
                <a:spcPts val="2103"/>
              </a:spcBef>
              <a:buSzPct val="82352"/>
              <a:buChar char="•"/>
              <a:tabLst>
                <a:tab pos="251609" algn="l"/>
                <a:tab pos="251933" algn="l"/>
              </a:tabLst>
            </a:pPr>
            <a:r>
              <a:rPr sz="2200" spc="-13" dirty="0">
                <a:solidFill>
                  <a:srgbClr val="535353"/>
                </a:solidFill>
                <a:latin typeface="Gill Sans MT"/>
                <a:cs typeface="Gill Sans MT"/>
              </a:rPr>
              <a:t>Nodes </a:t>
            </a:r>
            <a:r>
              <a:rPr sz="2200" spc="-28" dirty="0">
                <a:solidFill>
                  <a:srgbClr val="535353"/>
                </a:solidFill>
                <a:latin typeface="Gill Sans MT"/>
                <a:cs typeface="Gill Sans MT"/>
              </a:rPr>
              <a:t>contain </a:t>
            </a:r>
            <a:r>
              <a:rPr sz="2200" spc="-23" dirty="0">
                <a:solidFill>
                  <a:srgbClr val="535353"/>
                </a:solidFill>
                <a:latin typeface="Gill Sans MT"/>
                <a:cs typeface="Gill Sans MT"/>
              </a:rPr>
              <a:t>partition</a:t>
            </a:r>
            <a:r>
              <a:rPr sz="2200" spc="28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200" spc="-33" dirty="0">
                <a:solidFill>
                  <a:srgbClr val="535353"/>
                </a:solidFill>
                <a:latin typeface="Gill Sans MT"/>
                <a:cs typeface="Gill Sans MT"/>
              </a:rPr>
              <a:t>ranges.</a:t>
            </a:r>
            <a:endParaRPr sz="2200">
              <a:latin typeface="Gill Sans MT"/>
              <a:cs typeface="Gill Sans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38651" y="1790574"/>
            <a:ext cx="4400549" cy="46859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6DB97-A0C4-0149-92B6-B9440A1ED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Storing Data Using a Partition Key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72B3B5-4C31-3D41-B654-7FDF72B10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28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636532-1340-A44D-A712-8BB5593597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550458"/>
              </p:ext>
            </p:extLst>
          </p:nvPr>
        </p:nvGraphicFramePr>
        <p:xfrm>
          <a:off x="1003747" y="2209800"/>
          <a:ext cx="3467100" cy="1219200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733550">
                  <a:extLst>
                    <a:ext uri="{9D8B030D-6E8A-4147-A177-3AD203B41FA5}">
                      <a16:colId xmlns:a16="http://schemas.microsoft.com/office/drawing/2014/main" val="1235916655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35398864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COUNTRY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POPULATION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1795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UNITED STATES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4,000,000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2762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UNITED STATES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8,000,000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9991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CANADA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2,000,000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4276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MEXICO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350,000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4197406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4FDAFC1C-EA68-D648-94DD-13E450150218}"/>
              </a:ext>
            </a:extLst>
          </p:cNvPr>
          <p:cNvSpPr/>
          <p:nvPr/>
        </p:nvSpPr>
        <p:spPr>
          <a:xfrm>
            <a:off x="3421984" y="3886200"/>
            <a:ext cx="3124200" cy="8382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934B5B-3AF3-D746-8D63-4CAB06123EC4}"/>
              </a:ext>
            </a:extLst>
          </p:cNvPr>
          <p:cNvSpPr/>
          <p:nvPr/>
        </p:nvSpPr>
        <p:spPr>
          <a:xfrm>
            <a:off x="3421984" y="4800600"/>
            <a:ext cx="3124200" cy="8382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E4758F-4816-DE47-AED1-BB65BF9FC2B5}"/>
              </a:ext>
            </a:extLst>
          </p:cNvPr>
          <p:cNvSpPr/>
          <p:nvPr/>
        </p:nvSpPr>
        <p:spPr>
          <a:xfrm>
            <a:off x="3421984" y="5715000"/>
            <a:ext cx="3124200" cy="8382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BEDB87A-8D8D-9448-AB4F-A195F27F0B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091883"/>
              </p:ext>
            </p:extLst>
          </p:nvPr>
        </p:nvGraphicFramePr>
        <p:xfrm>
          <a:off x="3602959" y="6012180"/>
          <a:ext cx="2781300" cy="2438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785298">
                  <a:extLst>
                    <a:ext uri="{9D8B030D-6E8A-4147-A177-3AD203B41FA5}">
                      <a16:colId xmlns:a16="http://schemas.microsoft.com/office/drawing/2014/main" val="1235916655"/>
                    </a:ext>
                  </a:extLst>
                </a:gridCol>
                <a:gridCol w="996002">
                  <a:extLst>
                    <a:ext uri="{9D8B030D-6E8A-4147-A177-3AD203B41FA5}">
                      <a16:colId xmlns:a16="http://schemas.microsoft.com/office/drawing/2014/main" val="35398864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MEXICO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350,000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419740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CD0C87D-97E3-AB4A-8C8D-BB55604AF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652925"/>
              </p:ext>
            </p:extLst>
          </p:nvPr>
        </p:nvGraphicFramePr>
        <p:xfrm>
          <a:off x="3583909" y="4072217"/>
          <a:ext cx="2800350" cy="4876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733550">
                  <a:extLst>
                    <a:ext uri="{9D8B030D-6E8A-4147-A177-3AD203B41FA5}">
                      <a16:colId xmlns:a16="http://schemas.microsoft.com/office/drawing/2014/main" val="1235916655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5398864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UNITED STATES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4,000,000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2762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UNITED STATES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8,000,000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9991207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44ACC34-7068-4C4B-9BF7-88D80FD06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517980"/>
              </p:ext>
            </p:extLst>
          </p:nvPr>
        </p:nvGraphicFramePr>
        <p:xfrm>
          <a:off x="3574384" y="5058335"/>
          <a:ext cx="2895600" cy="2438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829858">
                  <a:extLst>
                    <a:ext uri="{9D8B030D-6E8A-4147-A177-3AD203B41FA5}">
                      <a16:colId xmlns:a16="http://schemas.microsoft.com/office/drawing/2014/main" val="1235916655"/>
                    </a:ext>
                  </a:extLst>
                </a:gridCol>
                <a:gridCol w="1065742">
                  <a:extLst>
                    <a:ext uri="{9D8B030D-6E8A-4147-A177-3AD203B41FA5}">
                      <a16:colId xmlns:a16="http://schemas.microsoft.com/office/drawing/2014/main" val="3539886440"/>
                    </a:ext>
                  </a:extLst>
                </a:gridCol>
              </a:tblGrid>
              <a:tr h="2002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CANADA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2,000,000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4276555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6156AC7A-AE69-BA40-9BF4-47CCE9D6DFC5}"/>
              </a:ext>
            </a:extLst>
          </p:cNvPr>
          <p:cNvSpPr/>
          <p:nvPr/>
        </p:nvSpPr>
        <p:spPr>
          <a:xfrm>
            <a:off x="990600" y="4191000"/>
            <a:ext cx="1746698" cy="19722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PARTITIONER</a:t>
            </a:r>
          </a:p>
          <a:p>
            <a:pPr algn="ctr"/>
            <a:endParaRPr lang="en-US" sz="800" dirty="0"/>
          </a:p>
          <a:p>
            <a:pPr algn="ctr"/>
            <a:r>
              <a:rPr lang="en-US" sz="1600" dirty="0"/>
              <a:t>Uses the hash of a partition key to decide to which node a record will be written</a:t>
            </a:r>
            <a:endParaRPr lang="en-US" sz="2000" dirty="0"/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A8191CE4-8F08-A944-8628-D9D86DEEA2E2}"/>
              </a:ext>
            </a:extLst>
          </p:cNvPr>
          <p:cNvCxnSpPr>
            <a:cxnSpLocks/>
            <a:stCxn id="5" idx="1"/>
            <a:endCxn id="18" idx="1"/>
          </p:cNvCxnSpPr>
          <p:nvPr/>
        </p:nvCxnSpPr>
        <p:spPr>
          <a:xfrm rot="10800000" flipV="1">
            <a:off x="990601" y="2819400"/>
            <a:ext cx="13147" cy="2357718"/>
          </a:xfrm>
          <a:prstGeom prst="bentConnector3">
            <a:avLst>
              <a:gd name="adj1" fmla="val 1838800"/>
            </a:avLst>
          </a:prstGeom>
          <a:ln w="34925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2E572F63-3A9E-194F-AA1C-F721CB95F6CA}"/>
              </a:ext>
            </a:extLst>
          </p:cNvPr>
          <p:cNvCxnSpPr>
            <a:cxnSpLocks/>
            <a:stCxn id="18" idx="3"/>
            <a:endCxn id="11" idx="1"/>
          </p:cNvCxnSpPr>
          <p:nvPr/>
        </p:nvCxnSpPr>
        <p:spPr>
          <a:xfrm flipV="1">
            <a:off x="2737298" y="4305300"/>
            <a:ext cx="684686" cy="871818"/>
          </a:xfrm>
          <a:prstGeom prst="bentConnector3">
            <a:avLst>
              <a:gd name="adj1" fmla="val 50000"/>
            </a:avLst>
          </a:prstGeom>
          <a:ln w="34925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D2EFF5D3-48A0-2D41-8546-9D5B91B81037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>
            <a:off x="2737298" y="5177118"/>
            <a:ext cx="684686" cy="42582"/>
          </a:xfrm>
          <a:prstGeom prst="bentConnector3">
            <a:avLst>
              <a:gd name="adj1" fmla="val 50000"/>
            </a:avLst>
          </a:prstGeom>
          <a:ln w="34925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1EEBC664-45FA-F24D-8FDC-7C351150A4DF}"/>
              </a:ext>
            </a:extLst>
          </p:cNvPr>
          <p:cNvCxnSpPr>
            <a:cxnSpLocks/>
            <a:stCxn id="18" idx="3"/>
            <a:endCxn id="13" idx="1"/>
          </p:cNvCxnSpPr>
          <p:nvPr/>
        </p:nvCxnSpPr>
        <p:spPr>
          <a:xfrm>
            <a:off x="2737298" y="5177118"/>
            <a:ext cx="684686" cy="956982"/>
          </a:xfrm>
          <a:prstGeom prst="bentConnector3">
            <a:avLst>
              <a:gd name="adj1" fmla="val 50000"/>
            </a:avLst>
          </a:prstGeom>
          <a:ln w="34925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0F7C1DD-7315-164B-AAC3-EB0FE60F5C2A}"/>
              </a:ext>
            </a:extLst>
          </p:cNvPr>
          <p:cNvSpPr txBox="1"/>
          <p:nvPr/>
        </p:nvSpPr>
        <p:spPr>
          <a:xfrm>
            <a:off x="6680101" y="4131391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26270D-87A5-B74C-AF1F-8F71CA6F2BC0}"/>
              </a:ext>
            </a:extLst>
          </p:cNvPr>
          <p:cNvSpPr txBox="1"/>
          <p:nvPr/>
        </p:nvSpPr>
        <p:spPr>
          <a:xfrm>
            <a:off x="6721508" y="5108103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601FB2-F222-C547-8E58-2790118F64D6}"/>
              </a:ext>
            </a:extLst>
          </p:cNvPr>
          <p:cNvSpPr txBox="1"/>
          <p:nvPr/>
        </p:nvSpPr>
        <p:spPr>
          <a:xfrm>
            <a:off x="6698584" y="5934635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F1AC1F-8A54-B74F-AAF8-181038DADD2B}"/>
              </a:ext>
            </a:extLst>
          </p:cNvPr>
          <p:cNvSpPr txBox="1"/>
          <p:nvPr/>
        </p:nvSpPr>
        <p:spPr>
          <a:xfrm>
            <a:off x="-297664" y="1624074"/>
            <a:ext cx="4323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PRIMARY KEY      </a:t>
            </a:r>
          </a:p>
          <a:p>
            <a:pPr algn="ctr"/>
            <a:r>
              <a:rPr lang="en-US" sz="1600" dirty="0"/>
              <a:t> PARTITION KEY</a:t>
            </a:r>
            <a:endParaRPr lang="en-US" dirty="0"/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0BC03861-6660-F14C-B175-287C77DC783A}"/>
              </a:ext>
            </a:extLst>
          </p:cNvPr>
          <p:cNvSpPr/>
          <p:nvPr/>
        </p:nvSpPr>
        <p:spPr>
          <a:xfrm>
            <a:off x="5079394" y="1678552"/>
            <a:ext cx="3607405" cy="1828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r>
              <a:rPr lang="en-US" dirty="0"/>
              <a:t>z</a:t>
            </a:r>
            <a:endParaRPr dirty="0"/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CDBB4690-4EFB-E641-A037-2D0DB3088C87}"/>
              </a:ext>
            </a:extLst>
          </p:cNvPr>
          <p:cNvSpPr txBox="1"/>
          <p:nvPr/>
        </p:nvSpPr>
        <p:spPr>
          <a:xfrm>
            <a:off x="5210170" y="1726436"/>
            <a:ext cx="3397729" cy="1966471"/>
          </a:xfrm>
          <a:prstGeom prst="rect">
            <a:avLst/>
          </a:prstGeom>
        </p:spPr>
        <p:txBody>
          <a:bodyPr vert="horz" wrap="square" lIns="0" tIns="29753" rIns="0" bIns="0" rtlCol="0">
            <a:spAutoFit/>
          </a:bodyPr>
          <a:lstStyle/>
          <a:p>
            <a:pPr marL="154588" marR="2587" indent="-84085">
              <a:lnSpc>
                <a:spcPts val="2394"/>
              </a:lnSpc>
              <a:spcBef>
                <a:spcPts val="234"/>
              </a:spcBef>
            </a:pPr>
            <a:r>
              <a:rPr lang="en-US" sz="2000" spc="-71" dirty="0">
                <a:solidFill>
                  <a:srgbClr val="535353"/>
                </a:solidFill>
                <a:latin typeface="Gill Sans MT"/>
                <a:cs typeface="Gill Sans MT"/>
              </a:rPr>
              <a:t>CREATE </a:t>
            </a:r>
            <a:r>
              <a:rPr lang="en-US" sz="2000" spc="-76" dirty="0">
                <a:solidFill>
                  <a:srgbClr val="535353"/>
                </a:solidFill>
                <a:latin typeface="Gill Sans MT"/>
                <a:cs typeface="Gill Sans MT"/>
              </a:rPr>
              <a:t>TABLE </a:t>
            </a:r>
            <a:r>
              <a:rPr lang="en-US" sz="2000" spc="-38" dirty="0">
                <a:solidFill>
                  <a:srgbClr val="535353"/>
                </a:solidFill>
                <a:latin typeface="Gill Sans MT"/>
                <a:cs typeface="Gill Sans MT"/>
              </a:rPr>
              <a:t>info</a:t>
            </a:r>
            <a:r>
              <a:rPr lang="en-US" sz="2000" spc="-168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lang="en-US" sz="2000" spc="20" dirty="0">
                <a:solidFill>
                  <a:srgbClr val="535353"/>
                </a:solidFill>
                <a:latin typeface="Gill Sans MT"/>
                <a:cs typeface="Gill Sans MT"/>
              </a:rPr>
              <a:t>(  </a:t>
            </a:r>
          </a:p>
          <a:p>
            <a:pPr marL="154588" marR="2587" indent="-84085">
              <a:lnSpc>
                <a:spcPts val="2394"/>
              </a:lnSpc>
              <a:spcBef>
                <a:spcPts val="234"/>
              </a:spcBef>
            </a:pPr>
            <a:r>
              <a:rPr lang="en-US" sz="2000" spc="-31" dirty="0">
                <a:solidFill>
                  <a:srgbClr val="535353"/>
                </a:solidFill>
                <a:latin typeface="Gill Sans MT"/>
                <a:cs typeface="Gill Sans MT"/>
              </a:rPr>
              <a:t>      country </a:t>
            </a:r>
            <a:r>
              <a:rPr lang="en-US" sz="2000" spc="-51" dirty="0">
                <a:solidFill>
                  <a:srgbClr val="535353"/>
                </a:solidFill>
                <a:latin typeface="Gill Sans MT"/>
                <a:cs typeface="Gill Sans MT"/>
              </a:rPr>
              <a:t>VARCHAR,</a:t>
            </a:r>
            <a:endParaRPr lang="en-US" sz="2000" spc="-23" dirty="0">
              <a:solidFill>
                <a:srgbClr val="535353"/>
              </a:solidFill>
              <a:latin typeface="Gill Sans MT"/>
              <a:cs typeface="Gill Sans MT"/>
            </a:endParaRPr>
          </a:p>
          <a:p>
            <a:pPr marL="154588" marR="2587" indent="-84085">
              <a:lnSpc>
                <a:spcPts val="2394"/>
              </a:lnSpc>
              <a:spcBef>
                <a:spcPts val="234"/>
              </a:spcBef>
            </a:pPr>
            <a:r>
              <a:rPr lang="en-US" sz="2000" spc="-23" dirty="0">
                <a:solidFill>
                  <a:srgbClr val="535353"/>
                </a:solidFill>
                <a:latin typeface="Gill Sans MT"/>
                <a:cs typeface="Gill Sans MT"/>
              </a:rPr>
              <a:t>      population INT,</a:t>
            </a:r>
            <a:r>
              <a:rPr lang="en-US" sz="2000" spc="-311" dirty="0">
                <a:solidFill>
                  <a:srgbClr val="535353"/>
                </a:solidFill>
                <a:latin typeface="Gill Sans MT"/>
                <a:cs typeface="Gill Sans MT"/>
              </a:rPr>
              <a:t>   </a:t>
            </a:r>
          </a:p>
          <a:p>
            <a:pPr marL="154588" marR="2587" indent="-84085">
              <a:lnSpc>
                <a:spcPts val="2394"/>
              </a:lnSpc>
              <a:spcBef>
                <a:spcPts val="234"/>
              </a:spcBef>
            </a:pPr>
            <a:r>
              <a:rPr lang="en-US" sz="2000" spc="-311" dirty="0">
                <a:solidFill>
                  <a:srgbClr val="535353"/>
                </a:solidFill>
                <a:latin typeface="Gill Sans MT"/>
                <a:cs typeface="Gill Sans MT"/>
              </a:rPr>
              <a:t>           </a:t>
            </a:r>
            <a:r>
              <a:rPr lang="en-US" sz="2000" spc="-46" dirty="0">
                <a:solidFill>
                  <a:srgbClr val="535353"/>
                </a:solidFill>
                <a:latin typeface="Gill Sans MT"/>
                <a:cs typeface="Gill Sans MT"/>
              </a:rPr>
              <a:t>PRIMARY</a:t>
            </a:r>
            <a:r>
              <a:rPr lang="en-US" sz="2000" spc="-25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lang="en-US" sz="2000" spc="-48" dirty="0">
                <a:solidFill>
                  <a:srgbClr val="535353"/>
                </a:solidFill>
                <a:latin typeface="Gill Sans MT"/>
                <a:cs typeface="Gill Sans MT"/>
              </a:rPr>
              <a:t>KEY(</a:t>
            </a:r>
            <a:r>
              <a:rPr lang="en-US" sz="2000" spc="-48">
                <a:solidFill>
                  <a:srgbClr val="535353"/>
                </a:solidFill>
                <a:latin typeface="Gill Sans MT"/>
                <a:cs typeface="Gill Sans MT"/>
              </a:rPr>
              <a:t>country,)</a:t>
            </a:r>
            <a:endParaRPr lang="en-US" sz="2000" dirty="0">
              <a:latin typeface="Gill Sans MT"/>
              <a:cs typeface="Gill Sans MT"/>
            </a:endParaRPr>
          </a:p>
          <a:p>
            <a:pPr marL="6468">
              <a:lnSpc>
                <a:spcPts val="2333"/>
              </a:lnSpc>
            </a:pPr>
            <a:r>
              <a:rPr lang="en-US" sz="2400" spc="-46" dirty="0">
                <a:solidFill>
                  <a:srgbClr val="535353"/>
                </a:solidFill>
                <a:latin typeface="Gill Sans MT"/>
                <a:cs typeface="Gill Sans MT"/>
              </a:rPr>
              <a:t>);</a:t>
            </a:r>
            <a:endParaRPr lang="en-US" sz="2400" dirty="0">
              <a:latin typeface="Gill Sans MT"/>
              <a:cs typeface="Gill Sans MT"/>
            </a:endParaRPr>
          </a:p>
          <a:p>
            <a:pPr marL="154588" marR="2587" indent="-84085">
              <a:lnSpc>
                <a:spcPts val="2394"/>
              </a:lnSpc>
              <a:spcBef>
                <a:spcPts val="234"/>
              </a:spcBef>
            </a:pPr>
            <a:endParaRPr sz="2100" dirty="0">
              <a:latin typeface="Gill Sans MT"/>
              <a:cs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9979330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6DB97-A0C4-0149-92B6-B9440A1ED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Storing Data Using Partition and Sort/Cluster Keys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72B3B5-4C31-3D41-B654-7FDF72B10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29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636532-1340-A44D-A712-8BB5593597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863907"/>
              </p:ext>
            </p:extLst>
          </p:nvPr>
        </p:nvGraphicFramePr>
        <p:xfrm>
          <a:off x="782162" y="1969519"/>
          <a:ext cx="4604084" cy="1264920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653536">
                  <a:extLst>
                    <a:ext uri="{9D8B030D-6E8A-4147-A177-3AD203B41FA5}">
                      <a16:colId xmlns:a16="http://schemas.microsoft.com/office/drawing/2014/main" val="1235916655"/>
                    </a:ext>
                  </a:extLst>
                </a:gridCol>
                <a:gridCol w="1526702">
                  <a:extLst>
                    <a:ext uri="{9D8B030D-6E8A-4147-A177-3AD203B41FA5}">
                      <a16:colId xmlns:a16="http://schemas.microsoft.com/office/drawing/2014/main" val="1368475349"/>
                    </a:ext>
                  </a:extLst>
                </a:gridCol>
                <a:gridCol w="1423846">
                  <a:extLst>
                    <a:ext uri="{9D8B030D-6E8A-4147-A177-3AD203B41FA5}">
                      <a16:colId xmlns:a16="http://schemas.microsoft.com/office/drawing/2014/main" val="35398864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COUNTRY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STATE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POPULATION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1795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UNITED STATES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YORK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8,000,000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2762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UNITED STATES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ILLINOIS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4,000,000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9991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CANADA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ONTERIO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2,000,000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4276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CANADA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QUEBEC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1,000,000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5892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MEXICO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BAJA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350,000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4197406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4FDAFC1C-EA68-D648-94DD-13E450150218}"/>
              </a:ext>
            </a:extLst>
          </p:cNvPr>
          <p:cNvSpPr/>
          <p:nvPr/>
        </p:nvSpPr>
        <p:spPr>
          <a:xfrm>
            <a:off x="3200400" y="4038600"/>
            <a:ext cx="4604084" cy="8382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934B5B-3AF3-D746-8D63-4CAB06123EC4}"/>
              </a:ext>
            </a:extLst>
          </p:cNvPr>
          <p:cNvSpPr/>
          <p:nvPr/>
        </p:nvSpPr>
        <p:spPr>
          <a:xfrm>
            <a:off x="3200400" y="4953000"/>
            <a:ext cx="4604084" cy="8382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E4758F-4816-DE47-AED1-BB65BF9FC2B5}"/>
              </a:ext>
            </a:extLst>
          </p:cNvPr>
          <p:cNvSpPr/>
          <p:nvPr/>
        </p:nvSpPr>
        <p:spPr>
          <a:xfrm>
            <a:off x="3200400" y="5867400"/>
            <a:ext cx="4604084" cy="8382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56AC7A-AE69-BA40-9BF4-47CCE9D6DFC5}"/>
              </a:ext>
            </a:extLst>
          </p:cNvPr>
          <p:cNvSpPr/>
          <p:nvPr/>
        </p:nvSpPr>
        <p:spPr>
          <a:xfrm>
            <a:off x="769016" y="4191000"/>
            <a:ext cx="1746698" cy="19722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PARTITIONER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A8191CE4-8F08-A944-8628-D9D86DEEA2E2}"/>
              </a:ext>
            </a:extLst>
          </p:cNvPr>
          <p:cNvCxnSpPr>
            <a:cxnSpLocks/>
            <a:stCxn id="5" idx="1"/>
            <a:endCxn id="18" idx="1"/>
          </p:cNvCxnSpPr>
          <p:nvPr/>
        </p:nvCxnSpPr>
        <p:spPr>
          <a:xfrm rot="10800000" flipV="1">
            <a:off x="769016" y="2601978"/>
            <a:ext cx="13146" cy="2575139"/>
          </a:xfrm>
          <a:prstGeom prst="bentConnector3">
            <a:avLst>
              <a:gd name="adj1" fmla="val 1838932"/>
            </a:avLst>
          </a:prstGeom>
          <a:ln w="34925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2E572F63-3A9E-194F-AA1C-F721CB95F6CA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2515714" y="4457700"/>
            <a:ext cx="684686" cy="871818"/>
          </a:xfrm>
          <a:prstGeom prst="bentConnector3">
            <a:avLst>
              <a:gd name="adj1" fmla="val 50000"/>
            </a:avLst>
          </a:prstGeom>
          <a:ln w="34925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D2EFF5D3-48A0-2D41-8546-9D5B91B81037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515714" y="5329518"/>
            <a:ext cx="684686" cy="42582"/>
          </a:xfrm>
          <a:prstGeom prst="bentConnector3">
            <a:avLst>
              <a:gd name="adj1" fmla="val 50000"/>
            </a:avLst>
          </a:prstGeom>
          <a:ln w="34925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1EEBC664-45FA-F24D-8FDC-7C351150A4DF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515714" y="5329518"/>
            <a:ext cx="684686" cy="956982"/>
          </a:xfrm>
          <a:prstGeom prst="bentConnector3">
            <a:avLst>
              <a:gd name="adj1" fmla="val 50000"/>
            </a:avLst>
          </a:prstGeom>
          <a:ln w="34925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0F7C1DD-7315-164B-AAC3-EB0FE60F5C2A}"/>
              </a:ext>
            </a:extLst>
          </p:cNvPr>
          <p:cNvSpPr txBox="1"/>
          <p:nvPr/>
        </p:nvSpPr>
        <p:spPr>
          <a:xfrm>
            <a:off x="7830117" y="4283791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26270D-87A5-B74C-AF1F-8F71CA6F2BC0}"/>
              </a:ext>
            </a:extLst>
          </p:cNvPr>
          <p:cNvSpPr txBox="1"/>
          <p:nvPr/>
        </p:nvSpPr>
        <p:spPr>
          <a:xfrm>
            <a:off x="7871524" y="5260503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601FB2-F222-C547-8E58-2790118F64D6}"/>
              </a:ext>
            </a:extLst>
          </p:cNvPr>
          <p:cNvSpPr txBox="1"/>
          <p:nvPr/>
        </p:nvSpPr>
        <p:spPr>
          <a:xfrm>
            <a:off x="7848600" y="6087035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F1AC1F-8A54-B74F-AAF8-181038DADD2B}"/>
              </a:ext>
            </a:extLst>
          </p:cNvPr>
          <p:cNvSpPr txBox="1"/>
          <p:nvPr/>
        </p:nvSpPr>
        <p:spPr>
          <a:xfrm>
            <a:off x="646781" y="1371600"/>
            <a:ext cx="41406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                      </a:t>
            </a:r>
            <a:r>
              <a:rPr lang="en-US" sz="1600" b="1" dirty="0"/>
              <a:t>PRIMARY KEY</a:t>
            </a:r>
          </a:p>
          <a:p>
            <a:r>
              <a:rPr lang="en-US" sz="1600" dirty="0"/>
              <a:t> </a:t>
            </a:r>
            <a:r>
              <a:rPr lang="en-US" sz="1400" dirty="0"/>
              <a:t>PARTITION KEY    CLUSTER/SORT KEY            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81436A19-E6EC-4D43-BE3D-CDD0107D8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257439"/>
              </p:ext>
            </p:extLst>
          </p:nvPr>
        </p:nvGraphicFramePr>
        <p:xfrm>
          <a:off x="3352800" y="4221480"/>
          <a:ext cx="4219021" cy="426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591582">
                  <a:extLst>
                    <a:ext uri="{9D8B030D-6E8A-4147-A177-3AD203B41FA5}">
                      <a16:colId xmlns:a16="http://schemas.microsoft.com/office/drawing/2014/main" val="1235916655"/>
                    </a:ext>
                  </a:extLst>
                </a:gridCol>
                <a:gridCol w="1408238">
                  <a:extLst>
                    <a:ext uri="{9D8B030D-6E8A-4147-A177-3AD203B41FA5}">
                      <a16:colId xmlns:a16="http://schemas.microsoft.com/office/drawing/2014/main" val="1368475349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35398864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UNITED STATES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ILLINOIS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4,000,000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2762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UNITED STATES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NEW YORK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8,000,000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9991207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8820A5DB-A6F4-1E44-9984-928725B69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085923"/>
              </p:ext>
            </p:extLst>
          </p:nvPr>
        </p:nvGraphicFramePr>
        <p:xfrm>
          <a:off x="3352800" y="5135880"/>
          <a:ext cx="4219021" cy="426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591582">
                  <a:extLst>
                    <a:ext uri="{9D8B030D-6E8A-4147-A177-3AD203B41FA5}">
                      <a16:colId xmlns:a16="http://schemas.microsoft.com/office/drawing/2014/main" val="1235916655"/>
                    </a:ext>
                  </a:extLst>
                </a:gridCol>
                <a:gridCol w="1408238">
                  <a:extLst>
                    <a:ext uri="{9D8B030D-6E8A-4147-A177-3AD203B41FA5}">
                      <a16:colId xmlns:a16="http://schemas.microsoft.com/office/drawing/2014/main" val="1368475349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35398864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CANADA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ONTERIO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2,000,000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2762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CANADA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QUEBEC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1,000,000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9991207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C198193-8168-8240-8902-09BE3749A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634313"/>
              </p:ext>
            </p:extLst>
          </p:nvPr>
        </p:nvGraphicFramePr>
        <p:xfrm>
          <a:off x="3352800" y="6111240"/>
          <a:ext cx="4219021" cy="2133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591582">
                  <a:extLst>
                    <a:ext uri="{9D8B030D-6E8A-4147-A177-3AD203B41FA5}">
                      <a16:colId xmlns:a16="http://schemas.microsoft.com/office/drawing/2014/main" val="1235916655"/>
                    </a:ext>
                  </a:extLst>
                </a:gridCol>
                <a:gridCol w="1408238">
                  <a:extLst>
                    <a:ext uri="{9D8B030D-6E8A-4147-A177-3AD203B41FA5}">
                      <a16:colId xmlns:a16="http://schemas.microsoft.com/office/drawing/2014/main" val="1368475349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35398864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MEXICO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BAJA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350,000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2762913"/>
                  </a:ext>
                </a:extLst>
              </a:tr>
            </a:tbl>
          </a:graphicData>
        </a:graphic>
      </p:graphicFrame>
      <p:sp>
        <p:nvSpPr>
          <p:cNvPr id="21" name="object 3">
            <a:extLst>
              <a:ext uri="{FF2B5EF4-FFF2-40B4-BE49-F238E27FC236}">
                <a16:creationId xmlns:a16="http://schemas.microsoft.com/office/drawing/2014/main" id="{DF7C6EFE-90FE-944A-B71D-FE295B3EF293}"/>
              </a:ext>
            </a:extLst>
          </p:cNvPr>
          <p:cNvSpPr/>
          <p:nvPr/>
        </p:nvSpPr>
        <p:spPr>
          <a:xfrm>
            <a:off x="5335466" y="1295400"/>
            <a:ext cx="3579934" cy="20116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DFD66736-5DC7-294E-B9E6-E55E95C0FB34}"/>
              </a:ext>
            </a:extLst>
          </p:cNvPr>
          <p:cNvSpPr txBox="1"/>
          <p:nvPr/>
        </p:nvSpPr>
        <p:spPr>
          <a:xfrm>
            <a:off x="5411666" y="1327050"/>
            <a:ext cx="3415852" cy="1966471"/>
          </a:xfrm>
          <a:prstGeom prst="rect">
            <a:avLst/>
          </a:prstGeom>
        </p:spPr>
        <p:txBody>
          <a:bodyPr vert="horz" wrap="square" lIns="0" tIns="29753" rIns="0" bIns="0" rtlCol="0">
            <a:spAutoFit/>
          </a:bodyPr>
          <a:lstStyle/>
          <a:p>
            <a:pPr marL="154588" marR="2587" indent="-84085">
              <a:lnSpc>
                <a:spcPts val="2394"/>
              </a:lnSpc>
              <a:spcBef>
                <a:spcPts val="234"/>
              </a:spcBef>
            </a:pPr>
            <a:r>
              <a:rPr sz="2000" spc="-71" dirty="0">
                <a:solidFill>
                  <a:srgbClr val="535353"/>
                </a:solidFill>
                <a:latin typeface="Gill Sans MT"/>
                <a:cs typeface="Gill Sans MT"/>
              </a:rPr>
              <a:t>CREATE </a:t>
            </a:r>
            <a:r>
              <a:rPr sz="2000" spc="-76" dirty="0">
                <a:solidFill>
                  <a:srgbClr val="535353"/>
                </a:solidFill>
                <a:latin typeface="Gill Sans MT"/>
                <a:cs typeface="Gill Sans MT"/>
              </a:rPr>
              <a:t>TABLE </a:t>
            </a:r>
            <a:r>
              <a:rPr lang="en-US" sz="2000" spc="-38" dirty="0">
                <a:solidFill>
                  <a:srgbClr val="535353"/>
                </a:solidFill>
                <a:latin typeface="Gill Sans MT"/>
                <a:cs typeface="Gill Sans MT"/>
              </a:rPr>
              <a:t>info</a:t>
            </a:r>
            <a:r>
              <a:rPr sz="2000" spc="-168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000" spc="20" dirty="0">
                <a:solidFill>
                  <a:srgbClr val="535353"/>
                </a:solidFill>
                <a:latin typeface="Gill Sans MT"/>
                <a:cs typeface="Gill Sans MT"/>
              </a:rPr>
              <a:t>(  </a:t>
            </a:r>
            <a:endParaRPr lang="en-US" sz="2000" spc="20" dirty="0">
              <a:solidFill>
                <a:srgbClr val="535353"/>
              </a:solidFill>
              <a:latin typeface="Gill Sans MT"/>
              <a:cs typeface="Gill Sans MT"/>
            </a:endParaRPr>
          </a:p>
          <a:p>
            <a:pPr marL="154588" marR="2587" indent="-84085">
              <a:lnSpc>
                <a:spcPts val="2394"/>
              </a:lnSpc>
              <a:spcBef>
                <a:spcPts val="234"/>
              </a:spcBef>
            </a:pPr>
            <a:r>
              <a:rPr lang="en-US" sz="2000" spc="-31" dirty="0">
                <a:solidFill>
                  <a:srgbClr val="535353"/>
                </a:solidFill>
                <a:latin typeface="Gill Sans MT"/>
                <a:cs typeface="Gill Sans MT"/>
              </a:rPr>
              <a:t>      country </a:t>
            </a:r>
            <a:r>
              <a:rPr sz="2000" spc="-51" dirty="0">
                <a:solidFill>
                  <a:srgbClr val="535353"/>
                </a:solidFill>
                <a:latin typeface="Gill Sans MT"/>
                <a:cs typeface="Gill Sans MT"/>
              </a:rPr>
              <a:t>VARCHAR,</a:t>
            </a:r>
            <a:r>
              <a:rPr lang="en-US" sz="2000" spc="-23" dirty="0">
                <a:solidFill>
                  <a:srgbClr val="535353"/>
                </a:solidFill>
                <a:latin typeface="Gill Sans MT"/>
                <a:cs typeface="Gill Sans MT"/>
              </a:rPr>
              <a:t>,</a:t>
            </a:r>
          </a:p>
          <a:p>
            <a:pPr marL="154588" marR="2587" indent="-84085">
              <a:lnSpc>
                <a:spcPts val="2394"/>
              </a:lnSpc>
              <a:spcBef>
                <a:spcPts val="234"/>
              </a:spcBef>
            </a:pPr>
            <a:r>
              <a:rPr lang="en-US" sz="2000" spc="-23" dirty="0">
                <a:solidFill>
                  <a:srgbClr val="535353"/>
                </a:solidFill>
                <a:latin typeface="Gill Sans MT"/>
                <a:cs typeface="Gill Sans MT"/>
              </a:rPr>
              <a:t>       state VARCHAR,</a:t>
            </a:r>
          </a:p>
          <a:p>
            <a:pPr marL="154588" marR="2587" indent="-84085">
              <a:lnSpc>
                <a:spcPts val="2394"/>
              </a:lnSpc>
              <a:spcBef>
                <a:spcPts val="234"/>
              </a:spcBef>
            </a:pPr>
            <a:r>
              <a:rPr lang="en-US" sz="2000" spc="-23" dirty="0">
                <a:solidFill>
                  <a:srgbClr val="535353"/>
                </a:solidFill>
                <a:latin typeface="Gill Sans MT"/>
                <a:cs typeface="Gill Sans MT"/>
              </a:rPr>
              <a:t>      population INT,</a:t>
            </a:r>
            <a:r>
              <a:rPr lang="en-US" sz="2000" spc="-311" dirty="0">
                <a:solidFill>
                  <a:srgbClr val="535353"/>
                </a:solidFill>
                <a:latin typeface="Gill Sans MT"/>
                <a:cs typeface="Gill Sans MT"/>
              </a:rPr>
              <a:t>   </a:t>
            </a:r>
          </a:p>
          <a:p>
            <a:pPr marL="154588" marR="2587" indent="-84085">
              <a:lnSpc>
                <a:spcPts val="2394"/>
              </a:lnSpc>
              <a:spcBef>
                <a:spcPts val="234"/>
              </a:spcBef>
            </a:pPr>
            <a:r>
              <a:rPr lang="en-US" sz="2000" spc="-311" dirty="0">
                <a:solidFill>
                  <a:srgbClr val="535353"/>
                </a:solidFill>
                <a:latin typeface="Gill Sans MT"/>
                <a:cs typeface="Gill Sans MT"/>
              </a:rPr>
              <a:t>           </a:t>
            </a:r>
            <a:r>
              <a:rPr sz="2000" spc="-46" dirty="0">
                <a:solidFill>
                  <a:srgbClr val="535353"/>
                </a:solidFill>
                <a:latin typeface="Gill Sans MT"/>
                <a:cs typeface="Gill Sans MT"/>
              </a:rPr>
              <a:t>PRIMARY</a:t>
            </a:r>
            <a:r>
              <a:rPr sz="2000" spc="-25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000" spc="-48" dirty="0">
                <a:solidFill>
                  <a:srgbClr val="535353"/>
                </a:solidFill>
                <a:latin typeface="Gill Sans MT"/>
                <a:cs typeface="Gill Sans MT"/>
              </a:rPr>
              <a:t>KEY(</a:t>
            </a:r>
            <a:r>
              <a:rPr lang="en-US" sz="2000" spc="-48" dirty="0">
                <a:solidFill>
                  <a:srgbClr val="535353"/>
                </a:solidFill>
                <a:latin typeface="Gill Sans MT"/>
                <a:cs typeface="Gill Sans MT"/>
              </a:rPr>
              <a:t>country, state</a:t>
            </a:r>
            <a:r>
              <a:rPr sz="2000" spc="-48" dirty="0">
                <a:solidFill>
                  <a:srgbClr val="535353"/>
                </a:solidFill>
                <a:latin typeface="Gill Sans MT"/>
                <a:cs typeface="Gill Sans MT"/>
              </a:rPr>
              <a:t>)</a:t>
            </a:r>
            <a:endParaRPr sz="2000" dirty="0">
              <a:latin typeface="Gill Sans MT"/>
              <a:cs typeface="Gill Sans MT"/>
            </a:endParaRPr>
          </a:p>
          <a:p>
            <a:pPr marL="6468">
              <a:lnSpc>
                <a:spcPts val="2333"/>
              </a:lnSpc>
            </a:pPr>
            <a:r>
              <a:rPr sz="2400" spc="-46" dirty="0">
                <a:solidFill>
                  <a:srgbClr val="535353"/>
                </a:solidFill>
                <a:latin typeface="Gill Sans MT"/>
                <a:cs typeface="Gill Sans MT"/>
              </a:rPr>
              <a:t>);</a:t>
            </a:r>
            <a:endParaRPr sz="2400" dirty="0">
              <a:latin typeface="Gill Sans MT"/>
              <a:cs typeface="Gill Sans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0ED368-4827-BC4F-A8EB-9C1235CACABB}"/>
              </a:ext>
            </a:extLst>
          </p:cNvPr>
          <p:cNvSpPr txBox="1"/>
          <p:nvPr/>
        </p:nvSpPr>
        <p:spPr>
          <a:xfrm>
            <a:off x="3681845" y="3377625"/>
            <a:ext cx="38619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Each record is sorted by the cluster/sort </a:t>
            </a:r>
          </a:p>
          <a:p>
            <a:r>
              <a:rPr lang="en-US" sz="1600" dirty="0"/>
              <a:t>key within a partition</a:t>
            </a:r>
          </a:p>
        </p:txBody>
      </p:sp>
      <p:sp>
        <p:nvSpPr>
          <p:cNvPr id="8" name="Left Arrow 7">
            <a:extLst>
              <a:ext uri="{FF2B5EF4-FFF2-40B4-BE49-F238E27FC236}">
                <a16:creationId xmlns:a16="http://schemas.microsoft.com/office/drawing/2014/main" id="{27E5A185-564C-FD4D-A5DD-4046D9A45DDB}"/>
              </a:ext>
            </a:extLst>
          </p:cNvPr>
          <p:cNvSpPr/>
          <p:nvPr/>
        </p:nvSpPr>
        <p:spPr>
          <a:xfrm>
            <a:off x="914400" y="1449849"/>
            <a:ext cx="838200" cy="17722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eft Arrow 25">
            <a:extLst>
              <a:ext uri="{FF2B5EF4-FFF2-40B4-BE49-F238E27FC236}">
                <a16:creationId xmlns:a16="http://schemas.microsoft.com/office/drawing/2014/main" id="{58C95313-8075-B245-9FFB-FD5BD140E4F7}"/>
              </a:ext>
            </a:extLst>
          </p:cNvPr>
          <p:cNvSpPr/>
          <p:nvPr/>
        </p:nvSpPr>
        <p:spPr>
          <a:xfrm flipH="1">
            <a:off x="3574092" y="1440099"/>
            <a:ext cx="838200" cy="17722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860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247780" y="1828800"/>
            <a:ext cx="6652939" cy="867652"/>
          </a:xfrm>
          <a:prstGeom prst="rect">
            <a:avLst/>
          </a:prstGeom>
        </p:spPr>
        <p:txBody>
          <a:bodyPr vert="horz" wrap="square" lIns="0" tIns="5821" rIns="0" bIns="0" rtlCol="0">
            <a:spAutoFit/>
          </a:bodyPr>
          <a:lstStyle/>
          <a:p>
            <a:pPr marL="6468">
              <a:spcBef>
                <a:spcPts val="46"/>
              </a:spcBef>
            </a:pPr>
            <a:r>
              <a:rPr sz="2800" b="1" spc="-129" dirty="0">
                <a:solidFill>
                  <a:srgbClr val="535353"/>
                </a:solidFill>
                <a:latin typeface="Gill Sans MT"/>
                <a:cs typeface="Gill Sans MT"/>
              </a:rPr>
              <a:t>Which </a:t>
            </a:r>
            <a:r>
              <a:rPr sz="2800" b="1" spc="-127" dirty="0">
                <a:solidFill>
                  <a:srgbClr val="535353"/>
                </a:solidFill>
                <a:latin typeface="Gill Sans MT"/>
                <a:cs typeface="Gill Sans MT"/>
              </a:rPr>
              <a:t>are </a:t>
            </a:r>
            <a:r>
              <a:rPr sz="2800" b="1" spc="-109" dirty="0">
                <a:solidFill>
                  <a:srgbClr val="535353"/>
                </a:solidFill>
                <a:latin typeface="Gill Sans MT"/>
                <a:cs typeface="Gill Sans MT"/>
              </a:rPr>
              <a:t>the </a:t>
            </a:r>
            <a:r>
              <a:rPr sz="2800" b="1" spc="-99" dirty="0">
                <a:solidFill>
                  <a:srgbClr val="535353"/>
                </a:solidFill>
                <a:latin typeface="Gill Sans MT"/>
                <a:cs typeface="Gill Sans MT"/>
              </a:rPr>
              <a:t>technological </a:t>
            </a:r>
            <a:r>
              <a:rPr sz="2800" b="1" spc="-89" dirty="0">
                <a:solidFill>
                  <a:srgbClr val="535353"/>
                </a:solidFill>
                <a:latin typeface="Gill Sans MT"/>
                <a:cs typeface="Gill Sans MT"/>
              </a:rPr>
              <a:t>roots </a:t>
            </a:r>
            <a:r>
              <a:rPr sz="2800" b="1" spc="-74" dirty="0">
                <a:solidFill>
                  <a:srgbClr val="535353"/>
                </a:solidFill>
                <a:latin typeface="Gill Sans MT"/>
                <a:cs typeface="Gill Sans MT"/>
              </a:rPr>
              <a:t>of</a:t>
            </a:r>
            <a:r>
              <a:rPr sz="2800" b="1" spc="509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800" b="1" spc="-104" dirty="0">
                <a:solidFill>
                  <a:srgbClr val="535353"/>
                </a:solidFill>
                <a:latin typeface="Gill Sans MT"/>
                <a:cs typeface="Gill Sans MT"/>
              </a:rPr>
              <a:t>Cassandra?</a:t>
            </a:r>
            <a:endParaRPr sz="28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86962" y="3657600"/>
            <a:ext cx="6374573" cy="645597"/>
          </a:xfrm>
          <a:prstGeom prst="rect">
            <a:avLst/>
          </a:prstGeom>
        </p:spPr>
        <p:txBody>
          <a:bodyPr vert="horz" wrap="square" lIns="0" tIns="29753" rIns="0" bIns="0" rtlCol="0">
            <a:spAutoFit/>
          </a:bodyPr>
          <a:lstStyle/>
          <a:p>
            <a:pPr marL="1461146" marR="2587" indent="-1454678">
              <a:lnSpc>
                <a:spcPts val="2394"/>
              </a:lnSpc>
              <a:spcBef>
                <a:spcPts val="234"/>
              </a:spcBef>
            </a:pPr>
            <a:r>
              <a:rPr sz="2100" spc="-20" dirty="0">
                <a:solidFill>
                  <a:srgbClr val="535353"/>
                </a:solidFill>
                <a:latin typeface="Gill Sans MT"/>
                <a:cs typeface="Gill Sans MT"/>
              </a:rPr>
              <a:t>Google </a:t>
            </a:r>
            <a:r>
              <a:rPr sz="2100" spc="-66" dirty="0">
                <a:solidFill>
                  <a:srgbClr val="535353"/>
                </a:solidFill>
                <a:latin typeface="Gill Sans MT"/>
                <a:cs typeface="Gill Sans MT"/>
              </a:rPr>
              <a:t>BigTable </a:t>
            </a:r>
            <a:r>
              <a:rPr sz="2100" spc="-3" dirty="0">
                <a:solidFill>
                  <a:srgbClr val="535353"/>
                </a:solidFill>
                <a:latin typeface="Gill Sans MT"/>
                <a:cs typeface="Gill Sans MT"/>
              </a:rPr>
              <a:t>and </a:t>
            </a:r>
            <a:r>
              <a:rPr sz="2100" spc="-15" dirty="0">
                <a:solidFill>
                  <a:srgbClr val="535353"/>
                </a:solidFill>
                <a:latin typeface="Gill Sans MT"/>
                <a:cs typeface="Gill Sans MT"/>
              </a:rPr>
              <a:t>Amazon </a:t>
            </a:r>
            <a:r>
              <a:rPr sz="2100" spc="-13" dirty="0">
                <a:solidFill>
                  <a:srgbClr val="535353"/>
                </a:solidFill>
                <a:latin typeface="Gill Sans MT"/>
                <a:cs typeface="Gill Sans MT"/>
              </a:rPr>
              <a:t>Dynamo </a:t>
            </a:r>
            <a:r>
              <a:rPr sz="2100" spc="-18" dirty="0">
                <a:solidFill>
                  <a:srgbClr val="535353"/>
                </a:solidFill>
                <a:latin typeface="Gill Sans MT"/>
                <a:cs typeface="Gill Sans MT"/>
              </a:rPr>
              <a:t>pulled </a:t>
            </a:r>
            <a:r>
              <a:rPr sz="2100" spc="-36" dirty="0">
                <a:solidFill>
                  <a:srgbClr val="535353"/>
                </a:solidFill>
                <a:latin typeface="Gill Sans MT"/>
                <a:cs typeface="Gill Sans MT"/>
              </a:rPr>
              <a:t>together  </a:t>
            </a:r>
            <a:r>
              <a:rPr sz="2100" spc="-25" dirty="0">
                <a:solidFill>
                  <a:srgbClr val="535353"/>
                </a:solidFill>
                <a:latin typeface="Gill Sans MT"/>
                <a:cs typeface="Gill Sans MT"/>
              </a:rPr>
              <a:t>by </a:t>
            </a:r>
            <a:r>
              <a:rPr sz="2100" spc="-23" dirty="0">
                <a:solidFill>
                  <a:srgbClr val="535353"/>
                </a:solidFill>
                <a:latin typeface="Gill Sans MT"/>
                <a:cs typeface="Gill Sans MT"/>
              </a:rPr>
              <a:t>developers </a:t>
            </a:r>
            <a:r>
              <a:rPr sz="2100" spc="-31" dirty="0">
                <a:solidFill>
                  <a:srgbClr val="535353"/>
                </a:solidFill>
                <a:latin typeface="Gill Sans MT"/>
                <a:cs typeface="Gill Sans MT"/>
              </a:rPr>
              <a:t>at</a:t>
            </a:r>
            <a:r>
              <a:rPr sz="2100" spc="41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100" spc="-25" dirty="0">
                <a:solidFill>
                  <a:srgbClr val="535353"/>
                </a:solidFill>
                <a:latin typeface="Gill Sans MT"/>
                <a:cs typeface="Gill Sans MT"/>
              </a:rPr>
              <a:t>Facebook</a:t>
            </a:r>
            <a:endParaRPr sz="2100" dirty="0">
              <a:latin typeface="Gill Sans MT"/>
              <a:cs typeface="Gill Sans M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24688" y="3371613"/>
            <a:ext cx="1157287" cy="13207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600" y="381000"/>
            <a:ext cx="8230271" cy="623064"/>
          </a:xfrm>
          <a:prstGeom prst="rect">
            <a:avLst/>
          </a:prstGeom>
        </p:spPr>
        <p:txBody>
          <a:bodyPr vert="horz" wrap="square" lIns="0" tIns="7438" rIns="0" bIns="0" rtlCol="0">
            <a:spAutoFit/>
          </a:bodyPr>
          <a:lstStyle/>
          <a:p>
            <a:pPr marL="6468">
              <a:spcBef>
                <a:spcPts val="58"/>
              </a:spcBef>
            </a:pPr>
            <a:r>
              <a:rPr spc="0" dirty="0">
                <a:solidFill>
                  <a:srgbClr val="D67519"/>
                </a:solidFill>
                <a:latin typeface="Arial"/>
                <a:cs typeface="Arial"/>
              </a:rPr>
              <a:t>Dynamo</a:t>
            </a:r>
            <a:r>
              <a:rPr spc="-31" dirty="0">
                <a:solidFill>
                  <a:srgbClr val="D67519"/>
                </a:solidFill>
                <a:latin typeface="Arial"/>
                <a:cs typeface="Arial"/>
              </a:rPr>
              <a:t> </a:t>
            </a:r>
            <a:r>
              <a:rPr spc="0" dirty="0">
                <a:solidFill>
                  <a:srgbClr val="D67519"/>
                </a:solidFill>
                <a:latin typeface="Arial"/>
                <a:cs typeface="Arial"/>
              </a:rPr>
              <a:t>Paper(2007)</a:t>
            </a: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2000" y="1027449"/>
            <a:ext cx="4347877" cy="2598416"/>
          </a:xfrm>
          <a:prstGeom prst="rect">
            <a:avLst/>
          </a:prstGeom>
        </p:spPr>
        <p:txBody>
          <a:bodyPr vert="horz" wrap="square" lIns="0" tIns="86349" rIns="0" bIns="0" rtlCol="0">
            <a:spAutoFit/>
          </a:bodyPr>
          <a:lstStyle/>
          <a:p>
            <a:pPr marL="165260" indent="-158792">
              <a:spcBef>
                <a:spcPts val="680"/>
              </a:spcBef>
              <a:buClr>
                <a:srgbClr val="D67519"/>
              </a:buClr>
              <a:buChar char="•"/>
              <a:tabLst>
                <a:tab pos="165584" algn="l"/>
              </a:tabLst>
            </a:pPr>
            <a:r>
              <a:rPr sz="2300" spc="3" dirty="0">
                <a:solidFill>
                  <a:srgbClr val="5E4D47"/>
                </a:solidFill>
                <a:latin typeface="Arial"/>
                <a:cs typeface="Arial"/>
              </a:rPr>
              <a:t>How </a:t>
            </a:r>
            <a:r>
              <a:rPr sz="2300" dirty="0">
                <a:solidFill>
                  <a:srgbClr val="5E4D47"/>
                </a:solidFill>
                <a:latin typeface="Arial"/>
                <a:cs typeface="Arial"/>
              </a:rPr>
              <a:t>do we </a:t>
            </a:r>
            <a:r>
              <a:rPr sz="2300" spc="3" dirty="0">
                <a:solidFill>
                  <a:srgbClr val="5E4D47"/>
                </a:solidFill>
                <a:latin typeface="Arial"/>
                <a:cs typeface="Arial"/>
              </a:rPr>
              <a:t>build </a:t>
            </a:r>
            <a:r>
              <a:rPr sz="2300" dirty="0">
                <a:solidFill>
                  <a:srgbClr val="5E4D47"/>
                </a:solidFill>
                <a:latin typeface="Arial"/>
                <a:cs typeface="Arial"/>
              </a:rPr>
              <a:t>a </a:t>
            </a:r>
            <a:r>
              <a:rPr sz="2300" spc="3" dirty="0">
                <a:solidFill>
                  <a:srgbClr val="5E4D47"/>
                </a:solidFill>
                <a:latin typeface="Arial"/>
                <a:cs typeface="Arial"/>
              </a:rPr>
              <a:t>data store that</a:t>
            </a:r>
            <a:r>
              <a:rPr sz="2300" spc="191" dirty="0">
                <a:solidFill>
                  <a:srgbClr val="5E4D47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srgbClr val="5E4D47"/>
                </a:solidFill>
                <a:latin typeface="Arial"/>
                <a:cs typeface="Arial"/>
              </a:rPr>
              <a:t>is:</a:t>
            </a:r>
            <a:endParaRPr sz="2300" dirty="0">
              <a:latin typeface="Arial"/>
              <a:cs typeface="Arial"/>
            </a:endParaRPr>
          </a:p>
          <a:p>
            <a:pPr marL="325346" lvl="1" indent="-159762">
              <a:spcBef>
                <a:spcPts val="525"/>
              </a:spcBef>
              <a:buClr>
                <a:srgbClr val="D67519"/>
              </a:buClr>
              <a:buChar char="•"/>
              <a:tabLst>
                <a:tab pos="325669" algn="l"/>
              </a:tabLst>
            </a:pPr>
            <a:r>
              <a:rPr spc="8" dirty="0">
                <a:solidFill>
                  <a:srgbClr val="5E4D47"/>
                </a:solidFill>
                <a:latin typeface="Arial"/>
                <a:cs typeface="Arial"/>
              </a:rPr>
              <a:t>Reliable</a:t>
            </a:r>
            <a:endParaRPr dirty="0">
              <a:latin typeface="Arial"/>
              <a:cs typeface="Arial"/>
            </a:endParaRPr>
          </a:p>
          <a:p>
            <a:pPr marL="325346" lvl="1" indent="-159762">
              <a:spcBef>
                <a:spcPts val="527"/>
              </a:spcBef>
              <a:buClr>
                <a:srgbClr val="D67519"/>
              </a:buClr>
              <a:buChar char="•"/>
              <a:tabLst>
                <a:tab pos="325669" algn="l"/>
              </a:tabLst>
            </a:pPr>
            <a:r>
              <a:rPr spc="8" dirty="0">
                <a:solidFill>
                  <a:srgbClr val="5E4D47"/>
                </a:solidFill>
                <a:latin typeface="Arial"/>
                <a:cs typeface="Arial"/>
              </a:rPr>
              <a:t>Performant</a:t>
            </a:r>
            <a:endParaRPr dirty="0">
              <a:latin typeface="Arial"/>
              <a:cs typeface="Arial"/>
            </a:endParaRPr>
          </a:p>
          <a:p>
            <a:pPr marL="325346" lvl="1" indent="-159762">
              <a:spcBef>
                <a:spcPts val="570"/>
              </a:spcBef>
              <a:buClr>
                <a:srgbClr val="D67519"/>
              </a:buClr>
              <a:buChar char="•"/>
              <a:tabLst>
                <a:tab pos="325669" algn="l"/>
              </a:tabLst>
            </a:pPr>
            <a:r>
              <a:rPr spc="8" dirty="0">
                <a:solidFill>
                  <a:srgbClr val="5E4D47"/>
                </a:solidFill>
                <a:latin typeface="Arial"/>
                <a:cs typeface="Arial"/>
              </a:rPr>
              <a:t>“Always</a:t>
            </a:r>
            <a:r>
              <a:rPr dirty="0">
                <a:solidFill>
                  <a:srgbClr val="5E4D47"/>
                </a:solidFill>
                <a:latin typeface="Arial"/>
                <a:cs typeface="Arial"/>
              </a:rPr>
              <a:t> </a:t>
            </a:r>
            <a:r>
              <a:rPr spc="13" dirty="0">
                <a:solidFill>
                  <a:srgbClr val="5E4D47"/>
                </a:solidFill>
                <a:latin typeface="Arial"/>
                <a:cs typeface="Arial"/>
              </a:rPr>
              <a:t>On”</a:t>
            </a:r>
            <a:endParaRPr dirty="0">
              <a:latin typeface="Arial"/>
              <a:cs typeface="Arial"/>
            </a:endParaRPr>
          </a:p>
          <a:p>
            <a:pPr marL="138418" indent="-131949">
              <a:spcBef>
                <a:spcPts val="570"/>
              </a:spcBef>
              <a:buClr>
                <a:srgbClr val="D67519"/>
              </a:buClr>
              <a:buChar char="•"/>
              <a:tabLst>
                <a:tab pos="138741" algn="l"/>
              </a:tabLst>
            </a:pPr>
            <a:r>
              <a:rPr spc="8" dirty="0">
                <a:solidFill>
                  <a:srgbClr val="5E4D47"/>
                </a:solidFill>
                <a:latin typeface="Arial"/>
                <a:cs typeface="Arial"/>
              </a:rPr>
              <a:t>Nothing new and</a:t>
            </a:r>
            <a:r>
              <a:rPr spc="51" dirty="0">
                <a:solidFill>
                  <a:srgbClr val="5E4D47"/>
                </a:solidFill>
                <a:latin typeface="Arial"/>
                <a:cs typeface="Arial"/>
              </a:rPr>
              <a:t> </a:t>
            </a:r>
            <a:r>
              <a:rPr spc="8" dirty="0">
                <a:solidFill>
                  <a:srgbClr val="5E4D47"/>
                </a:solidFill>
                <a:latin typeface="Arial"/>
                <a:cs typeface="Arial"/>
              </a:rPr>
              <a:t>shiny</a:t>
            </a:r>
            <a:endParaRPr dirty="0">
              <a:latin typeface="Arial"/>
              <a:cs typeface="Arial"/>
            </a:endParaRPr>
          </a:p>
          <a:p>
            <a:pPr marL="138418" indent="-131949">
              <a:spcBef>
                <a:spcPts val="527"/>
              </a:spcBef>
              <a:buClr>
                <a:srgbClr val="D67519"/>
              </a:buClr>
              <a:buChar char="•"/>
              <a:tabLst>
                <a:tab pos="138741" algn="l"/>
              </a:tabLst>
            </a:pPr>
            <a:r>
              <a:rPr spc="8" dirty="0">
                <a:solidFill>
                  <a:srgbClr val="5E4D47"/>
                </a:solidFill>
                <a:latin typeface="Arial"/>
                <a:cs typeface="Arial"/>
              </a:rPr>
              <a:t>24 papers</a:t>
            </a:r>
            <a:r>
              <a:rPr spc="15" dirty="0">
                <a:solidFill>
                  <a:srgbClr val="5E4D47"/>
                </a:solidFill>
                <a:latin typeface="Arial"/>
                <a:cs typeface="Arial"/>
              </a:rPr>
              <a:t> </a:t>
            </a:r>
            <a:r>
              <a:rPr spc="8" dirty="0">
                <a:solidFill>
                  <a:srgbClr val="5E4D47"/>
                </a:solidFill>
                <a:latin typeface="Arial"/>
                <a:cs typeface="Arial"/>
              </a:rPr>
              <a:t>cited</a:t>
            </a:r>
            <a:endParaRPr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4813" y="939734"/>
            <a:ext cx="3709930" cy="56828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14061" y="6456145"/>
            <a:ext cx="2570486" cy="315941"/>
          </a:xfrm>
          <a:prstGeom prst="rect">
            <a:avLst/>
          </a:prstGeom>
        </p:spPr>
        <p:txBody>
          <a:bodyPr vert="horz" wrap="square" lIns="0" tIns="8085" rIns="0" bIns="0" rtlCol="0">
            <a:spAutoFit/>
          </a:bodyPr>
          <a:lstStyle/>
          <a:p>
            <a:pPr marL="6468">
              <a:spcBef>
                <a:spcPts val="64"/>
              </a:spcBef>
            </a:pPr>
            <a:r>
              <a:rPr sz="1000" spc="5" dirty="0">
                <a:solidFill>
                  <a:srgbClr val="5E4D47"/>
                </a:solidFill>
                <a:latin typeface="Courier New"/>
                <a:cs typeface="Courier New"/>
              </a:rPr>
              <a:t>Also the basis for Riak and</a:t>
            </a:r>
            <a:r>
              <a:rPr sz="1000" spc="115" dirty="0">
                <a:solidFill>
                  <a:srgbClr val="5E4D47"/>
                </a:solidFill>
                <a:latin typeface="Courier New"/>
                <a:cs typeface="Courier New"/>
              </a:rPr>
              <a:t> </a:t>
            </a:r>
            <a:r>
              <a:rPr sz="1000" spc="5" dirty="0">
                <a:solidFill>
                  <a:srgbClr val="5E4D47"/>
                </a:solidFill>
                <a:latin typeface="Courier New"/>
                <a:cs typeface="Courier New"/>
              </a:rPr>
              <a:t>Voldemort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348" y="367536"/>
            <a:ext cx="8103241" cy="623064"/>
          </a:xfrm>
          <a:prstGeom prst="rect">
            <a:avLst/>
          </a:prstGeom>
        </p:spPr>
        <p:txBody>
          <a:bodyPr vert="horz" wrap="square" lIns="0" tIns="7438" rIns="0" bIns="0" rtlCol="0">
            <a:spAutoFit/>
          </a:bodyPr>
          <a:lstStyle/>
          <a:p>
            <a:pPr marL="6468">
              <a:spcBef>
                <a:spcPts val="58"/>
              </a:spcBef>
            </a:pPr>
            <a:r>
              <a:rPr spc="0" dirty="0">
                <a:solidFill>
                  <a:srgbClr val="D67519"/>
                </a:solidFill>
                <a:latin typeface="Arial"/>
                <a:cs typeface="Arial"/>
              </a:rPr>
              <a:t>Cassandra(2008)</a:t>
            </a: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48131" y="1229192"/>
            <a:ext cx="4014869" cy="2570195"/>
          </a:xfrm>
          <a:prstGeom prst="rect">
            <a:avLst/>
          </a:prstGeom>
        </p:spPr>
        <p:txBody>
          <a:bodyPr vert="horz" wrap="square" lIns="0" tIns="66298" rIns="0" bIns="0" rtlCol="0">
            <a:spAutoFit/>
          </a:bodyPr>
          <a:lstStyle/>
          <a:p>
            <a:pPr marL="169141" indent="-162673">
              <a:spcBef>
                <a:spcPts val="522"/>
              </a:spcBef>
              <a:buClr>
                <a:srgbClr val="D67519"/>
              </a:buClr>
              <a:buChar char="•"/>
              <a:tabLst>
                <a:tab pos="169464" algn="l"/>
              </a:tabLst>
            </a:pPr>
            <a:r>
              <a:rPr sz="2300" spc="3" dirty="0">
                <a:solidFill>
                  <a:srgbClr val="5E4D47"/>
                </a:solidFill>
                <a:latin typeface="Arial"/>
                <a:cs typeface="Arial"/>
              </a:rPr>
              <a:t>Distributed features </a:t>
            </a:r>
            <a:r>
              <a:rPr sz="2300" dirty="0">
                <a:solidFill>
                  <a:srgbClr val="5E4D47"/>
                </a:solidFill>
                <a:latin typeface="Arial"/>
                <a:cs typeface="Arial"/>
              </a:rPr>
              <a:t>of</a:t>
            </a:r>
            <a:r>
              <a:rPr sz="2300" spc="115" dirty="0">
                <a:solidFill>
                  <a:srgbClr val="5E4D47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srgbClr val="5E4D47"/>
                </a:solidFill>
                <a:latin typeface="Arial"/>
                <a:cs typeface="Arial"/>
              </a:rPr>
              <a:t>Dynamo</a:t>
            </a:r>
            <a:endParaRPr sz="2300" dirty="0">
              <a:latin typeface="Arial"/>
              <a:cs typeface="Arial"/>
            </a:endParaRPr>
          </a:p>
          <a:p>
            <a:pPr marL="169141" marR="552053" indent="-162673">
              <a:lnSpc>
                <a:spcPts val="2475"/>
              </a:lnSpc>
              <a:spcBef>
                <a:spcPts val="756"/>
              </a:spcBef>
              <a:buClr>
                <a:srgbClr val="D67519"/>
              </a:buClr>
              <a:buChar char="•"/>
              <a:tabLst>
                <a:tab pos="169464" algn="l"/>
              </a:tabLst>
            </a:pPr>
            <a:r>
              <a:rPr sz="2300" spc="3" dirty="0">
                <a:solidFill>
                  <a:srgbClr val="5E4D47"/>
                </a:solidFill>
                <a:latin typeface="Arial"/>
                <a:cs typeface="Arial"/>
              </a:rPr>
              <a:t>Data Model and storage </a:t>
            </a:r>
            <a:r>
              <a:rPr sz="2300" spc="5" dirty="0">
                <a:solidFill>
                  <a:srgbClr val="5E4D47"/>
                </a:solidFill>
                <a:latin typeface="Arial"/>
                <a:cs typeface="Arial"/>
              </a:rPr>
              <a:t>from  </a:t>
            </a:r>
            <a:r>
              <a:rPr sz="2300" spc="-25" dirty="0">
                <a:solidFill>
                  <a:srgbClr val="5E4D47"/>
                </a:solidFill>
                <a:latin typeface="Arial"/>
                <a:cs typeface="Arial"/>
              </a:rPr>
              <a:t>BigTable</a:t>
            </a:r>
            <a:endParaRPr sz="2300" dirty="0">
              <a:latin typeface="Arial"/>
              <a:cs typeface="Arial"/>
            </a:endParaRPr>
          </a:p>
          <a:p>
            <a:pPr marL="169141" marR="2587" indent="-162673">
              <a:lnSpc>
                <a:spcPts val="2475"/>
              </a:lnSpc>
              <a:spcBef>
                <a:spcPts val="713"/>
              </a:spcBef>
              <a:buClr>
                <a:srgbClr val="D67519"/>
              </a:buClr>
              <a:buChar char="•"/>
              <a:tabLst>
                <a:tab pos="169464" algn="l"/>
              </a:tabLst>
            </a:pPr>
            <a:r>
              <a:rPr sz="2300" spc="3" dirty="0">
                <a:solidFill>
                  <a:srgbClr val="5E4D47"/>
                </a:solidFill>
                <a:latin typeface="Arial"/>
                <a:cs typeface="Arial"/>
              </a:rPr>
              <a:t>February 17, 2010 </a:t>
            </a:r>
            <a:r>
              <a:rPr sz="2300" dirty="0">
                <a:solidFill>
                  <a:srgbClr val="5E4D47"/>
                </a:solidFill>
                <a:latin typeface="Arial"/>
                <a:cs typeface="Arial"/>
              </a:rPr>
              <a:t>it </a:t>
            </a:r>
            <a:r>
              <a:rPr sz="2300" spc="3" dirty="0">
                <a:solidFill>
                  <a:srgbClr val="5E4D47"/>
                </a:solidFill>
                <a:latin typeface="Arial"/>
                <a:cs typeface="Arial"/>
              </a:rPr>
              <a:t>graduated </a:t>
            </a:r>
            <a:r>
              <a:rPr sz="2300" spc="5" dirty="0">
                <a:solidFill>
                  <a:srgbClr val="5E4D47"/>
                </a:solidFill>
                <a:latin typeface="Arial"/>
                <a:cs typeface="Arial"/>
              </a:rPr>
              <a:t>to  </a:t>
            </a:r>
            <a:r>
              <a:rPr sz="2300" dirty="0">
                <a:solidFill>
                  <a:srgbClr val="5E4D47"/>
                </a:solidFill>
                <a:latin typeface="Arial"/>
                <a:cs typeface="Arial"/>
              </a:rPr>
              <a:t>a </a:t>
            </a:r>
            <a:r>
              <a:rPr sz="2300" spc="3" dirty="0">
                <a:solidFill>
                  <a:srgbClr val="5E4D47"/>
                </a:solidFill>
                <a:latin typeface="Arial"/>
                <a:cs typeface="Arial"/>
              </a:rPr>
              <a:t>top-level Apache</a:t>
            </a:r>
            <a:r>
              <a:rPr sz="2300" spc="-43" dirty="0">
                <a:solidFill>
                  <a:srgbClr val="5E4D47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srgbClr val="5E4D47"/>
                </a:solidFill>
                <a:latin typeface="Arial"/>
                <a:cs typeface="Arial"/>
              </a:rPr>
              <a:t>project</a:t>
            </a:r>
            <a:endParaRPr sz="23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0062" y="888938"/>
            <a:ext cx="3919538" cy="5689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40887" y="2057255"/>
            <a:ext cx="8662320" cy="40129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2400" y="1986395"/>
            <a:ext cx="8839199" cy="42943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1000" y="702432"/>
            <a:ext cx="6577905" cy="652536"/>
          </a:xfrm>
          <a:prstGeom prst="rect">
            <a:avLst/>
          </a:prstGeom>
        </p:spPr>
        <p:txBody>
          <a:bodyPr vert="horz" wrap="square" lIns="0" tIns="6145" rIns="0" bIns="0" rtlCol="0">
            <a:spAutoFit/>
          </a:bodyPr>
          <a:lstStyle/>
          <a:p>
            <a:pPr marL="6468">
              <a:spcBef>
                <a:spcPts val="48"/>
              </a:spcBef>
            </a:pPr>
            <a:r>
              <a:rPr sz="4200" spc="-10" dirty="0">
                <a:solidFill>
                  <a:srgbClr val="535353"/>
                </a:solidFill>
                <a:latin typeface="Gill Sans MT"/>
                <a:cs typeface="Gill Sans MT"/>
              </a:rPr>
              <a:t>CASSANDRA</a:t>
            </a:r>
            <a:r>
              <a:rPr sz="4200" spc="-28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4200" spc="-79" dirty="0">
                <a:solidFill>
                  <a:srgbClr val="535353"/>
                </a:solidFill>
                <a:latin typeface="Gill Sans MT"/>
                <a:cs typeface="Gill Sans MT"/>
              </a:rPr>
              <a:t>CLUSTER</a:t>
            </a:r>
            <a:endParaRPr sz="4200" dirty="0">
              <a:latin typeface="Gill Sans MT"/>
              <a:cs typeface="Gill Sans M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36734" y="1578508"/>
            <a:ext cx="8670049" cy="867652"/>
          </a:xfrm>
          <a:prstGeom prst="rect">
            <a:avLst/>
          </a:prstGeom>
        </p:spPr>
        <p:txBody>
          <a:bodyPr vert="horz" wrap="square" lIns="0" tIns="5821" rIns="0" bIns="0" rtlCol="0">
            <a:spAutoFit/>
          </a:bodyPr>
          <a:lstStyle/>
          <a:p>
            <a:pPr marL="6468">
              <a:spcBef>
                <a:spcPts val="46"/>
              </a:spcBef>
            </a:pPr>
            <a:r>
              <a:rPr sz="2800" b="1" spc="-148" dirty="0">
                <a:solidFill>
                  <a:srgbClr val="535353"/>
                </a:solidFill>
                <a:latin typeface="Gill Sans MT"/>
                <a:cs typeface="Gill Sans MT"/>
              </a:rPr>
              <a:t>What </a:t>
            </a:r>
            <a:r>
              <a:rPr sz="2800" b="1" spc="-81" dirty="0">
                <a:solidFill>
                  <a:srgbClr val="535353"/>
                </a:solidFill>
                <a:latin typeface="Gill Sans MT"/>
                <a:cs typeface="Gill Sans MT"/>
              </a:rPr>
              <a:t>do </a:t>
            </a:r>
            <a:r>
              <a:rPr sz="2800" b="1" spc="-102" dirty="0">
                <a:solidFill>
                  <a:srgbClr val="535353"/>
                </a:solidFill>
                <a:latin typeface="Gill Sans MT"/>
                <a:cs typeface="Gill Sans MT"/>
              </a:rPr>
              <a:t>consistency, </a:t>
            </a:r>
            <a:r>
              <a:rPr sz="2800" b="1" spc="-97" dirty="0">
                <a:solidFill>
                  <a:srgbClr val="535353"/>
                </a:solidFill>
                <a:latin typeface="Gill Sans MT"/>
                <a:cs typeface="Gill Sans MT"/>
              </a:rPr>
              <a:t>availability </a:t>
            </a:r>
            <a:r>
              <a:rPr sz="2800" b="1" spc="-120" dirty="0">
                <a:solidFill>
                  <a:srgbClr val="535353"/>
                </a:solidFill>
                <a:latin typeface="Gill Sans MT"/>
                <a:cs typeface="Gill Sans MT"/>
              </a:rPr>
              <a:t>and </a:t>
            </a:r>
            <a:r>
              <a:rPr sz="2800" b="1" spc="-94" dirty="0">
                <a:solidFill>
                  <a:srgbClr val="535353"/>
                </a:solidFill>
                <a:latin typeface="Gill Sans MT"/>
                <a:cs typeface="Gill Sans MT"/>
              </a:rPr>
              <a:t>partition </a:t>
            </a:r>
            <a:r>
              <a:rPr sz="2800" b="1" spc="-102" dirty="0">
                <a:solidFill>
                  <a:srgbClr val="535353"/>
                </a:solidFill>
                <a:latin typeface="Gill Sans MT"/>
                <a:cs typeface="Gill Sans MT"/>
              </a:rPr>
              <a:t>tolerance </a:t>
            </a:r>
            <a:r>
              <a:rPr sz="2800" b="1" spc="-31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800" b="1" spc="-148" dirty="0">
                <a:solidFill>
                  <a:srgbClr val="535353"/>
                </a:solidFill>
                <a:latin typeface="Gill Sans MT"/>
                <a:cs typeface="Gill Sans MT"/>
              </a:rPr>
              <a:t>mean?</a:t>
            </a:r>
            <a:endParaRPr sz="28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7297" y="2514600"/>
            <a:ext cx="8509754" cy="3783230"/>
          </a:xfrm>
          <a:prstGeom prst="rect">
            <a:avLst/>
          </a:prstGeom>
        </p:spPr>
        <p:txBody>
          <a:bodyPr vert="horz" wrap="square" lIns="0" tIns="7762" rIns="0" bIns="0" rtlCol="0">
            <a:spAutoFit/>
          </a:bodyPr>
          <a:lstStyle/>
          <a:p>
            <a:pPr algn="ctr">
              <a:spcBef>
                <a:spcPts val="61"/>
              </a:spcBef>
            </a:pPr>
            <a:r>
              <a:rPr sz="2400" spc="-43" dirty="0">
                <a:solidFill>
                  <a:srgbClr val="535353"/>
                </a:solidFill>
                <a:latin typeface="Gill Sans MT"/>
                <a:cs typeface="Gill Sans MT"/>
              </a:rPr>
              <a:t>Consistency: </a:t>
            </a:r>
            <a:r>
              <a:rPr sz="2400" spc="-41" dirty="0">
                <a:solidFill>
                  <a:srgbClr val="535353"/>
                </a:solidFill>
                <a:latin typeface="Gill Sans MT"/>
                <a:cs typeface="Gill Sans MT"/>
              </a:rPr>
              <a:t>All </a:t>
            </a:r>
            <a:r>
              <a:rPr sz="2400" spc="-43" dirty="0">
                <a:solidFill>
                  <a:srgbClr val="535353"/>
                </a:solidFill>
                <a:latin typeface="Gill Sans MT"/>
                <a:cs typeface="Gill Sans MT"/>
              </a:rPr>
              <a:t>clients </a:t>
            </a:r>
            <a:r>
              <a:rPr sz="2400" spc="-31" dirty="0">
                <a:solidFill>
                  <a:srgbClr val="535353"/>
                </a:solidFill>
                <a:latin typeface="Gill Sans MT"/>
                <a:cs typeface="Gill Sans MT"/>
              </a:rPr>
              <a:t>have </a:t>
            </a:r>
            <a:r>
              <a:rPr sz="2400" spc="-25" dirty="0">
                <a:solidFill>
                  <a:srgbClr val="535353"/>
                </a:solidFill>
                <a:latin typeface="Gill Sans MT"/>
                <a:cs typeface="Gill Sans MT"/>
              </a:rPr>
              <a:t>the </a:t>
            </a:r>
            <a:r>
              <a:rPr sz="2400" spc="-28" dirty="0">
                <a:solidFill>
                  <a:srgbClr val="535353"/>
                </a:solidFill>
                <a:latin typeface="Gill Sans MT"/>
                <a:cs typeface="Gill Sans MT"/>
              </a:rPr>
              <a:t>exact </a:t>
            </a:r>
            <a:r>
              <a:rPr sz="2400" spc="-13" dirty="0">
                <a:solidFill>
                  <a:srgbClr val="535353"/>
                </a:solidFill>
                <a:latin typeface="Gill Sans MT"/>
                <a:cs typeface="Gill Sans MT"/>
              </a:rPr>
              <a:t>same </a:t>
            </a:r>
            <a:r>
              <a:rPr sz="2400" spc="-18" dirty="0">
                <a:solidFill>
                  <a:srgbClr val="535353"/>
                </a:solidFill>
                <a:latin typeface="Gill Sans MT"/>
                <a:cs typeface="Gill Sans MT"/>
              </a:rPr>
              <a:t>value </a:t>
            </a:r>
            <a:r>
              <a:rPr sz="2400" spc="-61" dirty="0">
                <a:solidFill>
                  <a:srgbClr val="535353"/>
                </a:solidFill>
                <a:latin typeface="Gill Sans MT"/>
                <a:cs typeface="Gill Sans MT"/>
              </a:rPr>
              <a:t>for </a:t>
            </a:r>
            <a:r>
              <a:rPr sz="2400" spc="-25" dirty="0">
                <a:solidFill>
                  <a:srgbClr val="535353"/>
                </a:solidFill>
                <a:latin typeface="Gill Sans MT"/>
                <a:cs typeface="Gill Sans MT"/>
              </a:rPr>
              <a:t>the </a:t>
            </a:r>
            <a:r>
              <a:rPr sz="2400" spc="-23" dirty="0">
                <a:solidFill>
                  <a:srgbClr val="535353"/>
                </a:solidFill>
                <a:latin typeface="Gill Sans MT"/>
                <a:cs typeface="Gill Sans MT"/>
              </a:rPr>
              <a:t>whole </a:t>
            </a:r>
            <a:r>
              <a:rPr sz="2400" spc="-13" dirty="0">
                <a:solidFill>
                  <a:srgbClr val="535353"/>
                </a:solidFill>
                <a:latin typeface="Gill Sans MT"/>
                <a:cs typeface="Gill Sans MT"/>
              </a:rPr>
              <a:t>data </a:t>
            </a:r>
            <a:r>
              <a:rPr sz="2400" spc="-41" dirty="0">
                <a:solidFill>
                  <a:srgbClr val="535353"/>
                </a:solidFill>
                <a:latin typeface="Gill Sans MT"/>
                <a:cs typeface="Gill Sans MT"/>
              </a:rPr>
              <a:t>set </a:t>
            </a:r>
            <a:r>
              <a:rPr sz="2400" spc="-31" dirty="0">
                <a:solidFill>
                  <a:srgbClr val="535353"/>
                </a:solidFill>
                <a:latin typeface="Gill Sans MT"/>
                <a:cs typeface="Gill Sans MT"/>
              </a:rPr>
              <a:t>at </a:t>
            </a:r>
            <a:r>
              <a:rPr sz="2400" spc="-28" dirty="0">
                <a:solidFill>
                  <a:srgbClr val="535353"/>
                </a:solidFill>
                <a:latin typeface="Gill Sans MT"/>
                <a:cs typeface="Gill Sans MT"/>
              </a:rPr>
              <a:t>any </a:t>
            </a:r>
            <a:r>
              <a:rPr sz="2400" spc="-25" dirty="0">
                <a:solidFill>
                  <a:srgbClr val="535353"/>
                </a:solidFill>
                <a:latin typeface="Gill Sans MT"/>
                <a:cs typeface="Gill Sans MT"/>
              </a:rPr>
              <a:t>given</a:t>
            </a:r>
            <a:r>
              <a:rPr sz="2400" spc="234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400" spc="-38" dirty="0">
                <a:solidFill>
                  <a:srgbClr val="535353"/>
                </a:solidFill>
                <a:latin typeface="Gill Sans MT"/>
                <a:cs typeface="Gill Sans MT"/>
              </a:rPr>
              <a:t>point.</a:t>
            </a:r>
            <a:endParaRPr sz="2400" dirty="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 marL="4851" algn="ctr">
              <a:spcBef>
                <a:spcPts val="1895"/>
              </a:spcBef>
            </a:pPr>
            <a:r>
              <a:rPr sz="2400" spc="-43" dirty="0">
                <a:solidFill>
                  <a:srgbClr val="535353"/>
                </a:solidFill>
                <a:latin typeface="Gill Sans MT"/>
                <a:cs typeface="Gill Sans MT"/>
              </a:rPr>
              <a:t>Availability: </a:t>
            </a:r>
            <a:r>
              <a:rPr sz="2400" spc="-41" dirty="0">
                <a:solidFill>
                  <a:srgbClr val="535353"/>
                </a:solidFill>
                <a:latin typeface="Gill Sans MT"/>
                <a:cs typeface="Gill Sans MT"/>
              </a:rPr>
              <a:t>All </a:t>
            </a:r>
            <a:r>
              <a:rPr sz="2400" spc="-43" dirty="0">
                <a:solidFill>
                  <a:srgbClr val="535353"/>
                </a:solidFill>
                <a:latin typeface="Gill Sans MT"/>
                <a:cs typeface="Gill Sans MT"/>
              </a:rPr>
              <a:t>clients </a:t>
            </a:r>
            <a:r>
              <a:rPr sz="2400" spc="-18" dirty="0">
                <a:solidFill>
                  <a:srgbClr val="535353"/>
                </a:solidFill>
                <a:latin typeface="Gill Sans MT"/>
                <a:cs typeface="Gill Sans MT"/>
              </a:rPr>
              <a:t>can </a:t>
            </a:r>
            <a:r>
              <a:rPr sz="2400" spc="-31" dirty="0">
                <a:solidFill>
                  <a:srgbClr val="535353"/>
                </a:solidFill>
                <a:latin typeface="Gill Sans MT"/>
                <a:cs typeface="Gill Sans MT"/>
              </a:rPr>
              <a:t>read </a:t>
            </a:r>
            <a:r>
              <a:rPr sz="2400" spc="-3" dirty="0">
                <a:solidFill>
                  <a:srgbClr val="535353"/>
                </a:solidFill>
                <a:latin typeface="Gill Sans MT"/>
                <a:cs typeface="Gill Sans MT"/>
              </a:rPr>
              <a:t>and </a:t>
            </a:r>
            <a:r>
              <a:rPr sz="2400" spc="-46" dirty="0">
                <a:solidFill>
                  <a:srgbClr val="535353"/>
                </a:solidFill>
                <a:latin typeface="Gill Sans MT"/>
                <a:cs typeface="Gill Sans MT"/>
              </a:rPr>
              <a:t>write </a:t>
            </a:r>
            <a:r>
              <a:rPr sz="2400" spc="-38" dirty="0">
                <a:solidFill>
                  <a:srgbClr val="535353"/>
                </a:solidFill>
                <a:latin typeface="Gill Sans MT"/>
                <a:cs typeface="Gill Sans MT"/>
              </a:rPr>
              <a:t>to </a:t>
            </a:r>
            <a:r>
              <a:rPr sz="2400" spc="-25" dirty="0">
                <a:solidFill>
                  <a:srgbClr val="535353"/>
                </a:solidFill>
                <a:latin typeface="Gill Sans MT"/>
                <a:cs typeface="Gill Sans MT"/>
              </a:rPr>
              <a:t>the </a:t>
            </a:r>
            <a:r>
              <a:rPr sz="2400" spc="-38" dirty="0">
                <a:solidFill>
                  <a:srgbClr val="535353"/>
                </a:solidFill>
                <a:latin typeface="Gill Sans MT"/>
                <a:cs typeface="Gill Sans MT"/>
              </a:rPr>
              <a:t>system </a:t>
            </a:r>
            <a:r>
              <a:rPr sz="2400" spc="-31" dirty="0">
                <a:solidFill>
                  <a:srgbClr val="535353"/>
                </a:solidFill>
                <a:latin typeface="Gill Sans MT"/>
                <a:cs typeface="Gill Sans MT"/>
              </a:rPr>
              <a:t>at </a:t>
            </a:r>
            <a:r>
              <a:rPr sz="2400" spc="-28" dirty="0">
                <a:solidFill>
                  <a:srgbClr val="535353"/>
                </a:solidFill>
                <a:latin typeface="Gill Sans MT"/>
                <a:cs typeface="Gill Sans MT"/>
              </a:rPr>
              <a:t>any </a:t>
            </a:r>
            <a:r>
              <a:rPr sz="2400" spc="-25" dirty="0">
                <a:solidFill>
                  <a:srgbClr val="535353"/>
                </a:solidFill>
                <a:latin typeface="Gill Sans MT"/>
                <a:cs typeface="Gill Sans MT"/>
              </a:rPr>
              <a:t>given</a:t>
            </a:r>
            <a:r>
              <a:rPr sz="2400" spc="153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400" spc="-38" dirty="0">
                <a:solidFill>
                  <a:srgbClr val="535353"/>
                </a:solidFill>
                <a:latin typeface="Gill Sans MT"/>
                <a:cs typeface="Gill Sans MT"/>
              </a:rPr>
              <a:t>point.</a:t>
            </a:r>
            <a:endParaRPr sz="2400" dirty="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 marL="1056566" marR="1053008" algn="ctr">
              <a:lnSpc>
                <a:spcPts val="2394"/>
              </a:lnSpc>
              <a:spcBef>
                <a:spcPts val="2068"/>
              </a:spcBef>
            </a:pPr>
            <a:r>
              <a:rPr sz="2400" spc="-33" dirty="0">
                <a:solidFill>
                  <a:srgbClr val="535353"/>
                </a:solidFill>
                <a:latin typeface="Gill Sans MT"/>
                <a:cs typeface="Gill Sans MT"/>
              </a:rPr>
              <a:t>Partition </a:t>
            </a:r>
            <a:r>
              <a:rPr sz="2400" spc="-36" dirty="0">
                <a:solidFill>
                  <a:srgbClr val="535353"/>
                </a:solidFill>
                <a:latin typeface="Gill Sans MT"/>
                <a:cs typeface="Gill Sans MT"/>
              </a:rPr>
              <a:t>tolerance: Whether </a:t>
            </a:r>
            <a:r>
              <a:rPr sz="2400" spc="-71" dirty="0">
                <a:solidFill>
                  <a:srgbClr val="535353"/>
                </a:solidFill>
                <a:latin typeface="Gill Sans MT"/>
                <a:cs typeface="Gill Sans MT"/>
              </a:rPr>
              <a:t>or </a:t>
            </a:r>
            <a:r>
              <a:rPr sz="2400" spc="-33" dirty="0">
                <a:solidFill>
                  <a:srgbClr val="535353"/>
                </a:solidFill>
                <a:latin typeface="Gill Sans MT"/>
                <a:cs typeface="Gill Sans MT"/>
              </a:rPr>
              <a:t>not </a:t>
            </a:r>
            <a:r>
              <a:rPr sz="2400" spc="-25" dirty="0">
                <a:solidFill>
                  <a:srgbClr val="535353"/>
                </a:solidFill>
                <a:latin typeface="Gill Sans MT"/>
                <a:cs typeface="Gill Sans MT"/>
              </a:rPr>
              <a:t>the </a:t>
            </a:r>
            <a:r>
              <a:rPr sz="2400" spc="-38" dirty="0">
                <a:solidFill>
                  <a:srgbClr val="535353"/>
                </a:solidFill>
                <a:latin typeface="Gill Sans MT"/>
                <a:cs typeface="Gill Sans MT"/>
              </a:rPr>
              <a:t>system tolerates </a:t>
            </a:r>
            <a:r>
              <a:rPr sz="2400" dirty="0">
                <a:solidFill>
                  <a:srgbClr val="535353"/>
                </a:solidFill>
                <a:latin typeface="Gill Sans MT"/>
                <a:cs typeface="Gill Sans MT"/>
              </a:rPr>
              <a:t>a </a:t>
            </a:r>
            <a:r>
              <a:rPr sz="2400" spc="-8" dirty="0">
                <a:solidFill>
                  <a:srgbClr val="535353"/>
                </a:solidFill>
                <a:latin typeface="Gill Sans MT"/>
                <a:cs typeface="Gill Sans MT"/>
              </a:rPr>
              <a:t>node </a:t>
            </a:r>
            <a:r>
              <a:rPr sz="2400" spc="-10" dirty="0">
                <a:solidFill>
                  <a:srgbClr val="535353"/>
                </a:solidFill>
                <a:latin typeface="Gill Sans MT"/>
                <a:cs typeface="Gill Sans MT"/>
              </a:rPr>
              <a:t>being  </a:t>
            </a:r>
            <a:r>
              <a:rPr sz="2400" spc="-25" dirty="0">
                <a:solidFill>
                  <a:srgbClr val="535353"/>
                </a:solidFill>
                <a:latin typeface="Gill Sans MT"/>
                <a:cs typeface="Gill Sans MT"/>
              </a:rPr>
              <a:t>disconnected </a:t>
            </a:r>
            <a:r>
              <a:rPr sz="2400" spc="-41" dirty="0">
                <a:solidFill>
                  <a:srgbClr val="535353"/>
                </a:solidFill>
                <a:latin typeface="Gill Sans MT"/>
                <a:cs typeface="Gill Sans MT"/>
              </a:rPr>
              <a:t>from </a:t>
            </a:r>
            <a:r>
              <a:rPr sz="2400" spc="-25" dirty="0">
                <a:solidFill>
                  <a:srgbClr val="535353"/>
                </a:solidFill>
                <a:latin typeface="Gill Sans MT"/>
                <a:cs typeface="Gill Sans MT"/>
              </a:rPr>
              <a:t>the</a:t>
            </a:r>
            <a:r>
              <a:rPr sz="2400" spc="43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400" spc="-46" dirty="0">
                <a:solidFill>
                  <a:srgbClr val="535353"/>
                </a:solidFill>
                <a:latin typeface="Gill Sans MT"/>
                <a:cs typeface="Gill Sans MT"/>
              </a:rPr>
              <a:t>system.</a:t>
            </a:r>
            <a:endParaRPr sz="2400" dirty="0">
              <a:latin typeface="Gill Sans MT"/>
              <a:cs typeface="Gill Sans M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63230" y="1371600"/>
            <a:ext cx="7222200" cy="867652"/>
          </a:xfrm>
          <a:prstGeom prst="rect">
            <a:avLst/>
          </a:prstGeom>
        </p:spPr>
        <p:txBody>
          <a:bodyPr vert="horz" wrap="square" lIns="0" tIns="5821" rIns="0" bIns="0" rtlCol="0">
            <a:spAutoFit/>
          </a:bodyPr>
          <a:lstStyle/>
          <a:p>
            <a:pPr marL="6468">
              <a:spcBef>
                <a:spcPts val="46"/>
              </a:spcBef>
            </a:pPr>
            <a:r>
              <a:rPr sz="2800" b="1" spc="-140" dirty="0">
                <a:solidFill>
                  <a:srgbClr val="535353"/>
                </a:solidFill>
                <a:latin typeface="Gill Sans MT"/>
                <a:cs typeface="Gill Sans MT"/>
              </a:rPr>
              <a:t>Where </a:t>
            </a:r>
            <a:r>
              <a:rPr sz="2800" b="1" spc="-84" dirty="0">
                <a:solidFill>
                  <a:srgbClr val="535353"/>
                </a:solidFill>
                <a:latin typeface="Gill Sans MT"/>
                <a:cs typeface="Gill Sans MT"/>
              </a:rPr>
              <a:t>does </a:t>
            </a:r>
            <a:r>
              <a:rPr sz="2800" b="1" spc="-112" dirty="0">
                <a:solidFill>
                  <a:srgbClr val="535353"/>
                </a:solidFill>
                <a:latin typeface="Gill Sans MT"/>
                <a:cs typeface="Gill Sans MT"/>
              </a:rPr>
              <a:t>Cassandra </a:t>
            </a:r>
            <a:r>
              <a:rPr sz="2800" b="1" spc="-76" dirty="0">
                <a:solidFill>
                  <a:srgbClr val="535353"/>
                </a:solidFill>
                <a:latin typeface="Gill Sans MT"/>
                <a:cs typeface="Gill Sans MT"/>
              </a:rPr>
              <a:t>fit </a:t>
            </a:r>
            <a:r>
              <a:rPr sz="2800" b="1" spc="-94" dirty="0">
                <a:solidFill>
                  <a:srgbClr val="535353"/>
                </a:solidFill>
                <a:latin typeface="Gill Sans MT"/>
                <a:cs typeface="Gill Sans MT"/>
              </a:rPr>
              <a:t>within </a:t>
            </a:r>
            <a:r>
              <a:rPr sz="2800" b="1" spc="-109" dirty="0">
                <a:solidFill>
                  <a:srgbClr val="535353"/>
                </a:solidFill>
                <a:latin typeface="Gill Sans MT"/>
                <a:cs typeface="Gill Sans MT"/>
              </a:rPr>
              <a:t>the </a:t>
            </a:r>
            <a:r>
              <a:rPr sz="2800" b="1" spc="-163" dirty="0">
                <a:solidFill>
                  <a:srgbClr val="535353"/>
                </a:solidFill>
                <a:latin typeface="Gill Sans MT"/>
                <a:cs typeface="Gill Sans MT"/>
              </a:rPr>
              <a:t>CAP</a:t>
            </a:r>
            <a:r>
              <a:rPr sz="2800" b="1" spc="420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800" b="1" spc="-132" dirty="0">
                <a:solidFill>
                  <a:srgbClr val="535353"/>
                </a:solidFill>
                <a:latin typeface="Gill Sans MT"/>
                <a:cs typeface="Gill Sans MT"/>
              </a:rPr>
              <a:t>Theorem?</a:t>
            </a:r>
            <a:endParaRPr sz="28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92805" y="3125857"/>
            <a:ext cx="6163102" cy="2543552"/>
          </a:xfrm>
          <a:prstGeom prst="rect">
            <a:avLst/>
          </a:prstGeom>
        </p:spPr>
        <p:txBody>
          <a:bodyPr vert="horz" wrap="square" lIns="0" tIns="29753" rIns="0" bIns="0" rtlCol="0">
            <a:spAutoFit/>
          </a:bodyPr>
          <a:lstStyle/>
          <a:p>
            <a:pPr marL="6468" marR="2587" algn="ctr">
              <a:lnSpc>
                <a:spcPts val="2394"/>
              </a:lnSpc>
              <a:spcBef>
                <a:spcPts val="234"/>
              </a:spcBef>
            </a:pPr>
            <a:r>
              <a:rPr sz="3200" spc="-25" dirty="0">
                <a:solidFill>
                  <a:srgbClr val="535353"/>
                </a:solidFill>
                <a:latin typeface="Gill Sans MT"/>
                <a:cs typeface="Gill Sans MT"/>
              </a:rPr>
              <a:t>AP</a:t>
            </a:r>
            <a:endParaRPr lang="en-US" sz="3200" spc="-25" dirty="0">
              <a:solidFill>
                <a:srgbClr val="535353"/>
              </a:solidFill>
              <a:latin typeface="Gill Sans MT"/>
              <a:cs typeface="Gill Sans MT"/>
            </a:endParaRPr>
          </a:p>
          <a:p>
            <a:pPr marL="6468" marR="2587" algn="ctr">
              <a:lnSpc>
                <a:spcPts val="2394"/>
              </a:lnSpc>
              <a:spcBef>
                <a:spcPts val="234"/>
              </a:spcBef>
            </a:pPr>
            <a:endParaRPr lang="en-US" sz="3200" spc="-25" dirty="0">
              <a:solidFill>
                <a:srgbClr val="535353"/>
              </a:solidFill>
              <a:latin typeface="Gill Sans MT"/>
              <a:cs typeface="Gill Sans MT"/>
            </a:endParaRPr>
          </a:p>
          <a:p>
            <a:pPr marL="6468" marR="2587" algn="ctr">
              <a:lnSpc>
                <a:spcPts val="2394"/>
              </a:lnSpc>
              <a:spcBef>
                <a:spcPts val="234"/>
              </a:spcBef>
            </a:pPr>
            <a:r>
              <a:rPr sz="3200" spc="-31" dirty="0">
                <a:solidFill>
                  <a:srgbClr val="535353"/>
                </a:solidFill>
                <a:latin typeface="Gill Sans MT"/>
                <a:cs typeface="Gill Sans MT"/>
              </a:rPr>
              <a:t>Cassandra </a:t>
            </a:r>
            <a:r>
              <a:rPr sz="3200" spc="-33" dirty="0">
                <a:solidFill>
                  <a:srgbClr val="535353"/>
                </a:solidFill>
                <a:latin typeface="Gill Sans MT"/>
                <a:cs typeface="Gill Sans MT"/>
              </a:rPr>
              <a:t>trades </a:t>
            </a:r>
            <a:r>
              <a:rPr sz="3200" spc="-18" dirty="0">
                <a:solidFill>
                  <a:srgbClr val="535353"/>
                </a:solidFill>
                <a:latin typeface="Gill Sans MT"/>
                <a:cs typeface="Gill Sans MT"/>
              </a:rPr>
              <a:t>off </a:t>
            </a:r>
            <a:r>
              <a:rPr sz="3200" spc="-38" dirty="0">
                <a:solidFill>
                  <a:srgbClr val="535353"/>
                </a:solidFill>
                <a:latin typeface="Gill Sans MT"/>
                <a:cs typeface="Gill Sans MT"/>
              </a:rPr>
              <a:t>consistency </a:t>
            </a:r>
            <a:r>
              <a:rPr sz="3200" spc="-41" dirty="0">
                <a:solidFill>
                  <a:srgbClr val="535353"/>
                </a:solidFill>
                <a:latin typeface="Gill Sans MT"/>
                <a:cs typeface="Gill Sans MT"/>
              </a:rPr>
              <a:t>in </a:t>
            </a:r>
            <a:r>
              <a:rPr sz="3200" spc="-53" dirty="0">
                <a:solidFill>
                  <a:srgbClr val="535353"/>
                </a:solidFill>
                <a:latin typeface="Gill Sans MT"/>
                <a:cs typeface="Gill Sans MT"/>
              </a:rPr>
              <a:t>order </a:t>
            </a:r>
            <a:r>
              <a:rPr sz="3200" spc="-38" dirty="0">
                <a:solidFill>
                  <a:srgbClr val="535353"/>
                </a:solidFill>
                <a:latin typeface="Gill Sans MT"/>
                <a:cs typeface="Gill Sans MT"/>
              </a:rPr>
              <a:t>to </a:t>
            </a:r>
            <a:r>
              <a:rPr sz="3200" spc="-18" dirty="0">
                <a:solidFill>
                  <a:srgbClr val="535353"/>
                </a:solidFill>
                <a:latin typeface="Gill Sans MT"/>
                <a:cs typeface="Gill Sans MT"/>
              </a:rPr>
              <a:t>guarantee  </a:t>
            </a:r>
            <a:r>
              <a:rPr sz="3200" spc="-38" dirty="0">
                <a:solidFill>
                  <a:srgbClr val="535353"/>
                </a:solidFill>
                <a:latin typeface="Gill Sans MT"/>
                <a:cs typeface="Gill Sans MT"/>
              </a:rPr>
              <a:t>availability </a:t>
            </a:r>
            <a:r>
              <a:rPr sz="3200" spc="-3" dirty="0">
                <a:solidFill>
                  <a:srgbClr val="535353"/>
                </a:solidFill>
                <a:latin typeface="Gill Sans MT"/>
                <a:cs typeface="Gill Sans MT"/>
              </a:rPr>
              <a:t>and </a:t>
            </a:r>
            <a:r>
              <a:rPr sz="3200" spc="-25" dirty="0">
                <a:solidFill>
                  <a:srgbClr val="535353"/>
                </a:solidFill>
                <a:latin typeface="Gill Sans MT"/>
                <a:cs typeface="Gill Sans MT"/>
              </a:rPr>
              <a:t>partition </a:t>
            </a:r>
            <a:r>
              <a:rPr sz="3200" spc="-31" dirty="0">
                <a:solidFill>
                  <a:srgbClr val="535353"/>
                </a:solidFill>
                <a:latin typeface="Gill Sans MT"/>
                <a:cs typeface="Gill Sans MT"/>
              </a:rPr>
              <a:t>tolerance, </a:t>
            </a:r>
            <a:r>
              <a:rPr sz="3200" spc="-25" dirty="0">
                <a:solidFill>
                  <a:srgbClr val="535353"/>
                </a:solidFill>
                <a:latin typeface="Gill Sans MT"/>
                <a:cs typeface="Gill Sans MT"/>
              </a:rPr>
              <a:t>but </a:t>
            </a:r>
            <a:r>
              <a:rPr sz="3200" spc="-41" dirty="0">
                <a:solidFill>
                  <a:srgbClr val="535353"/>
                </a:solidFill>
                <a:latin typeface="Gill Sans MT"/>
                <a:cs typeface="Gill Sans MT"/>
              </a:rPr>
              <a:t>in </a:t>
            </a:r>
            <a:r>
              <a:rPr sz="3200" dirty="0">
                <a:solidFill>
                  <a:srgbClr val="535353"/>
                </a:solidFill>
                <a:latin typeface="Gill Sans MT"/>
                <a:cs typeface="Gill Sans MT"/>
              </a:rPr>
              <a:t>a </a:t>
            </a:r>
            <a:r>
              <a:rPr sz="3200" spc="-18" dirty="0">
                <a:solidFill>
                  <a:srgbClr val="535353"/>
                </a:solidFill>
                <a:latin typeface="Gill Sans MT"/>
                <a:cs typeface="Gill Sans MT"/>
              </a:rPr>
              <a:t>configurable </a:t>
            </a:r>
            <a:r>
              <a:rPr sz="3200" spc="-92" dirty="0">
                <a:solidFill>
                  <a:srgbClr val="535353"/>
                </a:solidFill>
                <a:latin typeface="Gill Sans MT"/>
                <a:cs typeface="Gill Sans MT"/>
              </a:rPr>
              <a:t>way, </a:t>
            </a:r>
            <a:r>
              <a:rPr sz="3200" spc="-41" dirty="0">
                <a:solidFill>
                  <a:srgbClr val="535353"/>
                </a:solidFill>
                <a:latin typeface="Gill Sans MT"/>
                <a:cs typeface="Gill Sans MT"/>
              </a:rPr>
              <a:t>so </a:t>
            </a:r>
            <a:r>
              <a:rPr sz="3200" spc="-92" dirty="0">
                <a:solidFill>
                  <a:srgbClr val="535353"/>
                </a:solidFill>
                <a:latin typeface="Gill Sans MT"/>
                <a:cs typeface="Gill Sans MT"/>
              </a:rPr>
              <a:t>it’s  </a:t>
            </a:r>
            <a:r>
              <a:rPr sz="3200" dirty="0">
                <a:solidFill>
                  <a:srgbClr val="535353"/>
                </a:solidFill>
                <a:latin typeface="Gill Sans MT"/>
                <a:cs typeface="Gill Sans MT"/>
              </a:rPr>
              <a:t>up </a:t>
            </a:r>
            <a:r>
              <a:rPr sz="3200" spc="-38" dirty="0">
                <a:solidFill>
                  <a:srgbClr val="535353"/>
                </a:solidFill>
                <a:latin typeface="Gill Sans MT"/>
                <a:cs typeface="Gill Sans MT"/>
              </a:rPr>
              <a:t>to </a:t>
            </a:r>
            <a:r>
              <a:rPr sz="3200" spc="-25" dirty="0">
                <a:solidFill>
                  <a:srgbClr val="535353"/>
                </a:solidFill>
                <a:latin typeface="Gill Sans MT"/>
                <a:cs typeface="Gill Sans MT"/>
              </a:rPr>
              <a:t>the developer </a:t>
            </a:r>
            <a:r>
              <a:rPr sz="3200" spc="-33" dirty="0">
                <a:solidFill>
                  <a:srgbClr val="535353"/>
                </a:solidFill>
                <a:latin typeface="Gill Sans MT"/>
                <a:cs typeface="Gill Sans MT"/>
              </a:rPr>
              <a:t>where </a:t>
            </a:r>
            <a:r>
              <a:rPr sz="3200" spc="-38" dirty="0">
                <a:solidFill>
                  <a:srgbClr val="535353"/>
                </a:solidFill>
                <a:latin typeface="Gill Sans MT"/>
                <a:cs typeface="Gill Sans MT"/>
              </a:rPr>
              <a:t>to </a:t>
            </a:r>
            <a:r>
              <a:rPr sz="3200" spc="-64" dirty="0">
                <a:solidFill>
                  <a:srgbClr val="535353"/>
                </a:solidFill>
                <a:latin typeface="Gill Sans MT"/>
                <a:cs typeface="Gill Sans MT"/>
              </a:rPr>
              <a:t>sit </a:t>
            </a:r>
            <a:r>
              <a:rPr sz="3200" spc="-61" dirty="0">
                <a:solidFill>
                  <a:srgbClr val="535353"/>
                </a:solidFill>
                <a:latin typeface="Gill Sans MT"/>
                <a:cs typeface="Gill Sans MT"/>
              </a:rPr>
              <a:t>for </a:t>
            </a:r>
            <a:r>
              <a:rPr sz="3200" spc="-13" dirty="0">
                <a:solidFill>
                  <a:srgbClr val="535353"/>
                </a:solidFill>
                <a:latin typeface="Gill Sans MT"/>
                <a:cs typeface="Gill Sans MT"/>
              </a:rPr>
              <a:t>each</a:t>
            </a:r>
            <a:r>
              <a:rPr sz="3200" spc="280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3200" spc="-48" dirty="0">
                <a:solidFill>
                  <a:srgbClr val="535353"/>
                </a:solidFill>
                <a:latin typeface="Gill Sans MT"/>
                <a:cs typeface="Gill Sans MT"/>
              </a:rPr>
              <a:t>query.</a:t>
            </a:r>
            <a:endParaRPr sz="3200" dirty="0">
              <a:latin typeface="Gill Sans MT"/>
              <a:cs typeface="Gill Sans M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pc="-65" dirty="0"/>
              <a:t>Two </a:t>
            </a:r>
            <a:r>
              <a:rPr lang="en-US" spc="-5" dirty="0"/>
              <a:t>knobs control Cassandra fault</a:t>
            </a:r>
            <a:r>
              <a:rPr lang="en-US" spc="65" dirty="0"/>
              <a:t> </a:t>
            </a:r>
            <a:r>
              <a:rPr lang="en-US" spc="-5" dirty="0"/>
              <a:t>tolerance</a:t>
            </a:r>
            <a:endParaRPr 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411040" y="2161164"/>
            <a:ext cx="9906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Arial"/>
                <a:cs typeface="Arial"/>
              </a:rPr>
              <a:t>•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6627" y="2057400"/>
            <a:ext cx="5446395" cy="76962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200" spc="-10" dirty="0">
                <a:latin typeface="Verdana"/>
                <a:cs typeface="Verdana"/>
              </a:rPr>
              <a:t>Replication </a:t>
            </a:r>
            <a:r>
              <a:rPr sz="2200" spc="-20" dirty="0">
                <a:latin typeface="Verdana"/>
                <a:cs typeface="Verdana"/>
              </a:rPr>
              <a:t>Factor </a:t>
            </a:r>
            <a:r>
              <a:rPr sz="2200" spc="-5" dirty="0">
                <a:latin typeface="Verdana"/>
                <a:cs typeface="Verdana"/>
              </a:rPr>
              <a:t>(server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side)</a:t>
            </a:r>
            <a:endParaRPr sz="2200">
              <a:latin typeface="Verdana"/>
              <a:cs typeface="Verdana"/>
            </a:endParaRPr>
          </a:p>
          <a:p>
            <a:pPr marL="213995">
              <a:lnSpc>
                <a:spcPct val="100000"/>
              </a:lnSpc>
              <a:spcBef>
                <a:spcPts val="475"/>
              </a:spcBef>
              <a:tabLst>
                <a:tab pos="499745" algn="l"/>
              </a:tabLst>
            </a:pPr>
            <a:r>
              <a:rPr sz="2700" baseline="3086" dirty="0">
                <a:latin typeface="Arial"/>
                <a:cs typeface="Arial"/>
              </a:rPr>
              <a:t>–	</a:t>
            </a:r>
            <a:r>
              <a:rPr sz="1800" spc="-5" dirty="0">
                <a:latin typeface="Verdana"/>
                <a:cs typeface="Verdana"/>
              </a:rPr>
              <a:t>How many copies of the data should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exist?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06740" y="4223197"/>
            <a:ext cx="1155700" cy="520700"/>
          </a:xfrm>
          <a:custGeom>
            <a:avLst/>
            <a:gdLst/>
            <a:ahLst/>
            <a:cxnLst/>
            <a:rect l="l" t="t" r="r" b="b"/>
            <a:pathLst>
              <a:path w="1155700" h="520700">
                <a:moveTo>
                  <a:pt x="0" y="0"/>
                </a:moveTo>
                <a:lnTo>
                  <a:pt x="1155700" y="0"/>
                </a:lnTo>
                <a:lnTo>
                  <a:pt x="1155700" y="520700"/>
                </a:lnTo>
                <a:lnTo>
                  <a:pt x="0" y="520700"/>
                </a:lnTo>
                <a:lnTo>
                  <a:pt x="0" y="0"/>
                </a:lnTo>
                <a:close/>
              </a:path>
            </a:pathLst>
          </a:custGeom>
          <a:solidFill>
            <a:srgbClr val="DDAE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106740" y="4223197"/>
            <a:ext cx="1155700" cy="520700"/>
          </a:xfrm>
          <a:prstGeom prst="rect">
            <a:avLst/>
          </a:prstGeom>
          <a:ln w="25400">
            <a:solidFill>
              <a:srgbClr val="A17F3D"/>
            </a:solidFill>
          </a:ln>
        </p:spPr>
        <p:txBody>
          <a:bodyPr vert="horz" wrap="square" lIns="0" tIns="119380" rIns="0" bIns="0" rtlCol="0">
            <a:spAutoFit/>
          </a:bodyPr>
          <a:lstStyle/>
          <a:p>
            <a:pPr marL="281305">
              <a:lnSpc>
                <a:spcPct val="100000"/>
              </a:lnSpc>
              <a:spcBef>
                <a:spcPts val="940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Client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18305" y="3608423"/>
            <a:ext cx="1869439" cy="1824355"/>
          </a:xfrm>
          <a:custGeom>
            <a:avLst/>
            <a:gdLst/>
            <a:ahLst/>
            <a:cxnLst/>
            <a:rect l="l" t="t" r="r" b="b"/>
            <a:pathLst>
              <a:path w="1869440" h="1824354">
                <a:moveTo>
                  <a:pt x="1595656" y="267143"/>
                </a:moveTo>
                <a:lnTo>
                  <a:pt x="1629848" y="302289"/>
                </a:lnTo>
                <a:lnTo>
                  <a:pt x="1661761" y="338728"/>
                </a:lnTo>
                <a:lnTo>
                  <a:pt x="1691394" y="376370"/>
                </a:lnTo>
                <a:lnTo>
                  <a:pt x="1718747" y="415127"/>
                </a:lnTo>
                <a:lnTo>
                  <a:pt x="1743821" y="454909"/>
                </a:lnTo>
                <a:lnTo>
                  <a:pt x="1766616" y="495626"/>
                </a:lnTo>
                <a:lnTo>
                  <a:pt x="1787131" y="537191"/>
                </a:lnTo>
                <a:lnTo>
                  <a:pt x="1805366" y="579513"/>
                </a:lnTo>
                <a:lnTo>
                  <a:pt x="1821323" y="622504"/>
                </a:lnTo>
                <a:lnTo>
                  <a:pt x="1834999" y="666075"/>
                </a:lnTo>
                <a:lnTo>
                  <a:pt x="1846397" y="710135"/>
                </a:lnTo>
                <a:lnTo>
                  <a:pt x="1855515" y="754597"/>
                </a:lnTo>
                <a:lnTo>
                  <a:pt x="1862353" y="799371"/>
                </a:lnTo>
                <a:lnTo>
                  <a:pt x="1866912" y="844368"/>
                </a:lnTo>
                <a:lnTo>
                  <a:pt x="1869191" y="889498"/>
                </a:lnTo>
                <a:lnTo>
                  <a:pt x="1869191" y="934673"/>
                </a:lnTo>
                <a:lnTo>
                  <a:pt x="1866912" y="979803"/>
                </a:lnTo>
                <a:lnTo>
                  <a:pt x="1862353" y="1024800"/>
                </a:lnTo>
                <a:lnTo>
                  <a:pt x="1855515" y="1069574"/>
                </a:lnTo>
                <a:lnTo>
                  <a:pt x="1846397" y="1114036"/>
                </a:lnTo>
                <a:lnTo>
                  <a:pt x="1834999" y="1158096"/>
                </a:lnTo>
                <a:lnTo>
                  <a:pt x="1821323" y="1201666"/>
                </a:lnTo>
                <a:lnTo>
                  <a:pt x="1805366" y="1244657"/>
                </a:lnTo>
                <a:lnTo>
                  <a:pt x="1787131" y="1286980"/>
                </a:lnTo>
                <a:lnTo>
                  <a:pt x="1766616" y="1328544"/>
                </a:lnTo>
                <a:lnTo>
                  <a:pt x="1743821" y="1369262"/>
                </a:lnTo>
                <a:lnTo>
                  <a:pt x="1718747" y="1409044"/>
                </a:lnTo>
                <a:lnTo>
                  <a:pt x="1691394" y="1447800"/>
                </a:lnTo>
                <a:lnTo>
                  <a:pt x="1661761" y="1485442"/>
                </a:lnTo>
                <a:lnTo>
                  <a:pt x="1629848" y="1521881"/>
                </a:lnTo>
                <a:lnTo>
                  <a:pt x="1595656" y="1557027"/>
                </a:lnTo>
                <a:lnTo>
                  <a:pt x="1560778" y="1589377"/>
                </a:lnTo>
                <a:lnTo>
                  <a:pt x="1524654" y="1619639"/>
                </a:lnTo>
                <a:lnTo>
                  <a:pt x="1487366" y="1647814"/>
                </a:lnTo>
                <a:lnTo>
                  <a:pt x="1448999" y="1673903"/>
                </a:lnTo>
                <a:lnTo>
                  <a:pt x="1409635" y="1697904"/>
                </a:lnTo>
                <a:lnTo>
                  <a:pt x="1369357" y="1719818"/>
                </a:lnTo>
                <a:lnTo>
                  <a:pt x="1328248" y="1739645"/>
                </a:lnTo>
                <a:lnTo>
                  <a:pt x="1286392" y="1757385"/>
                </a:lnTo>
                <a:lnTo>
                  <a:pt x="1243871" y="1773038"/>
                </a:lnTo>
                <a:lnTo>
                  <a:pt x="1200769" y="1786604"/>
                </a:lnTo>
                <a:lnTo>
                  <a:pt x="1157168" y="1798083"/>
                </a:lnTo>
                <a:lnTo>
                  <a:pt x="1113152" y="1807475"/>
                </a:lnTo>
                <a:lnTo>
                  <a:pt x="1068804" y="1814779"/>
                </a:lnTo>
                <a:lnTo>
                  <a:pt x="1024206" y="1819997"/>
                </a:lnTo>
                <a:lnTo>
                  <a:pt x="979442" y="1823127"/>
                </a:lnTo>
                <a:lnTo>
                  <a:pt x="934596" y="1824171"/>
                </a:lnTo>
                <a:lnTo>
                  <a:pt x="889749" y="1823127"/>
                </a:lnTo>
                <a:lnTo>
                  <a:pt x="844985" y="1819997"/>
                </a:lnTo>
                <a:lnTo>
                  <a:pt x="800387" y="1814779"/>
                </a:lnTo>
                <a:lnTo>
                  <a:pt x="756039" y="1807475"/>
                </a:lnTo>
                <a:lnTo>
                  <a:pt x="712023" y="1798083"/>
                </a:lnTo>
                <a:lnTo>
                  <a:pt x="668422" y="1786604"/>
                </a:lnTo>
                <a:lnTo>
                  <a:pt x="625320" y="1773038"/>
                </a:lnTo>
                <a:lnTo>
                  <a:pt x="582799" y="1757385"/>
                </a:lnTo>
                <a:lnTo>
                  <a:pt x="540943" y="1739645"/>
                </a:lnTo>
                <a:lnTo>
                  <a:pt x="499834" y="1719818"/>
                </a:lnTo>
                <a:lnTo>
                  <a:pt x="459556" y="1697904"/>
                </a:lnTo>
                <a:lnTo>
                  <a:pt x="420192" y="1673903"/>
                </a:lnTo>
                <a:lnTo>
                  <a:pt x="381825" y="1647814"/>
                </a:lnTo>
                <a:lnTo>
                  <a:pt x="344537" y="1619639"/>
                </a:lnTo>
                <a:lnTo>
                  <a:pt x="308413" y="1589377"/>
                </a:lnTo>
                <a:lnTo>
                  <a:pt x="273535" y="1557027"/>
                </a:lnTo>
                <a:lnTo>
                  <a:pt x="239343" y="1521881"/>
                </a:lnTo>
                <a:lnTo>
                  <a:pt x="207430" y="1485442"/>
                </a:lnTo>
                <a:lnTo>
                  <a:pt x="177797" y="1447800"/>
                </a:lnTo>
                <a:lnTo>
                  <a:pt x="150444" y="1409044"/>
                </a:lnTo>
                <a:lnTo>
                  <a:pt x="125370" y="1369262"/>
                </a:lnTo>
                <a:lnTo>
                  <a:pt x="102575" y="1328544"/>
                </a:lnTo>
                <a:lnTo>
                  <a:pt x="82060" y="1286980"/>
                </a:lnTo>
                <a:lnTo>
                  <a:pt x="63824" y="1244657"/>
                </a:lnTo>
                <a:lnTo>
                  <a:pt x="47868" y="1201666"/>
                </a:lnTo>
                <a:lnTo>
                  <a:pt x="34191" y="1158096"/>
                </a:lnTo>
                <a:lnTo>
                  <a:pt x="22794" y="1114036"/>
                </a:lnTo>
                <a:lnTo>
                  <a:pt x="13676" y="1069574"/>
                </a:lnTo>
                <a:lnTo>
                  <a:pt x="6838" y="1024800"/>
                </a:lnTo>
                <a:lnTo>
                  <a:pt x="2279" y="979803"/>
                </a:lnTo>
                <a:lnTo>
                  <a:pt x="0" y="934673"/>
                </a:lnTo>
                <a:lnTo>
                  <a:pt x="0" y="889498"/>
                </a:lnTo>
                <a:lnTo>
                  <a:pt x="2279" y="844368"/>
                </a:lnTo>
                <a:lnTo>
                  <a:pt x="6838" y="799371"/>
                </a:lnTo>
                <a:lnTo>
                  <a:pt x="13676" y="754597"/>
                </a:lnTo>
                <a:lnTo>
                  <a:pt x="22794" y="710135"/>
                </a:lnTo>
                <a:lnTo>
                  <a:pt x="34191" y="666075"/>
                </a:lnTo>
                <a:lnTo>
                  <a:pt x="47868" y="622504"/>
                </a:lnTo>
                <a:lnTo>
                  <a:pt x="63824" y="579513"/>
                </a:lnTo>
                <a:lnTo>
                  <a:pt x="82060" y="537191"/>
                </a:lnTo>
                <a:lnTo>
                  <a:pt x="102575" y="495626"/>
                </a:lnTo>
                <a:lnTo>
                  <a:pt x="125370" y="454909"/>
                </a:lnTo>
                <a:lnTo>
                  <a:pt x="150444" y="415127"/>
                </a:lnTo>
                <a:lnTo>
                  <a:pt x="177797" y="376370"/>
                </a:lnTo>
                <a:lnTo>
                  <a:pt x="207430" y="338728"/>
                </a:lnTo>
                <a:lnTo>
                  <a:pt x="239343" y="302289"/>
                </a:lnTo>
                <a:lnTo>
                  <a:pt x="273535" y="267143"/>
                </a:lnTo>
                <a:lnTo>
                  <a:pt x="308413" y="234794"/>
                </a:lnTo>
                <a:lnTo>
                  <a:pt x="344537" y="204531"/>
                </a:lnTo>
                <a:lnTo>
                  <a:pt x="381825" y="176356"/>
                </a:lnTo>
                <a:lnTo>
                  <a:pt x="420192" y="150268"/>
                </a:lnTo>
                <a:lnTo>
                  <a:pt x="459556" y="126267"/>
                </a:lnTo>
                <a:lnTo>
                  <a:pt x="499834" y="104353"/>
                </a:lnTo>
                <a:lnTo>
                  <a:pt x="540943" y="84525"/>
                </a:lnTo>
                <a:lnTo>
                  <a:pt x="582799" y="66785"/>
                </a:lnTo>
                <a:lnTo>
                  <a:pt x="625320" y="51132"/>
                </a:lnTo>
                <a:lnTo>
                  <a:pt x="668422" y="37567"/>
                </a:lnTo>
                <a:lnTo>
                  <a:pt x="712023" y="26088"/>
                </a:lnTo>
                <a:lnTo>
                  <a:pt x="756039" y="16696"/>
                </a:lnTo>
                <a:lnTo>
                  <a:pt x="800387" y="9391"/>
                </a:lnTo>
                <a:lnTo>
                  <a:pt x="844985" y="4174"/>
                </a:lnTo>
                <a:lnTo>
                  <a:pt x="889749" y="1043"/>
                </a:lnTo>
                <a:lnTo>
                  <a:pt x="934596" y="0"/>
                </a:lnTo>
                <a:lnTo>
                  <a:pt x="979442" y="1043"/>
                </a:lnTo>
                <a:lnTo>
                  <a:pt x="1024206" y="4174"/>
                </a:lnTo>
                <a:lnTo>
                  <a:pt x="1068804" y="9391"/>
                </a:lnTo>
                <a:lnTo>
                  <a:pt x="1113152" y="16696"/>
                </a:lnTo>
                <a:lnTo>
                  <a:pt x="1157168" y="26088"/>
                </a:lnTo>
                <a:lnTo>
                  <a:pt x="1200769" y="37567"/>
                </a:lnTo>
                <a:lnTo>
                  <a:pt x="1243871" y="51132"/>
                </a:lnTo>
                <a:lnTo>
                  <a:pt x="1286392" y="66785"/>
                </a:lnTo>
                <a:lnTo>
                  <a:pt x="1328248" y="84525"/>
                </a:lnTo>
                <a:lnTo>
                  <a:pt x="1369357" y="104353"/>
                </a:lnTo>
                <a:lnTo>
                  <a:pt x="1409635" y="126267"/>
                </a:lnTo>
                <a:lnTo>
                  <a:pt x="1448999" y="150268"/>
                </a:lnTo>
                <a:lnTo>
                  <a:pt x="1487366" y="176356"/>
                </a:lnTo>
                <a:lnTo>
                  <a:pt x="1524654" y="204531"/>
                </a:lnTo>
                <a:lnTo>
                  <a:pt x="1560778" y="234794"/>
                </a:lnTo>
                <a:lnTo>
                  <a:pt x="1595656" y="267143"/>
                </a:lnTo>
                <a:close/>
              </a:path>
            </a:pathLst>
          </a:custGeom>
          <a:ln w="101600">
            <a:solidFill>
              <a:srgbClr val="1F49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37450" y="3390139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8"/>
                </a:lnTo>
                <a:lnTo>
                  <a:pt x="118531" y="145773"/>
                </a:lnTo>
                <a:lnTo>
                  <a:pt x="88768" y="180856"/>
                </a:lnTo>
                <a:lnTo>
                  <a:pt x="62814" y="218788"/>
                </a:lnTo>
                <a:lnTo>
                  <a:pt x="40949" y="259299"/>
                </a:lnTo>
                <a:lnTo>
                  <a:pt x="23455" y="302120"/>
                </a:lnTo>
                <a:lnTo>
                  <a:pt x="10611" y="346981"/>
                </a:lnTo>
                <a:lnTo>
                  <a:pt x="2699" y="393613"/>
                </a:lnTo>
                <a:lnTo>
                  <a:pt x="0" y="441746"/>
                </a:lnTo>
                <a:lnTo>
                  <a:pt x="2699" y="489879"/>
                </a:lnTo>
                <a:lnTo>
                  <a:pt x="10611" y="536511"/>
                </a:lnTo>
                <a:lnTo>
                  <a:pt x="23455" y="581373"/>
                </a:lnTo>
                <a:lnTo>
                  <a:pt x="40949" y="624193"/>
                </a:lnTo>
                <a:lnTo>
                  <a:pt x="62814" y="664705"/>
                </a:lnTo>
                <a:lnTo>
                  <a:pt x="88768" y="702636"/>
                </a:lnTo>
                <a:lnTo>
                  <a:pt x="118531" y="737719"/>
                </a:lnTo>
                <a:lnTo>
                  <a:pt x="151822" y="769684"/>
                </a:lnTo>
                <a:lnTo>
                  <a:pt x="188361" y="798262"/>
                </a:lnTo>
                <a:lnTo>
                  <a:pt x="227867" y="823182"/>
                </a:lnTo>
                <a:lnTo>
                  <a:pt x="270059" y="844175"/>
                </a:lnTo>
                <a:lnTo>
                  <a:pt x="314657" y="860972"/>
                </a:lnTo>
                <a:lnTo>
                  <a:pt x="361380" y="873304"/>
                </a:lnTo>
                <a:lnTo>
                  <a:pt x="409947" y="880901"/>
                </a:lnTo>
                <a:lnTo>
                  <a:pt x="460077" y="883493"/>
                </a:lnTo>
                <a:lnTo>
                  <a:pt x="510208" y="880901"/>
                </a:lnTo>
                <a:lnTo>
                  <a:pt x="558775" y="873304"/>
                </a:lnTo>
                <a:lnTo>
                  <a:pt x="605498" y="860972"/>
                </a:lnTo>
                <a:lnTo>
                  <a:pt x="650095" y="844175"/>
                </a:lnTo>
                <a:lnTo>
                  <a:pt x="692288" y="823182"/>
                </a:lnTo>
                <a:lnTo>
                  <a:pt x="731794" y="798262"/>
                </a:lnTo>
                <a:lnTo>
                  <a:pt x="768333" y="769684"/>
                </a:lnTo>
                <a:lnTo>
                  <a:pt x="801624" y="737719"/>
                </a:lnTo>
                <a:lnTo>
                  <a:pt x="831388" y="702636"/>
                </a:lnTo>
                <a:lnTo>
                  <a:pt x="857342" y="664705"/>
                </a:lnTo>
                <a:lnTo>
                  <a:pt x="879207" y="624193"/>
                </a:lnTo>
                <a:lnTo>
                  <a:pt x="896701" y="581373"/>
                </a:lnTo>
                <a:lnTo>
                  <a:pt x="909545" y="536511"/>
                </a:lnTo>
                <a:lnTo>
                  <a:pt x="917457" y="489879"/>
                </a:lnTo>
                <a:lnTo>
                  <a:pt x="920156" y="441746"/>
                </a:lnTo>
                <a:lnTo>
                  <a:pt x="917457" y="393613"/>
                </a:lnTo>
                <a:lnTo>
                  <a:pt x="909545" y="346981"/>
                </a:lnTo>
                <a:lnTo>
                  <a:pt x="896701" y="302120"/>
                </a:lnTo>
                <a:lnTo>
                  <a:pt x="879207" y="259299"/>
                </a:lnTo>
                <a:lnTo>
                  <a:pt x="857342" y="218788"/>
                </a:lnTo>
                <a:lnTo>
                  <a:pt x="831388" y="180856"/>
                </a:lnTo>
                <a:lnTo>
                  <a:pt x="801624" y="145773"/>
                </a:lnTo>
                <a:lnTo>
                  <a:pt x="768333" y="113808"/>
                </a:lnTo>
                <a:lnTo>
                  <a:pt x="731794" y="85231"/>
                </a:lnTo>
                <a:lnTo>
                  <a:pt x="692288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37450" y="3390139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855559" y="3520486"/>
            <a:ext cx="28448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AD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537450" y="4668891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8"/>
                </a:lnTo>
                <a:lnTo>
                  <a:pt x="118531" y="145773"/>
                </a:lnTo>
                <a:lnTo>
                  <a:pt x="88768" y="180857"/>
                </a:lnTo>
                <a:lnTo>
                  <a:pt x="62814" y="218788"/>
                </a:lnTo>
                <a:lnTo>
                  <a:pt x="40949" y="259299"/>
                </a:lnTo>
                <a:lnTo>
                  <a:pt x="23455" y="302120"/>
                </a:lnTo>
                <a:lnTo>
                  <a:pt x="10611" y="346981"/>
                </a:lnTo>
                <a:lnTo>
                  <a:pt x="2699" y="393613"/>
                </a:lnTo>
                <a:lnTo>
                  <a:pt x="0" y="441746"/>
                </a:lnTo>
                <a:lnTo>
                  <a:pt x="2699" y="489880"/>
                </a:lnTo>
                <a:lnTo>
                  <a:pt x="10611" y="536511"/>
                </a:lnTo>
                <a:lnTo>
                  <a:pt x="23455" y="581373"/>
                </a:lnTo>
                <a:lnTo>
                  <a:pt x="40949" y="624193"/>
                </a:lnTo>
                <a:lnTo>
                  <a:pt x="62814" y="664705"/>
                </a:lnTo>
                <a:lnTo>
                  <a:pt x="88768" y="702636"/>
                </a:lnTo>
                <a:lnTo>
                  <a:pt x="118531" y="737720"/>
                </a:lnTo>
                <a:lnTo>
                  <a:pt x="151822" y="769685"/>
                </a:lnTo>
                <a:lnTo>
                  <a:pt x="188361" y="798262"/>
                </a:lnTo>
                <a:lnTo>
                  <a:pt x="227867" y="823182"/>
                </a:lnTo>
                <a:lnTo>
                  <a:pt x="270059" y="844175"/>
                </a:lnTo>
                <a:lnTo>
                  <a:pt x="314657" y="860973"/>
                </a:lnTo>
                <a:lnTo>
                  <a:pt x="361380" y="873305"/>
                </a:lnTo>
                <a:lnTo>
                  <a:pt x="409947" y="880901"/>
                </a:lnTo>
                <a:lnTo>
                  <a:pt x="460077" y="883493"/>
                </a:lnTo>
                <a:lnTo>
                  <a:pt x="510208" y="880901"/>
                </a:lnTo>
                <a:lnTo>
                  <a:pt x="558775" y="873305"/>
                </a:lnTo>
                <a:lnTo>
                  <a:pt x="605498" y="860973"/>
                </a:lnTo>
                <a:lnTo>
                  <a:pt x="650095" y="844175"/>
                </a:lnTo>
                <a:lnTo>
                  <a:pt x="692288" y="823182"/>
                </a:lnTo>
                <a:lnTo>
                  <a:pt x="731794" y="798262"/>
                </a:lnTo>
                <a:lnTo>
                  <a:pt x="768333" y="769685"/>
                </a:lnTo>
                <a:lnTo>
                  <a:pt x="801624" y="737720"/>
                </a:lnTo>
                <a:lnTo>
                  <a:pt x="831388" y="702636"/>
                </a:lnTo>
                <a:lnTo>
                  <a:pt x="857342" y="664705"/>
                </a:lnTo>
                <a:lnTo>
                  <a:pt x="879207" y="624193"/>
                </a:lnTo>
                <a:lnTo>
                  <a:pt x="896701" y="581373"/>
                </a:lnTo>
                <a:lnTo>
                  <a:pt x="909545" y="536511"/>
                </a:lnTo>
                <a:lnTo>
                  <a:pt x="917457" y="489880"/>
                </a:lnTo>
                <a:lnTo>
                  <a:pt x="920156" y="441746"/>
                </a:lnTo>
                <a:lnTo>
                  <a:pt x="917457" y="393613"/>
                </a:lnTo>
                <a:lnTo>
                  <a:pt x="909545" y="346981"/>
                </a:lnTo>
                <a:lnTo>
                  <a:pt x="896701" y="302120"/>
                </a:lnTo>
                <a:lnTo>
                  <a:pt x="879207" y="259299"/>
                </a:lnTo>
                <a:lnTo>
                  <a:pt x="857342" y="218788"/>
                </a:lnTo>
                <a:lnTo>
                  <a:pt x="831388" y="180857"/>
                </a:lnTo>
                <a:lnTo>
                  <a:pt x="801624" y="145773"/>
                </a:lnTo>
                <a:lnTo>
                  <a:pt x="768333" y="113808"/>
                </a:lnTo>
                <a:lnTo>
                  <a:pt x="731794" y="85231"/>
                </a:lnTo>
                <a:lnTo>
                  <a:pt x="692288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537450" y="4668891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863111" y="4799240"/>
            <a:ext cx="26924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AB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079058" y="3390139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8"/>
                </a:lnTo>
                <a:lnTo>
                  <a:pt x="118531" y="145773"/>
                </a:lnTo>
                <a:lnTo>
                  <a:pt x="88768" y="180856"/>
                </a:lnTo>
                <a:lnTo>
                  <a:pt x="62814" y="218788"/>
                </a:lnTo>
                <a:lnTo>
                  <a:pt x="40949" y="259299"/>
                </a:lnTo>
                <a:lnTo>
                  <a:pt x="23455" y="302120"/>
                </a:lnTo>
                <a:lnTo>
                  <a:pt x="10611" y="346981"/>
                </a:lnTo>
                <a:lnTo>
                  <a:pt x="2699" y="393613"/>
                </a:lnTo>
                <a:lnTo>
                  <a:pt x="0" y="441746"/>
                </a:lnTo>
                <a:lnTo>
                  <a:pt x="2699" y="489879"/>
                </a:lnTo>
                <a:lnTo>
                  <a:pt x="10611" y="536511"/>
                </a:lnTo>
                <a:lnTo>
                  <a:pt x="23455" y="581373"/>
                </a:lnTo>
                <a:lnTo>
                  <a:pt x="40949" y="624193"/>
                </a:lnTo>
                <a:lnTo>
                  <a:pt x="62814" y="664705"/>
                </a:lnTo>
                <a:lnTo>
                  <a:pt x="88768" y="702636"/>
                </a:lnTo>
                <a:lnTo>
                  <a:pt x="118531" y="737719"/>
                </a:lnTo>
                <a:lnTo>
                  <a:pt x="151822" y="769684"/>
                </a:lnTo>
                <a:lnTo>
                  <a:pt x="188361" y="798262"/>
                </a:lnTo>
                <a:lnTo>
                  <a:pt x="227867" y="823182"/>
                </a:lnTo>
                <a:lnTo>
                  <a:pt x="270059" y="844175"/>
                </a:lnTo>
                <a:lnTo>
                  <a:pt x="314657" y="860972"/>
                </a:lnTo>
                <a:lnTo>
                  <a:pt x="361380" y="873304"/>
                </a:lnTo>
                <a:lnTo>
                  <a:pt x="409947" y="880901"/>
                </a:lnTo>
                <a:lnTo>
                  <a:pt x="460077" y="883493"/>
                </a:lnTo>
                <a:lnTo>
                  <a:pt x="510208" y="880901"/>
                </a:lnTo>
                <a:lnTo>
                  <a:pt x="558775" y="873304"/>
                </a:lnTo>
                <a:lnTo>
                  <a:pt x="605498" y="860972"/>
                </a:lnTo>
                <a:lnTo>
                  <a:pt x="650095" y="844175"/>
                </a:lnTo>
                <a:lnTo>
                  <a:pt x="692287" y="823182"/>
                </a:lnTo>
                <a:lnTo>
                  <a:pt x="731793" y="798262"/>
                </a:lnTo>
                <a:lnTo>
                  <a:pt x="768332" y="769684"/>
                </a:lnTo>
                <a:lnTo>
                  <a:pt x="801624" y="737719"/>
                </a:lnTo>
                <a:lnTo>
                  <a:pt x="831387" y="702636"/>
                </a:lnTo>
                <a:lnTo>
                  <a:pt x="857341" y="664705"/>
                </a:lnTo>
                <a:lnTo>
                  <a:pt x="879206" y="624193"/>
                </a:lnTo>
                <a:lnTo>
                  <a:pt x="896700" y="581373"/>
                </a:lnTo>
                <a:lnTo>
                  <a:pt x="909544" y="536511"/>
                </a:lnTo>
                <a:lnTo>
                  <a:pt x="917455" y="489879"/>
                </a:lnTo>
                <a:lnTo>
                  <a:pt x="920155" y="441746"/>
                </a:lnTo>
                <a:lnTo>
                  <a:pt x="917455" y="393613"/>
                </a:lnTo>
                <a:lnTo>
                  <a:pt x="909544" y="346981"/>
                </a:lnTo>
                <a:lnTo>
                  <a:pt x="896700" y="302120"/>
                </a:lnTo>
                <a:lnTo>
                  <a:pt x="879206" y="259299"/>
                </a:lnTo>
                <a:lnTo>
                  <a:pt x="857341" y="218788"/>
                </a:lnTo>
                <a:lnTo>
                  <a:pt x="831387" y="180856"/>
                </a:lnTo>
                <a:lnTo>
                  <a:pt x="801624" y="145773"/>
                </a:lnTo>
                <a:lnTo>
                  <a:pt x="768332" y="113808"/>
                </a:lnTo>
                <a:lnTo>
                  <a:pt x="731793" y="85231"/>
                </a:lnTo>
                <a:lnTo>
                  <a:pt x="692287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79058" y="3390139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395864" y="3520486"/>
            <a:ext cx="28702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spc="-5" dirty="0">
                <a:solidFill>
                  <a:srgbClr val="FFFFFF"/>
                </a:solidFill>
                <a:latin typeface="Verdana"/>
                <a:cs typeface="Verdana"/>
              </a:rPr>
              <a:t>CD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079057" y="4668893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8"/>
                </a:lnTo>
                <a:lnTo>
                  <a:pt x="118531" y="145773"/>
                </a:lnTo>
                <a:lnTo>
                  <a:pt x="88768" y="180856"/>
                </a:lnTo>
                <a:lnTo>
                  <a:pt x="62814" y="218788"/>
                </a:lnTo>
                <a:lnTo>
                  <a:pt x="40949" y="259299"/>
                </a:lnTo>
                <a:lnTo>
                  <a:pt x="23455" y="302120"/>
                </a:lnTo>
                <a:lnTo>
                  <a:pt x="10611" y="346981"/>
                </a:lnTo>
                <a:lnTo>
                  <a:pt x="2699" y="393613"/>
                </a:lnTo>
                <a:lnTo>
                  <a:pt x="0" y="441746"/>
                </a:lnTo>
                <a:lnTo>
                  <a:pt x="2699" y="489879"/>
                </a:lnTo>
                <a:lnTo>
                  <a:pt x="10611" y="536511"/>
                </a:lnTo>
                <a:lnTo>
                  <a:pt x="23455" y="581372"/>
                </a:lnTo>
                <a:lnTo>
                  <a:pt x="40949" y="624193"/>
                </a:lnTo>
                <a:lnTo>
                  <a:pt x="62814" y="664704"/>
                </a:lnTo>
                <a:lnTo>
                  <a:pt x="88768" y="702636"/>
                </a:lnTo>
                <a:lnTo>
                  <a:pt x="118531" y="737719"/>
                </a:lnTo>
                <a:lnTo>
                  <a:pt x="151822" y="769684"/>
                </a:lnTo>
                <a:lnTo>
                  <a:pt x="188361" y="798262"/>
                </a:lnTo>
                <a:lnTo>
                  <a:pt x="227867" y="823182"/>
                </a:lnTo>
                <a:lnTo>
                  <a:pt x="270059" y="844175"/>
                </a:lnTo>
                <a:lnTo>
                  <a:pt x="314657" y="860972"/>
                </a:lnTo>
                <a:lnTo>
                  <a:pt x="361380" y="873304"/>
                </a:lnTo>
                <a:lnTo>
                  <a:pt x="409947" y="880901"/>
                </a:lnTo>
                <a:lnTo>
                  <a:pt x="460077" y="883493"/>
                </a:lnTo>
                <a:lnTo>
                  <a:pt x="510208" y="880901"/>
                </a:lnTo>
                <a:lnTo>
                  <a:pt x="558775" y="873304"/>
                </a:lnTo>
                <a:lnTo>
                  <a:pt x="605498" y="860972"/>
                </a:lnTo>
                <a:lnTo>
                  <a:pt x="650095" y="844175"/>
                </a:lnTo>
                <a:lnTo>
                  <a:pt x="692288" y="823182"/>
                </a:lnTo>
                <a:lnTo>
                  <a:pt x="731794" y="798262"/>
                </a:lnTo>
                <a:lnTo>
                  <a:pt x="768333" y="769684"/>
                </a:lnTo>
                <a:lnTo>
                  <a:pt x="801624" y="737719"/>
                </a:lnTo>
                <a:lnTo>
                  <a:pt x="831388" y="702636"/>
                </a:lnTo>
                <a:lnTo>
                  <a:pt x="857342" y="664704"/>
                </a:lnTo>
                <a:lnTo>
                  <a:pt x="879207" y="624193"/>
                </a:lnTo>
                <a:lnTo>
                  <a:pt x="896701" y="581372"/>
                </a:lnTo>
                <a:lnTo>
                  <a:pt x="909545" y="536511"/>
                </a:lnTo>
                <a:lnTo>
                  <a:pt x="917457" y="489879"/>
                </a:lnTo>
                <a:lnTo>
                  <a:pt x="920156" y="441746"/>
                </a:lnTo>
                <a:lnTo>
                  <a:pt x="917457" y="393613"/>
                </a:lnTo>
                <a:lnTo>
                  <a:pt x="909545" y="346981"/>
                </a:lnTo>
                <a:lnTo>
                  <a:pt x="896701" y="302120"/>
                </a:lnTo>
                <a:lnTo>
                  <a:pt x="879207" y="259299"/>
                </a:lnTo>
                <a:lnTo>
                  <a:pt x="857342" y="218788"/>
                </a:lnTo>
                <a:lnTo>
                  <a:pt x="831388" y="180856"/>
                </a:lnTo>
                <a:lnTo>
                  <a:pt x="801624" y="145773"/>
                </a:lnTo>
                <a:lnTo>
                  <a:pt x="768333" y="113808"/>
                </a:lnTo>
                <a:lnTo>
                  <a:pt x="731794" y="85231"/>
                </a:lnTo>
                <a:lnTo>
                  <a:pt x="692288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79057" y="4668893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403416" y="4799241"/>
            <a:ext cx="27178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spc="-5" dirty="0">
                <a:solidFill>
                  <a:srgbClr val="FFFFFF"/>
                </a:solidFill>
                <a:latin typeface="Verdana"/>
                <a:cs typeface="Verdana"/>
              </a:rPr>
              <a:t>BC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24714" y="3787500"/>
            <a:ext cx="6807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latin typeface="Verdana"/>
                <a:cs typeface="Verdana"/>
              </a:rPr>
              <a:t>Write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19475" y="3008034"/>
            <a:ext cx="591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</a:t>
            </a:r>
            <a:r>
              <a:rPr sz="1800" b="1" spc="-5" dirty="0">
                <a:latin typeface="Arial"/>
                <a:cs typeface="Arial"/>
              </a:rPr>
              <a:t>F</a:t>
            </a:r>
            <a:r>
              <a:rPr sz="1800" b="1" dirty="0">
                <a:latin typeface="Arial"/>
                <a:cs typeface="Arial"/>
              </a:rPr>
              <a:t>=3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200534" y="3823110"/>
            <a:ext cx="979077" cy="650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280678" y="3966655"/>
            <a:ext cx="709930" cy="382905"/>
          </a:xfrm>
          <a:custGeom>
            <a:avLst/>
            <a:gdLst/>
            <a:ahLst/>
            <a:cxnLst/>
            <a:rect l="l" t="t" r="r" b="b"/>
            <a:pathLst>
              <a:path w="709929" h="382905">
                <a:moveTo>
                  <a:pt x="0" y="382690"/>
                </a:moveTo>
                <a:lnTo>
                  <a:pt x="692562" y="9045"/>
                </a:lnTo>
                <a:lnTo>
                  <a:pt x="709328" y="0"/>
                </a:lnTo>
              </a:path>
            </a:pathLst>
          </a:custGeom>
          <a:ln w="38100">
            <a:solidFill>
              <a:srgbClr val="DDAE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965209" y="3907599"/>
            <a:ext cx="134620" cy="110489"/>
          </a:xfrm>
          <a:custGeom>
            <a:avLst/>
            <a:gdLst/>
            <a:ahLst/>
            <a:cxnLst/>
            <a:rect l="l" t="t" r="r" b="b"/>
            <a:pathLst>
              <a:path w="134620" h="110489">
                <a:moveTo>
                  <a:pt x="134258" y="0"/>
                </a:moveTo>
                <a:lnTo>
                  <a:pt x="0" y="4178"/>
                </a:lnTo>
                <a:lnTo>
                  <a:pt x="57045" y="109913"/>
                </a:lnTo>
                <a:lnTo>
                  <a:pt x="134258" y="0"/>
                </a:lnTo>
                <a:close/>
              </a:path>
            </a:pathLst>
          </a:custGeom>
          <a:solidFill>
            <a:srgbClr val="DDAE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826360" y="4066076"/>
            <a:ext cx="883945" cy="1963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862640" y="4140647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>
                <a:moveTo>
                  <a:pt x="0" y="0"/>
                </a:moveTo>
                <a:lnTo>
                  <a:pt x="666139" y="0"/>
                </a:lnTo>
                <a:lnTo>
                  <a:pt x="685800" y="0"/>
                </a:lnTo>
              </a:path>
            </a:pathLst>
          </a:custGeom>
          <a:ln w="38100">
            <a:solidFill>
              <a:srgbClr val="A18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552673" y="4080576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0" y="0"/>
                </a:moveTo>
                <a:lnTo>
                  <a:pt x="0" y="120141"/>
                </a:lnTo>
                <a:lnTo>
                  <a:pt x="120142" y="60070"/>
                </a:lnTo>
                <a:lnTo>
                  <a:pt x="0" y="0"/>
                </a:lnTo>
                <a:close/>
              </a:path>
            </a:pathLst>
          </a:custGeom>
          <a:solidFill>
            <a:srgbClr val="A189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773071" y="4063974"/>
            <a:ext cx="990520" cy="85457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864460" y="4144247"/>
            <a:ext cx="711200" cy="575945"/>
          </a:xfrm>
          <a:custGeom>
            <a:avLst/>
            <a:gdLst/>
            <a:ahLst/>
            <a:cxnLst/>
            <a:rect l="l" t="t" r="r" b="b"/>
            <a:pathLst>
              <a:path w="711200" h="575945">
                <a:moveTo>
                  <a:pt x="0" y="0"/>
                </a:moveTo>
                <a:lnTo>
                  <a:pt x="696278" y="563775"/>
                </a:lnTo>
                <a:lnTo>
                  <a:pt x="711083" y="575762"/>
                </a:lnTo>
              </a:path>
            </a:pathLst>
          </a:custGeom>
          <a:ln w="38100">
            <a:solidFill>
              <a:srgbClr val="A18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541031" y="4675987"/>
            <a:ext cx="131445" cy="122555"/>
          </a:xfrm>
          <a:custGeom>
            <a:avLst/>
            <a:gdLst/>
            <a:ahLst/>
            <a:cxnLst/>
            <a:rect l="l" t="t" r="r" b="b"/>
            <a:pathLst>
              <a:path w="131445" h="122554">
                <a:moveTo>
                  <a:pt x="75603" y="0"/>
                </a:moveTo>
                <a:lnTo>
                  <a:pt x="0" y="93372"/>
                </a:lnTo>
                <a:lnTo>
                  <a:pt x="131174" y="122289"/>
                </a:lnTo>
                <a:lnTo>
                  <a:pt x="75603" y="0"/>
                </a:lnTo>
                <a:close/>
              </a:path>
            </a:pathLst>
          </a:custGeom>
          <a:solidFill>
            <a:srgbClr val="A189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374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pc="-65" dirty="0"/>
              <a:t>Two </a:t>
            </a:r>
            <a:r>
              <a:rPr lang="en-US" spc="-5" dirty="0"/>
              <a:t>knobs control Cassandra fault</a:t>
            </a:r>
            <a:r>
              <a:rPr lang="en-US" spc="65" dirty="0"/>
              <a:t> </a:t>
            </a:r>
            <a:r>
              <a:rPr lang="en-US" spc="-5" dirty="0"/>
              <a:t>tolerance</a:t>
            </a:r>
            <a:endParaRPr 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444500" y="1932564"/>
            <a:ext cx="9906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Arial"/>
                <a:cs typeface="Arial"/>
              </a:rPr>
              <a:t>•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0087" y="1828800"/>
            <a:ext cx="6830695" cy="104902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200" spc="-5" dirty="0">
                <a:latin typeface="Verdana"/>
                <a:cs typeface="Verdana"/>
              </a:rPr>
              <a:t>Consistency Level (client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side)</a:t>
            </a:r>
            <a:endParaRPr sz="2200">
              <a:latin typeface="Verdana"/>
              <a:cs typeface="Verdana"/>
            </a:endParaRPr>
          </a:p>
          <a:p>
            <a:pPr marL="499745" marR="5080" indent="-285750">
              <a:lnSpc>
                <a:spcPct val="101899"/>
              </a:lnSpc>
              <a:spcBef>
                <a:spcPts val="430"/>
              </a:spcBef>
              <a:tabLst>
                <a:tab pos="499745" algn="l"/>
              </a:tabLst>
            </a:pPr>
            <a:r>
              <a:rPr sz="2700" baseline="3086" dirty="0">
                <a:latin typeface="Arial"/>
                <a:cs typeface="Arial"/>
              </a:rPr>
              <a:t>–	</a:t>
            </a:r>
            <a:r>
              <a:rPr sz="1800" spc="-5" dirty="0">
                <a:latin typeface="Verdana"/>
                <a:cs typeface="Verdana"/>
              </a:rPr>
              <a:t>How many replicas do </a:t>
            </a:r>
            <a:r>
              <a:rPr sz="1800" dirty="0">
                <a:latin typeface="Verdana"/>
                <a:cs typeface="Verdana"/>
              </a:rPr>
              <a:t>we </a:t>
            </a:r>
            <a:r>
              <a:rPr sz="1800" spc="-5" dirty="0">
                <a:latin typeface="Verdana"/>
                <a:cs typeface="Verdana"/>
              </a:rPr>
              <a:t>need to hear from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before</a:t>
            </a:r>
            <a:r>
              <a:rPr sz="1800" dirty="0">
                <a:latin typeface="Verdana"/>
                <a:cs typeface="Verdana"/>
              </a:rPr>
              <a:t> we  </a:t>
            </a:r>
            <a:r>
              <a:rPr sz="1800" spc="-5" dirty="0">
                <a:latin typeface="Verdana"/>
                <a:cs typeface="Verdana"/>
              </a:rPr>
              <a:t>acknowledge?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75200" y="4007297"/>
            <a:ext cx="774700" cy="508000"/>
          </a:xfrm>
          <a:custGeom>
            <a:avLst/>
            <a:gdLst/>
            <a:ahLst/>
            <a:cxnLst/>
            <a:rect l="l" t="t" r="r" b="b"/>
            <a:pathLst>
              <a:path w="774700" h="508000">
                <a:moveTo>
                  <a:pt x="0" y="0"/>
                </a:moveTo>
                <a:lnTo>
                  <a:pt x="774700" y="0"/>
                </a:lnTo>
                <a:lnTo>
                  <a:pt x="7747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DDAE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75200" y="4007297"/>
            <a:ext cx="774700" cy="508000"/>
          </a:xfrm>
          <a:custGeom>
            <a:avLst/>
            <a:gdLst/>
            <a:ahLst/>
            <a:cxnLst/>
            <a:rect l="l" t="t" r="r" b="b"/>
            <a:pathLst>
              <a:path w="774700" h="508000">
                <a:moveTo>
                  <a:pt x="0" y="0"/>
                </a:moveTo>
                <a:lnTo>
                  <a:pt x="774699" y="0"/>
                </a:lnTo>
                <a:lnTo>
                  <a:pt x="774699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A17F3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66313" y="4117564"/>
            <a:ext cx="5899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Client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02190" y="3383329"/>
            <a:ext cx="1869439" cy="1824355"/>
          </a:xfrm>
          <a:custGeom>
            <a:avLst/>
            <a:gdLst/>
            <a:ahLst/>
            <a:cxnLst/>
            <a:rect l="l" t="t" r="r" b="b"/>
            <a:pathLst>
              <a:path w="1869440" h="1824354">
                <a:moveTo>
                  <a:pt x="1595656" y="267143"/>
                </a:moveTo>
                <a:lnTo>
                  <a:pt x="1629848" y="302289"/>
                </a:lnTo>
                <a:lnTo>
                  <a:pt x="1661761" y="338728"/>
                </a:lnTo>
                <a:lnTo>
                  <a:pt x="1691394" y="376370"/>
                </a:lnTo>
                <a:lnTo>
                  <a:pt x="1718747" y="415127"/>
                </a:lnTo>
                <a:lnTo>
                  <a:pt x="1743821" y="454909"/>
                </a:lnTo>
                <a:lnTo>
                  <a:pt x="1766616" y="495626"/>
                </a:lnTo>
                <a:lnTo>
                  <a:pt x="1787131" y="537191"/>
                </a:lnTo>
                <a:lnTo>
                  <a:pt x="1805366" y="579513"/>
                </a:lnTo>
                <a:lnTo>
                  <a:pt x="1821323" y="622504"/>
                </a:lnTo>
                <a:lnTo>
                  <a:pt x="1834999" y="666075"/>
                </a:lnTo>
                <a:lnTo>
                  <a:pt x="1846397" y="710135"/>
                </a:lnTo>
                <a:lnTo>
                  <a:pt x="1855515" y="754597"/>
                </a:lnTo>
                <a:lnTo>
                  <a:pt x="1862353" y="799371"/>
                </a:lnTo>
                <a:lnTo>
                  <a:pt x="1866912" y="844368"/>
                </a:lnTo>
                <a:lnTo>
                  <a:pt x="1869191" y="889498"/>
                </a:lnTo>
                <a:lnTo>
                  <a:pt x="1869191" y="934673"/>
                </a:lnTo>
                <a:lnTo>
                  <a:pt x="1866912" y="979803"/>
                </a:lnTo>
                <a:lnTo>
                  <a:pt x="1862353" y="1024800"/>
                </a:lnTo>
                <a:lnTo>
                  <a:pt x="1855515" y="1069574"/>
                </a:lnTo>
                <a:lnTo>
                  <a:pt x="1846397" y="1114036"/>
                </a:lnTo>
                <a:lnTo>
                  <a:pt x="1834999" y="1158096"/>
                </a:lnTo>
                <a:lnTo>
                  <a:pt x="1821323" y="1201666"/>
                </a:lnTo>
                <a:lnTo>
                  <a:pt x="1805366" y="1244657"/>
                </a:lnTo>
                <a:lnTo>
                  <a:pt x="1787131" y="1286980"/>
                </a:lnTo>
                <a:lnTo>
                  <a:pt x="1766616" y="1328544"/>
                </a:lnTo>
                <a:lnTo>
                  <a:pt x="1743821" y="1369262"/>
                </a:lnTo>
                <a:lnTo>
                  <a:pt x="1718747" y="1409044"/>
                </a:lnTo>
                <a:lnTo>
                  <a:pt x="1691394" y="1447800"/>
                </a:lnTo>
                <a:lnTo>
                  <a:pt x="1661761" y="1485442"/>
                </a:lnTo>
                <a:lnTo>
                  <a:pt x="1629848" y="1521881"/>
                </a:lnTo>
                <a:lnTo>
                  <a:pt x="1595656" y="1557027"/>
                </a:lnTo>
                <a:lnTo>
                  <a:pt x="1560778" y="1589377"/>
                </a:lnTo>
                <a:lnTo>
                  <a:pt x="1524654" y="1619639"/>
                </a:lnTo>
                <a:lnTo>
                  <a:pt x="1487366" y="1647814"/>
                </a:lnTo>
                <a:lnTo>
                  <a:pt x="1448999" y="1673903"/>
                </a:lnTo>
                <a:lnTo>
                  <a:pt x="1409635" y="1697904"/>
                </a:lnTo>
                <a:lnTo>
                  <a:pt x="1369357" y="1719818"/>
                </a:lnTo>
                <a:lnTo>
                  <a:pt x="1328248" y="1739645"/>
                </a:lnTo>
                <a:lnTo>
                  <a:pt x="1286392" y="1757385"/>
                </a:lnTo>
                <a:lnTo>
                  <a:pt x="1243871" y="1773038"/>
                </a:lnTo>
                <a:lnTo>
                  <a:pt x="1200769" y="1786604"/>
                </a:lnTo>
                <a:lnTo>
                  <a:pt x="1157168" y="1798083"/>
                </a:lnTo>
                <a:lnTo>
                  <a:pt x="1113152" y="1807475"/>
                </a:lnTo>
                <a:lnTo>
                  <a:pt x="1068804" y="1814779"/>
                </a:lnTo>
                <a:lnTo>
                  <a:pt x="1024206" y="1819997"/>
                </a:lnTo>
                <a:lnTo>
                  <a:pt x="979442" y="1823127"/>
                </a:lnTo>
                <a:lnTo>
                  <a:pt x="934596" y="1824171"/>
                </a:lnTo>
                <a:lnTo>
                  <a:pt x="889749" y="1823127"/>
                </a:lnTo>
                <a:lnTo>
                  <a:pt x="844985" y="1819997"/>
                </a:lnTo>
                <a:lnTo>
                  <a:pt x="800387" y="1814779"/>
                </a:lnTo>
                <a:lnTo>
                  <a:pt x="756039" y="1807475"/>
                </a:lnTo>
                <a:lnTo>
                  <a:pt x="712023" y="1798083"/>
                </a:lnTo>
                <a:lnTo>
                  <a:pt x="668422" y="1786604"/>
                </a:lnTo>
                <a:lnTo>
                  <a:pt x="625320" y="1773038"/>
                </a:lnTo>
                <a:lnTo>
                  <a:pt x="582799" y="1757385"/>
                </a:lnTo>
                <a:lnTo>
                  <a:pt x="540943" y="1739645"/>
                </a:lnTo>
                <a:lnTo>
                  <a:pt x="499834" y="1719818"/>
                </a:lnTo>
                <a:lnTo>
                  <a:pt x="459556" y="1697904"/>
                </a:lnTo>
                <a:lnTo>
                  <a:pt x="420192" y="1673903"/>
                </a:lnTo>
                <a:lnTo>
                  <a:pt x="381825" y="1647814"/>
                </a:lnTo>
                <a:lnTo>
                  <a:pt x="344537" y="1619639"/>
                </a:lnTo>
                <a:lnTo>
                  <a:pt x="308413" y="1589377"/>
                </a:lnTo>
                <a:lnTo>
                  <a:pt x="273535" y="1557027"/>
                </a:lnTo>
                <a:lnTo>
                  <a:pt x="239343" y="1521881"/>
                </a:lnTo>
                <a:lnTo>
                  <a:pt x="207430" y="1485442"/>
                </a:lnTo>
                <a:lnTo>
                  <a:pt x="177797" y="1447800"/>
                </a:lnTo>
                <a:lnTo>
                  <a:pt x="150444" y="1409044"/>
                </a:lnTo>
                <a:lnTo>
                  <a:pt x="125370" y="1369262"/>
                </a:lnTo>
                <a:lnTo>
                  <a:pt x="102575" y="1328544"/>
                </a:lnTo>
                <a:lnTo>
                  <a:pt x="82060" y="1286980"/>
                </a:lnTo>
                <a:lnTo>
                  <a:pt x="63824" y="1244657"/>
                </a:lnTo>
                <a:lnTo>
                  <a:pt x="47868" y="1201666"/>
                </a:lnTo>
                <a:lnTo>
                  <a:pt x="34191" y="1158096"/>
                </a:lnTo>
                <a:lnTo>
                  <a:pt x="22794" y="1114036"/>
                </a:lnTo>
                <a:lnTo>
                  <a:pt x="13676" y="1069574"/>
                </a:lnTo>
                <a:lnTo>
                  <a:pt x="6838" y="1024800"/>
                </a:lnTo>
                <a:lnTo>
                  <a:pt x="2279" y="979803"/>
                </a:lnTo>
                <a:lnTo>
                  <a:pt x="0" y="934673"/>
                </a:lnTo>
                <a:lnTo>
                  <a:pt x="0" y="889498"/>
                </a:lnTo>
                <a:lnTo>
                  <a:pt x="2279" y="844368"/>
                </a:lnTo>
                <a:lnTo>
                  <a:pt x="6838" y="799371"/>
                </a:lnTo>
                <a:lnTo>
                  <a:pt x="13676" y="754597"/>
                </a:lnTo>
                <a:lnTo>
                  <a:pt x="22794" y="710135"/>
                </a:lnTo>
                <a:lnTo>
                  <a:pt x="34191" y="666075"/>
                </a:lnTo>
                <a:lnTo>
                  <a:pt x="47868" y="622504"/>
                </a:lnTo>
                <a:lnTo>
                  <a:pt x="63824" y="579513"/>
                </a:lnTo>
                <a:lnTo>
                  <a:pt x="82060" y="537191"/>
                </a:lnTo>
                <a:lnTo>
                  <a:pt x="102575" y="495626"/>
                </a:lnTo>
                <a:lnTo>
                  <a:pt x="125370" y="454909"/>
                </a:lnTo>
                <a:lnTo>
                  <a:pt x="150444" y="415127"/>
                </a:lnTo>
                <a:lnTo>
                  <a:pt x="177797" y="376370"/>
                </a:lnTo>
                <a:lnTo>
                  <a:pt x="207430" y="338728"/>
                </a:lnTo>
                <a:lnTo>
                  <a:pt x="239343" y="302289"/>
                </a:lnTo>
                <a:lnTo>
                  <a:pt x="273535" y="267143"/>
                </a:lnTo>
                <a:lnTo>
                  <a:pt x="308413" y="234794"/>
                </a:lnTo>
                <a:lnTo>
                  <a:pt x="344537" y="204531"/>
                </a:lnTo>
                <a:lnTo>
                  <a:pt x="381825" y="176356"/>
                </a:lnTo>
                <a:lnTo>
                  <a:pt x="420192" y="150268"/>
                </a:lnTo>
                <a:lnTo>
                  <a:pt x="459556" y="126267"/>
                </a:lnTo>
                <a:lnTo>
                  <a:pt x="499834" y="104353"/>
                </a:lnTo>
                <a:lnTo>
                  <a:pt x="540943" y="84525"/>
                </a:lnTo>
                <a:lnTo>
                  <a:pt x="582799" y="66785"/>
                </a:lnTo>
                <a:lnTo>
                  <a:pt x="625320" y="51132"/>
                </a:lnTo>
                <a:lnTo>
                  <a:pt x="668422" y="37567"/>
                </a:lnTo>
                <a:lnTo>
                  <a:pt x="712023" y="26088"/>
                </a:lnTo>
                <a:lnTo>
                  <a:pt x="756039" y="16696"/>
                </a:lnTo>
                <a:lnTo>
                  <a:pt x="800387" y="9391"/>
                </a:lnTo>
                <a:lnTo>
                  <a:pt x="844985" y="4174"/>
                </a:lnTo>
                <a:lnTo>
                  <a:pt x="889749" y="1043"/>
                </a:lnTo>
                <a:lnTo>
                  <a:pt x="934596" y="0"/>
                </a:lnTo>
                <a:lnTo>
                  <a:pt x="979442" y="1043"/>
                </a:lnTo>
                <a:lnTo>
                  <a:pt x="1024206" y="4174"/>
                </a:lnTo>
                <a:lnTo>
                  <a:pt x="1068804" y="9391"/>
                </a:lnTo>
                <a:lnTo>
                  <a:pt x="1113152" y="16696"/>
                </a:lnTo>
                <a:lnTo>
                  <a:pt x="1157168" y="26088"/>
                </a:lnTo>
                <a:lnTo>
                  <a:pt x="1200769" y="37567"/>
                </a:lnTo>
                <a:lnTo>
                  <a:pt x="1243871" y="51132"/>
                </a:lnTo>
                <a:lnTo>
                  <a:pt x="1286392" y="66785"/>
                </a:lnTo>
                <a:lnTo>
                  <a:pt x="1328248" y="84525"/>
                </a:lnTo>
                <a:lnTo>
                  <a:pt x="1369357" y="104353"/>
                </a:lnTo>
                <a:lnTo>
                  <a:pt x="1409635" y="126267"/>
                </a:lnTo>
                <a:lnTo>
                  <a:pt x="1448999" y="150268"/>
                </a:lnTo>
                <a:lnTo>
                  <a:pt x="1487366" y="176356"/>
                </a:lnTo>
                <a:lnTo>
                  <a:pt x="1524654" y="204531"/>
                </a:lnTo>
                <a:lnTo>
                  <a:pt x="1560778" y="234794"/>
                </a:lnTo>
                <a:lnTo>
                  <a:pt x="1595656" y="267143"/>
                </a:lnTo>
                <a:close/>
              </a:path>
            </a:pathLst>
          </a:custGeom>
          <a:ln w="101600">
            <a:solidFill>
              <a:srgbClr val="1F49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821335" y="3165045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8"/>
                </a:lnTo>
                <a:lnTo>
                  <a:pt x="118531" y="145773"/>
                </a:lnTo>
                <a:lnTo>
                  <a:pt x="88768" y="180856"/>
                </a:lnTo>
                <a:lnTo>
                  <a:pt x="62814" y="218788"/>
                </a:lnTo>
                <a:lnTo>
                  <a:pt x="40949" y="259299"/>
                </a:lnTo>
                <a:lnTo>
                  <a:pt x="23455" y="302120"/>
                </a:lnTo>
                <a:lnTo>
                  <a:pt x="10611" y="346981"/>
                </a:lnTo>
                <a:lnTo>
                  <a:pt x="2699" y="393613"/>
                </a:lnTo>
                <a:lnTo>
                  <a:pt x="0" y="441746"/>
                </a:lnTo>
                <a:lnTo>
                  <a:pt x="2699" y="489879"/>
                </a:lnTo>
                <a:lnTo>
                  <a:pt x="10611" y="536511"/>
                </a:lnTo>
                <a:lnTo>
                  <a:pt x="23455" y="581373"/>
                </a:lnTo>
                <a:lnTo>
                  <a:pt x="40949" y="624194"/>
                </a:lnTo>
                <a:lnTo>
                  <a:pt x="62814" y="664705"/>
                </a:lnTo>
                <a:lnTo>
                  <a:pt x="88768" y="702637"/>
                </a:lnTo>
                <a:lnTo>
                  <a:pt x="118531" y="737720"/>
                </a:lnTo>
                <a:lnTo>
                  <a:pt x="151822" y="769685"/>
                </a:lnTo>
                <a:lnTo>
                  <a:pt x="188361" y="798262"/>
                </a:lnTo>
                <a:lnTo>
                  <a:pt x="227867" y="823183"/>
                </a:lnTo>
                <a:lnTo>
                  <a:pt x="270059" y="844176"/>
                </a:lnTo>
                <a:lnTo>
                  <a:pt x="314657" y="860973"/>
                </a:lnTo>
                <a:lnTo>
                  <a:pt x="361380" y="873305"/>
                </a:lnTo>
                <a:lnTo>
                  <a:pt x="409947" y="880902"/>
                </a:lnTo>
                <a:lnTo>
                  <a:pt x="460077" y="883494"/>
                </a:lnTo>
                <a:lnTo>
                  <a:pt x="510208" y="880902"/>
                </a:lnTo>
                <a:lnTo>
                  <a:pt x="558775" y="873305"/>
                </a:lnTo>
                <a:lnTo>
                  <a:pt x="605498" y="860973"/>
                </a:lnTo>
                <a:lnTo>
                  <a:pt x="650095" y="844176"/>
                </a:lnTo>
                <a:lnTo>
                  <a:pt x="692288" y="823183"/>
                </a:lnTo>
                <a:lnTo>
                  <a:pt x="731794" y="798262"/>
                </a:lnTo>
                <a:lnTo>
                  <a:pt x="768333" y="769685"/>
                </a:lnTo>
                <a:lnTo>
                  <a:pt x="801624" y="737720"/>
                </a:lnTo>
                <a:lnTo>
                  <a:pt x="831388" y="702637"/>
                </a:lnTo>
                <a:lnTo>
                  <a:pt x="857342" y="664705"/>
                </a:lnTo>
                <a:lnTo>
                  <a:pt x="879207" y="624194"/>
                </a:lnTo>
                <a:lnTo>
                  <a:pt x="896701" y="581373"/>
                </a:lnTo>
                <a:lnTo>
                  <a:pt x="909545" y="536511"/>
                </a:lnTo>
                <a:lnTo>
                  <a:pt x="917457" y="489879"/>
                </a:lnTo>
                <a:lnTo>
                  <a:pt x="920156" y="441746"/>
                </a:lnTo>
                <a:lnTo>
                  <a:pt x="917457" y="393613"/>
                </a:lnTo>
                <a:lnTo>
                  <a:pt x="909545" y="346981"/>
                </a:lnTo>
                <a:lnTo>
                  <a:pt x="896701" y="302120"/>
                </a:lnTo>
                <a:lnTo>
                  <a:pt x="879207" y="259299"/>
                </a:lnTo>
                <a:lnTo>
                  <a:pt x="857342" y="218788"/>
                </a:lnTo>
                <a:lnTo>
                  <a:pt x="831388" y="180856"/>
                </a:lnTo>
                <a:lnTo>
                  <a:pt x="801624" y="145773"/>
                </a:lnTo>
                <a:lnTo>
                  <a:pt x="768333" y="113808"/>
                </a:lnTo>
                <a:lnTo>
                  <a:pt x="731794" y="85231"/>
                </a:lnTo>
                <a:lnTo>
                  <a:pt x="692288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21335" y="3165045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139444" y="3295394"/>
            <a:ext cx="28448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AD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821335" y="4443798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8"/>
                </a:lnTo>
                <a:lnTo>
                  <a:pt x="118531" y="145773"/>
                </a:lnTo>
                <a:lnTo>
                  <a:pt x="88768" y="180857"/>
                </a:lnTo>
                <a:lnTo>
                  <a:pt x="62814" y="218789"/>
                </a:lnTo>
                <a:lnTo>
                  <a:pt x="40949" y="259300"/>
                </a:lnTo>
                <a:lnTo>
                  <a:pt x="23455" y="302121"/>
                </a:lnTo>
                <a:lnTo>
                  <a:pt x="10611" y="346982"/>
                </a:lnTo>
                <a:lnTo>
                  <a:pt x="2699" y="393614"/>
                </a:lnTo>
                <a:lnTo>
                  <a:pt x="0" y="441747"/>
                </a:lnTo>
                <a:lnTo>
                  <a:pt x="2699" y="489880"/>
                </a:lnTo>
                <a:lnTo>
                  <a:pt x="10611" y="536512"/>
                </a:lnTo>
                <a:lnTo>
                  <a:pt x="23455" y="581373"/>
                </a:lnTo>
                <a:lnTo>
                  <a:pt x="40949" y="624194"/>
                </a:lnTo>
                <a:lnTo>
                  <a:pt x="62814" y="664705"/>
                </a:lnTo>
                <a:lnTo>
                  <a:pt x="88768" y="702637"/>
                </a:lnTo>
                <a:lnTo>
                  <a:pt x="118531" y="737720"/>
                </a:lnTo>
                <a:lnTo>
                  <a:pt x="151822" y="769685"/>
                </a:lnTo>
                <a:lnTo>
                  <a:pt x="188361" y="798262"/>
                </a:lnTo>
                <a:lnTo>
                  <a:pt x="227867" y="823183"/>
                </a:lnTo>
                <a:lnTo>
                  <a:pt x="270059" y="844176"/>
                </a:lnTo>
                <a:lnTo>
                  <a:pt x="314657" y="860973"/>
                </a:lnTo>
                <a:lnTo>
                  <a:pt x="361380" y="873305"/>
                </a:lnTo>
                <a:lnTo>
                  <a:pt x="409947" y="880902"/>
                </a:lnTo>
                <a:lnTo>
                  <a:pt x="460077" y="883494"/>
                </a:lnTo>
                <a:lnTo>
                  <a:pt x="510208" y="880902"/>
                </a:lnTo>
                <a:lnTo>
                  <a:pt x="558775" y="873305"/>
                </a:lnTo>
                <a:lnTo>
                  <a:pt x="605498" y="860973"/>
                </a:lnTo>
                <a:lnTo>
                  <a:pt x="650095" y="844176"/>
                </a:lnTo>
                <a:lnTo>
                  <a:pt x="692288" y="823183"/>
                </a:lnTo>
                <a:lnTo>
                  <a:pt x="731794" y="798262"/>
                </a:lnTo>
                <a:lnTo>
                  <a:pt x="768333" y="769685"/>
                </a:lnTo>
                <a:lnTo>
                  <a:pt x="801624" y="737720"/>
                </a:lnTo>
                <a:lnTo>
                  <a:pt x="831388" y="702637"/>
                </a:lnTo>
                <a:lnTo>
                  <a:pt x="857342" y="664705"/>
                </a:lnTo>
                <a:lnTo>
                  <a:pt x="879207" y="624194"/>
                </a:lnTo>
                <a:lnTo>
                  <a:pt x="896701" y="581373"/>
                </a:lnTo>
                <a:lnTo>
                  <a:pt x="909545" y="536512"/>
                </a:lnTo>
                <a:lnTo>
                  <a:pt x="917457" y="489880"/>
                </a:lnTo>
                <a:lnTo>
                  <a:pt x="920156" y="441747"/>
                </a:lnTo>
                <a:lnTo>
                  <a:pt x="917457" y="393614"/>
                </a:lnTo>
                <a:lnTo>
                  <a:pt x="909545" y="346982"/>
                </a:lnTo>
                <a:lnTo>
                  <a:pt x="896701" y="302121"/>
                </a:lnTo>
                <a:lnTo>
                  <a:pt x="879207" y="259300"/>
                </a:lnTo>
                <a:lnTo>
                  <a:pt x="857342" y="218789"/>
                </a:lnTo>
                <a:lnTo>
                  <a:pt x="831388" y="180857"/>
                </a:lnTo>
                <a:lnTo>
                  <a:pt x="801624" y="145773"/>
                </a:lnTo>
                <a:lnTo>
                  <a:pt x="768333" y="113808"/>
                </a:lnTo>
                <a:lnTo>
                  <a:pt x="731794" y="85231"/>
                </a:lnTo>
                <a:lnTo>
                  <a:pt x="692288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821335" y="4443798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146996" y="4574147"/>
            <a:ext cx="26924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AB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362943" y="3165045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8"/>
                </a:lnTo>
                <a:lnTo>
                  <a:pt x="118531" y="145773"/>
                </a:lnTo>
                <a:lnTo>
                  <a:pt x="88768" y="180856"/>
                </a:lnTo>
                <a:lnTo>
                  <a:pt x="62814" y="218788"/>
                </a:lnTo>
                <a:lnTo>
                  <a:pt x="40949" y="259299"/>
                </a:lnTo>
                <a:lnTo>
                  <a:pt x="23455" y="302120"/>
                </a:lnTo>
                <a:lnTo>
                  <a:pt x="10611" y="346981"/>
                </a:lnTo>
                <a:lnTo>
                  <a:pt x="2699" y="393613"/>
                </a:lnTo>
                <a:lnTo>
                  <a:pt x="0" y="441746"/>
                </a:lnTo>
                <a:lnTo>
                  <a:pt x="2699" y="489879"/>
                </a:lnTo>
                <a:lnTo>
                  <a:pt x="10611" y="536511"/>
                </a:lnTo>
                <a:lnTo>
                  <a:pt x="23455" y="581373"/>
                </a:lnTo>
                <a:lnTo>
                  <a:pt x="40949" y="624194"/>
                </a:lnTo>
                <a:lnTo>
                  <a:pt x="62814" y="664705"/>
                </a:lnTo>
                <a:lnTo>
                  <a:pt x="88768" y="702637"/>
                </a:lnTo>
                <a:lnTo>
                  <a:pt x="118531" y="737720"/>
                </a:lnTo>
                <a:lnTo>
                  <a:pt x="151822" y="769685"/>
                </a:lnTo>
                <a:lnTo>
                  <a:pt x="188361" y="798262"/>
                </a:lnTo>
                <a:lnTo>
                  <a:pt x="227867" y="823183"/>
                </a:lnTo>
                <a:lnTo>
                  <a:pt x="270059" y="844176"/>
                </a:lnTo>
                <a:lnTo>
                  <a:pt x="314657" y="860973"/>
                </a:lnTo>
                <a:lnTo>
                  <a:pt x="361380" y="873305"/>
                </a:lnTo>
                <a:lnTo>
                  <a:pt x="409947" y="880902"/>
                </a:lnTo>
                <a:lnTo>
                  <a:pt x="460077" y="883494"/>
                </a:lnTo>
                <a:lnTo>
                  <a:pt x="510208" y="880902"/>
                </a:lnTo>
                <a:lnTo>
                  <a:pt x="558775" y="873305"/>
                </a:lnTo>
                <a:lnTo>
                  <a:pt x="605498" y="860973"/>
                </a:lnTo>
                <a:lnTo>
                  <a:pt x="650095" y="844176"/>
                </a:lnTo>
                <a:lnTo>
                  <a:pt x="692287" y="823183"/>
                </a:lnTo>
                <a:lnTo>
                  <a:pt x="731793" y="798262"/>
                </a:lnTo>
                <a:lnTo>
                  <a:pt x="768332" y="769685"/>
                </a:lnTo>
                <a:lnTo>
                  <a:pt x="801624" y="737720"/>
                </a:lnTo>
                <a:lnTo>
                  <a:pt x="831387" y="702637"/>
                </a:lnTo>
                <a:lnTo>
                  <a:pt x="857341" y="664705"/>
                </a:lnTo>
                <a:lnTo>
                  <a:pt x="879206" y="624194"/>
                </a:lnTo>
                <a:lnTo>
                  <a:pt x="896700" y="581373"/>
                </a:lnTo>
                <a:lnTo>
                  <a:pt x="909544" y="536511"/>
                </a:lnTo>
                <a:lnTo>
                  <a:pt x="917455" y="489879"/>
                </a:lnTo>
                <a:lnTo>
                  <a:pt x="920155" y="441746"/>
                </a:lnTo>
                <a:lnTo>
                  <a:pt x="917455" y="393613"/>
                </a:lnTo>
                <a:lnTo>
                  <a:pt x="909544" y="346981"/>
                </a:lnTo>
                <a:lnTo>
                  <a:pt x="896700" y="302120"/>
                </a:lnTo>
                <a:lnTo>
                  <a:pt x="879206" y="259299"/>
                </a:lnTo>
                <a:lnTo>
                  <a:pt x="857341" y="218788"/>
                </a:lnTo>
                <a:lnTo>
                  <a:pt x="831387" y="180856"/>
                </a:lnTo>
                <a:lnTo>
                  <a:pt x="801624" y="145773"/>
                </a:lnTo>
                <a:lnTo>
                  <a:pt x="768332" y="113808"/>
                </a:lnTo>
                <a:lnTo>
                  <a:pt x="731793" y="85231"/>
                </a:lnTo>
                <a:lnTo>
                  <a:pt x="692287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362943" y="3165045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679748" y="3295394"/>
            <a:ext cx="28702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spc="-5" dirty="0">
                <a:solidFill>
                  <a:srgbClr val="FFFFFF"/>
                </a:solidFill>
                <a:latin typeface="Verdana"/>
                <a:cs typeface="Verdana"/>
              </a:rPr>
              <a:t>CD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362942" y="4443799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8"/>
                </a:lnTo>
                <a:lnTo>
                  <a:pt x="118531" y="145773"/>
                </a:lnTo>
                <a:lnTo>
                  <a:pt x="88768" y="180857"/>
                </a:lnTo>
                <a:lnTo>
                  <a:pt x="62814" y="218788"/>
                </a:lnTo>
                <a:lnTo>
                  <a:pt x="40949" y="259300"/>
                </a:lnTo>
                <a:lnTo>
                  <a:pt x="23455" y="302120"/>
                </a:lnTo>
                <a:lnTo>
                  <a:pt x="10611" y="346982"/>
                </a:lnTo>
                <a:lnTo>
                  <a:pt x="2699" y="393613"/>
                </a:lnTo>
                <a:lnTo>
                  <a:pt x="0" y="441747"/>
                </a:lnTo>
                <a:lnTo>
                  <a:pt x="2699" y="489880"/>
                </a:lnTo>
                <a:lnTo>
                  <a:pt x="10611" y="536512"/>
                </a:lnTo>
                <a:lnTo>
                  <a:pt x="23455" y="581373"/>
                </a:lnTo>
                <a:lnTo>
                  <a:pt x="40949" y="624194"/>
                </a:lnTo>
                <a:lnTo>
                  <a:pt x="62814" y="664705"/>
                </a:lnTo>
                <a:lnTo>
                  <a:pt x="88768" y="702637"/>
                </a:lnTo>
                <a:lnTo>
                  <a:pt x="118531" y="737720"/>
                </a:lnTo>
                <a:lnTo>
                  <a:pt x="151822" y="769685"/>
                </a:lnTo>
                <a:lnTo>
                  <a:pt x="188361" y="798262"/>
                </a:lnTo>
                <a:lnTo>
                  <a:pt x="227867" y="823182"/>
                </a:lnTo>
                <a:lnTo>
                  <a:pt x="270059" y="844176"/>
                </a:lnTo>
                <a:lnTo>
                  <a:pt x="314657" y="860973"/>
                </a:lnTo>
                <a:lnTo>
                  <a:pt x="361380" y="873305"/>
                </a:lnTo>
                <a:lnTo>
                  <a:pt x="409947" y="880901"/>
                </a:lnTo>
                <a:lnTo>
                  <a:pt x="460077" y="883494"/>
                </a:lnTo>
                <a:lnTo>
                  <a:pt x="510208" y="880901"/>
                </a:lnTo>
                <a:lnTo>
                  <a:pt x="558775" y="873305"/>
                </a:lnTo>
                <a:lnTo>
                  <a:pt x="605498" y="860973"/>
                </a:lnTo>
                <a:lnTo>
                  <a:pt x="650095" y="844176"/>
                </a:lnTo>
                <a:lnTo>
                  <a:pt x="692288" y="823182"/>
                </a:lnTo>
                <a:lnTo>
                  <a:pt x="731794" y="798262"/>
                </a:lnTo>
                <a:lnTo>
                  <a:pt x="768333" y="769685"/>
                </a:lnTo>
                <a:lnTo>
                  <a:pt x="801624" y="737720"/>
                </a:lnTo>
                <a:lnTo>
                  <a:pt x="831388" y="702637"/>
                </a:lnTo>
                <a:lnTo>
                  <a:pt x="857342" y="664705"/>
                </a:lnTo>
                <a:lnTo>
                  <a:pt x="879207" y="624194"/>
                </a:lnTo>
                <a:lnTo>
                  <a:pt x="896701" y="581373"/>
                </a:lnTo>
                <a:lnTo>
                  <a:pt x="909545" y="536512"/>
                </a:lnTo>
                <a:lnTo>
                  <a:pt x="917457" y="489880"/>
                </a:lnTo>
                <a:lnTo>
                  <a:pt x="920156" y="441747"/>
                </a:lnTo>
                <a:lnTo>
                  <a:pt x="917457" y="393613"/>
                </a:lnTo>
                <a:lnTo>
                  <a:pt x="909545" y="346982"/>
                </a:lnTo>
                <a:lnTo>
                  <a:pt x="896701" y="302120"/>
                </a:lnTo>
                <a:lnTo>
                  <a:pt x="879207" y="259300"/>
                </a:lnTo>
                <a:lnTo>
                  <a:pt x="857342" y="218788"/>
                </a:lnTo>
                <a:lnTo>
                  <a:pt x="831388" y="180857"/>
                </a:lnTo>
                <a:lnTo>
                  <a:pt x="801624" y="145773"/>
                </a:lnTo>
                <a:lnTo>
                  <a:pt x="768333" y="113808"/>
                </a:lnTo>
                <a:lnTo>
                  <a:pt x="731794" y="85231"/>
                </a:lnTo>
                <a:lnTo>
                  <a:pt x="692288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362942" y="4443799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687301" y="4574148"/>
            <a:ext cx="27178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spc="-5" dirty="0">
                <a:solidFill>
                  <a:srgbClr val="FFFFFF"/>
                </a:solidFill>
                <a:latin typeface="Verdana"/>
                <a:cs typeface="Verdana"/>
              </a:rPr>
              <a:t>BC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08598" y="3562408"/>
            <a:ext cx="6807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latin typeface="Verdana"/>
                <a:cs typeface="Verdana"/>
              </a:rPr>
              <a:t>Write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466844" y="3598016"/>
            <a:ext cx="979077" cy="650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546989" y="3741561"/>
            <a:ext cx="709930" cy="382905"/>
          </a:xfrm>
          <a:custGeom>
            <a:avLst/>
            <a:gdLst/>
            <a:ahLst/>
            <a:cxnLst/>
            <a:rect l="l" t="t" r="r" b="b"/>
            <a:pathLst>
              <a:path w="709929" h="382905">
                <a:moveTo>
                  <a:pt x="0" y="382690"/>
                </a:moveTo>
                <a:lnTo>
                  <a:pt x="692562" y="9045"/>
                </a:lnTo>
                <a:lnTo>
                  <a:pt x="709328" y="0"/>
                </a:lnTo>
              </a:path>
            </a:pathLst>
          </a:custGeom>
          <a:ln w="38100">
            <a:solidFill>
              <a:srgbClr val="DDAE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231520" y="3682507"/>
            <a:ext cx="134620" cy="110489"/>
          </a:xfrm>
          <a:custGeom>
            <a:avLst/>
            <a:gdLst/>
            <a:ahLst/>
            <a:cxnLst/>
            <a:rect l="l" t="t" r="r" b="b"/>
            <a:pathLst>
              <a:path w="134620" h="110489">
                <a:moveTo>
                  <a:pt x="134258" y="0"/>
                </a:moveTo>
                <a:lnTo>
                  <a:pt x="0" y="4177"/>
                </a:lnTo>
                <a:lnTo>
                  <a:pt x="57044" y="109912"/>
                </a:lnTo>
                <a:lnTo>
                  <a:pt x="134258" y="0"/>
                </a:lnTo>
                <a:close/>
              </a:path>
            </a:pathLst>
          </a:custGeom>
          <a:solidFill>
            <a:srgbClr val="DDAE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464009" y="3751906"/>
            <a:ext cx="979077" cy="650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653615" y="3836396"/>
            <a:ext cx="709930" cy="382905"/>
          </a:xfrm>
          <a:custGeom>
            <a:avLst/>
            <a:gdLst/>
            <a:ahLst/>
            <a:cxnLst/>
            <a:rect l="l" t="t" r="r" b="b"/>
            <a:pathLst>
              <a:path w="709929" h="382904">
                <a:moveTo>
                  <a:pt x="0" y="382690"/>
                </a:moveTo>
                <a:lnTo>
                  <a:pt x="16765" y="373645"/>
                </a:lnTo>
                <a:lnTo>
                  <a:pt x="709328" y="0"/>
                </a:lnTo>
              </a:path>
            </a:pathLst>
          </a:custGeom>
          <a:ln w="38100">
            <a:solidFill>
              <a:srgbClr val="DDAE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544154" y="4168228"/>
            <a:ext cx="134620" cy="110489"/>
          </a:xfrm>
          <a:custGeom>
            <a:avLst/>
            <a:gdLst/>
            <a:ahLst/>
            <a:cxnLst/>
            <a:rect l="l" t="t" r="r" b="b"/>
            <a:pathLst>
              <a:path w="134620" h="110489">
                <a:moveTo>
                  <a:pt x="77212" y="0"/>
                </a:moveTo>
                <a:lnTo>
                  <a:pt x="0" y="109913"/>
                </a:lnTo>
                <a:lnTo>
                  <a:pt x="134256" y="105735"/>
                </a:lnTo>
                <a:lnTo>
                  <a:pt x="77212" y="0"/>
                </a:lnTo>
                <a:close/>
              </a:path>
            </a:pathLst>
          </a:custGeom>
          <a:solidFill>
            <a:srgbClr val="DDAE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234015" y="3671883"/>
            <a:ext cx="666383" cy="19634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277100" y="3746946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41773" y="0"/>
                </a:lnTo>
                <a:lnTo>
                  <a:pt x="457199" y="0"/>
                </a:lnTo>
              </a:path>
            </a:pathLst>
          </a:custGeom>
          <a:ln w="38100">
            <a:solidFill>
              <a:srgbClr val="A18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738533" y="3686876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0" y="0"/>
                </a:moveTo>
                <a:lnTo>
                  <a:pt x="0" y="120141"/>
                </a:lnTo>
                <a:lnTo>
                  <a:pt x="120142" y="60070"/>
                </a:lnTo>
                <a:lnTo>
                  <a:pt x="0" y="0"/>
                </a:lnTo>
                <a:close/>
              </a:path>
            </a:pathLst>
          </a:custGeom>
          <a:solidFill>
            <a:srgbClr val="A189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056956" y="3838882"/>
            <a:ext cx="990520" cy="85457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148345" y="3919153"/>
            <a:ext cx="711200" cy="575945"/>
          </a:xfrm>
          <a:custGeom>
            <a:avLst/>
            <a:gdLst/>
            <a:ahLst/>
            <a:cxnLst/>
            <a:rect l="l" t="t" r="r" b="b"/>
            <a:pathLst>
              <a:path w="711200" h="575945">
                <a:moveTo>
                  <a:pt x="0" y="0"/>
                </a:moveTo>
                <a:lnTo>
                  <a:pt x="696278" y="563775"/>
                </a:lnTo>
                <a:lnTo>
                  <a:pt x="711083" y="575762"/>
                </a:lnTo>
              </a:path>
            </a:pathLst>
          </a:custGeom>
          <a:ln w="38100">
            <a:solidFill>
              <a:srgbClr val="A189AD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824916" y="4450895"/>
            <a:ext cx="131445" cy="122555"/>
          </a:xfrm>
          <a:custGeom>
            <a:avLst/>
            <a:gdLst/>
            <a:ahLst/>
            <a:cxnLst/>
            <a:rect l="l" t="t" r="r" b="b"/>
            <a:pathLst>
              <a:path w="131445" h="122554">
                <a:moveTo>
                  <a:pt x="75603" y="0"/>
                </a:moveTo>
                <a:lnTo>
                  <a:pt x="0" y="93371"/>
                </a:lnTo>
                <a:lnTo>
                  <a:pt x="131173" y="122288"/>
                </a:lnTo>
                <a:lnTo>
                  <a:pt x="75603" y="0"/>
                </a:lnTo>
                <a:close/>
              </a:path>
            </a:pathLst>
          </a:custGeom>
          <a:solidFill>
            <a:srgbClr val="A189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141710" y="3784622"/>
            <a:ext cx="790153" cy="19634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302500" y="3861246"/>
            <a:ext cx="596900" cy="0"/>
          </a:xfrm>
          <a:custGeom>
            <a:avLst/>
            <a:gdLst/>
            <a:ahLst/>
            <a:cxnLst/>
            <a:rect l="l" t="t" r="r" b="b"/>
            <a:pathLst>
              <a:path w="596900">
                <a:moveTo>
                  <a:pt x="0" y="0"/>
                </a:moveTo>
                <a:lnTo>
                  <a:pt x="20735" y="0"/>
                </a:lnTo>
                <a:lnTo>
                  <a:pt x="596899" y="0"/>
                </a:lnTo>
              </a:path>
            </a:pathLst>
          </a:custGeom>
          <a:ln w="38100">
            <a:solidFill>
              <a:srgbClr val="A18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178125" y="3801176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120142" y="0"/>
                </a:moveTo>
                <a:lnTo>
                  <a:pt x="0" y="60070"/>
                </a:lnTo>
                <a:lnTo>
                  <a:pt x="120142" y="120141"/>
                </a:lnTo>
                <a:lnTo>
                  <a:pt x="120142" y="0"/>
                </a:lnTo>
                <a:close/>
              </a:path>
            </a:pathLst>
          </a:custGeom>
          <a:solidFill>
            <a:srgbClr val="A189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06400" y="4007297"/>
            <a:ext cx="762000" cy="508000"/>
          </a:xfrm>
          <a:custGeom>
            <a:avLst/>
            <a:gdLst/>
            <a:ahLst/>
            <a:cxnLst/>
            <a:rect l="l" t="t" r="r" b="b"/>
            <a:pathLst>
              <a:path w="762000" h="508000">
                <a:moveTo>
                  <a:pt x="0" y="0"/>
                </a:moveTo>
                <a:lnTo>
                  <a:pt x="762000" y="0"/>
                </a:lnTo>
                <a:lnTo>
                  <a:pt x="762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DDAE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06399" y="4007297"/>
            <a:ext cx="762000" cy="508000"/>
          </a:xfrm>
          <a:custGeom>
            <a:avLst/>
            <a:gdLst/>
            <a:ahLst/>
            <a:cxnLst/>
            <a:rect l="l" t="t" r="r" b="b"/>
            <a:pathLst>
              <a:path w="762000" h="508000">
                <a:moveTo>
                  <a:pt x="0" y="0"/>
                </a:moveTo>
                <a:lnTo>
                  <a:pt x="762000" y="0"/>
                </a:lnTo>
                <a:lnTo>
                  <a:pt x="762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A17F3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494363" y="4117564"/>
            <a:ext cx="5899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Client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230241" y="3383329"/>
            <a:ext cx="1869439" cy="1824355"/>
          </a:xfrm>
          <a:custGeom>
            <a:avLst/>
            <a:gdLst/>
            <a:ahLst/>
            <a:cxnLst/>
            <a:rect l="l" t="t" r="r" b="b"/>
            <a:pathLst>
              <a:path w="1869439" h="1824354">
                <a:moveTo>
                  <a:pt x="1595656" y="267143"/>
                </a:moveTo>
                <a:lnTo>
                  <a:pt x="1629848" y="302289"/>
                </a:lnTo>
                <a:lnTo>
                  <a:pt x="1661761" y="338728"/>
                </a:lnTo>
                <a:lnTo>
                  <a:pt x="1691394" y="376370"/>
                </a:lnTo>
                <a:lnTo>
                  <a:pt x="1718747" y="415127"/>
                </a:lnTo>
                <a:lnTo>
                  <a:pt x="1743821" y="454909"/>
                </a:lnTo>
                <a:lnTo>
                  <a:pt x="1766616" y="495626"/>
                </a:lnTo>
                <a:lnTo>
                  <a:pt x="1787131" y="537191"/>
                </a:lnTo>
                <a:lnTo>
                  <a:pt x="1805366" y="579513"/>
                </a:lnTo>
                <a:lnTo>
                  <a:pt x="1821323" y="622504"/>
                </a:lnTo>
                <a:lnTo>
                  <a:pt x="1834999" y="666075"/>
                </a:lnTo>
                <a:lnTo>
                  <a:pt x="1846397" y="710135"/>
                </a:lnTo>
                <a:lnTo>
                  <a:pt x="1855515" y="754597"/>
                </a:lnTo>
                <a:lnTo>
                  <a:pt x="1862353" y="799371"/>
                </a:lnTo>
                <a:lnTo>
                  <a:pt x="1866912" y="844368"/>
                </a:lnTo>
                <a:lnTo>
                  <a:pt x="1869191" y="889498"/>
                </a:lnTo>
                <a:lnTo>
                  <a:pt x="1869191" y="934673"/>
                </a:lnTo>
                <a:lnTo>
                  <a:pt x="1866912" y="979803"/>
                </a:lnTo>
                <a:lnTo>
                  <a:pt x="1862353" y="1024800"/>
                </a:lnTo>
                <a:lnTo>
                  <a:pt x="1855515" y="1069574"/>
                </a:lnTo>
                <a:lnTo>
                  <a:pt x="1846397" y="1114036"/>
                </a:lnTo>
                <a:lnTo>
                  <a:pt x="1834999" y="1158096"/>
                </a:lnTo>
                <a:lnTo>
                  <a:pt x="1821323" y="1201666"/>
                </a:lnTo>
                <a:lnTo>
                  <a:pt x="1805366" y="1244657"/>
                </a:lnTo>
                <a:lnTo>
                  <a:pt x="1787131" y="1286980"/>
                </a:lnTo>
                <a:lnTo>
                  <a:pt x="1766616" y="1328544"/>
                </a:lnTo>
                <a:lnTo>
                  <a:pt x="1743821" y="1369262"/>
                </a:lnTo>
                <a:lnTo>
                  <a:pt x="1718747" y="1409044"/>
                </a:lnTo>
                <a:lnTo>
                  <a:pt x="1691394" y="1447800"/>
                </a:lnTo>
                <a:lnTo>
                  <a:pt x="1661761" y="1485442"/>
                </a:lnTo>
                <a:lnTo>
                  <a:pt x="1629848" y="1521881"/>
                </a:lnTo>
                <a:lnTo>
                  <a:pt x="1595656" y="1557027"/>
                </a:lnTo>
                <a:lnTo>
                  <a:pt x="1560778" y="1589377"/>
                </a:lnTo>
                <a:lnTo>
                  <a:pt x="1524654" y="1619639"/>
                </a:lnTo>
                <a:lnTo>
                  <a:pt x="1487366" y="1647814"/>
                </a:lnTo>
                <a:lnTo>
                  <a:pt x="1448999" y="1673903"/>
                </a:lnTo>
                <a:lnTo>
                  <a:pt x="1409635" y="1697904"/>
                </a:lnTo>
                <a:lnTo>
                  <a:pt x="1369357" y="1719818"/>
                </a:lnTo>
                <a:lnTo>
                  <a:pt x="1328248" y="1739645"/>
                </a:lnTo>
                <a:lnTo>
                  <a:pt x="1286392" y="1757385"/>
                </a:lnTo>
                <a:lnTo>
                  <a:pt x="1243871" y="1773038"/>
                </a:lnTo>
                <a:lnTo>
                  <a:pt x="1200769" y="1786604"/>
                </a:lnTo>
                <a:lnTo>
                  <a:pt x="1157168" y="1798083"/>
                </a:lnTo>
                <a:lnTo>
                  <a:pt x="1113152" y="1807475"/>
                </a:lnTo>
                <a:lnTo>
                  <a:pt x="1068804" y="1814779"/>
                </a:lnTo>
                <a:lnTo>
                  <a:pt x="1024206" y="1819997"/>
                </a:lnTo>
                <a:lnTo>
                  <a:pt x="979442" y="1823127"/>
                </a:lnTo>
                <a:lnTo>
                  <a:pt x="934596" y="1824171"/>
                </a:lnTo>
                <a:lnTo>
                  <a:pt x="889749" y="1823127"/>
                </a:lnTo>
                <a:lnTo>
                  <a:pt x="844985" y="1819997"/>
                </a:lnTo>
                <a:lnTo>
                  <a:pt x="800387" y="1814779"/>
                </a:lnTo>
                <a:lnTo>
                  <a:pt x="756039" y="1807475"/>
                </a:lnTo>
                <a:lnTo>
                  <a:pt x="712023" y="1798083"/>
                </a:lnTo>
                <a:lnTo>
                  <a:pt x="668422" y="1786604"/>
                </a:lnTo>
                <a:lnTo>
                  <a:pt x="625320" y="1773038"/>
                </a:lnTo>
                <a:lnTo>
                  <a:pt x="582799" y="1757385"/>
                </a:lnTo>
                <a:lnTo>
                  <a:pt x="540943" y="1739645"/>
                </a:lnTo>
                <a:lnTo>
                  <a:pt x="499834" y="1719818"/>
                </a:lnTo>
                <a:lnTo>
                  <a:pt x="459556" y="1697904"/>
                </a:lnTo>
                <a:lnTo>
                  <a:pt x="420192" y="1673903"/>
                </a:lnTo>
                <a:lnTo>
                  <a:pt x="381825" y="1647814"/>
                </a:lnTo>
                <a:lnTo>
                  <a:pt x="344537" y="1619639"/>
                </a:lnTo>
                <a:lnTo>
                  <a:pt x="308413" y="1589377"/>
                </a:lnTo>
                <a:lnTo>
                  <a:pt x="273535" y="1557027"/>
                </a:lnTo>
                <a:lnTo>
                  <a:pt x="239343" y="1521881"/>
                </a:lnTo>
                <a:lnTo>
                  <a:pt x="207430" y="1485442"/>
                </a:lnTo>
                <a:lnTo>
                  <a:pt x="177797" y="1447800"/>
                </a:lnTo>
                <a:lnTo>
                  <a:pt x="150444" y="1409044"/>
                </a:lnTo>
                <a:lnTo>
                  <a:pt x="125370" y="1369262"/>
                </a:lnTo>
                <a:lnTo>
                  <a:pt x="102575" y="1328544"/>
                </a:lnTo>
                <a:lnTo>
                  <a:pt x="82060" y="1286980"/>
                </a:lnTo>
                <a:lnTo>
                  <a:pt x="63824" y="1244657"/>
                </a:lnTo>
                <a:lnTo>
                  <a:pt x="47868" y="1201666"/>
                </a:lnTo>
                <a:lnTo>
                  <a:pt x="34191" y="1158096"/>
                </a:lnTo>
                <a:lnTo>
                  <a:pt x="22794" y="1114036"/>
                </a:lnTo>
                <a:lnTo>
                  <a:pt x="13676" y="1069574"/>
                </a:lnTo>
                <a:lnTo>
                  <a:pt x="6838" y="1024800"/>
                </a:lnTo>
                <a:lnTo>
                  <a:pt x="2279" y="979803"/>
                </a:lnTo>
                <a:lnTo>
                  <a:pt x="0" y="934673"/>
                </a:lnTo>
                <a:lnTo>
                  <a:pt x="0" y="889498"/>
                </a:lnTo>
                <a:lnTo>
                  <a:pt x="2279" y="844368"/>
                </a:lnTo>
                <a:lnTo>
                  <a:pt x="6838" y="799371"/>
                </a:lnTo>
                <a:lnTo>
                  <a:pt x="13676" y="754597"/>
                </a:lnTo>
                <a:lnTo>
                  <a:pt x="22794" y="710135"/>
                </a:lnTo>
                <a:lnTo>
                  <a:pt x="34191" y="666075"/>
                </a:lnTo>
                <a:lnTo>
                  <a:pt x="47868" y="622504"/>
                </a:lnTo>
                <a:lnTo>
                  <a:pt x="63824" y="579513"/>
                </a:lnTo>
                <a:lnTo>
                  <a:pt x="82060" y="537191"/>
                </a:lnTo>
                <a:lnTo>
                  <a:pt x="102575" y="495626"/>
                </a:lnTo>
                <a:lnTo>
                  <a:pt x="125370" y="454909"/>
                </a:lnTo>
                <a:lnTo>
                  <a:pt x="150444" y="415127"/>
                </a:lnTo>
                <a:lnTo>
                  <a:pt x="177797" y="376370"/>
                </a:lnTo>
                <a:lnTo>
                  <a:pt x="207430" y="338728"/>
                </a:lnTo>
                <a:lnTo>
                  <a:pt x="239343" y="302289"/>
                </a:lnTo>
                <a:lnTo>
                  <a:pt x="273535" y="267143"/>
                </a:lnTo>
                <a:lnTo>
                  <a:pt x="308413" y="234794"/>
                </a:lnTo>
                <a:lnTo>
                  <a:pt x="344537" y="204531"/>
                </a:lnTo>
                <a:lnTo>
                  <a:pt x="381825" y="176356"/>
                </a:lnTo>
                <a:lnTo>
                  <a:pt x="420192" y="150268"/>
                </a:lnTo>
                <a:lnTo>
                  <a:pt x="459556" y="126267"/>
                </a:lnTo>
                <a:lnTo>
                  <a:pt x="499834" y="104353"/>
                </a:lnTo>
                <a:lnTo>
                  <a:pt x="540943" y="84525"/>
                </a:lnTo>
                <a:lnTo>
                  <a:pt x="582799" y="66785"/>
                </a:lnTo>
                <a:lnTo>
                  <a:pt x="625320" y="51132"/>
                </a:lnTo>
                <a:lnTo>
                  <a:pt x="668422" y="37567"/>
                </a:lnTo>
                <a:lnTo>
                  <a:pt x="712023" y="26088"/>
                </a:lnTo>
                <a:lnTo>
                  <a:pt x="756039" y="16696"/>
                </a:lnTo>
                <a:lnTo>
                  <a:pt x="800387" y="9391"/>
                </a:lnTo>
                <a:lnTo>
                  <a:pt x="844985" y="4174"/>
                </a:lnTo>
                <a:lnTo>
                  <a:pt x="889749" y="1043"/>
                </a:lnTo>
                <a:lnTo>
                  <a:pt x="934596" y="0"/>
                </a:lnTo>
                <a:lnTo>
                  <a:pt x="979442" y="1043"/>
                </a:lnTo>
                <a:lnTo>
                  <a:pt x="1024206" y="4174"/>
                </a:lnTo>
                <a:lnTo>
                  <a:pt x="1068804" y="9391"/>
                </a:lnTo>
                <a:lnTo>
                  <a:pt x="1113152" y="16696"/>
                </a:lnTo>
                <a:lnTo>
                  <a:pt x="1157168" y="26088"/>
                </a:lnTo>
                <a:lnTo>
                  <a:pt x="1200769" y="37567"/>
                </a:lnTo>
                <a:lnTo>
                  <a:pt x="1243871" y="51132"/>
                </a:lnTo>
                <a:lnTo>
                  <a:pt x="1286392" y="66785"/>
                </a:lnTo>
                <a:lnTo>
                  <a:pt x="1328248" y="84525"/>
                </a:lnTo>
                <a:lnTo>
                  <a:pt x="1369357" y="104353"/>
                </a:lnTo>
                <a:lnTo>
                  <a:pt x="1409635" y="126267"/>
                </a:lnTo>
                <a:lnTo>
                  <a:pt x="1448999" y="150268"/>
                </a:lnTo>
                <a:lnTo>
                  <a:pt x="1487366" y="176356"/>
                </a:lnTo>
                <a:lnTo>
                  <a:pt x="1524654" y="204531"/>
                </a:lnTo>
                <a:lnTo>
                  <a:pt x="1560778" y="234794"/>
                </a:lnTo>
                <a:lnTo>
                  <a:pt x="1595656" y="267143"/>
                </a:lnTo>
                <a:close/>
              </a:path>
            </a:pathLst>
          </a:custGeom>
          <a:ln w="101600">
            <a:solidFill>
              <a:srgbClr val="1F49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449385" y="3165045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8"/>
                </a:lnTo>
                <a:lnTo>
                  <a:pt x="118531" y="145773"/>
                </a:lnTo>
                <a:lnTo>
                  <a:pt x="88768" y="180856"/>
                </a:lnTo>
                <a:lnTo>
                  <a:pt x="62814" y="218788"/>
                </a:lnTo>
                <a:lnTo>
                  <a:pt x="40949" y="259299"/>
                </a:lnTo>
                <a:lnTo>
                  <a:pt x="23455" y="302120"/>
                </a:lnTo>
                <a:lnTo>
                  <a:pt x="10611" y="346981"/>
                </a:lnTo>
                <a:lnTo>
                  <a:pt x="2699" y="393613"/>
                </a:lnTo>
                <a:lnTo>
                  <a:pt x="0" y="441746"/>
                </a:lnTo>
                <a:lnTo>
                  <a:pt x="2699" y="489879"/>
                </a:lnTo>
                <a:lnTo>
                  <a:pt x="10611" y="536511"/>
                </a:lnTo>
                <a:lnTo>
                  <a:pt x="23455" y="581373"/>
                </a:lnTo>
                <a:lnTo>
                  <a:pt x="40949" y="624194"/>
                </a:lnTo>
                <a:lnTo>
                  <a:pt x="62814" y="664705"/>
                </a:lnTo>
                <a:lnTo>
                  <a:pt x="88768" y="702637"/>
                </a:lnTo>
                <a:lnTo>
                  <a:pt x="118531" y="737720"/>
                </a:lnTo>
                <a:lnTo>
                  <a:pt x="151822" y="769685"/>
                </a:lnTo>
                <a:lnTo>
                  <a:pt x="188361" y="798262"/>
                </a:lnTo>
                <a:lnTo>
                  <a:pt x="227867" y="823183"/>
                </a:lnTo>
                <a:lnTo>
                  <a:pt x="270059" y="844176"/>
                </a:lnTo>
                <a:lnTo>
                  <a:pt x="314657" y="860973"/>
                </a:lnTo>
                <a:lnTo>
                  <a:pt x="361380" y="873305"/>
                </a:lnTo>
                <a:lnTo>
                  <a:pt x="409947" y="880902"/>
                </a:lnTo>
                <a:lnTo>
                  <a:pt x="460077" y="883494"/>
                </a:lnTo>
                <a:lnTo>
                  <a:pt x="510208" y="880902"/>
                </a:lnTo>
                <a:lnTo>
                  <a:pt x="558775" y="873305"/>
                </a:lnTo>
                <a:lnTo>
                  <a:pt x="605498" y="860973"/>
                </a:lnTo>
                <a:lnTo>
                  <a:pt x="650095" y="844176"/>
                </a:lnTo>
                <a:lnTo>
                  <a:pt x="692287" y="823183"/>
                </a:lnTo>
                <a:lnTo>
                  <a:pt x="731793" y="798262"/>
                </a:lnTo>
                <a:lnTo>
                  <a:pt x="768332" y="769685"/>
                </a:lnTo>
                <a:lnTo>
                  <a:pt x="801624" y="737720"/>
                </a:lnTo>
                <a:lnTo>
                  <a:pt x="831387" y="702637"/>
                </a:lnTo>
                <a:lnTo>
                  <a:pt x="857341" y="664705"/>
                </a:lnTo>
                <a:lnTo>
                  <a:pt x="879206" y="624194"/>
                </a:lnTo>
                <a:lnTo>
                  <a:pt x="896700" y="581373"/>
                </a:lnTo>
                <a:lnTo>
                  <a:pt x="909544" y="536511"/>
                </a:lnTo>
                <a:lnTo>
                  <a:pt x="917455" y="489879"/>
                </a:lnTo>
                <a:lnTo>
                  <a:pt x="920155" y="441746"/>
                </a:lnTo>
                <a:lnTo>
                  <a:pt x="917455" y="393613"/>
                </a:lnTo>
                <a:lnTo>
                  <a:pt x="909544" y="346981"/>
                </a:lnTo>
                <a:lnTo>
                  <a:pt x="896700" y="302120"/>
                </a:lnTo>
                <a:lnTo>
                  <a:pt x="879206" y="259299"/>
                </a:lnTo>
                <a:lnTo>
                  <a:pt x="857341" y="218788"/>
                </a:lnTo>
                <a:lnTo>
                  <a:pt x="831387" y="180856"/>
                </a:lnTo>
                <a:lnTo>
                  <a:pt x="801624" y="145773"/>
                </a:lnTo>
                <a:lnTo>
                  <a:pt x="768332" y="113808"/>
                </a:lnTo>
                <a:lnTo>
                  <a:pt x="731793" y="85231"/>
                </a:lnTo>
                <a:lnTo>
                  <a:pt x="692287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449385" y="3165045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3767494" y="3295394"/>
            <a:ext cx="28448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AD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449385" y="4443798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8"/>
                </a:lnTo>
                <a:lnTo>
                  <a:pt x="118531" y="145773"/>
                </a:lnTo>
                <a:lnTo>
                  <a:pt x="88768" y="180857"/>
                </a:lnTo>
                <a:lnTo>
                  <a:pt x="62814" y="218789"/>
                </a:lnTo>
                <a:lnTo>
                  <a:pt x="40949" y="259300"/>
                </a:lnTo>
                <a:lnTo>
                  <a:pt x="23455" y="302121"/>
                </a:lnTo>
                <a:lnTo>
                  <a:pt x="10611" y="346982"/>
                </a:lnTo>
                <a:lnTo>
                  <a:pt x="2699" y="393614"/>
                </a:lnTo>
                <a:lnTo>
                  <a:pt x="0" y="441747"/>
                </a:lnTo>
                <a:lnTo>
                  <a:pt x="2699" y="489880"/>
                </a:lnTo>
                <a:lnTo>
                  <a:pt x="10611" y="536512"/>
                </a:lnTo>
                <a:lnTo>
                  <a:pt x="23455" y="581373"/>
                </a:lnTo>
                <a:lnTo>
                  <a:pt x="40949" y="624194"/>
                </a:lnTo>
                <a:lnTo>
                  <a:pt x="62814" y="664705"/>
                </a:lnTo>
                <a:lnTo>
                  <a:pt x="88768" y="702637"/>
                </a:lnTo>
                <a:lnTo>
                  <a:pt x="118531" y="737720"/>
                </a:lnTo>
                <a:lnTo>
                  <a:pt x="151822" y="769685"/>
                </a:lnTo>
                <a:lnTo>
                  <a:pt x="188361" y="798262"/>
                </a:lnTo>
                <a:lnTo>
                  <a:pt x="227867" y="823183"/>
                </a:lnTo>
                <a:lnTo>
                  <a:pt x="270059" y="844176"/>
                </a:lnTo>
                <a:lnTo>
                  <a:pt x="314657" y="860973"/>
                </a:lnTo>
                <a:lnTo>
                  <a:pt x="361380" y="873305"/>
                </a:lnTo>
                <a:lnTo>
                  <a:pt x="409947" y="880902"/>
                </a:lnTo>
                <a:lnTo>
                  <a:pt x="460077" y="883494"/>
                </a:lnTo>
                <a:lnTo>
                  <a:pt x="510208" y="880902"/>
                </a:lnTo>
                <a:lnTo>
                  <a:pt x="558775" y="873305"/>
                </a:lnTo>
                <a:lnTo>
                  <a:pt x="605498" y="860973"/>
                </a:lnTo>
                <a:lnTo>
                  <a:pt x="650095" y="844176"/>
                </a:lnTo>
                <a:lnTo>
                  <a:pt x="692287" y="823183"/>
                </a:lnTo>
                <a:lnTo>
                  <a:pt x="731793" y="798262"/>
                </a:lnTo>
                <a:lnTo>
                  <a:pt x="768332" y="769685"/>
                </a:lnTo>
                <a:lnTo>
                  <a:pt x="801624" y="737720"/>
                </a:lnTo>
                <a:lnTo>
                  <a:pt x="831387" y="702637"/>
                </a:lnTo>
                <a:lnTo>
                  <a:pt x="857341" y="664705"/>
                </a:lnTo>
                <a:lnTo>
                  <a:pt x="879206" y="624194"/>
                </a:lnTo>
                <a:lnTo>
                  <a:pt x="896700" y="581373"/>
                </a:lnTo>
                <a:lnTo>
                  <a:pt x="909544" y="536512"/>
                </a:lnTo>
                <a:lnTo>
                  <a:pt x="917455" y="489880"/>
                </a:lnTo>
                <a:lnTo>
                  <a:pt x="920155" y="441747"/>
                </a:lnTo>
                <a:lnTo>
                  <a:pt x="917455" y="393614"/>
                </a:lnTo>
                <a:lnTo>
                  <a:pt x="909544" y="346982"/>
                </a:lnTo>
                <a:lnTo>
                  <a:pt x="896700" y="302121"/>
                </a:lnTo>
                <a:lnTo>
                  <a:pt x="879206" y="259300"/>
                </a:lnTo>
                <a:lnTo>
                  <a:pt x="857341" y="218789"/>
                </a:lnTo>
                <a:lnTo>
                  <a:pt x="831387" y="180857"/>
                </a:lnTo>
                <a:lnTo>
                  <a:pt x="801624" y="145773"/>
                </a:lnTo>
                <a:lnTo>
                  <a:pt x="768332" y="113808"/>
                </a:lnTo>
                <a:lnTo>
                  <a:pt x="731793" y="85231"/>
                </a:lnTo>
                <a:lnTo>
                  <a:pt x="692287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449385" y="4443798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3775047" y="4574147"/>
            <a:ext cx="26924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AB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990994" y="3165045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8"/>
                </a:lnTo>
                <a:lnTo>
                  <a:pt x="118531" y="145773"/>
                </a:lnTo>
                <a:lnTo>
                  <a:pt x="88768" y="180856"/>
                </a:lnTo>
                <a:lnTo>
                  <a:pt x="62814" y="218788"/>
                </a:lnTo>
                <a:lnTo>
                  <a:pt x="40949" y="259299"/>
                </a:lnTo>
                <a:lnTo>
                  <a:pt x="23455" y="302120"/>
                </a:lnTo>
                <a:lnTo>
                  <a:pt x="10611" y="346981"/>
                </a:lnTo>
                <a:lnTo>
                  <a:pt x="2699" y="393613"/>
                </a:lnTo>
                <a:lnTo>
                  <a:pt x="0" y="441746"/>
                </a:lnTo>
                <a:lnTo>
                  <a:pt x="2699" y="489879"/>
                </a:lnTo>
                <a:lnTo>
                  <a:pt x="10611" y="536511"/>
                </a:lnTo>
                <a:lnTo>
                  <a:pt x="23455" y="581373"/>
                </a:lnTo>
                <a:lnTo>
                  <a:pt x="40949" y="624194"/>
                </a:lnTo>
                <a:lnTo>
                  <a:pt x="62814" y="664705"/>
                </a:lnTo>
                <a:lnTo>
                  <a:pt x="88768" y="702637"/>
                </a:lnTo>
                <a:lnTo>
                  <a:pt x="118531" y="737720"/>
                </a:lnTo>
                <a:lnTo>
                  <a:pt x="151822" y="769685"/>
                </a:lnTo>
                <a:lnTo>
                  <a:pt x="188361" y="798262"/>
                </a:lnTo>
                <a:lnTo>
                  <a:pt x="227867" y="823183"/>
                </a:lnTo>
                <a:lnTo>
                  <a:pt x="270059" y="844176"/>
                </a:lnTo>
                <a:lnTo>
                  <a:pt x="314657" y="860973"/>
                </a:lnTo>
                <a:lnTo>
                  <a:pt x="361380" y="873305"/>
                </a:lnTo>
                <a:lnTo>
                  <a:pt x="409947" y="880902"/>
                </a:lnTo>
                <a:lnTo>
                  <a:pt x="460077" y="883494"/>
                </a:lnTo>
                <a:lnTo>
                  <a:pt x="510208" y="880902"/>
                </a:lnTo>
                <a:lnTo>
                  <a:pt x="558775" y="873305"/>
                </a:lnTo>
                <a:lnTo>
                  <a:pt x="605498" y="860973"/>
                </a:lnTo>
                <a:lnTo>
                  <a:pt x="650095" y="844176"/>
                </a:lnTo>
                <a:lnTo>
                  <a:pt x="692287" y="823183"/>
                </a:lnTo>
                <a:lnTo>
                  <a:pt x="731793" y="798262"/>
                </a:lnTo>
                <a:lnTo>
                  <a:pt x="768332" y="769685"/>
                </a:lnTo>
                <a:lnTo>
                  <a:pt x="801624" y="737720"/>
                </a:lnTo>
                <a:lnTo>
                  <a:pt x="831387" y="702637"/>
                </a:lnTo>
                <a:lnTo>
                  <a:pt x="857341" y="664705"/>
                </a:lnTo>
                <a:lnTo>
                  <a:pt x="879206" y="624194"/>
                </a:lnTo>
                <a:lnTo>
                  <a:pt x="896700" y="581373"/>
                </a:lnTo>
                <a:lnTo>
                  <a:pt x="909544" y="536511"/>
                </a:lnTo>
                <a:lnTo>
                  <a:pt x="917455" y="489879"/>
                </a:lnTo>
                <a:lnTo>
                  <a:pt x="920155" y="441746"/>
                </a:lnTo>
                <a:lnTo>
                  <a:pt x="917455" y="393613"/>
                </a:lnTo>
                <a:lnTo>
                  <a:pt x="909544" y="346981"/>
                </a:lnTo>
                <a:lnTo>
                  <a:pt x="896700" y="302120"/>
                </a:lnTo>
                <a:lnTo>
                  <a:pt x="879206" y="259299"/>
                </a:lnTo>
                <a:lnTo>
                  <a:pt x="857341" y="218788"/>
                </a:lnTo>
                <a:lnTo>
                  <a:pt x="831387" y="180856"/>
                </a:lnTo>
                <a:lnTo>
                  <a:pt x="801624" y="145773"/>
                </a:lnTo>
                <a:lnTo>
                  <a:pt x="768332" y="113808"/>
                </a:lnTo>
                <a:lnTo>
                  <a:pt x="731793" y="85231"/>
                </a:lnTo>
                <a:lnTo>
                  <a:pt x="692287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990994" y="3165045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2307799" y="3295394"/>
            <a:ext cx="28702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spc="-5" dirty="0">
                <a:solidFill>
                  <a:srgbClr val="FFFFFF"/>
                </a:solidFill>
                <a:latin typeface="Verdana"/>
                <a:cs typeface="Verdana"/>
              </a:rPr>
              <a:t>CD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990993" y="4443799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8"/>
                </a:lnTo>
                <a:lnTo>
                  <a:pt x="118531" y="145773"/>
                </a:lnTo>
                <a:lnTo>
                  <a:pt x="88768" y="180857"/>
                </a:lnTo>
                <a:lnTo>
                  <a:pt x="62814" y="218788"/>
                </a:lnTo>
                <a:lnTo>
                  <a:pt x="40949" y="259300"/>
                </a:lnTo>
                <a:lnTo>
                  <a:pt x="23455" y="302120"/>
                </a:lnTo>
                <a:lnTo>
                  <a:pt x="10611" y="346982"/>
                </a:lnTo>
                <a:lnTo>
                  <a:pt x="2699" y="393613"/>
                </a:lnTo>
                <a:lnTo>
                  <a:pt x="0" y="441747"/>
                </a:lnTo>
                <a:lnTo>
                  <a:pt x="2699" y="489880"/>
                </a:lnTo>
                <a:lnTo>
                  <a:pt x="10611" y="536512"/>
                </a:lnTo>
                <a:lnTo>
                  <a:pt x="23455" y="581373"/>
                </a:lnTo>
                <a:lnTo>
                  <a:pt x="40949" y="624194"/>
                </a:lnTo>
                <a:lnTo>
                  <a:pt x="62814" y="664705"/>
                </a:lnTo>
                <a:lnTo>
                  <a:pt x="88768" y="702637"/>
                </a:lnTo>
                <a:lnTo>
                  <a:pt x="118531" y="737720"/>
                </a:lnTo>
                <a:lnTo>
                  <a:pt x="151822" y="769685"/>
                </a:lnTo>
                <a:lnTo>
                  <a:pt x="188361" y="798262"/>
                </a:lnTo>
                <a:lnTo>
                  <a:pt x="227867" y="823182"/>
                </a:lnTo>
                <a:lnTo>
                  <a:pt x="270059" y="844176"/>
                </a:lnTo>
                <a:lnTo>
                  <a:pt x="314657" y="860973"/>
                </a:lnTo>
                <a:lnTo>
                  <a:pt x="361380" y="873305"/>
                </a:lnTo>
                <a:lnTo>
                  <a:pt x="409947" y="880901"/>
                </a:lnTo>
                <a:lnTo>
                  <a:pt x="460077" y="883494"/>
                </a:lnTo>
                <a:lnTo>
                  <a:pt x="510208" y="880901"/>
                </a:lnTo>
                <a:lnTo>
                  <a:pt x="558775" y="873305"/>
                </a:lnTo>
                <a:lnTo>
                  <a:pt x="605498" y="860973"/>
                </a:lnTo>
                <a:lnTo>
                  <a:pt x="650095" y="844176"/>
                </a:lnTo>
                <a:lnTo>
                  <a:pt x="692287" y="823182"/>
                </a:lnTo>
                <a:lnTo>
                  <a:pt x="731793" y="798262"/>
                </a:lnTo>
                <a:lnTo>
                  <a:pt x="768332" y="769685"/>
                </a:lnTo>
                <a:lnTo>
                  <a:pt x="801624" y="737720"/>
                </a:lnTo>
                <a:lnTo>
                  <a:pt x="831387" y="702637"/>
                </a:lnTo>
                <a:lnTo>
                  <a:pt x="857341" y="664705"/>
                </a:lnTo>
                <a:lnTo>
                  <a:pt x="879206" y="624194"/>
                </a:lnTo>
                <a:lnTo>
                  <a:pt x="896700" y="581373"/>
                </a:lnTo>
                <a:lnTo>
                  <a:pt x="909544" y="536512"/>
                </a:lnTo>
                <a:lnTo>
                  <a:pt x="917455" y="489880"/>
                </a:lnTo>
                <a:lnTo>
                  <a:pt x="920155" y="441747"/>
                </a:lnTo>
                <a:lnTo>
                  <a:pt x="917455" y="393613"/>
                </a:lnTo>
                <a:lnTo>
                  <a:pt x="909544" y="346982"/>
                </a:lnTo>
                <a:lnTo>
                  <a:pt x="896700" y="302120"/>
                </a:lnTo>
                <a:lnTo>
                  <a:pt x="879206" y="259300"/>
                </a:lnTo>
                <a:lnTo>
                  <a:pt x="857341" y="218788"/>
                </a:lnTo>
                <a:lnTo>
                  <a:pt x="831387" y="180857"/>
                </a:lnTo>
                <a:lnTo>
                  <a:pt x="801624" y="145773"/>
                </a:lnTo>
                <a:lnTo>
                  <a:pt x="768332" y="113808"/>
                </a:lnTo>
                <a:lnTo>
                  <a:pt x="731793" y="85231"/>
                </a:lnTo>
                <a:lnTo>
                  <a:pt x="692287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990993" y="4443799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2315352" y="4574148"/>
            <a:ext cx="27178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spc="-5" dirty="0">
                <a:solidFill>
                  <a:srgbClr val="FFFFFF"/>
                </a:solidFill>
                <a:latin typeface="Verdana"/>
                <a:cs typeface="Verdana"/>
              </a:rPr>
              <a:t>BC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36648" y="3562408"/>
            <a:ext cx="6807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latin typeface="Verdana"/>
                <a:cs typeface="Verdana"/>
              </a:rPr>
              <a:t>Write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30259" y="3045244"/>
            <a:ext cx="5876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84040" algn="l"/>
              </a:tabLst>
            </a:pPr>
            <a:r>
              <a:rPr sz="1800" b="1" spc="-5" dirty="0">
                <a:latin typeface="Arial"/>
                <a:cs typeface="Arial"/>
              </a:rPr>
              <a:t>CL=ONE	CL=QUORUM</a:t>
            </a:r>
            <a:endParaRPr sz="1800">
              <a:latin typeface="Arial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094894" y="3598016"/>
            <a:ext cx="979077" cy="650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175038" y="3741561"/>
            <a:ext cx="709930" cy="382905"/>
          </a:xfrm>
          <a:custGeom>
            <a:avLst/>
            <a:gdLst/>
            <a:ahLst/>
            <a:cxnLst/>
            <a:rect l="l" t="t" r="r" b="b"/>
            <a:pathLst>
              <a:path w="709930" h="382905">
                <a:moveTo>
                  <a:pt x="0" y="382690"/>
                </a:moveTo>
                <a:lnTo>
                  <a:pt x="692562" y="9045"/>
                </a:lnTo>
                <a:lnTo>
                  <a:pt x="709328" y="0"/>
                </a:lnTo>
              </a:path>
            </a:pathLst>
          </a:custGeom>
          <a:ln w="38100">
            <a:solidFill>
              <a:srgbClr val="DDAE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859569" y="3682507"/>
            <a:ext cx="134620" cy="110489"/>
          </a:xfrm>
          <a:custGeom>
            <a:avLst/>
            <a:gdLst/>
            <a:ahLst/>
            <a:cxnLst/>
            <a:rect l="l" t="t" r="r" b="b"/>
            <a:pathLst>
              <a:path w="134619" h="110489">
                <a:moveTo>
                  <a:pt x="134258" y="0"/>
                </a:moveTo>
                <a:lnTo>
                  <a:pt x="0" y="4177"/>
                </a:lnTo>
                <a:lnTo>
                  <a:pt x="57045" y="109912"/>
                </a:lnTo>
                <a:lnTo>
                  <a:pt x="134258" y="0"/>
                </a:lnTo>
                <a:close/>
              </a:path>
            </a:pathLst>
          </a:custGeom>
          <a:solidFill>
            <a:srgbClr val="DDAE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092059" y="3751906"/>
            <a:ext cx="979077" cy="650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281664" y="3836396"/>
            <a:ext cx="709930" cy="382905"/>
          </a:xfrm>
          <a:custGeom>
            <a:avLst/>
            <a:gdLst/>
            <a:ahLst/>
            <a:cxnLst/>
            <a:rect l="l" t="t" r="r" b="b"/>
            <a:pathLst>
              <a:path w="709930" h="382904">
                <a:moveTo>
                  <a:pt x="0" y="382690"/>
                </a:moveTo>
                <a:lnTo>
                  <a:pt x="16765" y="373645"/>
                </a:lnTo>
                <a:lnTo>
                  <a:pt x="709328" y="0"/>
                </a:lnTo>
              </a:path>
            </a:pathLst>
          </a:custGeom>
          <a:ln w="38100">
            <a:solidFill>
              <a:srgbClr val="DDAE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172204" y="4168228"/>
            <a:ext cx="134620" cy="110489"/>
          </a:xfrm>
          <a:custGeom>
            <a:avLst/>
            <a:gdLst/>
            <a:ahLst/>
            <a:cxnLst/>
            <a:rect l="l" t="t" r="r" b="b"/>
            <a:pathLst>
              <a:path w="134619" h="110489">
                <a:moveTo>
                  <a:pt x="77212" y="0"/>
                </a:moveTo>
                <a:lnTo>
                  <a:pt x="0" y="109913"/>
                </a:lnTo>
                <a:lnTo>
                  <a:pt x="134257" y="105735"/>
                </a:lnTo>
                <a:lnTo>
                  <a:pt x="77212" y="0"/>
                </a:lnTo>
                <a:close/>
              </a:path>
            </a:pathLst>
          </a:custGeom>
          <a:solidFill>
            <a:srgbClr val="DDAE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2685007" y="3838882"/>
            <a:ext cx="990520" cy="85457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2776395" y="3919153"/>
            <a:ext cx="711200" cy="575945"/>
          </a:xfrm>
          <a:custGeom>
            <a:avLst/>
            <a:gdLst/>
            <a:ahLst/>
            <a:cxnLst/>
            <a:rect l="l" t="t" r="r" b="b"/>
            <a:pathLst>
              <a:path w="711200" h="575945">
                <a:moveTo>
                  <a:pt x="0" y="0"/>
                </a:moveTo>
                <a:lnTo>
                  <a:pt x="696278" y="563775"/>
                </a:lnTo>
                <a:lnTo>
                  <a:pt x="711083" y="575762"/>
                </a:lnTo>
              </a:path>
            </a:pathLst>
          </a:custGeom>
          <a:ln w="38100">
            <a:solidFill>
              <a:srgbClr val="A189AD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452965" y="4450895"/>
            <a:ext cx="131445" cy="122555"/>
          </a:xfrm>
          <a:custGeom>
            <a:avLst/>
            <a:gdLst/>
            <a:ahLst/>
            <a:cxnLst/>
            <a:rect l="l" t="t" r="r" b="b"/>
            <a:pathLst>
              <a:path w="131445" h="122554">
                <a:moveTo>
                  <a:pt x="75603" y="0"/>
                </a:moveTo>
                <a:lnTo>
                  <a:pt x="0" y="93371"/>
                </a:lnTo>
                <a:lnTo>
                  <a:pt x="131173" y="122288"/>
                </a:lnTo>
                <a:lnTo>
                  <a:pt x="75603" y="0"/>
                </a:lnTo>
                <a:close/>
              </a:path>
            </a:pathLst>
          </a:custGeom>
          <a:solidFill>
            <a:srgbClr val="A189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769759" y="3784622"/>
            <a:ext cx="790153" cy="1963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806699" y="3861246"/>
            <a:ext cx="596900" cy="0"/>
          </a:xfrm>
          <a:custGeom>
            <a:avLst/>
            <a:gdLst/>
            <a:ahLst/>
            <a:cxnLst/>
            <a:rect l="l" t="t" r="r" b="b"/>
            <a:pathLst>
              <a:path w="596900">
                <a:moveTo>
                  <a:pt x="0" y="0"/>
                </a:moveTo>
                <a:lnTo>
                  <a:pt x="571688" y="0"/>
                </a:lnTo>
                <a:lnTo>
                  <a:pt x="596900" y="0"/>
                </a:lnTo>
              </a:path>
            </a:pathLst>
          </a:custGeom>
          <a:ln w="38100">
            <a:solidFill>
              <a:srgbClr val="A189AD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407833" y="3801176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0" y="0"/>
                </a:moveTo>
                <a:lnTo>
                  <a:pt x="0" y="120141"/>
                </a:lnTo>
                <a:lnTo>
                  <a:pt x="120141" y="60070"/>
                </a:lnTo>
                <a:lnTo>
                  <a:pt x="0" y="0"/>
                </a:lnTo>
                <a:close/>
              </a:path>
            </a:pathLst>
          </a:custGeom>
          <a:solidFill>
            <a:srgbClr val="A189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Slide Number Placeholder 6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4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Consistency</a:t>
            </a:r>
            <a:r>
              <a:rPr lang="en-US" spc="-50" dirty="0"/>
              <a:t> </a:t>
            </a:r>
            <a:r>
              <a:rPr lang="en-US" spc="-5" dirty="0"/>
              <a:t>Levels</a:t>
            </a:r>
            <a:endParaRPr lang="en-US" dirty="0"/>
          </a:p>
        </p:txBody>
      </p:sp>
      <p:sp>
        <p:nvSpPr>
          <p:cNvPr id="4" name="object 3"/>
          <p:cNvSpPr txBox="1"/>
          <p:nvPr/>
        </p:nvSpPr>
        <p:spPr>
          <a:xfrm>
            <a:off x="762000" y="2091209"/>
            <a:ext cx="971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009920" y="2057400"/>
            <a:ext cx="7168515" cy="668655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2700" marR="5080">
              <a:lnSpc>
                <a:spcPts val="2500"/>
              </a:lnSpc>
              <a:spcBef>
                <a:spcPts val="234"/>
              </a:spcBef>
            </a:pPr>
            <a:r>
              <a:rPr sz="2100" spc="10" dirty="0">
                <a:latin typeface="Verdana"/>
                <a:cs typeface="Verdana"/>
              </a:rPr>
              <a:t>Applies </a:t>
            </a:r>
            <a:r>
              <a:rPr sz="2100" spc="5" dirty="0">
                <a:latin typeface="Verdana"/>
                <a:cs typeface="Verdana"/>
              </a:rPr>
              <a:t>to </a:t>
            </a:r>
            <a:r>
              <a:rPr sz="2100" spc="10" dirty="0">
                <a:latin typeface="Verdana"/>
                <a:cs typeface="Verdana"/>
              </a:rPr>
              <a:t>both </a:t>
            </a:r>
            <a:r>
              <a:rPr sz="2100" spc="0" dirty="0">
                <a:latin typeface="Verdana"/>
                <a:cs typeface="Verdana"/>
              </a:rPr>
              <a:t>Reads </a:t>
            </a:r>
            <a:r>
              <a:rPr sz="2100" spc="10" dirty="0">
                <a:latin typeface="Verdana"/>
                <a:cs typeface="Verdana"/>
              </a:rPr>
              <a:t>and </a:t>
            </a:r>
            <a:r>
              <a:rPr sz="2100" dirty="0">
                <a:latin typeface="Verdana"/>
                <a:cs typeface="Verdana"/>
              </a:rPr>
              <a:t>Writes </a:t>
            </a:r>
            <a:r>
              <a:rPr sz="2100" spc="5" dirty="0">
                <a:latin typeface="Verdana"/>
                <a:cs typeface="Verdana"/>
              </a:rPr>
              <a:t>(i.e. is </a:t>
            </a:r>
            <a:r>
              <a:rPr sz="2100" spc="10" dirty="0">
                <a:latin typeface="Verdana"/>
                <a:cs typeface="Verdana"/>
              </a:rPr>
              <a:t>set on each  query)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7" name="object 6"/>
          <p:cNvSpPr txBox="1"/>
          <p:nvPr/>
        </p:nvSpPr>
        <p:spPr>
          <a:xfrm>
            <a:off x="1009920" y="3077240"/>
            <a:ext cx="6773545" cy="195912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214120">
              <a:lnSpc>
                <a:spcPct val="121200"/>
              </a:lnSpc>
              <a:spcBef>
                <a:spcPts val="90"/>
              </a:spcBef>
            </a:pPr>
            <a:r>
              <a:rPr sz="2100" b="1" spc="15" dirty="0">
                <a:latin typeface="Arial"/>
                <a:cs typeface="Arial"/>
              </a:rPr>
              <a:t>ONE </a:t>
            </a:r>
            <a:r>
              <a:rPr sz="2100" spc="15" dirty="0">
                <a:latin typeface="Verdana"/>
                <a:cs typeface="Verdana"/>
              </a:rPr>
              <a:t>– </a:t>
            </a:r>
            <a:r>
              <a:rPr sz="2100" spc="10" dirty="0">
                <a:latin typeface="Verdana"/>
                <a:cs typeface="Verdana"/>
              </a:rPr>
              <a:t>one </a:t>
            </a:r>
            <a:r>
              <a:rPr sz="2100" spc="5" dirty="0">
                <a:latin typeface="Verdana"/>
                <a:cs typeface="Verdana"/>
              </a:rPr>
              <a:t>replica </a:t>
            </a:r>
            <a:r>
              <a:rPr sz="2100" spc="10" dirty="0">
                <a:latin typeface="Verdana"/>
                <a:cs typeface="Verdana"/>
              </a:rPr>
              <a:t>from </a:t>
            </a:r>
            <a:r>
              <a:rPr sz="2100" u="heavy" spc="5" dirty="0">
                <a:latin typeface="Verdana"/>
                <a:cs typeface="Verdana"/>
              </a:rPr>
              <a:t>any</a:t>
            </a:r>
            <a:r>
              <a:rPr sz="2100" spc="5" dirty="0">
                <a:latin typeface="Verdana"/>
                <a:cs typeface="Verdana"/>
              </a:rPr>
              <a:t> </a:t>
            </a:r>
            <a:r>
              <a:rPr sz="2100" spc="15" dirty="0">
                <a:latin typeface="Verdana"/>
                <a:cs typeface="Verdana"/>
              </a:rPr>
              <a:t>DC  </a:t>
            </a:r>
            <a:r>
              <a:rPr sz="2100" b="1" spc="10" dirty="0">
                <a:latin typeface="Arial"/>
                <a:cs typeface="Arial"/>
              </a:rPr>
              <a:t>LOCAL_ONE </a:t>
            </a:r>
            <a:r>
              <a:rPr sz="2100" spc="15" dirty="0">
                <a:latin typeface="Verdana"/>
                <a:cs typeface="Verdana"/>
              </a:rPr>
              <a:t>– </a:t>
            </a:r>
            <a:r>
              <a:rPr sz="2100" spc="10" dirty="0">
                <a:latin typeface="Verdana"/>
                <a:cs typeface="Verdana"/>
              </a:rPr>
              <a:t>one </a:t>
            </a:r>
            <a:r>
              <a:rPr sz="2100" spc="5" dirty="0">
                <a:latin typeface="Verdana"/>
                <a:cs typeface="Verdana"/>
              </a:rPr>
              <a:t>replica </a:t>
            </a:r>
            <a:r>
              <a:rPr sz="2100" spc="10" dirty="0">
                <a:latin typeface="Verdana"/>
                <a:cs typeface="Verdana"/>
              </a:rPr>
              <a:t>from </a:t>
            </a:r>
            <a:r>
              <a:rPr sz="2100" u="heavy" spc="5" dirty="0">
                <a:latin typeface="Verdana"/>
                <a:cs typeface="Verdana"/>
              </a:rPr>
              <a:t>local</a:t>
            </a:r>
            <a:r>
              <a:rPr sz="2100" spc="5" dirty="0">
                <a:latin typeface="Verdana"/>
                <a:cs typeface="Verdana"/>
              </a:rPr>
              <a:t> </a:t>
            </a:r>
            <a:r>
              <a:rPr sz="2100" spc="15" dirty="0">
                <a:latin typeface="Verdana"/>
                <a:cs typeface="Verdana"/>
              </a:rPr>
              <a:t>DC  </a:t>
            </a:r>
            <a:r>
              <a:rPr sz="2100" b="1" spc="15" dirty="0">
                <a:latin typeface="Arial"/>
                <a:cs typeface="Arial"/>
              </a:rPr>
              <a:t>QUORUM </a:t>
            </a:r>
            <a:r>
              <a:rPr sz="2100" spc="15" dirty="0">
                <a:latin typeface="Verdana"/>
                <a:cs typeface="Verdana"/>
              </a:rPr>
              <a:t>– 51% </a:t>
            </a:r>
            <a:r>
              <a:rPr sz="2100" spc="5" dirty="0">
                <a:latin typeface="Verdana"/>
                <a:cs typeface="Verdana"/>
              </a:rPr>
              <a:t>of replicas </a:t>
            </a:r>
            <a:r>
              <a:rPr sz="2100" spc="10" dirty="0">
                <a:latin typeface="Verdana"/>
                <a:cs typeface="Verdana"/>
              </a:rPr>
              <a:t>from </a:t>
            </a:r>
            <a:r>
              <a:rPr sz="2100" u="heavy" spc="5" dirty="0">
                <a:latin typeface="Verdana"/>
                <a:cs typeface="Verdana"/>
              </a:rPr>
              <a:t>any</a:t>
            </a:r>
            <a:r>
              <a:rPr sz="2100" spc="125" dirty="0">
                <a:latin typeface="Verdana"/>
                <a:cs typeface="Verdana"/>
              </a:rPr>
              <a:t> </a:t>
            </a:r>
            <a:r>
              <a:rPr sz="2100" spc="15" dirty="0">
                <a:latin typeface="Verdana"/>
                <a:cs typeface="Verdana"/>
              </a:rPr>
              <a:t>DC</a:t>
            </a:r>
            <a:endParaRPr sz="21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100" b="1" spc="10" dirty="0">
                <a:latin typeface="Arial"/>
                <a:cs typeface="Arial"/>
              </a:rPr>
              <a:t>LOCAL_QUORUM </a:t>
            </a:r>
            <a:r>
              <a:rPr sz="2100" spc="15" dirty="0">
                <a:latin typeface="Verdana"/>
                <a:cs typeface="Verdana"/>
              </a:rPr>
              <a:t>– 51% </a:t>
            </a:r>
            <a:r>
              <a:rPr sz="2100" spc="5" dirty="0">
                <a:latin typeface="Verdana"/>
                <a:cs typeface="Verdana"/>
              </a:rPr>
              <a:t>of replicas </a:t>
            </a:r>
            <a:r>
              <a:rPr sz="2100" spc="10" dirty="0">
                <a:latin typeface="Verdana"/>
                <a:cs typeface="Verdana"/>
              </a:rPr>
              <a:t>from </a:t>
            </a:r>
            <a:r>
              <a:rPr sz="2100" u="heavy" spc="5" dirty="0">
                <a:latin typeface="Verdana"/>
                <a:cs typeface="Verdana"/>
              </a:rPr>
              <a:t>local</a:t>
            </a:r>
            <a:r>
              <a:rPr sz="2100" spc="175" dirty="0">
                <a:latin typeface="Verdana"/>
                <a:cs typeface="Verdana"/>
              </a:rPr>
              <a:t> </a:t>
            </a:r>
            <a:r>
              <a:rPr sz="2100" spc="15" dirty="0">
                <a:latin typeface="Verdana"/>
                <a:cs typeface="Verdana"/>
              </a:rPr>
              <a:t>DC</a:t>
            </a:r>
            <a:endParaRPr sz="21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100" b="1" spc="15" dirty="0">
                <a:latin typeface="Arial"/>
                <a:cs typeface="Arial"/>
              </a:rPr>
              <a:t>ALL </a:t>
            </a:r>
            <a:r>
              <a:rPr sz="2100" spc="15" dirty="0">
                <a:latin typeface="Verdana"/>
                <a:cs typeface="Verdana"/>
              </a:rPr>
              <a:t>– </a:t>
            </a:r>
            <a:r>
              <a:rPr sz="2100" spc="5" dirty="0">
                <a:latin typeface="Verdana"/>
                <a:cs typeface="Verdana"/>
              </a:rPr>
              <a:t>all</a:t>
            </a:r>
            <a:r>
              <a:rPr sz="2100" spc="85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replicas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0102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Consistency Level and</a:t>
            </a:r>
            <a:r>
              <a:rPr lang="en-US" spc="-20" dirty="0"/>
              <a:t> </a:t>
            </a:r>
            <a:r>
              <a:rPr lang="en-US" spc="-5" dirty="0"/>
              <a:t>Speed</a:t>
            </a:r>
            <a:endParaRPr 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444500" y="1782479"/>
            <a:ext cx="9906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Arial"/>
                <a:cs typeface="Arial"/>
              </a:rPr>
              <a:t>•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0087" y="1752600"/>
            <a:ext cx="7966075" cy="70358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40"/>
              </a:spcBef>
            </a:pPr>
            <a:r>
              <a:rPr sz="2200" spc="-5" dirty="0">
                <a:latin typeface="Verdana"/>
                <a:cs typeface="Verdana"/>
              </a:rPr>
              <a:t>How </a:t>
            </a:r>
            <a:r>
              <a:rPr sz="2200" spc="-10" dirty="0">
                <a:latin typeface="Verdana"/>
                <a:cs typeface="Verdana"/>
              </a:rPr>
              <a:t>many </a:t>
            </a:r>
            <a:r>
              <a:rPr sz="2200" spc="-5" dirty="0">
                <a:latin typeface="Verdana"/>
                <a:cs typeface="Verdana"/>
              </a:rPr>
              <a:t>replicas </a:t>
            </a:r>
            <a:r>
              <a:rPr sz="2200" dirty="0">
                <a:latin typeface="Verdana"/>
                <a:cs typeface="Verdana"/>
              </a:rPr>
              <a:t>we </a:t>
            </a:r>
            <a:r>
              <a:rPr sz="2200" spc="-5" dirty="0">
                <a:latin typeface="Verdana"/>
                <a:cs typeface="Verdana"/>
              </a:rPr>
              <a:t>need to hear from can </a:t>
            </a:r>
            <a:r>
              <a:rPr sz="2200" dirty="0">
                <a:latin typeface="Verdana"/>
                <a:cs typeface="Verdana"/>
              </a:rPr>
              <a:t>affect </a:t>
            </a:r>
            <a:r>
              <a:rPr sz="2200" spc="-5" dirty="0">
                <a:latin typeface="Verdana"/>
                <a:cs typeface="Verdana"/>
              </a:rPr>
              <a:t>how  quickly </a:t>
            </a:r>
            <a:r>
              <a:rPr sz="2200" dirty="0">
                <a:latin typeface="Verdana"/>
                <a:cs typeface="Verdana"/>
              </a:rPr>
              <a:t>we </a:t>
            </a:r>
            <a:r>
              <a:rPr sz="2200" spc="-5" dirty="0">
                <a:latin typeface="Verdana"/>
                <a:cs typeface="Verdana"/>
              </a:rPr>
              <a:t>can </a:t>
            </a:r>
            <a:r>
              <a:rPr sz="2200" dirty="0">
                <a:latin typeface="Verdana"/>
                <a:cs typeface="Verdana"/>
              </a:rPr>
              <a:t>read </a:t>
            </a:r>
            <a:r>
              <a:rPr sz="2200" spc="-5" dirty="0">
                <a:latin typeface="Verdana"/>
                <a:cs typeface="Verdana"/>
              </a:rPr>
              <a:t>and write data in</a:t>
            </a:r>
            <a:r>
              <a:rPr sz="2200" spc="-10" dirty="0">
                <a:latin typeface="Verdana"/>
                <a:cs typeface="Verdana"/>
              </a:rPr>
              <a:t> Cassandra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81299" y="3710433"/>
            <a:ext cx="1155700" cy="520700"/>
          </a:xfrm>
          <a:prstGeom prst="rect">
            <a:avLst/>
          </a:prstGeom>
          <a:solidFill>
            <a:srgbClr val="DDAE54"/>
          </a:solidFill>
          <a:ln w="25400">
            <a:solidFill>
              <a:srgbClr val="A17F3D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283210">
              <a:lnSpc>
                <a:spcPct val="100000"/>
              </a:lnSpc>
              <a:spcBef>
                <a:spcPts val="90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Client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86400" y="2633217"/>
            <a:ext cx="2734945" cy="2668270"/>
          </a:xfrm>
          <a:custGeom>
            <a:avLst/>
            <a:gdLst/>
            <a:ahLst/>
            <a:cxnLst/>
            <a:rect l="l" t="t" r="r" b="b"/>
            <a:pathLst>
              <a:path w="2734945" h="2668270">
                <a:moveTo>
                  <a:pt x="2334334" y="390742"/>
                </a:moveTo>
                <a:lnTo>
                  <a:pt x="2368404" y="425172"/>
                </a:lnTo>
                <a:lnTo>
                  <a:pt x="2400960" y="460480"/>
                </a:lnTo>
                <a:lnTo>
                  <a:pt x="2432001" y="496626"/>
                </a:lnTo>
                <a:lnTo>
                  <a:pt x="2461528" y="533570"/>
                </a:lnTo>
                <a:lnTo>
                  <a:pt x="2489541" y="571273"/>
                </a:lnTo>
                <a:lnTo>
                  <a:pt x="2516040" y="609693"/>
                </a:lnTo>
                <a:lnTo>
                  <a:pt x="2541024" y="648792"/>
                </a:lnTo>
                <a:lnTo>
                  <a:pt x="2564495" y="688530"/>
                </a:lnTo>
                <a:lnTo>
                  <a:pt x="2586451" y="728866"/>
                </a:lnTo>
                <a:lnTo>
                  <a:pt x="2606893" y="769761"/>
                </a:lnTo>
                <a:lnTo>
                  <a:pt x="2625820" y="811175"/>
                </a:lnTo>
                <a:lnTo>
                  <a:pt x="2643234" y="853068"/>
                </a:lnTo>
                <a:lnTo>
                  <a:pt x="2659133" y="895399"/>
                </a:lnTo>
                <a:lnTo>
                  <a:pt x="2673518" y="938130"/>
                </a:lnTo>
                <a:lnTo>
                  <a:pt x="2686389" y="981220"/>
                </a:lnTo>
                <a:lnTo>
                  <a:pt x="2697745" y="1024629"/>
                </a:lnTo>
                <a:lnTo>
                  <a:pt x="2707588" y="1068317"/>
                </a:lnTo>
                <a:lnTo>
                  <a:pt x="2715916" y="1112245"/>
                </a:lnTo>
                <a:lnTo>
                  <a:pt x="2722730" y="1156373"/>
                </a:lnTo>
                <a:lnTo>
                  <a:pt x="2728030" y="1200660"/>
                </a:lnTo>
                <a:lnTo>
                  <a:pt x="2731815" y="1245066"/>
                </a:lnTo>
                <a:lnTo>
                  <a:pt x="2734086" y="1289553"/>
                </a:lnTo>
                <a:lnTo>
                  <a:pt x="2734844" y="1334080"/>
                </a:lnTo>
                <a:lnTo>
                  <a:pt x="2734086" y="1378606"/>
                </a:lnTo>
                <a:lnTo>
                  <a:pt x="2731815" y="1423093"/>
                </a:lnTo>
                <a:lnTo>
                  <a:pt x="2728030" y="1467499"/>
                </a:lnTo>
                <a:lnTo>
                  <a:pt x="2722730" y="1511787"/>
                </a:lnTo>
                <a:lnTo>
                  <a:pt x="2715916" y="1555914"/>
                </a:lnTo>
                <a:lnTo>
                  <a:pt x="2707588" y="1599842"/>
                </a:lnTo>
                <a:lnTo>
                  <a:pt x="2697745" y="1643530"/>
                </a:lnTo>
                <a:lnTo>
                  <a:pt x="2686389" y="1686939"/>
                </a:lnTo>
                <a:lnTo>
                  <a:pt x="2673518" y="1730029"/>
                </a:lnTo>
                <a:lnTo>
                  <a:pt x="2659133" y="1772760"/>
                </a:lnTo>
                <a:lnTo>
                  <a:pt x="2643234" y="1815092"/>
                </a:lnTo>
                <a:lnTo>
                  <a:pt x="2625820" y="1856984"/>
                </a:lnTo>
                <a:lnTo>
                  <a:pt x="2606893" y="1898398"/>
                </a:lnTo>
                <a:lnTo>
                  <a:pt x="2586451" y="1939293"/>
                </a:lnTo>
                <a:lnTo>
                  <a:pt x="2564495" y="1979629"/>
                </a:lnTo>
                <a:lnTo>
                  <a:pt x="2541024" y="2019367"/>
                </a:lnTo>
                <a:lnTo>
                  <a:pt x="2516040" y="2058466"/>
                </a:lnTo>
                <a:lnTo>
                  <a:pt x="2489541" y="2096887"/>
                </a:lnTo>
                <a:lnTo>
                  <a:pt x="2461528" y="2134589"/>
                </a:lnTo>
                <a:lnTo>
                  <a:pt x="2432001" y="2171533"/>
                </a:lnTo>
                <a:lnTo>
                  <a:pt x="2400960" y="2207679"/>
                </a:lnTo>
                <a:lnTo>
                  <a:pt x="2368404" y="2242987"/>
                </a:lnTo>
                <a:lnTo>
                  <a:pt x="2334334" y="2277417"/>
                </a:lnTo>
                <a:lnTo>
                  <a:pt x="2299044" y="2310656"/>
                </a:lnTo>
                <a:lnTo>
                  <a:pt x="2262854" y="2342418"/>
                </a:lnTo>
                <a:lnTo>
                  <a:pt x="2225804" y="2372702"/>
                </a:lnTo>
                <a:lnTo>
                  <a:pt x="2187937" y="2401509"/>
                </a:lnTo>
                <a:lnTo>
                  <a:pt x="2149292" y="2428839"/>
                </a:lnTo>
                <a:lnTo>
                  <a:pt x="2109912" y="2454692"/>
                </a:lnTo>
                <a:lnTo>
                  <a:pt x="2069835" y="2479067"/>
                </a:lnTo>
                <a:lnTo>
                  <a:pt x="2029105" y="2501965"/>
                </a:lnTo>
                <a:lnTo>
                  <a:pt x="1987760" y="2523386"/>
                </a:lnTo>
                <a:lnTo>
                  <a:pt x="1945843" y="2543329"/>
                </a:lnTo>
                <a:lnTo>
                  <a:pt x="1903395" y="2561795"/>
                </a:lnTo>
                <a:lnTo>
                  <a:pt x="1860455" y="2578784"/>
                </a:lnTo>
                <a:lnTo>
                  <a:pt x="1817065" y="2594295"/>
                </a:lnTo>
                <a:lnTo>
                  <a:pt x="1773267" y="2608330"/>
                </a:lnTo>
                <a:lnTo>
                  <a:pt x="1729100" y="2620887"/>
                </a:lnTo>
                <a:lnTo>
                  <a:pt x="1684606" y="2631966"/>
                </a:lnTo>
                <a:lnTo>
                  <a:pt x="1639826" y="2641569"/>
                </a:lnTo>
                <a:lnTo>
                  <a:pt x="1594800" y="2649694"/>
                </a:lnTo>
                <a:lnTo>
                  <a:pt x="1549570" y="2656342"/>
                </a:lnTo>
                <a:lnTo>
                  <a:pt x="1504176" y="2661512"/>
                </a:lnTo>
                <a:lnTo>
                  <a:pt x="1458659" y="2665205"/>
                </a:lnTo>
                <a:lnTo>
                  <a:pt x="1413061" y="2667421"/>
                </a:lnTo>
                <a:lnTo>
                  <a:pt x="1367422" y="2668160"/>
                </a:lnTo>
                <a:lnTo>
                  <a:pt x="1321782" y="2667421"/>
                </a:lnTo>
                <a:lnTo>
                  <a:pt x="1276184" y="2665205"/>
                </a:lnTo>
                <a:lnTo>
                  <a:pt x="1230667" y="2661512"/>
                </a:lnTo>
                <a:lnTo>
                  <a:pt x="1185273" y="2656342"/>
                </a:lnTo>
                <a:lnTo>
                  <a:pt x="1140043" y="2649694"/>
                </a:lnTo>
                <a:lnTo>
                  <a:pt x="1095017" y="2641569"/>
                </a:lnTo>
                <a:lnTo>
                  <a:pt x="1050237" y="2631966"/>
                </a:lnTo>
                <a:lnTo>
                  <a:pt x="1005743" y="2620887"/>
                </a:lnTo>
                <a:lnTo>
                  <a:pt x="961576" y="2608330"/>
                </a:lnTo>
                <a:lnTo>
                  <a:pt x="917778" y="2594295"/>
                </a:lnTo>
                <a:lnTo>
                  <a:pt x="874388" y="2578784"/>
                </a:lnTo>
                <a:lnTo>
                  <a:pt x="831448" y="2561795"/>
                </a:lnTo>
                <a:lnTo>
                  <a:pt x="789000" y="2543329"/>
                </a:lnTo>
                <a:lnTo>
                  <a:pt x="747083" y="2523386"/>
                </a:lnTo>
                <a:lnTo>
                  <a:pt x="705738" y="2501965"/>
                </a:lnTo>
                <a:lnTo>
                  <a:pt x="665007" y="2479067"/>
                </a:lnTo>
                <a:lnTo>
                  <a:pt x="624931" y="2454692"/>
                </a:lnTo>
                <a:lnTo>
                  <a:pt x="585550" y="2428839"/>
                </a:lnTo>
                <a:lnTo>
                  <a:pt x="546906" y="2401509"/>
                </a:lnTo>
                <a:lnTo>
                  <a:pt x="509038" y="2372702"/>
                </a:lnTo>
                <a:lnTo>
                  <a:pt x="471989" y="2342418"/>
                </a:lnTo>
                <a:lnTo>
                  <a:pt x="435799" y="2310656"/>
                </a:lnTo>
                <a:lnTo>
                  <a:pt x="400508" y="2277417"/>
                </a:lnTo>
                <a:lnTo>
                  <a:pt x="366438" y="2242987"/>
                </a:lnTo>
                <a:lnTo>
                  <a:pt x="333883" y="2207679"/>
                </a:lnTo>
                <a:lnTo>
                  <a:pt x="302842" y="2171533"/>
                </a:lnTo>
                <a:lnTo>
                  <a:pt x="273314" y="2134589"/>
                </a:lnTo>
                <a:lnTo>
                  <a:pt x="245302" y="2096887"/>
                </a:lnTo>
                <a:lnTo>
                  <a:pt x="218803" y="2058466"/>
                </a:lnTo>
                <a:lnTo>
                  <a:pt x="193818" y="2019367"/>
                </a:lnTo>
                <a:lnTo>
                  <a:pt x="170348" y="1979629"/>
                </a:lnTo>
                <a:lnTo>
                  <a:pt x="148392" y="1939293"/>
                </a:lnTo>
                <a:lnTo>
                  <a:pt x="127950" y="1898398"/>
                </a:lnTo>
                <a:lnTo>
                  <a:pt x="109023" y="1856984"/>
                </a:lnTo>
                <a:lnTo>
                  <a:pt x="91609" y="1815092"/>
                </a:lnTo>
                <a:lnTo>
                  <a:pt x="75710" y="1772760"/>
                </a:lnTo>
                <a:lnTo>
                  <a:pt x="61325" y="1730029"/>
                </a:lnTo>
                <a:lnTo>
                  <a:pt x="48454" y="1686939"/>
                </a:lnTo>
                <a:lnTo>
                  <a:pt x="37098" y="1643530"/>
                </a:lnTo>
                <a:lnTo>
                  <a:pt x="27255" y="1599842"/>
                </a:lnTo>
                <a:lnTo>
                  <a:pt x="18927" y="1555914"/>
                </a:lnTo>
                <a:lnTo>
                  <a:pt x="12113" y="1511787"/>
                </a:lnTo>
                <a:lnTo>
                  <a:pt x="6813" y="1467499"/>
                </a:lnTo>
                <a:lnTo>
                  <a:pt x="3028" y="1423093"/>
                </a:lnTo>
                <a:lnTo>
                  <a:pt x="757" y="1378606"/>
                </a:lnTo>
                <a:lnTo>
                  <a:pt x="0" y="1334080"/>
                </a:lnTo>
                <a:lnTo>
                  <a:pt x="757" y="1289553"/>
                </a:lnTo>
                <a:lnTo>
                  <a:pt x="3028" y="1245066"/>
                </a:lnTo>
                <a:lnTo>
                  <a:pt x="6813" y="1200660"/>
                </a:lnTo>
                <a:lnTo>
                  <a:pt x="12113" y="1156373"/>
                </a:lnTo>
                <a:lnTo>
                  <a:pt x="18927" y="1112245"/>
                </a:lnTo>
                <a:lnTo>
                  <a:pt x="27255" y="1068317"/>
                </a:lnTo>
                <a:lnTo>
                  <a:pt x="37098" y="1024629"/>
                </a:lnTo>
                <a:lnTo>
                  <a:pt x="48454" y="981220"/>
                </a:lnTo>
                <a:lnTo>
                  <a:pt x="61325" y="938130"/>
                </a:lnTo>
                <a:lnTo>
                  <a:pt x="75710" y="895399"/>
                </a:lnTo>
                <a:lnTo>
                  <a:pt x="91609" y="853068"/>
                </a:lnTo>
                <a:lnTo>
                  <a:pt x="109023" y="811175"/>
                </a:lnTo>
                <a:lnTo>
                  <a:pt x="127950" y="769761"/>
                </a:lnTo>
                <a:lnTo>
                  <a:pt x="148392" y="728866"/>
                </a:lnTo>
                <a:lnTo>
                  <a:pt x="170348" y="688530"/>
                </a:lnTo>
                <a:lnTo>
                  <a:pt x="193818" y="648792"/>
                </a:lnTo>
                <a:lnTo>
                  <a:pt x="218803" y="609693"/>
                </a:lnTo>
                <a:lnTo>
                  <a:pt x="245302" y="571273"/>
                </a:lnTo>
                <a:lnTo>
                  <a:pt x="273314" y="533570"/>
                </a:lnTo>
                <a:lnTo>
                  <a:pt x="302842" y="496626"/>
                </a:lnTo>
                <a:lnTo>
                  <a:pt x="333883" y="460480"/>
                </a:lnTo>
                <a:lnTo>
                  <a:pt x="366438" y="425172"/>
                </a:lnTo>
                <a:lnTo>
                  <a:pt x="400508" y="390742"/>
                </a:lnTo>
                <a:lnTo>
                  <a:pt x="435799" y="357503"/>
                </a:lnTo>
                <a:lnTo>
                  <a:pt x="471989" y="325742"/>
                </a:lnTo>
                <a:lnTo>
                  <a:pt x="509038" y="295457"/>
                </a:lnTo>
                <a:lnTo>
                  <a:pt x="546906" y="266650"/>
                </a:lnTo>
                <a:lnTo>
                  <a:pt x="585550" y="239320"/>
                </a:lnTo>
                <a:lnTo>
                  <a:pt x="624931" y="213468"/>
                </a:lnTo>
                <a:lnTo>
                  <a:pt x="665007" y="189092"/>
                </a:lnTo>
                <a:lnTo>
                  <a:pt x="705738" y="166195"/>
                </a:lnTo>
                <a:lnTo>
                  <a:pt x="747083" y="144774"/>
                </a:lnTo>
                <a:lnTo>
                  <a:pt x="789000" y="124830"/>
                </a:lnTo>
                <a:lnTo>
                  <a:pt x="831448" y="106364"/>
                </a:lnTo>
                <a:lnTo>
                  <a:pt x="874388" y="89375"/>
                </a:lnTo>
                <a:lnTo>
                  <a:pt x="917778" y="73864"/>
                </a:lnTo>
                <a:lnTo>
                  <a:pt x="961576" y="59830"/>
                </a:lnTo>
                <a:lnTo>
                  <a:pt x="1005743" y="47273"/>
                </a:lnTo>
                <a:lnTo>
                  <a:pt x="1050237" y="36193"/>
                </a:lnTo>
                <a:lnTo>
                  <a:pt x="1095017" y="26591"/>
                </a:lnTo>
                <a:lnTo>
                  <a:pt x="1140043" y="18466"/>
                </a:lnTo>
                <a:lnTo>
                  <a:pt x="1185273" y="11818"/>
                </a:lnTo>
                <a:lnTo>
                  <a:pt x="1230667" y="6647"/>
                </a:lnTo>
                <a:lnTo>
                  <a:pt x="1276184" y="2954"/>
                </a:lnTo>
                <a:lnTo>
                  <a:pt x="1321782" y="738"/>
                </a:lnTo>
                <a:lnTo>
                  <a:pt x="1367422" y="0"/>
                </a:lnTo>
                <a:lnTo>
                  <a:pt x="1413061" y="738"/>
                </a:lnTo>
                <a:lnTo>
                  <a:pt x="1458659" y="2954"/>
                </a:lnTo>
                <a:lnTo>
                  <a:pt x="1504176" y="6647"/>
                </a:lnTo>
                <a:lnTo>
                  <a:pt x="1549570" y="11818"/>
                </a:lnTo>
                <a:lnTo>
                  <a:pt x="1594800" y="18466"/>
                </a:lnTo>
                <a:lnTo>
                  <a:pt x="1639826" y="26591"/>
                </a:lnTo>
                <a:lnTo>
                  <a:pt x="1684606" y="36193"/>
                </a:lnTo>
                <a:lnTo>
                  <a:pt x="1729100" y="47273"/>
                </a:lnTo>
                <a:lnTo>
                  <a:pt x="1773267" y="59830"/>
                </a:lnTo>
                <a:lnTo>
                  <a:pt x="1817065" y="73864"/>
                </a:lnTo>
                <a:lnTo>
                  <a:pt x="1860455" y="89375"/>
                </a:lnTo>
                <a:lnTo>
                  <a:pt x="1903395" y="106364"/>
                </a:lnTo>
                <a:lnTo>
                  <a:pt x="1945843" y="124830"/>
                </a:lnTo>
                <a:lnTo>
                  <a:pt x="1987760" y="144774"/>
                </a:lnTo>
                <a:lnTo>
                  <a:pt x="2029105" y="166195"/>
                </a:lnTo>
                <a:lnTo>
                  <a:pt x="2069835" y="189092"/>
                </a:lnTo>
                <a:lnTo>
                  <a:pt x="2109912" y="213468"/>
                </a:lnTo>
                <a:lnTo>
                  <a:pt x="2149292" y="239320"/>
                </a:lnTo>
                <a:lnTo>
                  <a:pt x="2187937" y="266650"/>
                </a:lnTo>
                <a:lnTo>
                  <a:pt x="2225804" y="295457"/>
                </a:lnTo>
                <a:lnTo>
                  <a:pt x="2262854" y="325742"/>
                </a:lnTo>
                <a:lnTo>
                  <a:pt x="2299044" y="357503"/>
                </a:lnTo>
                <a:lnTo>
                  <a:pt x="2334334" y="390742"/>
                </a:lnTo>
                <a:close/>
              </a:path>
            </a:pathLst>
          </a:custGeom>
          <a:ln w="101600">
            <a:solidFill>
              <a:srgbClr val="1F49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01792" y="2633213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9"/>
                </a:lnTo>
                <a:lnTo>
                  <a:pt x="118531" y="145774"/>
                </a:lnTo>
                <a:lnTo>
                  <a:pt x="88768" y="180857"/>
                </a:lnTo>
                <a:lnTo>
                  <a:pt x="62814" y="218789"/>
                </a:lnTo>
                <a:lnTo>
                  <a:pt x="40949" y="259300"/>
                </a:lnTo>
                <a:lnTo>
                  <a:pt x="23455" y="302121"/>
                </a:lnTo>
                <a:lnTo>
                  <a:pt x="10611" y="346982"/>
                </a:lnTo>
                <a:lnTo>
                  <a:pt x="2699" y="393614"/>
                </a:lnTo>
                <a:lnTo>
                  <a:pt x="0" y="441747"/>
                </a:lnTo>
                <a:lnTo>
                  <a:pt x="2699" y="489881"/>
                </a:lnTo>
                <a:lnTo>
                  <a:pt x="10611" y="536512"/>
                </a:lnTo>
                <a:lnTo>
                  <a:pt x="23455" y="581373"/>
                </a:lnTo>
                <a:lnTo>
                  <a:pt x="40949" y="624194"/>
                </a:lnTo>
                <a:lnTo>
                  <a:pt x="62814" y="664705"/>
                </a:lnTo>
                <a:lnTo>
                  <a:pt x="88768" y="702637"/>
                </a:lnTo>
                <a:lnTo>
                  <a:pt x="118531" y="737720"/>
                </a:lnTo>
                <a:lnTo>
                  <a:pt x="151822" y="769685"/>
                </a:lnTo>
                <a:lnTo>
                  <a:pt x="188361" y="798262"/>
                </a:lnTo>
                <a:lnTo>
                  <a:pt x="227867" y="823183"/>
                </a:lnTo>
                <a:lnTo>
                  <a:pt x="270059" y="844176"/>
                </a:lnTo>
                <a:lnTo>
                  <a:pt x="314657" y="860973"/>
                </a:lnTo>
                <a:lnTo>
                  <a:pt x="361380" y="873305"/>
                </a:lnTo>
                <a:lnTo>
                  <a:pt x="409947" y="880902"/>
                </a:lnTo>
                <a:lnTo>
                  <a:pt x="460077" y="883494"/>
                </a:lnTo>
                <a:lnTo>
                  <a:pt x="510208" y="880902"/>
                </a:lnTo>
                <a:lnTo>
                  <a:pt x="558775" y="873305"/>
                </a:lnTo>
                <a:lnTo>
                  <a:pt x="605498" y="860973"/>
                </a:lnTo>
                <a:lnTo>
                  <a:pt x="650095" y="844176"/>
                </a:lnTo>
                <a:lnTo>
                  <a:pt x="692287" y="823183"/>
                </a:lnTo>
                <a:lnTo>
                  <a:pt x="731793" y="798262"/>
                </a:lnTo>
                <a:lnTo>
                  <a:pt x="768332" y="769685"/>
                </a:lnTo>
                <a:lnTo>
                  <a:pt x="801624" y="737720"/>
                </a:lnTo>
                <a:lnTo>
                  <a:pt x="831387" y="702637"/>
                </a:lnTo>
                <a:lnTo>
                  <a:pt x="857341" y="664705"/>
                </a:lnTo>
                <a:lnTo>
                  <a:pt x="879206" y="624194"/>
                </a:lnTo>
                <a:lnTo>
                  <a:pt x="896700" y="581373"/>
                </a:lnTo>
                <a:lnTo>
                  <a:pt x="909544" y="536512"/>
                </a:lnTo>
                <a:lnTo>
                  <a:pt x="917455" y="489881"/>
                </a:lnTo>
                <a:lnTo>
                  <a:pt x="920155" y="441747"/>
                </a:lnTo>
                <a:lnTo>
                  <a:pt x="917455" y="393614"/>
                </a:lnTo>
                <a:lnTo>
                  <a:pt x="909544" y="346982"/>
                </a:lnTo>
                <a:lnTo>
                  <a:pt x="896700" y="302121"/>
                </a:lnTo>
                <a:lnTo>
                  <a:pt x="879206" y="259300"/>
                </a:lnTo>
                <a:lnTo>
                  <a:pt x="857341" y="218789"/>
                </a:lnTo>
                <a:lnTo>
                  <a:pt x="831387" y="180857"/>
                </a:lnTo>
                <a:lnTo>
                  <a:pt x="801624" y="145774"/>
                </a:lnTo>
                <a:lnTo>
                  <a:pt x="768332" y="113809"/>
                </a:lnTo>
                <a:lnTo>
                  <a:pt x="731793" y="85231"/>
                </a:lnTo>
                <a:lnTo>
                  <a:pt x="692287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301792" y="2633213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619900" y="2763562"/>
            <a:ext cx="28448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AD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301087" y="4417346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8"/>
                </a:lnTo>
                <a:lnTo>
                  <a:pt x="118531" y="145773"/>
                </a:lnTo>
                <a:lnTo>
                  <a:pt x="88768" y="180857"/>
                </a:lnTo>
                <a:lnTo>
                  <a:pt x="62814" y="218789"/>
                </a:lnTo>
                <a:lnTo>
                  <a:pt x="40949" y="259300"/>
                </a:lnTo>
                <a:lnTo>
                  <a:pt x="23455" y="302121"/>
                </a:lnTo>
                <a:lnTo>
                  <a:pt x="10611" y="346982"/>
                </a:lnTo>
                <a:lnTo>
                  <a:pt x="2699" y="393614"/>
                </a:lnTo>
                <a:lnTo>
                  <a:pt x="0" y="441747"/>
                </a:lnTo>
                <a:lnTo>
                  <a:pt x="2699" y="489880"/>
                </a:lnTo>
                <a:lnTo>
                  <a:pt x="10611" y="536512"/>
                </a:lnTo>
                <a:lnTo>
                  <a:pt x="23455" y="581373"/>
                </a:lnTo>
                <a:lnTo>
                  <a:pt x="40949" y="624194"/>
                </a:lnTo>
                <a:lnTo>
                  <a:pt x="62814" y="664705"/>
                </a:lnTo>
                <a:lnTo>
                  <a:pt x="88768" y="702637"/>
                </a:lnTo>
                <a:lnTo>
                  <a:pt x="118531" y="737720"/>
                </a:lnTo>
                <a:lnTo>
                  <a:pt x="151822" y="769685"/>
                </a:lnTo>
                <a:lnTo>
                  <a:pt x="188361" y="798263"/>
                </a:lnTo>
                <a:lnTo>
                  <a:pt x="227867" y="823183"/>
                </a:lnTo>
                <a:lnTo>
                  <a:pt x="270059" y="844176"/>
                </a:lnTo>
                <a:lnTo>
                  <a:pt x="314657" y="860973"/>
                </a:lnTo>
                <a:lnTo>
                  <a:pt x="361380" y="873305"/>
                </a:lnTo>
                <a:lnTo>
                  <a:pt x="409947" y="880902"/>
                </a:lnTo>
                <a:lnTo>
                  <a:pt x="460077" y="883494"/>
                </a:lnTo>
                <a:lnTo>
                  <a:pt x="510208" y="880902"/>
                </a:lnTo>
                <a:lnTo>
                  <a:pt x="558775" y="873305"/>
                </a:lnTo>
                <a:lnTo>
                  <a:pt x="605498" y="860973"/>
                </a:lnTo>
                <a:lnTo>
                  <a:pt x="650095" y="844176"/>
                </a:lnTo>
                <a:lnTo>
                  <a:pt x="692288" y="823183"/>
                </a:lnTo>
                <a:lnTo>
                  <a:pt x="731794" y="798263"/>
                </a:lnTo>
                <a:lnTo>
                  <a:pt x="768333" y="769685"/>
                </a:lnTo>
                <a:lnTo>
                  <a:pt x="801624" y="737720"/>
                </a:lnTo>
                <a:lnTo>
                  <a:pt x="831388" y="702637"/>
                </a:lnTo>
                <a:lnTo>
                  <a:pt x="857342" y="664705"/>
                </a:lnTo>
                <a:lnTo>
                  <a:pt x="879207" y="624194"/>
                </a:lnTo>
                <a:lnTo>
                  <a:pt x="896701" y="581373"/>
                </a:lnTo>
                <a:lnTo>
                  <a:pt x="909545" y="536512"/>
                </a:lnTo>
                <a:lnTo>
                  <a:pt x="917457" y="489880"/>
                </a:lnTo>
                <a:lnTo>
                  <a:pt x="920156" y="441747"/>
                </a:lnTo>
                <a:lnTo>
                  <a:pt x="917457" y="393614"/>
                </a:lnTo>
                <a:lnTo>
                  <a:pt x="909545" y="346982"/>
                </a:lnTo>
                <a:lnTo>
                  <a:pt x="896701" y="302121"/>
                </a:lnTo>
                <a:lnTo>
                  <a:pt x="879207" y="259300"/>
                </a:lnTo>
                <a:lnTo>
                  <a:pt x="857342" y="218789"/>
                </a:lnTo>
                <a:lnTo>
                  <a:pt x="831388" y="180857"/>
                </a:lnTo>
                <a:lnTo>
                  <a:pt x="801624" y="145773"/>
                </a:lnTo>
                <a:lnTo>
                  <a:pt x="768333" y="113808"/>
                </a:lnTo>
                <a:lnTo>
                  <a:pt x="731794" y="85231"/>
                </a:lnTo>
                <a:lnTo>
                  <a:pt x="692288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301087" y="4417346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626748" y="4547695"/>
            <a:ext cx="26924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AB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486400" y="2633217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8"/>
                </a:lnTo>
                <a:lnTo>
                  <a:pt x="118531" y="145773"/>
                </a:lnTo>
                <a:lnTo>
                  <a:pt x="88768" y="180856"/>
                </a:lnTo>
                <a:lnTo>
                  <a:pt x="62814" y="218788"/>
                </a:lnTo>
                <a:lnTo>
                  <a:pt x="40949" y="259299"/>
                </a:lnTo>
                <a:lnTo>
                  <a:pt x="23455" y="302120"/>
                </a:lnTo>
                <a:lnTo>
                  <a:pt x="10611" y="346981"/>
                </a:lnTo>
                <a:lnTo>
                  <a:pt x="2699" y="393613"/>
                </a:lnTo>
                <a:lnTo>
                  <a:pt x="0" y="441746"/>
                </a:lnTo>
                <a:lnTo>
                  <a:pt x="2699" y="489879"/>
                </a:lnTo>
                <a:lnTo>
                  <a:pt x="10611" y="536511"/>
                </a:lnTo>
                <a:lnTo>
                  <a:pt x="23455" y="581372"/>
                </a:lnTo>
                <a:lnTo>
                  <a:pt x="40949" y="624193"/>
                </a:lnTo>
                <a:lnTo>
                  <a:pt x="62814" y="664704"/>
                </a:lnTo>
                <a:lnTo>
                  <a:pt x="88768" y="702636"/>
                </a:lnTo>
                <a:lnTo>
                  <a:pt x="118531" y="737719"/>
                </a:lnTo>
                <a:lnTo>
                  <a:pt x="151822" y="769684"/>
                </a:lnTo>
                <a:lnTo>
                  <a:pt x="188361" y="798261"/>
                </a:lnTo>
                <a:lnTo>
                  <a:pt x="227867" y="823181"/>
                </a:lnTo>
                <a:lnTo>
                  <a:pt x="270059" y="844175"/>
                </a:lnTo>
                <a:lnTo>
                  <a:pt x="314657" y="860972"/>
                </a:lnTo>
                <a:lnTo>
                  <a:pt x="361380" y="873304"/>
                </a:lnTo>
                <a:lnTo>
                  <a:pt x="409947" y="880901"/>
                </a:lnTo>
                <a:lnTo>
                  <a:pt x="460077" y="883493"/>
                </a:lnTo>
                <a:lnTo>
                  <a:pt x="510208" y="880901"/>
                </a:lnTo>
                <a:lnTo>
                  <a:pt x="558775" y="873304"/>
                </a:lnTo>
                <a:lnTo>
                  <a:pt x="605498" y="860972"/>
                </a:lnTo>
                <a:lnTo>
                  <a:pt x="650095" y="844175"/>
                </a:lnTo>
                <a:lnTo>
                  <a:pt x="692287" y="823181"/>
                </a:lnTo>
                <a:lnTo>
                  <a:pt x="731793" y="798261"/>
                </a:lnTo>
                <a:lnTo>
                  <a:pt x="768332" y="769684"/>
                </a:lnTo>
                <a:lnTo>
                  <a:pt x="801624" y="737719"/>
                </a:lnTo>
                <a:lnTo>
                  <a:pt x="831387" y="702636"/>
                </a:lnTo>
                <a:lnTo>
                  <a:pt x="857341" y="664704"/>
                </a:lnTo>
                <a:lnTo>
                  <a:pt x="879206" y="624193"/>
                </a:lnTo>
                <a:lnTo>
                  <a:pt x="896700" y="581372"/>
                </a:lnTo>
                <a:lnTo>
                  <a:pt x="909544" y="536511"/>
                </a:lnTo>
                <a:lnTo>
                  <a:pt x="917455" y="489879"/>
                </a:lnTo>
                <a:lnTo>
                  <a:pt x="920155" y="441746"/>
                </a:lnTo>
                <a:lnTo>
                  <a:pt x="917455" y="393613"/>
                </a:lnTo>
                <a:lnTo>
                  <a:pt x="909544" y="346981"/>
                </a:lnTo>
                <a:lnTo>
                  <a:pt x="896700" y="302120"/>
                </a:lnTo>
                <a:lnTo>
                  <a:pt x="879206" y="259299"/>
                </a:lnTo>
                <a:lnTo>
                  <a:pt x="857341" y="218788"/>
                </a:lnTo>
                <a:lnTo>
                  <a:pt x="831387" y="180856"/>
                </a:lnTo>
                <a:lnTo>
                  <a:pt x="801624" y="145773"/>
                </a:lnTo>
                <a:lnTo>
                  <a:pt x="768332" y="113808"/>
                </a:lnTo>
                <a:lnTo>
                  <a:pt x="731793" y="85231"/>
                </a:lnTo>
                <a:lnTo>
                  <a:pt x="692287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486400" y="2633217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803205" y="2763565"/>
            <a:ext cx="28702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spc="-5" dirty="0">
                <a:solidFill>
                  <a:srgbClr val="FFFFFF"/>
                </a:solidFill>
                <a:latin typeface="Verdana"/>
                <a:cs typeface="Verdana"/>
              </a:rPr>
              <a:t>CD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486400" y="4417346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8"/>
                </a:lnTo>
                <a:lnTo>
                  <a:pt x="118531" y="145773"/>
                </a:lnTo>
                <a:lnTo>
                  <a:pt x="88768" y="180856"/>
                </a:lnTo>
                <a:lnTo>
                  <a:pt x="62814" y="218788"/>
                </a:lnTo>
                <a:lnTo>
                  <a:pt x="40949" y="259299"/>
                </a:lnTo>
                <a:lnTo>
                  <a:pt x="23455" y="302120"/>
                </a:lnTo>
                <a:lnTo>
                  <a:pt x="10611" y="346981"/>
                </a:lnTo>
                <a:lnTo>
                  <a:pt x="2699" y="393613"/>
                </a:lnTo>
                <a:lnTo>
                  <a:pt x="0" y="441746"/>
                </a:lnTo>
                <a:lnTo>
                  <a:pt x="2699" y="489879"/>
                </a:lnTo>
                <a:lnTo>
                  <a:pt x="10611" y="536511"/>
                </a:lnTo>
                <a:lnTo>
                  <a:pt x="23455" y="581372"/>
                </a:lnTo>
                <a:lnTo>
                  <a:pt x="40949" y="624193"/>
                </a:lnTo>
                <a:lnTo>
                  <a:pt x="62814" y="664704"/>
                </a:lnTo>
                <a:lnTo>
                  <a:pt x="88768" y="702636"/>
                </a:lnTo>
                <a:lnTo>
                  <a:pt x="118531" y="737719"/>
                </a:lnTo>
                <a:lnTo>
                  <a:pt x="151822" y="769684"/>
                </a:lnTo>
                <a:lnTo>
                  <a:pt x="188361" y="798262"/>
                </a:lnTo>
                <a:lnTo>
                  <a:pt x="227867" y="823182"/>
                </a:lnTo>
                <a:lnTo>
                  <a:pt x="270059" y="844175"/>
                </a:lnTo>
                <a:lnTo>
                  <a:pt x="314657" y="860972"/>
                </a:lnTo>
                <a:lnTo>
                  <a:pt x="361380" y="873304"/>
                </a:lnTo>
                <a:lnTo>
                  <a:pt x="409947" y="880901"/>
                </a:lnTo>
                <a:lnTo>
                  <a:pt x="460077" y="883493"/>
                </a:lnTo>
                <a:lnTo>
                  <a:pt x="510208" y="880901"/>
                </a:lnTo>
                <a:lnTo>
                  <a:pt x="558775" y="873304"/>
                </a:lnTo>
                <a:lnTo>
                  <a:pt x="605498" y="860972"/>
                </a:lnTo>
                <a:lnTo>
                  <a:pt x="650095" y="844175"/>
                </a:lnTo>
                <a:lnTo>
                  <a:pt x="692287" y="823182"/>
                </a:lnTo>
                <a:lnTo>
                  <a:pt x="731793" y="798262"/>
                </a:lnTo>
                <a:lnTo>
                  <a:pt x="768332" y="769684"/>
                </a:lnTo>
                <a:lnTo>
                  <a:pt x="801624" y="737719"/>
                </a:lnTo>
                <a:lnTo>
                  <a:pt x="831387" y="702636"/>
                </a:lnTo>
                <a:lnTo>
                  <a:pt x="857341" y="664704"/>
                </a:lnTo>
                <a:lnTo>
                  <a:pt x="879206" y="624193"/>
                </a:lnTo>
                <a:lnTo>
                  <a:pt x="896700" y="581372"/>
                </a:lnTo>
                <a:lnTo>
                  <a:pt x="909544" y="536511"/>
                </a:lnTo>
                <a:lnTo>
                  <a:pt x="917455" y="489879"/>
                </a:lnTo>
                <a:lnTo>
                  <a:pt x="920155" y="441746"/>
                </a:lnTo>
                <a:lnTo>
                  <a:pt x="917455" y="393613"/>
                </a:lnTo>
                <a:lnTo>
                  <a:pt x="909544" y="346981"/>
                </a:lnTo>
                <a:lnTo>
                  <a:pt x="896700" y="302120"/>
                </a:lnTo>
                <a:lnTo>
                  <a:pt x="879206" y="259299"/>
                </a:lnTo>
                <a:lnTo>
                  <a:pt x="857341" y="218788"/>
                </a:lnTo>
                <a:lnTo>
                  <a:pt x="831387" y="180856"/>
                </a:lnTo>
                <a:lnTo>
                  <a:pt x="801624" y="145773"/>
                </a:lnTo>
                <a:lnTo>
                  <a:pt x="768332" y="113808"/>
                </a:lnTo>
                <a:lnTo>
                  <a:pt x="731793" y="85231"/>
                </a:lnTo>
                <a:lnTo>
                  <a:pt x="692287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486400" y="4417346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810759" y="4547694"/>
            <a:ext cx="27178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spc="-5" dirty="0">
                <a:solidFill>
                  <a:srgbClr val="FFFFFF"/>
                </a:solidFill>
                <a:latin typeface="Verdana"/>
                <a:cs typeface="Verdana"/>
              </a:rPr>
              <a:t>BC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911843" y="3889125"/>
            <a:ext cx="1561856" cy="1963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076700" y="3967296"/>
            <a:ext cx="1358900" cy="3810"/>
          </a:xfrm>
          <a:custGeom>
            <a:avLst/>
            <a:gdLst/>
            <a:ahLst/>
            <a:cxnLst/>
            <a:rect l="l" t="t" r="r" b="b"/>
            <a:pathLst>
              <a:path w="1358900" h="3810">
                <a:moveTo>
                  <a:pt x="-19050" y="1743"/>
                </a:moveTo>
                <a:lnTo>
                  <a:pt x="1377949" y="1743"/>
                </a:lnTo>
              </a:path>
            </a:pathLst>
          </a:custGeom>
          <a:ln w="41587">
            <a:solidFill>
              <a:srgbClr val="DDAE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952325" y="3910713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120141" y="0"/>
                </a:moveTo>
                <a:lnTo>
                  <a:pt x="0" y="60070"/>
                </a:lnTo>
                <a:lnTo>
                  <a:pt x="120141" y="120141"/>
                </a:lnTo>
                <a:lnTo>
                  <a:pt x="120141" y="0"/>
                </a:lnTo>
                <a:close/>
              </a:path>
            </a:pathLst>
          </a:custGeom>
          <a:solidFill>
            <a:srgbClr val="DDAE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848306" y="3498610"/>
            <a:ext cx="196342" cy="9768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949949" y="3519934"/>
            <a:ext cx="0" cy="774700"/>
          </a:xfrm>
          <a:custGeom>
            <a:avLst/>
            <a:gdLst/>
            <a:ahLst/>
            <a:cxnLst/>
            <a:rect l="l" t="t" r="r" b="b"/>
            <a:pathLst>
              <a:path h="774700">
                <a:moveTo>
                  <a:pt x="0" y="0"/>
                </a:moveTo>
                <a:lnTo>
                  <a:pt x="0" y="774699"/>
                </a:lnTo>
              </a:path>
            </a:pathLst>
          </a:custGeom>
          <a:ln w="38100">
            <a:solidFill>
              <a:srgbClr val="A18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889878" y="4298867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120142" y="0"/>
                </a:moveTo>
                <a:lnTo>
                  <a:pt x="0" y="0"/>
                </a:lnTo>
                <a:lnTo>
                  <a:pt x="60071" y="120141"/>
                </a:lnTo>
                <a:lnTo>
                  <a:pt x="120142" y="0"/>
                </a:lnTo>
                <a:close/>
              </a:path>
            </a:pathLst>
          </a:custGeom>
          <a:solidFill>
            <a:srgbClr val="A189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175540" y="3310866"/>
            <a:ext cx="1357265" cy="13523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359949" y="3387322"/>
            <a:ext cx="1076960" cy="1071880"/>
          </a:xfrm>
          <a:custGeom>
            <a:avLst/>
            <a:gdLst/>
            <a:ahLst/>
            <a:cxnLst/>
            <a:rect l="l" t="t" r="r" b="b"/>
            <a:pathLst>
              <a:path w="1076959" h="1071879">
                <a:moveTo>
                  <a:pt x="0" y="1071664"/>
                </a:moveTo>
                <a:lnTo>
                  <a:pt x="13501" y="1058225"/>
                </a:lnTo>
                <a:lnTo>
                  <a:pt x="1076596" y="0"/>
                </a:lnTo>
              </a:path>
            </a:pathLst>
          </a:custGeom>
          <a:ln w="38100">
            <a:solidFill>
              <a:srgbClr val="A18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271800" y="4419398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5" h="127635">
                <a:moveTo>
                  <a:pt x="42768" y="0"/>
                </a:moveTo>
                <a:lnTo>
                  <a:pt x="0" y="127332"/>
                </a:lnTo>
                <a:lnTo>
                  <a:pt x="127527" y="85148"/>
                </a:lnTo>
                <a:lnTo>
                  <a:pt x="42768" y="0"/>
                </a:lnTo>
                <a:close/>
              </a:path>
            </a:pathLst>
          </a:custGeom>
          <a:solidFill>
            <a:srgbClr val="A189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368454" y="4780921"/>
            <a:ext cx="970733" cy="196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530930" y="4859092"/>
            <a:ext cx="770255" cy="0"/>
          </a:xfrm>
          <a:custGeom>
            <a:avLst/>
            <a:gdLst/>
            <a:ahLst/>
            <a:cxnLst/>
            <a:rect l="l" t="t" r="r" b="b"/>
            <a:pathLst>
              <a:path w="770254">
                <a:moveTo>
                  <a:pt x="0" y="0"/>
                </a:moveTo>
                <a:lnTo>
                  <a:pt x="19049" y="0"/>
                </a:lnTo>
                <a:lnTo>
                  <a:pt x="770157" y="0"/>
                </a:lnTo>
              </a:path>
            </a:pathLst>
          </a:custGeom>
          <a:ln w="38100">
            <a:solidFill>
              <a:srgbClr val="A18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406555" y="4799021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120141" y="0"/>
                </a:moveTo>
                <a:lnTo>
                  <a:pt x="0" y="60070"/>
                </a:lnTo>
                <a:lnTo>
                  <a:pt x="120140" y="120141"/>
                </a:lnTo>
                <a:lnTo>
                  <a:pt x="120141" y="0"/>
                </a:lnTo>
                <a:close/>
              </a:path>
            </a:pathLst>
          </a:custGeom>
          <a:solidFill>
            <a:srgbClr val="A189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979497" y="3593586"/>
            <a:ext cx="622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5 </a:t>
            </a:r>
            <a:r>
              <a:rPr sz="1200" b="1" spc="-5" dirty="0">
                <a:latin typeface="Arial"/>
                <a:cs typeface="Arial"/>
              </a:rPr>
              <a:t>µs</a:t>
            </a:r>
            <a:r>
              <a:rPr sz="1200" b="1" spc="-9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ack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962852" y="3884486"/>
            <a:ext cx="791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300 µs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ack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506636" y="4882465"/>
            <a:ext cx="7067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12 µs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ack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072878" y="4622191"/>
            <a:ext cx="7067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12 µs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ack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064973" y="3406059"/>
            <a:ext cx="1369060" cy="45465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358140">
              <a:lnSpc>
                <a:spcPct val="101200"/>
              </a:lnSpc>
              <a:spcBef>
                <a:spcPts val="80"/>
              </a:spcBef>
            </a:pPr>
            <a:r>
              <a:rPr sz="1400" spc="-10" dirty="0">
                <a:latin typeface="Verdana"/>
                <a:cs typeface="Verdana"/>
              </a:rPr>
              <a:t>Read </a:t>
            </a:r>
            <a:r>
              <a:rPr sz="1400" dirty="0">
                <a:latin typeface="Verdana"/>
                <a:cs typeface="Verdana"/>
              </a:rPr>
              <a:t>A  (C</a:t>
            </a:r>
            <a:r>
              <a:rPr sz="1400" spc="-5" dirty="0">
                <a:latin typeface="Verdana"/>
                <a:cs typeface="Verdana"/>
              </a:rPr>
              <a:t>L=QUORUM)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930912" y="3811350"/>
            <a:ext cx="1637263" cy="10501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012690" y="3895492"/>
            <a:ext cx="1365885" cy="780415"/>
          </a:xfrm>
          <a:custGeom>
            <a:avLst/>
            <a:gdLst/>
            <a:ahLst/>
            <a:cxnLst/>
            <a:rect l="l" t="t" r="r" b="b"/>
            <a:pathLst>
              <a:path w="1365885" h="780414">
                <a:moveTo>
                  <a:pt x="0" y="0"/>
                </a:moveTo>
                <a:lnTo>
                  <a:pt x="1349171" y="770688"/>
                </a:lnTo>
                <a:lnTo>
                  <a:pt x="1365712" y="780137"/>
                </a:lnTo>
              </a:path>
            </a:pathLst>
          </a:custGeom>
          <a:ln w="38099">
            <a:solidFill>
              <a:srgbClr val="DDAE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352282" y="4625569"/>
            <a:ext cx="134620" cy="111760"/>
          </a:xfrm>
          <a:custGeom>
            <a:avLst/>
            <a:gdLst/>
            <a:ahLst/>
            <a:cxnLst/>
            <a:rect l="l" t="t" r="r" b="b"/>
            <a:pathLst>
              <a:path w="134620" h="111760">
                <a:moveTo>
                  <a:pt x="59592" y="0"/>
                </a:moveTo>
                <a:lnTo>
                  <a:pt x="0" y="104321"/>
                </a:lnTo>
                <a:lnTo>
                  <a:pt x="134117" y="111752"/>
                </a:lnTo>
                <a:lnTo>
                  <a:pt x="59592" y="0"/>
                </a:lnTo>
                <a:close/>
              </a:path>
            </a:pathLst>
          </a:custGeom>
          <a:solidFill>
            <a:srgbClr val="DDAE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Slide Number Placeholder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47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Consistency Level and</a:t>
            </a:r>
            <a:r>
              <a:rPr lang="en-US" spc="-75" dirty="0"/>
              <a:t> </a:t>
            </a:r>
            <a:r>
              <a:rPr lang="en-US" spc="-15" dirty="0"/>
              <a:t>Availability</a:t>
            </a:r>
            <a:endParaRPr 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444500" y="2112628"/>
            <a:ext cx="99060" cy="687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Arial"/>
                <a:cs typeface="Arial"/>
              </a:rPr>
              <a:t>•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650" dirty="0">
                <a:latin typeface="Arial"/>
                <a:cs typeface="Arial"/>
              </a:rPr>
              <a:t>•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0087" y="2008073"/>
            <a:ext cx="7503159" cy="118872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200" spc="-5" dirty="0">
                <a:latin typeface="Verdana"/>
                <a:cs typeface="Verdana"/>
              </a:rPr>
              <a:t>Consistency Level choice </a:t>
            </a:r>
            <a:r>
              <a:rPr sz="2200" dirty="0">
                <a:latin typeface="Verdana"/>
                <a:cs typeface="Verdana"/>
              </a:rPr>
              <a:t>affects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availability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02299"/>
              </a:lnSpc>
              <a:spcBef>
                <a:spcPts val="525"/>
              </a:spcBef>
            </a:pPr>
            <a:r>
              <a:rPr sz="2200" spc="-20" dirty="0">
                <a:latin typeface="Verdana"/>
                <a:cs typeface="Verdana"/>
              </a:rPr>
              <a:t>For </a:t>
            </a:r>
            <a:r>
              <a:rPr sz="2200" spc="-5" dirty="0">
                <a:latin typeface="Verdana"/>
                <a:cs typeface="Verdana"/>
              </a:rPr>
              <a:t>example, QUORUM can </a:t>
            </a:r>
            <a:r>
              <a:rPr sz="2200" spc="-10" dirty="0">
                <a:latin typeface="Verdana"/>
                <a:cs typeface="Verdana"/>
              </a:rPr>
              <a:t>tolerate </a:t>
            </a:r>
            <a:r>
              <a:rPr sz="2200" spc="-5" dirty="0">
                <a:latin typeface="Verdana"/>
                <a:cs typeface="Verdana"/>
              </a:rPr>
              <a:t>one replica being  down and still be </a:t>
            </a:r>
            <a:r>
              <a:rPr sz="2200" spc="-10" dirty="0">
                <a:latin typeface="Verdana"/>
                <a:cs typeface="Verdana"/>
              </a:rPr>
              <a:t>available </a:t>
            </a:r>
            <a:r>
              <a:rPr sz="2200" spc="-5" dirty="0">
                <a:latin typeface="Verdana"/>
                <a:cs typeface="Verdana"/>
              </a:rPr>
              <a:t>(in RF=3)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4199" y="4192983"/>
            <a:ext cx="1155700" cy="520700"/>
          </a:xfrm>
          <a:prstGeom prst="rect">
            <a:avLst/>
          </a:prstGeom>
          <a:solidFill>
            <a:srgbClr val="DDAE54"/>
          </a:solidFill>
          <a:ln w="25400">
            <a:solidFill>
              <a:srgbClr val="A17F3D"/>
            </a:solidFill>
          </a:ln>
        </p:spPr>
        <p:txBody>
          <a:bodyPr vert="horz" wrap="square" lIns="0" tIns="118110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930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Client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36548" y="3115945"/>
            <a:ext cx="2742565" cy="2675255"/>
          </a:xfrm>
          <a:custGeom>
            <a:avLst/>
            <a:gdLst/>
            <a:ahLst/>
            <a:cxnLst/>
            <a:rect l="l" t="t" r="r" b="b"/>
            <a:pathLst>
              <a:path w="2742565" h="2675254">
                <a:moveTo>
                  <a:pt x="2340592" y="391612"/>
                </a:moveTo>
                <a:lnTo>
                  <a:pt x="2374753" y="426135"/>
                </a:lnTo>
                <a:lnTo>
                  <a:pt x="2407396" y="461537"/>
                </a:lnTo>
                <a:lnTo>
                  <a:pt x="2438520" y="497780"/>
                </a:lnTo>
                <a:lnTo>
                  <a:pt x="2468126" y="534823"/>
                </a:lnTo>
                <a:lnTo>
                  <a:pt x="2496214" y="572627"/>
                </a:lnTo>
                <a:lnTo>
                  <a:pt x="2522784" y="611150"/>
                </a:lnTo>
                <a:lnTo>
                  <a:pt x="2547836" y="650354"/>
                </a:lnTo>
                <a:lnTo>
                  <a:pt x="2571369" y="690198"/>
                </a:lnTo>
                <a:lnTo>
                  <a:pt x="2593384" y="730643"/>
                </a:lnTo>
                <a:lnTo>
                  <a:pt x="2613880" y="771647"/>
                </a:lnTo>
                <a:lnTo>
                  <a:pt x="2632859" y="813172"/>
                </a:lnTo>
                <a:lnTo>
                  <a:pt x="2650319" y="855177"/>
                </a:lnTo>
                <a:lnTo>
                  <a:pt x="2666261" y="897622"/>
                </a:lnTo>
                <a:lnTo>
                  <a:pt x="2680684" y="940467"/>
                </a:lnTo>
                <a:lnTo>
                  <a:pt x="2693590" y="983672"/>
                </a:lnTo>
                <a:lnTo>
                  <a:pt x="2704977" y="1027198"/>
                </a:lnTo>
                <a:lnTo>
                  <a:pt x="2714845" y="1071003"/>
                </a:lnTo>
                <a:lnTo>
                  <a:pt x="2723196" y="1115049"/>
                </a:lnTo>
                <a:lnTo>
                  <a:pt x="2730028" y="1159295"/>
                </a:lnTo>
                <a:lnTo>
                  <a:pt x="2735342" y="1203700"/>
                </a:lnTo>
                <a:lnTo>
                  <a:pt x="2739138" y="1248226"/>
                </a:lnTo>
                <a:lnTo>
                  <a:pt x="2741415" y="1292832"/>
                </a:lnTo>
                <a:lnTo>
                  <a:pt x="2742174" y="1337478"/>
                </a:lnTo>
                <a:lnTo>
                  <a:pt x="2741415" y="1382124"/>
                </a:lnTo>
                <a:lnTo>
                  <a:pt x="2739138" y="1426730"/>
                </a:lnTo>
                <a:lnTo>
                  <a:pt x="2735342" y="1471255"/>
                </a:lnTo>
                <a:lnTo>
                  <a:pt x="2730028" y="1515661"/>
                </a:lnTo>
                <a:lnTo>
                  <a:pt x="2723196" y="1559907"/>
                </a:lnTo>
                <a:lnTo>
                  <a:pt x="2714845" y="1603953"/>
                </a:lnTo>
                <a:lnTo>
                  <a:pt x="2704977" y="1647758"/>
                </a:lnTo>
                <a:lnTo>
                  <a:pt x="2693590" y="1691284"/>
                </a:lnTo>
                <a:lnTo>
                  <a:pt x="2680684" y="1734489"/>
                </a:lnTo>
                <a:lnTo>
                  <a:pt x="2666261" y="1777334"/>
                </a:lnTo>
                <a:lnTo>
                  <a:pt x="2650319" y="1819779"/>
                </a:lnTo>
                <a:lnTo>
                  <a:pt x="2632859" y="1861784"/>
                </a:lnTo>
                <a:lnTo>
                  <a:pt x="2613880" y="1903309"/>
                </a:lnTo>
                <a:lnTo>
                  <a:pt x="2593384" y="1944313"/>
                </a:lnTo>
                <a:lnTo>
                  <a:pt x="2571369" y="1984758"/>
                </a:lnTo>
                <a:lnTo>
                  <a:pt x="2547836" y="2024602"/>
                </a:lnTo>
                <a:lnTo>
                  <a:pt x="2522784" y="2063806"/>
                </a:lnTo>
                <a:lnTo>
                  <a:pt x="2496214" y="2102329"/>
                </a:lnTo>
                <a:lnTo>
                  <a:pt x="2468126" y="2140133"/>
                </a:lnTo>
                <a:lnTo>
                  <a:pt x="2438520" y="2177176"/>
                </a:lnTo>
                <a:lnTo>
                  <a:pt x="2407396" y="2213418"/>
                </a:lnTo>
                <a:lnTo>
                  <a:pt x="2374753" y="2248821"/>
                </a:lnTo>
                <a:lnTo>
                  <a:pt x="2340592" y="2283343"/>
                </a:lnTo>
                <a:lnTo>
                  <a:pt x="2305969" y="2315978"/>
                </a:lnTo>
                <a:lnTo>
                  <a:pt x="2270481" y="2347193"/>
                </a:lnTo>
                <a:lnTo>
                  <a:pt x="2234167" y="2376990"/>
                </a:lnTo>
                <a:lnTo>
                  <a:pt x="2197064" y="2405368"/>
                </a:lnTo>
                <a:lnTo>
                  <a:pt x="2159212" y="2432327"/>
                </a:lnTo>
                <a:lnTo>
                  <a:pt x="2120648" y="2457867"/>
                </a:lnTo>
                <a:lnTo>
                  <a:pt x="2081411" y="2481988"/>
                </a:lnTo>
                <a:lnTo>
                  <a:pt x="2041540" y="2504690"/>
                </a:lnTo>
                <a:lnTo>
                  <a:pt x="2001073" y="2525973"/>
                </a:lnTo>
                <a:lnTo>
                  <a:pt x="1960048" y="2545838"/>
                </a:lnTo>
                <a:lnTo>
                  <a:pt x="1918504" y="2564283"/>
                </a:lnTo>
                <a:lnTo>
                  <a:pt x="1876479" y="2581310"/>
                </a:lnTo>
                <a:lnTo>
                  <a:pt x="1834012" y="2596918"/>
                </a:lnTo>
                <a:lnTo>
                  <a:pt x="1791142" y="2611107"/>
                </a:lnTo>
                <a:lnTo>
                  <a:pt x="1747906" y="2623877"/>
                </a:lnTo>
                <a:lnTo>
                  <a:pt x="1704344" y="2635228"/>
                </a:lnTo>
                <a:lnTo>
                  <a:pt x="1660493" y="2645160"/>
                </a:lnTo>
                <a:lnTo>
                  <a:pt x="1616392" y="2653673"/>
                </a:lnTo>
                <a:lnTo>
                  <a:pt x="1572079" y="2660768"/>
                </a:lnTo>
                <a:lnTo>
                  <a:pt x="1527594" y="2666443"/>
                </a:lnTo>
                <a:lnTo>
                  <a:pt x="1482974" y="2670700"/>
                </a:lnTo>
                <a:lnTo>
                  <a:pt x="1438257" y="2673538"/>
                </a:lnTo>
                <a:lnTo>
                  <a:pt x="1393483" y="2674957"/>
                </a:lnTo>
                <a:lnTo>
                  <a:pt x="1348690" y="2674957"/>
                </a:lnTo>
                <a:lnTo>
                  <a:pt x="1303916" y="2673538"/>
                </a:lnTo>
                <a:lnTo>
                  <a:pt x="1259200" y="2670700"/>
                </a:lnTo>
                <a:lnTo>
                  <a:pt x="1214580" y="2666443"/>
                </a:lnTo>
                <a:lnTo>
                  <a:pt x="1170095" y="2660768"/>
                </a:lnTo>
                <a:lnTo>
                  <a:pt x="1125782" y="2653673"/>
                </a:lnTo>
                <a:lnTo>
                  <a:pt x="1081681" y="2645160"/>
                </a:lnTo>
                <a:lnTo>
                  <a:pt x="1037830" y="2635228"/>
                </a:lnTo>
                <a:lnTo>
                  <a:pt x="994268" y="2623877"/>
                </a:lnTo>
                <a:lnTo>
                  <a:pt x="951032" y="2611107"/>
                </a:lnTo>
                <a:lnTo>
                  <a:pt x="908161" y="2596918"/>
                </a:lnTo>
                <a:lnTo>
                  <a:pt x="865694" y="2581310"/>
                </a:lnTo>
                <a:lnTo>
                  <a:pt x="823670" y="2564283"/>
                </a:lnTo>
                <a:lnTo>
                  <a:pt x="782126" y="2545838"/>
                </a:lnTo>
                <a:lnTo>
                  <a:pt x="741101" y="2525973"/>
                </a:lnTo>
                <a:lnTo>
                  <a:pt x="700634" y="2504690"/>
                </a:lnTo>
                <a:lnTo>
                  <a:pt x="660762" y="2481988"/>
                </a:lnTo>
                <a:lnTo>
                  <a:pt x="621526" y="2457867"/>
                </a:lnTo>
                <a:lnTo>
                  <a:pt x="582962" y="2432327"/>
                </a:lnTo>
                <a:lnTo>
                  <a:pt x="545109" y="2405368"/>
                </a:lnTo>
                <a:lnTo>
                  <a:pt x="508006" y="2376990"/>
                </a:lnTo>
                <a:lnTo>
                  <a:pt x="471692" y="2347193"/>
                </a:lnTo>
                <a:lnTo>
                  <a:pt x="436204" y="2315978"/>
                </a:lnTo>
                <a:lnTo>
                  <a:pt x="401582" y="2283343"/>
                </a:lnTo>
                <a:lnTo>
                  <a:pt x="367421" y="2248821"/>
                </a:lnTo>
                <a:lnTo>
                  <a:pt x="334778" y="2213418"/>
                </a:lnTo>
                <a:lnTo>
                  <a:pt x="303653" y="2177176"/>
                </a:lnTo>
                <a:lnTo>
                  <a:pt x="274047" y="2140133"/>
                </a:lnTo>
                <a:lnTo>
                  <a:pt x="245959" y="2102329"/>
                </a:lnTo>
                <a:lnTo>
                  <a:pt x="219389" y="2063806"/>
                </a:lnTo>
                <a:lnTo>
                  <a:pt x="194338" y="2024602"/>
                </a:lnTo>
                <a:lnTo>
                  <a:pt x="170805" y="1984758"/>
                </a:lnTo>
                <a:lnTo>
                  <a:pt x="148790" y="1944313"/>
                </a:lnTo>
                <a:lnTo>
                  <a:pt x="128293" y="1903309"/>
                </a:lnTo>
                <a:lnTo>
                  <a:pt x="109315" y="1861784"/>
                </a:lnTo>
                <a:lnTo>
                  <a:pt x="91855" y="1819779"/>
                </a:lnTo>
                <a:lnTo>
                  <a:pt x="75913" y="1777334"/>
                </a:lnTo>
                <a:lnTo>
                  <a:pt x="61489" y="1734489"/>
                </a:lnTo>
                <a:lnTo>
                  <a:pt x="48584" y="1691284"/>
                </a:lnTo>
                <a:lnTo>
                  <a:pt x="37197" y="1647758"/>
                </a:lnTo>
                <a:lnTo>
                  <a:pt x="27328" y="1603953"/>
                </a:lnTo>
                <a:lnTo>
                  <a:pt x="18978" y="1559907"/>
                </a:lnTo>
                <a:lnTo>
                  <a:pt x="12146" y="1515661"/>
                </a:lnTo>
                <a:lnTo>
                  <a:pt x="6832" y="1471255"/>
                </a:lnTo>
                <a:lnTo>
                  <a:pt x="3036" y="1426730"/>
                </a:lnTo>
                <a:lnTo>
                  <a:pt x="759" y="1382124"/>
                </a:lnTo>
                <a:lnTo>
                  <a:pt x="0" y="1337478"/>
                </a:lnTo>
                <a:lnTo>
                  <a:pt x="759" y="1292832"/>
                </a:lnTo>
                <a:lnTo>
                  <a:pt x="3036" y="1248226"/>
                </a:lnTo>
                <a:lnTo>
                  <a:pt x="6832" y="1203700"/>
                </a:lnTo>
                <a:lnTo>
                  <a:pt x="12146" y="1159295"/>
                </a:lnTo>
                <a:lnTo>
                  <a:pt x="18978" y="1115049"/>
                </a:lnTo>
                <a:lnTo>
                  <a:pt x="27328" y="1071003"/>
                </a:lnTo>
                <a:lnTo>
                  <a:pt x="37197" y="1027198"/>
                </a:lnTo>
                <a:lnTo>
                  <a:pt x="48584" y="983672"/>
                </a:lnTo>
                <a:lnTo>
                  <a:pt x="61489" y="940467"/>
                </a:lnTo>
                <a:lnTo>
                  <a:pt x="75913" y="897622"/>
                </a:lnTo>
                <a:lnTo>
                  <a:pt x="91855" y="855177"/>
                </a:lnTo>
                <a:lnTo>
                  <a:pt x="109315" y="813172"/>
                </a:lnTo>
                <a:lnTo>
                  <a:pt x="128293" y="771647"/>
                </a:lnTo>
                <a:lnTo>
                  <a:pt x="148790" y="730643"/>
                </a:lnTo>
                <a:lnTo>
                  <a:pt x="170805" y="690198"/>
                </a:lnTo>
                <a:lnTo>
                  <a:pt x="194338" y="650354"/>
                </a:lnTo>
                <a:lnTo>
                  <a:pt x="219389" y="611150"/>
                </a:lnTo>
                <a:lnTo>
                  <a:pt x="245959" y="572627"/>
                </a:lnTo>
                <a:lnTo>
                  <a:pt x="274047" y="534823"/>
                </a:lnTo>
                <a:lnTo>
                  <a:pt x="303653" y="497780"/>
                </a:lnTo>
                <a:lnTo>
                  <a:pt x="334778" y="461537"/>
                </a:lnTo>
                <a:lnTo>
                  <a:pt x="367421" y="426135"/>
                </a:lnTo>
                <a:lnTo>
                  <a:pt x="401582" y="391612"/>
                </a:lnTo>
                <a:lnTo>
                  <a:pt x="436204" y="358978"/>
                </a:lnTo>
                <a:lnTo>
                  <a:pt x="471692" y="327763"/>
                </a:lnTo>
                <a:lnTo>
                  <a:pt x="508006" y="297966"/>
                </a:lnTo>
                <a:lnTo>
                  <a:pt x="545109" y="269588"/>
                </a:lnTo>
                <a:lnTo>
                  <a:pt x="582962" y="242629"/>
                </a:lnTo>
                <a:lnTo>
                  <a:pt x="621526" y="217089"/>
                </a:lnTo>
                <a:lnTo>
                  <a:pt x="660762" y="192968"/>
                </a:lnTo>
                <a:lnTo>
                  <a:pt x="700634" y="170266"/>
                </a:lnTo>
                <a:lnTo>
                  <a:pt x="741101" y="148983"/>
                </a:lnTo>
                <a:lnTo>
                  <a:pt x="782126" y="129118"/>
                </a:lnTo>
                <a:lnTo>
                  <a:pt x="823670" y="110673"/>
                </a:lnTo>
                <a:lnTo>
                  <a:pt x="865694" y="93646"/>
                </a:lnTo>
                <a:lnTo>
                  <a:pt x="908161" y="78038"/>
                </a:lnTo>
                <a:lnTo>
                  <a:pt x="951032" y="63849"/>
                </a:lnTo>
                <a:lnTo>
                  <a:pt x="994268" y="51079"/>
                </a:lnTo>
                <a:lnTo>
                  <a:pt x="1037830" y="39728"/>
                </a:lnTo>
                <a:lnTo>
                  <a:pt x="1081681" y="29796"/>
                </a:lnTo>
                <a:lnTo>
                  <a:pt x="1125782" y="21283"/>
                </a:lnTo>
                <a:lnTo>
                  <a:pt x="1170095" y="14188"/>
                </a:lnTo>
                <a:lnTo>
                  <a:pt x="1214580" y="8513"/>
                </a:lnTo>
                <a:lnTo>
                  <a:pt x="1259200" y="4256"/>
                </a:lnTo>
                <a:lnTo>
                  <a:pt x="1303916" y="1418"/>
                </a:lnTo>
                <a:lnTo>
                  <a:pt x="1348690" y="0"/>
                </a:lnTo>
                <a:lnTo>
                  <a:pt x="1393483" y="0"/>
                </a:lnTo>
                <a:lnTo>
                  <a:pt x="1438257" y="1418"/>
                </a:lnTo>
                <a:lnTo>
                  <a:pt x="1482974" y="4256"/>
                </a:lnTo>
                <a:lnTo>
                  <a:pt x="1527594" y="8513"/>
                </a:lnTo>
                <a:lnTo>
                  <a:pt x="1572079" y="14188"/>
                </a:lnTo>
                <a:lnTo>
                  <a:pt x="1616392" y="21283"/>
                </a:lnTo>
                <a:lnTo>
                  <a:pt x="1660493" y="29796"/>
                </a:lnTo>
                <a:lnTo>
                  <a:pt x="1704344" y="39728"/>
                </a:lnTo>
                <a:lnTo>
                  <a:pt x="1747906" y="51079"/>
                </a:lnTo>
                <a:lnTo>
                  <a:pt x="1791142" y="63849"/>
                </a:lnTo>
                <a:lnTo>
                  <a:pt x="1834012" y="78038"/>
                </a:lnTo>
                <a:lnTo>
                  <a:pt x="1876479" y="93646"/>
                </a:lnTo>
                <a:lnTo>
                  <a:pt x="1918504" y="110673"/>
                </a:lnTo>
                <a:lnTo>
                  <a:pt x="1960048" y="129118"/>
                </a:lnTo>
                <a:lnTo>
                  <a:pt x="2001073" y="148983"/>
                </a:lnTo>
                <a:lnTo>
                  <a:pt x="2041540" y="170266"/>
                </a:lnTo>
                <a:lnTo>
                  <a:pt x="2081411" y="192968"/>
                </a:lnTo>
                <a:lnTo>
                  <a:pt x="2120648" y="217089"/>
                </a:lnTo>
                <a:lnTo>
                  <a:pt x="2159212" y="242629"/>
                </a:lnTo>
                <a:lnTo>
                  <a:pt x="2197064" y="269588"/>
                </a:lnTo>
                <a:lnTo>
                  <a:pt x="2234167" y="297966"/>
                </a:lnTo>
                <a:lnTo>
                  <a:pt x="2270481" y="327763"/>
                </a:lnTo>
                <a:lnTo>
                  <a:pt x="2305969" y="358978"/>
                </a:lnTo>
                <a:lnTo>
                  <a:pt x="2340592" y="391612"/>
                </a:lnTo>
                <a:close/>
              </a:path>
            </a:pathLst>
          </a:custGeom>
          <a:ln w="101599">
            <a:solidFill>
              <a:srgbClr val="1F49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56805" y="3115763"/>
            <a:ext cx="922655" cy="886460"/>
          </a:xfrm>
          <a:custGeom>
            <a:avLst/>
            <a:gdLst/>
            <a:ahLst/>
            <a:cxnLst/>
            <a:rect l="l" t="t" r="r" b="b"/>
            <a:pathLst>
              <a:path w="922654" h="886460">
                <a:moveTo>
                  <a:pt x="461310" y="0"/>
                </a:moveTo>
                <a:lnTo>
                  <a:pt x="411046" y="2599"/>
                </a:lnTo>
                <a:lnTo>
                  <a:pt x="362349" y="10216"/>
                </a:lnTo>
                <a:lnTo>
                  <a:pt x="315501" y="22580"/>
                </a:lnTo>
                <a:lnTo>
                  <a:pt x="270783" y="39423"/>
                </a:lnTo>
                <a:lnTo>
                  <a:pt x="228478" y="60473"/>
                </a:lnTo>
                <a:lnTo>
                  <a:pt x="188866" y="85459"/>
                </a:lnTo>
                <a:lnTo>
                  <a:pt x="152229" y="114113"/>
                </a:lnTo>
                <a:lnTo>
                  <a:pt x="118849" y="146164"/>
                </a:lnTo>
                <a:lnTo>
                  <a:pt x="89006" y="181341"/>
                </a:lnTo>
                <a:lnTo>
                  <a:pt x="62982" y="219375"/>
                </a:lnTo>
                <a:lnTo>
                  <a:pt x="41059" y="259995"/>
                </a:lnTo>
                <a:lnTo>
                  <a:pt x="23517" y="302930"/>
                </a:lnTo>
                <a:lnTo>
                  <a:pt x="10640" y="347912"/>
                </a:lnTo>
                <a:lnTo>
                  <a:pt x="2706" y="394669"/>
                </a:lnTo>
                <a:lnTo>
                  <a:pt x="0" y="442931"/>
                </a:lnTo>
                <a:lnTo>
                  <a:pt x="2706" y="491193"/>
                </a:lnTo>
                <a:lnTo>
                  <a:pt x="10640" y="537950"/>
                </a:lnTo>
                <a:lnTo>
                  <a:pt x="23517" y="582931"/>
                </a:lnTo>
                <a:lnTo>
                  <a:pt x="41059" y="625867"/>
                </a:lnTo>
                <a:lnTo>
                  <a:pt x="62982" y="666486"/>
                </a:lnTo>
                <a:lnTo>
                  <a:pt x="89006" y="704520"/>
                </a:lnTo>
                <a:lnTo>
                  <a:pt x="118849" y="739697"/>
                </a:lnTo>
                <a:lnTo>
                  <a:pt x="152229" y="771748"/>
                </a:lnTo>
                <a:lnTo>
                  <a:pt x="188866" y="800401"/>
                </a:lnTo>
                <a:lnTo>
                  <a:pt x="228478" y="825388"/>
                </a:lnTo>
                <a:lnTo>
                  <a:pt x="270783" y="846438"/>
                </a:lnTo>
                <a:lnTo>
                  <a:pt x="315501" y="863280"/>
                </a:lnTo>
                <a:lnTo>
                  <a:pt x="362349" y="875645"/>
                </a:lnTo>
                <a:lnTo>
                  <a:pt x="411046" y="883262"/>
                </a:lnTo>
                <a:lnTo>
                  <a:pt x="461310" y="885861"/>
                </a:lnTo>
                <a:lnTo>
                  <a:pt x="511575" y="883262"/>
                </a:lnTo>
                <a:lnTo>
                  <a:pt x="560272" y="875645"/>
                </a:lnTo>
                <a:lnTo>
                  <a:pt x="607120" y="863280"/>
                </a:lnTo>
                <a:lnTo>
                  <a:pt x="651838" y="846438"/>
                </a:lnTo>
                <a:lnTo>
                  <a:pt x="694143" y="825388"/>
                </a:lnTo>
                <a:lnTo>
                  <a:pt x="733755" y="800401"/>
                </a:lnTo>
                <a:lnTo>
                  <a:pt x="770392" y="771748"/>
                </a:lnTo>
                <a:lnTo>
                  <a:pt x="803772" y="739697"/>
                </a:lnTo>
                <a:lnTo>
                  <a:pt x="833615" y="704520"/>
                </a:lnTo>
                <a:lnTo>
                  <a:pt x="859639" y="666486"/>
                </a:lnTo>
                <a:lnTo>
                  <a:pt x="881562" y="625867"/>
                </a:lnTo>
                <a:lnTo>
                  <a:pt x="899104" y="582931"/>
                </a:lnTo>
                <a:lnTo>
                  <a:pt x="911981" y="537950"/>
                </a:lnTo>
                <a:lnTo>
                  <a:pt x="919915" y="491193"/>
                </a:lnTo>
                <a:lnTo>
                  <a:pt x="922621" y="442931"/>
                </a:lnTo>
                <a:lnTo>
                  <a:pt x="919915" y="394669"/>
                </a:lnTo>
                <a:lnTo>
                  <a:pt x="911981" y="347912"/>
                </a:lnTo>
                <a:lnTo>
                  <a:pt x="899104" y="302930"/>
                </a:lnTo>
                <a:lnTo>
                  <a:pt x="881562" y="259995"/>
                </a:lnTo>
                <a:lnTo>
                  <a:pt x="859639" y="219375"/>
                </a:lnTo>
                <a:lnTo>
                  <a:pt x="833615" y="181341"/>
                </a:lnTo>
                <a:lnTo>
                  <a:pt x="803772" y="146164"/>
                </a:lnTo>
                <a:lnTo>
                  <a:pt x="770392" y="114113"/>
                </a:lnTo>
                <a:lnTo>
                  <a:pt x="733755" y="85459"/>
                </a:lnTo>
                <a:lnTo>
                  <a:pt x="694143" y="60473"/>
                </a:lnTo>
                <a:lnTo>
                  <a:pt x="651838" y="39423"/>
                </a:lnTo>
                <a:lnTo>
                  <a:pt x="607120" y="22580"/>
                </a:lnTo>
                <a:lnTo>
                  <a:pt x="560272" y="10216"/>
                </a:lnTo>
                <a:lnTo>
                  <a:pt x="511575" y="2599"/>
                </a:lnTo>
                <a:lnTo>
                  <a:pt x="461310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56805" y="3115763"/>
            <a:ext cx="922655" cy="886460"/>
          </a:xfrm>
          <a:custGeom>
            <a:avLst/>
            <a:gdLst/>
            <a:ahLst/>
            <a:cxnLst/>
            <a:rect l="l" t="t" r="r" b="b"/>
            <a:pathLst>
              <a:path w="922654" h="886460">
                <a:moveTo>
                  <a:pt x="0" y="442930"/>
                </a:moveTo>
                <a:lnTo>
                  <a:pt x="2706" y="394668"/>
                </a:lnTo>
                <a:lnTo>
                  <a:pt x="10640" y="347911"/>
                </a:lnTo>
                <a:lnTo>
                  <a:pt x="23517" y="302930"/>
                </a:lnTo>
                <a:lnTo>
                  <a:pt x="41059" y="259994"/>
                </a:lnTo>
                <a:lnTo>
                  <a:pt x="62982" y="219375"/>
                </a:lnTo>
                <a:lnTo>
                  <a:pt x="89006" y="181341"/>
                </a:lnTo>
                <a:lnTo>
                  <a:pt x="118849" y="146164"/>
                </a:lnTo>
                <a:lnTo>
                  <a:pt x="152229" y="114113"/>
                </a:lnTo>
                <a:lnTo>
                  <a:pt x="188866" y="85459"/>
                </a:lnTo>
                <a:lnTo>
                  <a:pt x="228478" y="60473"/>
                </a:lnTo>
                <a:lnTo>
                  <a:pt x="270783" y="39423"/>
                </a:lnTo>
                <a:lnTo>
                  <a:pt x="315501" y="22580"/>
                </a:lnTo>
                <a:lnTo>
                  <a:pt x="362349" y="10216"/>
                </a:lnTo>
                <a:lnTo>
                  <a:pt x="411046" y="2599"/>
                </a:lnTo>
                <a:lnTo>
                  <a:pt x="461311" y="0"/>
                </a:lnTo>
                <a:lnTo>
                  <a:pt x="511576" y="2599"/>
                </a:lnTo>
                <a:lnTo>
                  <a:pt x="560273" y="10216"/>
                </a:lnTo>
                <a:lnTo>
                  <a:pt x="607121" y="22580"/>
                </a:lnTo>
                <a:lnTo>
                  <a:pt x="651838" y="39423"/>
                </a:lnTo>
                <a:lnTo>
                  <a:pt x="694143" y="60473"/>
                </a:lnTo>
                <a:lnTo>
                  <a:pt x="733755" y="85459"/>
                </a:lnTo>
                <a:lnTo>
                  <a:pt x="770392" y="114113"/>
                </a:lnTo>
                <a:lnTo>
                  <a:pt x="803773" y="146164"/>
                </a:lnTo>
                <a:lnTo>
                  <a:pt x="833615" y="181341"/>
                </a:lnTo>
                <a:lnTo>
                  <a:pt x="859639" y="219375"/>
                </a:lnTo>
                <a:lnTo>
                  <a:pt x="881562" y="259994"/>
                </a:lnTo>
                <a:lnTo>
                  <a:pt x="899104" y="302930"/>
                </a:lnTo>
                <a:lnTo>
                  <a:pt x="911982" y="347911"/>
                </a:lnTo>
                <a:lnTo>
                  <a:pt x="919915" y="394668"/>
                </a:lnTo>
                <a:lnTo>
                  <a:pt x="922622" y="442930"/>
                </a:lnTo>
                <a:lnTo>
                  <a:pt x="919915" y="491193"/>
                </a:lnTo>
                <a:lnTo>
                  <a:pt x="911982" y="537949"/>
                </a:lnTo>
                <a:lnTo>
                  <a:pt x="899104" y="582931"/>
                </a:lnTo>
                <a:lnTo>
                  <a:pt x="881562" y="625866"/>
                </a:lnTo>
                <a:lnTo>
                  <a:pt x="859639" y="666486"/>
                </a:lnTo>
                <a:lnTo>
                  <a:pt x="833615" y="704520"/>
                </a:lnTo>
                <a:lnTo>
                  <a:pt x="803773" y="739697"/>
                </a:lnTo>
                <a:lnTo>
                  <a:pt x="770392" y="771747"/>
                </a:lnTo>
                <a:lnTo>
                  <a:pt x="733755" y="800401"/>
                </a:lnTo>
                <a:lnTo>
                  <a:pt x="694143" y="825388"/>
                </a:lnTo>
                <a:lnTo>
                  <a:pt x="651838" y="846438"/>
                </a:lnTo>
                <a:lnTo>
                  <a:pt x="607121" y="863280"/>
                </a:lnTo>
                <a:lnTo>
                  <a:pt x="560273" y="875645"/>
                </a:lnTo>
                <a:lnTo>
                  <a:pt x="511576" y="883262"/>
                </a:lnTo>
                <a:lnTo>
                  <a:pt x="461311" y="885861"/>
                </a:lnTo>
                <a:lnTo>
                  <a:pt x="411046" y="883262"/>
                </a:lnTo>
                <a:lnTo>
                  <a:pt x="362349" y="875645"/>
                </a:lnTo>
                <a:lnTo>
                  <a:pt x="315501" y="863280"/>
                </a:lnTo>
                <a:lnTo>
                  <a:pt x="270783" y="846438"/>
                </a:lnTo>
                <a:lnTo>
                  <a:pt x="228478" y="825388"/>
                </a:lnTo>
                <a:lnTo>
                  <a:pt x="188866" y="800401"/>
                </a:lnTo>
                <a:lnTo>
                  <a:pt x="152229" y="771747"/>
                </a:lnTo>
                <a:lnTo>
                  <a:pt x="118849" y="739697"/>
                </a:lnTo>
                <a:lnTo>
                  <a:pt x="89006" y="704520"/>
                </a:lnTo>
                <a:lnTo>
                  <a:pt x="62982" y="666486"/>
                </a:lnTo>
                <a:lnTo>
                  <a:pt x="41059" y="625866"/>
                </a:lnTo>
                <a:lnTo>
                  <a:pt x="23517" y="582931"/>
                </a:lnTo>
                <a:lnTo>
                  <a:pt x="10640" y="537949"/>
                </a:lnTo>
                <a:lnTo>
                  <a:pt x="2706" y="491193"/>
                </a:lnTo>
                <a:lnTo>
                  <a:pt x="0" y="44293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976146" y="3246390"/>
            <a:ext cx="28448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AD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656100" y="4904679"/>
            <a:ext cx="922655" cy="886460"/>
          </a:xfrm>
          <a:custGeom>
            <a:avLst/>
            <a:gdLst/>
            <a:ahLst/>
            <a:cxnLst/>
            <a:rect l="l" t="t" r="r" b="b"/>
            <a:pathLst>
              <a:path w="922654" h="886460">
                <a:moveTo>
                  <a:pt x="461310" y="0"/>
                </a:moveTo>
                <a:lnTo>
                  <a:pt x="411046" y="2599"/>
                </a:lnTo>
                <a:lnTo>
                  <a:pt x="362349" y="10216"/>
                </a:lnTo>
                <a:lnTo>
                  <a:pt x="315501" y="22580"/>
                </a:lnTo>
                <a:lnTo>
                  <a:pt x="270783" y="39423"/>
                </a:lnTo>
                <a:lnTo>
                  <a:pt x="228478" y="60472"/>
                </a:lnTo>
                <a:lnTo>
                  <a:pt x="188866" y="85459"/>
                </a:lnTo>
                <a:lnTo>
                  <a:pt x="152229" y="114113"/>
                </a:lnTo>
                <a:lnTo>
                  <a:pt x="118849" y="146164"/>
                </a:lnTo>
                <a:lnTo>
                  <a:pt x="89006" y="181341"/>
                </a:lnTo>
                <a:lnTo>
                  <a:pt x="62982" y="219374"/>
                </a:lnTo>
                <a:lnTo>
                  <a:pt x="41059" y="259994"/>
                </a:lnTo>
                <a:lnTo>
                  <a:pt x="23517" y="302930"/>
                </a:lnTo>
                <a:lnTo>
                  <a:pt x="10640" y="347911"/>
                </a:lnTo>
                <a:lnTo>
                  <a:pt x="2706" y="394668"/>
                </a:lnTo>
                <a:lnTo>
                  <a:pt x="0" y="442930"/>
                </a:lnTo>
                <a:lnTo>
                  <a:pt x="2706" y="491192"/>
                </a:lnTo>
                <a:lnTo>
                  <a:pt x="10640" y="537949"/>
                </a:lnTo>
                <a:lnTo>
                  <a:pt x="23517" y="582930"/>
                </a:lnTo>
                <a:lnTo>
                  <a:pt x="41059" y="625866"/>
                </a:lnTo>
                <a:lnTo>
                  <a:pt x="62982" y="666486"/>
                </a:lnTo>
                <a:lnTo>
                  <a:pt x="89006" y="704519"/>
                </a:lnTo>
                <a:lnTo>
                  <a:pt x="118849" y="739696"/>
                </a:lnTo>
                <a:lnTo>
                  <a:pt x="152229" y="771747"/>
                </a:lnTo>
                <a:lnTo>
                  <a:pt x="188866" y="800401"/>
                </a:lnTo>
                <a:lnTo>
                  <a:pt x="228478" y="825388"/>
                </a:lnTo>
                <a:lnTo>
                  <a:pt x="270783" y="846438"/>
                </a:lnTo>
                <a:lnTo>
                  <a:pt x="315501" y="863280"/>
                </a:lnTo>
                <a:lnTo>
                  <a:pt x="362349" y="875645"/>
                </a:lnTo>
                <a:lnTo>
                  <a:pt x="411046" y="883262"/>
                </a:lnTo>
                <a:lnTo>
                  <a:pt x="461310" y="885861"/>
                </a:lnTo>
                <a:lnTo>
                  <a:pt x="511575" y="883262"/>
                </a:lnTo>
                <a:lnTo>
                  <a:pt x="560272" y="875645"/>
                </a:lnTo>
                <a:lnTo>
                  <a:pt x="607120" y="863280"/>
                </a:lnTo>
                <a:lnTo>
                  <a:pt x="651838" y="846438"/>
                </a:lnTo>
                <a:lnTo>
                  <a:pt x="694143" y="825388"/>
                </a:lnTo>
                <a:lnTo>
                  <a:pt x="733755" y="800401"/>
                </a:lnTo>
                <a:lnTo>
                  <a:pt x="770392" y="771747"/>
                </a:lnTo>
                <a:lnTo>
                  <a:pt x="803772" y="739696"/>
                </a:lnTo>
                <a:lnTo>
                  <a:pt x="833615" y="704519"/>
                </a:lnTo>
                <a:lnTo>
                  <a:pt x="859639" y="666486"/>
                </a:lnTo>
                <a:lnTo>
                  <a:pt x="881562" y="625866"/>
                </a:lnTo>
                <a:lnTo>
                  <a:pt x="899104" y="582930"/>
                </a:lnTo>
                <a:lnTo>
                  <a:pt x="911981" y="537949"/>
                </a:lnTo>
                <a:lnTo>
                  <a:pt x="919915" y="491192"/>
                </a:lnTo>
                <a:lnTo>
                  <a:pt x="922621" y="442930"/>
                </a:lnTo>
                <a:lnTo>
                  <a:pt x="919915" y="394668"/>
                </a:lnTo>
                <a:lnTo>
                  <a:pt x="911981" y="347911"/>
                </a:lnTo>
                <a:lnTo>
                  <a:pt x="899104" y="302930"/>
                </a:lnTo>
                <a:lnTo>
                  <a:pt x="881562" y="259994"/>
                </a:lnTo>
                <a:lnTo>
                  <a:pt x="859639" y="219374"/>
                </a:lnTo>
                <a:lnTo>
                  <a:pt x="833615" y="181341"/>
                </a:lnTo>
                <a:lnTo>
                  <a:pt x="803772" y="146164"/>
                </a:lnTo>
                <a:lnTo>
                  <a:pt x="770392" y="114113"/>
                </a:lnTo>
                <a:lnTo>
                  <a:pt x="733755" y="85459"/>
                </a:lnTo>
                <a:lnTo>
                  <a:pt x="694143" y="60472"/>
                </a:lnTo>
                <a:lnTo>
                  <a:pt x="651838" y="39423"/>
                </a:lnTo>
                <a:lnTo>
                  <a:pt x="607120" y="22580"/>
                </a:lnTo>
                <a:lnTo>
                  <a:pt x="560272" y="10216"/>
                </a:lnTo>
                <a:lnTo>
                  <a:pt x="511575" y="2599"/>
                </a:lnTo>
                <a:lnTo>
                  <a:pt x="461310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656100" y="4904679"/>
            <a:ext cx="922655" cy="886460"/>
          </a:xfrm>
          <a:custGeom>
            <a:avLst/>
            <a:gdLst/>
            <a:ahLst/>
            <a:cxnLst/>
            <a:rect l="l" t="t" r="r" b="b"/>
            <a:pathLst>
              <a:path w="922654" h="886460">
                <a:moveTo>
                  <a:pt x="0" y="442930"/>
                </a:moveTo>
                <a:lnTo>
                  <a:pt x="2706" y="394668"/>
                </a:lnTo>
                <a:lnTo>
                  <a:pt x="10640" y="347911"/>
                </a:lnTo>
                <a:lnTo>
                  <a:pt x="23517" y="302930"/>
                </a:lnTo>
                <a:lnTo>
                  <a:pt x="41059" y="259994"/>
                </a:lnTo>
                <a:lnTo>
                  <a:pt x="62982" y="219375"/>
                </a:lnTo>
                <a:lnTo>
                  <a:pt x="89006" y="181341"/>
                </a:lnTo>
                <a:lnTo>
                  <a:pt x="118849" y="146164"/>
                </a:lnTo>
                <a:lnTo>
                  <a:pt x="152229" y="114113"/>
                </a:lnTo>
                <a:lnTo>
                  <a:pt x="188866" y="85459"/>
                </a:lnTo>
                <a:lnTo>
                  <a:pt x="228478" y="60473"/>
                </a:lnTo>
                <a:lnTo>
                  <a:pt x="270783" y="39423"/>
                </a:lnTo>
                <a:lnTo>
                  <a:pt x="315501" y="22580"/>
                </a:lnTo>
                <a:lnTo>
                  <a:pt x="362349" y="10216"/>
                </a:lnTo>
                <a:lnTo>
                  <a:pt x="411046" y="2599"/>
                </a:lnTo>
                <a:lnTo>
                  <a:pt x="461311" y="0"/>
                </a:lnTo>
                <a:lnTo>
                  <a:pt x="511576" y="2599"/>
                </a:lnTo>
                <a:lnTo>
                  <a:pt x="560273" y="10216"/>
                </a:lnTo>
                <a:lnTo>
                  <a:pt x="607121" y="22580"/>
                </a:lnTo>
                <a:lnTo>
                  <a:pt x="651838" y="39423"/>
                </a:lnTo>
                <a:lnTo>
                  <a:pt x="694143" y="60473"/>
                </a:lnTo>
                <a:lnTo>
                  <a:pt x="733755" y="85459"/>
                </a:lnTo>
                <a:lnTo>
                  <a:pt x="770392" y="114113"/>
                </a:lnTo>
                <a:lnTo>
                  <a:pt x="803773" y="146164"/>
                </a:lnTo>
                <a:lnTo>
                  <a:pt x="833615" y="181341"/>
                </a:lnTo>
                <a:lnTo>
                  <a:pt x="859639" y="219375"/>
                </a:lnTo>
                <a:lnTo>
                  <a:pt x="881562" y="259994"/>
                </a:lnTo>
                <a:lnTo>
                  <a:pt x="899104" y="302930"/>
                </a:lnTo>
                <a:lnTo>
                  <a:pt x="911982" y="347911"/>
                </a:lnTo>
                <a:lnTo>
                  <a:pt x="919915" y="394668"/>
                </a:lnTo>
                <a:lnTo>
                  <a:pt x="922622" y="442930"/>
                </a:lnTo>
                <a:lnTo>
                  <a:pt x="919915" y="491193"/>
                </a:lnTo>
                <a:lnTo>
                  <a:pt x="911982" y="537949"/>
                </a:lnTo>
                <a:lnTo>
                  <a:pt x="899104" y="582931"/>
                </a:lnTo>
                <a:lnTo>
                  <a:pt x="881562" y="625866"/>
                </a:lnTo>
                <a:lnTo>
                  <a:pt x="859639" y="666486"/>
                </a:lnTo>
                <a:lnTo>
                  <a:pt x="833615" y="704520"/>
                </a:lnTo>
                <a:lnTo>
                  <a:pt x="803773" y="739697"/>
                </a:lnTo>
                <a:lnTo>
                  <a:pt x="770392" y="771747"/>
                </a:lnTo>
                <a:lnTo>
                  <a:pt x="733755" y="800401"/>
                </a:lnTo>
                <a:lnTo>
                  <a:pt x="694143" y="825388"/>
                </a:lnTo>
                <a:lnTo>
                  <a:pt x="651838" y="846438"/>
                </a:lnTo>
                <a:lnTo>
                  <a:pt x="607121" y="863280"/>
                </a:lnTo>
                <a:lnTo>
                  <a:pt x="560273" y="875645"/>
                </a:lnTo>
                <a:lnTo>
                  <a:pt x="511576" y="883262"/>
                </a:lnTo>
                <a:lnTo>
                  <a:pt x="461311" y="885861"/>
                </a:lnTo>
                <a:lnTo>
                  <a:pt x="411046" y="883262"/>
                </a:lnTo>
                <a:lnTo>
                  <a:pt x="362349" y="875645"/>
                </a:lnTo>
                <a:lnTo>
                  <a:pt x="315501" y="863280"/>
                </a:lnTo>
                <a:lnTo>
                  <a:pt x="270783" y="846438"/>
                </a:lnTo>
                <a:lnTo>
                  <a:pt x="228478" y="825388"/>
                </a:lnTo>
                <a:lnTo>
                  <a:pt x="188866" y="800401"/>
                </a:lnTo>
                <a:lnTo>
                  <a:pt x="152229" y="771747"/>
                </a:lnTo>
                <a:lnTo>
                  <a:pt x="118849" y="739697"/>
                </a:lnTo>
                <a:lnTo>
                  <a:pt x="89006" y="704520"/>
                </a:lnTo>
                <a:lnTo>
                  <a:pt x="62982" y="666486"/>
                </a:lnTo>
                <a:lnTo>
                  <a:pt x="41059" y="625866"/>
                </a:lnTo>
                <a:lnTo>
                  <a:pt x="23517" y="582931"/>
                </a:lnTo>
                <a:lnTo>
                  <a:pt x="10640" y="537949"/>
                </a:lnTo>
                <a:lnTo>
                  <a:pt x="2706" y="491193"/>
                </a:lnTo>
                <a:lnTo>
                  <a:pt x="0" y="44293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982994" y="5035306"/>
            <a:ext cx="26924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AB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36548" y="3115767"/>
            <a:ext cx="922655" cy="886460"/>
          </a:xfrm>
          <a:custGeom>
            <a:avLst/>
            <a:gdLst/>
            <a:ahLst/>
            <a:cxnLst/>
            <a:rect l="l" t="t" r="r" b="b"/>
            <a:pathLst>
              <a:path w="922654" h="886460">
                <a:moveTo>
                  <a:pt x="461310" y="0"/>
                </a:moveTo>
                <a:lnTo>
                  <a:pt x="411046" y="2599"/>
                </a:lnTo>
                <a:lnTo>
                  <a:pt x="362349" y="10216"/>
                </a:lnTo>
                <a:lnTo>
                  <a:pt x="315501" y="22580"/>
                </a:lnTo>
                <a:lnTo>
                  <a:pt x="270783" y="39423"/>
                </a:lnTo>
                <a:lnTo>
                  <a:pt x="228478" y="60472"/>
                </a:lnTo>
                <a:lnTo>
                  <a:pt x="188866" y="85459"/>
                </a:lnTo>
                <a:lnTo>
                  <a:pt x="152229" y="114113"/>
                </a:lnTo>
                <a:lnTo>
                  <a:pt x="118849" y="146164"/>
                </a:lnTo>
                <a:lnTo>
                  <a:pt x="89006" y="181341"/>
                </a:lnTo>
                <a:lnTo>
                  <a:pt x="62982" y="219374"/>
                </a:lnTo>
                <a:lnTo>
                  <a:pt x="41059" y="259994"/>
                </a:lnTo>
                <a:lnTo>
                  <a:pt x="23517" y="302930"/>
                </a:lnTo>
                <a:lnTo>
                  <a:pt x="10640" y="347911"/>
                </a:lnTo>
                <a:lnTo>
                  <a:pt x="2706" y="394668"/>
                </a:lnTo>
                <a:lnTo>
                  <a:pt x="0" y="442930"/>
                </a:lnTo>
                <a:lnTo>
                  <a:pt x="2706" y="491192"/>
                </a:lnTo>
                <a:lnTo>
                  <a:pt x="10640" y="537949"/>
                </a:lnTo>
                <a:lnTo>
                  <a:pt x="23517" y="582930"/>
                </a:lnTo>
                <a:lnTo>
                  <a:pt x="41059" y="625866"/>
                </a:lnTo>
                <a:lnTo>
                  <a:pt x="62982" y="666485"/>
                </a:lnTo>
                <a:lnTo>
                  <a:pt x="89006" y="704519"/>
                </a:lnTo>
                <a:lnTo>
                  <a:pt x="118849" y="739696"/>
                </a:lnTo>
                <a:lnTo>
                  <a:pt x="152229" y="771747"/>
                </a:lnTo>
                <a:lnTo>
                  <a:pt x="188866" y="800401"/>
                </a:lnTo>
                <a:lnTo>
                  <a:pt x="228478" y="825388"/>
                </a:lnTo>
                <a:lnTo>
                  <a:pt x="270783" y="846438"/>
                </a:lnTo>
                <a:lnTo>
                  <a:pt x="315501" y="863280"/>
                </a:lnTo>
                <a:lnTo>
                  <a:pt x="362349" y="875645"/>
                </a:lnTo>
                <a:lnTo>
                  <a:pt x="411046" y="883262"/>
                </a:lnTo>
                <a:lnTo>
                  <a:pt x="461310" y="885861"/>
                </a:lnTo>
                <a:lnTo>
                  <a:pt x="511575" y="883262"/>
                </a:lnTo>
                <a:lnTo>
                  <a:pt x="560272" y="875645"/>
                </a:lnTo>
                <a:lnTo>
                  <a:pt x="607120" y="863280"/>
                </a:lnTo>
                <a:lnTo>
                  <a:pt x="651838" y="846438"/>
                </a:lnTo>
                <a:lnTo>
                  <a:pt x="694143" y="825388"/>
                </a:lnTo>
                <a:lnTo>
                  <a:pt x="733755" y="800401"/>
                </a:lnTo>
                <a:lnTo>
                  <a:pt x="770392" y="771747"/>
                </a:lnTo>
                <a:lnTo>
                  <a:pt x="803772" y="739696"/>
                </a:lnTo>
                <a:lnTo>
                  <a:pt x="833615" y="704519"/>
                </a:lnTo>
                <a:lnTo>
                  <a:pt x="859639" y="666485"/>
                </a:lnTo>
                <a:lnTo>
                  <a:pt x="881562" y="625866"/>
                </a:lnTo>
                <a:lnTo>
                  <a:pt x="899104" y="582930"/>
                </a:lnTo>
                <a:lnTo>
                  <a:pt x="911981" y="537949"/>
                </a:lnTo>
                <a:lnTo>
                  <a:pt x="919915" y="491192"/>
                </a:lnTo>
                <a:lnTo>
                  <a:pt x="922621" y="442930"/>
                </a:lnTo>
                <a:lnTo>
                  <a:pt x="919915" y="394668"/>
                </a:lnTo>
                <a:lnTo>
                  <a:pt x="911981" y="347911"/>
                </a:lnTo>
                <a:lnTo>
                  <a:pt x="899104" y="302930"/>
                </a:lnTo>
                <a:lnTo>
                  <a:pt x="881562" y="259994"/>
                </a:lnTo>
                <a:lnTo>
                  <a:pt x="859639" y="219374"/>
                </a:lnTo>
                <a:lnTo>
                  <a:pt x="833615" y="181341"/>
                </a:lnTo>
                <a:lnTo>
                  <a:pt x="803772" y="146164"/>
                </a:lnTo>
                <a:lnTo>
                  <a:pt x="770392" y="114113"/>
                </a:lnTo>
                <a:lnTo>
                  <a:pt x="733755" y="85459"/>
                </a:lnTo>
                <a:lnTo>
                  <a:pt x="694143" y="60472"/>
                </a:lnTo>
                <a:lnTo>
                  <a:pt x="651838" y="39423"/>
                </a:lnTo>
                <a:lnTo>
                  <a:pt x="607120" y="22580"/>
                </a:lnTo>
                <a:lnTo>
                  <a:pt x="560272" y="10216"/>
                </a:lnTo>
                <a:lnTo>
                  <a:pt x="511575" y="2599"/>
                </a:lnTo>
                <a:lnTo>
                  <a:pt x="461310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836548" y="3115767"/>
            <a:ext cx="922655" cy="886460"/>
          </a:xfrm>
          <a:custGeom>
            <a:avLst/>
            <a:gdLst/>
            <a:ahLst/>
            <a:cxnLst/>
            <a:rect l="l" t="t" r="r" b="b"/>
            <a:pathLst>
              <a:path w="922654" h="886460">
                <a:moveTo>
                  <a:pt x="0" y="442930"/>
                </a:moveTo>
                <a:lnTo>
                  <a:pt x="2706" y="394668"/>
                </a:lnTo>
                <a:lnTo>
                  <a:pt x="10640" y="347911"/>
                </a:lnTo>
                <a:lnTo>
                  <a:pt x="23517" y="302930"/>
                </a:lnTo>
                <a:lnTo>
                  <a:pt x="41059" y="259994"/>
                </a:lnTo>
                <a:lnTo>
                  <a:pt x="62982" y="219375"/>
                </a:lnTo>
                <a:lnTo>
                  <a:pt x="89006" y="181341"/>
                </a:lnTo>
                <a:lnTo>
                  <a:pt x="118849" y="146164"/>
                </a:lnTo>
                <a:lnTo>
                  <a:pt x="152229" y="114113"/>
                </a:lnTo>
                <a:lnTo>
                  <a:pt x="188866" y="85459"/>
                </a:lnTo>
                <a:lnTo>
                  <a:pt x="228478" y="60473"/>
                </a:lnTo>
                <a:lnTo>
                  <a:pt x="270783" y="39423"/>
                </a:lnTo>
                <a:lnTo>
                  <a:pt x="315501" y="22580"/>
                </a:lnTo>
                <a:lnTo>
                  <a:pt x="362349" y="10216"/>
                </a:lnTo>
                <a:lnTo>
                  <a:pt x="411046" y="2599"/>
                </a:lnTo>
                <a:lnTo>
                  <a:pt x="461311" y="0"/>
                </a:lnTo>
                <a:lnTo>
                  <a:pt x="511576" y="2599"/>
                </a:lnTo>
                <a:lnTo>
                  <a:pt x="560273" y="10216"/>
                </a:lnTo>
                <a:lnTo>
                  <a:pt x="607121" y="22580"/>
                </a:lnTo>
                <a:lnTo>
                  <a:pt x="651838" y="39423"/>
                </a:lnTo>
                <a:lnTo>
                  <a:pt x="694143" y="60473"/>
                </a:lnTo>
                <a:lnTo>
                  <a:pt x="733755" y="85459"/>
                </a:lnTo>
                <a:lnTo>
                  <a:pt x="770392" y="114113"/>
                </a:lnTo>
                <a:lnTo>
                  <a:pt x="803773" y="146164"/>
                </a:lnTo>
                <a:lnTo>
                  <a:pt x="833615" y="181341"/>
                </a:lnTo>
                <a:lnTo>
                  <a:pt x="859639" y="219375"/>
                </a:lnTo>
                <a:lnTo>
                  <a:pt x="881562" y="259994"/>
                </a:lnTo>
                <a:lnTo>
                  <a:pt x="899104" y="302930"/>
                </a:lnTo>
                <a:lnTo>
                  <a:pt x="911982" y="347911"/>
                </a:lnTo>
                <a:lnTo>
                  <a:pt x="919915" y="394668"/>
                </a:lnTo>
                <a:lnTo>
                  <a:pt x="922622" y="442930"/>
                </a:lnTo>
                <a:lnTo>
                  <a:pt x="919915" y="491193"/>
                </a:lnTo>
                <a:lnTo>
                  <a:pt x="911982" y="537949"/>
                </a:lnTo>
                <a:lnTo>
                  <a:pt x="899104" y="582931"/>
                </a:lnTo>
                <a:lnTo>
                  <a:pt x="881562" y="625866"/>
                </a:lnTo>
                <a:lnTo>
                  <a:pt x="859639" y="666486"/>
                </a:lnTo>
                <a:lnTo>
                  <a:pt x="833615" y="704520"/>
                </a:lnTo>
                <a:lnTo>
                  <a:pt x="803773" y="739697"/>
                </a:lnTo>
                <a:lnTo>
                  <a:pt x="770392" y="771747"/>
                </a:lnTo>
                <a:lnTo>
                  <a:pt x="733755" y="800401"/>
                </a:lnTo>
                <a:lnTo>
                  <a:pt x="694143" y="825388"/>
                </a:lnTo>
                <a:lnTo>
                  <a:pt x="651838" y="846438"/>
                </a:lnTo>
                <a:lnTo>
                  <a:pt x="607121" y="863280"/>
                </a:lnTo>
                <a:lnTo>
                  <a:pt x="560273" y="875645"/>
                </a:lnTo>
                <a:lnTo>
                  <a:pt x="511576" y="883262"/>
                </a:lnTo>
                <a:lnTo>
                  <a:pt x="461311" y="885861"/>
                </a:lnTo>
                <a:lnTo>
                  <a:pt x="411046" y="883262"/>
                </a:lnTo>
                <a:lnTo>
                  <a:pt x="362349" y="875645"/>
                </a:lnTo>
                <a:lnTo>
                  <a:pt x="315501" y="863280"/>
                </a:lnTo>
                <a:lnTo>
                  <a:pt x="270783" y="846438"/>
                </a:lnTo>
                <a:lnTo>
                  <a:pt x="228478" y="825388"/>
                </a:lnTo>
                <a:lnTo>
                  <a:pt x="188866" y="800401"/>
                </a:lnTo>
                <a:lnTo>
                  <a:pt x="152229" y="771747"/>
                </a:lnTo>
                <a:lnTo>
                  <a:pt x="118849" y="739697"/>
                </a:lnTo>
                <a:lnTo>
                  <a:pt x="89006" y="704520"/>
                </a:lnTo>
                <a:lnTo>
                  <a:pt x="62982" y="666486"/>
                </a:lnTo>
                <a:lnTo>
                  <a:pt x="41059" y="625866"/>
                </a:lnTo>
                <a:lnTo>
                  <a:pt x="23517" y="582931"/>
                </a:lnTo>
                <a:lnTo>
                  <a:pt x="10640" y="537949"/>
                </a:lnTo>
                <a:lnTo>
                  <a:pt x="2706" y="491193"/>
                </a:lnTo>
                <a:lnTo>
                  <a:pt x="0" y="44293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154586" y="3246393"/>
            <a:ext cx="28702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spc="-5" dirty="0">
                <a:solidFill>
                  <a:srgbClr val="FFFFFF"/>
                </a:solidFill>
                <a:latin typeface="Verdana"/>
                <a:cs typeface="Verdana"/>
              </a:rPr>
              <a:t>CD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836548" y="4904678"/>
            <a:ext cx="922655" cy="886460"/>
          </a:xfrm>
          <a:custGeom>
            <a:avLst/>
            <a:gdLst/>
            <a:ahLst/>
            <a:cxnLst/>
            <a:rect l="l" t="t" r="r" b="b"/>
            <a:pathLst>
              <a:path w="922654" h="886460">
                <a:moveTo>
                  <a:pt x="461310" y="0"/>
                </a:moveTo>
                <a:lnTo>
                  <a:pt x="411046" y="2599"/>
                </a:lnTo>
                <a:lnTo>
                  <a:pt x="362349" y="10216"/>
                </a:lnTo>
                <a:lnTo>
                  <a:pt x="315501" y="22580"/>
                </a:lnTo>
                <a:lnTo>
                  <a:pt x="270783" y="39423"/>
                </a:lnTo>
                <a:lnTo>
                  <a:pt x="228478" y="60472"/>
                </a:lnTo>
                <a:lnTo>
                  <a:pt x="188866" y="85459"/>
                </a:lnTo>
                <a:lnTo>
                  <a:pt x="152229" y="114113"/>
                </a:lnTo>
                <a:lnTo>
                  <a:pt x="118849" y="146164"/>
                </a:lnTo>
                <a:lnTo>
                  <a:pt x="89006" y="181341"/>
                </a:lnTo>
                <a:lnTo>
                  <a:pt x="62982" y="219375"/>
                </a:lnTo>
                <a:lnTo>
                  <a:pt x="41059" y="259994"/>
                </a:lnTo>
                <a:lnTo>
                  <a:pt x="23517" y="302930"/>
                </a:lnTo>
                <a:lnTo>
                  <a:pt x="10640" y="347911"/>
                </a:lnTo>
                <a:lnTo>
                  <a:pt x="2706" y="394668"/>
                </a:lnTo>
                <a:lnTo>
                  <a:pt x="0" y="442930"/>
                </a:lnTo>
                <a:lnTo>
                  <a:pt x="2706" y="491192"/>
                </a:lnTo>
                <a:lnTo>
                  <a:pt x="10640" y="537949"/>
                </a:lnTo>
                <a:lnTo>
                  <a:pt x="23517" y="582931"/>
                </a:lnTo>
                <a:lnTo>
                  <a:pt x="41059" y="625866"/>
                </a:lnTo>
                <a:lnTo>
                  <a:pt x="62982" y="666486"/>
                </a:lnTo>
                <a:lnTo>
                  <a:pt x="89006" y="704519"/>
                </a:lnTo>
                <a:lnTo>
                  <a:pt x="118849" y="739697"/>
                </a:lnTo>
                <a:lnTo>
                  <a:pt x="152229" y="771747"/>
                </a:lnTo>
                <a:lnTo>
                  <a:pt x="188866" y="800401"/>
                </a:lnTo>
                <a:lnTo>
                  <a:pt x="228478" y="825388"/>
                </a:lnTo>
                <a:lnTo>
                  <a:pt x="270783" y="846438"/>
                </a:lnTo>
                <a:lnTo>
                  <a:pt x="315501" y="863280"/>
                </a:lnTo>
                <a:lnTo>
                  <a:pt x="362349" y="875645"/>
                </a:lnTo>
                <a:lnTo>
                  <a:pt x="411046" y="883262"/>
                </a:lnTo>
                <a:lnTo>
                  <a:pt x="461310" y="885861"/>
                </a:lnTo>
                <a:lnTo>
                  <a:pt x="511575" y="883262"/>
                </a:lnTo>
                <a:lnTo>
                  <a:pt x="560272" y="875645"/>
                </a:lnTo>
                <a:lnTo>
                  <a:pt x="607120" y="863280"/>
                </a:lnTo>
                <a:lnTo>
                  <a:pt x="651838" y="846438"/>
                </a:lnTo>
                <a:lnTo>
                  <a:pt x="694143" y="825388"/>
                </a:lnTo>
                <a:lnTo>
                  <a:pt x="733755" y="800401"/>
                </a:lnTo>
                <a:lnTo>
                  <a:pt x="770392" y="771747"/>
                </a:lnTo>
                <a:lnTo>
                  <a:pt x="803772" y="739697"/>
                </a:lnTo>
                <a:lnTo>
                  <a:pt x="833615" y="704519"/>
                </a:lnTo>
                <a:lnTo>
                  <a:pt x="859639" y="666486"/>
                </a:lnTo>
                <a:lnTo>
                  <a:pt x="881562" y="625866"/>
                </a:lnTo>
                <a:lnTo>
                  <a:pt x="899104" y="582931"/>
                </a:lnTo>
                <a:lnTo>
                  <a:pt x="911981" y="537949"/>
                </a:lnTo>
                <a:lnTo>
                  <a:pt x="919915" y="491192"/>
                </a:lnTo>
                <a:lnTo>
                  <a:pt x="922621" y="442930"/>
                </a:lnTo>
                <a:lnTo>
                  <a:pt x="919915" y="394668"/>
                </a:lnTo>
                <a:lnTo>
                  <a:pt x="911981" y="347911"/>
                </a:lnTo>
                <a:lnTo>
                  <a:pt x="899104" y="302930"/>
                </a:lnTo>
                <a:lnTo>
                  <a:pt x="881562" y="259994"/>
                </a:lnTo>
                <a:lnTo>
                  <a:pt x="859639" y="219375"/>
                </a:lnTo>
                <a:lnTo>
                  <a:pt x="833615" y="181341"/>
                </a:lnTo>
                <a:lnTo>
                  <a:pt x="803772" y="146164"/>
                </a:lnTo>
                <a:lnTo>
                  <a:pt x="770392" y="114113"/>
                </a:lnTo>
                <a:lnTo>
                  <a:pt x="733755" y="85459"/>
                </a:lnTo>
                <a:lnTo>
                  <a:pt x="694143" y="60472"/>
                </a:lnTo>
                <a:lnTo>
                  <a:pt x="651838" y="39423"/>
                </a:lnTo>
                <a:lnTo>
                  <a:pt x="607120" y="22580"/>
                </a:lnTo>
                <a:lnTo>
                  <a:pt x="560272" y="10216"/>
                </a:lnTo>
                <a:lnTo>
                  <a:pt x="511575" y="2599"/>
                </a:lnTo>
                <a:lnTo>
                  <a:pt x="461310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836548" y="4904678"/>
            <a:ext cx="922655" cy="886460"/>
          </a:xfrm>
          <a:custGeom>
            <a:avLst/>
            <a:gdLst/>
            <a:ahLst/>
            <a:cxnLst/>
            <a:rect l="l" t="t" r="r" b="b"/>
            <a:pathLst>
              <a:path w="922654" h="886460">
                <a:moveTo>
                  <a:pt x="0" y="442930"/>
                </a:moveTo>
                <a:lnTo>
                  <a:pt x="2706" y="394668"/>
                </a:lnTo>
                <a:lnTo>
                  <a:pt x="10640" y="347911"/>
                </a:lnTo>
                <a:lnTo>
                  <a:pt x="23517" y="302930"/>
                </a:lnTo>
                <a:lnTo>
                  <a:pt x="41059" y="259994"/>
                </a:lnTo>
                <a:lnTo>
                  <a:pt x="62982" y="219375"/>
                </a:lnTo>
                <a:lnTo>
                  <a:pt x="89006" y="181341"/>
                </a:lnTo>
                <a:lnTo>
                  <a:pt x="118849" y="146164"/>
                </a:lnTo>
                <a:lnTo>
                  <a:pt x="152229" y="114113"/>
                </a:lnTo>
                <a:lnTo>
                  <a:pt x="188866" y="85459"/>
                </a:lnTo>
                <a:lnTo>
                  <a:pt x="228478" y="60473"/>
                </a:lnTo>
                <a:lnTo>
                  <a:pt x="270783" y="39423"/>
                </a:lnTo>
                <a:lnTo>
                  <a:pt x="315501" y="22580"/>
                </a:lnTo>
                <a:lnTo>
                  <a:pt x="362349" y="10216"/>
                </a:lnTo>
                <a:lnTo>
                  <a:pt x="411046" y="2599"/>
                </a:lnTo>
                <a:lnTo>
                  <a:pt x="461311" y="0"/>
                </a:lnTo>
                <a:lnTo>
                  <a:pt x="511576" y="2599"/>
                </a:lnTo>
                <a:lnTo>
                  <a:pt x="560273" y="10216"/>
                </a:lnTo>
                <a:lnTo>
                  <a:pt x="607121" y="22580"/>
                </a:lnTo>
                <a:lnTo>
                  <a:pt x="651838" y="39423"/>
                </a:lnTo>
                <a:lnTo>
                  <a:pt x="694143" y="60473"/>
                </a:lnTo>
                <a:lnTo>
                  <a:pt x="733755" y="85459"/>
                </a:lnTo>
                <a:lnTo>
                  <a:pt x="770392" y="114113"/>
                </a:lnTo>
                <a:lnTo>
                  <a:pt x="803773" y="146164"/>
                </a:lnTo>
                <a:lnTo>
                  <a:pt x="833615" y="181341"/>
                </a:lnTo>
                <a:lnTo>
                  <a:pt x="859639" y="219375"/>
                </a:lnTo>
                <a:lnTo>
                  <a:pt x="881562" y="259994"/>
                </a:lnTo>
                <a:lnTo>
                  <a:pt x="899104" y="302930"/>
                </a:lnTo>
                <a:lnTo>
                  <a:pt x="911982" y="347911"/>
                </a:lnTo>
                <a:lnTo>
                  <a:pt x="919915" y="394668"/>
                </a:lnTo>
                <a:lnTo>
                  <a:pt x="922622" y="442930"/>
                </a:lnTo>
                <a:lnTo>
                  <a:pt x="919915" y="491193"/>
                </a:lnTo>
                <a:lnTo>
                  <a:pt x="911982" y="537949"/>
                </a:lnTo>
                <a:lnTo>
                  <a:pt x="899104" y="582931"/>
                </a:lnTo>
                <a:lnTo>
                  <a:pt x="881562" y="625866"/>
                </a:lnTo>
                <a:lnTo>
                  <a:pt x="859639" y="666486"/>
                </a:lnTo>
                <a:lnTo>
                  <a:pt x="833615" y="704520"/>
                </a:lnTo>
                <a:lnTo>
                  <a:pt x="803773" y="739697"/>
                </a:lnTo>
                <a:lnTo>
                  <a:pt x="770392" y="771747"/>
                </a:lnTo>
                <a:lnTo>
                  <a:pt x="733755" y="800401"/>
                </a:lnTo>
                <a:lnTo>
                  <a:pt x="694143" y="825388"/>
                </a:lnTo>
                <a:lnTo>
                  <a:pt x="651838" y="846438"/>
                </a:lnTo>
                <a:lnTo>
                  <a:pt x="607121" y="863280"/>
                </a:lnTo>
                <a:lnTo>
                  <a:pt x="560273" y="875645"/>
                </a:lnTo>
                <a:lnTo>
                  <a:pt x="511576" y="883262"/>
                </a:lnTo>
                <a:lnTo>
                  <a:pt x="461311" y="885861"/>
                </a:lnTo>
                <a:lnTo>
                  <a:pt x="411046" y="883262"/>
                </a:lnTo>
                <a:lnTo>
                  <a:pt x="362349" y="875645"/>
                </a:lnTo>
                <a:lnTo>
                  <a:pt x="315501" y="863280"/>
                </a:lnTo>
                <a:lnTo>
                  <a:pt x="270783" y="846438"/>
                </a:lnTo>
                <a:lnTo>
                  <a:pt x="228478" y="825388"/>
                </a:lnTo>
                <a:lnTo>
                  <a:pt x="188866" y="800401"/>
                </a:lnTo>
                <a:lnTo>
                  <a:pt x="152229" y="771747"/>
                </a:lnTo>
                <a:lnTo>
                  <a:pt x="118849" y="739697"/>
                </a:lnTo>
                <a:lnTo>
                  <a:pt x="89006" y="704520"/>
                </a:lnTo>
                <a:lnTo>
                  <a:pt x="62982" y="666486"/>
                </a:lnTo>
                <a:lnTo>
                  <a:pt x="41059" y="625866"/>
                </a:lnTo>
                <a:lnTo>
                  <a:pt x="23517" y="582931"/>
                </a:lnTo>
                <a:lnTo>
                  <a:pt x="10640" y="537949"/>
                </a:lnTo>
                <a:lnTo>
                  <a:pt x="2706" y="491193"/>
                </a:lnTo>
                <a:lnTo>
                  <a:pt x="0" y="44293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162138" y="5035305"/>
            <a:ext cx="27178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spc="-5" dirty="0">
                <a:solidFill>
                  <a:srgbClr val="FFFFFF"/>
                </a:solidFill>
                <a:latin typeface="Verdana"/>
                <a:cs typeface="Verdana"/>
              </a:rPr>
              <a:t>BC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257521" y="4375250"/>
            <a:ext cx="1566326" cy="1963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19600" y="4453333"/>
            <a:ext cx="1366520" cy="635"/>
          </a:xfrm>
          <a:custGeom>
            <a:avLst/>
            <a:gdLst/>
            <a:ahLst/>
            <a:cxnLst/>
            <a:rect l="l" t="t" r="r" b="b"/>
            <a:pathLst>
              <a:path w="1366520" h="635">
                <a:moveTo>
                  <a:pt x="0" y="0"/>
                </a:moveTo>
                <a:lnTo>
                  <a:pt x="19446" y="0"/>
                </a:lnTo>
                <a:lnTo>
                  <a:pt x="69324" y="0"/>
                </a:lnTo>
                <a:lnTo>
                  <a:pt x="119202" y="1"/>
                </a:lnTo>
                <a:lnTo>
                  <a:pt x="169080" y="3"/>
                </a:lnTo>
                <a:lnTo>
                  <a:pt x="218958" y="5"/>
                </a:lnTo>
                <a:lnTo>
                  <a:pt x="268835" y="7"/>
                </a:lnTo>
                <a:lnTo>
                  <a:pt x="318713" y="11"/>
                </a:lnTo>
                <a:lnTo>
                  <a:pt x="368591" y="14"/>
                </a:lnTo>
                <a:lnTo>
                  <a:pt x="418469" y="18"/>
                </a:lnTo>
                <a:lnTo>
                  <a:pt x="468347" y="22"/>
                </a:lnTo>
                <a:lnTo>
                  <a:pt x="518224" y="27"/>
                </a:lnTo>
                <a:lnTo>
                  <a:pt x="568102" y="32"/>
                </a:lnTo>
                <a:lnTo>
                  <a:pt x="617980" y="36"/>
                </a:lnTo>
                <a:lnTo>
                  <a:pt x="667858" y="41"/>
                </a:lnTo>
                <a:lnTo>
                  <a:pt x="717736" y="46"/>
                </a:lnTo>
                <a:lnTo>
                  <a:pt x="767614" y="51"/>
                </a:lnTo>
                <a:lnTo>
                  <a:pt x="817491" y="56"/>
                </a:lnTo>
                <a:lnTo>
                  <a:pt x="867369" y="61"/>
                </a:lnTo>
                <a:lnTo>
                  <a:pt x="917247" y="65"/>
                </a:lnTo>
                <a:lnTo>
                  <a:pt x="967125" y="70"/>
                </a:lnTo>
                <a:lnTo>
                  <a:pt x="1017003" y="73"/>
                </a:lnTo>
                <a:lnTo>
                  <a:pt x="1066881" y="77"/>
                </a:lnTo>
                <a:lnTo>
                  <a:pt x="1116758" y="80"/>
                </a:lnTo>
                <a:lnTo>
                  <a:pt x="1166636" y="83"/>
                </a:lnTo>
                <a:lnTo>
                  <a:pt x="1216514" y="85"/>
                </a:lnTo>
                <a:lnTo>
                  <a:pt x="1266392" y="87"/>
                </a:lnTo>
                <a:lnTo>
                  <a:pt x="1316270" y="88"/>
                </a:lnTo>
                <a:lnTo>
                  <a:pt x="1366148" y="88"/>
                </a:lnTo>
              </a:path>
            </a:pathLst>
          </a:custGeom>
          <a:ln w="38100">
            <a:solidFill>
              <a:srgbClr val="DDAE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295225" y="4393262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120141" y="0"/>
                </a:moveTo>
                <a:lnTo>
                  <a:pt x="0" y="60070"/>
                </a:lnTo>
                <a:lnTo>
                  <a:pt x="120141" y="120141"/>
                </a:lnTo>
                <a:lnTo>
                  <a:pt x="120141" y="0"/>
                </a:lnTo>
                <a:close/>
              </a:path>
            </a:pathLst>
          </a:custGeom>
          <a:solidFill>
            <a:srgbClr val="DDAE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199686" y="3983526"/>
            <a:ext cx="196342" cy="979249"/>
          </a:xfrm>
          <a:prstGeom prst="rect">
            <a:avLst/>
          </a:prstGeom>
          <a:blipFill>
            <a:blip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292849" y="4002483"/>
            <a:ext cx="0" cy="774700"/>
          </a:xfrm>
          <a:custGeom>
            <a:avLst/>
            <a:gdLst/>
            <a:ahLst/>
            <a:cxnLst/>
            <a:rect l="l" t="t" r="r" b="b"/>
            <a:pathLst>
              <a:path h="774700">
                <a:moveTo>
                  <a:pt x="0" y="0"/>
                </a:moveTo>
                <a:lnTo>
                  <a:pt x="0" y="774700"/>
                </a:lnTo>
              </a:path>
            </a:pathLst>
          </a:custGeom>
          <a:ln w="38100">
            <a:solidFill>
              <a:srgbClr val="A18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232778" y="4781416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120142" y="0"/>
                </a:moveTo>
                <a:lnTo>
                  <a:pt x="0" y="0"/>
                </a:lnTo>
                <a:lnTo>
                  <a:pt x="60071" y="120141"/>
                </a:lnTo>
                <a:lnTo>
                  <a:pt x="120142" y="0"/>
                </a:lnTo>
                <a:close/>
              </a:path>
            </a:pathLst>
          </a:custGeom>
          <a:solidFill>
            <a:srgbClr val="A189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527793" y="3795438"/>
            <a:ext cx="1360387" cy="1355427"/>
          </a:xfrm>
          <a:prstGeom prst="rect">
            <a:avLst/>
          </a:prstGeom>
          <a:blipFill>
            <a:blip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712201" y="3871893"/>
            <a:ext cx="1080135" cy="1075055"/>
          </a:xfrm>
          <a:custGeom>
            <a:avLst/>
            <a:gdLst/>
            <a:ahLst/>
            <a:cxnLst/>
            <a:rect l="l" t="t" r="r" b="b"/>
            <a:pathLst>
              <a:path w="1080134" h="1075054">
                <a:moveTo>
                  <a:pt x="0" y="1074771"/>
                </a:moveTo>
                <a:lnTo>
                  <a:pt x="13501" y="1061332"/>
                </a:lnTo>
                <a:lnTo>
                  <a:pt x="1079718" y="0"/>
                </a:lnTo>
              </a:path>
            </a:pathLst>
          </a:custGeom>
          <a:ln w="38100">
            <a:solidFill>
              <a:srgbClr val="A18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624053" y="4907077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4" h="127635">
                <a:moveTo>
                  <a:pt x="42769" y="0"/>
                </a:moveTo>
                <a:lnTo>
                  <a:pt x="0" y="127332"/>
                </a:lnTo>
                <a:lnTo>
                  <a:pt x="127527" y="85148"/>
                </a:lnTo>
                <a:lnTo>
                  <a:pt x="42769" y="0"/>
                </a:lnTo>
                <a:close/>
              </a:path>
            </a:pathLst>
          </a:custGeom>
          <a:solidFill>
            <a:srgbClr val="A189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330877" y="4078647"/>
            <a:ext cx="3092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A=2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16868" y="4370327"/>
            <a:ext cx="3092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A=2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73904" y="5057779"/>
            <a:ext cx="3092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A=2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715463" y="4946328"/>
            <a:ext cx="805815" cy="802640"/>
          </a:xfrm>
          <a:custGeom>
            <a:avLst/>
            <a:gdLst/>
            <a:ahLst/>
            <a:cxnLst/>
            <a:rect l="l" t="t" r="r" b="b"/>
            <a:pathLst>
              <a:path w="805815" h="802639">
                <a:moveTo>
                  <a:pt x="193782" y="0"/>
                </a:moveTo>
                <a:lnTo>
                  <a:pt x="0" y="195067"/>
                </a:lnTo>
                <a:lnTo>
                  <a:pt x="207580" y="401281"/>
                </a:lnTo>
                <a:lnTo>
                  <a:pt x="0" y="607495"/>
                </a:lnTo>
                <a:lnTo>
                  <a:pt x="193782" y="802562"/>
                </a:lnTo>
                <a:lnTo>
                  <a:pt x="402650" y="595069"/>
                </a:lnTo>
                <a:lnTo>
                  <a:pt x="792794" y="595069"/>
                </a:lnTo>
                <a:lnTo>
                  <a:pt x="597722" y="401281"/>
                </a:lnTo>
                <a:lnTo>
                  <a:pt x="792794" y="207493"/>
                </a:lnTo>
                <a:lnTo>
                  <a:pt x="402650" y="207493"/>
                </a:lnTo>
                <a:lnTo>
                  <a:pt x="193782" y="0"/>
                </a:lnTo>
                <a:close/>
              </a:path>
              <a:path w="805815" h="802639">
                <a:moveTo>
                  <a:pt x="792794" y="595069"/>
                </a:moveTo>
                <a:lnTo>
                  <a:pt x="402650" y="595069"/>
                </a:lnTo>
                <a:lnTo>
                  <a:pt x="611518" y="802562"/>
                </a:lnTo>
                <a:lnTo>
                  <a:pt x="805303" y="607495"/>
                </a:lnTo>
                <a:lnTo>
                  <a:pt x="792794" y="595069"/>
                </a:lnTo>
                <a:close/>
              </a:path>
              <a:path w="805815" h="802639">
                <a:moveTo>
                  <a:pt x="611518" y="0"/>
                </a:moveTo>
                <a:lnTo>
                  <a:pt x="402650" y="207493"/>
                </a:lnTo>
                <a:lnTo>
                  <a:pt x="792794" y="207493"/>
                </a:lnTo>
                <a:lnTo>
                  <a:pt x="805303" y="195067"/>
                </a:lnTo>
                <a:lnTo>
                  <a:pt x="611518" y="0"/>
                </a:lnTo>
                <a:close/>
              </a:path>
            </a:pathLst>
          </a:custGeom>
          <a:solidFill>
            <a:srgbClr val="4B3C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715463" y="4946328"/>
            <a:ext cx="805815" cy="802640"/>
          </a:xfrm>
          <a:custGeom>
            <a:avLst/>
            <a:gdLst/>
            <a:ahLst/>
            <a:cxnLst/>
            <a:rect l="l" t="t" r="r" b="b"/>
            <a:pathLst>
              <a:path w="805815" h="802639">
                <a:moveTo>
                  <a:pt x="0" y="195067"/>
                </a:moveTo>
                <a:lnTo>
                  <a:pt x="193783" y="0"/>
                </a:lnTo>
                <a:lnTo>
                  <a:pt x="402651" y="207493"/>
                </a:lnTo>
                <a:lnTo>
                  <a:pt x="611519" y="0"/>
                </a:lnTo>
                <a:lnTo>
                  <a:pt x="805302" y="195067"/>
                </a:lnTo>
                <a:lnTo>
                  <a:pt x="597722" y="401281"/>
                </a:lnTo>
                <a:lnTo>
                  <a:pt x="805302" y="607495"/>
                </a:lnTo>
                <a:lnTo>
                  <a:pt x="611519" y="802563"/>
                </a:lnTo>
                <a:lnTo>
                  <a:pt x="402651" y="595069"/>
                </a:lnTo>
                <a:lnTo>
                  <a:pt x="193783" y="802563"/>
                </a:lnTo>
                <a:lnTo>
                  <a:pt x="0" y="607495"/>
                </a:lnTo>
                <a:lnTo>
                  <a:pt x="207579" y="401281"/>
                </a:lnTo>
                <a:lnTo>
                  <a:pt x="0" y="195067"/>
                </a:lnTo>
                <a:close/>
              </a:path>
            </a:pathLst>
          </a:custGeom>
          <a:ln w="25400">
            <a:solidFill>
              <a:srgbClr val="372C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413144" y="3890589"/>
            <a:ext cx="1369060" cy="45465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358140">
              <a:lnSpc>
                <a:spcPct val="101200"/>
              </a:lnSpc>
              <a:spcBef>
                <a:spcPts val="80"/>
              </a:spcBef>
            </a:pPr>
            <a:r>
              <a:rPr sz="1400" spc="-10" dirty="0">
                <a:latin typeface="Verdana"/>
                <a:cs typeface="Verdana"/>
              </a:rPr>
              <a:t>Read </a:t>
            </a:r>
            <a:r>
              <a:rPr sz="1400" dirty="0">
                <a:latin typeface="Verdana"/>
                <a:cs typeface="Verdana"/>
              </a:rPr>
              <a:t>A  (C</a:t>
            </a:r>
            <a:r>
              <a:rPr sz="1400" spc="-5" dirty="0">
                <a:latin typeface="Verdana"/>
                <a:cs typeface="Verdana"/>
              </a:rPr>
              <a:t>L=QUORUM)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277109" y="4297283"/>
            <a:ext cx="1641213" cy="1052368"/>
          </a:xfrm>
          <a:prstGeom prst="rect">
            <a:avLst/>
          </a:prstGeom>
          <a:blipFill>
            <a:blip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358886" y="4381424"/>
            <a:ext cx="1369695" cy="782955"/>
          </a:xfrm>
          <a:custGeom>
            <a:avLst/>
            <a:gdLst/>
            <a:ahLst/>
            <a:cxnLst/>
            <a:rect l="l" t="t" r="r" b="b"/>
            <a:pathLst>
              <a:path w="1369695" h="782954">
                <a:moveTo>
                  <a:pt x="0" y="0"/>
                </a:moveTo>
                <a:lnTo>
                  <a:pt x="1353121" y="772945"/>
                </a:lnTo>
                <a:lnTo>
                  <a:pt x="1369662" y="782394"/>
                </a:lnTo>
              </a:path>
            </a:pathLst>
          </a:custGeom>
          <a:ln w="38099">
            <a:solidFill>
              <a:srgbClr val="DDAE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702429" y="5113757"/>
            <a:ext cx="134620" cy="111760"/>
          </a:xfrm>
          <a:custGeom>
            <a:avLst/>
            <a:gdLst/>
            <a:ahLst/>
            <a:cxnLst/>
            <a:rect l="l" t="t" r="r" b="b"/>
            <a:pathLst>
              <a:path w="134620" h="111760">
                <a:moveTo>
                  <a:pt x="59590" y="0"/>
                </a:moveTo>
                <a:lnTo>
                  <a:pt x="0" y="104321"/>
                </a:lnTo>
                <a:lnTo>
                  <a:pt x="134117" y="111752"/>
                </a:lnTo>
                <a:lnTo>
                  <a:pt x="59590" y="0"/>
                </a:lnTo>
                <a:close/>
              </a:path>
            </a:pathLst>
          </a:custGeom>
          <a:solidFill>
            <a:srgbClr val="DDAE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Slide Number Placeholder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dirty="0"/>
              <a:t>Writes </a:t>
            </a:r>
            <a:r>
              <a:rPr lang="en-US" spc="-5" dirty="0"/>
              <a:t>in the</a:t>
            </a:r>
            <a:r>
              <a:rPr lang="en-US" spc="-55" dirty="0"/>
              <a:t> </a:t>
            </a:r>
            <a:r>
              <a:rPr lang="en-US" spc="-5" dirty="0"/>
              <a:t>cluster</a:t>
            </a:r>
            <a:endParaRPr 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444500" y="1976532"/>
            <a:ext cx="99060" cy="687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Arial"/>
                <a:cs typeface="Arial"/>
              </a:rPr>
              <a:t>•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650" dirty="0">
                <a:latin typeface="Arial"/>
                <a:cs typeface="Arial"/>
              </a:rPr>
              <a:t>•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0087" y="1871977"/>
            <a:ext cx="7181215" cy="118872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200" spc="-5" dirty="0">
                <a:latin typeface="Verdana"/>
                <a:cs typeface="Verdana"/>
              </a:rPr>
              <a:t>Fully distributed, no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SPOF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02299"/>
              </a:lnSpc>
              <a:spcBef>
                <a:spcPts val="525"/>
              </a:spcBef>
            </a:pPr>
            <a:r>
              <a:rPr sz="2200" spc="-5" dirty="0">
                <a:latin typeface="Verdana"/>
                <a:cs typeface="Verdana"/>
              </a:rPr>
              <a:t>Node that receives </a:t>
            </a:r>
            <a:r>
              <a:rPr sz="2200" dirty="0">
                <a:latin typeface="Verdana"/>
                <a:cs typeface="Verdana"/>
              </a:rPr>
              <a:t>a </a:t>
            </a:r>
            <a:r>
              <a:rPr sz="2200" spc="-5" dirty="0">
                <a:latin typeface="Verdana"/>
                <a:cs typeface="Verdana"/>
              </a:rPr>
              <a:t>request is the Coordinator for  request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3139344"/>
            <a:ext cx="9906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Arial"/>
                <a:cs typeface="Arial"/>
              </a:rPr>
              <a:t>•</a:t>
            </a:r>
            <a:endParaRPr sz="16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0087" y="3109465"/>
            <a:ext cx="460883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latin typeface="Verdana"/>
                <a:cs typeface="Verdana"/>
              </a:rPr>
              <a:t>Any </a:t>
            </a:r>
            <a:r>
              <a:rPr sz="2200" spc="-5" dirty="0">
                <a:latin typeface="Verdana"/>
                <a:cs typeface="Verdana"/>
              </a:rPr>
              <a:t>node can </a:t>
            </a:r>
            <a:r>
              <a:rPr sz="2200" dirty="0">
                <a:latin typeface="Verdana"/>
                <a:cs typeface="Verdana"/>
              </a:rPr>
              <a:t>act as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Coordinator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40200" y="3827766"/>
            <a:ext cx="1155700" cy="520700"/>
          </a:xfrm>
          <a:prstGeom prst="rect">
            <a:avLst/>
          </a:prstGeom>
          <a:solidFill>
            <a:srgbClr val="DDAE54"/>
          </a:solidFill>
          <a:ln w="25400">
            <a:solidFill>
              <a:srgbClr val="A17F3D"/>
            </a:solidFill>
          </a:ln>
        </p:spPr>
        <p:txBody>
          <a:bodyPr vert="horz" wrap="square" lIns="0" tIns="119380" rIns="0" bIns="0" rtlCol="0">
            <a:spAutoFit/>
          </a:bodyPr>
          <a:lstStyle/>
          <a:p>
            <a:pPr marL="281305">
              <a:lnSpc>
                <a:spcPct val="100000"/>
              </a:lnSpc>
              <a:spcBef>
                <a:spcPts val="940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Client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351765" y="3212992"/>
            <a:ext cx="1869439" cy="1824355"/>
          </a:xfrm>
          <a:custGeom>
            <a:avLst/>
            <a:gdLst/>
            <a:ahLst/>
            <a:cxnLst/>
            <a:rect l="l" t="t" r="r" b="b"/>
            <a:pathLst>
              <a:path w="1869440" h="1824354">
                <a:moveTo>
                  <a:pt x="1595656" y="267143"/>
                </a:moveTo>
                <a:lnTo>
                  <a:pt x="1629848" y="302289"/>
                </a:lnTo>
                <a:lnTo>
                  <a:pt x="1661761" y="338728"/>
                </a:lnTo>
                <a:lnTo>
                  <a:pt x="1691394" y="376370"/>
                </a:lnTo>
                <a:lnTo>
                  <a:pt x="1718747" y="415127"/>
                </a:lnTo>
                <a:lnTo>
                  <a:pt x="1743821" y="454909"/>
                </a:lnTo>
                <a:lnTo>
                  <a:pt x="1766616" y="495626"/>
                </a:lnTo>
                <a:lnTo>
                  <a:pt x="1787131" y="537191"/>
                </a:lnTo>
                <a:lnTo>
                  <a:pt x="1805366" y="579513"/>
                </a:lnTo>
                <a:lnTo>
                  <a:pt x="1821323" y="622504"/>
                </a:lnTo>
                <a:lnTo>
                  <a:pt x="1834999" y="666075"/>
                </a:lnTo>
                <a:lnTo>
                  <a:pt x="1846397" y="710135"/>
                </a:lnTo>
                <a:lnTo>
                  <a:pt x="1855515" y="754597"/>
                </a:lnTo>
                <a:lnTo>
                  <a:pt x="1862353" y="799371"/>
                </a:lnTo>
                <a:lnTo>
                  <a:pt x="1866912" y="844368"/>
                </a:lnTo>
                <a:lnTo>
                  <a:pt x="1869191" y="889498"/>
                </a:lnTo>
                <a:lnTo>
                  <a:pt x="1869191" y="934673"/>
                </a:lnTo>
                <a:lnTo>
                  <a:pt x="1866912" y="979803"/>
                </a:lnTo>
                <a:lnTo>
                  <a:pt x="1862353" y="1024800"/>
                </a:lnTo>
                <a:lnTo>
                  <a:pt x="1855515" y="1069574"/>
                </a:lnTo>
                <a:lnTo>
                  <a:pt x="1846397" y="1114036"/>
                </a:lnTo>
                <a:lnTo>
                  <a:pt x="1834999" y="1158096"/>
                </a:lnTo>
                <a:lnTo>
                  <a:pt x="1821323" y="1201666"/>
                </a:lnTo>
                <a:lnTo>
                  <a:pt x="1805366" y="1244657"/>
                </a:lnTo>
                <a:lnTo>
                  <a:pt x="1787131" y="1286980"/>
                </a:lnTo>
                <a:lnTo>
                  <a:pt x="1766616" y="1328544"/>
                </a:lnTo>
                <a:lnTo>
                  <a:pt x="1743821" y="1369262"/>
                </a:lnTo>
                <a:lnTo>
                  <a:pt x="1718747" y="1409044"/>
                </a:lnTo>
                <a:lnTo>
                  <a:pt x="1691394" y="1447800"/>
                </a:lnTo>
                <a:lnTo>
                  <a:pt x="1661761" y="1485442"/>
                </a:lnTo>
                <a:lnTo>
                  <a:pt x="1629848" y="1521881"/>
                </a:lnTo>
                <a:lnTo>
                  <a:pt x="1595656" y="1557027"/>
                </a:lnTo>
                <a:lnTo>
                  <a:pt x="1560778" y="1589377"/>
                </a:lnTo>
                <a:lnTo>
                  <a:pt x="1524654" y="1619639"/>
                </a:lnTo>
                <a:lnTo>
                  <a:pt x="1487366" y="1647814"/>
                </a:lnTo>
                <a:lnTo>
                  <a:pt x="1448999" y="1673903"/>
                </a:lnTo>
                <a:lnTo>
                  <a:pt x="1409635" y="1697904"/>
                </a:lnTo>
                <a:lnTo>
                  <a:pt x="1369357" y="1719818"/>
                </a:lnTo>
                <a:lnTo>
                  <a:pt x="1328248" y="1739645"/>
                </a:lnTo>
                <a:lnTo>
                  <a:pt x="1286392" y="1757385"/>
                </a:lnTo>
                <a:lnTo>
                  <a:pt x="1243871" y="1773038"/>
                </a:lnTo>
                <a:lnTo>
                  <a:pt x="1200769" y="1786604"/>
                </a:lnTo>
                <a:lnTo>
                  <a:pt x="1157168" y="1798083"/>
                </a:lnTo>
                <a:lnTo>
                  <a:pt x="1113152" y="1807475"/>
                </a:lnTo>
                <a:lnTo>
                  <a:pt x="1068804" y="1814779"/>
                </a:lnTo>
                <a:lnTo>
                  <a:pt x="1024206" y="1819997"/>
                </a:lnTo>
                <a:lnTo>
                  <a:pt x="979442" y="1823127"/>
                </a:lnTo>
                <a:lnTo>
                  <a:pt x="934596" y="1824171"/>
                </a:lnTo>
                <a:lnTo>
                  <a:pt x="889749" y="1823127"/>
                </a:lnTo>
                <a:lnTo>
                  <a:pt x="844985" y="1819997"/>
                </a:lnTo>
                <a:lnTo>
                  <a:pt x="800387" y="1814779"/>
                </a:lnTo>
                <a:lnTo>
                  <a:pt x="756039" y="1807475"/>
                </a:lnTo>
                <a:lnTo>
                  <a:pt x="712023" y="1798083"/>
                </a:lnTo>
                <a:lnTo>
                  <a:pt x="668422" y="1786604"/>
                </a:lnTo>
                <a:lnTo>
                  <a:pt x="625320" y="1773038"/>
                </a:lnTo>
                <a:lnTo>
                  <a:pt x="582799" y="1757385"/>
                </a:lnTo>
                <a:lnTo>
                  <a:pt x="540943" y="1739645"/>
                </a:lnTo>
                <a:lnTo>
                  <a:pt x="499834" y="1719818"/>
                </a:lnTo>
                <a:lnTo>
                  <a:pt x="459556" y="1697904"/>
                </a:lnTo>
                <a:lnTo>
                  <a:pt x="420192" y="1673903"/>
                </a:lnTo>
                <a:lnTo>
                  <a:pt x="381825" y="1647814"/>
                </a:lnTo>
                <a:lnTo>
                  <a:pt x="344537" y="1619639"/>
                </a:lnTo>
                <a:lnTo>
                  <a:pt x="308413" y="1589377"/>
                </a:lnTo>
                <a:lnTo>
                  <a:pt x="273535" y="1557027"/>
                </a:lnTo>
                <a:lnTo>
                  <a:pt x="239343" y="1521881"/>
                </a:lnTo>
                <a:lnTo>
                  <a:pt x="207430" y="1485442"/>
                </a:lnTo>
                <a:lnTo>
                  <a:pt x="177797" y="1447800"/>
                </a:lnTo>
                <a:lnTo>
                  <a:pt x="150444" y="1409044"/>
                </a:lnTo>
                <a:lnTo>
                  <a:pt x="125370" y="1369262"/>
                </a:lnTo>
                <a:lnTo>
                  <a:pt x="102575" y="1328544"/>
                </a:lnTo>
                <a:lnTo>
                  <a:pt x="82060" y="1286980"/>
                </a:lnTo>
                <a:lnTo>
                  <a:pt x="63824" y="1244657"/>
                </a:lnTo>
                <a:lnTo>
                  <a:pt x="47868" y="1201666"/>
                </a:lnTo>
                <a:lnTo>
                  <a:pt x="34191" y="1158096"/>
                </a:lnTo>
                <a:lnTo>
                  <a:pt x="22794" y="1114036"/>
                </a:lnTo>
                <a:lnTo>
                  <a:pt x="13676" y="1069574"/>
                </a:lnTo>
                <a:lnTo>
                  <a:pt x="6838" y="1024800"/>
                </a:lnTo>
                <a:lnTo>
                  <a:pt x="2279" y="979803"/>
                </a:lnTo>
                <a:lnTo>
                  <a:pt x="0" y="934673"/>
                </a:lnTo>
                <a:lnTo>
                  <a:pt x="0" y="889498"/>
                </a:lnTo>
                <a:lnTo>
                  <a:pt x="2279" y="844368"/>
                </a:lnTo>
                <a:lnTo>
                  <a:pt x="6838" y="799371"/>
                </a:lnTo>
                <a:lnTo>
                  <a:pt x="13676" y="754597"/>
                </a:lnTo>
                <a:lnTo>
                  <a:pt x="22794" y="710135"/>
                </a:lnTo>
                <a:lnTo>
                  <a:pt x="34191" y="666075"/>
                </a:lnTo>
                <a:lnTo>
                  <a:pt x="47868" y="622504"/>
                </a:lnTo>
                <a:lnTo>
                  <a:pt x="63824" y="579513"/>
                </a:lnTo>
                <a:lnTo>
                  <a:pt x="82060" y="537191"/>
                </a:lnTo>
                <a:lnTo>
                  <a:pt x="102575" y="495626"/>
                </a:lnTo>
                <a:lnTo>
                  <a:pt x="125370" y="454909"/>
                </a:lnTo>
                <a:lnTo>
                  <a:pt x="150444" y="415127"/>
                </a:lnTo>
                <a:lnTo>
                  <a:pt x="177797" y="376370"/>
                </a:lnTo>
                <a:lnTo>
                  <a:pt x="207430" y="338728"/>
                </a:lnTo>
                <a:lnTo>
                  <a:pt x="239343" y="302289"/>
                </a:lnTo>
                <a:lnTo>
                  <a:pt x="273535" y="267143"/>
                </a:lnTo>
                <a:lnTo>
                  <a:pt x="308413" y="234794"/>
                </a:lnTo>
                <a:lnTo>
                  <a:pt x="344537" y="204531"/>
                </a:lnTo>
                <a:lnTo>
                  <a:pt x="381825" y="176356"/>
                </a:lnTo>
                <a:lnTo>
                  <a:pt x="420192" y="150268"/>
                </a:lnTo>
                <a:lnTo>
                  <a:pt x="459556" y="126267"/>
                </a:lnTo>
                <a:lnTo>
                  <a:pt x="499834" y="104353"/>
                </a:lnTo>
                <a:lnTo>
                  <a:pt x="540943" y="84525"/>
                </a:lnTo>
                <a:lnTo>
                  <a:pt x="582799" y="66785"/>
                </a:lnTo>
                <a:lnTo>
                  <a:pt x="625320" y="51132"/>
                </a:lnTo>
                <a:lnTo>
                  <a:pt x="668422" y="37567"/>
                </a:lnTo>
                <a:lnTo>
                  <a:pt x="712023" y="26088"/>
                </a:lnTo>
                <a:lnTo>
                  <a:pt x="756039" y="16696"/>
                </a:lnTo>
                <a:lnTo>
                  <a:pt x="800387" y="9391"/>
                </a:lnTo>
                <a:lnTo>
                  <a:pt x="844985" y="4174"/>
                </a:lnTo>
                <a:lnTo>
                  <a:pt x="889749" y="1043"/>
                </a:lnTo>
                <a:lnTo>
                  <a:pt x="934596" y="0"/>
                </a:lnTo>
                <a:lnTo>
                  <a:pt x="979442" y="1043"/>
                </a:lnTo>
                <a:lnTo>
                  <a:pt x="1024206" y="4174"/>
                </a:lnTo>
                <a:lnTo>
                  <a:pt x="1068804" y="9391"/>
                </a:lnTo>
                <a:lnTo>
                  <a:pt x="1113152" y="16696"/>
                </a:lnTo>
                <a:lnTo>
                  <a:pt x="1157168" y="26088"/>
                </a:lnTo>
                <a:lnTo>
                  <a:pt x="1200769" y="37567"/>
                </a:lnTo>
                <a:lnTo>
                  <a:pt x="1243871" y="51132"/>
                </a:lnTo>
                <a:lnTo>
                  <a:pt x="1286392" y="66785"/>
                </a:lnTo>
                <a:lnTo>
                  <a:pt x="1328248" y="84525"/>
                </a:lnTo>
                <a:lnTo>
                  <a:pt x="1369357" y="104353"/>
                </a:lnTo>
                <a:lnTo>
                  <a:pt x="1409635" y="126267"/>
                </a:lnTo>
                <a:lnTo>
                  <a:pt x="1448999" y="150268"/>
                </a:lnTo>
                <a:lnTo>
                  <a:pt x="1487366" y="176356"/>
                </a:lnTo>
                <a:lnTo>
                  <a:pt x="1524654" y="204531"/>
                </a:lnTo>
                <a:lnTo>
                  <a:pt x="1560778" y="234794"/>
                </a:lnTo>
                <a:lnTo>
                  <a:pt x="1595656" y="267143"/>
                </a:lnTo>
                <a:close/>
              </a:path>
            </a:pathLst>
          </a:custGeom>
          <a:ln w="101600">
            <a:solidFill>
              <a:srgbClr val="1F49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70910" y="2994708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8"/>
                </a:lnTo>
                <a:lnTo>
                  <a:pt x="118531" y="145773"/>
                </a:lnTo>
                <a:lnTo>
                  <a:pt x="88768" y="180856"/>
                </a:lnTo>
                <a:lnTo>
                  <a:pt x="62814" y="218788"/>
                </a:lnTo>
                <a:lnTo>
                  <a:pt x="40949" y="259299"/>
                </a:lnTo>
                <a:lnTo>
                  <a:pt x="23455" y="302120"/>
                </a:lnTo>
                <a:lnTo>
                  <a:pt x="10611" y="346981"/>
                </a:lnTo>
                <a:lnTo>
                  <a:pt x="2699" y="393613"/>
                </a:lnTo>
                <a:lnTo>
                  <a:pt x="0" y="441746"/>
                </a:lnTo>
                <a:lnTo>
                  <a:pt x="2699" y="489879"/>
                </a:lnTo>
                <a:lnTo>
                  <a:pt x="10611" y="536511"/>
                </a:lnTo>
                <a:lnTo>
                  <a:pt x="23455" y="581373"/>
                </a:lnTo>
                <a:lnTo>
                  <a:pt x="40949" y="624193"/>
                </a:lnTo>
                <a:lnTo>
                  <a:pt x="62814" y="664705"/>
                </a:lnTo>
                <a:lnTo>
                  <a:pt x="88768" y="702636"/>
                </a:lnTo>
                <a:lnTo>
                  <a:pt x="118531" y="737719"/>
                </a:lnTo>
                <a:lnTo>
                  <a:pt x="151822" y="769684"/>
                </a:lnTo>
                <a:lnTo>
                  <a:pt x="188361" y="798262"/>
                </a:lnTo>
                <a:lnTo>
                  <a:pt x="227867" y="823182"/>
                </a:lnTo>
                <a:lnTo>
                  <a:pt x="270059" y="844175"/>
                </a:lnTo>
                <a:lnTo>
                  <a:pt x="314657" y="860972"/>
                </a:lnTo>
                <a:lnTo>
                  <a:pt x="361380" y="873304"/>
                </a:lnTo>
                <a:lnTo>
                  <a:pt x="409947" y="880901"/>
                </a:lnTo>
                <a:lnTo>
                  <a:pt x="460077" y="883493"/>
                </a:lnTo>
                <a:lnTo>
                  <a:pt x="510208" y="880901"/>
                </a:lnTo>
                <a:lnTo>
                  <a:pt x="558775" y="873304"/>
                </a:lnTo>
                <a:lnTo>
                  <a:pt x="605498" y="860972"/>
                </a:lnTo>
                <a:lnTo>
                  <a:pt x="650095" y="844175"/>
                </a:lnTo>
                <a:lnTo>
                  <a:pt x="692288" y="823182"/>
                </a:lnTo>
                <a:lnTo>
                  <a:pt x="731794" y="798262"/>
                </a:lnTo>
                <a:lnTo>
                  <a:pt x="768333" y="769684"/>
                </a:lnTo>
                <a:lnTo>
                  <a:pt x="801624" y="737719"/>
                </a:lnTo>
                <a:lnTo>
                  <a:pt x="831388" y="702636"/>
                </a:lnTo>
                <a:lnTo>
                  <a:pt x="857342" y="664705"/>
                </a:lnTo>
                <a:lnTo>
                  <a:pt x="879207" y="624193"/>
                </a:lnTo>
                <a:lnTo>
                  <a:pt x="896701" y="581373"/>
                </a:lnTo>
                <a:lnTo>
                  <a:pt x="909545" y="536511"/>
                </a:lnTo>
                <a:lnTo>
                  <a:pt x="917457" y="489879"/>
                </a:lnTo>
                <a:lnTo>
                  <a:pt x="920156" y="441746"/>
                </a:lnTo>
                <a:lnTo>
                  <a:pt x="917457" y="393613"/>
                </a:lnTo>
                <a:lnTo>
                  <a:pt x="909545" y="346981"/>
                </a:lnTo>
                <a:lnTo>
                  <a:pt x="896701" y="302120"/>
                </a:lnTo>
                <a:lnTo>
                  <a:pt x="879207" y="259299"/>
                </a:lnTo>
                <a:lnTo>
                  <a:pt x="857342" y="218788"/>
                </a:lnTo>
                <a:lnTo>
                  <a:pt x="831388" y="180856"/>
                </a:lnTo>
                <a:lnTo>
                  <a:pt x="801624" y="145773"/>
                </a:lnTo>
                <a:lnTo>
                  <a:pt x="768333" y="113808"/>
                </a:lnTo>
                <a:lnTo>
                  <a:pt x="731794" y="85231"/>
                </a:lnTo>
                <a:lnTo>
                  <a:pt x="692288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70910" y="2994708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889019" y="3125055"/>
            <a:ext cx="28448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AD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570910" y="4273460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8"/>
                </a:lnTo>
                <a:lnTo>
                  <a:pt x="118531" y="145773"/>
                </a:lnTo>
                <a:lnTo>
                  <a:pt x="88768" y="180857"/>
                </a:lnTo>
                <a:lnTo>
                  <a:pt x="62814" y="218788"/>
                </a:lnTo>
                <a:lnTo>
                  <a:pt x="40949" y="259299"/>
                </a:lnTo>
                <a:lnTo>
                  <a:pt x="23455" y="302120"/>
                </a:lnTo>
                <a:lnTo>
                  <a:pt x="10611" y="346981"/>
                </a:lnTo>
                <a:lnTo>
                  <a:pt x="2699" y="393613"/>
                </a:lnTo>
                <a:lnTo>
                  <a:pt x="0" y="441746"/>
                </a:lnTo>
                <a:lnTo>
                  <a:pt x="2699" y="489880"/>
                </a:lnTo>
                <a:lnTo>
                  <a:pt x="10611" y="536511"/>
                </a:lnTo>
                <a:lnTo>
                  <a:pt x="23455" y="581373"/>
                </a:lnTo>
                <a:lnTo>
                  <a:pt x="40949" y="624193"/>
                </a:lnTo>
                <a:lnTo>
                  <a:pt x="62814" y="664705"/>
                </a:lnTo>
                <a:lnTo>
                  <a:pt x="88768" y="702636"/>
                </a:lnTo>
                <a:lnTo>
                  <a:pt x="118531" y="737720"/>
                </a:lnTo>
                <a:lnTo>
                  <a:pt x="151822" y="769685"/>
                </a:lnTo>
                <a:lnTo>
                  <a:pt x="188361" y="798262"/>
                </a:lnTo>
                <a:lnTo>
                  <a:pt x="227867" y="823182"/>
                </a:lnTo>
                <a:lnTo>
                  <a:pt x="270059" y="844175"/>
                </a:lnTo>
                <a:lnTo>
                  <a:pt x="314657" y="860973"/>
                </a:lnTo>
                <a:lnTo>
                  <a:pt x="361380" y="873305"/>
                </a:lnTo>
                <a:lnTo>
                  <a:pt x="409947" y="880901"/>
                </a:lnTo>
                <a:lnTo>
                  <a:pt x="460077" y="883493"/>
                </a:lnTo>
                <a:lnTo>
                  <a:pt x="510208" y="880901"/>
                </a:lnTo>
                <a:lnTo>
                  <a:pt x="558775" y="873305"/>
                </a:lnTo>
                <a:lnTo>
                  <a:pt x="605498" y="860973"/>
                </a:lnTo>
                <a:lnTo>
                  <a:pt x="650095" y="844175"/>
                </a:lnTo>
                <a:lnTo>
                  <a:pt x="692288" y="823182"/>
                </a:lnTo>
                <a:lnTo>
                  <a:pt x="731794" y="798262"/>
                </a:lnTo>
                <a:lnTo>
                  <a:pt x="768333" y="769685"/>
                </a:lnTo>
                <a:lnTo>
                  <a:pt x="801624" y="737720"/>
                </a:lnTo>
                <a:lnTo>
                  <a:pt x="831388" y="702636"/>
                </a:lnTo>
                <a:lnTo>
                  <a:pt x="857342" y="664705"/>
                </a:lnTo>
                <a:lnTo>
                  <a:pt x="879207" y="624193"/>
                </a:lnTo>
                <a:lnTo>
                  <a:pt x="896701" y="581373"/>
                </a:lnTo>
                <a:lnTo>
                  <a:pt x="909545" y="536511"/>
                </a:lnTo>
                <a:lnTo>
                  <a:pt x="917457" y="489880"/>
                </a:lnTo>
                <a:lnTo>
                  <a:pt x="920156" y="441746"/>
                </a:lnTo>
                <a:lnTo>
                  <a:pt x="917457" y="393613"/>
                </a:lnTo>
                <a:lnTo>
                  <a:pt x="909545" y="346981"/>
                </a:lnTo>
                <a:lnTo>
                  <a:pt x="896701" y="302120"/>
                </a:lnTo>
                <a:lnTo>
                  <a:pt x="879207" y="259299"/>
                </a:lnTo>
                <a:lnTo>
                  <a:pt x="857342" y="218788"/>
                </a:lnTo>
                <a:lnTo>
                  <a:pt x="831388" y="180857"/>
                </a:lnTo>
                <a:lnTo>
                  <a:pt x="801624" y="145773"/>
                </a:lnTo>
                <a:lnTo>
                  <a:pt x="768333" y="113808"/>
                </a:lnTo>
                <a:lnTo>
                  <a:pt x="731794" y="85231"/>
                </a:lnTo>
                <a:lnTo>
                  <a:pt x="692288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570910" y="4273460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896571" y="4403809"/>
            <a:ext cx="26924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AB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112518" y="2994708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8"/>
                </a:lnTo>
                <a:lnTo>
                  <a:pt x="118531" y="145773"/>
                </a:lnTo>
                <a:lnTo>
                  <a:pt x="88768" y="180856"/>
                </a:lnTo>
                <a:lnTo>
                  <a:pt x="62814" y="218788"/>
                </a:lnTo>
                <a:lnTo>
                  <a:pt x="40949" y="259299"/>
                </a:lnTo>
                <a:lnTo>
                  <a:pt x="23455" y="302120"/>
                </a:lnTo>
                <a:lnTo>
                  <a:pt x="10611" y="346981"/>
                </a:lnTo>
                <a:lnTo>
                  <a:pt x="2699" y="393613"/>
                </a:lnTo>
                <a:lnTo>
                  <a:pt x="0" y="441746"/>
                </a:lnTo>
                <a:lnTo>
                  <a:pt x="2699" y="489879"/>
                </a:lnTo>
                <a:lnTo>
                  <a:pt x="10611" y="536511"/>
                </a:lnTo>
                <a:lnTo>
                  <a:pt x="23455" y="581373"/>
                </a:lnTo>
                <a:lnTo>
                  <a:pt x="40949" y="624193"/>
                </a:lnTo>
                <a:lnTo>
                  <a:pt x="62814" y="664705"/>
                </a:lnTo>
                <a:lnTo>
                  <a:pt x="88768" y="702636"/>
                </a:lnTo>
                <a:lnTo>
                  <a:pt x="118531" y="737719"/>
                </a:lnTo>
                <a:lnTo>
                  <a:pt x="151822" y="769684"/>
                </a:lnTo>
                <a:lnTo>
                  <a:pt x="188361" y="798262"/>
                </a:lnTo>
                <a:lnTo>
                  <a:pt x="227867" y="823182"/>
                </a:lnTo>
                <a:lnTo>
                  <a:pt x="270059" y="844175"/>
                </a:lnTo>
                <a:lnTo>
                  <a:pt x="314657" y="860972"/>
                </a:lnTo>
                <a:lnTo>
                  <a:pt x="361380" y="873304"/>
                </a:lnTo>
                <a:lnTo>
                  <a:pt x="409947" y="880901"/>
                </a:lnTo>
                <a:lnTo>
                  <a:pt x="460077" y="883493"/>
                </a:lnTo>
                <a:lnTo>
                  <a:pt x="510208" y="880901"/>
                </a:lnTo>
                <a:lnTo>
                  <a:pt x="558775" y="873304"/>
                </a:lnTo>
                <a:lnTo>
                  <a:pt x="605498" y="860972"/>
                </a:lnTo>
                <a:lnTo>
                  <a:pt x="650095" y="844175"/>
                </a:lnTo>
                <a:lnTo>
                  <a:pt x="692287" y="823182"/>
                </a:lnTo>
                <a:lnTo>
                  <a:pt x="731793" y="798262"/>
                </a:lnTo>
                <a:lnTo>
                  <a:pt x="768332" y="769684"/>
                </a:lnTo>
                <a:lnTo>
                  <a:pt x="801624" y="737719"/>
                </a:lnTo>
                <a:lnTo>
                  <a:pt x="831387" y="702636"/>
                </a:lnTo>
                <a:lnTo>
                  <a:pt x="857341" y="664705"/>
                </a:lnTo>
                <a:lnTo>
                  <a:pt x="879206" y="624193"/>
                </a:lnTo>
                <a:lnTo>
                  <a:pt x="896700" y="581373"/>
                </a:lnTo>
                <a:lnTo>
                  <a:pt x="909544" y="536511"/>
                </a:lnTo>
                <a:lnTo>
                  <a:pt x="917455" y="489879"/>
                </a:lnTo>
                <a:lnTo>
                  <a:pt x="920155" y="441746"/>
                </a:lnTo>
                <a:lnTo>
                  <a:pt x="917455" y="393613"/>
                </a:lnTo>
                <a:lnTo>
                  <a:pt x="909544" y="346981"/>
                </a:lnTo>
                <a:lnTo>
                  <a:pt x="896700" y="302120"/>
                </a:lnTo>
                <a:lnTo>
                  <a:pt x="879206" y="259299"/>
                </a:lnTo>
                <a:lnTo>
                  <a:pt x="857341" y="218788"/>
                </a:lnTo>
                <a:lnTo>
                  <a:pt x="831387" y="180856"/>
                </a:lnTo>
                <a:lnTo>
                  <a:pt x="801624" y="145773"/>
                </a:lnTo>
                <a:lnTo>
                  <a:pt x="768332" y="113808"/>
                </a:lnTo>
                <a:lnTo>
                  <a:pt x="731793" y="85231"/>
                </a:lnTo>
                <a:lnTo>
                  <a:pt x="692287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12518" y="2994708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429324" y="3125055"/>
            <a:ext cx="28702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spc="-5" dirty="0">
                <a:solidFill>
                  <a:srgbClr val="FFFFFF"/>
                </a:solidFill>
                <a:latin typeface="Verdana"/>
                <a:cs typeface="Verdana"/>
              </a:rPr>
              <a:t>CD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112517" y="4273462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8"/>
                </a:lnTo>
                <a:lnTo>
                  <a:pt x="118531" y="145773"/>
                </a:lnTo>
                <a:lnTo>
                  <a:pt x="88768" y="180856"/>
                </a:lnTo>
                <a:lnTo>
                  <a:pt x="62814" y="218788"/>
                </a:lnTo>
                <a:lnTo>
                  <a:pt x="40949" y="259299"/>
                </a:lnTo>
                <a:lnTo>
                  <a:pt x="23455" y="302120"/>
                </a:lnTo>
                <a:lnTo>
                  <a:pt x="10611" y="346981"/>
                </a:lnTo>
                <a:lnTo>
                  <a:pt x="2699" y="393613"/>
                </a:lnTo>
                <a:lnTo>
                  <a:pt x="0" y="441746"/>
                </a:lnTo>
                <a:lnTo>
                  <a:pt x="2699" y="489879"/>
                </a:lnTo>
                <a:lnTo>
                  <a:pt x="10611" y="536511"/>
                </a:lnTo>
                <a:lnTo>
                  <a:pt x="23455" y="581372"/>
                </a:lnTo>
                <a:lnTo>
                  <a:pt x="40949" y="624193"/>
                </a:lnTo>
                <a:lnTo>
                  <a:pt x="62814" y="664704"/>
                </a:lnTo>
                <a:lnTo>
                  <a:pt x="88768" y="702636"/>
                </a:lnTo>
                <a:lnTo>
                  <a:pt x="118531" y="737719"/>
                </a:lnTo>
                <a:lnTo>
                  <a:pt x="151822" y="769684"/>
                </a:lnTo>
                <a:lnTo>
                  <a:pt x="188361" y="798262"/>
                </a:lnTo>
                <a:lnTo>
                  <a:pt x="227867" y="823182"/>
                </a:lnTo>
                <a:lnTo>
                  <a:pt x="270059" y="844175"/>
                </a:lnTo>
                <a:lnTo>
                  <a:pt x="314657" y="860972"/>
                </a:lnTo>
                <a:lnTo>
                  <a:pt x="361380" y="873304"/>
                </a:lnTo>
                <a:lnTo>
                  <a:pt x="409947" y="880901"/>
                </a:lnTo>
                <a:lnTo>
                  <a:pt x="460077" y="883493"/>
                </a:lnTo>
                <a:lnTo>
                  <a:pt x="510208" y="880901"/>
                </a:lnTo>
                <a:lnTo>
                  <a:pt x="558775" y="873304"/>
                </a:lnTo>
                <a:lnTo>
                  <a:pt x="605498" y="860972"/>
                </a:lnTo>
                <a:lnTo>
                  <a:pt x="650095" y="844175"/>
                </a:lnTo>
                <a:lnTo>
                  <a:pt x="692288" y="823182"/>
                </a:lnTo>
                <a:lnTo>
                  <a:pt x="731794" y="798262"/>
                </a:lnTo>
                <a:lnTo>
                  <a:pt x="768333" y="769684"/>
                </a:lnTo>
                <a:lnTo>
                  <a:pt x="801624" y="737719"/>
                </a:lnTo>
                <a:lnTo>
                  <a:pt x="831388" y="702636"/>
                </a:lnTo>
                <a:lnTo>
                  <a:pt x="857342" y="664704"/>
                </a:lnTo>
                <a:lnTo>
                  <a:pt x="879207" y="624193"/>
                </a:lnTo>
                <a:lnTo>
                  <a:pt x="896701" y="581372"/>
                </a:lnTo>
                <a:lnTo>
                  <a:pt x="909545" y="536511"/>
                </a:lnTo>
                <a:lnTo>
                  <a:pt x="917457" y="489879"/>
                </a:lnTo>
                <a:lnTo>
                  <a:pt x="920156" y="441746"/>
                </a:lnTo>
                <a:lnTo>
                  <a:pt x="917457" y="393613"/>
                </a:lnTo>
                <a:lnTo>
                  <a:pt x="909545" y="346981"/>
                </a:lnTo>
                <a:lnTo>
                  <a:pt x="896701" y="302120"/>
                </a:lnTo>
                <a:lnTo>
                  <a:pt x="879207" y="259299"/>
                </a:lnTo>
                <a:lnTo>
                  <a:pt x="857342" y="218788"/>
                </a:lnTo>
                <a:lnTo>
                  <a:pt x="831388" y="180856"/>
                </a:lnTo>
                <a:lnTo>
                  <a:pt x="801624" y="145773"/>
                </a:lnTo>
                <a:lnTo>
                  <a:pt x="768333" y="113808"/>
                </a:lnTo>
                <a:lnTo>
                  <a:pt x="731794" y="85231"/>
                </a:lnTo>
                <a:lnTo>
                  <a:pt x="692288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112517" y="4273462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436876" y="4403810"/>
            <a:ext cx="27178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spc="-5" dirty="0">
                <a:solidFill>
                  <a:srgbClr val="FFFFFF"/>
                </a:solidFill>
                <a:latin typeface="Verdana"/>
                <a:cs typeface="Verdana"/>
              </a:rPr>
              <a:t>BC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97088" y="4505168"/>
            <a:ext cx="941069" cy="45465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129539">
              <a:lnSpc>
                <a:spcPct val="101200"/>
              </a:lnSpc>
              <a:spcBef>
                <a:spcPts val="80"/>
              </a:spcBef>
            </a:pPr>
            <a:r>
              <a:rPr sz="1400" spc="-15" dirty="0">
                <a:latin typeface="Verdana"/>
                <a:cs typeface="Verdana"/>
              </a:rPr>
              <a:t>Write </a:t>
            </a:r>
            <a:r>
              <a:rPr sz="1400" dirty="0">
                <a:latin typeface="Verdana"/>
                <a:cs typeface="Verdana"/>
              </a:rPr>
              <a:t>A  (</a:t>
            </a:r>
            <a:r>
              <a:rPr sz="1400" spc="-5" dirty="0">
                <a:latin typeface="Verdana"/>
                <a:cs typeface="Verdana"/>
              </a:rPr>
              <a:t>CL</a:t>
            </a:r>
            <a:r>
              <a:rPr sz="1400" dirty="0">
                <a:latin typeface="Verdana"/>
                <a:cs typeface="Verdana"/>
              </a:rPr>
              <a:t>=</a:t>
            </a:r>
            <a:r>
              <a:rPr sz="1400" spc="-5" dirty="0">
                <a:latin typeface="Verdana"/>
                <a:cs typeface="Verdana"/>
              </a:rPr>
              <a:t>ON</a:t>
            </a:r>
            <a:r>
              <a:rPr sz="1400" dirty="0">
                <a:latin typeface="Verdana"/>
                <a:cs typeface="Verdana"/>
              </a:rPr>
              <a:t>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268354" y="4003458"/>
            <a:ext cx="1071556" cy="196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306552" y="4085880"/>
            <a:ext cx="866140" cy="2540"/>
          </a:xfrm>
          <a:custGeom>
            <a:avLst/>
            <a:gdLst/>
            <a:ahLst/>
            <a:cxnLst/>
            <a:rect l="l" t="t" r="r" b="b"/>
            <a:pathLst>
              <a:path w="866139" h="2539">
                <a:moveTo>
                  <a:pt x="-19050" y="1254"/>
                </a:moveTo>
                <a:lnTo>
                  <a:pt x="884696" y="1254"/>
                </a:lnTo>
              </a:path>
            </a:pathLst>
          </a:custGeom>
          <a:ln w="40609">
            <a:solidFill>
              <a:srgbClr val="DDAE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176123" y="4028023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0" y="0"/>
                </a:moveTo>
                <a:lnTo>
                  <a:pt x="621" y="120140"/>
                </a:lnTo>
                <a:lnTo>
                  <a:pt x="120450" y="59448"/>
                </a:lnTo>
                <a:lnTo>
                  <a:pt x="0" y="0"/>
                </a:lnTo>
                <a:close/>
              </a:path>
            </a:pathLst>
          </a:custGeom>
          <a:solidFill>
            <a:srgbClr val="DDAE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799749" y="3730716"/>
            <a:ext cx="196343" cy="7302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897920" y="3873191"/>
            <a:ext cx="0" cy="530225"/>
          </a:xfrm>
          <a:custGeom>
            <a:avLst/>
            <a:gdLst/>
            <a:ahLst/>
            <a:cxnLst/>
            <a:rect l="l" t="t" r="r" b="b"/>
            <a:pathLst>
              <a:path h="530225">
                <a:moveTo>
                  <a:pt x="0" y="529655"/>
                </a:moveTo>
                <a:lnTo>
                  <a:pt x="0" y="19049"/>
                </a:lnTo>
                <a:lnTo>
                  <a:pt x="0" y="0"/>
                </a:lnTo>
              </a:path>
            </a:pathLst>
          </a:custGeom>
          <a:ln w="38100">
            <a:solidFill>
              <a:srgbClr val="A18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837849" y="3748816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60070" y="0"/>
                </a:moveTo>
                <a:lnTo>
                  <a:pt x="0" y="120142"/>
                </a:lnTo>
                <a:lnTo>
                  <a:pt x="120141" y="120142"/>
                </a:lnTo>
                <a:lnTo>
                  <a:pt x="60070" y="0"/>
                </a:lnTo>
                <a:close/>
              </a:path>
            </a:pathLst>
          </a:custGeom>
          <a:solidFill>
            <a:srgbClr val="A189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806531" y="3668543"/>
            <a:ext cx="990521" cy="85457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897918" y="3827083"/>
            <a:ext cx="711200" cy="575945"/>
          </a:xfrm>
          <a:custGeom>
            <a:avLst/>
            <a:gdLst/>
            <a:ahLst/>
            <a:cxnLst/>
            <a:rect l="l" t="t" r="r" b="b"/>
            <a:pathLst>
              <a:path w="711200" h="575945">
                <a:moveTo>
                  <a:pt x="0" y="575764"/>
                </a:moveTo>
                <a:lnTo>
                  <a:pt x="696278" y="11987"/>
                </a:lnTo>
                <a:lnTo>
                  <a:pt x="711084" y="0"/>
                </a:lnTo>
              </a:path>
            </a:pathLst>
          </a:custGeom>
          <a:ln w="38099">
            <a:solidFill>
              <a:srgbClr val="A18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574491" y="3748816"/>
            <a:ext cx="131445" cy="122555"/>
          </a:xfrm>
          <a:custGeom>
            <a:avLst/>
            <a:gdLst/>
            <a:ahLst/>
            <a:cxnLst/>
            <a:rect l="l" t="t" r="r" b="b"/>
            <a:pathLst>
              <a:path w="131445" h="122555">
                <a:moveTo>
                  <a:pt x="131173" y="0"/>
                </a:moveTo>
                <a:lnTo>
                  <a:pt x="0" y="28916"/>
                </a:lnTo>
                <a:lnTo>
                  <a:pt x="75603" y="122288"/>
                </a:lnTo>
                <a:lnTo>
                  <a:pt x="131173" y="0"/>
                </a:lnTo>
                <a:close/>
              </a:path>
            </a:pathLst>
          </a:custGeom>
          <a:solidFill>
            <a:srgbClr val="A189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859820" y="4324675"/>
            <a:ext cx="883946" cy="196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897918" y="4402846"/>
            <a:ext cx="683895" cy="0"/>
          </a:xfrm>
          <a:custGeom>
            <a:avLst/>
            <a:gdLst/>
            <a:ahLst/>
            <a:cxnLst/>
            <a:rect l="l" t="t" r="r" b="b"/>
            <a:pathLst>
              <a:path w="683895">
                <a:moveTo>
                  <a:pt x="0" y="0"/>
                </a:moveTo>
                <a:lnTo>
                  <a:pt x="664320" y="0"/>
                </a:lnTo>
                <a:lnTo>
                  <a:pt x="683370" y="0"/>
                </a:lnTo>
              </a:path>
            </a:pathLst>
          </a:custGeom>
          <a:ln w="38100">
            <a:solidFill>
              <a:srgbClr val="A18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585523" y="4342775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0" y="0"/>
                </a:moveTo>
                <a:lnTo>
                  <a:pt x="0" y="120142"/>
                </a:lnTo>
                <a:lnTo>
                  <a:pt x="120142" y="60071"/>
                </a:lnTo>
                <a:lnTo>
                  <a:pt x="0" y="0"/>
                </a:lnTo>
                <a:close/>
              </a:path>
            </a:pathLst>
          </a:custGeom>
          <a:solidFill>
            <a:srgbClr val="A189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792219" y="5247640"/>
            <a:ext cx="15944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Verdana"/>
                <a:cs typeface="Verdana"/>
              </a:rPr>
              <a:t>Coordinator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Node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5" name="Slide Number Placeholder 3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3165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Behavior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19275"/>
            <a:ext cx="8210550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200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Reads in the</a:t>
            </a:r>
            <a:r>
              <a:rPr lang="en-US" spc="-45" dirty="0"/>
              <a:t> </a:t>
            </a:r>
            <a:r>
              <a:rPr lang="en-US" spc="-5" dirty="0"/>
              <a:t>cluster</a:t>
            </a:r>
            <a:endParaRPr 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444500" y="1783308"/>
            <a:ext cx="99060" cy="687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Arial"/>
                <a:cs typeface="Arial"/>
              </a:rPr>
              <a:t>•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650" dirty="0">
                <a:latin typeface="Arial"/>
                <a:cs typeface="Arial"/>
              </a:rPr>
              <a:t>•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0087" y="1678753"/>
            <a:ext cx="7354570" cy="845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2300"/>
              </a:lnSpc>
              <a:spcBef>
                <a:spcPts val="100"/>
              </a:spcBef>
            </a:pPr>
            <a:r>
              <a:rPr sz="2200" dirty="0">
                <a:latin typeface="Verdana"/>
                <a:cs typeface="Verdana"/>
              </a:rPr>
              <a:t>Same as </a:t>
            </a:r>
            <a:r>
              <a:rPr sz="2200" spc="-5" dirty="0">
                <a:latin typeface="Verdana"/>
                <a:cs typeface="Verdana"/>
              </a:rPr>
              <a:t>writes in the </a:t>
            </a:r>
            <a:r>
              <a:rPr sz="2200" spc="-45" dirty="0">
                <a:latin typeface="Verdana"/>
                <a:cs typeface="Verdana"/>
              </a:rPr>
              <a:t>cluster, </a:t>
            </a:r>
            <a:r>
              <a:rPr sz="2200" spc="-5" dirty="0">
                <a:latin typeface="Verdana"/>
                <a:cs typeface="Verdana"/>
              </a:rPr>
              <a:t>reads </a:t>
            </a:r>
            <a:r>
              <a:rPr sz="2200" dirty="0">
                <a:latin typeface="Verdana"/>
                <a:cs typeface="Verdana"/>
              </a:rPr>
              <a:t>are </a:t>
            </a:r>
            <a:r>
              <a:rPr sz="2200" spc="-5" dirty="0">
                <a:latin typeface="Verdana"/>
                <a:cs typeface="Verdana"/>
              </a:rPr>
              <a:t>coordinated  </a:t>
            </a:r>
            <a:r>
              <a:rPr sz="2200" spc="-10" dirty="0">
                <a:latin typeface="Verdana"/>
                <a:cs typeface="Verdana"/>
              </a:rPr>
              <a:t>Any </a:t>
            </a:r>
            <a:r>
              <a:rPr sz="2200" spc="-5" dirty="0">
                <a:latin typeface="Verdana"/>
                <a:cs typeface="Verdana"/>
              </a:rPr>
              <a:t>node can be the Coordinator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Node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81299" y="3711262"/>
            <a:ext cx="1155700" cy="520700"/>
          </a:xfrm>
          <a:prstGeom prst="rect">
            <a:avLst/>
          </a:prstGeom>
          <a:solidFill>
            <a:srgbClr val="DDAE54"/>
          </a:solidFill>
          <a:ln w="25400">
            <a:solidFill>
              <a:srgbClr val="A17F3D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283210">
              <a:lnSpc>
                <a:spcPct val="100000"/>
              </a:lnSpc>
              <a:spcBef>
                <a:spcPts val="90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Client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86400" y="2634046"/>
            <a:ext cx="2734945" cy="2668270"/>
          </a:xfrm>
          <a:custGeom>
            <a:avLst/>
            <a:gdLst/>
            <a:ahLst/>
            <a:cxnLst/>
            <a:rect l="l" t="t" r="r" b="b"/>
            <a:pathLst>
              <a:path w="2734945" h="2668270">
                <a:moveTo>
                  <a:pt x="2334334" y="390742"/>
                </a:moveTo>
                <a:lnTo>
                  <a:pt x="2368404" y="425172"/>
                </a:lnTo>
                <a:lnTo>
                  <a:pt x="2400960" y="460480"/>
                </a:lnTo>
                <a:lnTo>
                  <a:pt x="2432001" y="496626"/>
                </a:lnTo>
                <a:lnTo>
                  <a:pt x="2461528" y="533570"/>
                </a:lnTo>
                <a:lnTo>
                  <a:pt x="2489541" y="571273"/>
                </a:lnTo>
                <a:lnTo>
                  <a:pt x="2516040" y="609693"/>
                </a:lnTo>
                <a:lnTo>
                  <a:pt x="2541024" y="648792"/>
                </a:lnTo>
                <a:lnTo>
                  <a:pt x="2564495" y="688530"/>
                </a:lnTo>
                <a:lnTo>
                  <a:pt x="2586451" y="728866"/>
                </a:lnTo>
                <a:lnTo>
                  <a:pt x="2606893" y="769761"/>
                </a:lnTo>
                <a:lnTo>
                  <a:pt x="2625820" y="811175"/>
                </a:lnTo>
                <a:lnTo>
                  <a:pt x="2643234" y="853068"/>
                </a:lnTo>
                <a:lnTo>
                  <a:pt x="2659133" y="895399"/>
                </a:lnTo>
                <a:lnTo>
                  <a:pt x="2673518" y="938130"/>
                </a:lnTo>
                <a:lnTo>
                  <a:pt x="2686389" y="981220"/>
                </a:lnTo>
                <a:lnTo>
                  <a:pt x="2697745" y="1024629"/>
                </a:lnTo>
                <a:lnTo>
                  <a:pt x="2707588" y="1068317"/>
                </a:lnTo>
                <a:lnTo>
                  <a:pt x="2715916" y="1112245"/>
                </a:lnTo>
                <a:lnTo>
                  <a:pt x="2722730" y="1156373"/>
                </a:lnTo>
                <a:lnTo>
                  <a:pt x="2728030" y="1200660"/>
                </a:lnTo>
                <a:lnTo>
                  <a:pt x="2731815" y="1245066"/>
                </a:lnTo>
                <a:lnTo>
                  <a:pt x="2734086" y="1289553"/>
                </a:lnTo>
                <a:lnTo>
                  <a:pt x="2734844" y="1334080"/>
                </a:lnTo>
                <a:lnTo>
                  <a:pt x="2734086" y="1378606"/>
                </a:lnTo>
                <a:lnTo>
                  <a:pt x="2731815" y="1423093"/>
                </a:lnTo>
                <a:lnTo>
                  <a:pt x="2728030" y="1467499"/>
                </a:lnTo>
                <a:lnTo>
                  <a:pt x="2722730" y="1511787"/>
                </a:lnTo>
                <a:lnTo>
                  <a:pt x="2715916" y="1555914"/>
                </a:lnTo>
                <a:lnTo>
                  <a:pt x="2707588" y="1599842"/>
                </a:lnTo>
                <a:lnTo>
                  <a:pt x="2697745" y="1643530"/>
                </a:lnTo>
                <a:lnTo>
                  <a:pt x="2686389" y="1686939"/>
                </a:lnTo>
                <a:lnTo>
                  <a:pt x="2673518" y="1730029"/>
                </a:lnTo>
                <a:lnTo>
                  <a:pt x="2659133" y="1772760"/>
                </a:lnTo>
                <a:lnTo>
                  <a:pt x="2643234" y="1815092"/>
                </a:lnTo>
                <a:lnTo>
                  <a:pt x="2625820" y="1856984"/>
                </a:lnTo>
                <a:lnTo>
                  <a:pt x="2606893" y="1898398"/>
                </a:lnTo>
                <a:lnTo>
                  <a:pt x="2586451" y="1939293"/>
                </a:lnTo>
                <a:lnTo>
                  <a:pt x="2564495" y="1979629"/>
                </a:lnTo>
                <a:lnTo>
                  <a:pt x="2541024" y="2019367"/>
                </a:lnTo>
                <a:lnTo>
                  <a:pt x="2516040" y="2058466"/>
                </a:lnTo>
                <a:lnTo>
                  <a:pt x="2489541" y="2096887"/>
                </a:lnTo>
                <a:lnTo>
                  <a:pt x="2461528" y="2134589"/>
                </a:lnTo>
                <a:lnTo>
                  <a:pt x="2432001" y="2171533"/>
                </a:lnTo>
                <a:lnTo>
                  <a:pt x="2400960" y="2207679"/>
                </a:lnTo>
                <a:lnTo>
                  <a:pt x="2368404" y="2242987"/>
                </a:lnTo>
                <a:lnTo>
                  <a:pt x="2334334" y="2277417"/>
                </a:lnTo>
                <a:lnTo>
                  <a:pt x="2299044" y="2310656"/>
                </a:lnTo>
                <a:lnTo>
                  <a:pt x="2262854" y="2342418"/>
                </a:lnTo>
                <a:lnTo>
                  <a:pt x="2225804" y="2372702"/>
                </a:lnTo>
                <a:lnTo>
                  <a:pt x="2187937" y="2401509"/>
                </a:lnTo>
                <a:lnTo>
                  <a:pt x="2149292" y="2428839"/>
                </a:lnTo>
                <a:lnTo>
                  <a:pt x="2109912" y="2454692"/>
                </a:lnTo>
                <a:lnTo>
                  <a:pt x="2069835" y="2479067"/>
                </a:lnTo>
                <a:lnTo>
                  <a:pt x="2029105" y="2501965"/>
                </a:lnTo>
                <a:lnTo>
                  <a:pt x="1987760" y="2523386"/>
                </a:lnTo>
                <a:lnTo>
                  <a:pt x="1945843" y="2543329"/>
                </a:lnTo>
                <a:lnTo>
                  <a:pt x="1903395" y="2561795"/>
                </a:lnTo>
                <a:lnTo>
                  <a:pt x="1860455" y="2578784"/>
                </a:lnTo>
                <a:lnTo>
                  <a:pt x="1817065" y="2594295"/>
                </a:lnTo>
                <a:lnTo>
                  <a:pt x="1773267" y="2608330"/>
                </a:lnTo>
                <a:lnTo>
                  <a:pt x="1729100" y="2620887"/>
                </a:lnTo>
                <a:lnTo>
                  <a:pt x="1684606" y="2631966"/>
                </a:lnTo>
                <a:lnTo>
                  <a:pt x="1639826" y="2641569"/>
                </a:lnTo>
                <a:lnTo>
                  <a:pt x="1594800" y="2649694"/>
                </a:lnTo>
                <a:lnTo>
                  <a:pt x="1549570" y="2656342"/>
                </a:lnTo>
                <a:lnTo>
                  <a:pt x="1504176" y="2661512"/>
                </a:lnTo>
                <a:lnTo>
                  <a:pt x="1458659" y="2665205"/>
                </a:lnTo>
                <a:lnTo>
                  <a:pt x="1413061" y="2667421"/>
                </a:lnTo>
                <a:lnTo>
                  <a:pt x="1367422" y="2668160"/>
                </a:lnTo>
                <a:lnTo>
                  <a:pt x="1321782" y="2667421"/>
                </a:lnTo>
                <a:lnTo>
                  <a:pt x="1276184" y="2665205"/>
                </a:lnTo>
                <a:lnTo>
                  <a:pt x="1230667" y="2661512"/>
                </a:lnTo>
                <a:lnTo>
                  <a:pt x="1185273" y="2656342"/>
                </a:lnTo>
                <a:lnTo>
                  <a:pt x="1140043" y="2649694"/>
                </a:lnTo>
                <a:lnTo>
                  <a:pt x="1095017" y="2641569"/>
                </a:lnTo>
                <a:lnTo>
                  <a:pt x="1050237" y="2631966"/>
                </a:lnTo>
                <a:lnTo>
                  <a:pt x="1005743" y="2620887"/>
                </a:lnTo>
                <a:lnTo>
                  <a:pt x="961576" y="2608330"/>
                </a:lnTo>
                <a:lnTo>
                  <a:pt x="917778" y="2594295"/>
                </a:lnTo>
                <a:lnTo>
                  <a:pt x="874388" y="2578784"/>
                </a:lnTo>
                <a:lnTo>
                  <a:pt x="831448" y="2561795"/>
                </a:lnTo>
                <a:lnTo>
                  <a:pt x="789000" y="2543329"/>
                </a:lnTo>
                <a:lnTo>
                  <a:pt x="747083" y="2523386"/>
                </a:lnTo>
                <a:lnTo>
                  <a:pt x="705738" y="2501965"/>
                </a:lnTo>
                <a:lnTo>
                  <a:pt x="665007" y="2479067"/>
                </a:lnTo>
                <a:lnTo>
                  <a:pt x="624931" y="2454692"/>
                </a:lnTo>
                <a:lnTo>
                  <a:pt x="585550" y="2428839"/>
                </a:lnTo>
                <a:lnTo>
                  <a:pt x="546906" y="2401509"/>
                </a:lnTo>
                <a:lnTo>
                  <a:pt x="509038" y="2372702"/>
                </a:lnTo>
                <a:lnTo>
                  <a:pt x="471989" y="2342418"/>
                </a:lnTo>
                <a:lnTo>
                  <a:pt x="435799" y="2310656"/>
                </a:lnTo>
                <a:lnTo>
                  <a:pt x="400508" y="2277417"/>
                </a:lnTo>
                <a:lnTo>
                  <a:pt x="366438" y="2242987"/>
                </a:lnTo>
                <a:lnTo>
                  <a:pt x="333883" y="2207679"/>
                </a:lnTo>
                <a:lnTo>
                  <a:pt x="302842" y="2171533"/>
                </a:lnTo>
                <a:lnTo>
                  <a:pt x="273314" y="2134589"/>
                </a:lnTo>
                <a:lnTo>
                  <a:pt x="245302" y="2096887"/>
                </a:lnTo>
                <a:lnTo>
                  <a:pt x="218803" y="2058466"/>
                </a:lnTo>
                <a:lnTo>
                  <a:pt x="193818" y="2019367"/>
                </a:lnTo>
                <a:lnTo>
                  <a:pt x="170348" y="1979629"/>
                </a:lnTo>
                <a:lnTo>
                  <a:pt x="148392" y="1939293"/>
                </a:lnTo>
                <a:lnTo>
                  <a:pt x="127950" y="1898398"/>
                </a:lnTo>
                <a:lnTo>
                  <a:pt x="109023" y="1856984"/>
                </a:lnTo>
                <a:lnTo>
                  <a:pt x="91609" y="1815092"/>
                </a:lnTo>
                <a:lnTo>
                  <a:pt x="75710" y="1772760"/>
                </a:lnTo>
                <a:lnTo>
                  <a:pt x="61325" y="1730029"/>
                </a:lnTo>
                <a:lnTo>
                  <a:pt x="48454" y="1686939"/>
                </a:lnTo>
                <a:lnTo>
                  <a:pt x="37098" y="1643530"/>
                </a:lnTo>
                <a:lnTo>
                  <a:pt x="27255" y="1599842"/>
                </a:lnTo>
                <a:lnTo>
                  <a:pt x="18927" y="1555914"/>
                </a:lnTo>
                <a:lnTo>
                  <a:pt x="12113" y="1511787"/>
                </a:lnTo>
                <a:lnTo>
                  <a:pt x="6813" y="1467499"/>
                </a:lnTo>
                <a:lnTo>
                  <a:pt x="3028" y="1423093"/>
                </a:lnTo>
                <a:lnTo>
                  <a:pt x="757" y="1378606"/>
                </a:lnTo>
                <a:lnTo>
                  <a:pt x="0" y="1334080"/>
                </a:lnTo>
                <a:lnTo>
                  <a:pt x="757" y="1289553"/>
                </a:lnTo>
                <a:lnTo>
                  <a:pt x="3028" y="1245066"/>
                </a:lnTo>
                <a:lnTo>
                  <a:pt x="6813" y="1200660"/>
                </a:lnTo>
                <a:lnTo>
                  <a:pt x="12113" y="1156373"/>
                </a:lnTo>
                <a:lnTo>
                  <a:pt x="18927" y="1112245"/>
                </a:lnTo>
                <a:lnTo>
                  <a:pt x="27255" y="1068317"/>
                </a:lnTo>
                <a:lnTo>
                  <a:pt x="37098" y="1024629"/>
                </a:lnTo>
                <a:lnTo>
                  <a:pt x="48454" y="981220"/>
                </a:lnTo>
                <a:lnTo>
                  <a:pt x="61325" y="938130"/>
                </a:lnTo>
                <a:lnTo>
                  <a:pt x="75710" y="895399"/>
                </a:lnTo>
                <a:lnTo>
                  <a:pt x="91609" y="853068"/>
                </a:lnTo>
                <a:lnTo>
                  <a:pt x="109023" y="811175"/>
                </a:lnTo>
                <a:lnTo>
                  <a:pt x="127950" y="769761"/>
                </a:lnTo>
                <a:lnTo>
                  <a:pt x="148392" y="728866"/>
                </a:lnTo>
                <a:lnTo>
                  <a:pt x="170348" y="688530"/>
                </a:lnTo>
                <a:lnTo>
                  <a:pt x="193818" y="648792"/>
                </a:lnTo>
                <a:lnTo>
                  <a:pt x="218803" y="609693"/>
                </a:lnTo>
                <a:lnTo>
                  <a:pt x="245302" y="571273"/>
                </a:lnTo>
                <a:lnTo>
                  <a:pt x="273314" y="533570"/>
                </a:lnTo>
                <a:lnTo>
                  <a:pt x="302842" y="496626"/>
                </a:lnTo>
                <a:lnTo>
                  <a:pt x="333883" y="460480"/>
                </a:lnTo>
                <a:lnTo>
                  <a:pt x="366438" y="425172"/>
                </a:lnTo>
                <a:lnTo>
                  <a:pt x="400508" y="390742"/>
                </a:lnTo>
                <a:lnTo>
                  <a:pt x="435799" y="357503"/>
                </a:lnTo>
                <a:lnTo>
                  <a:pt x="471989" y="325742"/>
                </a:lnTo>
                <a:lnTo>
                  <a:pt x="509038" y="295457"/>
                </a:lnTo>
                <a:lnTo>
                  <a:pt x="546906" y="266650"/>
                </a:lnTo>
                <a:lnTo>
                  <a:pt x="585550" y="239320"/>
                </a:lnTo>
                <a:lnTo>
                  <a:pt x="624931" y="213468"/>
                </a:lnTo>
                <a:lnTo>
                  <a:pt x="665007" y="189092"/>
                </a:lnTo>
                <a:lnTo>
                  <a:pt x="705738" y="166195"/>
                </a:lnTo>
                <a:lnTo>
                  <a:pt x="747083" y="144774"/>
                </a:lnTo>
                <a:lnTo>
                  <a:pt x="789000" y="124830"/>
                </a:lnTo>
                <a:lnTo>
                  <a:pt x="831448" y="106364"/>
                </a:lnTo>
                <a:lnTo>
                  <a:pt x="874388" y="89375"/>
                </a:lnTo>
                <a:lnTo>
                  <a:pt x="917778" y="73864"/>
                </a:lnTo>
                <a:lnTo>
                  <a:pt x="961576" y="59830"/>
                </a:lnTo>
                <a:lnTo>
                  <a:pt x="1005743" y="47273"/>
                </a:lnTo>
                <a:lnTo>
                  <a:pt x="1050237" y="36193"/>
                </a:lnTo>
                <a:lnTo>
                  <a:pt x="1095017" y="26591"/>
                </a:lnTo>
                <a:lnTo>
                  <a:pt x="1140043" y="18466"/>
                </a:lnTo>
                <a:lnTo>
                  <a:pt x="1185273" y="11818"/>
                </a:lnTo>
                <a:lnTo>
                  <a:pt x="1230667" y="6647"/>
                </a:lnTo>
                <a:lnTo>
                  <a:pt x="1276184" y="2954"/>
                </a:lnTo>
                <a:lnTo>
                  <a:pt x="1321782" y="738"/>
                </a:lnTo>
                <a:lnTo>
                  <a:pt x="1367422" y="0"/>
                </a:lnTo>
                <a:lnTo>
                  <a:pt x="1413061" y="738"/>
                </a:lnTo>
                <a:lnTo>
                  <a:pt x="1458659" y="2954"/>
                </a:lnTo>
                <a:lnTo>
                  <a:pt x="1504176" y="6647"/>
                </a:lnTo>
                <a:lnTo>
                  <a:pt x="1549570" y="11818"/>
                </a:lnTo>
                <a:lnTo>
                  <a:pt x="1594800" y="18466"/>
                </a:lnTo>
                <a:lnTo>
                  <a:pt x="1639826" y="26591"/>
                </a:lnTo>
                <a:lnTo>
                  <a:pt x="1684606" y="36193"/>
                </a:lnTo>
                <a:lnTo>
                  <a:pt x="1729100" y="47273"/>
                </a:lnTo>
                <a:lnTo>
                  <a:pt x="1773267" y="59830"/>
                </a:lnTo>
                <a:lnTo>
                  <a:pt x="1817065" y="73864"/>
                </a:lnTo>
                <a:lnTo>
                  <a:pt x="1860455" y="89375"/>
                </a:lnTo>
                <a:lnTo>
                  <a:pt x="1903395" y="106364"/>
                </a:lnTo>
                <a:lnTo>
                  <a:pt x="1945843" y="124830"/>
                </a:lnTo>
                <a:lnTo>
                  <a:pt x="1987760" y="144774"/>
                </a:lnTo>
                <a:lnTo>
                  <a:pt x="2029105" y="166195"/>
                </a:lnTo>
                <a:lnTo>
                  <a:pt x="2069835" y="189092"/>
                </a:lnTo>
                <a:lnTo>
                  <a:pt x="2109912" y="213468"/>
                </a:lnTo>
                <a:lnTo>
                  <a:pt x="2149292" y="239320"/>
                </a:lnTo>
                <a:lnTo>
                  <a:pt x="2187937" y="266650"/>
                </a:lnTo>
                <a:lnTo>
                  <a:pt x="2225804" y="295457"/>
                </a:lnTo>
                <a:lnTo>
                  <a:pt x="2262854" y="325742"/>
                </a:lnTo>
                <a:lnTo>
                  <a:pt x="2299044" y="357503"/>
                </a:lnTo>
                <a:lnTo>
                  <a:pt x="2334334" y="390742"/>
                </a:lnTo>
                <a:close/>
              </a:path>
            </a:pathLst>
          </a:custGeom>
          <a:ln w="101600">
            <a:solidFill>
              <a:srgbClr val="1F49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01792" y="2634042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9"/>
                </a:lnTo>
                <a:lnTo>
                  <a:pt x="118531" y="145774"/>
                </a:lnTo>
                <a:lnTo>
                  <a:pt x="88768" y="180857"/>
                </a:lnTo>
                <a:lnTo>
                  <a:pt x="62814" y="218789"/>
                </a:lnTo>
                <a:lnTo>
                  <a:pt x="40949" y="259300"/>
                </a:lnTo>
                <a:lnTo>
                  <a:pt x="23455" y="302121"/>
                </a:lnTo>
                <a:lnTo>
                  <a:pt x="10611" y="346982"/>
                </a:lnTo>
                <a:lnTo>
                  <a:pt x="2699" y="393614"/>
                </a:lnTo>
                <a:lnTo>
                  <a:pt x="0" y="441747"/>
                </a:lnTo>
                <a:lnTo>
                  <a:pt x="2699" y="489881"/>
                </a:lnTo>
                <a:lnTo>
                  <a:pt x="10611" y="536512"/>
                </a:lnTo>
                <a:lnTo>
                  <a:pt x="23455" y="581373"/>
                </a:lnTo>
                <a:lnTo>
                  <a:pt x="40949" y="624194"/>
                </a:lnTo>
                <a:lnTo>
                  <a:pt x="62814" y="664705"/>
                </a:lnTo>
                <a:lnTo>
                  <a:pt x="88768" y="702637"/>
                </a:lnTo>
                <a:lnTo>
                  <a:pt x="118531" y="737720"/>
                </a:lnTo>
                <a:lnTo>
                  <a:pt x="151822" y="769685"/>
                </a:lnTo>
                <a:lnTo>
                  <a:pt x="188361" y="798262"/>
                </a:lnTo>
                <a:lnTo>
                  <a:pt x="227867" y="823183"/>
                </a:lnTo>
                <a:lnTo>
                  <a:pt x="270059" y="844176"/>
                </a:lnTo>
                <a:lnTo>
                  <a:pt x="314657" y="860973"/>
                </a:lnTo>
                <a:lnTo>
                  <a:pt x="361380" y="873305"/>
                </a:lnTo>
                <a:lnTo>
                  <a:pt x="409947" y="880902"/>
                </a:lnTo>
                <a:lnTo>
                  <a:pt x="460077" y="883494"/>
                </a:lnTo>
                <a:lnTo>
                  <a:pt x="510208" y="880902"/>
                </a:lnTo>
                <a:lnTo>
                  <a:pt x="558775" y="873305"/>
                </a:lnTo>
                <a:lnTo>
                  <a:pt x="605498" y="860973"/>
                </a:lnTo>
                <a:lnTo>
                  <a:pt x="650095" y="844176"/>
                </a:lnTo>
                <a:lnTo>
                  <a:pt x="692287" y="823183"/>
                </a:lnTo>
                <a:lnTo>
                  <a:pt x="731793" y="798262"/>
                </a:lnTo>
                <a:lnTo>
                  <a:pt x="768332" y="769685"/>
                </a:lnTo>
                <a:lnTo>
                  <a:pt x="801624" y="737720"/>
                </a:lnTo>
                <a:lnTo>
                  <a:pt x="831387" y="702637"/>
                </a:lnTo>
                <a:lnTo>
                  <a:pt x="857341" y="664705"/>
                </a:lnTo>
                <a:lnTo>
                  <a:pt x="879206" y="624194"/>
                </a:lnTo>
                <a:lnTo>
                  <a:pt x="896700" y="581373"/>
                </a:lnTo>
                <a:lnTo>
                  <a:pt x="909544" y="536512"/>
                </a:lnTo>
                <a:lnTo>
                  <a:pt x="917455" y="489881"/>
                </a:lnTo>
                <a:lnTo>
                  <a:pt x="920155" y="441747"/>
                </a:lnTo>
                <a:lnTo>
                  <a:pt x="917455" y="393614"/>
                </a:lnTo>
                <a:lnTo>
                  <a:pt x="909544" y="346982"/>
                </a:lnTo>
                <a:lnTo>
                  <a:pt x="896700" y="302121"/>
                </a:lnTo>
                <a:lnTo>
                  <a:pt x="879206" y="259300"/>
                </a:lnTo>
                <a:lnTo>
                  <a:pt x="857341" y="218789"/>
                </a:lnTo>
                <a:lnTo>
                  <a:pt x="831387" y="180857"/>
                </a:lnTo>
                <a:lnTo>
                  <a:pt x="801624" y="145774"/>
                </a:lnTo>
                <a:lnTo>
                  <a:pt x="768332" y="113809"/>
                </a:lnTo>
                <a:lnTo>
                  <a:pt x="731793" y="85231"/>
                </a:lnTo>
                <a:lnTo>
                  <a:pt x="692287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301792" y="2634042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619900" y="2764391"/>
            <a:ext cx="28448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AD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301087" y="4418175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8"/>
                </a:lnTo>
                <a:lnTo>
                  <a:pt x="118531" y="145773"/>
                </a:lnTo>
                <a:lnTo>
                  <a:pt x="88768" y="180857"/>
                </a:lnTo>
                <a:lnTo>
                  <a:pt x="62814" y="218789"/>
                </a:lnTo>
                <a:lnTo>
                  <a:pt x="40949" y="259300"/>
                </a:lnTo>
                <a:lnTo>
                  <a:pt x="23455" y="302121"/>
                </a:lnTo>
                <a:lnTo>
                  <a:pt x="10611" y="346982"/>
                </a:lnTo>
                <a:lnTo>
                  <a:pt x="2699" y="393614"/>
                </a:lnTo>
                <a:lnTo>
                  <a:pt x="0" y="441747"/>
                </a:lnTo>
                <a:lnTo>
                  <a:pt x="2699" y="489880"/>
                </a:lnTo>
                <a:lnTo>
                  <a:pt x="10611" y="536512"/>
                </a:lnTo>
                <a:lnTo>
                  <a:pt x="23455" y="581373"/>
                </a:lnTo>
                <a:lnTo>
                  <a:pt x="40949" y="624194"/>
                </a:lnTo>
                <a:lnTo>
                  <a:pt x="62814" y="664705"/>
                </a:lnTo>
                <a:lnTo>
                  <a:pt x="88768" y="702637"/>
                </a:lnTo>
                <a:lnTo>
                  <a:pt x="118531" y="737720"/>
                </a:lnTo>
                <a:lnTo>
                  <a:pt x="151822" y="769685"/>
                </a:lnTo>
                <a:lnTo>
                  <a:pt x="188361" y="798263"/>
                </a:lnTo>
                <a:lnTo>
                  <a:pt x="227867" y="823183"/>
                </a:lnTo>
                <a:lnTo>
                  <a:pt x="270059" y="844176"/>
                </a:lnTo>
                <a:lnTo>
                  <a:pt x="314657" y="860973"/>
                </a:lnTo>
                <a:lnTo>
                  <a:pt x="361380" y="873305"/>
                </a:lnTo>
                <a:lnTo>
                  <a:pt x="409947" y="880902"/>
                </a:lnTo>
                <a:lnTo>
                  <a:pt x="460077" y="883494"/>
                </a:lnTo>
                <a:lnTo>
                  <a:pt x="510208" y="880902"/>
                </a:lnTo>
                <a:lnTo>
                  <a:pt x="558775" y="873305"/>
                </a:lnTo>
                <a:lnTo>
                  <a:pt x="605498" y="860973"/>
                </a:lnTo>
                <a:lnTo>
                  <a:pt x="650095" y="844176"/>
                </a:lnTo>
                <a:lnTo>
                  <a:pt x="692288" y="823183"/>
                </a:lnTo>
                <a:lnTo>
                  <a:pt x="731794" y="798263"/>
                </a:lnTo>
                <a:lnTo>
                  <a:pt x="768333" y="769685"/>
                </a:lnTo>
                <a:lnTo>
                  <a:pt x="801624" y="737720"/>
                </a:lnTo>
                <a:lnTo>
                  <a:pt x="831388" y="702637"/>
                </a:lnTo>
                <a:lnTo>
                  <a:pt x="857342" y="664705"/>
                </a:lnTo>
                <a:lnTo>
                  <a:pt x="879207" y="624194"/>
                </a:lnTo>
                <a:lnTo>
                  <a:pt x="896701" y="581373"/>
                </a:lnTo>
                <a:lnTo>
                  <a:pt x="909545" y="536512"/>
                </a:lnTo>
                <a:lnTo>
                  <a:pt x="917457" y="489880"/>
                </a:lnTo>
                <a:lnTo>
                  <a:pt x="920156" y="441747"/>
                </a:lnTo>
                <a:lnTo>
                  <a:pt x="917457" y="393614"/>
                </a:lnTo>
                <a:lnTo>
                  <a:pt x="909545" y="346982"/>
                </a:lnTo>
                <a:lnTo>
                  <a:pt x="896701" y="302121"/>
                </a:lnTo>
                <a:lnTo>
                  <a:pt x="879207" y="259300"/>
                </a:lnTo>
                <a:lnTo>
                  <a:pt x="857342" y="218789"/>
                </a:lnTo>
                <a:lnTo>
                  <a:pt x="831388" y="180857"/>
                </a:lnTo>
                <a:lnTo>
                  <a:pt x="801624" y="145773"/>
                </a:lnTo>
                <a:lnTo>
                  <a:pt x="768333" y="113808"/>
                </a:lnTo>
                <a:lnTo>
                  <a:pt x="731794" y="85231"/>
                </a:lnTo>
                <a:lnTo>
                  <a:pt x="692288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301087" y="4418175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626748" y="4548524"/>
            <a:ext cx="26924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AB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486400" y="2634046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8"/>
                </a:lnTo>
                <a:lnTo>
                  <a:pt x="118531" y="145773"/>
                </a:lnTo>
                <a:lnTo>
                  <a:pt x="88768" y="180856"/>
                </a:lnTo>
                <a:lnTo>
                  <a:pt x="62814" y="218788"/>
                </a:lnTo>
                <a:lnTo>
                  <a:pt x="40949" y="259299"/>
                </a:lnTo>
                <a:lnTo>
                  <a:pt x="23455" y="302120"/>
                </a:lnTo>
                <a:lnTo>
                  <a:pt x="10611" y="346981"/>
                </a:lnTo>
                <a:lnTo>
                  <a:pt x="2699" y="393613"/>
                </a:lnTo>
                <a:lnTo>
                  <a:pt x="0" y="441746"/>
                </a:lnTo>
                <a:lnTo>
                  <a:pt x="2699" y="489879"/>
                </a:lnTo>
                <a:lnTo>
                  <a:pt x="10611" y="536511"/>
                </a:lnTo>
                <a:lnTo>
                  <a:pt x="23455" y="581372"/>
                </a:lnTo>
                <a:lnTo>
                  <a:pt x="40949" y="624193"/>
                </a:lnTo>
                <a:lnTo>
                  <a:pt x="62814" y="664704"/>
                </a:lnTo>
                <a:lnTo>
                  <a:pt x="88768" y="702636"/>
                </a:lnTo>
                <a:lnTo>
                  <a:pt x="118531" y="737719"/>
                </a:lnTo>
                <a:lnTo>
                  <a:pt x="151822" y="769684"/>
                </a:lnTo>
                <a:lnTo>
                  <a:pt x="188361" y="798261"/>
                </a:lnTo>
                <a:lnTo>
                  <a:pt x="227867" y="823181"/>
                </a:lnTo>
                <a:lnTo>
                  <a:pt x="270059" y="844175"/>
                </a:lnTo>
                <a:lnTo>
                  <a:pt x="314657" y="860972"/>
                </a:lnTo>
                <a:lnTo>
                  <a:pt x="361380" y="873304"/>
                </a:lnTo>
                <a:lnTo>
                  <a:pt x="409947" y="880901"/>
                </a:lnTo>
                <a:lnTo>
                  <a:pt x="460077" y="883493"/>
                </a:lnTo>
                <a:lnTo>
                  <a:pt x="510208" y="880901"/>
                </a:lnTo>
                <a:lnTo>
                  <a:pt x="558775" y="873304"/>
                </a:lnTo>
                <a:lnTo>
                  <a:pt x="605498" y="860972"/>
                </a:lnTo>
                <a:lnTo>
                  <a:pt x="650095" y="844175"/>
                </a:lnTo>
                <a:lnTo>
                  <a:pt x="692287" y="823181"/>
                </a:lnTo>
                <a:lnTo>
                  <a:pt x="731793" y="798261"/>
                </a:lnTo>
                <a:lnTo>
                  <a:pt x="768332" y="769684"/>
                </a:lnTo>
                <a:lnTo>
                  <a:pt x="801624" y="737719"/>
                </a:lnTo>
                <a:lnTo>
                  <a:pt x="831387" y="702636"/>
                </a:lnTo>
                <a:lnTo>
                  <a:pt x="857341" y="664704"/>
                </a:lnTo>
                <a:lnTo>
                  <a:pt x="879206" y="624193"/>
                </a:lnTo>
                <a:lnTo>
                  <a:pt x="896700" y="581372"/>
                </a:lnTo>
                <a:lnTo>
                  <a:pt x="909544" y="536511"/>
                </a:lnTo>
                <a:lnTo>
                  <a:pt x="917455" y="489879"/>
                </a:lnTo>
                <a:lnTo>
                  <a:pt x="920155" y="441746"/>
                </a:lnTo>
                <a:lnTo>
                  <a:pt x="917455" y="393613"/>
                </a:lnTo>
                <a:lnTo>
                  <a:pt x="909544" y="346981"/>
                </a:lnTo>
                <a:lnTo>
                  <a:pt x="896700" y="302120"/>
                </a:lnTo>
                <a:lnTo>
                  <a:pt x="879206" y="259299"/>
                </a:lnTo>
                <a:lnTo>
                  <a:pt x="857341" y="218788"/>
                </a:lnTo>
                <a:lnTo>
                  <a:pt x="831387" y="180856"/>
                </a:lnTo>
                <a:lnTo>
                  <a:pt x="801624" y="145773"/>
                </a:lnTo>
                <a:lnTo>
                  <a:pt x="768332" y="113808"/>
                </a:lnTo>
                <a:lnTo>
                  <a:pt x="731793" y="85231"/>
                </a:lnTo>
                <a:lnTo>
                  <a:pt x="692287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486400" y="2634046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803205" y="2764394"/>
            <a:ext cx="28702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spc="-5" dirty="0">
                <a:solidFill>
                  <a:srgbClr val="FFFFFF"/>
                </a:solidFill>
                <a:latin typeface="Verdana"/>
                <a:cs typeface="Verdana"/>
              </a:rPr>
              <a:t>CD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486400" y="4418175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8"/>
                </a:lnTo>
                <a:lnTo>
                  <a:pt x="118531" y="145773"/>
                </a:lnTo>
                <a:lnTo>
                  <a:pt x="88768" y="180856"/>
                </a:lnTo>
                <a:lnTo>
                  <a:pt x="62814" y="218788"/>
                </a:lnTo>
                <a:lnTo>
                  <a:pt x="40949" y="259299"/>
                </a:lnTo>
                <a:lnTo>
                  <a:pt x="23455" y="302120"/>
                </a:lnTo>
                <a:lnTo>
                  <a:pt x="10611" y="346981"/>
                </a:lnTo>
                <a:lnTo>
                  <a:pt x="2699" y="393613"/>
                </a:lnTo>
                <a:lnTo>
                  <a:pt x="0" y="441746"/>
                </a:lnTo>
                <a:lnTo>
                  <a:pt x="2699" y="489879"/>
                </a:lnTo>
                <a:lnTo>
                  <a:pt x="10611" y="536511"/>
                </a:lnTo>
                <a:lnTo>
                  <a:pt x="23455" y="581372"/>
                </a:lnTo>
                <a:lnTo>
                  <a:pt x="40949" y="624193"/>
                </a:lnTo>
                <a:lnTo>
                  <a:pt x="62814" y="664704"/>
                </a:lnTo>
                <a:lnTo>
                  <a:pt x="88768" y="702636"/>
                </a:lnTo>
                <a:lnTo>
                  <a:pt x="118531" y="737719"/>
                </a:lnTo>
                <a:lnTo>
                  <a:pt x="151822" y="769684"/>
                </a:lnTo>
                <a:lnTo>
                  <a:pt x="188361" y="798262"/>
                </a:lnTo>
                <a:lnTo>
                  <a:pt x="227867" y="823182"/>
                </a:lnTo>
                <a:lnTo>
                  <a:pt x="270059" y="844175"/>
                </a:lnTo>
                <a:lnTo>
                  <a:pt x="314657" y="860972"/>
                </a:lnTo>
                <a:lnTo>
                  <a:pt x="361380" y="873304"/>
                </a:lnTo>
                <a:lnTo>
                  <a:pt x="409947" y="880901"/>
                </a:lnTo>
                <a:lnTo>
                  <a:pt x="460077" y="883493"/>
                </a:lnTo>
                <a:lnTo>
                  <a:pt x="510208" y="880901"/>
                </a:lnTo>
                <a:lnTo>
                  <a:pt x="558775" y="873304"/>
                </a:lnTo>
                <a:lnTo>
                  <a:pt x="605498" y="860972"/>
                </a:lnTo>
                <a:lnTo>
                  <a:pt x="650095" y="844175"/>
                </a:lnTo>
                <a:lnTo>
                  <a:pt x="692287" y="823182"/>
                </a:lnTo>
                <a:lnTo>
                  <a:pt x="731793" y="798262"/>
                </a:lnTo>
                <a:lnTo>
                  <a:pt x="768332" y="769684"/>
                </a:lnTo>
                <a:lnTo>
                  <a:pt x="801624" y="737719"/>
                </a:lnTo>
                <a:lnTo>
                  <a:pt x="831387" y="702636"/>
                </a:lnTo>
                <a:lnTo>
                  <a:pt x="857341" y="664704"/>
                </a:lnTo>
                <a:lnTo>
                  <a:pt x="879206" y="624193"/>
                </a:lnTo>
                <a:lnTo>
                  <a:pt x="896700" y="581372"/>
                </a:lnTo>
                <a:lnTo>
                  <a:pt x="909544" y="536511"/>
                </a:lnTo>
                <a:lnTo>
                  <a:pt x="917455" y="489879"/>
                </a:lnTo>
                <a:lnTo>
                  <a:pt x="920155" y="441746"/>
                </a:lnTo>
                <a:lnTo>
                  <a:pt x="917455" y="393613"/>
                </a:lnTo>
                <a:lnTo>
                  <a:pt x="909544" y="346981"/>
                </a:lnTo>
                <a:lnTo>
                  <a:pt x="896700" y="302120"/>
                </a:lnTo>
                <a:lnTo>
                  <a:pt x="879206" y="259299"/>
                </a:lnTo>
                <a:lnTo>
                  <a:pt x="857341" y="218788"/>
                </a:lnTo>
                <a:lnTo>
                  <a:pt x="831387" y="180856"/>
                </a:lnTo>
                <a:lnTo>
                  <a:pt x="801624" y="145773"/>
                </a:lnTo>
                <a:lnTo>
                  <a:pt x="768332" y="113808"/>
                </a:lnTo>
                <a:lnTo>
                  <a:pt x="731793" y="85231"/>
                </a:lnTo>
                <a:lnTo>
                  <a:pt x="692287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486400" y="4418175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810759" y="4548523"/>
            <a:ext cx="27178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spc="-5" dirty="0">
                <a:solidFill>
                  <a:srgbClr val="FFFFFF"/>
                </a:solidFill>
                <a:latin typeface="Verdana"/>
                <a:cs typeface="Verdana"/>
              </a:rPr>
              <a:t>BC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18126" y="4490639"/>
            <a:ext cx="1369060" cy="45465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358140">
              <a:lnSpc>
                <a:spcPct val="101200"/>
              </a:lnSpc>
              <a:spcBef>
                <a:spcPts val="80"/>
              </a:spcBef>
            </a:pPr>
            <a:r>
              <a:rPr sz="1400" spc="-10" dirty="0">
                <a:latin typeface="Verdana"/>
                <a:cs typeface="Verdana"/>
              </a:rPr>
              <a:t>Read </a:t>
            </a:r>
            <a:r>
              <a:rPr sz="1400" dirty="0">
                <a:latin typeface="Verdana"/>
                <a:cs typeface="Verdana"/>
              </a:rPr>
              <a:t>A  (C</a:t>
            </a:r>
            <a:r>
              <a:rPr sz="1400" spc="-5" dirty="0">
                <a:latin typeface="Verdana"/>
                <a:cs typeface="Verdana"/>
              </a:rPr>
              <a:t>L=QUORUM)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911843" y="3889954"/>
            <a:ext cx="1561856" cy="1963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949943" y="3968126"/>
            <a:ext cx="1358900" cy="3810"/>
          </a:xfrm>
          <a:custGeom>
            <a:avLst/>
            <a:gdLst/>
            <a:ahLst/>
            <a:cxnLst/>
            <a:rect l="l" t="t" r="r" b="b"/>
            <a:pathLst>
              <a:path w="1358900" h="3810">
                <a:moveTo>
                  <a:pt x="-19050" y="1743"/>
                </a:moveTo>
                <a:lnTo>
                  <a:pt x="1377706" y="1743"/>
                </a:lnTo>
              </a:path>
            </a:pathLst>
          </a:custGeom>
          <a:ln w="41587">
            <a:solidFill>
              <a:srgbClr val="DDAE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312833" y="3911542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0" y="0"/>
                </a:moveTo>
                <a:lnTo>
                  <a:pt x="0" y="120141"/>
                </a:lnTo>
                <a:lnTo>
                  <a:pt x="120141" y="60070"/>
                </a:lnTo>
                <a:lnTo>
                  <a:pt x="0" y="0"/>
                </a:lnTo>
                <a:close/>
              </a:path>
            </a:pathLst>
          </a:custGeom>
          <a:solidFill>
            <a:srgbClr val="DDAE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173630" y="3370054"/>
            <a:ext cx="196342" cy="12356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267450" y="3508063"/>
            <a:ext cx="0" cy="1041400"/>
          </a:xfrm>
          <a:custGeom>
            <a:avLst/>
            <a:gdLst/>
            <a:ahLst/>
            <a:cxnLst/>
            <a:rect l="l" t="t" r="r" b="b"/>
            <a:pathLst>
              <a:path h="1041400">
                <a:moveTo>
                  <a:pt x="0" y="0"/>
                </a:moveTo>
                <a:lnTo>
                  <a:pt x="0" y="1041400"/>
                </a:lnTo>
              </a:path>
            </a:pathLst>
          </a:custGeom>
          <a:ln w="38100">
            <a:solidFill>
              <a:srgbClr val="A18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207378" y="3383688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60071" y="0"/>
                </a:moveTo>
                <a:lnTo>
                  <a:pt x="0" y="120141"/>
                </a:lnTo>
                <a:lnTo>
                  <a:pt x="120142" y="120141"/>
                </a:lnTo>
                <a:lnTo>
                  <a:pt x="60071" y="0"/>
                </a:lnTo>
                <a:close/>
              </a:path>
            </a:pathLst>
          </a:custGeom>
          <a:solidFill>
            <a:srgbClr val="A189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175540" y="3311695"/>
            <a:ext cx="1357265" cy="13523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271800" y="3475895"/>
            <a:ext cx="1076960" cy="1071880"/>
          </a:xfrm>
          <a:custGeom>
            <a:avLst/>
            <a:gdLst/>
            <a:ahLst/>
            <a:cxnLst/>
            <a:rect l="l" t="t" r="r" b="b"/>
            <a:pathLst>
              <a:path w="1076959" h="1071879">
                <a:moveTo>
                  <a:pt x="0" y="1071664"/>
                </a:moveTo>
                <a:lnTo>
                  <a:pt x="1063095" y="13439"/>
                </a:lnTo>
                <a:lnTo>
                  <a:pt x="1076597" y="0"/>
                </a:lnTo>
              </a:path>
            </a:pathLst>
          </a:custGeom>
          <a:ln w="38100">
            <a:solidFill>
              <a:srgbClr val="A18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309018" y="3388150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4" h="127635">
                <a:moveTo>
                  <a:pt x="127527" y="0"/>
                </a:moveTo>
                <a:lnTo>
                  <a:pt x="0" y="42184"/>
                </a:lnTo>
                <a:lnTo>
                  <a:pt x="84757" y="127332"/>
                </a:lnTo>
                <a:lnTo>
                  <a:pt x="127527" y="0"/>
                </a:lnTo>
                <a:close/>
              </a:path>
            </a:pathLst>
          </a:custGeom>
          <a:solidFill>
            <a:srgbClr val="A189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233700" y="4469388"/>
            <a:ext cx="1240241" cy="196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271800" y="4547559"/>
            <a:ext cx="1040130" cy="0"/>
          </a:xfrm>
          <a:custGeom>
            <a:avLst/>
            <a:gdLst/>
            <a:ahLst/>
            <a:cxnLst/>
            <a:rect l="l" t="t" r="r" b="b"/>
            <a:pathLst>
              <a:path w="1040129">
                <a:moveTo>
                  <a:pt x="0" y="0"/>
                </a:moveTo>
                <a:lnTo>
                  <a:pt x="1020615" y="0"/>
                </a:lnTo>
                <a:lnTo>
                  <a:pt x="1039665" y="0"/>
                </a:lnTo>
              </a:path>
            </a:pathLst>
          </a:custGeom>
          <a:ln w="38100">
            <a:solidFill>
              <a:srgbClr val="A18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315700" y="4487489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0" y="0"/>
                </a:moveTo>
                <a:lnTo>
                  <a:pt x="0" y="120141"/>
                </a:lnTo>
                <a:lnTo>
                  <a:pt x="120142" y="60070"/>
                </a:lnTo>
                <a:lnTo>
                  <a:pt x="0" y="0"/>
                </a:lnTo>
                <a:close/>
              </a:path>
            </a:pathLst>
          </a:custGeom>
          <a:solidFill>
            <a:srgbClr val="A189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166100" y="5400040"/>
            <a:ext cx="15944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Verdana"/>
                <a:cs typeface="Verdana"/>
              </a:rPr>
              <a:t>Coordinator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Node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2190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Reads </a:t>
            </a:r>
            <a:r>
              <a:rPr lang="en-US" dirty="0"/>
              <a:t>and </a:t>
            </a:r>
            <a:r>
              <a:rPr lang="en-US" spc="-5" dirty="0"/>
              <a:t>Eventual</a:t>
            </a:r>
            <a:r>
              <a:rPr lang="en-US" spc="-40" dirty="0"/>
              <a:t> </a:t>
            </a:r>
            <a:r>
              <a:rPr lang="en-US" spc="-5" dirty="0"/>
              <a:t>Consistency</a:t>
            </a:r>
            <a:endParaRPr lang="en-US" dirty="0"/>
          </a:p>
        </p:txBody>
      </p:sp>
      <p:sp>
        <p:nvSpPr>
          <p:cNvPr id="37" name="object 3"/>
          <p:cNvSpPr txBox="1"/>
          <p:nvPr/>
        </p:nvSpPr>
        <p:spPr>
          <a:xfrm>
            <a:off x="591255" y="1785276"/>
            <a:ext cx="105022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Arial"/>
                <a:cs typeface="Arial"/>
              </a:rPr>
              <a:t>•</a:t>
            </a:r>
            <a:endParaRPr sz="1650">
              <a:latin typeface="Arial"/>
              <a:cs typeface="Arial"/>
            </a:endParaRPr>
          </a:p>
        </p:txBody>
      </p:sp>
      <p:sp>
        <p:nvSpPr>
          <p:cNvPr id="38" name="object 4"/>
          <p:cNvSpPr txBox="1">
            <a:spLocks/>
          </p:cNvSpPr>
          <p:nvPr/>
        </p:nvSpPr>
        <p:spPr>
          <a:xfrm>
            <a:off x="381318" y="1752600"/>
            <a:ext cx="8305482" cy="11464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"/>
              </a:spcBef>
            </a:pPr>
            <a:r>
              <a:rPr lang="en-US" spc="-10" dirty="0"/>
              <a:t>Cassandra </a:t>
            </a:r>
            <a:r>
              <a:rPr lang="en-US" spc="-5" dirty="0"/>
              <a:t>is </a:t>
            </a:r>
            <a:r>
              <a:rPr lang="en-US" dirty="0"/>
              <a:t>an </a:t>
            </a:r>
            <a:r>
              <a:rPr lang="en-US" b="1" dirty="0">
                <a:solidFill>
                  <a:srgbClr val="CB6015"/>
                </a:solidFill>
                <a:latin typeface="Arial"/>
                <a:cs typeface="Arial"/>
              </a:rPr>
              <a:t>AP </a:t>
            </a:r>
            <a:r>
              <a:rPr lang="en-US" spc="-5" dirty="0"/>
              <a:t>system that is </a:t>
            </a:r>
            <a:r>
              <a:rPr lang="en-US" b="1" spc="-5" dirty="0">
                <a:solidFill>
                  <a:srgbClr val="CB6015"/>
                </a:solidFill>
                <a:latin typeface="Arial"/>
                <a:cs typeface="Arial"/>
              </a:rPr>
              <a:t>Eventually</a:t>
            </a:r>
            <a:r>
              <a:rPr lang="en-US" b="1" spc="200" dirty="0">
                <a:solidFill>
                  <a:srgbClr val="CB6015"/>
                </a:solidFill>
                <a:latin typeface="Arial"/>
                <a:cs typeface="Arial"/>
              </a:rPr>
              <a:t> </a:t>
            </a:r>
            <a:r>
              <a:rPr lang="en-US" b="1" spc="-5" dirty="0">
                <a:solidFill>
                  <a:srgbClr val="CB6015"/>
                </a:solidFill>
                <a:latin typeface="Arial"/>
                <a:cs typeface="Arial"/>
              </a:rPr>
              <a:t>Consistent </a:t>
            </a:r>
            <a:r>
              <a:rPr lang="en-US" dirty="0"/>
              <a:t>so </a:t>
            </a:r>
            <a:r>
              <a:rPr lang="en-US" spc="-5" dirty="0"/>
              <a:t>replicas </a:t>
            </a:r>
            <a:r>
              <a:rPr lang="en-US" spc="-10" dirty="0"/>
              <a:t>may</a:t>
            </a:r>
            <a:r>
              <a:rPr lang="en-US" spc="-45" dirty="0"/>
              <a:t> </a:t>
            </a:r>
            <a:r>
              <a:rPr lang="en-US" spc="-5" dirty="0"/>
              <a:t>disagree</a:t>
            </a:r>
          </a:p>
          <a:p>
            <a:pPr>
              <a:spcBef>
                <a:spcPts val="105"/>
              </a:spcBef>
            </a:pPr>
            <a:r>
              <a:rPr lang="en-US" spc="-5" dirty="0"/>
              <a:t>Column </a:t>
            </a:r>
            <a:r>
              <a:rPr lang="en-US" spc="-10" dirty="0"/>
              <a:t>values </a:t>
            </a:r>
            <a:r>
              <a:rPr lang="en-US" dirty="0"/>
              <a:t>are</a:t>
            </a:r>
            <a:r>
              <a:rPr lang="en-US" spc="-35" dirty="0"/>
              <a:t> </a:t>
            </a:r>
            <a:r>
              <a:rPr lang="en-US" spc="-5" dirty="0"/>
              <a:t>timestamped</a:t>
            </a:r>
          </a:p>
        </p:txBody>
      </p:sp>
      <p:sp>
        <p:nvSpPr>
          <p:cNvPr id="39" name="object 33"/>
          <p:cNvSpPr txBox="1"/>
          <p:nvPr/>
        </p:nvSpPr>
        <p:spPr>
          <a:xfrm>
            <a:off x="381000" y="2933700"/>
            <a:ext cx="624840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200" dirty="0">
                <a:latin typeface="Verdana"/>
                <a:cs typeface="Verdana"/>
              </a:rPr>
              <a:t>In </a:t>
            </a:r>
            <a:r>
              <a:rPr sz="2200" spc="-10" dirty="0">
                <a:latin typeface="Verdana"/>
                <a:cs typeface="Verdana"/>
              </a:rPr>
              <a:t>Cassandra, </a:t>
            </a:r>
            <a:r>
              <a:rPr sz="2200" spc="-5" dirty="0">
                <a:latin typeface="Verdana"/>
                <a:cs typeface="Verdana"/>
              </a:rPr>
              <a:t>Last </a:t>
            </a:r>
            <a:r>
              <a:rPr sz="2200" spc="-15" dirty="0">
                <a:latin typeface="Verdana"/>
                <a:cs typeface="Verdana"/>
              </a:rPr>
              <a:t>Write </a:t>
            </a:r>
            <a:r>
              <a:rPr sz="2200" spc="-5" dirty="0">
                <a:latin typeface="Verdana"/>
                <a:cs typeface="Verdana"/>
              </a:rPr>
              <a:t>Wins</a:t>
            </a:r>
            <a:r>
              <a:rPr sz="2200" spc="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(LWW)</a:t>
            </a:r>
            <a:r>
              <a:rPr lang="en-US" sz="1400" dirty="0">
                <a:latin typeface="Verdana"/>
                <a:cs typeface="Verdana"/>
              </a:rPr>
              <a:t> 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40" name="object 7"/>
          <p:cNvSpPr txBox="1"/>
          <p:nvPr/>
        </p:nvSpPr>
        <p:spPr>
          <a:xfrm>
            <a:off x="3365500" y="4657346"/>
            <a:ext cx="1155700" cy="520700"/>
          </a:xfrm>
          <a:prstGeom prst="rect">
            <a:avLst/>
          </a:prstGeom>
          <a:solidFill>
            <a:srgbClr val="DDAE54"/>
          </a:solidFill>
          <a:ln w="25400">
            <a:solidFill>
              <a:srgbClr val="A17F3D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283210">
              <a:lnSpc>
                <a:spcPct val="100000"/>
              </a:lnSpc>
              <a:spcBef>
                <a:spcPts val="90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Client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8"/>
          <p:cNvSpPr/>
          <p:nvPr/>
        </p:nvSpPr>
        <p:spPr>
          <a:xfrm>
            <a:off x="6070600" y="3580130"/>
            <a:ext cx="2734945" cy="2668270"/>
          </a:xfrm>
          <a:custGeom>
            <a:avLst/>
            <a:gdLst/>
            <a:ahLst/>
            <a:cxnLst/>
            <a:rect l="l" t="t" r="r" b="b"/>
            <a:pathLst>
              <a:path w="2734945" h="2668270">
                <a:moveTo>
                  <a:pt x="2334334" y="390742"/>
                </a:moveTo>
                <a:lnTo>
                  <a:pt x="2368404" y="425172"/>
                </a:lnTo>
                <a:lnTo>
                  <a:pt x="2400960" y="460480"/>
                </a:lnTo>
                <a:lnTo>
                  <a:pt x="2432001" y="496626"/>
                </a:lnTo>
                <a:lnTo>
                  <a:pt x="2461528" y="533570"/>
                </a:lnTo>
                <a:lnTo>
                  <a:pt x="2489541" y="571273"/>
                </a:lnTo>
                <a:lnTo>
                  <a:pt x="2516040" y="609693"/>
                </a:lnTo>
                <a:lnTo>
                  <a:pt x="2541024" y="648792"/>
                </a:lnTo>
                <a:lnTo>
                  <a:pt x="2564495" y="688530"/>
                </a:lnTo>
                <a:lnTo>
                  <a:pt x="2586451" y="728866"/>
                </a:lnTo>
                <a:lnTo>
                  <a:pt x="2606893" y="769761"/>
                </a:lnTo>
                <a:lnTo>
                  <a:pt x="2625820" y="811175"/>
                </a:lnTo>
                <a:lnTo>
                  <a:pt x="2643234" y="853068"/>
                </a:lnTo>
                <a:lnTo>
                  <a:pt x="2659133" y="895399"/>
                </a:lnTo>
                <a:lnTo>
                  <a:pt x="2673518" y="938130"/>
                </a:lnTo>
                <a:lnTo>
                  <a:pt x="2686389" y="981220"/>
                </a:lnTo>
                <a:lnTo>
                  <a:pt x="2697745" y="1024629"/>
                </a:lnTo>
                <a:lnTo>
                  <a:pt x="2707588" y="1068317"/>
                </a:lnTo>
                <a:lnTo>
                  <a:pt x="2715916" y="1112245"/>
                </a:lnTo>
                <a:lnTo>
                  <a:pt x="2722730" y="1156373"/>
                </a:lnTo>
                <a:lnTo>
                  <a:pt x="2728030" y="1200660"/>
                </a:lnTo>
                <a:lnTo>
                  <a:pt x="2731815" y="1245066"/>
                </a:lnTo>
                <a:lnTo>
                  <a:pt x="2734086" y="1289553"/>
                </a:lnTo>
                <a:lnTo>
                  <a:pt x="2734844" y="1334080"/>
                </a:lnTo>
                <a:lnTo>
                  <a:pt x="2734086" y="1378606"/>
                </a:lnTo>
                <a:lnTo>
                  <a:pt x="2731815" y="1423093"/>
                </a:lnTo>
                <a:lnTo>
                  <a:pt x="2728030" y="1467499"/>
                </a:lnTo>
                <a:lnTo>
                  <a:pt x="2722730" y="1511787"/>
                </a:lnTo>
                <a:lnTo>
                  <a:pt x="2715916" y="1555914"/>
                </a:lnTo>
                <a:lnTo>
                  <a:pt x="2707588" y="1599842"/>
                </a:lnTo>
                <a:lnTo>
                  <a:pt x="2697745" y="1643530"/>
                </a:lnTo>
                <a:lnTo>
                  <a:pt x="2686389" y="1686939"/>
                </a:lnTo>
                <a:lnTo>
                  <a:pt x="2673518" y="1730029"/>
                </a:lnTo>
                <a:lnTo>
                  <a:pt x="2659133" y="1772760"/>
                </a:lnTo>
                <a:lnTo>
                  <a:pt x="2643234" y="1815092"/>
                </a:lnTo>
                <a:lnTo>
                  <a:pt x="2625820" y="1856984"/>
                </a:lnTo>
                <a:lnTo>
                  <a:pt x="2606893" y="1898398"/>
                </a:lnTo>
                <a:lnTo>
                  <a:pt x="2586451" y="1939293"/>
                </a:lnTo>
                <a:lnTo>
                  <a:pt x="2564495" y="1979629"/>
                </a:lnTo>
                <a:lnTo>
                  <a:pt x="2541024" y="2019367"/>
                </a:lnTo>
                <a:lnTo>
                  <a:pt x="2516040" y="2058466"/>
                </a:lnTo>
                <a:lnTo>
                  <a:pt x="2489541" y="2096887"/>
                </a:lnTo>
                <a:lnTo>
                  <a:pt x="2461528" y="2134589"/>
                </a:lnTo>
                <a:lnTo>
                  <a:pt x="2432001" y="2171533"/>
                </a:lnTo>
                <a:lnTo>
                  <a:pt x="2400960" y="2207679"/>
                </a:lnTo>
                <a:lnTo>
                  <a:pt x="2368404" y="2242987"/>
                </a:lnTo>
                <a:lnTo>
                  <a:pt x="2334334" y="2277417"/>
                </a:lnTo>
                <a:lnTo>
                  <a:pt x="2299044" y="2310656"/>
                </a:lnTo>
                <a:lnTo>
                  <a:pt x="2262854" y="2342418"/>
                </a:lnTo>
                <a:lnTo>
                  <a:pt x="2225804" y="2372702"/>
                </a:lnTo>
                <a:lnTo>
                  <a:pt x="2187937" y="2401509"/>
                </a:lnTo>
                <a:lnTo>
                  <a:pt x="2149292" y="2428839"/>
                </a:lnTo>
                <a:lnTo>
                  <a:pt x="2109912" y="2454692"/>
                </a:lnTo>
                <a:lnTo>
                  <a:pt x="2069835" y="2479067"/>
                </a:lnTo>
                <a:lnTo>
                  <a:pt x="2029105" y="2501965"/>
                </a:lnTo>
                <a:lnTo>
                  <a:pt x="1987760" y="2523386"/>
                </a:lnTo>
                <a:lnTo>
                  <a:pt x="1945843" y="2543329"/>
                </a:lnTo>
                <a:lnTo>
                  <a:pt x="1903395" y="2561795"/>
                </a:lnTo>
                <a:lnTo>
                  <a:pt x="1860455" y="2578784"/>
                </a:lnTo>
                <a:lnTo>
                  <a:pt x="1817065" y="2594295"/>
                </a:lnTo>
                <a:lnTo>
                  <a:pt x="1773267" y="2608330"/>
                </a:lnTo>
                <a:lnTo>
                  <a:pt x="1729100" y="2620887"/>
                </a:lnTo>
                <a:lnTo>
                  <a:pt x="1684606" y="2631966"/>
                </a:lnTo>
                <a:lnTo>
                  <a:pt x="1639826" y="2641569"/>
                </a:lnTo>
                <a:lnTo>
                  <a:pt x="1594800" y="2649694"/>
                </a:lnTo>
                <a:lnTo>
                  <a:pt x="1549570" y="2656342"/>
                </a:lnTo>
                <a:lnTo>
                  <a:pt x="1504176" y="2661512"/>
                </a:lnTo>
                <a:lnTo>
                  <a:pt x="1458659" y="2665205"/>
                </a:lnTo>
                <a:lnTo>
                  <a:pt x="1413061" y="2667421"/>
                </a:lnTo>
                <a:lnTo>
                  <a:pt x="1367422" y="2668160"/>
                </a:lnTo>
                <a:lnTo>
                  <a:pt x="1321782" y="2667421"/>
                </a:lnTo>
                <a:lnTo>
                  <a:pt x="1276184" y="2665205"/>
                </a:lnTo>
                <a:lnTo>
                  <a:pt x="1230667" y="2661512"/>
                </a:lnTo>
                <a:lnTo>
                  <a:pt x="1185273" y="2656342"/>
                </a:lnTo>
                <a:lnTo>
                  <a:pt x="1140043" y="2649694"/>
                </a:lnTo>
                <a:lnTo>
                  <a:pt x="1095017" y="2641569"/>
                </a:lnTo>
                <a:lnTo>
                  <a:pt x="1050237" y="2631966"/>
                </a:lnTo>
                <a:lnTo>
                  <a:pt x="1005743" y="2620887"/>
                </a:lnTo>
                <a:lnTo>
                  <a:pt x="961576" y="2608330"/>
                </a:lnTo>
                <a:lnTo>
                  <a:pt x="917778" y="2594295"/>
                </a:lnTo>
                <a:lnTo>
                  <a:pt x="874388" y="2578784"/>
                </a:lnTo>
                <a:lnTo>
                  <a:pt x="831448" y="2561795"/>
                </a:lnTo>
                <a:lnTo>
                  <a:pt x="789000" y="2543329"/>
                </a:lnTo>
                <a:lnTo>
                  <a:pt x="747083" y="2523386"/>
                </a:lnTo>
                <a:lnTo>
                  <a:pt x="705738" y="2501965"/>
                </a:lnTo>
                <a:lnTo>
                  <a:pt x="665007" y="2479067"/>
                </a:lnTo>
                <a:lnTo>
                  <a:pt x="624931" y="2454692"/>
                </a:lnTo>
                <a:lnTo>
                  <a:pt x="585550" y="2428839"/>
                </a:lnTo>
                <a:lnTo>
                  <a:pt x="546906" y="2401509"/>
                </a:lnTo>
                <a:lnTo>
                  <a:pt x="509038" y="2372702"/>
                </a:lnTo>
                <a:lnTo>
                  <a:pt x="471989" y="2342418"/>
                </a:lnTo>
                <a:lnTo>
                  <a:pt x="435799" y="2310656"/>
                </a:lnTo>
                <a:lnTo>
                  <a:pt x="400508" y="2277417"/>
                </a:lnTo>
                <a:lnTo>
                  <a:pt x="366438" y="2242987"/>
                </a:lnTo>
                <a:lnTo>
                  <a:pt x="333883" y="2207679"/>
                </a:lnTo>
                <a:lnTo>
                  <a:pt x="302842" y="2171533"/>
                </a:lnTo>
                <a:lnTo>
                  <a:pt x="273314" y="2134589"/>
                </a:lnTo>
                <a:lnTo>
                  <a:pt x="245302" y="2096887"/>
                </a:lnTo>
                <a:lnTo>
                  <a:pt x="218803" y="2058466"/>
                </a:lnTo>
                <a:lnTo>
                  <a:pt x="193818" y="2019367"/>
                </a:lnTo>
                <a:lnTo>
                  <a:pt x="170348" y="1979629"/>
                </a:lnTo>
                <a:lnTo>
                  <a:pt x="148392" y="1939293"/>
                </a:lnTo>
                <a:lnTo>
                  <a:pt x="127950" y="1898398"/>
                </a:lnTo>
                <a:lnTo>
                  <a:pt x="109023" y="1856984"/>
                </a:lnTo>
                <a:lnTo>
                  <a:pt x="91609" y="1815092"/>
                </a:lnTo>
                <a:lnTo>
                  <a:pt x="75710" y="1772760"/>
                </a:lnTo>
                <a:lnTo>
                  <a:pt x="61325" y="1730029"/>
                </a:lnTo>
                <a:lnTo>
                  <a:pt x="48454" y="1686939"/>
                </a:lnTo>
                <a:lnTo>
                  <a:pt x="37098" y="1643530"/>
                </a:lnTo>
                <a:lnTo>
                  <a:pt x="27255" y="1599842"/>
                </a:lnTo>
                <a:lnTo>
                  <a:pt x="18927" y="1555914"/>
                </a:lnTo>
                <a:lnTo>
                  <a:pt x="12113" y="1511787"/>
                </a:lnTo>
                <a:lnTo>
                  <a:pt x="6813" y="1467499"/>
                </a:lnTo>
                <a:lnTo>
                  <a:pt x="3028" y="1423093"/>
                </a:lnTo>
                <a:lnTo>
                  <a:pt x="757" y="1378606"/>
                </a:lnTo>
                <a:lnTo>
                  <a:pt x="0" y="1334080"/>
                </a:lnTo>
                <a:lnTo>
                  <a:pt x="757" y="1289553"/>
                </a:lnTo>
                <a:lnTo>
                  <a:pt x="3028" y="1245066"/>
                </a:lnTo>
                <a:lnTo>
                  <a:pt x="6813" y="1200660"/>
                </a:lnTo>
                <a:lnTo>
                  <a:pt x="12113" y="1156373"/>
                </a:lnTo>
                <a:lnTo>
                  <a:pt x="18927" y="1112245"/>
                </a:lnTo>
                <a:lnTo>
                  <a:pt x="27255" y="1068317"/>
                </a:lnTo>
                <a:lnTo>
                  <a:pt x="37098" y="1024629"/>
                </a:lnTo>
                <a:lnTo>
                  <a:pt x="48454" y="981220"/>
                </a:lnTo>
                <a:lnTo>
                  <a:pt x="61325" y="938130"/>
                </a:lnTo>
                <a:lnTo>
                  <a:pt x="75710" y="895399"/>
                </a:lnTo>
                <a:lnTo>
                  <a:pt x="91609" y="853068"/>
                </a:lnTo>
                <a:lnTo>
                  <a:pt x="109023" y="811175"/>
                </a:lnTo>
                <a:lnTo>
                  <a:pt x="127950" y="769761"/>
                </a:lnTo>
                <a:lnTo>
                  <a:pt x="148392" y="728866"/>
                </a:lnTo>
                <a:lnTo>
                  <a:pt x="170348" y="688530"/>
                </a:lnTo>
                <a:lnTo>
                  <a:pt x="193818" y="648792"/>
                </a:lnTo>
                <a:lnTo>
                  <a:pt x="218803" y="609693"/>
                </a:lnTo>
                <a:lnTo>
                  <a:pt x="245302" y="571273"/>
                </a:lnTo>
                <a:lnTo>
                  <a:pt x="273314" y="533570"/>
                </a:lnTo>
                <a:lnTo>
                  <a:pt x="302842" y="496626"/>
                </a:lnTo>
                <a:lnTo>
                  <a:pt x="333883" y="460480"/>
                </a:lnTo>
                <a:lnTo>
                  <a:pt x="366438" y="425172"/>
                </a:lnTo>
                <a:lnTo>
                  <a:pt x="400508" y="390742"/>
                </a:lnTo>
                <a:lnTo>
                  <a:pt x="435799" y="357503"/>
                </a:lnTo>
                <a:lnTo>
                  <a:pt x="471989" y="325742"/>
                </a:lnTo>
                <a:lnTo>
                  <a:pt x="509038" y="295457"/>
                </a:lnTo>
                <a:lnTo>
                  <a:pt x="546906" y="266650"/>
                </a:lnTo>
                <a:lnTo>
                  <a:pt x="585550" y="239320"/>
                </a:lnTo>
                <a:lnTo>
                  <a:pt x="624931" y="213468"/>
                </a:lnTo>
                <a:lnTo>
                  <a:pt x="665007" y="189092"/>
                </a:lnTo>
                <a:lnTo>
                  <a:pt x="705738" y="166195"/>
                </a:lnTo>
                <a:lnTo>
                  <a:pt x="747083" y="144774"/>
                </a:lnTo>
                <a:lnTo>
                  <a:pt x="789000" y="124830"/>
                </a:lnTo>
                <a:lnTo>
                  <a:pt x="831448" y="106364"/>
                </a:lnTo>
                <a:lnTo>
                  <a:pt x="874388" y="89375"/>
                </a:lnTo>
                <a:lnTo>
                  <a:pt x="917778" y="73864"/>
                </a:lnTo>
                <a:lnTo>
                  <a:pt x="961576" y="59830"/>
                </a:lnTo>
                <a:lnTo>
                  <a:pt x="1005743" y="47273"/>
                </a:lnTo>
                <a:lnTo>
                  <a:pt x="1050237" y="36193"/>
                </a:lnTo>
                <a:lnTo>
                  <a:pt x="1095017" y="26591"/>
                </a:lnTo>
                <a:lnTo>
                  <a:pt x="1140043" y="18466"/>
                </a:lnTo>
                <a:lnTo>
                  <a:pt x="1185273" y="11818"/>
                </a:lnTo>
                <a:lnTo>
                  <a:pt x="1230667" y="6647"/>
                </a:lnTo>
                <a:lnTo>
                  <a:pt x="1276184" y="2954"/>
                </a:lnTo>
                <a:lnTo>
                  <a:pt x="1321782" y="738"/>
                </a:lnTo>
                <a:lnTo>
                  <a:pt x="1367422" y="0"/>
                </a:lnTo>
                <a:lnTo>
                  <a:pt x="1413061" y="738"/>
                </a:lnTo>
                <a:lnTo>
                  <a:pt x="1458659" y="2954"/>
                </a:lnTo>
                <a:lnTo>
                  <a:pt x="1504176" y="6647"/>
                </a:lnTo>
                <a:lnTo>
                  <a:pt x="1549570" y="11818"/>
                </a:lnTo>
                <a:lnTo>
                  <a:pt x="1594800" y="18466"/>
                </a:lnTo>
                <a:lnTo>
                  <a:pt x="1639826" y="26591"/>
                </a:lnTo>
                <a:lnTo>
                  <a:pt x="1684606" y="36193"/>
                </a:lnTo>
                <a:lnTo>
                  <a:pt x="1729100" y="47273"/>
                </a:lnTo>
                <a:lnTo>
                  <a:pt x="1773267" y="59830"/>
                </a:lnTo>
                <a:lnTo>
                  <a:pt x="1817065" y="73864"/>
                </a:lnTo>
                <a:lnTo>
                  <a:pt x="1860455" y="89375"/>
                </a:lnTo>
                <a:lnTo>
                  <a:pt x="1903395" y="106364"/>
                </a:lnTo>
                <a:lnTo>
                  <a:pt x="1945843" y="124830"/>
                </a:lnTo>
                <a:lnTo>
                  <a:pt x="1987760" y="144774"/>
                </a:lnTo>
                <a:lnTo>
                  <a:pt x="2029105" y="166195"/>
                </a:lnTo>
                <a:lnTo>
                  <a:pt x="2069835" y="189092"/>
                </a:lnTo>
                <a:lnTo>
                  <a:pt x="2109912" y="213468"/>
                </a:lnTo>
                <a:lnTo>
                  <a:pt x="2149292" y="239320"/>
                </a:lnTo>
                <a:lnTo>
                  <a:pt x="2187937" y="266650"/>
                </a:lnTo>
                <a:lnTo>
                  <a:pt x="2225804" y="295457"/>
                </a:lnTo>
                <a:lnTo>
                  <a:pt x="2262854" y="325742"/>
                </a:lnTo>
                <a:lnTo>
                  <a:pt x="2299044" y="357503"/>
                </a:lnTo>
                <a:lnTo>
                  <a:pt x="2334334" y="390742"/>
                </a:lnTo>
                <a:close/>
              </a:path>
            </a:pathLst>
          </a:custGeom>
          <a:ln w="101600">
            <a:solidFill>
              <a:srgbClr val="1F49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9"/>
          <p:cNvSpPr/>
          <p:nvPr/>
        </p:nvSpPr>
        <p:spPr>
          <a:xfrm>
            <a:off x="7885992" y="3580126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9"/>
                </a:lnTo>
                <a:lnTo>
                  <a:pt x="118531" y="145774"/>
                </a:lnTo>
                <a:lnTo>
                  <a:pt x="88768" y="180857"/>
                </a:lnTo>
                <a:lnTo>
                  <a:pt x="62814" y="218789"/>
                </a:lnTo>
                <a:lnTo>
                  <a:pt x="40949" y="259300"/>
                </a:lnTo>
                <a:lnTo>
                  <a:pt x="23455" y="302121"/>
                </a:lnTo>
                <a:lnTo>
                  <a:pt x="10611" y="346982"/>
                </a:lnTo>
                <a:lnTo>
                  <a:pt x="2699" y="393614"/>
                </a:lnTo>
                <a:lnTo>
                  <a:pt x="0" y="441747"/>
                </a:lnTo>
                <a:lnTo>
                  <a:pt x="2699" y="489881"/>
                </a:lnTo>
                <a:lnTo>
                  <a:pt x="10611" y="536512"/>
                </a:lnTo>
                <a:lnTo>
                  <a:pt x="23455" y="581373"/>
                </a:lnTo>
                <a:lnTo>
                  <a:pt x="40949" y="624194"/>
                </a:lnTo>
                <a:lnTo>
                  <a:pt x="62814" y="664705"/>
                </a:lnTo>
                <a:lnTo>
                  <a:pt x="88768" y="702637"/>
                </a:lnTo>
                <a:lnTo>
                  <a:pt x="118531" y="737720"/>
                </a:lnTo>
                <a:lnTo>
                  <a:pt x="151822" y="769685"/>
                </a:lnTo>
                <a:lnTo>
                  <a:pt x="188361" y="798262"/>
                </a:lnTo>
                <a:lnTo>
                  <a:pt x="227867" y="823183"/>
                </a:lnTo>
                <a:lnTo>
                  <a:pt x="270059" y="844176"/>
                </a:lnTo>
                <a:lnTo>
                  <a:pt x="314657" y="860973"/>
                </a:lnTo>
                <a:lnTo>
                  <a:pt x="361380" y="873305"/>
                </a:lnTo>
                <a:lnTo>
                  <a:pt x="409947" y="880902"/>
                </a:lnTo>
                <a:lnTo>
                  <a:pt x="460077" y="883494"/>
                </a:lnTo>
                <a:lnTo>
                  <a:pt x="510208" y="880902"/>
                </a:lnTo>
                <a:lnTo>
                  <a:pt x="558775" y="873305"/>
                </a:lnTo>
                <a:lnTo>
                  <a:pt x="605498" y="860973"/>
                </a:lnTo>
                <a:lnTo>
                  <a:pt x="650095" y="844176"/>
                </a:lnTo>
                <a:lnTo>
                  <a:pt x="692287" y="823183"/>
                </a:lnTo>
                <a:lnTo>
                  <a:pt x="731793" y="798262"/>
                </a:lnTo>
                <a:lnTo>
                  <a:pt x="768332" y="769685"/>
                </a:lnTo>
                <a:lnTo>
                  <a:pt x="801624" y="737720"/>
                </a:lnTo>
                <a:lnTo>
                  <a:pt x="831387" y="702637"/>
                </a:lnTo>
                <a:lnTo>
                  <a:pt x="857341" y="664705"/>
                </a:lnTo>
                <a:lnTo>
                  <a:pt x="879206" y="624194"/>
                </a:lnTo>
                <a:lnTo>
                  <a:pt x="896700" y="581373"/>
                </a:lnTo>
                <a:lnTo>
                  <a:pt x="909544" y="536512"/>
                </a:lnTo>
                <a:lnTo>
                  <a:pt x="917455" y="489881"/>
                </a:lnTo>
                <a:lnTo>
                  <a:pt x="920155" y="441747"/>
                </a:lnTo>
                <a:lnTo>
                  <a:pt x="917455" y="393614"/>
                </a:lnTo>
                <a:lnTo>
                  <a:pt x="909544" y="346982"/>
                </a:lnTo>
                <a:lnTo>
                  <a:pt x="896700" y="302121"/>
                </a:lnTo>
                <a:lnTo>
                  <a:pt x="879206" y="259300"/>
                </a:lnTo>
                <a:lnTo>
                  <a:pt x="857341" y="218789"/>
                </a:lnTo>
                <a:lnTo>
                  <a:pt x="831387" y="180857"/>
                </a:lnTo>
                <a:lnTo>
                  <a:pt x="801624" y="145774"/>
                </a:lnTo>
                <a:lnTo>
                  <a:pt x="768332" y="113809"/>
                </a:lnTo>
                <a:lnTo>
                  <a:pt x="731793" y="85231"/>
                </a:lnTo>
                <a:lnTo>
                  <a:pt x="692287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10"/>
          <p:cNvSpPr/>
          <p:nvPr/>
        </p:nvSpPr>
        <p:spPr>
          <a:xfrm>
            <a:off x="7885992" y="3580126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1"/>
          <p:cNvSpPr txBox="1"/>
          <p:nvPr/>
        </p:nvSpPr>
        <p:spPr>
          <a:xfrm>
            <a:off x="8204100" y="3710475"/>
            <a:ext cx="28448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AD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5" name="object 12"/>
          <p:cNvSpPr/>
          <p:nvPr/>
        </p:nvSpPr>
        <p:spPr>
          <a:xfrm>
            <a:off x="7885287" y="5364259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8"/>
                </a:lnTo>
                <a:lnTo>
                  <a:pt x="118531" y="145773"/>
                </a:lnTo>
                <a:lnTo>
                  <a:pt x="88768" y="180857"/>
                </a:lnTo>
                <a:lnTo>
                  <a:pt x="62814" y="218789"/>
                </a:lnTo>
                <a:lnTo>
                  <a:pt x="40949" y="259300"/>
                </a:lnTo>
                <a:lnTo>
                  <a:pt x="23455" y="302121"/>
                </a:lnTo>
                <a:lnTo>
                  <a:pt x="10611" y="346982"/>
                </a:lnTo>
                <a:lnTo>
                  <a:pt x="2699" y="393614"/>
                </a:lnTo>
                <a:lnTo>
                  <a:pt x="0" y="441747"/>
                </a:lnTo>
                <a:lnTo>
                  <a:pt x="2699" y="489880"/>
                </a:lnTo>
                <a:lnTo>
                  <a:pt x="10611" y="536512"/>
                </a:lnTo>
                <a:lnTo>
                  <a:pt x="23455" y="581373"/>
                </a:lnTo>
                <a:lnTo>
                  <a:pt x="40949" y="624194"/>
                </a:lnTo>
                <a:lnTo>
                  <a:pt x="62814" y="664705"/>
                </a:lnTo>
                <a:lnTo>
                  <a:pt x="88768" y="702637"/>
                </a:lnTo>
                <a:lnTo>
                  <a:pt x="118531" y="737720"/>
                </a:lnTo>
                <a:lnTo>
                  <a:pt x="151822" y="769685"/>
                </a:lnTo>
                <a:lnTo>
                  <a:pt x="188361" y="798263"/>
                </a:lnTo>
                <a:lnTo>
                  <a:pt x="227867" y="823183"/>
                </a:lnTo>
                <a:lnTo>
                  <a:pt x="270059" y="844176"/>
                </a:lnTo>
                <a:lnTo>
                  <a:pt x="314657" y="860973"/>
                </a:lnTo>
                <a:lnTo>
                  <a:pt x="361380" y="873305"/>
                </a:lnTo>
                <a:lnTo>
                  <a:pt x="409947" y="880902"/>
                </a:lnTo>
                <a:lnTo>
                  <a:pt x="460077" y="883494"/>
                </a:lnTo>
                <a:lnTo>
                  <a:pt x="510208" y="880902"/>
                </a:lnTo>
                <a:lnTo>
                  <a:pt x="558775" y="873305"/>
                </a:lnTo>
                <a:lnTo>
                  <a:pt x="605498" y="860973"/>
                </a:lnTo>
                <a:lnTo>
                  <a:pt x="650095" y="844176"/>
                </a:lnTo>
                <a:lnTo>
                  <a:pt x="692288" y="823183"/>
                </a:lnTo>
                <a:lnTo>
                  <a:pt x="731794" y="798263"/>
                </a:lnTo>
                <a:lnTo>
                  <a:pt x="768333" y="769685"/>
                </a:lnTo>
                <a:lnTo>
                  <a:pt x="801624" y="737720"/>
                </a:lnTo>
                <a:lnTo>
                  <a:pt x="831388" y="702637"/>
                </a:lnTo>
                <a:lnTo>
                  <a:pt x="857342" y="664705"/>
                </a:lnTo>
                <a:lnTo>
                  <a:pt x="879207" y="624194"/>
                </a:lnTo>
                <a:lnTo>
                  <a:pt x="896701" y="581373"/>
                </a:lnTo>
                <a:lnTo>
                  <a:pt x="909545" y="536512"/>
                </a:lnTo>
                <a:lnTo>
                  <a:pt x="917457" y="489880"/>
                </a:lnTo>
                <a:lnTo>
                  <a:pt x="920156" y="441747"/>
                </a:lnTo>
                <a:lnTo>
                  <a:pt x="917457" y="393614"/>
                </a:lnTo>
                <a:lnTo>
                  <a:pt x="909545" y="346982"/>
                </a:lnTo>
                <a:lnTo>
                  <a:pt x="896701" y="302121"/>
                </a:lnTo>
                <a:lnTo>
                  <a:pt x="879207" y="259300"/>
                </a:lnTo>
                <a:lnTo>
                  <a:pt x="857342" y="218789"/>
                </a:lnTo>
                <a:lnTo>
                  <a:pt x="831388" y="180857"/>
                </a:lnTo>
                <a:lnTo>
                  <a:pt x="801624" y="145773"/>
                </a:lnTo>
                <a:lnTo>
                  <a:pt x="768333" y="113808"/>
                </a:lnTo>
                <a:lnTo>
                  <a:pt x="731794" y="85231"/>
                </a:lnTo>
                <a:lnTo>
                  <a:pt x="692288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3"/>
          <p:cNvSpPr/>
          <p:nvPr/>
        </p:nvSpPr>
        <p:spPr>
          <a:xfrm>
            <a:off x="7885287" y="5364259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14"/>
          <p:cNvSpPr txBox="1"/>
          <p:nvPr/>
        </p:nvSpPr>
        <p:spPr>
          <a:xfrm>
            <a:off x="8210948" y="5494608"/>
            <a:ext cx="26924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AB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8" name="object 15"/>
          <p:cNvSpPr/>
          <p:nvPr/>
        </p:nvSpPr>
        <p:spPr>
          <a:xfrm>
            <a:off x="6070600" y="3580130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8"/>
                </a:lnTo>
                <a:lnTo>
                  <a:pt x="118531" y="145773"/>
                </a:lnTo>
                <a:lnTo>
                  <a:pt x="88768" y="180856"/>
                </a:lnTo>
                <a:lnTo>
                  <a:pt x="62814" y="218788"/>
                </a:lnTo>
                <a:lnTo>
                  <a:pt x="40949" y="259299"/>
                </a:lnTo>
                <a:lnTo>
                  <a:pt x="23455" y="302120"/>
                </a:lnTo>
                <a:lnTo>
                  <a:pt x="10611" y="346981"/>
                </a:lnTo>
                <a:lnTo>
                  <a:pt x="2699" y="393613"/>
                </a:lnTo>
                <a:lnTo>
                  <a:pt x="0" y="441746"/>
                </a:lnTo>
                <a:lnTo>
                  <a:pt x="2699" y="489879"/>
                </a:lnTo>
                <a:lnTo>
                  <a:pt x="10611" y="536511"/>
                </a:lnTo>
                <a:lnTo>
                  <a:pt x="23455" y="581372"/>
                </a:lnTo>
                <a:lnTo>
                  <a:pt x="40949" y="624193"/>
                </a:lnTo>
                <a:lnTo>
                  <a:pt x="62814" y="664704"/>
                </a:lnTo>
                <a:lnTo>
                  <a:pt x="88768" y="702636"/>
                </a:lnTo>
                <a:lnTo>
                  <a:pt x="118531" y="737719"/>
                </a:lnTo>
                <a:lnTo>
                  <a:pt x="151822" y="769684"/>
                </a:lnTo>
                <a:lnTo>
                  <a:pt x="188361" y="798261"/>
                </a:lnTo>
                <a:lnTo>
                  <a:pt x="227867" y="823181"/>
                </a:lnTo>
                <a:lnTo>
                  <a:pt x="270059" y="844175"/>
                </a:lnTo>
                <a:lnTo>
                  <a:pt x="314657" y="860972"/>
                </a:lnTo>
                <a:lnTo>
                  <a:pt x="361380" y="873304"/>
                </a:lnTo>
                <a:lnTo>
                  <a:pt x="409947" y="880901"/>
                </a:lnTo>
                <a:lnTo>
                  <a:pt x="460077" y="883493"/>
                </a:lnTo>
                <a:lnTo>
                  <a:pt x="510208" y="880901"/>
                </a:lnTo>
                <a:lnTo>
                  <a:pt x="558775" y="873304"/>
                </a:lnTo>
                <a:lnTo>
                  <a:pt x="605498" y="860972"/>
                </a:lnTo>
                <a:lnTo>
                  <a:pt x="650095" y="844175"/>
                </a:lnTo>
                <a:lnTo>
                  <a:pt x="692287" y="823181"/>
                </a:lnTo>
                <a:lnTo>
                  <a:pt x="731793" y="798261"/>
                </a:lnTo>
                <a:lnTo>
                  <a:pt x="768332" y="769684"/>
                </a:lnTo>
                <a:lnTo>
                  <a:pt x="801624" y="737719"/>
                </a:lnTo>
                <a:lnTo>
                  <a:pt x="831387" y="702636"/>
                </a:lnTo>
                <a:lnTo>
                  <a:pt x="857341" y="664704"/>
                </a:lnTo>
                <a:lnTo>
                  <a:pt x="879206" y="624193"/>
                </a:lnTo>
                <a:lnTo>
                  <a:pt x="896700" y="581372"/>
                </a:lnTo>
                <a:lnTo>
                  <a:pt x="909544" y="536511"/>
                </a:lnTo>
                <a:lnTo>
                  <a:pt x="917455" y="489879"/>
                </a:lnTo>
                <a:lnTo>
                  <a:pt x="920155" y="441746"/>
                </a:lnTo>
                <a:lnTo>
                  <a:pt x="917455" y="393613"/>
                </a:lnTo>
                <a:lnTo>
                  <a:pt x="909544" y="346981"/>
                </a:lnTo>
                <a:lnTo>
                  <a:pt x="896700" y="302120"/>
                </a:lnTo>
                <a:lnTo>
                  <a:pt x="879206" y="259299"/>
                </a:lnTo>
                <a:lnTo>
                  <a:pt x="857341" y="218788"/>
                </a:lnTo>
                <a:lnTo>
                  <a:pt x="831387" y="180856"/>
                </a:lnTo>
                <a:lnTo>
                  <a:pt x="801624" y="145773"/>
                </a:lnTo>
                <a:lnTo>
                  <a:pt x="768332" y="113808"/>
                </a:lnTo>
                <a:lnTo>
                  <a:pt x="731793" y="85231"/>
                </a:lnTo>
                <a:lnTo>
                  <a:pt x="692287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6"/>
          <p:cNvSpPr/>
          <p:nvPr/>
        </p:nvSpPr>
        <p:spPr>
          <a:xfrm>
            <a:off x="6070600" y="3580130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17"/>
          <p:cNvSpPr txBox="1"/>
          <p:nvPr/>
        </p:nvSpPr>
        <p:spPr>
          <a:xfrm>
            <a:off x="6387405" y="3710478"/>
            <a:ext cx="28702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spc="-5" dirty="0">
                <a:solidFill>
                  <a:srgbClr val="FFFFFF"/>
                </a:solidFill>
                <a:latin typeface="Verdana"/>
                <a:cs typeface="Verdana"/>
              </a:rPr>
              <a:t>CD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1" name="object 18"/>
          <p:cNvSpPr/>
          <p:nvPr/>
        </p:nvSpPr>
        <p:spPr>
          <a:xfrm>
            <a:off x="6070600" y="5364259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8"/>
                </a:lnTo>
                <a:lnTo>
                  <a:pt x="118531" y="145773"/>
                </a:lnTo>
                <a:lnTo>
                  <a:pt x="88768" y="180856"/>
                </a:lnTo>
                <a:lnTo>
                  <a:pt x="62814" y="218788"/>
                </a:lnTo>
                <a:lnTo>
                  <a:pt x="40949" y="259299"/>
                </a:lnTo>
                <a:lnTo>
                  <a:pt x="23455" y="302120"/>
                </a:lnTo>
                <a:lnTo>
                  <a:pt x="10611" y="346981"/>
                </a:lnTo>
                <a:lnTo>
                  <a:pt x="2699" y="393613"/>
                </a:lnTo>
                <a:lnTo>
                  <a:pt x="0" y="441746"/>
                </a:lnTo>
                <a:lnTo>
                  <a:pt x="2699" y="489879"/>
                </a:lnTo>
                <a:lnTo>
                  <a:pt x="10611" y="536511"/>
                </a:lnTo>
                <a:lnTo>
                  <a:pt x="23455" y="581372"/>
                </a:lnTo>
                <a:lnTo>
                  <a:pt x="40949" y="624193"/>
                </a:lnTo>
                <a:lnTo>
                  <a:pt x="62814" y="664704"/>
                </a:lnTo>
                <a:lnTo>
                  <a:pt x="88768" y="702636"/>
                </a:lnTo>
                <a:lnTo>
                  <a:pt x="118531" y="737719"/>
                </a:lnTo>
                <a:lnTo>
                  <a:pt x="151822" y="769684"/>
                </a:lnTo>
                <a:lnTo>
                  <a:pt x="188361" y="798262"/>
                </a:lnTo>
                <a:lnTo>
                  <a:pt x="227867" y="823182"/>
                </a:lnTo>
                <a:lnTo>
                  <a:pt x="270059" y="844175"/>
                </a:lnTo>
                <a:lnTo>
                  <a:pt x="314657" y="860972"/>
                </a:lnTo>
                <a:lnTo>
                  <a:pt x="361380" y="873304"/>
                </a:lnTo>
                <a:lnTo>
                  <a:pt x="409947" y="880901"/>
                </a:lnTo>
                <a:lnTo>
                  <a:pt x="460077" y="883493"/>
                </a:lnTo>
                <a:lnTo>
                  <a:pt x="510208" y="880901"/>
                </a:lnTo>
                <a:lnTo>
                  <a:pt x="558775" y="873304"/>
                </a:lnTo>
                <a:lnTo>
                  <a:pt x="605498" y="860972"/>
                </a:lnTo>
                <a:lnTo>
                  <a:pt x="650095" y="844175"/>
                </a:lnTo>
                <a:lnTo>
                  <a:pt x="692287" y="823182"/>
                </a:lnTo>
                <a:lnTo>
                  <a:pt x="731793" y="798262"/>
                </a:lnTo>
                <a:lnTo>
                  <a:pt x="768332" y="769684"/>
                </a:lnTo>
                <a:lnTo>
                  <a:pt x="801624" y="737719"/>
                </a:lnTo>
                <a:lnTo>
                  <a:pt x="831387" y="702636"/>
                </a:lnTo>
                <a:lnTo>
                  <a:pt x="857341" y="664704"/>
                </a:lnTo>
                <a:lnTo>
                  <a:pt x="879206" y="624193"/>
                </a:lnTo>
                <a:lnTo>
                  <a:pt x="896700" y="581372"/>
                </a:lnTo>
                <a:lnTo>
                  <a:pt x="909544" y="536511"/>
                </a:lnTo>
                <a:lnTo>
                  <a:pt x="917455" y="489879"/>
                </a:lnTo>
                <a:lnTo>
                  <a:pt x="920155" y="441746"/>
                </a:lnTo>
                <a:lnTo>
                  <a:pt x="917455" y="393613"/>
                </a:lnTo>
                <a:lnTo>
                  <a:pt x="909544" y="346981"/>
                </a:lnTo>
                <a:lnTo>
                  <a:pt x="896700" y="302120"/>
                </a:lnTo>
                <a:lnTo>
                  <a:pt x="879206" y="259299"/>
                </a:lnTo>
                <a:lnTo>
                  <a:pt x="857341" y="218788"/>
                </a:lnTo>
                <a:lnTo>
                  <a:pt x="831387" y="180856"/>
                </a:lnTo>
                <a:lnTo>
                  <a:pt x="801624" y="145773"/>
                </a:lnTo>
                <a:lnTo>
                  <a:pt x="768332" y="113808"/>
                </a:lnTo>
                <a:lnTo>
                  <a:pt x="731793" y="85231"/>
                </a:lnTo>
                <a:lnTo>
                  <a:pt x="692287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19"/>
          <p:cNvSpPr/>
          <p:nvPr/>
        </p:nvSpPr>
        <p:spPr>
          <a:xfrm>
            <a:off x="6070600" y="5364259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0"/>
          <p:cNvSpPr txBox="1"/>
          <p:nvPr/>
        </p:nvSpPr>
        <p:spPr>
          <a:xfrm>
            <a:off x="6394959" y="5494607"/>
            <a:ext cx="27178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spc="-5" dirty="0">
                <a:solidFill>
                  <a:srgbClr val="FFFFFF"/>
                </a:solidFill>
                <a:latin typeface="Verdana"/>
                <a:cs typeface="Verdana"/>
              </a:rPr>
              <a:t>BC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4" name="object 21"/>
          <p:cNvSpPr/>
          <p:nvPr/>
        </p:nvSpPr>
        <p:spPr>
          <a:xfrm>
            <a:off x="4496043" y="4836038"/>
            <a:ext cx="1561856" cy="1963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2"/>
          <p:cNvSpPr/>
          <p:nvPr/>
        </p:nvSpPr>
        <p:spPr>
          <a:xfrm>
            <a:off x="4660900" y="4914209"/>
            <a:ext cx="1358900" cy="3810"/>
          </a:xfrm>
          <a:custGeom>
            <a:avLst/>
            <a:gdLst/>
            <a:ahLst/>
            <a:cxnLst/>
            <a:rect l="l" t="t" r="r" b="b"/>
            <a:pathLst>
              <a:path w="1358900" h="3810">
                <a:moveTo>
                  <a:pt x="-19050" y="1743"/>
                </a:moveTo>
                <a:lnTo>
                  <a:pt x="1377949" y="1743"/>
                </a:lnTo>
              </a:path>
            </a:pathLst>
          </a:custGeom>
          <a:ln w="41587">
            <a:solidFill>
              <a:srgbClr val="DDAE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23"/>
          <p:cNvSpPr/>
          <p:nvPr/>
        </p:nvSpPr>
        <p:spPr>
          <a:xfrm>
            <a:off x="4536525" y="4857626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120141" y="0"/>
                </a:moveTo>
                <a:lnTo>
                  <a:pt x="0" y="60070"/>
                </a:lnTo>
                <a:lnTo>
                  <a:pt x="120141" y="120141"/>
                </a:lnTo>
                <a:lnTo>
                  <a:pt x="120141" y="0"/>
                </a:lnTo>
                <a:close/>
              </a:path>
            </a:pathLst>
          </a:custGeom>
          <a:solidFill>
            <a:srgbClr val="DDAE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24"/>
          <p:cNvSpPr/>
          <p:nvPr/>
        </p:nvSpPr>
        <p:spPr>
          <a:xfrm>
            <a:off x="6432506" y="4445523"/>
            <a:ext cx="196342" cy="9768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25"/>
          <p:cNvSpPr/>
          <p:nvPr/>
        </p:nvSpPr>
        <p:spPr>
          <a:xfrm>
            <a:off x="6534149" y="4466847"/>
            <a:ext cx="0" cy="774700"/>
          </a:xfrm>
          <a:custGeom>
            <a:avLst/>
            <a:gdLst/>
            <a:ahLst/>
            <a:cxnLst/>
            <a:rect l="l" t="t" r="r" b="b"/>
            <a:pathLst>
              <a:path h="774700">
                <a:moveTo>
                  <a:pt x="0" y="0"/>
                </a:moveTo>
                <a:lnTo>
                  <a:pt x="0" y="774699"/>
                </a:lnTo>
              </a:path>
            </a:pathLst>
          </a:custGeom>
          <a:ln w="38100">
            <a:solidFill>
              <a:srgbClr val="A18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26"/>
          <p:cNvSpPr/>
          <p:nvPr/>
        </p:nvSpPr>
        <p:spPr>
          <a:xfrm>
            <a:off x="6474078" y="5245780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120142" y="0"/>
                </a:moveTo>
                <a:lnTo>
                  <a:pt x="0" y="0"/>
                </a:lnTo>
                <a:lnTo>
                  <a:pt x="60071" y="120141"/>
                </a:lnTo>
                <a:lnTo>
                  <a:pt x="120142" y="0"/>
                </a:lnTo>
                <a:close/>
              </a:path>
            </a:pathLst>
          </a:custGeom>
          <a:solidFill>
            <a:srgbClr val="A189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27"/>
          <p:cNvSpPr/>
          <p:nvPr/>
        </p:nvSpPr>
        <p:spPr>
          <a:xfrm>
            <a:off x="6952654" y="5727834"/>
            <a:ext cx="970733" cy="1963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28"/>
          <p:cNvSpPr/>
          <p:nvPr/>
        </p:nvSpPr>
        <p:spPr>
          <a:xfrm>
            <a:off x="7115130" y="5806005"/>
            <a:ext cx="770255" cy="0"/>
          </a:xfrm>
          <a:custGeom>
            <a:avLst/>
            <a:gdLst/>
            <a:ahLst/>
            <a:cxnLst/>
            <a:rect l="l" t="t" r="r" b="b"/>
            <a:pathLst>
              <a:path w="770254">
                <a:moveTo>
                  <a:pt x="0" y="0"/>
                </a:moveTo>
                <a:lnTo>
                  <a:pt x="19049" y="0"/>
                </a:lnTo>
                <a:lnTo>
                  <a:pt x="770157" y="0"/>
                </a:lnTo>
              </a:path>
            </a:pathLst>
          </a:custGeom>
          <a:ln w="38100">
            <a:solidFill>
              <a:srgbClr val="A18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29"/>
          <p:cNvSpPr/>
          <p:nvPr/>
        </p:nvSpPr>
        <p:spPr>
          <a:xfrm>
            <a:off x="6990754" y="5745934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120142" y="0"/>
                </a:moveTo>
                <a:lnTo>
                  <a:pt x="0" y="60070"/>
                </a:lnTo>
                <a:lnTo>
                  <a:pt x="120142" y="120141"/>
                </a:lnTo>
                <a:lnTo>
                  <a:pt x="120142" y="0"/>
                </a:lnTo>
                <a:close/>
              </a:path>
            </a:pathLst>
          </a:custGeom>
          <a:solidFill>
            <a:srgbClr val="A189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30"/>
          <p:cNvSpPr txBox="1"/>
          <p:nvPr/>
        </p:nvSpPr>
        <p:spPr>
          <a:xfrm>
            <a:off x="6563697" y="4540499"/>
            <a:ext cx="483234" cy="386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2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A=2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20"/>
              </a:lnSpc>
            </a:pPr>
            <a:r>
              <a:rPr sz="1200" b="1" dirty="0">
                <a:solidFill>
                  <a:srgbClr val="00B050"/>
                </a:solidFill>
                <a:latin typeface="Arial"/>
                <a:cs typeface="Arial"/>
              </a:rPr>
              <a:t>Newer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64" name="object 31"/>
          <p:cNvSpPr txBox="1"/>
          <p:nvPr/>
        </p:nvSpPr>
        <p:spPr>
          <a:xfrm>
            <a:off x="7204450" y="5829378"/>
            <a:ext cx="423545" cy="386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2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A=1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20"/>
              </a:lnSpc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Older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65" name="object 32"/>
          <p:cNvSpPr txBox="1"/>
          <p:nvPr/>
        </p:nvSpPr>
        <p:spPr>
          <a:xfrm>
            <a:off x="4880109" y="5578800"/>
            <a:ext cx="3092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A=2</a:t>
            </a:r>
            <a:endParaRPr sz="1200">
              <a:latin typeface="Arial"/>
              <a:cs typeface="Arial"/>
            </a:endParaRPr>
          </a:p>
        </p:txBody>
      </p:sp>
      <p:sp>
        <p:nvSpPr>
          <p:cNvPr id="66" name="object 33"/>
          <p:cNvSpPr txBox="1"/>
          <p:nvPr/>
        </p:nvSpPr>
        <p:spPr>
          <a:xfrm>
            <a:off x="700087" y="3867918"/>
            <a:ext cx="5310505" cy="723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200" dirty="0">
              <a:latin typeface="Verdana"/>
              <a:cs typeface="Verdana"/>
            </a:endParaRPr>
          </a:p>
          <a:p>
            <a:pPr marR="354965" algn="r">
              <a:lnSpc>
                <a:spcPct val="100000"/>
              </a:lnSpc>
              <a:spcBef>
                <a:spcPts val="1180"/>
              </a:spcBef>
            </a:pPr>
            <a:r>
              <a:rPr sz="1400" spc="-10" dirty="0">
                <a:latin typeface="Verdana"/>
                <a:cs typeface="Verdana"/>
              </a:rPr>
              <a:t>Read</a:t>
            </a:r>
            <a:r>
              <a:rPr sz="1400" spc="-10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</a:t>
            </a:r>
          </a:p>
        </p:txBody>
      </p:sp>
      <p:sp>
        <p:nvSpPr>
          <p:cNvPr id="67" name="object 34"/>
          <p:cNvSpPr txBox="1"/>
          <p:nvPr/>
        </p:nvSpPr>
        <p:spPr>
          <a:xfrm>
            <a:off x="4649173" y="4568872"/>
            <a:ext cx="13690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Verdana"/>
                <a:cs typeface="Verdana"/>
              </a:rPr>
              <a:t>(CL=QUORUM)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8" name="object 35"/>
          <p:cNvSpPr/>
          <p:nvPr/>
        </p:nvSpPr>
        <p:spPr>
          <a:xfrm>
            <a:off x="4515112" y="4758263"/>
            <a:ext cx="1637263" cy="10501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36"/>
          <p:cNvSpPr/>
          <p:nvPr/>
        </p:nvSpPr>
        <p:spPr>
          <a:xfrm>
            <a:off x="4596890" y="4842405"/>
            <a:ext cx="1365885" cy="780415"/>
          </a:xfrm>
          <a:custGeom>
            <a:avLst/>
            <a:gdLst/>
            <a:ahLst/>
            <a:cxnLst/>
            <a:rect l="l" t="t" r="r" b="b"/>
            <a:pathLst>
              <a:path w="1365885" h="780414">
                <a:moveTo>
                  <a:pt x="0" y="0"/>
                </a:moveTo>
                <a:lnTo>
                  <a:pt x="1349171" y="770688"/>
                </a:lnTo>
                <a:lnTo>
                  <a:pt x="1365712" y="780137"/>
                </a:lnTo>
              </a:path>
            </a:pathLst>
          </a:custGeom>
          <a:ln w="38099">
            <a:solidFill>
              <a:srgbClr val="DDAE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37"/>
          <p:cNvSpPr/>
          <p:nvPr/>
        </p:nvSpPr>
        <p:spPr>
          <a:xfrm>
            <a:off x="5936482" y="5572482"/>
            <a:ext cx="134620" cy="111760"/>
          </a:xfrm>
          <a:custGeom>
            <a:avLst/>
            <a:gdLst/>
            <a:ahLst/>
            <a:cxnLst/>
            <a:rect l="l" t="t" r="r" b="b"/>
            <a:pathLst>
              <a:path w="134620" h="111760">
                <a:moveTo>
                  <a:pt x="59592" y="0"/>
                </a:moveTo>
                <a:lnTo>
                  <a:pt x="0" y="104321"/>
                </a:lnTo>
                <a:lnTo>
                  <a:pt x="134117" y="111752"/>
                </a:lnTo>
                <a:lnTo>
                  <a:pt x="59592" y="0"/>
                </a:lnTo>
                <a:close/>
              </a:path>
            </a:pathLst>
          </a:custGeom>
          <a:solidFill>
            <a:srgbClr val="DDAE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1429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Data</a:t>
            </a:r>
            <a:r>
              <a:rPr lang="en-US" spc="-65" dirty="0"/>
              <a:t> </a:t>
            </a:r>
            <a:r>
              <a:rPr lang="en-US" spc="-5" dirty="0"/>
              <a:t>Distribution</a:t>
            </a:r>
            <a:endParaRPr 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444500" y="1941953"/>
            <a:ext cx="9906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Arial"/>
                <a:cs typeface="Arial"/>
              </a:rPr>
              <a:t>•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0087" y="1912074"/>
            <a:ext cx="581914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latin typeface="Verdana"/>
                <a:cs typeface="Verdana"/>
              </a:rPr>
              <a:t>Partition </a:t>
            </a:r>
            <a:r>
              <a:rPr sz="2200" spc="-30" dirty="0">
                <a:latin typeface="Verdana"/>
                <a:cs typeface="Verdana"/>
              </a:rPr>
              <a:t>Key </a:t>
            </a:r>
            <a:r>
              <a:rPr sz="2200" spc="-5" dirty="0">
                <a:latin typeface="Verdana"/>
                <a:cs typeface="Verdana"/>
              </a:rPr>
              <a:t>determines node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placement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73150" y="4465017"/>
            <a:ext cx="1752600" cy="1943100"/>
          </a:xfrm>
          <a:custGeom>
            <a:avLst/>
            <a:gdLst/>
            <a:ahLst/>
            <a:cxnLst/>
            <a:rect l="l" t="t" r="r" b="b"/>
            <a:pathLst>
              <a:path w="1752600" h="1943100">
                <a:moveTo>
                  <a:pt x="0" y="0"/>
                </a:moveTo>
                <a:lnTo>
                  <a:pt x="1752600" y="0"/>
                </a:lnTo>
                <a:lnTo>
                  <a:pt x="1752600" y="1943100"/>
                </a:lnTo>
                <a:lnTo>
                  <a:pt x="0" y="19431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6" name="object 6"/>
          <p:cNvSpPr/>
          <p:nvPr/>
        </p:nvSpPr>
        <p:spPr>
          <a:xfrm>
            <a:off x="1873150" y="4465017"/>
            <a:ext cx="1752600" cy="1943100"/>
          </a:xfrm>
          <a:custGeom>
            <a:avLst/>
            <a:gdLst/>
            <a:ahLst/>
            <a:cxnLst/>
            <a:rect l="l" t="t" r="r" b="b"/>
            <a:pathLst>
              <a:path w="1752600" h="1943100">
                <a:moveTo>
                  <a:pt x="0" y="0"/>
                </a:moveTo>
                <a:lnTo>
                  <a:pt x="1752599" y="0"/>
                </a:lnTo>
                <a:lnTo>
                  <a:pt x="1752599" y="1943099"/>
                </a:lnTo>
                <a:lnTo>
                  <a:pt x="0" y="1943099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7" name="object 7"/>
          <p:cNvSpPr txBox="1"/>
          <p:nvPr/>
        </p:nvSpPr>
        <p:spPr>
          <a:xfrm>
            <a:off x="1885850" y="4531360"/>
            <a:ext cx="1727200" cy="2898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20955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Verdana"/>
                <a:cs typeface="Verdana"/>
              </a:rPr>
              <a:t>Partition</a:t>
            </a:r>
            <a:r>
              <a:rPr spc="-60" dirty="0">
                <a:latin typeface="Verdana"/>
                <a:cs typeface="Verdana"/>
              </a:rPr>
              <a:t> </a:t>
            </a:r>
            <a:r>
              <a:rPr spc="-20" dirty="0">
                <a:latin typeface="Verdana"/>
                <a:cs typeface="Verdana"/>
              </a:rPr>
              <a:t>Key</a:t>
            </a:r>
            <a:endParaRPr dirty="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47329" y="5984173"/>
            <a:ext cx="1392991" cy="3287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9" name="object 9"/>
          <p:cNvSpPr/>
          <p:nvPr/>
        </p:nvSpPr>
        <p:spPr>
          <a:xfrm>
            <a:off x="2095400" y="6008067"/>
            <a:ext cx="1308100" cy="2413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10" name="object 10"/>
          <p:cNvSpPr txBox="1"/>
          <p:nvPr/>
        </p:nvSpPr>
        <p:spPr>
          <a:xfrm>
            <a:off x="2095400" y="6008067"/>
            <a:ext cx="1308100" cy="44563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4604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14"/>
              </a:spcBef>
            </a:pPr>
            <a:r>
              <a:rPr sz="1400" dirty="0">
                <a:latin typeface="Courier New"/>
                <a:cs typeface="Courier New"/>
              </a:rPr>
              <a:t>id='pmcfadin'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733410" y="5984626"/>
            <a:ext cx="1830205" cy="3287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12" name="object 12"/>
          <p:cNvSpPr/>
          <p:nvPr/>
        </p:nvSpPr>
        <p:spPr>
          <a:xfrm>
            <a:off x="3771800" y="6008067"/>
            <a:ext cx="1752600" cy="2413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13" name="object 13"/>
          <p:cNvSpPr txBox="1"/>
          <p:nvPr/>
        </p:nvSpPr>
        <p:spPr>
          <a:xfrm>
            <a:off x="3771800" y="6008067"/>
            <a:ext cx="1752600" cy="44627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524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20"/>
              </a:spcBef>
            </a:pPr>
            <a:r>
              <a:rPr sz="1400" dirty="0">
                <a:latin typeface="Courier New"/>
                <a:cs typeface="Courier New"/>
              </a:rPr>
              <a:t>lastname='McFadin'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47328" y="4976300"/>
            <a:ext cx="1392993" cy="3287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15" name="object 15"/>
          <p:cNvSpPr/>
          <p:nvPr/>
        </p:nvSpPr>
        <p:spPr>
          <a:xfrm>
            <a:off x="2095400" y="5004767"/>
            <a:ext cx="1308100" cy="2413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16" name="object 16"/>
          <p:cNvSpPr txBox="1"/>
          <p:nvPr/>
        </p:nvSpPr>
        <p:spPr>
          <a:xfrm>
            <a:off x="2095399" y="5004766"/>
            <a:ext cx="1308100" cy="44114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0160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80"/>
              </a:spcBef>
            </a:pPr>
            <a:r>
              <a:rPr sz="1400" dirty="0">
                <a:latin typeface="Courier New"/>
                <a:cs typeface="Courier New"/>
              </a:rPr>
              <a:t>id='jhaddad'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733410" y="4976753"/>
            <a:ext cx="1830207" cy="3287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18" name="object 18"/>
          <p:cNvSpPr/>
          <p:nvPr/>
        </p:nvSpPr>
        <p:spPr>
          <a:xfrm>
            <a:off x="3771800" y="5004767"/>
            <a:ext cx="1752600" cy="2413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19" name="object 19"/>
          <p:cNvSpPr txBox="1"/>
          <p:nvPr/>
        </p:nvSpPr>
        <p:spPr>
          <a:xfrm>
            <a:off x="3771800" y="5004767"/>
            <a:ext cx="1752600" cy="22570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016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80"/>
              </a:spcBef>
            </a:pPr>
            <a:r>
              <a:rPr sz="1400" dirty="0">
                <a:latin typeface="Courier New"/>
                <a:cs typeface="Courier New"/>
              </a:rPr>
              <a:t>firstname='Jon'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602497" y="4976753"/>
            <a:ext cx="1830207" cy="3287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21" name="object 21"/>
          <p:cNvSpPr/>
          <p:nvPr/>
        </p:nvSpPr>
        <p:spPr>
          <a:xfrm>
            <a:off x="5651400" y="5004767"/>
            <a:ext cx="1739900" cy="2413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22" name="object 22"/>
          <p:cNvSpPr txBox="1"/>
          <p:nvPr/>
        </p:nvSpPr>
        <p:spPr>
          <a:xfrm>
            <a:off x="5651400" y="5004767"/>
            <a:ext cx="1739900" cy="44114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0160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80"/>
              </a:spcBef>
            </a:pPr>
            <a:r>
              <a:rPr sz="1400" dirty="0">
                <a:latin typeface="Courier New"/>
                <a:cs typeface="Courier New"/>
              </a:rPr>
              <a:t>lastname='Haddad'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041706" y="5480237"/>
            <a:ext cx="1392993" cy="3287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24" name="object 24"/>
          <p:cNvSpPr/>
          <p:nvPr/>
        </p:nvSpPr>
        <p:spPr>
          <a:xfrm>
            <a:off x="2082700" y="5500067"/>
            <a:ext cx="1308100" cy="2413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25" name="object 25"/>
          <p:cNvSpPr txBox="1"/>
          <p:nvPr/>
        </p:nvSpPr>
        <p:spPr>
          <a:xfrm>
            <a:off x="2082700" y="5500066"/>
            <a:ext cx="1308100" cy="44948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841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145"/>
              </a:spcBef>
            </a:pPr>
            <a:r>
              <a:rPr sz="1400" dirty="0">
                <a:latin typeface="Courier New"/>
                <a:cs typeface="Courier New"/>
              </a:rPr>
              <a:t>id='ltillman'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727787" y="5480691"/>
            <a:ext cx="1830207" cy="3287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27" name="object 27"/>
          <p:cNvSpPr/>
          <p:nvPr/>
        </p:nvSpPr>
        <p:spPr>
          <a:xfrm>
            <a:off x="3771800" y="5500067"/>
            <a:ext cx="1739900" cy="2413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28" name="object 28"/>
          <p:cNvSpPr txBox="1"/>
          <p:nvPr/>
        </p:nvSpPr>
        <p:spPr>
          <a:xfrm>
            <a:off x="3771799" y="5500067"/>
            <a:ext cx="1739900" cy="45012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905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50"/>
              </a:spcBef>
            </a:pPr>
            <a:r>
              <a:rPr sz="1400" dirty="0">
                <a:latin typeface="Courier New"/>
                <a:cs typeface="Courier New"/>
              </a:rPr>
              <a:t>firstname='Luke'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596875" y="5480689"/>
            <a:ext cx="1830207" cy="3287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30" name="object 30"/>
          <p:cNvSpPr/>
          <p:nvPr/>
        </p:nvSpPr>
        <p:spPr>
          <a:xfrm>
            <a:off x="5638700" y="5500067"/>
            <a:ext cx="1739900" cy="2413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31" name="object 31"/>
          <p:cNvSpPr txBox="1"/>
          <p:nvPr/>
        </p:nvSpPr>
        <p:spPr>
          <a:xfrm>
            <a:off x="5638699" y="5500067"/>
            <a:ext cx="1739900" cy="45012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9050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150"/>
              </a:spcBef>
            </a:pPr>
            <a:r>
              <a:rPr sz="1400" dirty="0">
                <a:latin typeface="Courier New"/>
                <a:cs typeface="Courier New"/>
              </a:rPr>
              <a:t>lastname='Tillman'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828800" y="5846002"/>
            <a:ext cx="5721249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33" name="object 33"/>
          <p:cNvSpPr/>
          <p:nvPr/>
        </p:nvSpPr>
        <p:spPr>
          <a:xfrm>
            <a:off x="1873150" y="5874716"/>
            <a:ext cx="5638800" cy="0"/>
          </a:xfrm>
          <a:custGeom>
            <a:avLst/>
            <a:gdLst/>
            <a:ahLst/>
            <a:cxnLst/>
            <a:rect l="l" t="t" r="r" b="b"/>
            <a:pathLst>
              <a:path w="5638800">
                <a:moveTo>
                  <a:pt x="0" y="0"/>
                </a:moveTo>
                <a:lnTo>
                  <a:pt x="563879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34" name="object 34"/>
          <p:cNvSpPr/>
          <p:nvPr/>
        </p:nvSpPr>
        <p:spPr>
          <a:xfrm>
            <a:off x="1828800" y="4838129"/>
            <a:ext cx="5721249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35" name="object 35"/>
          <p:cNvSpPr/>
          <p:nvPr/>
        </p:nvSpPr>
        <p:spPr>
          <a:xfrm>
            <a:off x="1873150" y="4871417"/>
            <a:ext cx="5638800" cy="0"/>
          </a:xfrm>
          <a:custGeom>
            <a:avLst/>
            <a:gdLst/>
            <a:ahLst/>
            <a:cxnLst/>
            <a:rect l="l" t="t" r="r" b="b"/>
            <a:pathLst>
              <a:path w="5638800">
                <a:moveTo>
                  <a:pt x="0" y="0"/>
                </a:moveTo>
                <a:lnTo>
                  <a:pt x="563879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36" name="object 36"/>
          <p:cNvSpPr/>
          <p:nvPr/>
        </p:nvSpPr>
        <p:spPr>
          <a:xfrm>
            <a:off x="1828800" y="6375400"/>
            <a:ext cx="5721249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37" name="object 37"/>
          <p:cNvSpPr/>
          <p:nvPr/>
        </p:nvSpPr>
        <p:spPr>
          <a:xfrm>
            <a:off x="1873150" y="6408117"/>
            <a:ext cx="5638800" cy="0"/>
          </a:xfrm>
          <a:custGeom>
            <a:avLst/>
            <a:gdLst/>
            <a:ahLst/>
            <a:cxnLst/>
            <a:rect l="l" t="t" r="r" b="b"/>
            <a:pathLst>
              <a:path w="5638800">
                <a:moveTo>
                  <a:pt x="0" y="0"/>
                </a:moveTo>
                <a:lnTo>
                  <a:pt x="563879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38" name="object 38"/>
          <p:cNvSpPr/>
          <p:nvPr/>
        </p:nvSpPr>
        <p:spPr>
          <a:xfrm>
            <a:off x="1828800" y="5342066"/>
            <a:ext cx="5721249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39" name="object 39"/>
          <p:cNvSpPr/>
          <p:nvPr/>
        </p:nvSpPr>
        <p:spPr>
          <a:xfrm>
            <a:off x="1873150" y="5366717"/>
            <a:ext cx="5638800" cy="0"/>
          </a:xfrm>
          <a:custGeom>
            <a:avLst/>
            <a:gdLst/>
            <a:ahLst/>
            <a:cxnLst/>
            <a:rect l="l" t="t" r="r" b="b"/>
            <a:pathLst>
              <a:path w="5638800">
                <a:moveTo>
                  <a:pt x="0" y="0"/>
                </a:moveTo>
                <a:lnTo>
                  <a:pt x="563879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42" name="object 42"/>
          <p:cNvSpPr txBox="1"/>
          <p:nvPr/>
        </p:nvSpPr>
        <p:spPr>
          <a:xfrm>
            <a:off x="2926528" y="2514600"/>
            <a:ext cx="2438400" cy="1397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320"/>
              </a:spcBef>
            </a:pPr>
            <a:r>
              <a:rPr sz="1400" b="1" spc="-5" dirty="0">
                <a:latin typeface="Courier New"/>
                <a:cs typeface="Courier New"/>
              </a:rPr>
              <a:t>CREATE TABLE </a:t>
            </a:r>
            <a:r>
              <a:rPr sz="1400" spc="-5" dirty="0">
                <a:latin typeface="Courier New"/>
                <a:cs typeface="Courier New"/>
              </a:rPr>
              <a:t>users</a:t>
            </a:r>
            <a:r>
              <a:rPr sz="1400" spc="-8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(</a:t>
            </a:r>
          </a:p>
          <a:p>
            <a:pPr marL="476884" marR="236220">
              <a:lnSpc>
                <a:spcPct val="101200"/>
              </a:lnSpc>
            </a:pPr>
            <a:r>
              <a:rPr sz="1400" spc="-5" dirty="0">
                <a:latin typeface="Courier New"/>
                <a:cs typeface="Courier New"/>
              </a:rPr>
              <a:t>id </a:t>
            </a:r>
            <a:r>
              <a:rPr sz="1400" dirty="0">
                <a:latin typeface="Courier New"/>
                <a:cs typeface="Courier New"/>
              </a:rPr>
              <a:t>text,  </a:t>
            </a:r>
            <a:r>
              <a:rPr sz="1400" spc="-5" dirty="0">
                <a:latin typeface="Courier New"/>
                <a:cs typeface="Courier New"/>
              </a:rPr>
              <a:t>firstname </a:t>
            </a:r>
            <a:r>
              <a:rPr sz="1400" dirty="0">
                <a:latin typeface="Courier New"/>
                <a:cs typeface="Courier New"/>
              </a:rPr>
              <a:t>text,  </a:t>
            </a:r>
            <a:r>
              <a:rPr sz="1400" spc="-5" dirty="0">
                <a:latin typeface="Courier New"/>
                <a:cs typeface="Courier New"/>
              </a:rPr>
              <a:t>lastname </a:t>
            </a:r>
            <a:r>
              <a:rPr sz="1400" dirty="0">
                <a:latin typeface="Courier New"/>
                <a:cs typeface="Courier New"/>
              </a:rPr>
              <a:t>text,  </a:t>
            </a:r>
            <a:r>
              <a:rPr sz="1400" b="1" spc="-5" dirty="0">
                <a:latin typeface="Courier New"/>
                <a:cs typeface="Courier New"/>
              </a:rPr>
              <a:t>PRIMARY KEY</a:t>
            </a:r>
            <a:r>
              <a:rPr sz="1400" b="1" spc="-9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(</a:t>
            </a:r>
            <a:r>
              <a:rPr sz="1400" b="1" dirty="0">
                <a:solidFill>
                  <a:srgbClr val="007B98"/>
                </a:solidFill>
                <a:latin typeface="Courier New"/>
                <a:cs typeface="Courier New"/>
              </a:rPr>
              <a:t>id</a:t>
            </a:r>
            <a:r>
              <a:rPr sz="1400" dirty="0">
                <a:latin typeface="Courier New"/>
                <a:cs typeface="Courier New"/>
              </a:rPr>
              <a:t>)</a:t>
            </a:r>
          </a:p>
          <a:p>
            <a:pPr marL="50165">
              <a:lnSpc>
                <a:spcPct val="100000"/>
              </a:lnSpc>
              <a:spcBef>
                <a:spcPts val="20"/>
              </a:spcBef>
            </a:pPr>
            <a:r>
              <a:rPr sz="1400" dirty="0">
                <a:latin typeface="Courier New"/>
                <a:cs typeface="Courier New"/>
              </a:rPr>
              <a:t>);</a:t>
            </a:r>
          </a:p>
        </p:txBody>
      </p:sp>
      <p:sp>
        <p:nvSpPr>
          <p:cNvPr id="40" name="Slide Number Placeholder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0979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/>
              <a:t>Data</a:t>
            </a:r>
            <a:r>
              <a:rPr lang="en-US" spc="-65"/>
              <a:t> </a:t>
            </a:r>
            <a:r>
              <a:rPr lang="en-US" spc="-5"/>
              <a:t>Distribution</a:t>
            </a:r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304800" y="1972503"/>
            <a:ext cx="927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0387" y="1943608"/>
            <a:ext cx="784352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The </a:t>
            </a:r>
            <a:r>
              <a:rPr sz="2000" spc="-10" dirty="0">
                <a:latin typeface="Verdana"/>
                <a:cs typeface="Verdana"/>
              </a:rPr>
              <a:t>Partition </a:t>
            </a:r>
            <a:r>
              <a:rPr sz="2000" spc="-25" dirty="0">
                <a:latin typeface="Verdana"/>
                <a:cs typeface="Verdana"/>
              </a:rPr>
              <a:t>Key </a:t>
            </a:r>
            <a:r>
              <a:rPr sz="2000" spc="-5" dirty="0">
                <a:latin typeface="Verdana"/>
                <a:cs typeface="Verdana"/>
              </a:rPr>
              <a:t>is hashed using </a:t>
            </a:r>
            <a:r>
              <a:rPr sz="2000" dirty="0">
                <a:latin typeface="Verdana"/>
                <a:cs typeface="Verdana"/>
              </a:rPr>
              <a:t>a </a:t>
            </a:r>
            <a:r>
              <a:rPr sz="2000" spc="-5" dirty="0">
                <a:latin typeface="Verdana"/>
                <a:cs typeface="Verdana"/>
              </a:rPr>
              <a:t>consistent hashing  function</a:t>
            </a:r>
            <a:r>
              <a:rPr lang="en-US" sz="2000" spc="-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and the output is used to place the data  on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node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4800" y="5185095"/>
            <a:ext cx="927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0387" y="5156200"/>
            <a:ext cx="60191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The data is also replicated to RF-1 other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nodes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200" y="2884065"/>
            <a:ext cx="1752600" cy="723900"/>
          </a:xfrm>
          <a:custGeom>
            <a:avLst/>
            <a:gdLst/>
            <a:ahLst/>
            <a:cxnLst/>
            <a:rect l="l" t="t" r="r" b="b"/>
            <a:pathLst>
              <a:path w="1752600" h="723900">
                <a:moveTo>
                  <a:pt x="0" y="0"/>
                </a:moveTo>
                <a:lnTo>
                  <a:pt x="1752600" y="0"/>
                </a:lnTo>
                <a:lnTo>
                  <a:pt x="17526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57199" y="2884065"/>
            <a:ext cx="1752600" cy="27635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29845" rIns="0" bIns="0" rtlCol="0">
            <a:spAutoFit/>
          </a:bodyPr>
          <a:lstStyle/>
          <a:p>
            <a:pPr marL="219075">
              <a:lnSpc>
                <a:spcPct val="100000"/>
              </a:lnSpc>
              <a:spcBef>
                <a:spcPts val="235"/>
              </a:spcBef>
            </a:pPr>
            <a:r>
              <a:rPr sz="1600" spc="-10" dirty="0">
                <a:latin typeface="Verdana"/>
                <a:cs typeface="Verdana"/>
              </a:rPr>
              <a:t>Partition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Key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1165" y="3207951"/>
            <a:ext cx="1392993" cy="3287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9450" y="3233315"/>
            <a:ext cx="1308100" cy="2413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79450" y="3233315"/>
            <a:ext cx="1308100" cy="19813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3335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latin typeface="Courier New"/>
                <a:cs typeface="Courier New"/>
              </a:rPr>
              <a:t>id='ltillman'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27247" y="3208406"/>
            <a:ext cx="1830207" cy="328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68550" y="3233315"/>
            <a:ext cx="1739900" cy="241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68549" y="3233314"/>
            <a:ext cx="1739900" cy="241300"/>
          </a:xfrm>
          <a:custGeom>
            <a:avLst/>
            <a:gdLst/>
            <a:ahLst/>
            <a:cxnLst/>
            <a:rect l="l" t="t" r="r" b="b"/>
            <a:pathLst>
              <a:path w="1739900" h="241300">
                <a:moveTo>
                  <a:pt x="0" y="0"/>
                </a:moveTo>
                <a:lnTo>
                  <a:pt x="1739900" y="0"/>
                </a:lnTo>
                <a:lnTo>
                  <a:pt x="1739900" y="241299"/>
                </a:lnTo>
                <a:lnTo>
                  <a:pt x="0" y="24129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96334" y="3208404"/>
            <a:ext cx="1830207" cy="3287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35450" y="3233315"/>
            <a:ext cx="1752600" cy="2413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03129" y="3239070"/>
            <a:ext cx="35852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81505" algn="l"/>
              </a:tabLst>
            </a:pPr>
            <a:r>
              <a:rPr sz="1200" dirty="0">
                <a:latin typeface="Courier New"/>
                <a:cs typeface="Courier New"/>
              </a:rPr>
              <a:t>firstname='Luke'	lastname='Tillman'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427856" y="3581400"/>
            <a:ext cx="1144144" cy="640080"/>
          </a:xfrm>
          <a:custGeom>
            <a:avLst/>
            <a:gdLst/>
            <a:ahLst/>
            <a:cxnLst/>
            <a:rect l="l" t="t" r="r" b="b"/>
            <a:pathLst>
              <a:path w="353060" h="640080">
                <a:moveTo>
                  <a:pt x="0" y="0"/>
                </a:moveTo>
                <a:lnTo>
                  <a:pt x="24417" y="44555"/>
                </a:lnTo>
                <a:lnTo>
                  <a:pt x="48778" y="89110"/>
                </a:lnTo>
                <a:lnTo>
                  <a:pt x="73093" y="133666"/>
                </a:lnTo>
                <a:lnTo>
                  <a:pt x="97370" y="178221"/>
                </a:lnTo>
                <a:lnTo>
                  <a:pt x="121619" y="222777"/>
                </a:lnTo>
                <a:lnTo>
                  <a:pt x="145849" y="267332"/>
                </a:lnTo>
                <a:lnTo>
                  <a:pt x="170070" y="311887"/>
                </a:lnTo>
                <a:lnTo>
                  <a:pt x="194291" y="356443"/>
                </a:lnTo>
                <a:lnTo>
                  <a:pt x="218521" y="400998"/>
                </a:lnTo>
                <a:lnTo>
                  <a:pt x="242770" y="445554"/>
                </a:lnTo>
                <a:lnTo>
                  <a:pt x="267047" y="490109"/>
                </a:lnTo>
                <a:lnTo>
                  <a:pt x="291362" y="534665"/>
                </a:lnTo>
                <a:lnTo>
                  <a:pt x="315723" y="579220"/>
                </a:lnTo>
                <a:lnTo>
                  <a:pt x="340141" y="623775"/>
                </a:lnTo>
                <a:lnTo>
                  <a:pt x="352841" y="639597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49271" y="4108994"/>
            <a:ext cx="2102166" cy="19632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587678" y="4185814"/>
            <a:ext cx="1902460" cy="32384"/>
          </a:xfrm>
          <a:custGeom>
            <a:avLst/>
            <a:gdLst/>
            <a:ahLst/>
            <a:cxnLst/>
            <a:rect l="l" t="t" r="r" b="b"/>
            <a:pathLst>
              <a:path w="1902459" h="32385">
                <a:moveTo>
                  <a:pt x="0" y="32010"/>
                </a:moveTo>
                <a:lnTo>
                  <a:pt x="50863" y="31187"/>
                </a:lnTo>
                <a:lnTo>
                  <a:pt x="101726" y="30358"/>
                </a:lnTo>
                <a:lnTo>
                  <a:pt x="152590" y="29522"/>
                </a:lnTo>
                <a:lnTo>
                  <a:pt x="203453" y="28679"/>
                </a:lnTo>
                <a:lnTo>
                  <a:pt x="254317" y="27831"/>
                </a:lnTo>
                <a:lnTo>
                  <a:pt x="305180" y="26977"/>
                </a:lnTo>
                <a:lnTo>
                  <a:pt x="356043" y="26118"/>
                </a:lnTo>
                <a:lnTo>
                  <a:pt x="406907" y="25254"/>
                </a:lnTo>
                <a:lnTo>
                  <a:pt x="457770" y="24386"/>
                </a:lnTo>
                <a:lnTo>
                  <a:pt x="508634" y="23514"/>
                </a:lnTo>
                <a:lnTo>
                  <a:pt x="559497" y="22639"/>
                </a:lnTo>
                <a:lnTo>
                  <a:pt x="610361" y="21760"/>
                </a:lnTo>
                <a:lnTo>
                  <a:pt x="661224" y="20879"/>
                </a:lnTo>
                <a:lnTo>
                  <a:pt x="712087" y="19996"/>
                </a:lnTo>
                <a:lnTo>
                  <a:pt x="762951" y="19111"/>
                </a:lnTo>
                <a:lnTo>
                  <a:pt x="813814" y="18225"/>
                </a:lnTo>
                <a:lnTo>
                  <a:pt x="864678" y="17337"/>
                </a:lnTo>
                <a:lnTo>
                  <a:pt x="915541" y="16449"/>
                </a:lnTo>
                <a:lnTo>
                  <a:pt x="966405" y="15561"/>
                </a:lnTo>
                <a:lnTo>
                  <a:pt x="1017268" y="14672"/>
                </a:lnTo>
                <a:lnTo>
                  <a:pt x="1068131" y="13785"/>
                </a:lnTo>
                <a:lnTo>
                  <a:pt x="1118995" y="12898"/>
                </a:lnTo>
                <a:lnTo>
                  <a:pt x="1169858" y="12013"/>
                </a:lnTo>
                <a:lnTo>
                  <a:pt x="1220722" y="11130"/>
                </a:lnTo>
                <a:lnTo>
                  <a:pt x="1271585" y="10249"/>
                </a:lnTo>
                <a:lnTo>
                  <a:pt x="1322449" y="9371"/>
                </a:lnTo>
                <a:lnTo>
                  <a:pt x="1373312" y="8495"/>
                </a:lnTo>
                <a:lnTo>
                  <a:pt x="1424175" y="7624"/>
                </a:lnTo>
                <a:lnTo>
                  <a:pt x="1475039" y="6756"/>
                </a:lnTo>
                <a:lnTo>
                  <a:pt x="1525902" y="5892"/>
                </a:lnTo>
                <a:lnTo>
                  <a:pt x="1576766" y="5033"/>
                </a:lnTo>
                <a:lnTo>
                  <a:pt x="1627629" y="4179"/>
                </a:lnTo>
                <a:lnTo>
                  <a:pt x="1678493" y="3330"/>
                </a:lnTo>
                <a:lnTo>
                  <a:pt x="1729356" y="2488"/>
                </a:lnTo>
                <a:lnTo>
                  <a:pt x="1780220" y="1652"/>
                </a:lnTo>
                <a:lnTo>
                  <a:pt x="1831083" y="822"/>
                </a:lnTo>
                <a:lnTo>
                  <a:pt x="1881946" y="0"/>
                </a:lnTo>
                <a:lnTo>
                  <a:pt x="1902021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492966" y="4125683"/>
            <a:ext cx="121285" cy="120650"/>
          </a:xfrm>
          <a:custGeom>
            <a:avLst/>
            <a:gdLst/>
            <a:ahLst/>
            <a:cxnLst/>
            <a:rect l="l" t="t" r="r" b="b"/>
            <a:pathLst>
              <a:path w="121284" h="120650">
                <a:moveTo>
                  <a:pt x="0" y="0"/>
                </a:moveTo>
                <a:lnTo>
                  <a:pt x="1932" y="120126"/>
                </a:lnTo>
                <a:lnTo>
                  <a:pt x="121093" y="581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579826" y="4259038"/>
            <a:ext cx="95059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Verdana"/>
                <a:cs typeface="Verdana"/>
              </a:rPr>
              <a:t>id: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Arial"/>
                <a:cs typeface="Arial"/>
              </a:rPr>
              <a:t>ltillman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89591" y="4264909"/>
            <a:ext cx="110998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Verdana"/>
                <a:cs typeface="Verdana"/>
              </a:rPr>
              <a:t>:</a:t>
            </a:r>
            <a:r>
              <a:rPr sz="1400" b="1" dirty="0">
                <a:latin typeface="Arial"/>
                <a:cs typeface="Arial"/>
              </a:rPr>
              <a:t>A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652748" y="3485990"/>
            <a:ext cx="1869439" cy="1824355"/>
          </a:xfrm>
          <a:custGeom>
            <a:avLst/>
            <a:gdLst/>
            <a:ahLst/>
            <a:cxnLst/>
            <a:rect l="l" t="t" r="r" b="b"/>
            <a:pathLst>
              <a:path w="1869440" h="1824354">
                <a:moveTo>
                  <a:pt x="1595656" y="267143"/>
                </a:moveTo>
                <a:lnTo>
                  <a:pt x="1629848" y="302289"/>
                </a:lnTo>
                <a:lnTo>
                  <a:pt x="1661761" y="338728"/>
                </a:lnTo>
                <a:lnTo>
                  <a:pt x="1691394" y="376370"/>
                </a:lnTo>
                <a:lnTo>
                  <a:pt x="1718747" y="415127"/>
                </a:lnTo>
                <a:lnTo>
                  <a:pt x="1743821" y="454909"/>
                </a:lnTo>
                <a:lnTo>
                  <a:pt x="1766616" y="495626"/>
                </a:lnTo>
                <a:lnTo>
                  <a:pt x="1787131" y="537191"/>
                </a:lnTo>
                <a:lnTo>
                  <a:pt x="1805366" y="579513"/>
                </a:lnTo>
                <a:lnTo>
                  <a:pt x="1821323" y="622504"/>
                </a:lnTo>
                <a:lnTo>
                  <a:pt x="1834999" y="666075"/>
                </a:lnTo>
                <a:lnTo>
                  <a:pt x="1846397" y="710135"/>
                </a:lnTo>
                <a:lnTo>
                  <a:pt x="1855515" y="754597"/>
                </a:lnTo>
                <a:lnTo>
                  <a:pt x="1862353" y="799371"/>
                </a:lnTo>
                <a:lnTo>
                  <a:pt x="1866912" y="844368"/>
                </a:lnTo>
                <a:lnTo>
                  <a:pt x="1869191" y="889498"/>
                </a:lnTo>
                <a:lnTo>
                  <a:pt x="1869191" y="934673"/>
                </a:lnTo>
                <a:lnTo>
                  <a:pt x="1866912" y="979803"/>
                </a:lnTo>
                <a:lnTo>
                  <a:pt x="1862353" y="1024800"/>
                </a:lnTo>
                <a:lnTo>
                  <a:pt x="1855515" y="1069574"/>
                </a:lnTo>
                <a:lnTo>
                  <a:pt x="1846397" y="1114036"/>
                </a:lnTo>
                <a:lnTo>
                  <a:pt x="1834999" y="1158096"/>
                </a:lnTo>
                <a:lnTo>
                  <a:pt x="1821323" y="1201666"/>
                </a:lnTo>
                <a:lnTo>
                  <a:pt x="1805366" y="1244657"/>
                </a:lnTo>
                <a:lnTo>
                  <a:pt x="1787131" y="1286980"/>
                </a:lnTo>
                <a:lnTo>
                  <a:pt x="1766616" y="1328544"/>
                </a:lnTo>
                <a:lnTo>
                  <a:pt x="1743821" y="1369262"/>
                </a:lnTo>
                <a:lnTo>
                  <a:pt x="1718747" y="1409044"/>
                </a:lnTo>
                <a:lnTo>
                  <a:pt x="1691394" y="1447800"/>
                </a:lnTo>
                <a:lnTo>
                  <a:pt x="1661761" y="1485442"/>
                </a:lnTo>
                <a:lnTo>
                  <a:pt x="1629848" y="1521881"/>
                </a:lnTo>
                <a:lnTo>
                  <a:pt x="1595656" y="1557027"/>
                </a:lnTo>
                <a:lnTo>
                  <a:pt x="1560778" y="1589377"/>
                </a:lnTo>
                <a:lnTo>
                  <a:pt x="1524654" y="1619639"/>
                </a:lnTo>
                <a:lnTo>
                  <a:pt x="1487366" y="1647814"/>
                </a:lnTo>
                <a:lnTo>
                  <a:pt x="1448999" y="1673903"/>
                </a:lnTo>
                <a:lnTo>
                  <a:pt x="1409635" y="1697904"/>
                </a:lnTo>
                <a:lnTo>
                  <a:pt x="1369357" y="1719818"/>
                </a:lnTo>
                <a:lnTo>
                  <a:pt x="1328248" y="1739645"/>
                </a:lnTo>
                <a:lnTo>
                  <a:pt x="1286392" y="1757385"/>
                </a:lnTo>
                <a:lnTo>
                  <a:pt x="1243871" y="1773038"/>
                </a:lnTo>
                <a:lnTo>
                  <a:pt x="1200769" y="1786604"/>
                </a:lnTo>
                <a:lnTo>
                  <a:pt x="1157168" y="1798083"/>
                </a:lnTo>
                <a:lnTo>
                  <a:pt x="1113152" y="1807475"/>
                </a:lnTo>
                <a:lnTo>
                  <a:pt x="1068804" y="1814779"/>
                </a:lnTo>
                <a:lnTo>
                  <a:pt x="1024206" y="1819997"/>
                </a:lnTo>
                <a:lnTo>
                  <a:pt x="979442" y="1823127"/>
                </a:lnTo>
                <a:lnTo>
                  <a:pt x="934596" y="1824171"/>
                </a:lnTo>
                <a:lnTo>
                  <a:pt x="889749" y="1823127"/>
                </a:lnTo>
                <a:lnTo>
                  <a:pt x="844985" y="1819997"/>
                </a:lnTo>
                <a:lnTo>
                  <a:pt x="800387" y="1814779"/>
                </a:lnTo>
                <a:lnTo>
                  <a:pt x="756039" y="1807475"/>
                </a:lnTo>
                <a:lnTo>
                  <a:pt x="712023" y="1798083"/>
                </a:lnTo>
                <a:lnTo>
                  <a:pt x="668422" y="1786604"/>
                </a:lnTo>
                <a:lnTo>
                  <a:pt x="625320" y="1773038"/>
                </a:lnTo>
                <a:lnTo>
                  <a:pt x="582799" y="1757385"/>
                </a:lnTo>
                <a:lnTo>
                  <a:pt x="540943" y="1739645"/>
                </a:lnTo>
                <a:lnTo>
                  <a:pt x="499834" y="1719818"/>
                </a:lnTo>
                <a:lnTo>
                  <a:pt x="459556" y="1697904"/>
                </a:lnTo>
                <a:lnTo>
                  <a:pt x="420192" y="1673903"/>
                </a:lnTo>
                <a:lnTo>
                  <a:pt x="381825" y="1647814"/>
                </a:lnTo>
                <a:lnTo>
                  <a:pt x="344537" y="1619639"/>
                </a:lnTo>
                <a:lnTo>
                  <a:pt x="308413" y="1589377"/>
                </a:lnTo>
                <a:lnTo>
                  <a:pt x="273535" y="1557027"/>
                </a:lnTo>
                <a:lnTo>
                  <a:pt x="239343" y="1521881"/>
                </a:lnTo>
                <a:lnTo>
                  <a:pt x="207430" y="1485442"/>
                </a:lnTo>
                <a:lnTo>
                  <a:pt x="177797" y="1447800"/>
                </a:lnTo>
                <a:lnTo>
                  <a:pt x="150444" y="1409044"/>
                </a:lnTo>
                <a:lnTo>
                  <a:pt x="125370" y="1369262"/>
                </a:lnTo>
                <a:lnTo>
                  <a:pt x="102575" y="1328544"/>
                </a:lnTo>
                <a:lnTo>
                  <a:pt x="82060" y="1286980"/>
                </a:lnTo>
                <a:lnTo>
                  <a:pt x="63824" y="1244657"/>
                </a:lnTo>
                <a:lnTo>
                  <a:pt x="47868" y="1201666"/>
                </a:lnTo>
                <a:lnTo>
                  <a:pt x="34191" y="1158096"/>
                </a:lnTo>
                <a:lnTo>
                  <a:pt x="22794" y="1114036"/>
                </a:lnTo>
                <a:lnTo>
                  <a:pt x="13676" y="1069574"/>
                </a:lnTo>
                <a:lnTo>
                  <a:pt x="6838" y="1024800"/>
                </a:lnTo>
                <a:lnTo>
                  <a:pt x="2279" y="979803"/>
                </a:lnTo>
                <a:lnTo>
                  <a:pt x="0" y="934673"/>
                </a:lnTo>
                <a:lnTo>
                  <a:pt x="0" y="889498"/>
                </a:lnTo>
                <a:lnTo>
                  <a:pt x="2279" y="844368"/>
                </a:lnTo>
                <a:lnTo>
                  <a:pt x="6838" y="799371"/>
                </a:lnTo>
                <a:lnTo>
                  <a:pt x="13676" y="754597"/>
                </a:lnTo>
                <a:lnTo>
                  <a:pt x="22794" y="710135"/>
                </a:lnTo>
                <a:lnTo>
                  <a:pt x="34191" y="666075"/>
                </a:lnTo>
                <a:lnTo>
                  <a:pt x="47868" y="622504"/>
                </a:lnTo>
                <a:lnTo>
                  <a:pt x="63824" y="579513"/>
                </a:lnTo>
                <a:lnTo>
                  <a:pt x="82060" y="537191"/>
                </a:lnTo>
                <a:lnTo>
                  <a:pt x="102575" y="495626"/>
                </a:lnTo>
                <a:lnTo>
                  <a:pt x="125370" y="454909"/>
                </a:lnTo>
                <a:lnTo>
                  <a:pt x="150444" y="415127"/>
                </a:lnTo>
                <a:lnTo>
                  <a:pt x="177797" y="376370"/>
                </a:lnTo>
                <a:lnTo>
                  <a:pt x="207430" y="338728"/>
                </a:lnTo>
                <a:lnTo>
                  <a:pt x="239343" y="302289"/>
                </a:lnTo>
                <a:lnTo>
                  <a:pt x="273535" y="267143"/>
                </a:lnTo>
                <a:lnTo>
                  <a:pt x="308413" y="234794"/>
                </a:lnTo>
                <a:lnTo>
                  <a:pt x="344537" y="204531"/>
                </a:lnTo>
                <a:lnTo>
                  <a:pt x="381825" y="176356"/>
                </a:lnTo>
                <a:lnTo>
                  <a:pt x="420192" y="150268"/>
                </a:lnTo>
                <a:lnTo>
                  <a:pt x="459556" y="126267"/>
                </a:lnTo>
                <a:lnTo>
                  <a:pt x="499834" y="104353"/>
                </a:lnTo>
                <a:lnTo>
                  <a:pt x="540943" y="84525"/>
                </a:lnTo>
                <a:lnTo>
                  <a:pt x="582799" y="66785"/>
                </a:lnTo>
                <a:lnTo>
                  <a:pt x="625320" y="51132"/>
                </a:lnTo>
                <a:lnTo>
                  <a:pt x="668422" y="37567"/>
                </a:lnTo>
                <a:lnTo>
                  <a:pt x="712023" y="26088"/>
                </a:lnTo>
                <a:lnTo>
                  <a:pt x="756039" y="16696"/>
                </a:lnTo>
                <a:lnTo>
                  <a:pt x="800387" y="9391"/>
                </a:lnTo>
                <a:lnTo>
                  <a:pt x="844985" y="4174"/>
                </a:lnTo>
                <a:lnTo>
                  <a:pt x="889749" y="1043"/>
                </a:lnTo>
                <a:lnTo>
                  <a:pt x="934596" y="0"/>
                </a:lnTo>
                <a:lnTo>
                  <a:pt x="979442" y="1043"/>
                </a:lnTo>
                <a:lnTo>
                  <a:pt x="1024206" y="4174"/>
                </a:lnTo>
                <a:lnTo>
                  <a:pt x="1068804" y="9391"/>
                </a:lnTo>
                <a:lnTo>
                  <a:pt x="1113152" y="16696"/>
                </a:lnTo>
                <a:lnTo>
                  <a:pt x="1157168" y="26088"/>
                </a:lnTo>
                <a:lnTo>
                  <a:pt x="1200769" y="37567"/>
                </a:lnTo>
                <a:lnTo>
                  <a:pt x="1243871" y="51132"/>
                </a:lnTo>
                <a:lnTo>
                  <a:pt x="1286392" y="66785"/>
                </a:lnTo>
                <a:lnTo>
                  <a:pt x="1328248" y="84525"/>
                </a:lnTo>
                <a:lnTo>
                  <a:pt x="1369357" y="104353"/>
                </a:lnTo>
                <a:lnTo>
                  <a:pt x="1409635" y="126267"/>
                </a:lnTo>
                <a:lnTo>
                  <a:pt x="1448999" y="150268"/>
                </a:lnTo>
                <a:lnTo>
                  <a:pt x="1487366" y="176356"/>
                </a:lnTo>
                <a:lnTo>
                  <a:pt x="1524654" y="204531"/>
                </a:lnTo>
                <a:lnTo>
                  <a:pt x="1560778" y="234794"/>
                </a:lnTo>
                <a:lnTo>
                  <a:pt x="1595656" y="267143"/>
                </a:lnTo>
                <a:close/>
              </a:path>
            </a:pathLst>
          </a:custGeom>
          <a:ln w="101600">
            <a:solidFill>
              <a:srgbClr val="1F49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871894" y="3267706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8"/>
                </a:lnTo>
                <a:lnTo>
                  <a:pt x="118531" y="145773"/>
                </a:lnTo>
                <a:lnTo>
                  <a:pt x="88768" y="180856"/>
                </a:lnTo>
                <a:lnTo>
                  <a:pt x="62814" y="218788"/>
                </a:lnTo>
                <a:lnTo>
                  <a:pt x="40949" y="259299"/>
                </a:lnTo>
                <a:lnTo>
                  <a:pt x="23455" y="302120"/>
                </a:lnTo>
                <a:lnTo>
                  <a:pt x="10611" y="346981"/>
                </a:lnTo>
                <a:lnTo>
                  <a:pt x="2699" y="393613"/>
                </a:lnTo>
                <a:lnTo>
                  <a:pt x="0" y="441746"/>
                </a:lnTo>
                <a:lnTo>
                  <a:pt x="2699" y="489879"/>
                </a:lnTo>
                <a:lnTo>
                  <a:pt x="10611" y="536511"/>
                </a:lnTo>
                <a:lnTo>
                  <a:pt x="23455" y="581372"/>
                </a:lnTo>
                <a:lnTo>
                  <a:pt x="40949" y="624193"/>
                </a:lnTo>
                <a:lnTo>
                  <a:pt x="62814" y="664704"/>
                </a:lnTo>
                <a:lnTo>
                  <a:pt x="88768" y="702636"/>
                </a:lnTo>
                <a:lnTo>
                  <a:pt x="118531" y="737719"/>
                </a:lnTo>
                <a:lnTo>
                  <a:pt x="151822" y="769684"/>
                </a:lnTo>
                <a:lnTo>
                  <a:pt x="188361" y="798261"/>
                </a:lnTo>
                <a:lnTo>
                  <a:pt x="227867" y="823181"/>
                </a:lnTo>
                <a:lnTo>
                  <a:pt x="270059" y="844175"/>
                </a:lnTo>
                <a:lnTo>
                  <a:pt x="314657" y="860972"/>
                </a:lnTo>
                <a:lnTo>
                  <a:pt x="361380" y="873304"/>
                </a:lnTo>
                <a:lnTo>
                  <a:pt x="409947" y="880901"/>
                </a:lnTo>
                <a:lnTo>
                  <a:pt x="460077" y="883493"/>
                </a:lnTo>
                <a:lnTo>
                  <a:pt x="510208" y="880901"/>
                </a:lnTo>
                <a:lnTo>
                  <a:pt x="558775" y="873304"/>
                </a:lnTo>
                <a:lnTo>
                  <a:pt x="605498" y="860972"/>
                </a:lnTo>
                <a:lnTo>
                  <a:pt x="650095" y="844175"/>
                </a:lnTo>
                <a:lnTo>
                  <a:pt x="692287" y="823181"/>
                </a:lnTo>
                <a:lnTo>
                  <a:pt x="731793" y="798261"/>
                </a:lnTo>
                <a:lnTo>
                  <a:pt x="768332" y="769684"/>
                </a:lnTo>
                <a:lnTo>
                  <a:pt x="801624" y="737719"/>
                </a:lnTo>
                <a:lnTo>
                  <a:pt x="831387" y="702636"/>
                </a:lnTo>
                <a:lnTo>
                  <a:pt x="857341" y="664704"/>
                </a:lnTo>
                <a:lnTo>
                  <a:pt x="879206" y="624193"/>
                </a:lnTo>
                <a:lnTo>
                  <a:pt x="896700" y="581372"/>
                </a:lnTo>
                <a:lnTo>
                  <a:pt x="909544" y="536511"/>
                </a:lnTo>
                <a:lnTo>
                  <a:pt x="917455" y="489879"/>
                </a:lnTo>
                <a:lnTo>
                  <a:pt x="920155" y="441746"/>
                </a:lnTo>
                <a:lnTo>
                  <a:pt x="917455" y="393613"/>
                </a:lnTo>
                <a:lnTo>
                  <a:pt x="909544" y="346981"/>
                </a:lnTo>
                <a:lnTo>
                  <a:pt x="896700" y="302120"/>
                </a:lnTo>
                <a:lnTo>
                  <a:pt x="879206" y="259299"/>
                </a:lnTo>
                <a:lnTo>
                  <a:pt x="857341" y="218788"/>
                </a:lnTo>
                <a:lnTo>
                  <a:pt x="831387" y="180856"/>
                </a:lnTo>
                <a:lnTo>
                  <a:pt x="801624" y="145773"/>
                </a:lnTo>
                <a:lnTo>
                  <a:pt x="768332" y="113808"/>
                </a:lnTo>
                <a:lnTo>
                  <a:pt x="731793" y="85231"/>
                </a:lnTo>
                <a:lnTo>
                  <a:pt x="692287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871894" y="3267706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8190001" y="3398054"/>
            <a:ext cx="28448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AD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871894" y="4546459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8"/>
                </a:lnTo>
                <a:lnTo>
                  <a:pt x="118531" y="145773"/>
                </a:lnTo>
                <a:lnTo>
                  <a:pt x="88768" y="180856"/>
                </a:lnTo>
                <a:lnTo>
                  <a:pt x="62814" y="218788"/>
                </a:lnTo>
                <a:lnTo>
                  <a:pt x="40949" y="259299"/>
                </a:lnTo>
                <a:lnTo>
                  <a:pt x="23455" y="302120"/>
                </a:lnTo>
                <a:lnTo>
                  <a:pt x="10611" y="346981"/>
                </a:lnTo>
                <a:lnTo>
                  <a:pt x="2699" y="393613"/>
                </a:lnTo>
                <a:lnTo>
                  <a:pt x="0" y="441746"/>
                </a:lnTo>
                <a:lnTo>
                  <a:pt x="2699" y="489879"/>
                </a:lnTo>
                <a:lnTo>
                  <a:pt x="10611" y="536511"/>
                </a:lnTo>
                <a:lnTo>
                  <a:pt x="23455" y="581372"/>
                </a:lnTo>
                <a:lnTo>
                  <a:pt x="40949" y="624193"/>
                </a:lnTo>
                <a:lnTo>
                  <a:pt x="62814" y="664704"/>
                </a:lnTo>
                <a:lnTo>
                  <a:pt x="88768" y="702636"/>
                </a:lnTo>
                <a:lnTo>
                  <a:pt x="118531" y="737719"/>
                </a:lnTo>
                <a:lnTo>
                  <a:pt x="151822" y="769684"/>
                </a:lnTo>
                <a:lnTo>
                  <a:pt x="188361" y="798262"/>
                </a:lnTo>
                <a:lnTo>
                  <a:pt x="227867" y="823182"/>
                </a:lnTo>
                <a:lnTo>
                  <a:pt x="270059" y="844175"/>
                </a:lnTo>
                <a:lnTo>
                  <a:pt x="314657" y="860972"/>
                </a:lnTo>
                <a:lnTo>
                  <a:pt x="361380" y="873304"/>
                </a:lnTo>
                <a:lnTo>
                  <a:pt x="409947" y="880901"/>
                </a:lnTo>
                <a:lnTo>
                  <a:pt x="460077" y="883493"/>
                </a:lnTo>
                <a:lnTo>
                  <a:pt x="510208" y="880901"/>
                </a:lnTo>
                <a:lnTo>
                  <a:pt x="558775" y="873304"/>
                </a:lnTo>
                <a:lnTo>
                  <a:pt x="605498" y="860972"/>
                </a:lnTo>
                <a:lnTo>
                  <a:pt x="650095" y="844175"/>
                </a:lnTo>
                <a:lnTo>
                  <a:pt x="692287" y="823182"/>
                </a:lnTo>
                <a:lnTo>
                  <a:pt x="731793" y="798262"/>
                </a:lnTo>
                <a:lnTo>
                  <a:pt x="768332" y="769684"/>
                </a:lnTo>
                <a:lnTo>
                  <a:pt x="801624" y="737719"/>
                </a:lnTo>
                <a:lnTo>
                  <a:pt x="831387" y="702636"/>
                </a:lnTo>
                <a:lnTo>
                  <a:pt x="857341" y="664704"/>
                </a:lnTo>
                <a:lnTo>
                  <a:pt x="879206" y="624193"/>
                </a:lnTo>
                <a:lnTo>
                  <a:pt x="896700" y="581372"/>
                </a:lnTo>
                <a:lnTo>
                  <a:pt x="909544" y="536511"/>
                </a:lnTo>
                <a:lnTo>
                  <a:pt x="917455" y="489879"/>
                </a:lnTo>
                <a:lnTo>
                  <a:pt x="920155" y="441746"/>
                </a:lnTo>
                <a:lnTo>
                  <a:pt x="917455" y="393613"/>
                </a:lnTo>
                <a:lnTo>
                  <a:pt x="909544" y="346981"/>
                </a:lnTo>
                <a:lnTo>
                  <a:pt x="896700" y="302120"/>
                </a:lnTo>
                <a:lnTo>
                  <a:pt x="879206" y="259299"/>
                </a:lnTo>
                <a:lnTo>
                  <a:pt x="857341" y="218788"/>
                </a:lnTo>
                <a:lnTo>
                  <a:pt x="831387" y="180856"/>
                </a:lnTo>
                <a:lnTo>
                  <a:pt x="801624" y="145773"/>
                </a:lnTo>
                <a:lnTo>
                  <a:pt x="768332" y="113808"/>
                </a:lnTo>
                <a:lnTo>
                  <a:pt x="731793" y="85231"/>
                </a:lnTo>
                <a:lnTo>
                  <a:pt x="692287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871894" y="4546459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197555" y="4676807"/>
            <a:ext cx="26924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AB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413501" y="3267706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460079" y="0"/>
                </a:moveTo>
                <a:lnTo>
                  <a:pt x="409948" y="2592"/>
                </a:lnTo>
                <a:lnTo>
                  <a:pt x="361381" y="10188"/>
                </a:lnTo>
                <a:lnTo>
                  <a:pt x="314658" y="22520"/>
                </a:lnTo>
                <a:lnTo>
                  <a:pt x="270060" y="39317"/>
                </a:lnTo>
                <a:lnTo>
                  <a:pt x="227868" y="60311"/>
                </a:lnTo>
                <a:lnTo>
                  <a:pt x="188362" y="85231"/>
                </a:lnTo>
                <a:lnTo>
                  <a:pt x="151823" y="113808"/>
                </a:lnTo>
                <a:lnTo>
                  <a:pt x="118531" y="145773"/>
                </a:lnTo>
                <a:lnTo>
                  <a:pt x="88768" y="180856"/>
                </a:lnTo>
                <a:lnTo>
                  <a:pt x="62814" y="218788"/>
                </a:lnTo>
                <a:lnTo>
                  <a:pt x="40949" y="259299"/>
                </a:lnTo>
                <a:lnTo>
                  <a:pt x="23455" y="302120"/>
                </a:lnTo>
                <a:lnTo>
                  <a:pt x="10611" y="346981"/>
                </a:lnTo>
                <a:lnTo>
                  <a:pt x="2699" y="393613"/>
                </a:lnTo>
                <a:lnTo>
                  <a:pt x="0" y="441746"/>
                </a:lnTo>
                <a:lnTo>
                  <a:pt x="2699" y="489879"/>
                </a:lnTo>
                <a:lnTo>
                  <a:pt x="10611" y="536511"/>
                </a:lnTo>
                <a:lnTo>
                  <a:pt x="23455" y="581372"/>
                </a:lnTo>
                <a:lnTo>
                  <a:pt x="40949" y="624193"/>
                </a:lnTo>
                <a:lnTo>
                  <a:pt x="62814" y="664704"/>
                </a:lnTo>
                <a:lnTo>
                  <a:pt x="88768" y="702636"/>
                </a:lnTo>
                <a:lnTo>
                  <a:pt x="118531" y="737719"/>
                </a:lnTo>
                <a:lnTo>
                  <a:pt x="151823" y="769684"/>
                </a:lnTo>
                <a:lnTo>
                  <a:pt x="188362" y="798261"/>
                </a:lnTo>
                <a:lnTo>
                  <a:pt x="227868" y="823181"/>
                </a:lnTo>
                <a:lnTo>
                  <a:pt x="270060" y="844175"/>
                </a:lnTo>
                <a:lnTo>
                  <a:pt x="314658" y="860972"/>
                </a:lnTo>
                <a:lnTo>
                  <a:pt x="361381" y="873304"/>
                </a:lnTo>
                <a:lnTo>
                  <a:pt x="409948" y="880901"/>
                </a:lnTo>
                <a:lnTo>
                  <a:pt x="460079" y="883493"/>
                </a:lnTo>
                <a:lnTo>
                  <a:pt x="510209" y="880901"/>
                </a:lnTo>
                <a:lnTo>
                  <a:pt x="558776" y="873304"/>
                </a:lnTo>
                <a:lnTo>
                  <a:pt x="605499" y="860972"/>
                </a:lnTo>
                <a:lnTo>
                  <a:pt x="650097" y="844175"/>
                </a:lnTo>
                <a:lnTo>
                  <a:pt x="692289" y="823181"/>
                </a:lnTo>
                <a:lnTo>
                  <a:pt x="731795" y="798261"/>
                </a:lnTo>
                <a:lnTo>
                  <a:pt x="768334" y="769684"/>
                </a:lnTo>
                <a:lnTo>
                  <a:pt x="801625" y="737719"/>
                </a:lnTo>
                <a:lnTo>
                  <a:pt x="831388" y="702636"/>
                </a:lnTo>
                <a:lnTo>
                  <a:pt x="857342" y="664704"/>
                </a:lnTo>
                <a:lnTo>
                  <a:pt x="879207" y="624193"/>
                </a:lnTo>
                <a:lnTo>
                  <a:pt x="896701" y="581372"/>
                </a:lnTo>
                <a:lnTo>
                  <a:pt x="909545" y="536511"/>
                </a:lnTo>
                <a:lnTo>
                  <a:pt x="917457" y="489879"/>
                </a:lnTo>
                <a:lnTo>
                  <a:pt x="920156" y="441746"/>
                </a:lnTo>
                <a:lnTo>
                  <a:pt x="917457" y="393613"/>
                </a:lnTo>
                <a:lnTo>
                  <a:pt x="909545" y="346981"/>
                </a:lnTo>
                <a:lnTo>
                  <a:pt x="896701" y="302120"/>
                </a:lnTo>
                <a:lnTo>
                  <a:pt x="879207" y="259299"/>
                </a:lnTo>
                <a:lnTo>
                  <a:pt x="857342" y="218788"/>
                </a:lnTo>
                <a:lnTo>
                  <a:pt x="831388" y="180856"/>
                </a:lnTo>
                <a:lnTo>
                  <a:pt x="801625" y="145773"/>
                </a:lnTo>
                <a:lnTo>
                  <a:pt x="768334" y="113808"/>
                </a:lnTo>
                <a:lnTo>
                  <a:pt x="731795" y="85231"/>
                </a:lnTo>
                <a:lnTo>
                  <a:pt x="692289" y="60311"/>
                </a:lnTo>
                <a:lnTo>
                  <a:pt x="650097" y="39317"/>
                </a:lnTo>
                <a:lnTo>
                  <a:pt x="605499" y="22520"/>
                </a:lnTo>
                <a:lnTo>
                  <a:pt x="558776" y="10188"/>
                </a:lnTo>
                <a:lnTo>
                  <a:pt x="510209" y="2592"/>
                </a:lnTo>
                <a:lnTo>
                  <a:pt x="460079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413501" y="3267706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19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730307" y="3398054"/>
            <a:ext cx="28702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spc="-5" dirty="0">
                <a:solidFill>
                  <a:srgbClr val="FFFFFF"/>
                </a:solidFill>
                <a:latin typeface="Verdana"/>
                <a:cs typeface="Verdana"/>
              </a:rPr>
              <a:t>CD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413501" y="4546459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460077" y="0"/>
                </a:moveTo>
                <a:lnTo>
                  <a:pt x="409947" y="2592"/>
                </a:lnTo>
                <a:lnTo>
                  <a:pt x="361380" y="10188"/>
                </a:lnTo>
                <a:lnTo>
                  <a:pt x="314657" y="22520"/>
                </a:lnTo>
                <a:lnTo>
                  <a:pt x="270059" y="39317"/>
                </a:lnTo>
                <a:lnTo>
                  <a:pt x="227867" y="60311"/>
                </a:lnTo>
                <a:lnTo>
                  <a:pt x="188361" y="85231"/>
                </a:lnTo>
                <a:lnTo>
                  <a:pt x="151822" y="113809"/>
                </a:lnTo>
                <a:lnTo>
                  <a:pt x="118531" y="145774"/>
                </a:lnTo>
                <a:lnTo>
                  <a:pt x="88768" y="180857"/>
                </a:lnTo>
                <a:lnTo>
                  <a:pt x="62814" y="218789"/>
                </a:lnTo>
                <a:lnTo>
                  <a:pt x="40949" y="259300"/>
                </a:lnTo>
                <a:lnTo>
                  <a:pt x="23455" y="302121"/>
                </a:lnTo>
                <a:lnTo>
                  <a:pt x="10611" y="346982"/>
                </a:lnTo>
                <a:lnTo>
                  <a:pt x="2699" y="393614"/>
                </a:lnTo>
                <a:lnTo>
                  <a:pt x="0" y="441747"/>
                </a:lnTo>
                <a:lnTo>
                  <a:pt x="2699" y="489881"/>
                </a:lnTo>
                <a:lnTo>
                  <a:pt x="10611" y="536512"/>
                </a:lnTo>
                <a:lnTo>
                  <a:pt x="23455" y="581373"/>
                </a:lnTo>
                <a:lnTo>
                  <a:pt x="40949" y="624194"/>
                </a:lnTo>
                <a:lnTo>
                  <a:pt x="62814" y="664705"/>
                </a:lnTo>
                <a:lnTo>
                  <a:pt x="88768" y="702637"/>
                </a:lnTo>
                <a:lnTo>
                  <a:pt x="118531" y="737720"/>
                </a:lnTo>
                <a:lnTo>
                  <a:pt x="151822" y="769685"/>
                </a:lnTo>
                <a:lnTo>
                  <a:pt x="188361" y="798263"/>
                </a:lnTo>
                <a:lnTo>
                  <a:pt x="227867" y="823183"/>
                </a:lnTo>
                <a:lnTo>
                  <a:pt x="270059" y="844176"/>
                </a:lnTo>
                <a:lnTo>
                  <a:pt x="314657" y="860973"/>
                </a:lnTo>
                <a:lnTo>
                  <a:pt x="361380" y="873305"/>
                </a:lnTo>
                <a:lnTo>
                  <a:pt x="409947" y="880902"/>
                </a:lnTo>
                <a:lnTo>
                  <a:pt x="460077" y="883494"/>
                </a:lnTo>
                <a:lnTo>
                  <a:pt x="510208" y="880902"/>
                </a:lnTo>
                <a:lnTo>
                  <a:pt x="558775" y="873305"/>
                </a:lnTo>
                <a:lnTo>
                  <a:pt x="605498" y="860973"/>
                </a:lnTo>
                <a:lnTo>
                  <a:pt x="650095" y="844176"/>
                </a:lnTo>
                <a:lnTo>
                  <a:pt x="692287" y="823183"/>
                </a:lnTo>
                <a:lnTo>
                  <a:pt x="731793" y="798263"/>
                </a:lnTo>
                <a:lnTo>
                  <a:pt x="768332" y="769685"/>
                </a:lnTo>
                <a:lnTo>
                  <a:pt x="801624" y="737720"/>
                </a:lnTo>
                <a:lnTo>
                  <a:pt x="831387" y="702637"/>
                </a:lnTo>
                <a:lnTo>
                  <a:pt x="857341" y="664705"/>
                </a:lnTo>
                <a:lnTo>
                  <a:pt x="879206" y="624194"/>
                </a:lnTo>
                <a:lnTo>
                  <a:pt x="896700" y="581373"/>
                </a:lnTo>
                <a:lnTo>
                  <a:pt x="909544" y="536512"/>
                </a:lnTo>
                <a:lnTo>
                  <a:pt x="917455" y="489881"/>
                </a:lnTo>
                <a:lnTo>
                  <a:pt x="920155" y="441747"/>
                </a:lnTo>
                <a:lnTo>
                  <a:pt x="917455" y="393614"/>
                </a:lnTo>
                <a:lnTo>
                  <a:pt x="909544" y="346982"/>
                </a:lnTo>
                <a:lnTo>
                  <a:pt x="896700" y="302121"/>
                </a:lnTo>
                <a:lnTo>
                  <a:pt x="879206" y="259300"/>
                </a:lnTo>
                <a:lnTo>
                  <a:pt x="857341" y="218789"/>
                </a:lnTo>
                <a:lnTo>
                  <a:pt x="831387" y="180857"/>
                </a:lnTo>
                <a:lnTo>
                  <a:pt x="801624" y="145774"/>
                </a:lnTo>
                <a:lnTo>
                  <a:pt x="768332" y="113809"/>
                </a:lnTo>
                <a:lnTo>
                  <a:pt x="731793" y="85231"/>
                </a:lnTo>
                <a:lnTo>
                  <a:pt x="692287" y="60311"/>
                </a:lnTo>
                <a:lnTo>
                  <a:pt x="650095" y="39317"/>
                </a:lnTo>
                <a:lnTo>
                  <a:pt x="605498" y="22520"/>
                </a:lnTo>
                <a:lnTo>
                  <a:pt x="558775" y="10188"/>
                </a:lnTo>
                <a:lnTo>
                  <a:pt x="510208" y="2592"/>
                </a:lnTo>
                <a:lnTo>
                  <a:pt x="460077" y="0"/>
                </a:lnTo>
                <a:close/>
              </a:path>
            </a:pathLst>
          </a:custGeom>
          <a:solidFill>
            <a:srgbClr val="CB6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413501" y="4546459"/>
            <a:ext cx="920750" cy="883919"/>
          </a:xfrm>
          <a:custGeom>
            <a:avLst/>
            <a:gdLst/>
            <a:ahLst/>
            <a:cxnLst/>
            <a:rect l="l" t="t" r="r" b="b"/>
            <a:pathLst>
              <a:path w="920750" h="883920">
                <a:moveTo>
                  <a:pt x="0" y="441747"/>
                </a:moveTo>
                <a:lnTo>
                  <a:pt x="2699" y="393613"/>
                </a:lnTo>
                <a:lnTo>
                  <a:pt x="10611" y="346981"/>
                </a:lnTo>
                <a:lnTo>
                  <a:pt x="23455" y="302120"/>
                </a:lnTo>
                <a:lnTo>
                  <a:pt x="40949" y="259299"/>
                </a:lnTo>
                <a:lnTo>
                  <a:pt x="62814" y="218788"/>
                </a:lnTo>
                <a:lnTo>
                  <a:pt x="88768" y="180856"/>
                </a:lnTo>
                <a:lnTo>
                  <a:pt x="118531" y="145773"/>
                </a:lnTo>
                <a:lnTo>
                  <a:pt x="151822" y="113808"/>
                </a:lnTo>
                <a:lnTo>
                  <a:pt x="188361" y="85231"/>
                </a:lnTo>
                <a:lnTo>
                  <a:pt x="227867" y="60311"/>
                </a:lnTo>
                <a:lnTo>
                  <a:pt x="270060" y="39317"/>
                </a:lnTo>
                <a:lnTo>
                  <a:pt x="314657" y="22520"/>
                </a:lnTo>
                <a:lnTo>
                  <a:pt x="361380" y="10188"/>
                </a:lnTo>
                <a:lnTo>
                  <a:pt x="409947" y="2592"/>
                </a:lnTo>
                <a:lnTo>
                  <a:pt x="460078" y="0"/>
                </a:lnTo>
                <a:lnTo>
                  <a:pt x="510208" y="2592"/>
                </a:lnTo>
                <a:lnTo>
                  <a:pt x="558775" y="10188"/>
                </a:lnTo>
                <a:lnTo>
                  <a:pt x="605498" y="22520"/>
                </a:lnTo>
                <a:lnTo>
                  <a:pt x="650096" y="39317"/>
                </a:lnTo>
                <a:lnTo>
                  <a:pt x="692288" y="60311"/>
                </a:lnTo>
                <a:lnTo>
                  <a:pt x="731794" y="85231"/>
                </a:lnTo>
                <a:lnTo>
                  <a:pt x="768333" y="113808"/>
                </a:lnTo>
                <a:lnTo>
                  <a:pt x="801624" y="145773"/>
                </a:lnTo>
                <a:lnTo>
                  <a:pt x="831387" y="180856"/>
                </a:lnTo>
                <a:lnTo>
                  <a:pt x="857341" y="218788"/>
                </a:lnTo>
                <a:lnTo>
                  <a:pt x="879206" y="259299"/>
                </a:lnTo>
                <a:lnTo>
                  <a:pt x="896700" y="302120"/>
                </a:lnTo>
                <a:lnTo>
                  <a:pt x="909544" y="346981"/>
                </a:lnTo>
                <a:lnTo>
                  <a:pt x="917456" y="393613"/>
                </a:lnTo>
                <a:lnTo>
                  <a:pt x="920156" y="441747"/>
                </a:lnTo>
                <a:lnTo>
                  <a:pt x="917456" y="489880"/>
                </a:lnTo>
                <a:lnTo>
                  <a:pt x="909544" y="536512"/>
                </a:lnTo>
                <a:lnTo>
                  <a:pt x="896700" y="581373"/>
                </a:lnTo>
                <a:lnTo>
                  <a:pt x="879206" y="624194"/>
                </a:lnTo>
                <a:lnTo>
                  <a:pt x="857341" y="664705"/>
                </a:lnTo>
                <a:lnTo>
                  <a:pt x="831387" y="702636"/>
                </a:lnTo>
                <a:lnTo>
                  <a:pt x="801624" y="737720"/>
                </a:lnTo>
                <a:lnTo>
                  <a:pt x="768333" y="769685"/>
                </a:lnTo>
                <a:lnTo>
                  <a:pt x="731794" y="798262"/>
                </a:lnTo>
                <a:lnTo>
                  <a:pt x="692288" y="823182"/>
                </a:lnTo>
                <a:lnTo>
                  <a:pt x="650096" y="844175"/>
                </a:lnTo>
                <a:lnTo>
                  <a:pt x="605498" y="860973"/>
                </a:lnTo>
                <a:lnTo>
                  <a:pt x="558775" y="873305"/>
                </a:lnTo>
                <a:lnTo>
                  <a:pt x="510208" y="880901"/>
                </a:lnTo>
                <a:lnTo>
                  <a:pt x="460078" y="883493"/>
                </a:lnTo>
                <a:lnTo>
                  <a:pt x="409947" y="880901"/>
                </a:lnTo>
                <a:lnTo>
                  <a:pt x="361380" y="873305"/>
                </a:lnTo>
                <a:lnTo>
                  <a:pt x="314657" y="860973"/>
                </a:lnTo>
                <a:lnTo>
                  <a:pt x="270060" y="844175"/>
                </a:lnTo>
                <a:lnTo>
                  <a:pt x="227867" y="823182"/>
                </a:lnTo>
                <a:lnTo>
                  <a:pt x="188361" y="798262"/>
                </a:lnTo>
                <a:lnTo>
                  <a:pt x="151822" y="769685"/>
                </a:lnTo>
                <a:lnTo>
                  <a:pt x="118531" y="737720"/>
                </a:lnTo>
                <a:lnTo>
                  <a:pt x="88768" y="702636"/>
                </a:lnTo>
                <a:lnTo>
                  <a:pt x="62814" y="664705"/>
                </a:lnTo>
                <a:lnTo>
                  <a:pt x="40949" y="624194"/>
                </a:lnTo>
                <a:lnTo>
                  <a:pt x="23455" y="581373"/>
                </a:lnTo>
                <a:lnTo>
                  <a:pt x="10611" y="536512"/>
                </a:lnTo>
                <a:lnTo>
                  <a:pt x="2699" y="489880"/>
                </a:lnTo>
                <a:lnTo>
                  <a:pt x="0" y="4417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6737859" y="4676808"/>
            <a:ext cx="271780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spc="-5" dirty="0">
                <a:solidFill>
                  <a:srgbClr val="FFFFFF"/>
                </a:solidFill>
                <a:latin typeface="Verdana"/>
                <a:cs typeface="Verdana"/>
              </a:rPr>
              <a:t>BC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253917" y="2939875"/>
            <a:ext cx="591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</a:t>
            </a:r>
            <a:r>
              <a:rPr sz="1800" b="1" spc="-5" dirty="0">
                <a:latin typeface="Arial"/>
                <a:cs typeface="Arial"/>
              </a:rPr>
              <a:t>F</a:t>
            </a:r>
            <a:r>
              <a:rPr sz="1800" b="1" dirty="0">
                <a:latin typeface="Arial"/>
                <a:cs typeface="Arial"/>
              </a:rPr>
              <a:t>=3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160802" y="3943642"/>
            <a:ext cx="883945" cy="1963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200899" y="4020714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>
                <a:moveTo>
                  <a:pt x="0" y="0"/>
                </a:moveTo>
                <a:lnTo>
                  <a:pt x="662322" y="0"/>
                </a:lnTo>
                <a:lnTo>
                  <a:pt x="685799" y="0"/>
                </a:lnTo>
              </a:path>
            </a:pathLst>
          </a:custGeom>
          <a:ln w="38100">
            <a:solidFill>
              <a:srgbClr val="A18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890933" y="3960644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0" y="0"/>
                </a:moveTo>
                <a:lnTo>
                  <a:pt x="0" y="120141"/>
                </a:lnTo>
                <a:lnTo>
                  <a:pt x="120142" y="60070"/>
                </a:lnTo>
                <a:lnTo>
                  <a:pt x="0" y="0"/>
                </a:lnTo>
                <a:close/>
              </a:path>
            </a:pathLst>
          </a:custGeom>
          <a:solidFill>
            <a:srgbClr val="A189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107515" y="3941542"/>
            <a:ext cx="990520" cy="85457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198902" y="4021813"/>
            <a:ext cx="711200" cy="575945"/>
          </a:xfrm>
          <a:custGeom>
            <a:avLst/>
            <a:gdLst/>
            <a:ahLst/>
            <a:cxnLst/>
            <a:rect l="l" t="t" r="r" b="b"/>
            <a:pathLst>
              <a:path w="711200" h="575945">
                <a:moveTo>
                  <a:pt x="0" y="0"/>
                </a:moveTo>
                <a:lnTo>
                  <a:pt x="696278" y="563775"/>
                </a:lnTo>
                <a:lnTo>
                  <a:pt x="711083" y="575762"/>
                </a:lnTo>
              </a:path>
            </a:pathLst>
          </a:custGeom>
          <a:ln w="38100">
            <a:solidFill>
              <a:srgbClr val="A18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875474" y="4553554"/>
            <a:ext cx="131445" cy="122555"/>
          </a:xfrm>
          <a:custGeom>
            <a:avLst/>
            <a:gdLst/>
            <a:ahLst/>
            <a:cxnLst/>
            <a:rect l="l" t="t" r="r" b="b"/>
            <a:pathLst>
              <a:path w="131445" h="122554">
                <a:moveTo>
                  <a:pt x="75603" y="0"/>
                </a:moveTo>
                <a:lnTo>
                  <a:pt x="0" y="93371"/>
                </a:lnTo>
                <a:lnTo>
                  <a:pt x="131173" y="122289"/>
                </a:lnTo>
                <a:lnTo>
                  <a:pt x="75603" y="0"/>
                </a:lnTo>
                <a:close/>
              </a:path>
            </a:pathLst>
          </a:custGeom>
          <a:solidFill>
            <a:srgbClr val="A189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411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22398" y="602948"/>
            <a:ext cx="7664402" cy="652536"/>
          </a:xfrm>
          <a:prstGeom prst="rect">
            <a:avLst/>
          </a:prstGeom>
        </p:spPr>
        <p:txBody>
          <a:bodyPr vert="horz" wrap="square" lIns="0" tIns="6145" rIns="0" bIns="0" rtlCol="0">
            <a:spAutoFit/>
          </a:bodyPr>
          <a:lstStyle/>
          <a:p>
            <a:pPr marL="6468">
              <a:spcBef>
                <a:spcPts val="48"/>
              </a:spcBef>
            </a:pPr>
            <a:r>
              <a:rPr sz="4200" spc="-10" dirty="0"/>
              <a:t>CASSANDRA </a:t>
            </a:r>
            <a:r>
              <a:rPr sz="4200" spc="-300" dirty="0"/>
              <a:t>DATA</a:t>
            </a:r>
            <a:r>
              <a:rPr sz="4200" spc="-23" dirty="0"/>
              <a:t> </a:t>
            </a:r>
            <a:r>
              <a:rPr sz="4200" spc="-38" dirty="0"/>
              <a:t>MODEL</a:t>
            </a:r>
            <a:endParaRPr sz="4200" dirty="0"/>
          </a:p>
        </p:txBody>
      </p:sp>
      <p:sp>
        <p:nvSpPr>
          <p:cNvPr id="4" name="object 4"/>
          <p:cNvSpPr txBox="1"/>
          <p:nvPr/>
        </p:nvSpPr>
        <p:spPr>
          <a:xfrm>
            <a:off x="265686" y="1990688"/>
            <a:ext cx="3350297" cy="1293784"/>
          </a:xfrm>
          <a:prstGeom prst="rect">
            <a:avLst/>
          </a:prstGeom>
        </p:spPr>
        <p:txBody>
          <a:bodyPr vert="horz" wrap="square" lIns="0" tIns="8732" rIns="0" bIns="0" rtlCol="0">
            <a:spAutoFit/>
          </a:bodyPr>
          <a:lstStyle/>
          <a:p>
            <a:pPr marL="251609" indent="-245141">
              <a:spcBef>
                <a:spcPts val="69"/>
              </a:spcBef>
              <a:buSzPct val="82352"/>
              <a:buChar char="•"/>
              <a:tabLst>
                <a:tab pos="251609" algn="l"/>
                <a:tab pos="251933" algn="l"/>
              </a:tabLst>
            </a:pPr>
            <a:r>
              <a:rPr sz="2200" spc="-5" dirty="0">
                <a:solidFill>
                  <a:srgbClr val="535353"/>
                </a:solidFill>
                <a:latin typeface="Gill Sans MT"/>
                <a:cs typeface="Gill Sans MT"/>
              </a:rPr>
              <a:t>Query </a:t>
            </a:r>
            <a:r>
              <a:rPr sz="2200" spc="-33" dirty="0">
                <a:solidFill>
                  <a:srgbClr val="535353"/>
                </a:solidFill>
                <a:latin typeface="Gill Sans MT"/>
                <a:cs typeface="Gill Sans MT"/>
              </a:rPr>
              <a:t>driven </a:t>
            </a:r>
            <a:r>
              <a:rPr sz="2200" spc="-10" dirty="0">
                <a:solidFill>
                  <a:srgbClr val="535353"/>
                </a:solidFill>
                <a:latin typeface="Gill Sans MT"/>
                <a:cs typeface="Gill Sans MT"/>
              </a:rPr>
              <a:t>data</a:t>
            </a:r>
            <a:r>
              <a:rPr sz="2200" spc="28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200" spc="-10" dirty="0">
                <a:solidFill>
                  <a:srgbClr val="535353"/>
                </a:solidFill>
                <a:latin typeface="Gill Sans MT"/>
                <a:cs typeface="Gill Sans MT"/>
              </a:rPr>
              <a:t>model</a:t>
            </a:r>
            <a:endParaRPr sz="2200">
              <a:latin typeface="Gill Sans MT"/>
              <a:cs typeface="Gill Sans MT"/>
            </a:endParaRPr>
          </a:p>
          <a:p>
            <a:pPr marL="251609" indent="-245141">
              <a:spcBef>
                <a:spcPts val="2103"/>
              </a:spcBef>
              <a:buSzPct val="82352"/>
              <a:buChar char="•"/>
              <a:tabLst>
                <a:tab pos="251609" algn="l"/>
                <a:tab pos="251933" algn="l"/>
              </a:tabLst>
            </a:pPr>
            <a:r>
              <a:rPr sz="2200" spc="-25" dirty="0">
                <a:solidFill>
                  <a:srgbClr val="535353"/>
                </a:solidFill>
                <a:latin typeface="Gill Sans MT"/>
                <a:cs typeface="Gill Sans MT"/>
              </a:rPr>
              <a:t>Column </a:t>
            </a:r>
            <a:r>
              <a:rPr sz="2200" spc="-33" dirty="0">
                <a:solidFill>
                  <a:srgbClr val="535353"/>
                </a:solidFill>
                <a:latin typeface="Gill Sans MT"/>
                <a:cs typeface="Gill Sans MT"/>
              </a:rPr>
              <a:t>family </a:t>
            </a:r>
            <a:r>
              <a:rPr sz="2200" spc="-13" dirty="0">
                <a:solidFill>
                  <a:srgbClr val="535353"/>
                </a:solidFill>
                <a:latin typeface="Gill Sans MT"/>
                <a:cs typeface="Gill Sans MT"/>
              </a:rPr>
              <a:t>non </a:t>
            </a:r>
            <a:r>
              <a:rPr sz="2200" spc="-41" dirty="0">
                <a:solidFill>
                  <a:srgbClr val="535353"/>
                </a:solidFill>
                <a:latin typeface="Gill Sans MT"/>
                <a:cs typeface="Gill Sans MT"/>
              </a:rPr>
              <a:t>relational</a:t>
            </a:r>
            <a:r>
              <a:rPr sz="2200" spc="89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200" spc="15" dirty="0">
                <a:solidFill>
                  <a:srgbClr val="535353"/>
                </a:solidFill>
                <a:latin typeface="Gill Sans MT"/>
                <a:cs typeface="Gill Sans MT"/>
              </a:rPr>
              <a:t>db</a:t>
            </a:r>
            <a:endParaRPr sz="2200">
              <a:latin typeface="Gill Sans MT"/>
              <a:cs typeface="Gill Sans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71801" y="2743200"/>
            <a:ext cx="5743574" cy="37714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09EA4-548A-2D45-BB80-93BAC13E1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D3AA3-AF78-B249-B3DB-BA56F5645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relational database…</a:t>
            </a:r>
          </a:p>
          <a:p>
            <a:r>
              <a:rPr lang="en-US" dirty="0"/>
              <a:t>The way you define a table schema does not force you to consider how data is stored physically in the database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But for Cassandra…</a:t>
            </a:r>
          </a:p>
          <a:p>
            <a:r>
              <a:rPr lang="en-US" dirty="0"/>
              <a:t>The way you define a schema actually impacts how data is distributed physically across the cluster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BA1D0-341D-3C48-9C6F-3FB183D72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9206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E39FA-ED9E-3A42-9E9F-C6BD2E3BA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CQL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EA2C5-A6DF-794A-99E2-70B94DF5C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2514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Cassandra Query Language</a:t>
            </a:r>
          </a:p>
          <a:p>
            <a:pPr lvl="1"/>
            <a:r>
              <a:rPr lang="en-US" dirty="0"/>
              <a:t>SQL–like language to query Cassandra</a:t>
            </a:r>
          </a:p>
          <a:p>
            <a:r>
              <a:rPr lang="en-US" dirty="0" err="1"/>
              <a:t>Keyspace</a:t>
            </a:r>
            <a:r>
              <a:rPr lang="en-US" dirty="0"/>
              <a:t> – analogous to a database</a:t>
            </a:r>
          </a:p>
          <a:p>
            <a:pPr lvl="1"/>
            <a:r>
              <a:rPr lang="en-US" dirty="0"/>
              <a:t>Has various storage attributes</a:t>
            </a:r>
          </a:p>
          <a:p>
            <a:r>
              <a:rPr lang="en-US" dirty="0"/>
              <a:t>Table – looks like a SQL Table.</a:t>
            </a:r>
          </a:p>
          <a:p>
            <a:pPr lvl="1"/>
            <a:r>
              <a:rPr lang="en-US" dirty="0"/>
              <a:t>A table exists within a </a:t>
            </a:r>
            <a:r>
              <a:rPr lang="en-US" dirty="0" err="1"/>
              <a:t>keyspace</a:t>
            </a:r>
            <a:endParaRPr lang="en-US" dirty="0"/>
          </a:p>
          <a:p>
            <a:pPr lvl="1"/>
            <a:r>
              <a:rPr lang="en-US" dirty="0"/>
              <a:t>A table must have a Primary Key</a:t>
            </a:r>
          </a:p>
          <a:p>
            <a:pPr lvl="1"/>
            <a:r>
              <a:rPr lang="en-US" dirty="0"/>
              <a:t>We can fully qualify a table as &lt;</a:t>
            </a:r>
            <a:r>
              <a:rPr lang="en-US" dirty="0" err="1"/>
              <a:t>keyspace</a:t>
            </a:r>
            <a:r>
              <a:rPr lang="en-US" dirty="0"/>
              <a:t>&gt;.&lt;table&gt;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A90C7-A7A0-E64D-BA58-C17ABDFEC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49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2FB2CA-CAB7-1D41-A3A8-BFC61EF78E38}"/>
              </a:ext>
            </a:extLst>
          </p:cNvPr>
          <p:cNvSpPr/>
          <p:nvPr/>
        </p:nvSpPr>
        <p:spPr>
          <a:xfrm>
            <a:off x="838200" y="4038600"/>
            <a:ext cx="7391400" cy="2438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Cassandra Cluster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2136E2-D6B1-AD41-9C54-7E344777BBD7}"/>
              </a:ext>
            </a:extLst>
          </p:cNvPr>
          <p:cNvSpPr/>
          <p:nvPr/>
        </p:nvSpPr>
        <p:spPr>
          <a:xfrm>
            <a:off x="990600" y="4648200"/>
            <a:ext cx="3352800" cy="13716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This_Key_Space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85DA66-340E-0E47-9F07-4FC1D3D0F8F5}"/>
              </a:ext>
            </a:extLst>
          </p:cNvPr>
          <p:cNvSpPr/>
          <p:nvPr/>
        </p:nvSpPr>
        <p:spPr>
          <a:xfrm>
            <a:off x="1295400" y="5143500"/>
            <a:ext cx="12192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Table_A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5E8083-5D6E-1643-B8C0-8732D410F1A6}"/>
              </a:ext>
            </a:extLst>
          </p:cNvPr>
          <p:cNvSpPr/>
          <p:nvPr/>
        </p:nvSpPr>
        <p:spPr>
          <a:xfrm>
            <a:off x="2895600" y="5181600"/>
            <a:ext cx="12192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Table_B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5CB38F-26EF-CF48-B0B7-9E85AF2A7A57}"/>
              </a:ext>
            </a:extLst>
          </p:cNvPr>
          <p:cNvSpPr/>
          <p:nvPr/>
        </p:nvSpPr>
        <p:spPr>
          <a:xfrm>
            <a:off x="4648200" y="4648200"/>
            <a:ext cx="3352800" cy="13716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Other_Key_Space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60F15B-6052-6749-A24C-4DE6A67FF192}"/>
              </a:ext>
            </a:extLst>
          </p:cNvPr>
          <p:cNvSpPr/>
          <p:nvPr/>
        </p:nvSpPr>
        <p:spPr>
          <a:xfrm>
            <a:off x="4953000" y="5105400"/>
            <a:ext cx="12192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Table_A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22F3CC-75FD-B442-8916-B2B50EEE4B03}"/>
              </a:ext>
            </a:extLst>
          </p:cNvPr>
          <p:cNvSpPr/>
          <p:nvPr/>
        </p:nvSpPr>
        <p:spPr>
          <a:xfrm>
            <a:off x="6553200" y="5143500"/>
            <a:ext cx="12192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Table_B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6248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AACA8-CE79-504F-A08F-5AD200ED6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CQL Basics - </a:t>
            </a:r>
            <a:r>
              <a:rPr lang="en-US" dirty="0" err="1"/>
              <a:t>Keyspace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E9542-C0F3-4D4A-81A5-927AAD262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Create a </a:t>
            </a:r>
            <a:r>
              <a:rPr lang="en-US" sz="1800" dirty="0" err="1"/>
              <a:t>keyspace</a:t>
            </a:r>
            <a:r>
              <a:rPr lang="en-US" sz="1800" dirty="0"/>
              <a:t> for a cluster located in a single data center</a:t>
            </a:r>
          </a:p>
          <a:p>
            <a:pPr lvl="1"/>
            <a:r>
              <a:rPr lang="en-US" sz="1400" dirty="0"/>
              <a:t>Indicated by use of ‘</a:t>
            </a:r>
            <a:r>
              <a:rPr lang="en-US" sz="1400" dirty="0" err="1"/>
              <a:t>SimpleStrategy</a:t>
            </a:r>
            <a:r>
              <a:rPr lang="en-US" sz="1400" dirty="0"/>
              <a:t>’</a:t>
            </a:r>
          </a:p>
          <a:p>
            <a:r>
              <a:rPr lang="en-US" sz="1800" dirty="0"/>
              <a:t>Specify how many copies of each table’s data should exist across the cluster</a:t>
            </a:r>
          </a:p>
          <a:p>
            <a:pPr lvl="1"/>
            <a:r>
              <a:rPr lang="en-US" sz="1400" dirty="0"/>
              <a:t>Indicate by use of ‘</a:t>
            </a:r>
            <a:r>
              <a:rPr lang="en-US" sz="1400" dirty="0" err="1"/>
              <a:t>replication_factor</a:t>
            </a:r>
            <a:r>
              <a:rPr lang="en-US" sz="1400" dirty="0"/>
              <a:t>’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CREATE</a:t>
            </a:r>
            <a:r>
              <a:rPr lang="en-US" sz="1800" dirty="0"/>
              <a:t> </a:t>
            </a:r>
            <a:r>
              <a:rPr lang="en-US" sz="1800" b="1" dirty="0"/>
              <a:t>KEYSPACE</a:t>
            </a:r>
            <a:r>
              <a:rPr lang="en-US" sz="1800" dirty="0"/>
              <a:t> cycling </a:t>
            </a:r>
            <a:r>
              <a:rPr lang="en-US" sz="1800" b="1" dirty="0"/>
              <a:t>WITH</a:t>
            </a:r>
            <a:r>
              <a:rPr lang="en-US" sz="1800" dirty="0"/>
              <a:t> </a:t>
            </a:r>
            <a:r>
              <a:rPr lang="en-US" sz="1800" b="1" dirty="0"/>
              <a:t>REPLICATION</a:t>
            </a:r>
            <a:r>
              <a:rPr lang="en-US" sz="1800" dirty="0"/>
              <a:t> = </a:t>
            </a:r>
          </a:p>
          <a:p>
            <a:pPr marL="0" indent="0">
              <a:buNone/>
            </a:pPr>
            <a:r>
              <a:rPr lang="en-US" sz="1800" dirty="0"/>
              <a:t>{ 'class' : '</a:t>
            </a:r>
            <a:r>
              <a:rPr lang="en-US" sz="1800" dirty="0" err="1"/>
              <a:t>SimpleStrategy</a:t>
            </a:r>
            <a:r>
              <a:rPr lang="en-US" sz="1800" dirty="0"/>
              <a:t>', '</a:t>
            </a:r>
            <a:r>
              <a:rPr lang="en-US" sz="1800" dirty="0" err="1"/>
              <a:t>replication_factor</a:t>
            </a:r>
            <a:r>
              <a:rPr lang="en-US" sz="1800" dirty="0"/>
              <a:t>’ : 3 };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AEE12-6A01-414D-9F47-90DDF8DFA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3605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098B0-4CE0-4142-8760-4C3DF0943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CQL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63544-D751-1742-B63B-1B56851A6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Usual statements</a:t>
            </a:r>
          </a:p>
          <a:p>
            <a:pPr lvl="1"/>
            <a:r>
              <a:rPr lang="en-US" dirty="0"/>
              <a:t>CREATE / DROP / ALTER TABLE / SELECT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INSERT AND UPDATE are similar to each other</a:t>
            </a:r>
          </a:p>
          <a:p>
            <a:pPr lvl="1"/>
            <a:r>
              <a:rPr lang="en-US" dirty="0"/>
              <a:t>If a row doesn’t exist, UPDATE will insert it, and if it exists, INSERT will replace it.</a:t>
            </a:r>
          </a:p>
          <a:p>
            <a:pPr lvl="1"/>
            <a:r>
              <a:rPr lang="en-US" dirty="0"/>
              <a:t>Think of it as an UPSERT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C12DD-D6D5-9244-AC24-17A63F76A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675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731DC-972B-CC44-9E3B-0F33049B6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CQL Basics – creating a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B0E45-06A7-904A-BF28-79A450D2C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/>
              <a:t>CREATE TABLE cities (</a:t>
            </a:r>
          </a:p>
          <a:p>
            <a:pPr marL="274320" lvl="1" indent="0">
              <a:buNone/>
            </a:pPr>
            <a:r>
              <a:rPr lang="en-US" sz="1800" dirty="0" err="1"/>
              <a:t>city_name</a:t>
            </a:r>
            <a:r>
              <a:rPr lang="en-US" sz="1800" dirty="0"/>
              <a:t> varchar,</a:t>
            </a:r>
          </a:p>
          <a:p>
            <a:pPr marL="274320" lvl="1" indent="0">
              <a:buNone/>
            </a:pPr>
            <a:r>
              <a:rPr lang="en-US" sz="1800" dirty="0"/>
              <a:t>elevation int,</a:t>
            </a:r>
          </a:p>
          <a:p>
            <a:pPr marL="274320" lvl="1" indent="0">
              <a:buNone/>
            </a:pPr>
            <a:r>
              <a:rPr lang="en-US" sz="1800" dirty="0"/>
              <a:t>population int,</a:t>
            </a:r>
          </a:p>
          <a:p>
            <a:pPr marL="274320" lvl="1" indent="0">
              <a:buNone/>
            </a:pPr>
            <a:r>
              <a:rPr lang="en-US" sz="1800" dirty="0"/>
              <a:t>museums int,</a:t>
            </a:r>
          </a:p>
          <a:p>
            <a:pPr marL="274320" lvl="1" indent="0">
              <a:buNone/>
            </a:pPr>
            <a:r>
              <a:rPr lang="en-US" sz="1800" dirty="0"/>
              <a:t>bridges int,</a:t>
            </a:r>
          </a:p>
          <a:p>
            <a:pPr marL="274320" lvl="1" indent="0">
              <a:buNone/>
            </a:pPr>
            <a:r>
              <a:rPr lang="en-US" sz="1800" dirty="0"/>
              <a:t>PRIMARY KEY (</a:t>
            </a:r>
            <a:r>
              <a:rPr lang="en-US" sz="1800" dirty="0" err="1"/>
              <a:t>city_name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r>
              <a:rPr lang="en-US" sz="1800" dirty="0"/>
              <a:t>);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We can visualize it this way: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lang="en-US" sz="1900" dirty="0" err="1"/>
              <a:t>city_name</a:t>
            </a:r>
            <a:r>
              <a:rPr lang="en-US" sz="1900" dirty="0"/>
              <a:t> is the partition key</a:t>
            </a:r>
          </a:p>
          <a:p>
            <a:r>
              <a:rPr lang="en-US" sz="1900" dirty="0"/>
              <a:t>In this example, the partition key = primary key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F815F-D742-9141-B09F-81E199DDC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52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A2A61F3-CCF3-1041-B7FD-8DAECF40C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30949"/>
              </p:ext>
            </p:extLst>
          </p:nvPr>
        </p:nvGraphicFramePr>
        <p:xfrm>
          <a:off x="990600" y="4648200"/>
          <a:ext cx="7391400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8280">
                  <a:extLst>
                    <a:ext uri="{9D8B030D-6E8A-4147-A177-3AD203B41FA5}">
                      <a16:colId xmlns:a16="http://schemas.microsoft.com/office/drawing/2014/main" val="1602630846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2630579142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2952881331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3661901866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1465069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city_name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elevation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population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museums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bridges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663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Springfield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978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60456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38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93646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A668-FD5B-6248-ACBB-49931304B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CQL Basics –Primary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37E81-4C13-954A-B3AE-AC81D9119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Primary Key</a:t>
            </a:r>
          </a:p>
          <a:p>
            <a:r>
              <a:rPr lang="en-US" dirty="0"/>
              <a:t>The key uniquely identifies a row:</a:t>
            </a:r>
          </a:p>
          <a:p>
            <a:pPr lvl="1"/>
            <a:r>
              <a:rPr lang="en-US" dirty="0"/>
              <a:t>PRIMARY KEY (partition key)</a:t>
            </a:r>
          </a:p>
          <a:p>
            <a:r>
              <a:rPr lang="en-US" dirty="0"/>
              <a:t>A composite primary key consists of:</a:t>
            </a:r>
          </a:p>
          <a:p>
            <a:pPr lvl="1"/>
            <a:r>
              <a:rPr lang="en-US" dirty="0"/>
              <a:t>A partition key</a:t>
            </a:r>
          </a:p>
          <a:p>
            <a:pPr lvl="1"/>
            <a:r>
              <a:rPr lang="en-US" dirty="0"/>
              <a:t>One or more clustering columns (clustering keys)</a:t>
            </a:r>
          </a:p>
          <a:p>
            <a:pPr lvl="1"/>
            <a:r>
              <a:rPr lang="en-US" dirty="0"/>
              <a:t>PRIMARY KEY (partition key, cluster columns, ...)</a:t>
            </a:r>
          </a:p>
          <a:p>
            <a:endParaRPr lang="en-US" dirty="0"/>
          </a:p>
          <a:p>
            <a:r>
              <a:rPr lang="en-US" sz="2000" dirty="0"/>
              <a:t>The partition key determines on which node the partition resides</a:t>
            </a:r>
          </a:p>
          <a:p>
            <a:r>
              <a:rPr lang="en-US" sz="2000" dirty="0"/>
              <a:t>Data is ordered in cluster column (sorted) order within the partition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9926F-E982-7044-A2E3-FBA84982B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4541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33957-3E4D-2542-914D-74A6DC5AD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CQL Basics – Composite Primary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D35E2-7C6F-494B-A52F-E34011144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TABLE </a:t>
            </a:r>
            <a:r>
              <a:rPr lang="en-US" dirty="0" err="1"/>
              <a:t>sporty_league</a:t>
            </a:r>
            <a:r>
              <a:rPr lang="en-US" dirty="0"/>
              <a:t> (</a:t>
            </a:r>
          </a:p>
          <a:p>
            <a:pPr marL="274320" lvl="1" indent="0">
              <a:buNone/>
            </a:pPr>
            <a:r>
              <a:rPr lang="en-US" dirty="0" err="1"/>
              <a:t>team_name</a:t>
            </a:r>
            <a:r>
              <a:rPr lang="en-US" dirty="0"/>
              <a:t> varchar,</a:t>
            </a:r>
          </a:p>
          <a:p>
            <a:pPr marL="274320" lvl="1" indent="0">
              <a:buNone/>
            </a:pPr>
            <a:r>
              <a:rPr lang="en-US" dirty="0" err="1"/>
              <a:t>player_name</a:t>
            </a:r>
            <a:r>
              <a:rPr lang="en-US" dirty="0"/>
              <a:t> varchar,</a:t>
            </a:r>
          </a:p>
          <a:p>
            <a:pPr marL="274320" lvl="1" indent="0">
              <a:buNone/>
            </a:pPr>
            <a:r>
              <a:rPr lang="en-US" dirty="0"/>
              <a:t>jersey int,</a:t>
            </a:r>
          </a:p>
          <a:p>
            <a:pPr marL="274320" lvl="1" indent="0">
              <a:buNone/>
            </a:pPr>
            <a:r>
              <a:rPr lang="en-US" dirty="0"/>
              <a:t>PRIMARY KEY (</a:t>
            </a:r>
            <a:r>
              <a:rPr lang="en-US" dirty="0" err="1"/>
              <a:t>team_name</a:t>
            </a:r>
            <a:r>
              <a:rPr lang="en-US" dirty="0"/>
              <a:t>, </a:t>
            </a:r>
            <a:r>
              <a:rPr lang="en-US" dirty="0" err="1"/>
              <a:t>player_name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EAE96-A448-8F4C-B993-88B036B59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6427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1C6BC-1EB1-6643-9931-967FFD26F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CQL Basics – Simple Select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182D1-AF85-D54B-A846-4B4DCEADC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* FROM </a:t>
            </a:r>
            <a:r>
              <a:rPr lang="en-US" dirty="0" err="1"/>
              <a:t>sporty_league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More that a few rows can be slow. (Limited to 10,000 rows by default)</a:t>
            </a:r>
          </a:p>
          <a:p>
            <a:r>
              <a:rPr lang="en-US" dirty="0"/>
              <a:t>Use LIMIT keyword to choose fewer or more rows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B9623-4507-364C-8327-BD38DDBA2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107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3C507-7749-E046-9C0C-57D37E0C9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CQL Basics - Simple Select on Partition Key and Cluster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35EEE-09AA-4B42-B995-F64C16572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SELECT * FROM </a:t>
            </a:r>
            <a:r>
              <a:rPr lang="en-US" dirty="0" err="1"/>
              <a:t>sporty_league</a:t>
            </a:r>
            <a:r>
              <a:rPr lang="en-US" dirty="0"/>
              <a:t> WHERE </a:t>
            </a:r>
            <a:r>
              <a:rPr lang="en-US" dirty="0" err="1"/>
              <a:t>team_name</a:t>
            </a:r>
            <a:r>
              <a:rPr lang="en-US" dirty="0"/>
              <a:t> = ‘Mighty Mutts’;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* FROM </a:t>
            </a:r>
            <a:r>
              <a:rPr lang="en-US" dirty="0" err="1"/>
              <a:t>sporty_league</a:t>
            </a:r>
            <a:r>
              <a:rPr lang="en-US" dirty="0"/>
              <a:t> WHERE </a:t>
            </a:r>
            <a:r>
              <a:rPr lang="en-US" dirty="0" err="1"/>
              <a:t>team_name</a:t>
            </a:r>
            <a:r>
              <a:rPr lang="en-US" dirty="0"/>
              <a:t> = ‘Mighty Mutts’ and </a:t>
            </a:r>
            <a:r>
              <a:rPr lang="en-US" dirty="0" err="1"/>
              <a:t>player_name</a:t>
            </a:r>
            <a:r>
              <a:rPr lang="en-US" dirty="0"/>
              <a:t> = ‘Lucky’;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A02CB-5BD9-D94A-93A4-FE081761A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0160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F6AA8-4545-4C43-ADF5-B90B6086F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CQL Basics – Insert/Update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3F805-7E54-8940-9D22-BC6ED1720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sz="2000" dirty="0"/>
              <a:t>INSERT INTO </a:t>
            </a:r>
            <a:r>
              <a:rPr lang="en-US" sz="2000" dirty="0" err="1"/>
              <a:t>sporty_league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	(</a:t>
            </a:r>
            <a:r>
              <a:rPr lang="en-US" sz="2000" dirty="0" err="1"/>
              <a:t>team_name</a:t>
            </a:r>
            <a:r>
              <a:rPr lang="en-US" sz="2000" dirty="0"/>
              <a:t>, </a:t>
            </a:r>
            <a:r>
              <a:rPr lang="en-US" sz="2000" dirty="0" err="1"/>
              <a:t>player_name</a:t>
            </a:r>
            <a:r>
              <a:rPr lang="en-US" sz="2000" dirty="0"/>
              <a:t>, jersey) </a:t>
            </a:r>
          </a:p>
          <a:p>
            <a:pPr marL="0" indent="0">
              <a:buNone/>
            </a:pPr>
            <a:r>
              <a:rPr lang="en-US" sz="2000" dirty="0"/>
              <a:t>	VALUES ('Mighty Mutts',’Felix’,90);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UPDATE </a:t>
            </a:r>
            <a:r>
              <a:rPr lang="en-US" sz="2000" dirty="0" err="1"/>
              <a:t>sporty_league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	SET jersey=85</a:t>
            </a:r>
          </a:p>
          <a:p>
            <a:pPr marL="0" indent="0">
              <a:buNone/>
            </a:pPr>
            <a:r>
              <a:rPr lang="en-US" sz="2000" dirty="0"/>
              <a:t>	WHERE </a:t>
            </a:r>
            <a:r>
              <a:rPr lang="en-US" sz="2000" dirty="0" err="1"/>
              <a:t>team_name</a:t>
            </a:r>
            <a:r>
              <a:rPr lang="en-US" sz="2000" dirty="0"/>
              <a:t>=‘Mighty Mutts’ and </a:t>
            </a:r>
            <a:r>
              <a:rPr lang="en-US" sz="2000" dirty="0" err="1"/>
              <a:t>player_name</a:t>
            </a:r>
            <a:r>
              <a:rPr lang="en-US" sz="2000" dirty="0"/>
              <a:t>=‘Felix’;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1C7CD-8EEB-9D41-86C3-D89FDB2E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495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64C98-D0CC-6A4C-9188-46D9B7CB3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CQL Basics - Ordering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569DB-3C67-3C43-9D01-5F9DAA17D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Partition keys are not ordered, but the cluster columns are.</a:t>
            </a:r>
          </a:p>
          <a:p>
            <a:r>
              <a:rPr lang="en-US" dirty="0"/>
              <a:t>However, you can only order by a column if it’s a cluster column.</a:t>
            </a:r>
          </a:p>
          <a:p>
            <a:r>
              <a:rPr lang="en-US" dirty="0"/>
              <a:t>Data will returned by default in the order of the clustering column.</a:t>
            </a:r>
          </a:p>
          <a:p>
            <a:r>
              <a:rPr lang="en-US" dirty="0"/>
              <a:t>You can also use the ORDER BY keyword – but only on the clustering column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 * FROM </a:t>
            </a:r>
            <a:r>
              <a:rPr lang="en-US" dirty="0" err="1"/>
              <a:t>sporty_league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team_name</a:t>
            </a:r>
            <a:r>
              <a:rPr lang="en-US" dirty="0"/>
              <a:t> = ‘Mighty Mutts’</a:t>
            </a:r>
          </a:p>
          <a:p>
            <a:pPr marL="0" indent="0">
              <a:buNone/>
            </a:pPr>
            <a:r>
              <a:rPr lang="en-US" dirty="0"/>
              <a:t>ORDER BY </a:t>
            </a:r>
            <a:r>
              <a:rPr lang="en-US" dirty="0" err="1"/>
              <a:t>player_name</a:t>
            </a:r>
            <a:r>
              <a:rPr lang="en-US" dirty="0"/>
              <a:t> DESC;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4C086-794B-1743-9632-8D711C0D0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2683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7C281-3E56-9049-A1B9-686441E83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CQL Basics - Predicates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583DE-34D3-C747-8A84-2B3EC06C0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the partition key: = and IN</a:t>
            </a:r>
          </a:p>
          <a:p>
            <a:r>
              <a:rPr lang="en-US" dirty="0"/>
              <a:t>On the cluster columns: &lt;, &lt;=, =, &gt;=, &gt;, IN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F11A6-7BF7-FD44-99EC-449E678ED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5624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DB7D0-F147-574D-9AED-80883ECA7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CQL Basics – ALLOW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ECD78-9EA9-F44A-BD53-615B03778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Let’s take for example the following table: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CREATE TABLE blogs (</a:t>
            </a:r>
          </a:p>
          <a:p>
            <a:pPr marL="0" indent="0">
              <a:buNone/>
            </a:pPr>
            <a:r>
              <a:rPr lang="en-US" dirty="0" err="1"/>
              <a:t>blogId</a:t>
            </a:r>
            <a:r>
              <a:rPr lang="en-US" dirty="0"/>
              <a:t> int, </a:t>
            </a:r>
          </a:p>
          <a:p>
            <a:pPr marL="0" indent="0">
              <a:buNone/>
            </a:pPr>
            <a:r>
              <a:rPr lang="en-US" dirty="0"/>
              <a:t>time1 int, </a:t>
            </a:r>
          </a:p>
          <a:p>
            <a:pPr marL="0" indent="0">
              <a:buNone/>
            </a:pPr>
            <a:r>
              <a:rPr lang="en-US" dirty="0"/>
              <a:t>time2 int, </a:t>
            </a:r>
          </a:p>
          <a:p>
            <a:pPr marL="0" indent="0">
              <a:buNone/>
            </a:pPr>
            <a:r>
              <a:rPr lang="en-US" dirty="0"/>
              <a:t>author text, </a:t>
            </a:r>
          </a:p>
          <a:p>
            <a:pPr marL="0" indent="0">
              <a:buNone/>
            </a:pPr>
            <a:r>
              <a:rPr lang="en-US" dirty="0"/>
              <a:t>content text, </a:t>
            </a:r>
          </a:p>
          <a:p>
            <a:pPr marL="0" indent="0">
              <a:buNone/>
            </a:pPr>
            <a:r>
              <a:rPr lang="en-US" dirty="0"/>
              <a:t>PRIMARY KEY(</a:t>
            </a:r>
            <a:r>
              <a:rPr lang="en-US" dirty="0" err="1"/>
              <a:t>blogId</a:t>
            </a:r>
            <a:r>
              <a:rPr lang="en-US" dirty="0"/>
              <a:t>, time1, time2));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you execute the following query: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SELECT * FROM blogs;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Cassandra will return you all the data that the table blogs contains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0E0F0-0080-DC42-A491-3760E3F07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5729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DB7D0-F147-574D-9AED-80883ECA7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CQL Basics – ALLOW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ECD78-9EA9-F44A-BD53-615B03778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If you now want only the data at a specified time1, you will naturally add an equal condition on the column time1: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	SELECT * FROM blogs WHERE time1 = 1418306451235;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In response, you will receive the following error message: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dirty="0"/>
              <a:t>Bad Request: Cannot execute this query as it might involve data filtering and thus may have unpredictable performance. If you want to execute this query despite the performance unpredictability, use ALLOW FILTERING.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2000" dirty="0"/>
              <a:t>The only way Cassandra can execute this query is by retrieving all rows from all partitions of table blogs</a:t>
            </a:r>
          </a:p>
          <a:p>
            <a:r>
              <a:rPr lang="en-US" sz="2000" dirty="0"/>
              <a:t>And then by filtering out the ones which do not have the requested value for the time1 column</a:t>
            </a:r>
          </a:p>
          <a:p>
            <a:endParaRPr lang="en-US" sz="16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0E0F0-0080-DC42-A491-3760E3F07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208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DB7D0-F147-574D-9AED-80883ECA7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CQL Basics – ALLOW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ECD78-9EA9-F44A-BD53-615B03778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If you really want to execute such a query you need to use: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      SELECT * FROM blogs WHERE time1 = 1418306451235 ALLOW FILTERING;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000" dirty="0"/>
              <a:t>This indicates you realize the possible that the query will need to use filtering and might be (very) slow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1600" dirty="0"/>
          </a:p>
          <a:p>
            <a:endParaRPr lang="en-US" sz="16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0E0F0-0080-DC42-A491-3760E3F07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6694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429000" y="604549"/>
            <a:ext cx="2758069" cy="652536"/>
          </a:xfrm>
          <a:prstGeom prst="rect">
            <a:avLst/>
          </a:prstGeom>
        </p:spPr>
        <p:txBody>
          <a:bodyPr vert="horz" wrap="square" lIns="0" tIns="6145" rIns="0" bIns="0" rtlCol="0">
            <a:spAutoFit/>
          </a:bodyPr>
          <a:lstStyle/>
          <a:p>
            <a:pPr marL="6468">
              <a:spcBef>
                <a:spcPts val="48"/>
              </a:spcBef>
            </a:pPr>
            <a:r>
              <a:rPr sz="4200" spc="-46" dirty="0">
                <a:solidFill>
                  <a:srgbClr val="535353"/>
                </a:solidFill>
                <a:latin typeface="Gill Sans MT"/>
                <a:cs typeface="Gill Sans MT"/>
              </a:rPr>
              <a:t>V</a:t>
            </a:r>
            <a:r>
              <a:rPr sz="4200" spc="-23" dirty="0">
                <a:solidFill>
                  <a:srgbClr val="535353"/>
                </a:solidFill>
                <a:latin typeface="Gill Sans MT"/>
                <a:cs typeface="Gill Sans MT"/>
              </a:rPr>
              <a:t>NO</a:t>
            </a:r>
            <a:r>
              <a:rPr sz="4200" spc="-46" dirty="0">
                <a:solidFill>
                  <a:srgbClr val="535353"/>
                </a:solidFill>
                <a:latin typeface="Gill Sans MT"/>
                <a:cs typeface="Gill Sans MT"/>
              </a:rPr>
              <a:t>DE</a:t>
            </a:r>
            <a:r>
              <a:rPr sz="4200" spc="43" dirty="0">
                <a:solidFill>
                  <a:srgbClr val="535353"/>
                </a:solidFill>
                <a:latin typeface="Gill Sans MT"/>
                <a:cs typeface="Gill Sans MT"/>
              </a:rPr>
              <a:t>S</a:t>
            </a:r>
            <a:endParaRPr sz="4200" dirty="0">
              <a:latin typeface="Gill Sans MT"/>
              <a:cs typeface="Gill Sans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4362" y="1828671"/>
            <a:ext cx="4491038" cy="4609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642730" y="602948"/>
            <a:ext cx="2605669" cy="652536"/>
          </a:xfrm>
          <a:prstGeom prst="rect">
            <a:avLst/>
          </a:prstGeom>
        </p:spPr>
        <p:txBody>
          <a:bodyPr vert="horz" wrap="square" lIns="0" tIns="6145" rIns="0" bIns="0" rtlCol="0">
            <a:spAutoFit/>
          </a:bodyPr>
          <a:lstStyle/>
          <a:p>
            <a:pPr marL="6468">
              <a:spcBef>
                <a:spcPts val="48"/>
              </a:spcBef>
            </a:pPr>
            <a:r>
              <a:rPr sz="4200" spc="-46" dirty="0">
                <a:solidFill>
                  <a:srgbClr val="535353"/>
                </a:solidFill>
                <a:latin typeface="Gill Sans MT"/>
                <a:cs typeface="Gill Sans MT"/>
              </a:rPr>
              <a:t>V</a:t>
            </a:r>
            <a:r>
              <a:rPr sz="4200" spc="-23" dirty="0">
                <a:solidFill>
                  <a:srgbClr val="535353"/>
                </a:solidFill>
                <a:latin typeface="Gill Sans MT"/>
                <a:cs typeface="Gill Sans MT"/>
              </a:rPr>
              <a:t>NO</a:t>
            </a:r>
            <a:r>
              <a:rPr sz="4200" spc="-46" dirty="0">
                <a:solidFill>
                  <a:srgbClr val="535353"/>
                </a:solidFill>
                <a:latin typeface="Gill Sans MT"/>
                <a:cs typeface="Gill Sans MT"/>
              </a:rPr>
              <a:t>DE</a:t>
            </a:r>
            <a:r>
              <a:rPr sz="4200" spc="43" dirty="0">
                <a:solidFill>
                  <a:srgbClr val="535353"/>
                </a:solidFill>
                <a:latin typeface="Gill Sans MT"/>
                <a:cs typeface="Gill Sans MT"/>
              </a:rPr>
              <a:t>S</a:t>
            </a:r>
            <a:endParaRPr sz="4200" dirty="0">
              <a:latin typeface="Gill Sans MT"/>
              <a:cs typeface="Gill Sans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963" y="1828671"/>
            <a:ext cx="4414837" cy="4609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10100" y="1828671"/>
            <a:ext cx="4533900" cy="46097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52945" y="381000"/>
            <a:ext cx="6090805" cy="64511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41228" y="602948"/>
            <a:ext cx="5226372" cy="652536"/>
          </a:xfrm>
          <a:prstGeom prst="rect">
            <a:avLst/>
          </a:prstGeom>
        </p:spPr>
        <p:txBody>
          <a:bodyPr vert="horz" wrap="square" lIns="0" tIns="6145" rIns="0" bIns="0" rtlCol="0">
            <a:spAutoFit/>
          </a:bodyPr>
          <a:lstStyle/>
          <a:p>
            <a:pPr marL="6468">
              <a:spcBef>
                <a:spcPts val="48"/>
              </a:spcBef>
            </a:pPr>
            <a:r>
              <a:rPr sz="4200" spc="-13" dirty="0"/>
              <a:t>CASSANDRA:YES</a:t>
            </a:r>
            <a:endParaRPr sz="4200" dirty="0"/>
          </a:p>
        </p:txBody>
      </p:sp>
      <p:sp>
        <p:nvSpPr>
          <p:cNvPr id="4" name="object 4"/>
          <p:cNvSpPr txBox="1"/>
          <p:nvPr/>
        </p:nvSpPr>
        <p:spPr>
          <a:xfrm>
            <a:off x="1491573" y="1600200"/>
            <a:ext cx="5897389" cy="4824867"/>
          </a:xfrm>
          <a:prstGeom prst="rect">
            <a:avLst/>
          </a:prstGeom>
        </p:spPr>
        <p:txBody>
          <a:bodyPr vert="horz" wrap="square" lIns="0" tIns="8085" rIns="0" bIns="0" rtlCol="0">
            <a:spAutoFit/>
          </a:bodyPr>
          <a:lstStyle/>
          <a:p>
            <a:pPr marL="260018" indent="-253550">
              <a:spcBef>
                <a:spcPts val="64"/>
              </a:spcBef>
              <a:buSzPct val="82558"/>
              <a:buChar char="•"/>
              <a:tabLst>
                <a:tab pos="260018" algn="l"/>
                <a:tab pos="260341" algn="l"/>
              </a:tabLst>
            </a:pPr>
            <a:r>
              <a:rPr sz="2200" spc="-56" dirty="0">
                <a:solidFill>
                  <a:srgbClr val="535353"/>
                </a:solidFill>
                <a:latin typeface="Gill Sans MT"/>
                <a:cs typeface="Gill Sans MT"/>
              </a:rPr>
              <a:t>If </a:t>
            </a:r>
            <a:r>
              <a:rPr sz="2200" spc="-41" dirty="0">
                <a:solidFill>
                  <a:srgbClr val="535353"/>
                </a:solidFill>
                <a:latin typeface="Gill Sans MT"/>
                <a:cs typeface="Gill Sans MT"/>
              </a:rPr>
              <a:t>you</a:t>
            </a:r>
            <a:r>
              <a:rPr sz="2200" spc="25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200" spc="-20" dirty="0">
                <a:solidFill>
                  <a:srgbClr val="535353"/>
                </a:solidFill>
                <a:latin typeface="Gill Sans MT"/>
                <a:cs typeface="Gill Sans MT"/>
              </a:rPr>
              <a:t>need:</a:t>
            </a:r>
            <a:endParaRPr sz="2200">
              <a:latin typeface="Gill Sans MT"/>
              <a:cs typeface="Gill Sans MT"/>
            </a:endParaRPr>
          </a:p>
          <a:p>
            <a:pPr>
              <a:spcBef>
                <a:spcPts val="25"/>
              </a:spcBef>
              <a:buClr>
                <a:srgbClr val="535353"/>
              </a:buClr>
              <a:buFont typeface="Gill Sans MT"/>
              <a:buChar char="•"/>
            </a:pPr>
            <a:endParaRPr sz="2300">
              <a:latin typeface="Times New Roman"/>
              <a:cs typeface="Times New Roman"/>
            </a:endParaRPr>
          </a:p>
          <a:p>
            <a:pPr marL="569194" lvl="1" indent="-253550">
              <a:buSzPct val="82558"/>
              <a:buChar char="•"/>
              <a:tabLst>
                <a:tab pos="569194" algn="l"/>
                <a:tab pos="569517" algn="l"/>
              </a:tabLst>
            </a:pPr>
            <a:r>
              <a:rPr sz="2200" spc="-13" dirty="0">
                <a:solidFill>
                  <a:srgbClr val="535353"/>
                </a:solidFill>
                <a:latin typeface="Gill Sans MT"/>
                <a:cs typeface="Gill Sans MT"/>
              </a:rPr>
              <a:t>No</a:t>
            </a:r>
            <a:r>
              <a:rPr sz="2200" spc="-46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535353"/>
                </a:solidFill>
                <a:latin typeface="Gill Sans MT"/>
                <a:cs typeface="Gill Sans MT"/>
              </a:rPr>
              <a:t>SPOF</a:t>
            </a:r>
            <a:endParaRPr sz="2200">
              <a:latin typeface="Gill Sans MT"/>
              <a:cs typeface="Gill Sans MT"/>
            </a:endParaRPr>
          </a:p>
          <a:p>
            <a:pPr lvl="1">
              <a:spcBef>
                <a:spcPts val="25"/>
              </a:spcBef>
              <a:buClr>
                <a:srgbClr val="535353"/>
              </a:buClr>
              <a:buFont typeface="Gill Sans MT"/>
              <a:buChar char="•"/>
            </a:pPr>
            <a:endParaRPr sz="2300">
              <a:latin typeface="Times New Roman"/>
              <a:cs typeface="Times New Roman"/>
            </a:endParaRPr>
          </a:p>
          <a:p>
            <a:pPr marL="569194" lvl="1" indent="-253550">
              <a:buSzPct val="82558"/>
              <a:buChar char="•"/>
              <a:tabLst>
                <a:tab pos="569194" algn="l"/>
                <a:tab pos="569517" algn="l"/>
              </a:tabLst>
            </a:pPr>
            <a:r>
              <a:rPr sz="2200" spc="-43" dirty="0">
                <a:solidFill>
                  <a:srgbClr val="535353"/>
                </a:solidFill>
                <a:latin typeface="Gill Sans MT"/>
                <a:cs typeface="Gill Sans MT"/>
              </a:rPr>
              <a:t>Linear horizontal </a:t>
            </a:r>
            <a:r>
              <a:rPr sz="2200" spc="-41" dirty="0">
                <a:solidFill>
                  <a:srgbClr val="535353"/>
                </a:solidFill>
                <a:latin typeface="Gill Sans MT"/>
                <a:cs typeface="Gill Sans MT"/>
              </a:rPr>
              <a:t>scalability in </a:t>
            </a:r>
            <a:r>
              <a:rPr sz="2200" spc="-25" dirty="0">
                <a:solidFill>
                  <a:srgbClr val="535353"/>
                </a:solidFill>
                <a:latin typeface="Gill Sans MT"/>
                <a:cs typeface="Gill Sans MT"/>
              </a:rPr>
              <a:t>commodity</a:t>
            </a:r>
            <a:r>
              <a:rPr sz="2200" spc="199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200" spc="-38" dirty="0">
                <a:solidFill>
                  <a:srgbClr val="535353"/>
                </a:solidFill>
                <a:latin typeface="Gill Sans MT"/>
                <a:cs typeface="Gill Sans MT"/>
              </a:rPr>
              <a:t>hardware</a:t>
            </a:r>
            <a:endParaRPr sz="2200">
              <a:latin typeface="Gill Sans MT"/>
              <a:cs typeface="Gill Sans MT"/>
            </a:endParaRPr>
          </a:p>
          <a:p>
            <a:pPr lvl="1">
              <a:spcBef>
                <a:spcPts val="25"/>
              </a:spcBef>
              <a:buClr>
                <a:srgbClr val="535353"/>
              </a:buClr>
              <a:buFont typeface="Gill Sans MT"/>
              <a:buChar char="•"/>
            </a:pPr>
            <a:endParaRPr sz="2300">
              <a:latin typeface="Times New Roman"/>
              <a:cs typeface="Times New Roman"/>
            </a:endParaRPr>
          </a:p>
          <a:p>
            <a:pPr marL="569194" lvl="1" indent="-253550">
              <a:buSzPct val="82558"/>
              <a:buChar char="•"/>
              <a:tabLst>
                <a:tab pos="569194" algn="l"/>
                <a:tab pos="569517" algn="l"/>
              </a:tabLst>
            </a:pPr>
            <a:r>
              <a:rPr sz="2200" spc="-31" dirty="0">
                <a:solidFill>
                  <a:srgbClr val="535353"/>
                </a:solidFill>
                <a:latin typeface="Gill Sans MT"/>
                <a:cs typeface="Gill Sans MT"/>
              </a:rPr>
              <a:t>Real-time</a:t>
            </a:r>
            <a:r>
              <a:rPr sz="2200" spc="-15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200" spc="-51" dirty="0">
                <a:solidFill>
                  <a:srgbClr val="535353"/>
                </a:solidFill>
                <a:latin typeface="Gill Sans MT"/>
                <a:cs typeface="Gill Sans MT"/>
              </a:rPr>
              <a:t>writes</a:t>
            </a:r>
            <a:endParaRPr sz="2200">
              <a:latin typeface="Gill Sans MT"/>
              <a:cs typeface="Gill Sans MT"/>
            </a:endParaRPr>
          </a:p>
          <a:p>
            <a:pPr lvl="1">
              <a:spcBef>
                <a:spcPts val="25"/>
              </a:spcBef>
              <a:buClr>
                <a:srgbClr val="535353"/>
              </a:buClr>
              <a:buFont typeface="Gill Sans MT"/>
              <a:buChar char="•"/>
            </a:pPr>
            <a:endParaRPr sz="2300">
              <a:latin typeface="Times New Roman"/>
              <a:cs typeface="Times New Roman"/>
            </a:endParaRPr>
          </a:p>
          <a:p>
            <a:pPr marL="569194" lvl="1" indent="-253550">
              <a:buSzPct val="82558"/>
              <a:buChar char="•"/>
              <a:tabLst>
                <a:tab pos="569194" algn="l"/>
                <a:tab pos="569517" algn="l"/>
              </a:tabLst>
            </a:pPr>
            <a:r>
              <a:rPr sz="2200" spc="-33" dirty="0">
                <a:solidFill>
                  <a:srgbClr val="535353"/>
                </a:solidFill>
                <a:latin typeface="Gill Sans MT"/>
                <a:cs typeface="Gill Sans MT"/>
              </a:rPr>
              <a:t>Reliable </a:t>
            </a:r>
            <a:r>
              <a:rPr sz="2200" spc="-13" dirty="0">
                <a:solidFill>
                  <a:srgbClr val="535353"/>
                </a:solidFill>
                <a:latin typeface="Gill Sans MT"/>
                <a:cs typeface="Gill Sans MT"/>
              </a:rPr>
              <a:t>data </a:t>
            </a:r>
            <a:r>
              <a:rPr sz="2200" spc="-41" dirty="0">
                <a:solidFill>
                  <a:srgbClr val="535353"/>
                </a:solidFill>
                <a:latin typeface="Gill Sans MT"/>
                <a:cs typeface="Gill Sans MT"/>
              </a:rPr>
              <a:t>replication </a:t>
            </a:r>
            <a:r>
              <a:rPr sz="2200" spc="-53" dirty="0">
                <a:solidFill>
                  <a:srgbClr val="535353"/>
                </a:solidFill>
                <a:latin typeface="Gill Sans MT"/>
                <a:cs typeface="Gill Sans MT"/>
              </a:rPr>
              <a:t>across </a:t>
            </a:r>
            <a:r>
              <a:rPr sz="2200" spc="-38" dirty="0">
                <a:solidFill>
                  <a:srgbClr val="535353"/>
                </a:solidFill>
                <a:latin typeface="Gill Sans MT"/>
                <a:cs typeface="Gill Sans MT"/>
              </a:rPr>
              <a:t>distributed </a:t>
            </a:r>
            <a:r>
              <a:rPr sz="2200" spc="-13" dirty="0">
                <a:solidFill>
                  <a:srgbClr val="535353"/>
                </a:solidFill>
                <a:latin typeface="Gill Sans MT"/>
                <a:cs typeface="Gill Sans MT"/>
              </a:rPr>
              <a:t>data</a:t>
            </a:r>
            <a:r>
              <a:rPr sz="2200" spc="216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200" spc="-46" dirty="0">
                <a:solidFill>
                  <a:srgbClr val="535353"/>
                </a:solidFill>
                <a:latin typeface="Gill Sans MT"/>
                <a:cs typeface="Gill Sans MT"/>
              </a:rPr>
              <a:t>centres</a:t>
            </a:r>
            <a:endParaRPr sz="2200">
              <a:latin typeface="Gill Sans MT"/>
              <a:cs typeface="Gill Sans MT"/>
            </a:endParaRPr>
          </a:p>
          <a:p>
            <a:pPr lvl="1">
              <a:spcBef>
                <a:spcPts val="25"/>
              </a:spcBef>
              <a:buClr>
                <a:srgbClr val="535353"/>
              </a:buClr>
              <a:buFont typeface="Gill Sans MT"/>
              <a:buChar char="•"/>
            </a:pPr>
            <a:endParaRPr sz="2300">
              <a:latin typeface="Times New Roman"/>
              <a:cs typeface="Times New Roman"/>
            </a:endParaRPr>
          </a:p>
          <a:p>
            <a:pPr marL="569194" lvl="1" indent="-253550">
              <a:buSzPct val="82558"/>
              <a:buChar char="•"/>
              <a:tabLst>
                <a:tab pos="569194" algn="l"/>
                <a:tab pos="569517" algn="l"/>
              </a:tabLst>
            </a:pPr>
            <a:r>
              <a:rPr sz="2200" spc="-43" dirty="0">
                <a:solidFill>
                  <a:srgbClr val="535353"/>
                </a:solidFill>
                <a:latin typeface="Gill Sans MT"/>
                <a:cs typeface="Gill Sans MT"/>
              </a:rPr>
              <a:t>Clearly </a:t>
            </a:r>
            <a:r>
              <a:rPr sz="2200" dirty="0">
                <a:solidFill>
                  <a:srgbClr val="535353"/>
                </a:solidFill>
                <a:latin typeface="Gill Sans MT"/>
                <a:cs typeface="Gill Sans MT"/>
              </a:rPr>
              <a:t>defined </a:t>
            </a:r>
            <a:r>
              <a:rPr sz="2200" spc="-18" dirty="0">
                <a:solidFill>
                  <a:srgbClr val="535353"/>
                </a:solidFill>
                <a:latin typeface="Gill Sans MT"/>
                <a:cs typeface="Gill Sans MT"/>
              </a:rPr>
              <a:t>schema </a:t>
            </a:r>
            <a:r>
              <a:rPr sz="2200" spc="-41" dirty="0">
                <a:solidFill>
                  <a:srgbClr val="535353"/>
                </a:solidFill>
                <a:latin typeface="Gill Sans MT"/>
                <a:cs typeface="Gill Sans MT"/>
              </a:rPr>
              <a:t>in </a:t>
            </a:r>
            <a:r>
              <a:rPr sz="2200" spc="3" dirty="0">
                <a:solidFill>
                  <a:srgbClr val="535353"/>
                </a:solidFill>
                <a:latin typeface="Gill Sans MT"/>
                <a:cs typeface="Gill Sans MT"/>
              </a:rPr>
              <a:t>a </a:t>
            </a:r>
            <a:r>
              <a:rPr sz="2200" spc="-5" dirty="0">
                <a:solidFill>
                  <a:srgbClr val="535353"/>
                </a:solidFill>
                <a:latin typeface="Gill Sans MT"/>
                <a:cs typeface="Gill Sans MT"/>
              </a:rPr>
              <a:t>NoSQL</a:t>
            </a:r>
            <a:r>
              <a:rPr sz="2200" spc="94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200" spc="-33" dirty="0">
                <a:solidFill>
                  <a:srgbClr val="535353"/>
                </a:solidFill>
                <a:latin typeface="Gill Sans MT"/>
                <a:cs typeface="Gill Sans MT"/>
              </a:rPr>
              <a:t>environment</a:t>
            </a:r>
            <a:endParaRPr sz="2200">
              <a:latin typeface="Gill Sans MT"/>
              <a:cs typeface="Gill Sans M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81200" y="602948"/>
            <a:ext cx="4812176" cy="652536"/>
          </a:xfrm>
          <a:prstGeom prst="rect">
            <a:avLst/>
          </a:prstGeom>
        </p:spPr>
        <p:txBody>
          <a:bodyPr vert="horz" wrap="square" lIns="0" tIns="6145" rIns="0" bIns="0" rtlCol="0">
            <a:spAutoFit/>
          </a:bodyPr>
          <a:lstStyle/>
          <a:p>
            <a:pPr marL="6468">
              <a:spcBef>
                <a:spcPts val="48"/>
              </a:spcBef>
            </a:pPr>
            <a:r>
              <a:rPr sz="4200" spc="-28" dirty="0"/>
              <a:t>CASSANDRA:</a:t>
            </a:r>
            <a:r>
              <a:rPr sz="4200" spc="-369" dirty="0"/>
              <a:t> </a:t>
            </a:r>
            <a:r>
              <a:rPr sz="4200" spc="-23" dirty="0"/>
              <a:t>NO</a:t>
            </a:r>
            <a:endParaRPr sz="4200" dirty="0"/>
          </a:p>
        </p:txBody>
      </p:sp>
      <p:sp>
        <p:nvSpPr>
          <p:cNvPr id="4" name="object 4"/>
          <p:cNvSpPr txBox="1"/>
          <p:nvPr/>
        </p:nvSpPr>
        <p:spPr>
          <a:xfrm>
            <a:off x="1491573" y="2892458"/>
            <a:ext cx="4556404" cy="2916652"/>
          </a:xfrm>
          <a:prstGeom prst="rect">
            <a:avLst/>
          </a:prstGeom>
        </p:spPr>
        <p:txBody>
          <a:bodyPr vert="horz" wrap="square" lIns="0" tIns="8085" rIns="0" bIns="0" rtlCol="0">
            <a:spAutoFit/>
          </a:bodyPr>
          <a:lstStyle/>
          <a:p>
            <a:pPr marL="315644" indent="-309176">
              <a:spcBef>
                <a:spcPts val="64"/>
              </a:spcBef>
              <a:buSzPct val="81904"/>
              <a:buChar char="•"/>
              <a:tabLst>
                <a:tab pos="315644" algn="l"/>
                <a:tab pos="315967" algn="l"/>
              </a:tabLst>
            </a:pPr>
            <a:r>
              <a:rPr sz="2700" spc="-69" dirty="0">
                <a:solidFill>
                  <a:srgbClr val="535353"/>
                </a:solidFill>
                <a:latin typeface="Gill Sans MT"/>
                <a:cs typeface="Gill Sans MT"/>
              </a:rPr>
              <a:t>If </a:t>
            </a:r>
            <a:r>
              <a:rPr sz="2700" spc="-48" dirty="0">
                <a:solidFill>
                  <a:srgbClr val="535353"/>
                </a:solidFill>
                <a:latin typeface="Gill Sans MT"/>
                <a:cs typeface="Gill Sans MT"/>
              </a:rPr>
              <a:t>you</a:t>
            </a:r>
            <a:r>
              <a:rPr sz="2700" spc="28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700" spc="-25" dirty="0">
                <a:solidFill>
                  <a:srgbClr val="535353"/>
                </a:solidFill>
                <a:latin typeface="Gill Sans MT"/>
                <a:cs typeface="Gill Sans MT"/>
              </a:rPr>
              <a:t>need:</a:t>
            </a:r>
            <a:endParaRPr sz="2700">
              <a:latin typeface="Gill Sans MT"/>
              <a:cs typeface="Gill Sans MT"/>
            </a:endParaRPr>
          </a:p>
          <a:p>
            <a:pPr>
              <a:spcBef>
                <a:spcPts val="13"/>
              </a:spcBef>
              <a:buClr>
                <a:srgbClr val="535353"/>
              </a:buClr>
              <a:buFont typeface="Gill Sans MT"/>
              <a:buChar char="•"/>
            </a:pPr>
            <a:endParaRPr sz="2700">
              <a:latin typeface="Times New Roman"/>
              <a:cs typeface="Times New Roman"/>
            </a:endParaRPr>
          </a:p>
          <a:p>
            <a:pPr marL="624819" lvl="1" indent="-309176">
              <a:buSzPct val="81904"/>
              <a:buChar char="•"/>
              <a:tabLst>
                <a:tab pos="624819" algn="l"/>
                <a:tab pos="625143" algn="l"/>
              </a:tabLst>
            </a:pPr>
            <a:r>
              <a:rPr sz="2700" spc="-84" dirty="0">
                <a:solidFill>
                  <a:srgbClr val="535353"/>
                </a:solidFill>
                <a:latin typeface="Gill Sans MT"/>
                <a:cs typeface="Gill Sans MT"/>
              </a:rPr>
              <a:t>ACID </a:t>
            </a:r>
            <a:r>
              <a:rPr sz="2700" spc="-51" dirty="0">
                <a:solidFill>
                  <a:srgbClr val="535353"/>
                </a:solidFill>
                <a:latin typeface="Gill Sans MT"/>
                <a:cs typeface="Gill Sans MT"/>
              </a:rPr>
              <a:t>transactions </a:t>
            </a:r>
            <a:r>
              <a:rPr sz="2700" spc="-53" dirty="0">
                <a:solidFill>
                  <a:srgbClr val="535353"/>
                </a:solidFill>
                <a:latin typeface="Gill Sans MT"/>
                <a:cs typeface="Gill Sans MT"/>
              </a:rPr>
              <a:t>with</a:t>
            </a:r>
            <a:r>
              <a:rPr sz="2700" spc="120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700" spc="-64" dirty="0">
                <a:solidFill>
                  <a:srgbClr val="535353"/>
                </a:solidFill>
                <a:latin typeface="Gill Sans MT"/>
                <a:cs typeface="Gill Sans MT"/>
              </a:rPr>
              <a:t>rollback</a:t>
            </a:r>
            <a:endParaRPr sz="2700">
              <a:latin typeface="Gill Sans MT"/>
              <a:cs typeface="Gill Sans MT"/>
            </a:endParaRPr>
          </a:p>
          <a:p>
            <a:pPr lvl="1">
              <a:spcBef>
                <a:spcPts val="13"/>
              </a:spcBef>
              <a:buClr>
                <a:srgbClr val="535353"/>
              </a:buClr>
              <a:buFont typeface="Gill Sans MT"/>
              <a:buChar char="•"/>
            </a:pPr>
            <a:endParaRPr sz="2700">
              <a:latin typeface="Times New Roman"/>
              <a:cs typeface="Times New Roman"/>
            </a:endParaRPr>
          </a:p>
          <a:p>
            <a:pPr marL="624819" lvl="1" indent="-309176">
              <a:buSzPct val="81904"/>
              <a:buChar char="•"/>
              <a:tabLst>
                <a:tab pos="624819" algn="l"/>
                <a:tab pos="625143" algn="l"/>
              </a:tabLst>
            </a:pPr>
            <a:r>
              <a:rPr sz="2700" spc="-46" dirty="0">
                <a:solidFill>
                  <a:srgbClr val="535353"/>
                </a:solidFill>
                <a:latin typeface="Gill Sans MT"/>
                <a:cs typeface="Gill Sans MT"/>
              </a:rPr>
              <a:t>Justification </a:t>
            </a:r>
            <a:r>
              <a:rPr sz="2700" spc="-79" dirty="0">
                <a:solidFill>
                  <a:srgbClr val="535353"/>
                </a:solidFill>
                <a:latin typeface="Gill Sans MT"/>
                <a:cs typeface="Gill Sans MT"/>
              </a:rPr>
              <a:t>for </a:t>
            </a:r>
            <a:r>
              <a:rPr sz="2700" spc="-20" dirty="0">
                <a:solidFill>
                  <a:srgbClr val="535353"/>
                </a:solidFill>
                <a:latin typeface="Gill Sans MT"/>
                <a:cs typeface="Gill Sans MT"/>
              </a:rPr>
              <a:t>high-end</a:t>
            </a:r>
            <a:r>
              <a:rPr sz="2700" spc="102" dirty="0">
                <a:solidFill>
                  <a:srgbClr val="535353"/>
                </a:solidFill>
                <a:latin typeface="Gill Sans MT"/>
                <a:cs typeface="Gill Sans MT"/>
              </a:rPr>
              <a:t> </a:t>
            </a:r>
            <a:r>
              <a:rPr sz="2700" spc="-48" dirty="0">
                <a:solidFill>
                  <a:srgbClr val="535353"/>
                </a:solidFill>
                <a:latin typeface="Gill Sans MT"/>
                <a:cs typeface="Gill Sans MT"/>
              </a:rPr>
              <a:t>software</a:t>
            </a:r>
            <a:endParaRPr sz="2700">
              <a:latin typeface="Gill Sans MT"/>
              <a:cs typeface="Gill Sans M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31E9-30B5-4501-87AE-498D28A709DC}" type="slidenum">
              <a:rPr lang="en-US" smtClean="0"/>
              <a:t>67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76077723e4e34c3b5aeef4b04efa78bf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9e363e40d36e188a1c3db48bbcaf99f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991643EC-0C2A-450F-A46F-181C36CF13A3}"/>
</file>

<file path=customXml/itemProps2.xml><?xml version="1.0" encoding="utf-8"?>
<ds:datastoreItem xmlns:ds="http://schemas.openxmlformats.org/officeDocument/2006/customXml" ds:itemID="{DA3BBA9F-E3AC-4EB9-8E69-B7A23616A178}"/>
</file>

<file path=customXml/itemProps3.xml><?xml version="1.0" encoding="utf-8"?>
<ds:datastoreItem xmlns:ds="http://schemas.openxmlformats.org/officeDocument/2006/customXml" ds:itemID="{D2BADC57-9B2A-457B-94E0-C63FFF2F2CD6}"/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16932</TotalTime>
  <Words>3848</Words>
  <Application>Microsoft Macintosh PowerPoint</Application>
  <PresentationFormat>On-screen Show (4:3)</PresentationFormat>
  <Paragraphs>1251</Paragraphs>
  <Slides>67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7" baseType="lpstr">
      <vt:lpstr>Arial</vt:lpstr>
      <vt:lpstr>Book Antiqua</vt:lpstr>
      <vt:lpstr>Calibri</vt:lpstr>
      <vt:lpstr>Courier New</vt:lpstr>
      <vt:lpstr>Gill Sans MT</vt:lpstr>
      <vt:lpstr>Lucida Sans</vt:lpstr>
      <vt:lpstr>Lucida Sans Unicode</vt:lpstr>
      <vt:lpstr>Times New Roman</vt:lpstr>
      <vt:lpstr>Verdana</vt:lpstr>
      <vt:lpstr>Clarity</vt:lpstr>
      <vt:lpstr>CSP554 Big Data Technologies</vt:lpstr>
      <vt:lpstr>CASSANDRA</vt:lpstr>
      <vt:lpstr>CASSANDRA</vt:lpstr>
      <vt:lpstr>Cassandra is great for...</vt:lpstr>
      <vt:lpstr>Cassandra</vt:lpstr>
      <vt:lpstr>Cassandra</vt:lpstr>
      <vt:lpstr>PowerPoint Presentation</vt:lpstr>
      <vt:lpstr>PowerPoint Presentation</vt:lpstr>
      <vt:lpstr>Cassandra</vt:lpstr>
      <vt:lpstr>PowerPoint Presentation</vt:lpstr>
      <vt:lpstr>PowerPoint Presentation</vt:lpstr>
      <vt:lpstr>PowerPoint Presentation</vt:lpstr>
      <vt:lpstr>How Do Databases Scale Horizontally?</vt:lpstr>
      <vt:lpstr>How Do Databases Scale Horizontally?</vt:lpstr>
      <vt:lpstr>How Do Databases Scale Horizontally?</vt:lpstr>
      <vt:lpstr>How Do Databases Scale Horizontally?</vt:lpstr>
      <vt:lpstr>How Do Databases Scale Horizontally?</vt:lpstr>
      <vt:lpstr>How Do Databases Scale Horizontally?</vt:lpstr>
      <vt:lpstr>How Do Databases Scale Horizontally?</vt:lpstr>
      <vt:lpstr>How Do Databases Scale Horizontally?</vt:lpstr>
      <vt:lpstr>How Do Databases Scale Horizontally?</vt:lpstr>
      <vt:lpstr>How Do Databases Scale Horizontally?</vt:lpstr>
      <vt:lpstr>How Do Databases Scale Horizontally?</vt:lpstr>
      <vt:lpstr>How Do Databases Scale Horizontally?</vt:lpstr>
      <vt:lpstr>How Do Databases Scale Horizontally?</vt:lpstr>
      <vt:lpstr>THE PARTITIONER</vt:lpstr>
      <vt:lpstr>CONSISTENT HASHING</vt:lpstr>
      <vt:lpstr>Storing Data Using a Partition Key</vt:lpstr>
      <vt:lpstr>Storing Data Using Partition and Sort/Cluster Keys</vt:lpstr>
      <vt:lpstr>PowerPoint Presentation</vt:lpstr>
      <vt:lpstr>Dynamo Paper(2007)</vt:lpstr>
      <vt:lpstr>Cassandra(2008)</vt:lpstr>
      <vt:lpstr>PowerPoint Presentation</vt:lpstr>
      <vt:lpstr>PowerPoint Presentation</vt:lpstr>
      <vt:lpstr>PowerPoint Presentation</vt:lpstr>
      <vt:lpstr>Two knobs control Cassandra fault tolerance</vt:lpstr>
      <vt:lpstr>Two knobs control Cassandra fault tolerance</vt:lpstr>
      <vt:lpstr>Consistency Levels</vt:lpstr>
      <vt:lpstr>Consistency Level and Speed</vt:lpstr>
      <vt:lpstr>Consistency Level and Availability</vt:lpstr>
      <vt:lpstr>Writes in the cluster</vt:lpstr>
      <vt:lpstr>Write Behavior</vt:lpstr>
      <vt:lpstr>Reads in the cluster</vt:lpstr>
      <vt:lpstr>Reads and Eventual Consistency</vt:lpstr>
      <vt:lpstr>Data Distribution</vt:lpstr>
      <vt:lpstr>Data Distribution</vt:lpstr>
      <vt:lpstr>CASSANDRA DATA MODEL</vt:lpstr>
      <vt:lpstr>CQL</vt:lpstr>
      <vt:lpstr>CQL Basics</vt:lpstr>
      <vt:lpstr>CQL Basics - Keyspace</vt:lpstr>
      <vt:lpstr>CQL Basics</vt:lpstr>
      <vt:lpstr>CQL Basics – creating a table</vt:lpstr>
      <vt:lpstr>CQL Basics –Primary Key</vt:lpstr>
      <vt:lpstr>CQL Basics – Composite Primary Key</vt:lpstr>
      <vt:lpstr>CQL Basics – Simple Select</vt:lpstr>
      <vt:lpstr>CQL Basics - Simple Select on Partition Key and Cluster Columns</vt:lpstr>
      <vt:lpstr>CQL Basics – Insert/Update</vt:lpstr>
      <vt:lpstr>CQL Basics - Ordering</vt:lpstr>
      <vt:lpstr>CQL Basics - Predicates</vt:lpstr>
      <vt:lpstr>CQL Basics – ALLOW FILTERING</vt:lpstr>
      <vt:lpstr>CQL Basics – ALLOW FILTERING</vt:lpstr>
      <vt:lpstr>CQL Basics – ALLOW FILTERING</vt:lpstr>
      <vt:lpstr>PowerPoint Presentation</vt:lpstr>
      <vt:lpstr>PowerPoint Presentation</vt:lpstr>
      <vt:lpstr>PowerPoint Presentation</vt:lpstr>
      <vt:lpstr>CASSANDRA:YES</vt:lpstr>
      <vt:lpstr>CASSANDRA: NO</vt:lpstr>
    </vt:vector>
  </TitlesOfParts>
  <Company>BCBSA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CS595—Big Data Technologies</dc:title>
  <dc:creator>Rosen, Joseph</dc:creator>
  <cp:lastModifiedBy>Jawahar Panchal</cp:lastModifiedBy>
  <cp:revision>54</cp:revision>
  <dcterms:created xsi:type="dcterms:W3CDTF">2017-11-14T16:01:17Z</dcterms:created>
  <dcterms:modified xsi:type="dcterms:W3CDTF">2024-09-11T01:13:33Z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</Properties>
</file>