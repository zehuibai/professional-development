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5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4"/>
  </p:notesMasterIdLst>
  <p:sldIdLst>
    <p:sldId id="256" r:id="rId2"/>
    <p:sldId id="361" r:id="rId3"/>
    <p:sldId id="362" r:id="rId4"/>
    <p:sldId id="364" r:id="rId5"/>
    <p:sldId id="363" r:id="rId6"/>
    <p:sldId id="365" r:id="rId7"/>
    <p:sldId id="366" r:id="rId8"/>
    <p:sldId id="308" r:id="rId9"/>
    <p:sldId id="309" r:id="rId10"/>
    <p:sldId id="310" r:id="rId11"/>
    <p:sldId id="311" r:id="rId12"/>
    <p:sldId id="313" r:id="rId13"/>
    <p:sldId id="316" r:id="rId14"/>
    <p:sldId id="314" r:id="rId15"/>
    <p:sldId id="281" r:id="rId16"/>
    <p:sldId id="282" r:id="rId17"/>
    <p:sldId id="283" r:id="rId18"/>
    <p:sldId id="286" r:id="rId19"/>
    <p:sldId id="358" r:id="rId20"/>
    <p:sldId id="359" r:id="rId21"/>
    <p:sldId id="284" r:id="rId22"/>
    <p:sldId id="285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315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17" r:id="rId46"/>
    <p:sldId id="318" r:id="rId47"/>
    <p:sldId id="319" r:id="rId48"/>
    <p:sldId id="320" r:id="rId49"/>
    <p:sldId id="321" r:id="rId50"/>
    <p:sldId id="323" r:id="rId51"/>
    <p:sldId id="324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25" r:id="rId60"/>
    <p:sldId id="322" r:id="rId61"/>
    <p:sldId id="367" r:id="rId62"/>
    <p:sldId id="368" r:id="rId63"/>
    <p:sldId id="369" r:id="rId64"/>
    <p:sldId id="349" r:id="rId65"/>
    <p:sldId id="350" r:id="rId66"/>
    <p:sldId id="351" r:id="rId67"/>
    <p:sldId id="352" r:id="rId68"/>
    <p:sldId id="353" r:id="rId69"/>
    <p:sldId id="354" r:id="rId70"/>
    <p:sldId id="355" r:id="rId71"/>
    <p:sldId id="356" r:id="rId72"/>
    <p:sldId id="357" r:id="rId73"/>
    <p:sldId id="333" r:id="rId74"/>
    <p:sldId id="334" r:id="rId75"/>
    <p:sldId id="335" r:id="rId76"/>
    <p:sldId id="336" r:id="rId77"/>
    <p:sldId id="337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38" r:id="rId88"/>
    <p:sldId id="339" r:id="rId89"/>
    <p:sldId id="257" r:id="rId90"/>
    <p:sldId id="258" r:id="rId91"/>
    <p:sldId id="260" r:id="rId92"/>
    <p:sldId id="259" r:id="rId93"/>
    <p:sldId id="261" r:id="rId94"/>
    <p:sldId id="262" r:id="rId95"/>
    <p:sldId id="263" r:id="rId96"/>
    <p:sldId id="264" r:id="rId97"/>
    <p:sldId id="265" r:id="rId98"/>
    <p:sldId id="266" r:id="rId99"/>
    <p:sldId id="267" r:id="rId100"/>
    <p:sldId id="268" r:id="rId101"/>
    <p:sldId id="269" r:id="rId102"/>
    <p:sldId id="270" r:id="rId103"/>
    <p:sldId id="271" r:id="rId104"/>
    <p:sldId id="272" r:id="rId105"/>
    <p:sldId id="273" r:id="rId106"/>
    <p:sldId id="274" r:id="rId107"/>
    <p:sldId id="275" r:id="rId108"/>
    <p:sldId id="276" r:id="rId109"/>
    <p:sldId id="277" r:id="rId110"/>
    <p:sldId id="278" r:id="rId111"/>
    <p:sldId id="279" r:id="rId112"/>
    <p:sldId id="280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6"/>
  </p:normalViewPr>
  <p:slideViewPr>
    <p:cSldViewPr>
      <p:cViewPr varScale="1">
        <p:scale>
          <a:sx n="106" d="100"/>
          <a:sy n="106" d="100"/>
        </p:scale>
        <p:origin x="180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3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customXml" Target="../customXml/item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customXml" Target="../customXml/item2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887B3-A321-0840-BA40-965B25DE36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C8D85-BE37-5743-B3F1-076F821F9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98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C8D85-BE37-5743-B3F1-076F821F93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5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57686B2-181E-4BDF-ACD4-49CBC0E555D2}" type="datetimeFigureOut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5D9700C-1849-4B7F-B323-4F6047AB90E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hyperlink" Target="mailto:norberto@mongodb.com" TargetMode="External"/><Relationship Id="rId3" Type="http://schemas.openxmlformats.org/officeDocument/2006/relationships/image" Target="../media/image23.png"/><Relationship Id="rId7" Type="http://schemas.openxmlformats.org/officeDocument/2006/relationships/hyperlink" Target="mailto:hipster@somemail.co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hyperlink" Target="mailto:sam@mongodb.com" TargetMode="External"/><Relationship Id="rId3" Type="http://schemas.openxmlformats.org/officeDocument/2006/relationships/image" Target="../media/image31.png"/><Relationship Id="rId7" Type="http://schemas.openxmlformats.org/officeDocument/2006/relationships/hyperlink" Target="mailto:marc@mongodb.com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norberto@mongodb.com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3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hyperlink" Target="mailto:sam@mongodb.com" TargetMode="External"/><Relationship Id="rId3" Type="http://schemas.openxmlformats.org/officeDocument/2006/relationships/image" Target="../media/image26.png"/><Relationship Id="rId7" Type="http://schemas.openxmlformats.org/officeDocument/2006/relationships/hyperlink" Target="mailto:marc@mongodb.com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norberto@mongodb.com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hyperlink" Target="mailto:sam@mongodb.com" TargetMode="External"/><Relationship Id="rId3" Type="http://schemas.openxmlformats.org/officeDocument/2006/relationships/image" Target="../media/image26.png"/><Relationship Id="rId7" Type="http://schemas.openxmlformats.org/officeDocument/2006/relationships/hyperlink" Target="mailto:marc@mongodb.com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norberto@mongodb.com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hyperlink" Target="mailto:marc@mongodb.com" TargetMode="External"/><Relationship Id="rId3" Type="http://schemas.openxmlformats.org/officeDocument/2006/relationships/image" Target="../media/image34.png"/><Relationship Id="rId7" Type="http://schemas.openxmlformats.org/officeDocument/2006/relationships/hyperlink" Target="mailto:norberto@mongodb.com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hyperlink" Target="mailto:sam@mongodb.com" TargetMode="Externa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hyperlink" Target="mailto:norberto@mongodb.com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11" Type="http://schemas.openxmlformats.org/officeDocument/2006/relationships/hyperlink" Target="mailto:hipster@somemail.com" TargetMode="External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26.png"/><Relationship Id="rId9" Type="http://schemas.openxmlformats.org/officeDocument/2006/relationships/image" Target="../media/image44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hyperlink" Target="mailto:norberto@mongodb.com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11" Type="http://schemas.openxmlformats.org/officeDocument/2006/relationships/hyperlink" Target="mailto:hipster@somemail.com" TargetMode="External"/><Relationship Id="rId5" Type="http://schemas.openxmlformats.org/officeDocument/2006/relationships/image" Target="../media/image41.png"/><Relationship Id="rId10" Type="http://schemas.openxmlformats.org/officeDocument/2006/relationships/image" Target="../media/image51.png"/><Relationship Id="rId4" Type="http://schemas.openxmlformats.org/officeDocument/2006/relationships/image" Target="../media/image26.png"/><Relationship Id="rId9" Type="http://schemas.openxmlformats.org/officeDocument/2006/relationships/image" Target="../media/image44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hyperlink" Target="mailto:asya@mongodb.com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eliot@mongodb.com" TargetMode="External"/><Relationship Id="rId5" Type="http://schemas.openxmlformats.org/officeDocument/2006/relationships/image" Target="../media/image53.png"/><Relationship Id="rId4" Type="http://schemas.openxmlformats.org/officeDocument/2006/relationships/hyperlink" Target="mailto:marc@mongodb.com" TargetMode="Externa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sz="4800" dirty="0"/>
              <a:t>CSP554</a:t>
            </a:r>
            <a:br>
              <a:rPr lang="en-US" sz="4800" dirty="0"/>
            </a:br>
            <a:r>
              <a:rPr lang="en-US" sz="4800" dirty="0"/>
              <a:t>Big Data Technologi</a:t>
            </a:r>
            <a:r>
              <a:rPr lang="en-US" dirty="0"/>
              <a:t>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NoSQL Document Database</a:t>
            </a:r>
          </a:p>
          <a:p>
            <a:r>
              <a:rPr lang="en-US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133323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8A72-43DB-F84A-B44E-A0C2B77B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781E-40D2-564B-A8D9-2268FA1F3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Healthcare is currently buried under mountains of data, but much of it is unorganized or out of reach because the systems holding it can’t communicate with one another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People responsible for emergency care may not have the patient history they need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might force them to resort to guessing or basing their treatment on the information the patient provides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If the patient is unable to give any history or allergy information, the problem gets worse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6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8A72-43DB-F84A-B44E-A0C2B77B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781E-40D2-564B-A8D9-2268FA1F3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So making the exchange of healthcare information safer and faster has been a primary goal in the healthcare industry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FHIR (Fast Healthcare Interoperability Resource) is a new set of standards providing a mechanism for exchanging data between health care applications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core aspect of the FHIR standards is representing data using a common format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format is taken from a widely used standard for exchanging web services data called JSON</a:t>
            </a:r>
          </a:p>
        </p:txBody>
      </p:sp>
    </p:spTree>
    <p:extLst>
      <p:ext uri="{BB962C8B-B14F-4D97-AF65-F5344CB8AC3E}">
        <p14:creationId xmlns:p14="http://schemas.microsoft.com/office/powerpoint/2010/main" val="260855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9217-93F3-6542-922B-8229A1C1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457200"/>
            <a:ext cx="4038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"</a:t>
            </a:r>
            <a:r>
              <a:rPr lang="en-US" sz="1600" dirty="0" err="1"/>
              <a:t>resourceType</a:t>
            </a:r>
            <a:r>
              <a:rPr lang="en-US" sz="1600" dirty="0"/>
              <a:t>": "Person",</a:t>
            </a:r>
          </a:p>
          <a:p>
            <a:pPr marL="0" indent="0">
              <a:buNone/>
            </a:pPr>
            <a:r>
              <a:rPr lang="en-US" sz="1600" dirty="0"/>
              <a:t>  "id": "example",</a:t>
            </a:r>
          </a:p>
          <a:p>
            <a:pPr marL="0" indent="0">
              <a:buNone/>
            </a:pPr>
            <a:r>
              <a:rPr lang="en-US" sz="1600" dirty="0"/>
              <a:t>  "text": { "status": "generated" },</a:t>
            </a:r>
          </a:p>
          <a:p>
            <a:pPr marL="0" indent="0">
              <a:buNone/>
            </a:pPr>
            <a:r>
              <a:rPr lang="en-US" sz="1600" dirty="0"/>
              <a:t>  "identifier": [</a:t>
            </a:r>
          </a:p>
          <a:p>
            <a:pPr marL="0" indent="0">
              <a:buNone/>
            </a:pPr>
            <a:r>
              <a:rPr lang="en-US" sz="1600" dirty="0"/>
              <a:t>  "name": [</a:t>
            </a:r>
          </a:p>
          <a:p>
            <a:pPr marL="0" indent="0">
              <a:buNone/>
            </a:pPr>
            <a:r>
              <a:rPr lang="en-US" sz="1600" dirty="0"/>
              <a:t>    {</a:t>
            </a:r>
          </a:p>
          <a:p>
            <a:pPr marL="0" indent="0">
              <a:buNone/>
            </a:pPr>
            <a:r>
              <a:rPr lang="en-US" sz="1600" dirty="0"/>
              <a:t>      "use": "official",</a:t>
            </a:r>
          </a:p>
          <a:p>
            <a:pPr marL="0" indent="0">
              <a:buNone/>
            </a:pPr>
            <a:r>
              <a:rPr lang="en-US" sz="1600" dirty="0"/>
              <a:t>      "family": "Chalmers",</a:t>
            </a:r>
          </a:p>
          <a:p>
            <a:pPr marL="0" indent="0">
              <a:buNone/>
            </a:pPr>
            <a:r>
              <a:rPr lang="en-US" sz="1600" dirty="0"/>
              <a:t>      "given": [  "Peter",  "James" ]</a:t>
            </a:r>
          </a:p>
          <a:p>
            <a:pPr marL="0" indent="0">
              <a:buNone/>
            </a:pPr>
            <a:r>
              <a:rPr lang="en-US" sz="1600" dirty="0"/>
              <a:t>    },</a:t>
            </a:r>
          </a:p>
          <a:p>
            <a:pPr marL="0" indent="0">
              <a:buNone/>
            </a:pPr>
            <a:r>
              <a:rPr lang="en-US" sz="1600" dirty="0"/>
              <a:t>    {</a:t>
            </a:r>
          </a:p>
          <a:p>
            <a:pPr marL="0" indent="0">
              <a:buNone/>
            </a:pPr>
            <a:r>
              <a:rPr lang="en-US" sz="1600" dirty="0"/>
              <a:t>      "use": "usual",</a:t>
            </a:r>
          </a:p>
          <a:p>
            <a:pPr marL="0" indent="0">
              <a:buNone/>
            </a:pPr>
            <a:r>
              <a:rPr lang="en-US" sz="1600" dirty="0"/>
              <a:t>      "given": [</a:t>
            </a:r>
          </a:p>
          <a:p>
            <a:pPr marL="0" indent="0">
              <a:buNone/>
            </a:pPr>
            <a:r>
              <a:rPr lang="en-US" sz="1600" dirty="0"/>
              <a:t>        "Jim"</a:t>
            </a:r>
          </a:p>
          <a:p>
            <a:pPr marL="0" indent="0">
              <a:buNone/>
            </a:pPr>
            <a:r>
              <a:rPr lang="en-US" sz="1600" dirty="0"/>
              <a:t>      ]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],</a:t>
            </a:r>
          </a:p>
          <a:p>
            <a:pPr marL="0" indent="0">
              <a:buNone/>
            </a:pPr>
            <a:r>
              <a:rPr lang="en-US" sz="1600" dirty="0"/>
              <a:t>  "gender": "male",</a:t>
            </a:r>
          </a:p>
          <a:p>
            <a:pPr marL="0" indent="0">
              <a:buNone/>
            </a:pPr>
            <a:r>
              <a:rPr lang="en-US" sz="1600" dirty="0"/>
              <a:t>  "</a:t>
            </a:r>
            <a:r>
              <a:rPr lang="en-US" sz="1600" dirty="0" err="1"/>
              <a:t>birthDate</a:t>
            </a:r>
            <a:r>
              <a:rPr lang="en-US" sz="1600" dirty="0"/>
              <a:t>": "1974-12-25"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3E3336-8670-E640-ACD6-D85199B6CB8D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4038600" cy="624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r>
              <a:rPr lang="en-US" dirty="0"/>
              <a:t>FHIR representation of patient information (partial)</a:t>
            </a:r>
          </a:p>
        </p:txBody>
      </p:sp>
    </p:spTree>
    <p:extLst>
      <p:ext uri="{BB962C8B-B14F-4D97-AF65-F5344CB8AC3E}">
        <p14:creationId xmlns:p14="http://schemas.microsoft.com/office/powerpoint/2010/main" val="46309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7D0D-4F8B-D84E-878D-BF3212D17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C3D56-2D79-4E4B-B51E-90F31B8C8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stands for JavaScript Object Notation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is a way for representing information using a format originating is the way the JavaScript language displays human readable forms of program objects</a:t>
            </a:r>
          </a:p>
          <a:p>
            <a:endParaRPr lang="en-US" dirty="0"/>
          </a:p>
          <a:p>
            <a:r>
              <a:rPr lang="en-US" dirty="0"/>
              <a:t>An object in this context is the equivalent of a database entity or a programming language Class instance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DC55-7C00-1244-8DFB-8EFBD5F8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1A2D-443C-F14E-8F76-6B8B2808B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5105400"/>
          </a:xfrm>
        </p:spPr>
        <p:txBody>
          <a:bodyPr>
            <a:normAutofit fontScale="62500" lnSpcReduction="20000"/>
          </a:bodyPr>
          <a:lstStyle/>
          <a:p>
            <a:r>
              <a:rPr lang="en-US" sz="2900" dirty="0"/>
              <a:t>A JSON object is represented as name/value pairs in “curly” brackets ‘{ }’</a:t>
            </a:r>
          </a:p>
          <a:p>
            <a:endParaRPr lang="en-US" sz="2900" dirty="0"/>
          </a:p>
          <a:p>
            <a:r>
              <a:rPr lang="en-US" sz="2900" dirty="0"/>
              <a:t>Each key/value pair is separated from the next one by a comma ‘,’</a:t>
            </a:r>
          </a:p>
          <a:p>
            <a:endParaRPr lang="en-US" sz="2900" dirty="0"/>
          </a:p>
          <a:p>
            <a:r>
              <a:rPr lang="en-US" sz="2900" dirty="0"/>
              <a:t>Each name is a string and it is separated from its associated value by a colon ‘:’</a:t>
            </a:r>
          </a:p>
          <a:p>
            <a:endParaRPr lang="en-US" sz="2900" dirty="0"/>
          </a:p>
          <a:p>
            <a:r>
              <a:rPr lang="en-US" sz="2900" dirty="0"/>
              <a:t>A value can be a simple type, and array, or a nested object</a:t>
            </a:r>
          </a:p>
          <a:p>
            <a:endParaRPr lang="en-US" sz="2900" dirty="0"/>
          </a:p>
          <a:p>
            <a:r>
              <a:rPr lang="en-US" sz="2900" dirty="0"/>
              <a:t>A simple value is a string, a number, “true”, “false” or null</a:t>
            </a:r>
          </a:p>
          <a:p>
            <a:endParaRPr lang="en-US" sz="2900" dirty="0"/>
          </a:p>
          <a:p>
            <a:r>
              <a:rPr lang="en-US" sz="2900" dirty="0"/>
              <a:t>An array is a sequence of comma separated values in square brackets ‘[ ]’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AAE7B4-6C1B-0841-B6EC-B47AFD20E51A}"/>
              </a:ext>
            </a:extLst>
          </p:cNvPr>
          <p:cNvSpPr txBox="1">
            <a:spLocks/>
          </p:cNvSpPr>
          <p:nvPr/>
        </p:nvSpPr>
        <p:spPr>
          <a:xfrm>
            <a:off x="5029200" y="1600200"/>
            <a:ext cx="4495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  "name": "Eternal Flame",</a:t>
            </a:r>
          </a:p>
          <a:p>
            <a:pPr marL="0" indent="0">
              <a:buNone/>
            </a:pPr>
            <a:r>
              <a:rPr lang="en-US" sz="2000" dirty="0"/>
              <a:t>      "age": 1000,</a:t>
            </a:r>
          </a:p>
          <a:p>
            <a:pPr marL="0" indent="0">
              <a:buNone/>
            </a:pPr>
            <a:r>
              <a:rPr lang="en-US" sz="2000" dirty="0"/>
              <a:t>      "</a:t>
            </a:r>
            <a:r>
              <a:rPr lang="en-US" sz="2000" dirty="0" err="1"/>
              <a:t>secretIdentity</a:t>
            </a:r>
            <a:r>
              <a:rPr lang="en-US" sz="2000" dirty="0"/>
              <a:t>": "Unknown",</a:t>
            </a:r>
          </a:p>
          <a:p>
            <a:pPr marL="0" indent="0">
              <a:buNone/>
            </a:pPr>
            <a:r>
              <a:rPr lang="en-US" sz="2000" dirty="0"/>
              <a:t>      "powers": [   "Immortality",  </a:t>
            </a:r>
          </a:p>
          <a:p>
            <a:pPr marL="0" indent="0">
              <a:buNone/>
            </a:pPr>
            <a:r>
              <a:rPr lang="en-US" sz="2000" dirty="0"/>
              <a:t>                           "Heat Immunity",</a:t>
            </a:r>
          </a:p>
          <a:p>
            <a:pPr marL="0" indent="0">
              <a:buNone/>
            </a:pPr>
            <a:r>
              <a:rPr lang="en-US" sz="2000" dirty="0"/>
              <a:t>                            "Teleportation"   ]</a:t>
            </a:r>
          </a:p>
          <a:p>
            <a:pPr marL="0" indent="0">
              <a:buNone/>
            </a:pPr>
            <a:r>
              <a:rPr lang="en-US" sz="2000" dirty="0"/>
              <a:t>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5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72DC-1D92-394C-A22C-C8FD4B11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and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D3BFB-FAEC-454D-9E3A-9C0AF897F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When creating applications for the exchange of health care data is is possible to choose NoSQL databases whose natural data representation is similar to or the same as JSON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JSON format in this context is referred to as “document” format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is because one of the early uses of JSON-like data representations was to support the ”markup” of text documents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And databases holding data in this format are therefore called document databases</a:t>
            </a:r>
          </a:p>
        </p:txBody>
      </p:sp>
    </p:spTree>
    <p:extLst>
      <p:ext uri="{BB962C8B-B14F-4D97-AF65-F5344CB8AC3E}">
        <p14:creationId xmlns:p14="http://schemas.microsoft.com/office/powerpoint/2010/main" val="291022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 is a powerful, flexible, and scalable general-purpose database</a:t>
            </a:r>
          </a:p>
          <a:p>
            <a:r>
              <a:rPr lang="en-US" dirty="0"/>
              <a:t>It combines the ability to scale out with features such as secondary indexes, range queries, sorting, aggregations, and geospatial indexes</a:t>
            </a:r>
          </a:p>
        </p:txBody>
      </p:sp>
    </p:spTree>
    <p:extLst>
      <p:ext uri="{BB962C8B-B14F-4D97-AF65-F5344CB8AC3E}">
        <p14:creationId xmlns:p14="http://schemas.microsoft.com/office/powerpoint/2010/main" val="3315916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Ease of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MongoDB is a </a:t>
            </a:r>
            <a:r>
              <a:rPr lang="en-US" i="1" dirty="0"/>
              <a:t>document-oriented </a:t>
            </a:r>
            <a:r>
              <a:rPr lang="en-US" dirty="0"/>
              <a:t>database, not a relational one</a:t>
            </a:r>
          </a:p>
          <a:p>
            <a:r>
              <a:rPr lang="en-US" dirty="0"/>
              <a:t>The primary reason for moving away from the relational model is to make scaling out easier, but there are some other advantages as well</a:t>
            </a:r>
          </a:p>
          <a:p>
            <a:r>
              <a:rPr lang="en-US" dirty="0"/>
              <a:t>A document-oriented database replaces the concept of a “row” with a more flexible model, the “document”</a:t>
            </a:r>
          </a:p>
          <a:p>
            <a:r>
              <a:rPr lang="en-US" dirty="0"/>
              <a:t>By allowing embedded documents and arrays, the document oriented approach makes it possible to represent complex hierarchical relationships with a single record</a:t>
            </a:r>
          </a:p>
          <a:p>
            <a:r>
              <a:rPr lang="en-US" dirty="0"/>
              <a:t>This fits naturally into the way developers in modern object oriented languages think about their data</a:t>
            </a:r>
          </a:p>
        </p:txBody>
      </p:sp>
    </p:spTree>
    <p:extLst>
      <p:ext uri="{BB962C8B-B14F-4D97-AF65-F5344CB8AC3E}">
        <p14:creationId xmlns:p14="http://schemas.microsoft.com/office/powerpoint/2010/main" val="342282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Ease of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also no predefined schemas: a document’s keys and values are not of fixed types or sizes</a:t>
            </a:r>
          </a:p>
          <a:p>
            <a:r>
              <a:rPr lang="en-US" dirty="0"/>
              <a:t>Without a fixed schema, adding or removing fields as needed becomes easier</a:t>
            </a:r>
          </a:p>
          <a:p>
            <a:r>
              <a:rPr lang="en-US" dirty="0"/>
              <a:t>This makes development faster as developers can quickly iterate</a:t>
            </a:r>
          </a:p>
          <a:p>
            <a:r>
              <a:rPr lang="en-US" dirty="0"/>
              <a:t>It is also easier to experiment: developers can try dozens of models for the data and then choose the best one</a:t>
            </a:r>
          </a:p>
        </p:txBody>
      </p:sp>
    </p:spTree>
    <p:extLst>
      <p:ext uri="{BB962C8B-B14F-4D97-AF65-F5344CB8AC3E}">
        <p14:creationId xmlns:p14="http://schemas.microsoft.com/office/powerpoint/2010/main" val="359453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Easy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 was designed to scale out</a:t>
            </a:r>
          </a:p>
          <a:p>
            <a:r>
              <a:rPr lang="en-US" dirty="0"/>
              <a:t>Its document-oriented data model makes it easier for it to split up data across multiple servers</a:t>
            </a:r>
          </a:p>
          <a:p>
            <a:r>
              <a:rPr lang="en-US" dirty="0"/>
              <a:t>MongoDB automatically takes care of</a:t>
            </a:r>
          </a:p>
          <a:p>
            <a:pPr lvl="1"/>
            <a:r>
              <a:rPr lang="en-US" dirty="0"/>
              <a:t>Balancing data and load across a cluster</a:t>
            </a:r>
          </a:p>
          <a:p>
            <a:pPr lvl="1"/>
            <a:r>
              <a:rPr lang="en-US" dirty="0"/>
              <a:t>Redistributing documents automatically</a:t>
            </a:r>
          </a:p>
          <a:p>
            <a:pPr lvl="1"/>
            <a:r>
              <a:rPr lang="en-US" dirty="0"/>
              <a:t>Routing user requests to the correct machines</a:t>
            </a:r>
          </a:p>
          <a:p>
            <a:r>
              <a:rPr lang="en-US" dirty="0"/>
              <a:t>This allows developers to focus on programming the application, not scaling it</a:t>
            </a:r>
          </a:p>
          <a:p>
            <a:r>
              <a:rPr lang="en-US" dirty="0"/>
              <a:t>When a cluster need more capacity, new machines can be added and MongoDB will figure out how the existing data should be spread to them</a:t>
            </a:r>
          </a:p>
        </p:txBody>
      </p:sp>
    </p:spTree>
    <p:extLst>
      <p:ext uri="{BB962C8B-B14F-4D97-AF65-F5344CB8AC3E}">
        <p14:creationId xmlns:p14="http://schemas.microsoft.com/office/powerpoint/2010/main" val="19570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r>
              <a:rPr lang="en-US" dirty="0"/>
              <a:t>MongoDB is made up of databases</a:t>
            </a:r>
          </a:p>
          <a:p>
            <a:r>
              <a:rPr lang="en-US" dirty="0"/>
              <a:t>A database can have zero or more collections </a:t>
            </a:r>
          </a:p>
          <a:p>
            <a:r>
              <a:rPr lang="en-US" dirty="0"/>
              <a:t>A collection can be though of as a table (but not quite) </a:t>
            </a:r>
          </a:p>
          <a:p>
            <a:r>
              <a:rPr lang="en-US" dirty="0"/>
              <a:t>Collections are made up of zero or more documents</a:t>
            </a:r>
          </a:p>
          <a:p>
            <a:r>
              <a:rPr lang="en-US" dirty="0"/>
              <a:t>A document thought of as a row (but not quite)</a:t>
            </a:r>
          </a:p>
          <a:p>
            <a:r>
              <a:rPr lang="en-US" dirty="0"/>
              <a:t>A document is made up of one or more fields, which are like columns (but not quite)</a:t>
            </a:r>
          </a:p>
          <a:p>
            <a:r>
              <a:rPr lang="en-US" dirty="0"/>
              <a:t>Every document has a special field, "_id", that is unique within a collection</a:t>
            </a:r>
          </a:p>
          <a:p>
            <a:r>
              <a:rPr lang="en-US" dirty="0"/>
              <a:t>Indexes in MongoDB function mostly like their RDBMS counterparts</a:t>
            </a:r>
          </a:p>
          <a:p>
            <a:r>
              <a:rPr lang="en-US" dirty="0"/>
              <a:t>MongoDB comes with a JavaScript </a:t>
            </a:r>
            <a:r>
              <a:rPr lang="en-US" i="1" dirty="0"/>
              <a:t>shell</a:t>
            </a:r>
            <a:r>
              <a:rPr lang="en-US" dirty="0"/>
              <a:t>, which is useful for the administration of MongoDB instances and data manipulation</a:t>
            </a:r>
          </a:p>
        </p:txBody>
      </p:sp>
    </p:spTree>
    <p:extLst>
      <p:ext uri="{BB962C8B-B14F-4D97-AF65-F5344CB8AC3E}">
        <p14:creationId xmlns:p14="http://schemas.microsoft.com/office/powerpoint/2010/main" val="427496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Cursors are different than the other concepts but are important enough, for their own discussion</a:t>
            </a:r>
          </a:p>
          <a:p>
            <a:r>
              <a:rPr lang="en-US" dirty="0"/>
              <a:t>The important thing to understand about cursors is that when you ask MongoDB for data, it returns a pointer to the result set called a cursor…</a:t>
            </a:r>
          </a:p>
          <a:p>
            <a:r>
              <a:rPr lang="en-US" dirty="0"/>
              <a:t>Which we can do things to, such as counting or skipping ahead, before actually pulling down data</a:t>
            </a:r>
          </a:p>
        </p:txBody>
      </p:sp>
    </p:spTree>
    <p:extLst>
      <p:ext uri="{BB962C8B-B14F-4D97-AF65-F5344CB8AC3E}">
        <p14:creationId xmlns:p14="http://schemas.microsoft.com/office/powerpoint/2010/main" val="320392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|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use new terminology (collection vs. table, document vs. row and field vs. column)?</a:t>
            </a:r>
          </a:p>
          <a:p>
            <a:r>
              <a:rPr lang="en-US" dirty="0"/>
              <a:t>While these concepts are similar to their relational database counterparts, they are not identical</a:t>
            </a:r>
          </a:p>
          <a:p>
            <a:r>
              <a:rPr lang="en-US" dirty="0"/>
              <a:t>The core difference comes from the fact that relational databases define columns at the table level…</a:t>
            </a:r>
          </a:p>
          <a:p>
            <a:r>
              <a:rPr lang="en-US" dirty="0"/>
              <a:t>While a document-oriented database defines fields at the document level</a:t>
            </a:r>
          </a:p>
          <a:p>
            <a:r>
              <a:rPr lang="en-US" dirty="0"/>
              <a:t>Each document within a collection can have its own unique set of fields</a:t>
            </a:r>
          </a:p>
          <a:p>
            <a:r>
              <a:rPr lang="en-US" dirty="0"/>
              <a:t>As such, a collection is a dumbed down container in comparison to a table</a:t>
            </a:r>
          </a:p>
          <a:p>
            <a:r>
              <a:rPr lang="en-US" dirty="0"/>
              <a:t>While a document has a lot more information than a row</a:t>
            </a:r>
          </a:p>
        </p:txBody>
      </p:sp>
    </p:spTree>
    <p:extLst>
      <p:ext uri="{BB962C8B-B14F-4D97-AF65-F5344CB8AC3E}">
        <p14:creationId xmlns:p14="http://schemas.microsoft.com/office/powerpoint/2010/main" val="493680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document </a:t>
            </a:r>
            <a:r>
              <a:rPr lang="en-US" dirty="0"/>
              <a:t>is the basic unit of data for MongoDB and is roughly equivalent to a row in a relational database</a:t>
            </a:r>
          </a:p>
          <a:p>
            <a:endParaRPr lang="en-US" dirty="0"/>
          </a:p>
          <a:p>
            <a:r>
              <a:rPr lang="en-US" dirty="0"/>
              <a:t>A MongoDB document is a group of key and value pairs</a:t>
            </a:r>
          </a:p>
          <a:p>
            <a:pPr marL="0" indent="0">
              <a:buNone/>
            </a:pPr>
            <a:r>
              <a:rPr lang="en-US" dirty="0"/>
              <a:t>{someKey1 : someValue1, someKey2 : someValue2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key and its value can be thought of as an attribute (field, column) of a document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key is always a string and the value can be one of a number of types</a:t>
            </a:r>
          </a:p>
          <a:p>
            <a:endParaRPr lang="en-US" dirty="0"/>
          </a:p>
          <a:p>
            <a:r>
              <a:rPr lang="en-US" dirty="0"/>
              <a:t>Here is an example of a simple document</a:t>
            </a:r>
          </a:p>
          <a:p>
            <a:pPr marL="0" indent="0">
              <a:buNone/>
            </a:pPr>
            <a:r>
              <a:rPr lang="en-US" dirty="0"/>
              <a:t>{"greeting" : "Hello, world!", "foo" : 3}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73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 is type-sensitive and case-sensitive. For example, these documents are distinct:</a:t>
            </a:r>
          </a:p>
          <a:p>
            <a:pPr marL="0" indent="0">
              <a:buNone/>
            </a:pPr>
            <a:r>
              <a:rPr lang="en-US" dirty="0"/>
              <a:t>{"foo" : 3}</a:t>
            </a:r>
          </a:p>
          <a:p>
            <a:pPr marL="0" indent="0">
              <a:buNone/>
            </a:pPr>
            <a:r>
              <a:rPr lang="en-US" dirty="0"/>
              <a:t>{"foo" : "3"}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 are as these:</a:t>
            </a:r>
          </a:p>
          <a:p>
            <a:pPr marL="0" indent="0">
              <a:buNone/>
            </a:pPr>
            <a:r>
              <a:rPr lang="en-US" dirty="0"/>
              <a:t>{"foo" : 3}</a:t>
            </a:r>
          </a:p>
          <a:p>
            <a:pPr marL="0" indent="0">
              <a:buNone/>
            </a:pPr>
            <a:r>
              <a:rPr lang="en-US" dirty="0"/>
              <a:t>{"Foo" : 3}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13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important thing to note is that documents in MongoDB cannot contain duplicate keys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example, the following is not a legal document:</a:t>
            </a:r>
          </a:p>
          <a:p>
            <a:pPr marL="0" indent="0">
              <a:buNone/>
            </a:pPr>
            <a:r>
              <a:rPr lang="en-US" dirty="0"/>
              <a:t>{"greeting" : "Hello, world!", "greeting" : "Hello, MongoDB!"}</a:t>
            </a:r>
          </a:p>
        </p:txBody>
      </p:sp>
    </p:spTree>
    <p:extLst>
      <p:ext uri="{BB962C8B-B14F-4D97-AF65-F5344CB8AC3E}">
        <p14:creationId xmlns:p14="http://schemas.microsoft.com/office/powerpoint/2010/main" val="1828528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readable format of documents is very similar to that of JavaScript Object Notation (JSON)</a:t>
            </a:r>
          </a:p>
          <a:p>
            <a:r>
              <a:rPr lang="en-US" dirty="0"/>
              <a:t>One major advantage of this document format is that it is self describing</a:t>
            </a:r>
          </a:p>
          <a:p>
            <a:r>
              <a:rPr lang="en-US" dirty="0"/>
              <a:t>You can deduce the name of each entry and its type from the content of the document alone</a:t>
            </a:r>
          </a:p>
          <a:p>
            <a:r>
              <a:rPr lang="en-US" dirty="0"/>
              <a:t>You don’t need any external schema to or metadata to interpret JSON encoded data</a:t>
            </a:r>
          </a:p>
          <a:p>
            <a:r>
              <a:rPr lang="en-US" dirty="0"/>
              <a:t>Rather the “schema” in MongoDB is, in practice, part of the document itself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157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143000"/>
            <a:ext cx="8229600" cy="51412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{ "name"   : "John Smith",</a:t>
            </a:r>
          </a:p>
          <a:p>
            <a:pPr marL="0" indent="0">
              <a:buNone/>
            </a:pPr>
            <a:r>
              <a:rPr lang="en-US" sz="2000" dirty="0"/>
              <a:t>  "</a:t>
            </a:r>
            <a:r>
              <a:rPr lang="en-US" sz="2000" dirty="0" err="1"/>
              <a:t>sku</a:t>
            </a:r>
            <a:r>
              <a:rPr lang="en-US" sz="2000" dirty="0"/>
              <a:t>"    : "20223",</a:t>
            </a:r>
          </a:p>
          <a:p>
            <a:pPr marL="0" indent="0">
              <a:buNone/>
            </a:pPr>
            <a:r>
              <a:rPr lang="en-US" sz="2000" dirty="0"/>
              <a:t>  "price"  : 23.95,</a:t>
            </a:r>
          </a:p>
          <a:p>
            <a:pPr marL="0" indent="0">
              <a:buNone/>
            </a:pPr>
            <a:r>
              <a:rPr lang="en-US" sz="2000" dirty="0"/>
              <a:t>  "</a:t>
            </a:r>
            <a:r>
              <a:rPr lang="en-US" sz="2000" dirty="0" err="1"/>
              <a:t>shipTo</a:t>
            </a:r>
            <a:r>
              <a:rPr lang="en-US" sz="2000" dirty="0"/>
              <a:t>" : { "name" : "Jane Smith",</a:t>
            </a:r>
          </a:p>
          <a:p>
            <a:pPr marL="0" indent="0">
              <a:buNone/>
            </a:pPr>
            <a:r>
              <a:rPr lang="en-US" sz="2000" dirty="0"/>
              <a:t>               "address" : "123 Maple Street",</a:t>
            </a:r>
          </a:p>
          <a:p>
            <a:pPr marL="0" indent="0">
              <a:buNone/>
            </a:pPr>
            <a:r>
              <a:rPr lang="en-US" sz="2000" dirty="0"/>
              <a:t>               "city" : "</a:t>
            </a:r>
            <a:r>
              <a:rPr lang="en-US" sz="2000" dirty="0" err="1"/>
              <a:t>Pretendville</a:t>
            </a:r>
            <a:r>
              <a:rPr lang="en-US" sz="2000" dirty="0"/>
              <a:t>",</a:t>
            </a:r>
          </a:p>
          <a:p>
            <a:pPr marL="0" indent="0">
              <a:buNone/>
            </a:pPr>
            <a:r>
              <a:rPr lang="en-US" sz="2000" dirty="0"/>
              <a:t>               "state" : "NY",</a:t>
            </a:r>
          </a:p>
          <a:p>
            <a:pPr marL="0" indent="0">
              <a:buNone/>
            </a:pPr>
            <a:r>
              <a:rPr lang="en-US" sz="2000" dirty="0"/>
              <a:t>               "zip"   : "12345" },</a:t>
            </a:r>
          </a:p>
          <a:p>
            <a:pPr marL="0" indent="0">
              <a:buNone/>
            </a:pPr>
            <a:r>
              <a:rPr lang="en-US" sz="2000" dirty="0"/>
              <a:t>  "</a:t>
            </a:r>
            <a:r>
              <a:rPr lang="en-US" sz="2000" dirty="0" err="1"/>
              <a:t>billTo</a:t>
            </a:r>
            <a:r>
              <a:rPr lang="en-US" sz="2000" dirty="0"/>
              <a:t>" : { "name" : "John Smith",</a:t>
            </a:r>
          </a:p>
          <a:p>
            <a:pPr marL="0" indent="0">
              <a:buNone/>
            </a:pPr>
            <a:r>
              <a:rPr lang="en-US" sz="2000" dirty="0"/>
              <a:t>               "address" : "123 Maple Street",</a:t>
            </a:r>
          </a:p>
          <a:p>
            <a:pPr marL="0" indent="0">
              <a:buNone/>
            </a:pPr>
            <a:r>
              <a:rPr lang="en-US" sz="2000" dirty="0"/>
              <a:t>               "city" : "</a:t>
            </a:r>
            <a:r>
              <a:rPr lang="en-US" sz="2000" dirty="0" err="1"/>
              <a:t>Pretendville</a:t>
            </a:r>
            <a:r>
              <a:rPr lang="en-US" sz="2000" dirty="0"/>
              <a:t>",</a:t>
            </a:r>
          </a:p>
          <a:p>
            <a:pPr marL="0" indent="0">
              <a:buNone/>
            </a:pPr>
            <a:r>
              <a:rPr lang="en-US" sz="2000" dirty="0"/>
              <a:t>               "state" : "NY",</a:t>
            </a:r>
          </a:p>
          <a:p>
            <a:pPr marL="0" indent="0">
              <a:buNone/>
            </a:pPr>
            <a:r>
              <a:rPr lang="en-US" sz="2000" dirty="0"/>
              <a:t>               "zip"   : "12345"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91993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143000"/>
            <a:ext cx="8229600" cy="51412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{ "$schema": "http://json-</a:t>
            </a:r>
            <a:r>
              <a:rPr lang="en-US" sz="1400" dirty="0" err="1"/>
              <a:t>schema.org</a:t>
            </a:r>
            <a:r>
              <a:rPr lang="en-US" sz="1400" dirty="0"/>
              <a:t>/draft-04/schema#",</a:t>
            </a:r>
          </a:p>
          <a:p>
            <a:pPr marL="0" indent="0">
              <a:buNone/>
            </a:pPr>
            <a:r>
              <a:rPr lang="en-US" sz="1400" dirty="0"/>
              <a:t>   "title": "Product",</a:t>
            </a:r>
          </a:p>
          <a:p>
            <a:pPr marL="0" indent="0">
              <a:buNone/>
            </a:pPr>
            <a:r>
              <a:rPr lang="en-US" sz="1400" dirty="0"/>
              <a:t>   "description": "A product from Acme's catalog",</a:t>
            </a:r>
          </a:p>
          <a:p>
            <a:pPr marL="0" indent="0">
              <a:buNone/>
            </a:pPr>
            <a:r>
              <a:rPr lang="en-US" sz="1400" dirty="0"/>
              <a:t>   "type": "object",</a:t>
            </a:r>
          </a:p>
          <a:p>
            <a:pPr marL="0" indent="0">
              <a:buNone/>
            </a:pPr>
            <a:r>
              <a:rPr lang="en-US" sz="1400" dirty="0"/>
              <a:t>   "properties": {</a:t>
            </a:r>
          </a:p>
          <a:p>
            <a:pPr marL="0" indent="0">
              <a:buNone/>
            </a:pPr>
            <a:r>
              <a:rPr lang="en-US" sz="1400" dirty="0"/>
              <a:t>      "id": {</a:t>
            </a:r>
          </a:p>
          <a:p>
            <a:pPr marL="0" indent="0">
              <a:buNone/>
            </a:pPr>
            <a:r>
              <a:rPr lang="en-US" sz="1400" dirty="0"/>
              <a:t>         "description": "The unique identifier for a product",</a:t>
            </a:r>
          </a:p>
          <a:p>
            <a:pPr marL="0" indent="0">
              <a:buNone/>
            </a:pPr>
            <a:r>
              <a:rPr lang="en-US" sz="1400" dirty="0"/>
              <a:t>         "type": "integer"</a:t>
            </a:r>
          </a:p>
          <a:p>
            <a:pPr marL="0" indent="0">
              <a:buNone/>
            </a:pPr>
            <a:r>
              <a:rPr lang="en-US" sz="1400" dirty="0"/>
              <a:t>      },		</a:t>
            </a:r>
          </a:p>
          <a:p>
            <a:pPr marL="0" indent="0">
              <a:buNone/>
            </a:pPr>
            <a:r>
              <a:rPr lang="en-US" sz="1400" dirty="0"/>
              <a:t>      "name": {</a:t>
            </a:r>
          </a:p>
          <a:p>
            <a:pPr marL="0" indent="0">
              <a:buNone/>
            </a:pPr>
            <a:r>
              <a:rPr lang="en-US" sz="1400" dirty="0"/>
              <a:t>         "description": "Name of the product",</a:t>
            </a:r>
          </a:p>
          <a:p>
            <a:pPr marL="0" indent="0">
              <a:buNone/>
            </a:pPr>
            <a:r>
              <a:rPr lang="en-US" sz="1400" dirty="0"/>
              <a:t>         "type": "string"</a:t>
            </a:r>
          </a:p>
          <a:p>
            <a:pPr marL="0" indent="0">
              <a:buNone/>
            </a:pPr>
            <a:r>
              <a:rPr lang="en-US" sz="1400" dirty="0"/>
              <a:t>      },	</a:t>
            </a:r>
          </a:p>
          <a:p>
            <a:pPr marL="0" indent="0">
              <a:buNone/>
            </a:pPr>
            <a:r>
              <a:rPr lang="en-US" sz="1400" dirty="0"/>
              <a:t>      "price": {</a:t>
            </a:r>
          </a:p>
          <a:p>
            <a:pPr marL="0" indent="0">
              <a:buNone/>
            </a:pPr>
            <a:r>
              <a:rPr lang="en-US" sz="1400" dirty="0"/>
              <a:t>         "type": "number",</a:t>
            </a:r>
          </a:p>
          <a:p>
            <a:pPr marL="0" indent="0">
              <a:buNone/>
            </a:pPr>
            <a:r>
              <a:rPr lang="en-US" sz="1400" dirty="0"/>
              <a:t>         "minimum": 0,</a:t>
            </a:r>
          </a:p>
          <a:p>
            <a:pPr marL="0" indent="0">
              <a:buNone/>
            </a:pPr>
            <a:r>
              <a:rPr lang="en-US" sz="1400" dirty="0"/>
              <a:t>         "</a:t>
            </a:r>
            <a:r>
              <a:rPr lang="en-US" sz="1400" dirty="0" err="1"/>
              <a:t>exclusiveMinimum</a:t>
            </a:r>
            <a:r>
              <a:rPr lang="en-US" sz="1400" dirty="0"/>
              <a:t>": true</a:t>
            </a:r>
          </a:p>
          <a:p>
            <a:pPr marL="0" indent="0">
              <a:buNone/>
            </a:pPr>
            <a:r>
              <a:rPr lang="en-US" sz="1400" dirty="0"/>
              <a:t>      }</a:t>
            </a:r>
          </a:p>
          <a:p>
            <a:pPr marL="0" indent="0">
              <a:buNone/>
            </a:pPr>
            <a:r>
              <a:rPr lang="en-US" sz="1400" dirty="0"/>
              <a:t>   },</a:t>
            </a:r>
          </a:p>
          <a:p>
            <a:pPr marL="0" indent="0">
              <a:buNone/>
            </a:pPr>
            <a:r>
              <a:rPr lang="en-US" sz="1400" dirty="0"/>
              <a:t>   "required": ["id", "name", "price"]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4796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collection </a:t>
            </a:r>
            <a:r>
              <a:rPr lang="en-US" dirty="0"/>
              <a:t>is a group of documents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a document is the MongoDB analog of some row in a relational database…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collection can be thought of as the analog to a table</a:t>
            </a:r>
          </a:p>
          <a:p>
            <a:endParaRPr lang="en-US" dirty="0"/>
          </a:p>
          <a:p>
            <a:r>
              <a:rPr lang="en-US" dirty="0"/>
              <a:t>But, as each document is self describing, MongoDB collections do not have a predefined schema</a:t>
            </a:r>
          </a:p>
          <a:p>
            <a:endParaRPr lang="en-US" dirty="0"/>
          </a:p>
          <a:p>
            <a:r>
              <a:rPr lang="en-US" dirty="0"/>
              <a:t>This means that documents in collections do not all need to have the same key and value pairs in the same order</a:t>
            </a:r>
          </a:p>
        </p:txBody>
      </p:sp>
    </p:spTree>
    <p:extLst>
      <p:ext uri="{BB962C8B-B14F-4D97-AF65-F5344CB8AC3E}">
        <p14:creationId xmlns:p14="http://schemas.microsoft.com/office/powerpoint/2010/main" val="4251834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example, both of the following documents could be stored in a single collection</a:t>
            </a:r>
          </a:p>
          <a:p>
            <a:pPr marL="0" indent="0">
              <a:buNone/>
            </a:pPr>
            <a:r>
              <a:rPr lang="en-US" dirty="0"/>
              <a:t>{"greeting" : "Hello, world!"}</a:t>
            </a:r>
          </a:p>
          <a:p>
            <a:pPr marL="0" indent="0">
              <a:buNone/>
            </a:pPr>
            <a:r>
              <a:rPr lang="en-US" dirty="0"/>
              <a:t>{"foo" : 5}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 that the previous documents not only have different types for their values (string versus integer) but also have entirely different keys</a:t>
            </a:r>
          </a:p>
          <a:p>
            <a:r>
              <a:rPr lang="en-US" dirty="0"/>
              <a:t>Because any document can be put into any collection, the question arises: “Why do we need separate collections at all?”</a:t>
            </a:r>
          </a:p>
        </p:txBody>
      </p:sp>
    </p:spTree>
    <p:extLst>
      <p:ext uri="{BB962C8B-B14F-4D97-AF65-F5344CB8AC3E}">
        <p14:creationId xmlns:p14="http://schemas.microsoft.com/office/powerpoint/2010/main" val="175979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a good question…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With no need for separate schemas for different kinds of documents, why </a:t>
            </a:r>
            <a:r>
              <a:rPr lang="en-US" i="1" dirty="0"/>
              <a:t>should </a:t>
            </a:r>
            <a:r>
              <a:rPr lang="en-US" dirty="0"/>
              <a:t>we use more than one collection?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03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reason is to allow different types of real world concepts to be modeled and managed separately</a:t>
            </a:r>
          </a:p>
          <a:p>
            <a:r>
              <a:rPr lang="en-US" dirty="0"/>
              <a:t>Another is to reduce the query overhead that would be needed to filter irrelevant types of documents</a:t>
            </a:r>
          </a:p>
          <a:p>
            <a:pPr lvl="1"/>
            <a:r>
              <a:rPr lang="en-US" dirty="0"/>
              <a:t>If you were searching for books you would need to spend compute time removing records about CD’s</a:t>
            </a:r>
          </a:p>
          <a:p>
            <a:r>
              <a:rPr lang="en-US" dirty="0"/>
              <a:t>Also grouping documents of the same kind together in the same collection allows for data locality</a:t>
            </a:r>
          </a:p>
          <a:p>
            <a:pPr lvl="1"/>
            <a:r>
              <a:rPr lang="en-US" dirty="0"/>
              <a:t>Getting blog posts from a collection containing only posts will likely require fewer disk seeks than getting them from a collection having posts and author data</a:t>
            </a:r>
          </a:p>
          <a:p>
            <a:r>
              <a:rPr lang="en-US" dirty="0"/>
              <a:t>By putting only documents of a single type into the same collection, we can index our collections more efficiently</a:t>
            </a:r>
          </a:p>
        </p:txBody>
      </p:sp>
    </p:spTree>
    <p:extLst>
      <p:ext uri="{BB962C8B-B14F-4D97-AF65-F5344CB8AC3E}">
        <p14:creationId xmlns:p14="http://schemas.microsoft.com/office/powerpoint/2010/main" val="1436972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grouping documents by collection, MongoDB groups collections into </a:t>
            </a:r>
            <a:r>
              <a:rPr lang="en-US" i="1" dirty="0"/>
              <a:t>databases</a:t>
            </a:r>
            <a:endParaRPr lang="en-US" dirty="0"/>
          </a:p>
          <a:p>
            <a:r>
              <a:rPr lang="en-US" dirty="0"/>
              <a:t>A single instance of MongoDB can host several databases, each grouping together zero or more collections</a:t>
            </a:r>
          </a:p>
          <a:p>
            <a:r>
              <a:rPr lang="en-US" dirty="0"/>
              <a:t>A database has its own permissions, and each database is stored in separate files on disk</a:t>
            </a:r>
          </a:p>
        </p:txBody>
      </p:sp>
    </p:spTree>
    <p:extLst>
      <p:ext uri="{BB962C8B-B14F-4D97-AF65-F5344CB8AC3E}">
        <p14:creationId xmlns:p14="http://schemas.microsoft.com/office/powerpoint/2010/main" val="3356240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 comes with a JavaScript shell that allows interaction from the command line</a:t>
            </a:r>
          </a:p>
          <a:p>
            <a:r>
              <a:rPr lang="en-US" dirty="0"/>
              <a:t>To start the shell, run the mongo executable:</a:t>
            </a:r>
          </a:p>
          <a:p>
            <a:pPr marL="0" indent="0">
              <a:buNone/>
            </a:pPr>
            <a:r>
              <a:rPr lang="en-US" dirty="0"/>
              <a:t>$ mongo</a:t>
            </a:r>
          </a:p>
          <a:p>
            <a:r>
              <a:rPr lang="en-US" dirty="0"/>
              <a:t>The shell is a full-featured JavaScript interpreter, capable of running arbitrary JavaScript programs</a:t>
            </a:r>
          </a:p>
          <a:p>
            <a:r>
              <a:rPr lang="en-US" dirty="0"/>
              <a:t>But the real power of the shell lies in the fact that it is also a standalone MongoDB client</a:t>
            </a:r>
          </a:p>
        </p:txBody>
      </p:sp>
    </p:spTree>
    <p:extLst>
      <p:ext uri="{BB962C8B-B14F-4D97-AF65-F5344CB8AC3E}">
        <p14:creationId xmlns:p14="http://schemas.microsoft.com/office/powerpoint/2010/main" val="3591623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startup, the shell connects to the </a:t>
            </a:r>
            <a:r>
              <a:rPr lang="en-US" i="1" dirty="0"/>
              <a:t>test </a:t>
            </a:r>
            <a:r>
              <a:rPr lang="en-US" dirty="0"/>
              <a:t>database on a MongoDB server…</a:t>
            </a:r>
          </a:p>
          <a:p>
            <a:r>
              <a:rPr lang="en-US" dirty="0"/>
              <a:t>And assigns this database connection to the global variable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This variable is the primary access point to your MongoDB server through the shell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15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see the database </a:t>
            </a:r>
            <a:r>
              <a:rPr lang="en-US" dirty="0" err="1"/>
              <a:t>db</a:t>
            </a:r>
            <a:r>
              <a:rPr lang="en-US" dirty="0"/>
              <a:t> is currently assigned to, type in </a:t>
            </a:r>
            <a:r>
              <a:rPr lang="en-US" dirty="0" err="1"/>
              <a:t>db</a:t>
            </a:r>
            <a:r>
              <a:rPr lang="en-US" dirty="0"/>
              <a:t> and hit Enter: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db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Test</a:t>
            </a:r>
          </a:p>
          <a:p>
            <a:endParaRPr lang="en-US" dirty="0"/>
          </a:p>
          <a:p>
            <a:r>
              <a:rPr lang="en-US" dirty="0"/>
              <a:t>One of the most important operations is selecting which database to use:</a:t>
            </a:r>
          </a:p>
          <a:p>
            <a:pPr marL="0" indent="0">
              <a:buNone/>
            </a:pPr>
            <a:r>
              <a:rPr lang="en-US" dirty="0"/>
              <a:t>&gt; use </a:t>
            </a:r>
            <a:r>
              <a:rPr lang="en-US" dirty="0" err="1"/>
              <a:t>foobar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switched to </a:t>
            </a:r>
            <a:r>
              <a:rPr lang="en-US" dirty="0" err="1"/>
              <a:t>db</a:t>
            </a:r>
            <a:r>
              <a:rPr lang="en-US" dirty="0"/>
              <a:t> </a:t>
            </a:r>
            <a:r>
              <a:rPr lang="en-US" dirty="0" err="1"/>
              <a:t>foobar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 if you look at the </a:t>
            </a:r>
            <a:r>
              <a:rPr lang="en-US" dirty="0" err="1"/>
              <a:t>db</a:t>
            </a:r>
            <a:r>
              <a:rPr lang="en-US" dirty="0"/>
              <a:t> variable, you can see that it refers to the </a:t>
            </a:r>
            <a:r>
              <a:rPr lang="en-US" i="1" dirty="0" err="1"/>
              <a:t>foobar</a:t>
            </a:r>
            <a:r>
              <a:rPr lang="en-US" i="1" dirty="0"/>
              <a:t> </a:t>
            </a:r>
            <a:r>
              <a:rPr lang="en-US" dirty="0"/>
              <a:t>database: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db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foobar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35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Collections can be accessed from the </a:t>
            </a:r>
            <a:r>
              <a:rPr lang="en-US" dirty="0" err="1"/>
              <a:t>db</a:t>
            </a:r>
            <a:r>
              <a:rPr lang="en-US" dirty="0"/>
              <a:t> variable</a:t>
            </a:r>
          </a:p>
          <a:p>
            <a:r>
              <a:rPr lang="en-US" dirty="0"/>
              <a:t>For example, </a:t>
            </a:r>
            <a:r>
              <a:rPr lang="en-US" dirty="0" err="1"/>
              <a:t>db.baz</a:t>
            </a:r>
            <a:r>
              <a:rPr lang="en-US" dirty="0"/>
              <a:t> returns the </a:t>
            </a:r>
            <a:r>
              <a:rPr lang="en-US" i="1" dirty="0" err="1"/>
              <a:t>baz</a:t>
            </a:r>
            <a:r>
              <a:rPr lang="en-US" i="1" dirty="0"/>
              <a:t> </a:t>
            </a:r>
            <a:r>
              <a:rPr lang="en-US" dirty="0"/>
              <a:t>collection in the current database</a:t>
            </a:r>
          </a:p>
          <a:p>
            <a:r>
              <a:rPr lang="en-US" dirty="0"/>
              <a:t>Now that we can access a collection in the shell, we can perform almost any database operation</a:t>
            </a:r>
          </a:p>
        </p:txBody>
      </p:sp>
    </p:spTree>
    <p:extLst>
      <p:ext uri="{BB962C8B-B14F-4D97-AF65-F5344CB8AC3E}">
        <p14:creationId xmlns:p14="http://schemas.microsoft.com/office/powerpoint/2010/main" val="113195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interactive mode, mongo prints the results of operations including the content of all cursors</a:t>
            </a:r>
          </a:p>
          <a:p>
            <a:r>
              <a:rPr lang="en-US" dirty="0"/>
              <a:t>In scripts, either use the JavaScript print() function or the mongo specific </a:t>
            </a:r>
            <a:r>
              <a:rPr lang="en-US" dirty="0" err="1"/>
              <a:t>printjson</a:t>
            </a:r>
            <a:r>
              <a:rPr lang="en-US" dirty="0"/>
              <a:t>() function which returns formatted JSON</a:t>
            </a:r>
          </a:p>
          <a:p>
            <a:pPr marL="0" indent="0">
              <a:buNone/>
            </a:pPr>
            <a:endParaRPr lang="en-US" b="1" cap="all" dirty="0"/>
          </a:p>
          <a:p>
            <a:r>
              <a:rPr lang="en-US" dirty="0"/>
              <a:t>To print all items in a result cursor in mongo shell scripts, use the following idiom</a:t>
            </a:r>
          </a:p>
          <a:p>
            <a:pPr marL="0" indent="0">
              <a:buNone/>
            </a:pPr>
            <a:r>
              <a:rPr lang="en-US" dirty="0"/>
              <a:t>cursor = </a:t>
            </a:r>
            <a:r>
              <a:rPr lang="en-US" dirty="0" err="1"/>
              <a:t>db.somCollection.find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b="1" dirty="0"/>
              <a:t>while</a:t>
            </a:r>
            <a:r>
              <a:rPr lang="en-US" dirty="0"/>
              <a:t> ( </a:t>
            </a:r>
            <a:r>
              <a:rPr lang="en-US" dirty="0" err="1"/>
              <a:t>cursor.hasNext</a:t>
            </a:r>
            <a:r>
              <a:rPr lang="en-US" dirty="0"/>
              <a:t>() ) { </a:t>
            </a:r>
            <a:r>
              <a:rPr lang="en-US" dirty="0" err="1"/>
              <a:t>printjson</a:t>
            </a:r>
            <a:r>
              <a:rPr lang="en-US" dirty="0"/>
              <a:t>( </a:t>
            </a:r>
            <a:r>
              <a:rPr lang="en-US" dirty="0" err="1"/>
              <a:t>cursor.next</a:t>
            </a:r>
            <a:r>
              <a:rPr lang="en-US" dirty="0"/>
              <a:t>() );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205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Documents in MongoDB can be thought of as “JSON-like” in that they are conceptually similar to objects in JSON</a:t>
            </a:r>
          </a:p>
          <a:p>
            <a:r>
              <a:rPr lang="en-US" dirty="0"/>
              <a:t>The JSON specification can be described in about one paragraph and lists only six data types</a:t>
            </a:r>
          </a:p>
          <a:p>
            <a:r>
              <a:rPr lang="en-US" dirty="0"/>
              <a:t>This is a good thing in many ways in that it is easy to understand, parse, and remember</a:t>
            </a:r>
          </a:p>
          <a:p>
            <a:r>
              <a:rPr lang="en-US" dirty="0"/>
              <a:t>On the other hand, JSON’s expressive capabilities are limited because the only types are:</a:t>
            </a:r>
          </a:p>
          <a:p>
            <a:pPr marL="0" indent="0">
              <a:buNone/>
            </a:pPr>
            <a:r>
              <a:rPr lang="en-US" dirty="0"/>
              <a:t>null, </a:t>
            </a:r>
            <a:r>
              <a:rPr lang="en-US" dirty="0" err="1"/>
              <a:t>boolean</a:t>
            </a:r>
            <a:r>
              <a:rPr lang="en-US" dirty="0"/>
              <a:t>, numeric, string, array, and object</a:t>
            </a:r>
          </a:p>
          <a:p>
            <a:r>
              <a:rPr lang="en-US" dirty="0"/>
              <a:t>So MongoDB adds support for a number of additional data types while keeping JSON’s essential key / value nature</a:t>
            </a:r>
          </a:p>
        </p:txBody>
      </p:sp>
    </p:spTree>
    <p:extLst>
      <p:ext uri="{BB962C8B-B14F-4D97-AF65-F5344CB8AC3E}">
        <p14:creationId xmlns:p14="http://schemas.microsoft.com/office/powerpoint/2010/main" val="377195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null</a:t>
            </a:r>
          </a:p>
          <a:p>
            <a:pPr lvl="1"/>
            <a:r>
              <a:rPr lang="en-US" dirty="0"/>
              <a:t>Null can be used to represent both a null value and a nonexistent field: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b="1" dirty="0"/>
              <a:t>null</a:t>
            </a:r>
            <a:r>
              <a:rPr lang="en-US" dirty="0"/>
              <a:t>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i="1" dirty="0" err="1"/>
              <a:t>boolean</a:t>
            </a:r>
            <a:endParaRPr lang="en-US" i="1" dirty="0"/>
          </a:p>
          <a:p>
            <a:pPr lvl="1"/>
            <a:r>
              <a:rPr lang="en-US" dirty="0"/>
              <a:t>There is a </a:t>
            </a:r>
            <a:r>
              <a:rPr lang="en-US" dirty="0" err="1"/>
              <a:t>boolean</a:t>
            </a:r>
            <a:r>
              <a:rPr lang="en-US" dirty="0"/>
              <a:t> type, which can be used for the values true and false: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b="1" dirty="0"/>
              <a:t>true</a:t>
            </a:r>
            <a:r>
              <a:rPr lang="en-US" dirty="0"/>
              <a:t>}</a:t>
            </a:r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number</a:t>
            </a:r>
          </a:p>
          <a:p>
            <a:pPr lvl="1"/>
            <a:r>
              <a:rPr lang="en-US" dirty="0"/>
              <a:t>The shell defaults to using 64-bit floating point numbers. Thus, these numbers look	“normal” in the shell:</a:t>
            </a:r>
          </a:p>
          <a:p>
            <a:pPr marL="274320" lvl="1" indent="0">
              <a:buNone/>
            </a:pPr>
            <a:r>
              <a:rPr lang="en-US" dirty="0"/>
              <a:t>{"x" : 3.14} or {"x" : 3}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For integers, use the </a:t>
            </a:r>
            <a:r>
              <a:rPr lang="en-US" dirty="0" err="1"/>
              <a:t>NumberInt</a:t>
            </a:r>
            <a:r>
              <a:rPr lang="en-US" dirty="0"/>
              <a:t> or </a:t>
            </a:r>
            <a:r>
              <a:rPr lang="en-US" dirty="0" err="1"/>
              <a:t>NumberLong</a:t>
            </a:r>
            <a:r>
              <a:rPr lang="en-US" dirty="0"/>
              <a:t> classes, which represent 4-byte or 8-byte signed integers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dirty="0" err="1"/>
              <a:t>NumberInt</a:t>
            </a:r>
            <a:r>
              <a:rPr lang="en-US" dirty="0"/>
              <a:t>("3")}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dirty="0" err="1"/>
              <a:t>NumberLong</a:t>
            </a:r>
            <a:r>
              <a:rPr lang="en-US" dirty="0"/>
              <a:t>("3")}</a:t>
            </a:r>
          </a:p>
        </p:txBody>
      </p:sp>
    </p:spTree>
    <p:extLst>
      <p:ext uri="{BB962C8B-B14F-4D97-AF65-F5344CB8AC3E}">
        <p14:creationId xmlns:p14="http://schemas.microsoft.com/office/powerpoint/2010/main" val="1219780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string</a:t>
            </a:r>
          </a:p>
          <a:p>
            <a:pPr lvl="1"/>
            <a:r>
              <a:rPr lang="en-US" dirty="0"/>
              <a:t>Any string of UTF-8 characters can be represented using the string type:</a:t>
            </a:r>
          </a:p>
          <a:p>
            <a:pPr marL="274320" lvl="1" indent="0">
              <a:buNone/>
            </a:pPr>
            <a:r>
              <a:rPr lang="en-US" dirty="0"/>
              <a:t>{"x" : "</a:t>
            </a:r>
            <a:r>
              <a:rPr lang="en-US" dirty="0" err="1"/>
              <a:t>foobar</a:t>
            </a:r>
            <a:r>
              <a:rPr lang="en-US" dirty="0"/>
              <a:t>"}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i="1" dirty="0"/>
              <a:t>date</a:t>
            </a:r>
          </a:p>
          <a:p>
            <a:pPr lvl="1"/>
            <a:r>
              <a:rPr lang="en-US" dirty="0"/>
              <a:t>Dates are stored as milliseconds since the epoch. The time zone is not stored: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b="1" dirty="0"/>
              <a:t>new </a:t>
            </a:r>
            <a:r>
              <a:rPr lang="en-US" dirty="0"/>
              <a:t>Date()}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i="1" dirty="0"/>
              <a:t>regular expression</a:t>
            </a:r>
          </a:p>
          <a:p>
            <a:pPr lvl="1"/>
            <a:r>
              <a:rPr lang="en-US" dirty="0"/>
              <a:t>Queries can use regular expressions using JavaScript’s regular expression syntax:</a:t>
            </a:r>
          </a:p>
          <a:p>
            <a:pPr marL="274320" lvl="1" indent="0">
              <a:buNone/>
            </a:pPr>
            <a:r>
              <a:rPr lang="en-US" dirty="0"/>
              <a:t>{"x" : /</a:t>
            </a:r>
            <a:r>
              <a:rPr lang="en-US" dirty="0" err="1"/>
              <a:t>foobar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0694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array</a:t>
            </a:r>
          </a:p>
          <a:p>
            <a:pPr lvl="1"/>
            <a:r>
              <a:rPr lang="en-US" dirty="0"/>
              <a:t>Sets or lists of values can be represented as arrays:</a:t>
            </a:r>
          </a:p>
          <a:p>
            <a:pPr marL="274320" lvl="1" indent="0">
              <a:buNone/>
            </a:pPr>
            <a:r>
              <a:rPr lang="en-US" dirty="0"/>
              <a:t>{"x" : ["a", "b", "c"]}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i="1" dirty="0"/>
              <a:t>document</a:t>
            </a:r>
          </a:p>
          <a:p>
            <a:pPr lvl="1"/>
            <a:r>
              <a:rPr lang="en-US" dirty="0"/>
              <a:t>Documents can contain entire documents embedded as values in a parent document:</a:t>
            </a:r>
          </a:p>
          <a:p>
            <a:pPr marL="274320" lvl="1" indent="0">
              <a:buNone/>
            </a:pPr>
            <a:r>
              <a:rPr lang="en-US" dirty="0"/>
              <a:t>{"x" : {"foo" : "bar"}}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i="1" dirty="0"/>
              <a:t>object id</a:t>
            </a:r>
          </a:p>
          <a:p>
            <a:pPr lvl="1"/>
            <a:r>
              <a:rPr lang="en-US" dirty="0"/>
              <a:t>An object id is a 12-byte ID for documents. </a:t>
            </a:r>
          </a:p>
          <a:p>
            <a:pPr marL="274320" lvl="1" indent="0">
              <a:buNone/>
            </a:pPr>
            <a:r>
              <a:rPr lang="en-US" dirty="0"/>
              <a:t>{"x" : </a:t>
            </a:r>
            <a:r>
              <a:rPr lang="en-US" dirty="0" err="1"/>
              <a:t>ObjectId</a:t>
            </a:r>
            <a:r>
              <a:rPr lang="en-US" dirty="0"/>
              <a:t>()}</a:t>
            </a:r>
          </a:p>
        </p:txBody>
      </p:sp>
    </p:spTree>
    <p:extLst>
      <p:ext uri="{BB962C8B-B14F-4D97-AF65-F5344CB8AC3E}">
        <p14:creationId xmlns:p14="http://schemas.microsoft.com/office/powerpoint/2010/main" val="986392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are values that can be interchangeably used for both ordered operations (lists, stacks, or queues) and unordered operations (as though </a:t>
            </a:r>
            <a:r>
              <a:rPr lang="en-US" dirty="0" err="1"/>
              <a:t>theywere</a:t>
            </a:r>
            <a:r>
              <a:rPr lang="en-US" dirty="0"/>
              <a:t> sets).</a:t>
            </a:r>
          </a:p>
          <a:p>
            <a:r>
              <a:rPr lang="en-US" dirty="0"/>
              <a:t>In the following document, the key "things" has an array value</a:t>
            </a:r>
          </a:p>
          <a:p>
            <a:pPr marL="274320" lvl="1" indent="0">
              <a:buNone/>
            </a:pPr>
            <a:r>
              <a:rPr lang="en-US" dirty="0"/>
              <a:t>{"things" : ["pie", 3.14]}</a:t>
            </a:r>
          </a:p>
          <a:p>
            <a:r>
              <a:rPr lang="en-US" dirty="0"/>
              <a:t>As we can see from the example, arrays can contain different data types as values</a:t>
            </a:r>
          </a:p>
          <a:p>
            <a:r>
              <a:rPr lang="en-US" dirty="0"/>
              <a:t>In fact, array values can be any of the supported values for normal key/value pairs, even nested arrays</a:t>
            </a:r>
          </a:p>
        </p:txBody>
      </p:sp>
    </p:spTree>
    <p:extLst>
      <p:ext uri="{BB962C8B-B14F-4D97-AF65-F5344CB8AC3E}">
        <p14:creationId xmlns:p14="http://schemas.microsoft.com/office/powerpoint/2010/main" val="3489211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great things about arrays in documents is that MongoDB “understands” their structure…</a:t>
            </a:r>
          </a:p>
          <a:p>
            <a:r>
              <a:rPr lang="en-US" dirty="0"/>
              <a:t>And knows how to reach inside arrays to perform operations on their contents</a:t>
            </a:r>
          </a:p>
          <a:p>
            <a:r>
              <a:rPr lang="en-US" dirty="0"/>
              <a:t>This allows us to query on arrays and build indexes using their contents</a:t>
            </a:r>
          </a:p>
        </p:txBody>
      </p:sp>
    </p:spTree>
    <p:extLst>
      <p:ext uri="{BB962C8B-B14F-4D97-AF65-F5344CB8AC3E}">
        <p14:creationId xmlns:p14="http://schemas.microsoft.com/office/powerpoint/2010/main" val="4042934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Documents can be used as the </a:t>
            </a:r>
            <a:r>
              <a:rPr lang="en-US" i="1" dirty="0"/>
              <a:t>value </a:t>
            </a:r>
            <a:r>
              <a:rPr lang="en-US" dirty="0"/>
              <a:t>for a key. This is called an </a:t>
            </a:r>
            <a:r>
              <a:rPr lang="en-US" i="1" dirty="0"/>
              <a:t>embedded document</a:t>
            </a:r>
            <a:r>
              <a:rPr lang="en-US" dirty="0"/>
              <a:t>.</a:t>
            </a:r>
          </a:p>
          <a:p>
            <a:r>
              <a:rPr lang="en-US" dirty="0"/>
              <a:t>Embedded documents can be used to organize data in a more natural way than just a flat structure of key/value pairs.</a:t>
            </a:r>
          </a:p>
          <a:p>
            <a:r>
              <a:rPr lang="en-US" dirty="0"/>
              <a:t>If we have a document representing a person and want to store her address…</a:t>
            </a:r>
          </a:p>
          <a:p>
            <a:r>
              <a:rPr lang="en-US" dirty="0"/>
              <a:t>We can nest this information in an embedded "address" document:</a:t>
            </a:r>
          </a:p>
          <a:p>
            <a:pPr marL="0" indent="0">
              <a:buNone/>
            </a:pPr>
            <a:r>
              <a:rPr lang="en-US" sz="2200" dirty="0"/>
              <a:t>{</a:t>
            </a:r>
          </a:p>
          <a:p>
            <a:pPr marL="274320" lvl="1" indent="0">
              <a:buNone/>
            </a:pPr>
            <a:r>
              <a:rPr lang="en-US" sz="2200" dirty="0"/>
              <a:t>"name" : "Jane Doe",</a:t>
            </a:r>
          </a:p>
          <a:p>
            <a:pPr marL="274320" lvl="1" indent="0">
              <a:buNone/>
            </a:pPr>
            <a:r>
              <a:rPr lang="en-US" sz="2200" dirty="0"/>
              <a:t>"address" : {</a:t>
            </a:r>
          </a:p>
          <a:p>
            <a:pPr marL="548640" lvl="2" indent="0">
              <a:buNone/>
            </a:pPr>
            <a:r>
              <a:rPr lang="en-US" sz="2200" dirty="0"/>
              <a:t>"street" : "123 Park Street",</a:t>
            </a:r>
          </a:p>
          <a:p>
            <a:pPr marL="548640" lvl="2" indent="0">
              <a:buNone/>
            </a:pPr>
            <a:r>
              <a:rPr lang="en-US" sz="2200" dirty="0"/>
              <a:t>"city" : "</a:t>
            </a:r>
            <a:r>
              <a:rPr lang="en-US" sz="2200" dirty="0" err="1"/>
              <a:t>Anytown</a:t>
            </a:r>
            <a:r>
              <a:rPr lang="en-US" sz="2200" dirty="0"/>
              <a:t>",</a:t>
            </a:r>
          </a:p>
          <a:p>
            <a:pPr marL="548640" lvl="2" indent="0">
              <a:buNone/>
            </a:pPr>
            <a:r>
              <a:rPr lang="en-US" sz="2200" dirty="0"/>
              <a:t>"state" : "NY"</a:t>
            </a:r>
          </a:p>
          <a:p>
            <a:pPr marL="274320" lvl="1" indent="0">
              <a:buNone/>
            </a:pPr>
            <a:r>
              <a:rPr lang="en-US" sz="2200" dirty="0"/>
              <a:t>}</a:t>
            </a:r>
          </a:p>
          <a:p>
            <a:pPr marL="0" indent="0">
              <a:buNone/>
            </a:pPr>
            <a:r>
              <a:rPr lang="en-US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5281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with arrays, MongoDB “understands” the structure of embedded documents and is able to reach inside them to build indexes, perform queries, or make updates</a:t>
            </a:r>
          </a:p>
          <a:p>
            <a:r>
              <a:rPr lang="en-US" dirty="0"/>
              <a:t>We’ll discuss schema design in depth later, but even from this example we can see how embedded documents can change the way we work with data</a:t>
            </a:r>
          </a:p>
          <a:p>
            <a:r>
              <a:rPr lang="en-US" dirty="0"/>
              <a:t>In a relational database, the previous document would probably be modeled as two separate rows in two different tables (one for “people” and one for “addresses”)</a:t>
            </a:r>
          </a:p>
          <a:p>
            <a:r>
              <a:rPr lang="en-US" dirty="0"/>
              <a:t>With MongoDB we can embed the address document directly within the person document.</a:t>
            </a:r>
          </a:p>
          <a:p>
            <a:r>
              <a:rPr lang="en-US" dirty="0"/>
              <a:t>When used properly, embedded documents can provide a more natural representation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80606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flip side of this is that there can be more data repetition with MongoDB</a:t>
            </a:r>
          </a:p>
          <a:p>
            <a:r>
              <a:rPr lang="en-US" dirty="0"/>
              <a:t>Suppose “addresses” were a separate table in a relational database and we needed to fix a typo in an address When we did a join with “people” and “addresses,” we’d get the updated address for everyone who shares it</a:t>
            </a:r>
          </a:p>
          <a:p>
            <a:r>
              <a:rPr lang="en-US" dirty="0"/>
              <a:t>With MongoDB, we’d need to fix the typo in each person’s document</a:t>
            </a:r>
          </a:p>
        </p:txBody>
      </p:sp>
    </p:spTree>
    <p:extLst>
      <p:ext uri="{BB962C8B-B14F-4D97-AF65-F5344CB8AC3E}">
        <p14:creationId xmlns:p14="http://schemas.microsoft.com/office/powerpoint/2010/main" val="2264285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_id and </a:t>
            </a:r>
            <a:r>
              <a:rPr lang="en-US" dirty="0" err="1"/>
              <a:t>ObjectId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document stored in MongoDB must have an "_id" key</a:t>
            </a:r>
          </a:p>
          <a:p>
            <a:r>
              <a:rPr lang="en-US" dirty="0"/>
              <a:t>The "_id" key’s value can be any type, but it defaults to an </a:t>
            </a:r>
            <a:r>
              <a:rPr lang="en-US" dirty="0" err="1"/>
              <a:t>ObjectId</a:t>
            </a:r>
            <a:endParaRPr lang="en-US" dirty="0"/>
          </a:p>
          <a:p>
            <a:r>
              <a:rPr lang="en-US" dirty="0"/>
              <a:t>In a collection, every document must have a unique value for "_id“…</a:t>
            </a:r>
          </a:p>
          <a:p>
            <a:r>
              <a:rPr lang="en-US" dirty="0"/>
              <a:t>Which ensures that every document can be uniquely identified</a:t>
            </a:r>
          </a:p>
          <a:p>
            <a:r>
              <a:rPr lang="en-US" dirty="0"/>
              <a:t>That is, if you had two collections, each one could have a document where the value for "_id" was 123</a:t>
            </a:r>
          </a:p>
          <a:p>
            <a:r>
              <a:rPr lang="en-US" dirty="0"/>
              <a:t>However, neither collection could contain more than one document with an "_id" of 123</a:t>
            </a:r>
          </a:p>
        </p:txBody>
      </p:sp>
    </p:spTree>
    <p:extLst>
      <p:ext uri="{BB962C8B-B14F-4D97-AF65-F5344CB8AC3E}">
        <p14:creationId xmlns:p14="http://schemas.microsoft.com/office/powerpoint/2010/main" val="20801890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| _id and </a:t>
            </a:r>
            <a:r>
              <a:rPr lang="en-US" dirty="0" err="1"/>
              <a:t>ObjectId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MongoDB’s distributed nature is the main reason why it uses </a:t>
            </a:r>
            <a:r>
              <a:rPr lang="en-US" dirty="0" err="1"/>
              <a:t>ObjectIds</a:t>
            </a:r>
            <a:r>
              <a:rPr lang="en-US" dirty="0"/>
              <a:t>…</a:t>
            </a:r>
          </a:p>
          <a:p>
            <a:r>
              <a:rPr lang="en-US" dirty="0"/>
              <a:t>As opposed to something more traditional, like an auto incrementing primary key</a:t>
            </a:r>
          </a:p>
          <a:p>
            <a:r>
              <a:rPr lang="en-US" dirty="0"/>
              <a:t>It is difficult and time-consuming to synchronize auto incrementing primary keys across multiple servers </a:t>
            </a:r>
          </a:p>
          <a:p>
            <a:r>
              <a:rPr lang="en-US" dirty="0"/>
              <a:t>if there is no "_id" key present when a document is inserted…</a:t>
            </a:r>
          </a:p>
          <a:p>
            <a:r>
              <a:rPr lang="en-US" dirty="0"/>
              <a:t>One will be automatically added to the inserted document </a:t>
            </a:r>
          </a:p>
        </p:txBody>
      </p:sp>
    </p:spTree>
    <p:extLst>
      <p:ext uri="{BB962C8B-B14F-4D97-AF65-F5344CB8AC3E}">
        <p14:creationId xmlns:p14="http://schemas.microsoft.com/office/powerpoint/2010/main" val="27815936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and Saving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Inserts are the basic method for adding data to MongoDB To insert a document into a collection, use the collection’s insert method:</a:t>
            </a:r>
          </a:p>
          <a:p>
            <a:pPr>
              <a:buFont typeface="Wingdings"/>
              <a:buChar char="Ø"/>
            </a:pPr>
            <a:r>
              <a:rPr lang="en-US" dirty="0" err="1"/>
              <a:t>db.foo.insert</a:t>
            </a:r>
            <a:r>
              <a:rPr lang="en-US" dirty="0"/>
              <a:t>({"bar" : "</a:t>
            </a:r>
            <a:r>
              <a:rPr lang="en-US" dirty="0" err="1"/>
              <a:t>baz</a:t>
            </a:r>
            <a:r>
              <a:rPr lang="en-US" dirty="0"/>
              <a:t>"})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will add an "_id" key to the document (if one does not already exist) and store it in MongoDB</a:t>
            </a:r>
          </a:p>
          <a:p>
            <a:r>
              <a:rPr lang="en-US" dirty="0"/>
              <a:t>MongoDB does minimal checks on data being inserted</a:t>
            </a:r>
          </a:p>
          <a:p>
            <a:r>
              <a:rPr lang="en-US" dirty="0"/>
              <a:t>It check’s the document’s basic structure and adds an "_id" field if one does not exist</a:t>
            </a:r>
          </a:p>
          <a:p>
            <a:r>
              <a:rPr lang="en-US" dirty="0"/>
              <a:t>One of the basic structure checks is size: all documents must be smaller than 16 MB</a:t>
            </a:r>
          </a:p>
        </p:txBody>
      </p:sp>
    </p:spTree>
    <p:extLst>
      <p:ext uri="{BB962C8B-B14F-4D97-AF65-F5344CB8AC3E}">
        <p14:creationId xmlns:p14="http://schemas.microsoft.com/office/powerpoint/2010/main" val="1876052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Now that there’s data in our database, let’s delete it: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db.foo.remove</a:t>
            </a:r>
            <a:r>
              <a:rPr lang="en-US" dirty="0"/>
              <a:t>()</a:t>
            </a:r>
          </a:p>
          <a:p>
            <a:r>
              <a:rPr lang="en-US" dirty="0"/>
              <a:t>This will remove all of the documents in the </a:t>
            </a:r>
            <a:r>
              <a:rPr lang="en-US" i="1" dirty="0"/>
              <a:t>foo </a:t>
            </a:r>
            <a:r>
              <a:rPr lang="en-US" dirty="0"/>
              <a:t>collection</a:t>
            </a:r>
          </a:p>
          <a:p>
            <a:r>
              <a:rPr lang="en-US" dirty="0"/>
              <a:t>This doesn’t actually remove the collection, and any meta information about it will still exist</a:t>
            </a:r>
          </a:p>
          <a:p>
            <a:endParaRPr lang="en-US" dirty="0"/>
          </a:p>
          <a:p>
            <a:r>
              <a:rPr lang="en-US" dirty="0"/>
              <a:t>The remove function optionally takes a query document as a parameter</a:t>
            </a:r>
          </a:p>
          <a:p>
            <a:r>
              <a:rPr lang="en-US" dirty="0"/>
              <a:t>When it’s given, only documents that match the criteria will be removed</a:t>
            </a:r>
          </a:p>
          <a:p>
            <a:endParaRPr lang="en-US" dirty="0"/>
          </a:p>
          <a:p>
            <a:r>
              <a:rPr lang="en-US" dirty="0"/>
              <a:t>Suppose we want to remove everyone from the </a:t>
            </a:r>
            <a:r>
              <a:rPr lang="en-US" i="1" dirty="0" err="1"/>
              <a:t>mailing.list</a:t>
            </a:r>
            <a:r>
              <a:rPr lang="en-US" i="1" dirty="0"/>
              <a:t> </a:t>
            </a:r>
            <a:r>
              <a:rPr lang="en-US" dirty="0"/>
              <a:t>collection where the value for "</a:t>
            </a:r>
            <a:r>
              <a:rPr lang="en-US" dirty="0" err="1"/>
              <a:t>optout</a:t>
            </a:r>
            <a:r>
              <a:rPr lang="en-US" dirty="0"/>
              <a:t>“ is true: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db.mailing.list.remove</a:t>
            </a:r>
            <a:r>
              <a:rPr lang="en-US" dirty="0"/>
              <a:t>({"opt-out" : </a:t>
            </a:r>
            <a:r>
              <a:rPr lang="en-US" b="1" dirty="0"/>
              <a:t>true</a:t>
            </a: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data has been removed, it is gone forever</a:t>
            </a:r>
          </a:p>
        </p:txBody>
      </p:sp>
    </p:spTree>
    <p:extLst>
      <p:ext uri="{BB962C8B-B14F-4D97-AF65-F5344CB8AC3E}">
        <p14:creationId xmlns:p14="http://schemas.microsoft.com/office/powerpoint/2010/main" val="255636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take the following form:</a:t>
            </a:r>
          </a:p>
          <a:p>
            <a:pPr marL="0" indent="0">
              <a:buNone/>
            </a:pPr>
            <a:r>
              <a:rPr lang="en-US" dirty="0"/>
              <a:t>db.&lt;collection&gt;.&lt;method&gt;( &lt;filter&gt;, &lt;options&gt;)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db</a:t>
            </a:r>
            <a:r>
              <a:rPr lang="en-US" b="1" dirty="0"/>
              <a:t> </a:t>
            </a:r>
            <a:r>
              <a:rPr lang="en-US" dirty="0"/>
              <a:t>refers to the current database</a:t>
            </a:r>
          </a:p>
          <a:p>
            <a:r>
              <a:rPr lang="en-US" b="1" dirty="0"/>
              <a:t>&lt;collection&gt; </a:t>
            </a:r>
            <a:r>
              <a:rPr lang="en-US" dirty="0"/>
              <a:t>is the name of the target collection for your method</a:t>
            </a:r>
          </a:p>
          <a:p>
            <a:r>
              <a:rPr lang="en-US" dirty="0"/>
              <a:t>For </a:t>
            </a:r>
            <a:r>
              <a:rPr lang="en-US" b="1" dirty="0"/>
              <a:t>&lt;method&gt;</a:t>
            </a:r>
            <a:r>
              <a:rPr lang="en-US" dirty="0"/>
              <a:t>, substitute the desired method</a:t>
            </a:r>
          </a:p>
          <a:p>
            <a:r>
              <a:rPr lang="en-US" dirty="0"/>
              <a:t>Each method has its own </a:t>
            </a:r>
            <a:r>
              <a:rPr lang="en-US" b="1" dirty="0"/>
              <a:t>&lt;options&gt; </a:t>
            </a:r>
            <a:r>
              <a:rPr lang="en-US" dirty="0"/>
              <a:t>for what it will do with the matching document(s)</a:t>
            </a:r>
          </a:p>
        </p:txBody>
      </p:sp>
    </p:spTree>
    <p:extLst>
      <p:ext uri="{BB962C8B-B14F-4D97-AF65-F5344CB8AC3E}">
        <p14:creationId xmlns:p14="http://schemas.microsoft.com/office/powerpoint/2010/main" val="167409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Create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or insert operations add new documents to a collection</a:t>
            </a:r>
          </a:p>
          <a:p>
            <a:r>
              <a:rPr lang="en-US" dirty="0"/>
              <a:t>If the collection does not currently exist, insert operations will create the collection</a:t>
            </a:r>
          </a:p>
          <a:p>
            <a:r>
              <a:rPr lang="en-US" dirty="0"/>
              <a:t>MongoDB provides the following methods to insert documents into a collection:</a:t>
            </a:r>
          </a:p>
          <a:p>
            <a:pPr marL="0" indent="0">
              <a:buNone/>
            </a:pPr>
            <a:r>
              <a:rPr lang="en-US" dirty="0" err="1"/>
              <a:t>db.collection.insertOne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db.collection.insertMany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47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Create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example inserts a new document into the inventory collection</a:t>
            </a:r>
          </a:p>
          <a:p>
            <a:r>
              <a:rPr lang="en-US" dirty="0"/>
              <a:t>If the document does not specify an _id field, MongoDB adds the _id field with an </a:t>
            </a:r>
            <a:r>
              <a:rPr lang="en-US" dirty="0" err="1"/>
              <a:t>ObjectId</a:t>
            </a:r>
            <a:r>
              <a:rPr lang="en-US" dirty="0"/>
              <a:t> value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 err="1"/>
              <a:t>db.inventory.insertOne</a:t>
            </a:r>
            <a:r>
              <a:rPr lang="en-US" sz="1800" dirty="0"/>
              <a:t>(</a:t>
            </a:r>
          </a:p>
          <a:p>
            <a:pPr marL="0" indent="0">
              <a:buNone/>
            </a:pPr>
            <a:r>
              <a:rPr lang="en-US" sz="1800" dirty="0"/>
              <a:t>   { item: "canvas", </a:t>
            </a:r>
            <a:r>
              <a:rPr lang="en-US" sz="1800" dirty="0" err="1"/>
              <a:t>qty</a:t>
            </a:r>
            <a:r>
              <a:rPr lang="en-US" sz="1800" dirty="0"/>
              <a:t>: 100, tags: ["cotton"], size: { h: 28, w: 35.5, </a:t>
            </a:r>
            <a:r>
              <a:rPr lang="en-US" sz="1800" dirty="0" err="1"/>
              <a:t>uom</a:t>
            </a:r>
            <a:r>
              <a:rPr lang="en-US" sz="1800" dirty="0"/>
              <a:t>: "cm" } }</a:t>
            </a:r>
          </a:p>
          <a:p>
            <a:pPr marL="0" indent="0">
              <a:buNone/>
            </a:pP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0151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Create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example inserts three new documents into the inventory collection</a:t>
            </a:r>
          </a:p>
          <a:p>
            <a:r>
              <a:rPr lang="en-US" dirty="0"/>
              <a:t>If the documents do not specify an _id field, MongoDB adds the _id field with an </a:t>
            </a:r>
            <a:r>
              <a:rPr lang="en-US" dirty="0" err="1"/>
              <a:t>ObjectId</a:t>
            </a:r>
            <a:r>
              <a:rPr lang="en-US" dirty="0"/>
              <a:t> value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dirty="0" err="1"/>
              <a:t>db.inventory.insertMany</a:t>
            </a:r>
            <a:r>
              <a:rPr lang="en-US" sz="1600" dirty="0"/>
              <a:t>([</a:t>
            </a:r>
          </a:p>
          <a:p>
            <a:pPr marL="0" indent="0">
              <a:buNone/>
            </a:pPr>
            <a:r>
              <a:rPr lang="en-US" sz="1600" dirty="0"/>
              <a:t>   { item: "journal", </a:t>
            </a:r>
            <a:r>
              <a:rPr lang="en-US" sz="1600" dirty="0" err="1"/>
              <a:t>qty</a:t>
            </a:r>
            <a:r>
              <a:rPr lang="en-US" sz="1600" dirty="0"/>
              <a:t>: 25, tags: ["blank", "red"], size: { h: 14, w: 21, </a:t>
            </a:r>
            <a:r>
              <a:rPr lang="en-US" sz="1600" dirty="0" err="1"/>
              <a:t>uom</a:t>
            </a:r>
            <a:r>
              <a:rPr lang="en-US" sz="1600" dirty="0"/>
              <a:t>: "cm" } },</a:t>
            </a:r>
          </a:p>
          <a:p>
            <a:pPr marL="0" indent="0">
              <a:buNone/>
            </a:pPr>
            <a:r>
              <a:rPr lang="en-US" sz="1600" dirty="0"/>
              <a:t>   { item: "mat", </a:t>
            </a:r>
            <a:r>
              <a:rPr lang="en-US" sz="1600" dirty="0" err="1"/>
              <a:t>qty</a:t>
            </a:r>
            <a:r>
              <a:rPr lang="en-US" sz="1600" dirty="0"/>
              <a:t>: 85, tags: ["gray"], size: { h: 27.9, w: 35.5, </a:t>
            </a:r>
            <a:r>
              <a:rPr lang="en-US" sz="1600" dirty="0" err="1"/>
              <a:t>uom</a:t>
            </a:r>
            <a:r>
              <a:rPr lang="en-US" sz="1600" dirty="0"/>
              <a:t>: "cm" } },</a:t>
            </a:r>
          </a:p>
          <a:p>
            <a:pPr marL="0" indent="0">
              <a:buNone/>
            </a:pPr>
            <a:r>
              <a:rPr lang="en-US" sz="1600" dirty="0"/>
              <a:t>   { item: "mousepad", </a:t>
            </a:r>
            <a:r>
              <a:rPr lang="en-US" sz="1600" dirty="0" err="1"/>
              <a:t>qty</a:t>
            </a:r>
            <a:r>
              <a:rPr lang="en-US" sz="1600" dirty="0"/>
              <a:t>: 25, tags: ["gel", "blue"], size: { h: 19, w: 22.85, </a:t>
            </a:r>
            <a:r>
              <a:rPr lang="en-US" sz="1600" dirty="0" err="1"/>
              <a:t>uom</a:t>
            </a:r>
            <a:r>
              <a:rPr lang="en-US" sz="1600" dirty="0"/>
              <a:t>: "cm" } }</a:t>
            </a:r>
          </a:p>
          <a:p>
            <a:pPr marL="0" indent="0">
              <a:buNone/>
            </a:pPr>
            <a:r>
              <a:rPr lang="en-US" sz="16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953802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operations retrieves documents from a collection; i.e. queries a collection for documents</a:t>
            </a:r>
          </a:p>
          <a:p>
            <a:r>
              <a:rPr lang="en-US" dirty="0"/>
              <a:t>MongoDB provides the following methods to read documents from a collection:</a:t>
            </a:r>
          </a:p>
          <a:p>
            <a:pPr marL="0" indent="0">
              <a:buNone/>
            </a:pPr>
            <a:r>
              <a:rPr lang="en-US" dirty="0" err="1"/>
              <a:t>db.collection.find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specify query filters or criteria that identify the documents to return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914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select all documents in the collection, pass an empty document as the query filter parameter to the find method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{}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operation corresponds to the following SQL statement</a:t>
            </a:r>
          </a:p>
          <a:p>
            <a:pPr marL="0" indent="0">
              <a:buNone/>
            </a:pPr>
            <a:r>
              <a:rPr lang="en-US" dirty="0"/>
              <a:t>SELECT * FROM inventory </a:t>
            </a:r>
          </a:p>
        </p:txBody>
      </p:sp>
    </p:spTree>
    <p:extLst>
      <p:ext uri="{BB962C8B-B14F-4D97-AF65-F5344CB8AC3E}">
        <p14:creationId xmlns:p14="http://schemas.microsoft.com/office/powerpoint/2010/main" val="1392473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specify equality conditions, use &lt;field&gt;:&lt;value&gt; expressions in the query filter document:</a:t>
            </a:r>
          </a:p>
          <a:p>
            <a:pPr marL="0" indent="0">
              <a:buNone/>
            </a:pPr>
            <a:r>
              <a:rPr lang="en-US" dirty="0"/>
              <a:t>{ &lt;field1&gt;: &lt;value1&gt;, ... }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following example selects from the inventory collection all documents where the status equals "D":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status: "D" }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276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compound query can specify conditions for more than one field in the collection’s documents</a:t>
            </a:r>
          </a:p>
          <a:p>
            <a:r>
              <a:rPr lang="en-US" dirty="0"/>
              <a:t>Implicitly, a logical AND conjunction connects the clauses of a compound query…</a:t>
            </a:r>
          </a:p>
          <a:p>
            <a:r>
              <a:rPr lang="en-US" dirty="0"/>
              <a:t>So that the query selects the documents in the collection that match all the conditions</a:t>
            </a:r>
          </a:p>
          <a:p>
            <a:r>
              <a:rPr lang="en-US" dirty="0"/>
              <a:t>The following retrieves all documents in the inventory collection where status equals "A"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qty</a:t>
            </a:r>
            <a:r>
              <a:rPr lang="en-US" dirty="0"/>
              <a:t> is less than ($</a:t>
            </a:r>
            <a:r>
              <a:rPr lang="en-US" dirty="0" err="1"/>
              <a:t>lt</a:t>
            </a:r>
            <a:r>
              <a:rPr lang="en-US" dirty="0"/>
              <a:t>) 30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status: "A", </a:t>
            </a:r>
            <a:r>
              <a:rPr lang="en-US" dirty="0" err="1"/>
              <a:t>qty</a:t>
            </a:r>
            <a:r>
              <a:rPr lang="en-US" dirty="0"/>
              <a:t>: { $</a:t>
            </a:r>
            <a:r>
              <a:rPr lang="en-US" dirty="0" err="1"/>
              <a:t>lt</a:t>
            </a:r>
            <a:r>
              <a:rPr lang="en-US" dirty="0"/>
              <a:t>: 30 } }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operation corresponds to the following SQL statement:</a:t>
            </a:r>
          </a:p>
          <a:p>
            <a:pPr marL="0" indent="0">
              <a:buNone/>
            </a:pPr>
            <a:r>
              <a:rPr lang="en-US" dirty="0"/>
              <a:t>SELECT * FROM inventory WHERE status = "A" AND </a:t>
            </a:r>
            <a:r>
              <a:rPr lang="en-US" dirty="0" err="1"/>
              <a:t>qty</a:t>
            </a:r>
            <a:r>
              <a:rPr lang="en-US" dirty="0"/>
              <a:t> &lt; 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03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002405"/>
              </p:ext>
            </p:extLst>
          </p:nvPr>
        </p:nvGraphicFramePr>
        <p:xfrm>
          <a:off x="457200" y="1539240"/>
          <a:ext cx="8077200" cy="4998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eq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Matches values that are equal to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gt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Matches values that are greater than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gte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values that are greater than or equal to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$in</a:t>
                      </a:r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any of the values specified in an array.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lt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values that are less than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lte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values that are less than or equal to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$ne</a:t>
                      </a:r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all values that are not equal to a specified value.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nin</a:t>
                      </a:r>
                      <a:endParaRPr lang="en-US" sz="2000" dirty="0"/>
                    </a:p>
                  </a:txBody>
                  <a:tcPr marL="81280" marR="81280" marT="40640" marB="4064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Matches none of the values specified in an array.</a:t>
                      </a:r>
                    </a:p>
                  </a:txBody>
                  <a:tcPr marL="81280" marR="81280" marT="40640" marB="4064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8322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$or operator you can specify a compound query that joins each clause with a logical OR conjunction…</a:t>
            </a:r>
          </a:p>
          <a:p>
            <a:r>
              <a:rPr lang="en-US" dirty="0"/>
              <a:t>So that the query selects the documents in the collection that match at least one condition</a:t>
            </a:r>
          </a:p>
          <a:p>
            <a:r>
              <a:rPr lang="en-US" dirty="0"/>
              <a:t>The following retrieves all documents in the collection where the status equals "A"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dirty="0" err="1"/>
              <a:t>qty</a:t>
            </a:r>
            <a:r>
              <a:rPr lang="en-US" dirty="0"/>
              <a:t> is less than ($</a:t>
            </a:r>
            <a:r>
              <a:rPr lang="en-US" dirty="0" err="1"/>
              <a:t>lt</a:t>
            </a:r>
            <a:r>
              <a:rPr lang="en-US" dirty="0"/>
              <a:t>) 30: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$or: [ { status: "A" }, { </a:t>
            </a:r>
            <a:r>
              <a:rPr lang="en-US" dirty="0" err="1"/>
              <a:t>qty</a:t>
            </a:r>
            <a:r>
              <a:rPr lang="en-US" dirty="0"/>
              <a:t>: { $</a:t>
            </a:r>
            <a:r>
              <a:rPr lang="en-US" dirty="0" err="1"/>
              <a:t>lt</a:t>
            </a:r>
            <a:r>
              <a:rPr lang="en-US" dirty="0"/>
              <a:t>: 30 } } ] }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operation corresponds to the following SQL statement:</a:t>
            </a:r>
          </a:p>
          <a:p>
            <a:pPr marL="0" indent="0">
              <a:buNone/>
            </a:pPr>
            <a:r>
              <a:rPr lang="en-US" sz="2200" dirty="0"/>
              <a:t>SELECT * FROM inventory WHERE status = "A" OR </a:t>
            </a:r>
            <a:r>
              <a:rPr lang="en-US" sz="2200" dirty="0" err="1"/>
              <a:t>qty</a:t>
            </a:r>
            <a:r>
              <a:rPr lang="en-US" sz="2200" dirty="0"/>
              <a:t> &lt; 30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028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example, the compound query document selects all documents in the collection…</a:t>
            </a:r>
          </a:p>
          <a:p>
            <a:r>
              <a:rPr lang="en-US" dirty="0"/>
              <a:t>Where the status equals "A"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i="1" dirty="0"/>
              <a:t>either</a:t>
            </a:r>
            <a:r>
              <a:rPr lang="en-US" dirty="0"/>
              <a:t> </a:t>
            </a:r>
            <a:r>
              <a:rPr lang="en-US" dirty="0" err="1"/>
              <a:t>qty</a:t>
            </a:r>
            <a:r>
              <a:rPr lang="en-US" dirty="0"/>
              <a:t> is less than ($</a:t>
            </a:r>
            <a:r>
              <a:rPr lang="en-US" dirty="0" err="1"/>
              <a:t>lt</a:t>
            </a:r>
            <a:r>
              <a:rPr lang="en-US" dirty="0"/>
              <a:t>) 30 </a:t>
            </a:r>
            <a:r>
              <a:rPr lang="en-US" i="1" dirty="0"/>
              <a:t>or</a:t>
            </a:r>
            <a:r>
              <a:rPr lang="en-US" dirty="0"/>
              <a:t> item starts with the character p: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</a:t>
            </a:r>
          </a:p>
          <a:p>
            <a:pPr marL="0" indent="0">
              <a:buNone/>
            </a:pPr>
            <a:r>
              <a:rPr lang="en-US" dirty="0"/>
              <a:t>     status: "A",</a:t>
            </a:r>
          </a:p>
          <a:p>
            <a:pPr marL="0" indent="0">
              <a:buNone/>
            </a:pPr>
            <a:r>
              <a:rPr lang="en-US" dirty="0"/>
              <a:t>     $or: [ { </a:t>
            </a:r>
            <a:r>
              <a:rPr lang="en-US" dirty="0" err="1"/>
              <a:t>qty</a:t>
            </a:r>
            <a:r>
              <a:rPr lang="en-US" dirty="0"/>
              <a:t>: { $</a:t>
            </a:r>
            <a:r>
              <a:rPr lang="en-US" dirty="0" err="1"/>
              <a:t>lt</a:t>
            </a:r>
            <a:r>
              <a:rPr lang="en-US" dirty="0"/>
              <a:t>: 30 } }, { item: /^p/ } ]</a:t>
            </a:r>
          </a:p>
          <a:p>
            <a:pPr marL="0" indent="0">
              <a:buNone/>
            </a:pPr>
            <a:r>
              <a:rPr lang="en-US" dirty="0"/>
              <a:t>}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MongoDB supports regular expressions $regex queries to perform string pattern matches</a:t>
            </a:r>
          </a:p>
        </p:txBody>
      </p:sp>
    </p:spTree>
    <p:extLst>
      <p:ext uri="{BB962C8B-B14F-4D97-AF65-F5344CB8AC3E}">
        <p14:creationId xmlns:p14="http://schemas.microsoft.com/office/powerpoint/2010/main" val="11971237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are some examples of query operations on nested (embedded) documents</a:t>
            </a:r>
          </a:p>
          <a:p>
            <a:r>
              <a:rPr lang="en-US" dirty="0"/>
              <a:t>The examples use the inventory collection populated as follows</a:t>
            </a:r>
          </a:p>
          <a:p>
            <a:pPr marL="0" indent="0">
              <a:buNone/>
            </a:pPr>
            <a:r>
              <a:rPr lang="en-US" sz="1800" dirty="0" err="1"/>
              <a:t>db.inventory.insertMany</a:t>
            </a:r>
            <a:r>
              <a:rPr lang="en-US" sz="1800" dirty="0"/>
              <a:t>( [</a:t>
            </a:r>
          </a:p>
          <a:p>
            <a:pPr marL="0" indent="0">
              <a:buNone/>
            </a:pPr>
            <a:r>
              <a:rPr lang="en-US" sz="1800" dirty="0"/>
              <a:t>   { item: "journal", </a:t>
            </a:r>
            <a:r>
              <a:rPr lang="en-US" sz="1800" dirty="0" err="1"/>
              <a:t>qty</a:t>
            </a:r>
            <a:r>
              <a:rPr lang="en-US" sz="1800" dirty="0"/>
              <a:t>: 25, size: { h: 14, w: 21, </a:t>
            </a:r>
            <a:r>
              <a:rPr lang="en-US" sz="1800" dirty="0" err="1"/>
              <a:t>uom</a:t>
            </a:r>
            <a:r>
              <a:rPr lang="en-US" sz="1800" dirty="0"/>
              <a:t>: "cm" }, status: "A" },</a:t>
            </a:r>
          </a:p>
          <a:p>
            <a:pPr marL="0" indent="0">
              <a:buNone/>
            </a:pPr>
            <a:r>
              <a:rPr lang="en-US" sz="1800" dirty="0"/>
              <a:t>   { item: "notebook", </a:t>
            </a:r>
            <a:r>
              <a:rPr lang="en-US" sz="1800" dirty="0" err="1"/>
              <a:t>qty</a:t>
            </a:r>
            <a:r>
              <a:rPr lang="en-US" sz="1800" dirty="0"/>
              <a:t>: 50, size: { h: 8.5, w: 11, </a:t>
            </a:r>
            <a:r>
              <a:rPr lang="en-US" sz="1800" dirty="0" err="1"/>
              <a:t>uom</a:t>
            </a:r>
            <a:r>
              <a:rPr lang="en-US" sz="1800" dirty="0"/>
              <a:t>: "in" }, status: "A" },</a:t>
            </a:r>
          </a:p>
          <a:p>
            <a:pPr marL="0" indent="0">
              <a:buNone/>
            </a:pPr>
            <a:r>
              <a:rPr lang="en-US" sz="1800" dirty="0"/>
              <a:t>   { item: "paper", </a:t>
            </a:r>
            <a:r>
              <a:rPr lang="en-US" sz="1800" dirty="0" err="1"/>
              <a:t>qty</a:t>
            </a:r>
            <a:r>
              <a:rPr lang="en-US" sz="1800" dirty="0"/>
              <a:t>: 100, size: { h: 8.5, w: 11, </a:t>
            </a:r>
            <a:r>
              <a:rPr lang="en-US" sz="1800" dirty="0" err="1"/>
              <a:t>uom</a:t>
            </a:r>
            <a:r>
              <a:rPr lang="en-US" sz="1800" dirty="0"/>
              <a:t>: "in" }, status: "D" },</a:t>
            </a:r>
          </a:p>
          <a:p>
            <a:pPr marL="0" indent="0">
              <a:buNone/>
            </a:pPr>
            <a:r>
              <a:rPr lang="en-US" sz="1800" dirty="0"/>
              <a:t>   { item: "planner", </a:t>
            </a:r>
            <a:r>
              <a:rPr lang="en-US" sz="1800" dirty="0" err="1"/>
              <a:t>qty</a:t>
            </a:r>
            <a:r>
              <a:rPr lang="en-US" sz="1800" dirty="0"/>
              <a:t>: 75, size: { h: 22.85, w: 30, </a:t>
            </a:r>
            <a:r>
              <a:rPr lang="en-US" sz="1800" dirty="0" err="1"/>
              <a:t>uom</a:t>
            </a:r>
            <a:r>
              <a:rPr lang="en-US" sz="1800" dirty="0"/>
              <a:t>: "cm" }, status: "D" },</a:t>
            </a:r>
          </a:p>
          <a:p>
            <a:pPr marL="0" indent="0">
              <a:buNone/>
            </a:pPr>
            <a:r>
              <a:rPr lang="en-US" sz="1800" dirty="0"/>
              <a:t>   { item: "postcard", </a:t>
            </a:r>
            <a:r>
              <a:rPr lang="en-US" sz="1800" dirty="0" err="1"/>
              <a:t>qty</a:t>
            </a:r>
            <a:r>
              <a:rPr lang="en-US" sz="1800" dirty="0"/>
              <a:t>: 45, size: { h: 10, w: 15.25, </a:t>
            </a:r>
            <a:r>
              <a:rPr lang="en-US" sz="1800" dirty="0" err="1"/>
              <a:t>uom</a:t>
            </a:r>
            <a:r>
              <a:rPr lang="en-US" sz="1800" dirty="0"/>
              <a:t>: "cm" }, status: "A" }</a:t>
            </a:r>
          </a:p>
          <a:p>
            <a:pPr marL="0" indent="0">
              <a:buNone/>
            </a:pPr>
            <a:r>
              <a:rPr lang="en-US" sz="1800" dirty="0"/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694511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specify an equality condition on a field that is an embedded document, use the query filter document { &lt;field&gt;: &lt;value&gt; } where &lt;value&gt; is the document to match</a:t>
            </a:r>
          </a:p>
          <a:p>
            <a:r>
              <a:rPr lang="en-US" dirty="0"/>
              <a:t>For example, the following query selects all documents where the field size equals the document { h: 14, w: 21, </a:t>
            </a:r>
            <a:r>
              <a:rPr lang="en-US" dirty="0" err="1"/>
              <a:t>uom</a:t>
            </a:r>
            <a:r>
              <a:rPr lang="en-US" dirty="0"/>
              <a:t>: "cm" }: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size: { h: 14, w: 21, </a:t>
            </a:r>
            <a:r>
              <a:rPr lang="en-US" dirty="0" err="1"/>
              <a:t>uom</a:t>
            </a:r>
            <a:r>
              <a:rPr lang="en-US" dirty="0"/>
              <a:t>: "cm" } } 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8761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query selects all documents where the nested field h is less than 15, the nested field </a:t>
            </a:r>
            <a:r>
              <a:rPr lang="en-US" dirty="0" err="1"/>
              <a:t>uom</a:t>
            </a:r>
            <a:r>
              <a:rPr lang="en-US" dirty="0"/>
              <a:t> equals "in", and the status field equals "D":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</a:t>
            </a:r>
          </a:p>
          <a:p>
            <a:pPr marL="0" indent="0">
              <a:buNone/>
            </a:pPr>
            <a:r>
              <a:rPr lang="en-US" dirty="0"/>
              <a:t>    { "</a:t>
            </a:r>
            <a:r>
              <a:rPr lang="en-US" dirty="0" err="1"/>
              <a:t>size.h</a:t>
            </a:r>
            <a:r>
              <a:rPr lang="en-US" dirty="0"/>
              <a:t>": { $</a:t>
            </a:r>
            <a:r>
              <a:rPr lang="en-US" dirty="0" err="1"/>
              <a:t>lt</a:t>
            </a:r>
            <a:r>
              <a:rPr lang="en-US" dirty="0"/>
              <a:t>: 15 }, "</a:t>
            </a:r>
            <a:r>
              <a:rPr lang="en-US" dirty="0" err="1"/>
              <a:t>size.uom</a:t>
            </a:r>
            <a:r>
              <a:rPr lang="en-US" dirty="0"/>
              <a:t>": "in", status: "D" } )</a:t>
            </a:r>
          </a:p>
        </p:txBody>
      </p:sp>
    </p:spTree>
    <p:extLst>
      <p:ext uri="{BB962C8B-B14F-4D97-AF65-F5344CB8AC3E}">
        <p14:creationId xmlns:p14="http://schemas.microsoft.com/office/powerpoint/2010/main" val="2955653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specify a query condition on fields in an embedded document, use the dot notation ("</a:t>
            </a:r>
            <a:r>
              <a:rPr lang="en-US" dirty="0" err="1"/>
              <a:t>field.nestedField</a:t>
            </a:r>
            <a:r>
              <a:rPr lang="en-US" dirty="0"/>
              <a:t>").</a:t>
            </a:r>
          </a:p>
          <a:p>
            <a:r>
              <a:rPr lang="en-US" dirty="0"/>
              <a:t>The following example selects all documents where the field </a:t>
            </a:r>
            <a:r>
              <a:rPr lang="en-US" dirty="0" err="1"/>
              <a:t>uom</a:t>
            </a:r>
            <a:r>
              <a:rPr lang="en-US" dirty="0"/>
              <a:t> nested in the size field equals "in":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"</a:t>
            </a:r>
            <a:r>
              <a:rPr lang="en-US" dirty="0" err="1"/>
              <a:t>size.uom</a:t>
            </a:r>
            <a:r>
              <a:rPr lang="en-US" dirty="0"/>
              <a:t>": "in" }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following query uses the less than operator ($</a:t>
            </a:r>
            <a:r>
              <a:rPr lang="en-US" dirty="0" err="1"/>
              <a:t>lt</a:t>
            </a:r>
            <a:r>
              <a:rPr lang="en-US" dirty="0"/>
              <a:t>) on the field h embedded in the size field: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{ "</a:t>
            </a:r>
            <a:r>
              <a:rPr lang="en-US" dirty="0" err="1"/>
              <a:t>size.h</a:t>
            </a:r>
            <a:r>
              <a:rPr lang="en-US" dirty="0"/>
              <a:t>": { $</a:t>
            </a:r>
            <a:r>
              <a:rPr lang="en-US" dirty="0" err="1"/>
              <a:t>lt</a:t>
            </a:r>
            <a:r>
              <a:rPr lang="en-US" dirty="0"/>
              <a:t>: 15 } } )</a:t>
            </a:r>
          </a:p>
        </p:txBody>
      </p:sp>
    </p:spTree>
    <p:extLst>
      <p:ext uri="{BB962C8B-B14F-4D97-AF65-F5344CB8AC3E}">
        <p14:creationId xmlns:p14="http://schemas.microsoft.com/office/powerpoint/2010/main" val="11264708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selects all documents where the nested field h is less than 15, the nested field </a:t>
            </a:r>
            <a:r>
              <a:rPr lang="en-US" dirty="0" err="1"/>
              <a:t>uom</a:t>
            </a:r>
            <a:r>
              <a:rPr lang="en-US" dirty="0"/>
              <a:t> equals "in", and the status field equals "D":</a:t>
            </a:r>
          </a:p>
          <a:p>
            <a:pPr marL="0" indent="0">
              <a:buNone/>
            </a:pPr>
            <a:r>
              <a:rPr lang="en-US" dirty="0" err="1"/>
              <a:t>db.inventory.find</a:t>
            </a:r>
            <a:r>
              <a:rPr lang="en-US" dirty="0"/>
              <a:t>( </a:t>
            </a:r>
          </a:p>
          <a:p>
            <a:pPr marL="0" indent="0">
              <a:buNone/>
            </a:pPr>
            <a:r>
              <a:rPr lang="en-US" dirty="0"/>
              <a:t>    { "</a:t>
            </a:r>
            <a:r>
              <a:rPr lang="en-US" dirty="0" err="1"/>
              <a:t>size.h</a:t>
            </a:r>
            <a:r>
              <a:rPr lang="en-US" dirty="0"/>
              <a:t>": { $</a:t>
            </a:r>
            <a:r>
              <a:rPr lang="en-US" dirty="0" err="1"/>
              <a:t>lt</a:t>
            </a:r>
            <a:r>
              <a:rPr lang="en-US" dirty="0"/>
              <a:t>: 15 }, "</a:t>
            </a:r>
            <a:r>
              <a:rPr lang="en-US" dirty="0" err="1"/>
              <a:t>size.uom</a:t>
            </a:r>
            <a:r>
              <a:rPr lang="en-US" dirty="0"/>
              <a:t>": "in", status: "D" }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558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349-4D45-994A-A055-ED6583AD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–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32C61-6D10-1744-BDD2-F1513A0A0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Indexes support the efficient execution of queries in MongoDB</a:t>
            </a:r>
          </a:p>
          <a:p>
            <a:r>
              <a:rPr lang="en-US" dirty="0"/>
              <a:t>Without indexes, MongoDB must perform a </a:t>
            </a:r>
            <a:r>
              <a:rPr lang="en-US" i="1" dirty="0"/>
              <a:t>collection scan</a:t>
            </a:r>
            <a:r>
              <a:rPr lang="en-US" dirty="0"/>
              <a:t>, i.e. scan every document in a collection, to select those documents that match the query statement</a:t>
            </a:r>
          </a:p>
          <a:p>
            <a:r>
              <a:rPr lang="en-US" dirty="0"/>
              <a:t>If an appropriate index exists for a query, MongoDB can use the index to limit the number of documents it must inspect</a:t>
            </a:r>
          </a:p>
          <a:p>
            <a:r>
              <a:rPr lang="en-US" dirty="0"/>
              <a:t>MongoDB automatically creates a unique index on the _id field during the creation of a collection</a:t>
            </a:r>
          </a:p>
          <a:p>
            <a:pPr lvl="1"/>
            <a:r>
              <a:rPr lang="en-US" dirty="0"/>
              <a:t>The _id index prevents clients from inserting two documents with the same value for the _id field</a:t>
            </a:r>
          </a:p>
          <a:p>
            <a:pPr lvl="1"/>
            <a:r>
              <a:rPr lang="en-US" dirty="0"/>
              <a:t>You cannot drop this index on the _id field</a:t>
            </a:r>
          </a:p>
        </p:txBody>
      </p:sp>
    </p:spTree>
    <p:extLst>
      <p:ext uri="{BB962C8B-B14F-4D97-AF65-F5344CB8AC3E}">
        <p14:creationId xmlns:p14="http://schemas.microsoft.com/office/powerpoint/2010/main" val="1388554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A2D4-597E-794C-B22E-840447E6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–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17FF-FD9B-B945-A3E6-F76184D42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create an index in the Mongo Shell, use </a:t>
            </a:r>
          </a:p>
          <a:p>
            <a:pPr marL="274320" lvl="1" indent="0">
              <a:buNone/>
            </a:pPr>
            <a:r>
              <a:rPr lang="en-US" dirty="0" err="1"/>
              <a:t>db.collection.createIndex</a:t>
            </a:r>
            <a:r>
              <a:rPr lang="en-US" dirty="0"/>
              <a:t>()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The following examples creates a single key index on the ’name’ field</a:t>
            </a:r>
          </a:p>
          <a:p>
            <a:pPr marL="274320" lvl="1" indent="0">
              <a:buNone/>
            </a:pPr>
            <a:r>
              <a:rPr lang="en-US" dirty="0" err="1"/>
              <a:t>db.collection.createIndex</a:t>
            </a:r>
            <a:r>
              <a:rPr lang="en-US" dirty="0"/>
              <a:t>( { name: -1 } )    &lt;= descending index</a:t>
            </a:r>
          </a:p>
          <a:p>
            <a:pPr marL="274320" lvl="1" indent="0">
              <a:buNone/>
            </a:pPr>
            <a:r>
              <a:rPr lang="en-US" dirty="0" err="1"/>
              <a:t>db.collection.createIndex</a:t>
            </a:r>
            <a:r>
              <a:rPr lang="en-US" dirty="0"/>
              <a:t>( { name: 1 } )     &lt;= ascending index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For a single-field index operations, the sort order (i.e. ascending or descending) of the index key does not matter</a:t>
            </a:r>
          </a:p>
          <a:p>
            <a:pPr lvl="1"/>
            <a:r>
              <a:rPr lang="en-US" dirty="0"/>
              <a:t>Because MongoDB can traverse the index in either direction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3748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E696-741C-7A4D-AE36-826982CD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–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2E450-4058-2941-9F9B-D3C95A75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of fields listed in a compound index has significance</a:t>
            </a:r>
          </a:p>
          <a:p>
            <a:r>
              <a:rPr lang="en-US" dirty="0"/>
              <a:t>For instance, if a compound index is defined </a:t>
            </a:r>
            <a:r>
              <a:rPr lang="en-US"/>
              <a:t>as follows</a:t>
            </a:r>
            <a:endParaRPr lang="en-US" dirty="0"/>
          </a:p>
          <a:p>
            <a:pPr marL="274320" lvl="1" indent="0">
              <a:buNone/>
            </a:pPr>
            <a:r>
              <a:rPr lang="en-US" dirty="0" err="1"/>
              <a:t>db.collection.createIndex</a:t>
            </a:r>
            <a:r>
              <a:rPr lang="en-US" dirty="0"/>
              <a:t>({ </a:t>
            </a:r>
            <a:r>
              <a:rPr lang="en-US" dirty="0" err="1"/>
              <a:t>userid</a:t>
            </a:r>
            <a:r>
              <a:rPr lang="en-US" dirty="0"/>
              <a:t>: 1, score: -1 })</a:t>
            </a:r>
          </a:p>
          <a:p>
            <a:r>
              <a:rPr lang="en-US" dirty="0"/>
              <a:t>The index sorts first by </a:t>
            </a:r>
            <a:r>
              <a:rPr lang="en-US" dirty="0" err="1"/>
              <a:t>userid</a:t>
            </a:r>
            <a:r>
              <a:rPr lang="en-US" dirty="0"/>
              <a:t> and then, within each </a:t>
            </a:r>
            <a:r>
              <a:rPr lang="en-US" dirty="0" err="1"/>
              <a:t>userid</a:t>
            </a:r>
            <a:r>
              <a:rPr lang="en-US" dirty="0"/>
              <a:t> value, sorts descending by score</a:t>
            </a:r>
          </a:p>
        </p:txBody>
      </p:sp>
    </p:spTree>
    <p:extLst>
      <p:ext uri="{BB962C8B-B14F-4D97-AF65-F5344CB8AC3E}">
        <p14:creationId xmlns:p14="http://schemas.microsoft.com/office/powerpoint/2010/main" val="3159934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database returns results from find using a </a:t>
            </a:r>
            <a:r>
              <a:rPr lang="en-US" i="1" dirty="0"/>
              <a:t>cursor</a:t>
            </a:r>
            <a:endParaRPr lang="en-US" dirty="0"/>
          </a:p>
          <a:p>
            <a:r>
              <a:rPr lang="en-US" dirty="0"/>
              <a:t>The client-side implementations of cursors generally allow you to control a great deal about the eventual output of a query</a:t>
            </a:r>
          </a:p>
          <a:p>
            <a:pPr lvl="1"/>
            <a:r>
              <a:rPr lang="en-US" dirty="0"/>
              <a:t>You can limit the number of results</a:t>
            </a:r>
          </a:p>
          <a:p>
            <a:pPr lvl="1"/>
            <a:r>
              <a:rPr lang="en-US" dirty="0"/>
              <a:t>Skip over some number of results</a:t>
            </a:r>
          </a:p>
          <a:p>
            <a:pPr lvl="1"/>
            <a:r>
              <a:rPr lang="en-US" dirty="0"/>
              <a:t>Sort results by any combination of keys in any direction</a:t>
            </a:r>
          </a:p>
          <a:p>
            <a:pPr lvl="1"/>
            <a:r>
              <a:rPr lang="en-US" dirty="0"/>
              <a:t>Perform a number of other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038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cursor with the shell, put some documents into a collection, do a query on them, and assign the results to a local variable (variables defined with "</a:t>
            </a:r>
            <a:r>
              <a:rPr lang="en-US" dirty="0" err="1"/>
              <a:t>var</a:t>
            </a:r>
            <a:r>
              <a:rPr lang="en-US" dirty="0"/>
              <a:t>" are local)</a:t>
            </a:r>
          </a:p>
          <a:p>
            <a:r>
              <a:rPr lang="en-US" dirty="0"/>
              <a:t>Here, we create a very simple collection and query it, storing the results in the cursor variable: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 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&lt;100;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... </a:t>
            </a:r>
            <a:r>
              <a:rPr lang="en-US" dirty="0" err="1"/>
              <a:t>db.collection.insert</a:t>
            </a:r>
            <a:r>
              <a:rPr lang="en-US" dirty="0"/>
              <a:t>({x : </a:t>
            </a:r>
            <a:r>
              <a:rPr lang="en-US" dirty="0" err="1"/>
              <a:t>i</a:t>
            </a: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... }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var</a:t>
            </a:r>
            <a:r>
              <a:rPr lang="en-US" dirty="0"/>
              <a:t> cursor = </a:t>
            </a:r>
            <a:r>
              <a:rPr lang="en-US" dirty="0" err="1"/>
              <a:t>db.collection.find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9120173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iterate through the results, you can use the ‘next’ method</a:t>
            </a:r>
          </a:p>
          <a:p>
            <a:r>
              <a:rPr lang="en-US" dirty="0"/>
              <a:t>You can use the ‘</a:t>
            </a:r>
            <a:r>
              <a:rPr lang="en-US" dirty="0" err="1"/>
              <a:t>hasNext</a:t>
            </a:r>
            <a:r>
              <a:rPr lang="en-US" dirty="0"/>
              <a:t>’ method to check whether there is another result</a:t>
            </a:r>
          </a:p>
          <a:p>
            <a:r>
              <a:rPr lang="en-US" dirty="0"/>
              <a:t>A typical loop through results looks like the following: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/>
              <a:t>while </a:t>
            </a:r>
            <a:r>
              <a:rPr lang="en-US" dirty="0"/>
              <a:t>(</a:t>
            </a:r>
            <a:r>
              <a:rPr lang="en-US" dirty="0" err="1"/>
              <a:t>cursor.hasNext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... </a:t>
            </a:r>
            <a:r>
              <a:rPr lang="en-US" dirty="0" err="1"/>
              <a:t>obj</a:t>
            </a:r>
            <a:r>
              <a:rPr lang="en-US" dirty="0"/>
              <a:t> = </a:t>
            </a:r>
            <a:r>
              <a:rPr lang="en-US" dirty="0" err="1"/>
              <a:t>cursor.next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... </a:t>
            </a:r>
            <a:r>
              <a:rPr lang="en-US" i="1" dirty="0"/>
              <a:t>// do stuff</a:t>
            </a:r>
          </a:p>
          <a:p>
            <a:pPr marL="0" indent="0">
              <a:buNone/>
            </a:pPr>
            <a:r>
              <a:rPr lang="en-US" dirty="0"/>
              <a:t>...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cursor.hasNext</a:t>
            </a:r>
            <a:r>
              <a:rPr lang="en-US" dirty="0"/>
              <a:t>() checks that the next result exists, and </a:t>
            </a:r>
            <a:r>
              <a:rPr lang="en-US" dirty="0" err="1"/>
              <a:t>cursor.next</a:t>
            </a:r>
            <a:r>
              <a:rPr lang="en-US" dirty="0"/>
              <a:t>() fetches it</a:t>
            </a:r>
          </a:p>
        </p:txBody>
      </p:sp>
    </p:spTree>
    <p:extLst>
      <p:ext uri="{BB962C8B-B14F-4D97-AF65-F5344CB8AC3E}">
        <p14:creationId xmlns:p14="http://schemas.microsoft.com/office/powerpoint/2010/main" val="9548852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cursor class also implements JavaScript’s iterator interface, so you can use it in a </a:t>
            </a:r>
            <a:r>
              <a:rPr lang="en-US" dirty="0" err="1"/>
              <a:t>forEach</a:t>
            </a:r>
            <a:r>
              <a:rPr lang="en-US" dirty="0"/>
              <a:t> loop: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cursor = </a:t>
            </a:r>
            <a:r>
              <a:rPr lang="en-US" dirty="0" err="1"/>
              <a:t>db.people.find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cursor.forEach</a:t>
            </a:r>
            <a:r>
              <a:rPr lang="en-US" dirty="0"/>
              <a:t>(</a:t>
            </a:r>
            <a:r>
              <a:rPr lang="en-US" b="1" dirty="0"/>
              <a:t>function</a:t>
            </a:r>
            <a:r>
              <a:rPr lang="en-US" dirty="0"/>
              <a:t>(x) {</a:t>
            </a:r>
          </a:p>
          <a:p>
            <a:pPr marL="0" indent="0">
              <a:buNone/>
            </a:pPr>
            <a:r>
              <a:rPr lang="en-US" dirty="0"/>
              <a:t>... print(x.name);</a:t>
            </a:r>
          </a:p>
          <a:p>
            <a:pPr marL="0" indent="0">
              <a:buNone/>
            </a:pPr>
            <a:r>
              <a:rPr lang="en-US" dirty="0"/>
              <a:t>... 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623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call find, the shell does not query the database immediately</a:t>
            </a:r>
          </a:p>
          <a:p>
            <a:r>
              <a:rPr lang="en-US" dirty="0"/>
              <a:t>It waits until you start requesting results, which allows you to chain additional options onto a query before it is performed</a:t>
            </a:r>
          </a:p>
          <a:p>
            <a:r>
              <a:rPr lang="en-US" dirty="0"/>
              <a:t>Almost every method on a cursor object returns the cursor itself so that you can chain options in any order</a:t>
            </a:r>
          </a:p>
          <a:p>
            <a:r>
              <a:rPr lang="en-US" dirty="0"/>
              <a:t>For instance, all of the following are equivalent: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cursor = </a:t>
            </a:r>
            <a:r>
              <a:rPr lang="en-US" dirty="0" err="1"/>
              <a:t>db.foo.find</a:t>
            </a:r>
            <a:r>
              <a:rPr lang="en-US" dirty="0"/>
              <a:t>().sort({"x" : 1}).limit(1).skip(10);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cursor = </a:t>
            </a:r>
            <a:r>
              <a:rPr lang="en-US" dirty="0" err="1"/>
              <a:t>db.foo.find</a:t>
            </a:r>
            <a:r>
              <a:rPr lang="en-US" dirty="0"/>
              <a:t>().limit(1).sort({"x" : 1}).skip(10);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cursor = </a:t>
            </a:r>
            <a:r>
              <a:rPr lang="en-US" dirty="0" err="1"/>
              <a:t>db.foo.find</a:t>
            </a:r>
            <a:r>
              <a:rPr lang="en-US" dirty="0"/>
              <a:t>().skip(10).limit(1).sort({"x" : 1});</a:t>
            </a:r>
          </a:p>
        </p:txBody>
      </p:sp>
    </p:spTree>
    <p:extLst>
      <p:ext uri="{BB962C8B-B14F-4D97-AF65-F5344CB8AC3E}">
        <p14:creationId xmlns:p14="http://schemas.microsoft.com/office/powerpoint/2010/main" val="595060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At this point, the query has not been executed yet</a:t>
            </a:r>
          </a:p>
          <a:p>
            <a:r>
              <a:rPr lang="en-US" dirty="0"/>
              <a:t>All of these functions merely build the query</a:t>
            </a:r>
          </a:p>
          <a:p>
            <a:r>
              <a:rPr lang="en-US" dirty="0"/>
              <a:t>Now, suppose we call the following: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cursor.hasNext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At this point, the query will be sent to the server</a:t>
            </a:r>
          </a:p>
          <a:p>
            <a:r>
              <a:rPr lang="en-US" dirty="0"/>
              <a:t>The shell fetches the first 100 results or first 4 MB of results (whichever is smaller) at once…</a:t>
            </a:r>
          </a:p>
          <a:p>
            <a:r>
              <a:rPr lang="en-US" dirty="0"/>
              <a:t>So that the next calls to next or </a:t>
            </a:r>
            <a:r>
              <a:rPr lang="en-US" dirty="0" err="1"/>
              <a:t>hasNext</a:t>
            </a:r>
            <a:r>
              <a:rPr lang="en-US" dirty="0"/>
              <a:t> will not have to make trips to the server</a:t>
            </a:r>
          </a:p>
          <a:p>
            <a:r>
              <a:rPr lang="en-US" dirty="0"/>
              <a:t>After the client has run through the first set of results, the shell will again contact the database and ask for more results</a:t>
            </a:r>
          </a:p>
        </p:txBody>
      </p:sp>
    </p:spTree>
    <p:extLst>
      <p:ext uri="{BB962C8B-B14F-4D97-AF65-F5344CB8AC3E}">
        <p14:creationId xmlns:p14="http://schemas.microsoft.com/office/powerpoint/2010/main" val="25005730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most common query options are limiting the number of results returned, skipping a number of results, and sorting</a:t>
            </a:r>
          </a:p>
          <a:p>
            <a:r>
              <a:rPr lang="en-US" dirty="0"/>
              <a:t>All these options must be added before a query is sent to the database</a:t>
            </a:r>
          </a:p>
          <a:p>
            <a:endParaRPr lang="en-US" dirty="0"/>
          </a:p>
          <a:p>
            <a:r>
              <a:rPr lang="en-US" dirty="0"/>
              <a:t>To set a limit, chain the limit function onto your call to find</a:t>
            </a:r>
          </a:p>
          <a:p>
            <a:r>
              <a:rPr lang="en-US" dirty="0"/>
              <a:t>For example, to only return three results, use this: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db.c.find</a:t>
            </a:r>
            <a:r>
              <a:rPr lang="en-US" dirty="0"/>
              <a:t>().limit(3)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there are fewer than three documents matching, only the number of matching documents will be returned</a:t>
            </a:r>
          </a:p>
        </p:txBody>
      </p:sp>
    </p:spTree>
    <p:extLst>
      <p:ext uri="{BB962C8B-B14F-4D97-AF65-F5344CB8AC3E}">
        <p14:creationId xmlns:p14="http://schemas.microsoft.com/office/powerpoint/2010/main" val="24867721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skip works similarly to limit: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db.c.find</a:t>
            </a:r>
            <a:r>
              <a:rPr lang="en-US" dirty="0"/>
              <a:t>().skip(3)</a:t>
            </a:r>
          </a:p>
          <a:p>
            <a:r>
              <a:rPr lang="en-US" dirty="0"/>
              <a:t>This will skip the first three matching documents and return the rest of the matches</a:t>
            </a:r>
          </a:p>
          <a:p>
            <a:r>
              <a:rPr lang="en-US" dirty="0"/>
              <a:t>If there are fewer than three documents in your collection, it will not return any documents</a:t>
            </a:r>
          </a:p>
        </p:txBody>
      </p:sp>
    </p:spTree>
    <p:extLst>
      <p:ext uri="{BB962C8B-B14F-4D97-AF65-F5344CB8AC3E}">
        <p14:creationId xmlns:p14="http://schemas.microsoft.com/office/powerpoint/2010/main" val="37591701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Read | 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 takes an object: a set of key/value pairs where the keys are key names and the values are sort directions </a:t>
            </a:r>
          </a:p>
          <a:p>
            <a:r>
              <a:rPr lang="en-US" dirty="0"/>
              <a:t>Sort direction can be 1 (ascending) or −1 (descending)</a:t>
            </a:r>
          </a:p>
          <a:p>
            <a:r>
              <a:rPr lang="en-US" dirty="0"/>
              <a:t>If multiple keys are given, the results will be sorted in that order</a:t>
            </a:r>
          </a:p>
          <a:p>
            <a:r>
              <a:rPr lang="en-US" dirty="0"/>
              <a:t>For instance, to sort the results by "username" ascending and "age" descending, we do the following: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db.c.find</a:t>
            </a:r>
            <a:r>
              <a:rPr lang="en-US" dirty="0"/>
              <a:t>().sort({username : 1, age : -1})</a:t>
            </a:r>
          </a:p>
        </p:txBody>
      </p:sp>
    </p:spTree>
    <p:extLst>
      <p:ext uri="{BB962C8B-B14F-4D97-AF65-F5344CB8AC3E}">
        <p14:creationId xmlns:p14="http://schemas.microsoft.com/office/powerpoint/2010/main" val="7796222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operations modify existing documents in a collection</a:t>
            </a:r>
          </a:p>
          <a:p>
            <a:r>
              <a:rPr lang="en-US" dirty="0"/>
              <a:t>MongoDB provides the following update methods</a:t>
            </a:r>
          </a:p>
          <a:p>
            <a:pPr marL="0" indent="0">
              <a:buNone/>
            </a:pPr>
            <a:r>
              <a:rPr lang="en-US" sz="2000" dirty="0" err="1"/>
              <a:t>db.collection.updateOne</a:t>
            </a:r>
            <a:r>
              <a:rPr lang="en-US" sz="2000" dirty="0"/>
              <a:t>(&lt;filter&gt;, &lt;update&gt;, &lt;options&gt;)</a:t>
            </a:r>
          </a:p>
          <a:p>
            <a:pPr marL="0" indent="0">
              <a:buNone/>
            </a:pPr>
            <a:r>
              <a:rPr lang="en-US" sz="2000" dirty="0" err="1"/>
              <a:t>db.collection.updateMany</a:t>
            </a:r>
            <a:r>
              <a:rPr lang="en-US" sz="2000" dirty="0"/>
              <a:t>(&lt;filter&gt;, &lt;update&gt;, &lt;options&gt;)</a:t>
            </a:r>
          </a:p>
          <a:p>
            <a:pPr marL="0" indent="0">
              <a:buNone/>
            </a:pPr>
            <a:r>
              <a:rPr lang="en-US" sz="2000" dirty="0" err="1"/>
              <a:t>db.collection.replaceOne</a:t>
            </a:r>
            <a:r>
              <a:rPr lang="en-US" sz="2000" dirty="0"/>
              <a:t>(&lt;filter&gt;, &lt;replacement&gt;, &lt;options&gt;)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MongoDB, update operations target a single collection</a:t>
            </a:r>
          </a:p>
          <a:p>
            <a:r>
              <a:rPr lang="en-US" dirty="0"/>
              <a:t>Write operations in MongoDB are atomic </a:t>
            </a:r>
            <a:r>
              <a:rPr lang="en-US" u="sng" dirty="0"/>
              <a:t>on the level of a single document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591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specify criteria, or filters, that identify the documents to update</a:t>
            </a:r>
          </a:p>
          <a:p>
            <a:r>
              <a:rPr lang="en-US" dirty="0"/>
              <a:t>These filters use the same syntax as read operations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utoShape 4" descr="The components of a MongoDB updateMany opera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6" y="3352800"/>
            <a:ext cx="7596554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6651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update a document, MongoDB provides update operators, such as $set, to modify field values</a:t>
            </a:r>
          </a:p>
          <a:p>
            <a:r>
              <a:rPr lang="en-US" dirty="0"/>
              <a:t>To use the update operators, pass to the update methods an update document of the form: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274320" lvl="1" indent="0">
              <a:buNone/>
            </a:pPr>
            <a:r>
              <a:rPr lang="en-US" sz="2400" dirty="0"/>
              <a:t>&lt;update operator&gt;: { &lt;field1&gt;: &lt;value1&gt;, ... }, </a:t>
            </a:r>
          </a:p>
          <a:p>
            <a:pPr marL="274320" lvl="1" indent="0">
              <a:buNone/>
            </a:pPr>
            <a:r>
              <a:rPr lang="en-US" sz="2400" dirty="0"/>
              <a:t>&lt;update operator&gt;: { &lt;field2&gt;: &lt;value2&gt;, ... }, </a:t>
            </a:r>
          </a:p>
          <a:p>
            <a:pPr marL="0" indent="0">
              <a:buNone/>
            </a:pPr>
            <a:r>
              <a:rPr lang="en-US" dirty="0"/>
              <a:t>... }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Some update operators, such as $set, will create the field if the field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25830062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/>
              <a:t>The following uses the </a:t>
            </a:r>
            <a:r>
              <a:rPr lang="en-US" sz="2200" dirty="0" err="1"/>
              <a:t>db.collection.updateOne</a:t>
            </a:r>
            <a:r>
              <a:rPr lang="en-US" sz="2200" dirty="0"/>
              <a:t>() method on the inventory collection to update the </a:t>
            </a:r>
            <a:r>
              <a:rPr lang="en-US" sz="2200" i="1" dirty="0"/>
              <a:t>first</a:t>
            </a:r>
            <a:r>
              <a:rPr lang="en-US" sz="2200" dirty="0"/>
              <a:t> document where item equals "paper":</a:t>
            </a:r>
          </a:p>
          <a:p>
            <a:pPr algn="just"/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db.inventory.updateOne</a:t>
            </a:r>
            <a:r>
              <a:rPr lang="en-US" sz="2200" dirty="0"/>
              <a:t>(</a:t>
            </a:r>
          </a:p>
          <a:p>
            <a:pPr marL="0" indent="0">
              <a:buNone/>
            </a:pPr>
            <a:r>
              <a:rPr lang="en-US" sz="2200" dirty="0"/>
              <a:t>   { item: "paper" },              </a:t>
            </a:r>
            <a:r>
              <a:rPr lang="en-US" sz="2200" dirty="0">
                <a:sym typeface="Wingdings" panose="05000000000000000000" pitchFamily="2" charset="2"/>
              </a:rPr>
              <a:t> update filter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{</a:t>
            </a:r>
          </a:p>
          <a:p>
            <a:pPr marL="0" indent="0">
              <a:buNone/>
            </a:pPr>
            <a:r>
              <a:rPr lang="en-US" sz="2200" dirty="0"/>
              <a:t>     $set: { "</a:t>
            </a:r>
            <a:r>
              <a:rPr lang="en-US" sz="2200" dirty="0" err="1"/>
              <a:t>size.uom</a:t>
            </a:r>
            <a:r>
              <a:rPr lang="en-US" sz="2200" dirty="0"/>
              <a:t>": "cm", status: "P" },     </a:t>
            </a:r>
            <a:r>
              <a:rPr lang="en-US" sz="2200" dirty="0">
                <a:sym typeface="Wingdings" panose="05000000000000000000" pitchFamily="2" charset="2"/>
              </a:rPr>
              <a:t> update action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$</a:t>
            </a:r>
            <a:r>
              <a:rPr lang="en-US" sz="2200" dirty="0" err="1"/>
              <a:t>currentDate</a:t>
            </a:r>
            <a:r>
              <a:rPr lang="en-US" sz="2200" dirty="0"/>
              <a:t>: { </a:t>
            </a:r>
            <a:r>
              <a:rPr lang="en-US" sz="2200" dirty="0" err="1"/>
              <a:t>lastModified</a:t>
            </a:r>
            <a:r>
              <a:rPr lang="en-US" sz="2200" dirty="0"/>
              <a:t>: true }</a:t>
            </a:r>
          </a:p>
          <a:p>
            <a:pPr marL="0" indent="0">
              <a:buNone/>
            </a:pPr>
            <a:r>
              <a:rPr lang="en-US" sz="2200" dirty="0"/>
              <a:t>   }</a:t>
            </a:r>
          </a:p>
          <a:p>
            <a:pPr marL="0" indent="0">
              <a:buNone/>
            </a:pPr>
            <a:r>
              <a:rPr lang="en-US" sz="2200" dirty="0"/>
              <a:t>)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Uses  $set operator to update value of the </a:t>
            </a:r>
            <a:r>
              <a:rPr lang="en-US" sz="2200" dirty="0" err="1"/>
              <a:t>size.uom</a:t>
            </a:r>
            <a:r>
              <a:rPr lang="en-US" sz="2200" dirty="0"/>
              <a:t> field to "cm" and value of the status field to "P",</a:t>
            </a:r>
          </a:p>
          <a:p>
            <a:r>
              <a:rPr lang="en-US" sz="2200" dirty="0"/>
              <a:t>Uses  $</a:t>
            </a:r>
            <a:r>
              <a:rPr lang="en-US" sz="2200" dirty="0" err="1"/>
              <a:t>currentDate</a:t>
            </a:r>
            <a:r>
              <a:rPr lang="en-US" sz="2200" dirty="0"/>
              <a:t> operator to update value of the </a:t>
            </a:r>
            <a:r>
              <a:rPr lang="en-US" sz="2200" dirty="0" err="1"/>
              <a:t>lastModified</a:t>
            </a:r>
            <a:r>
              <a:rPr lang="en-US" sz="2200" dirty="0"/>
              <a:t> field to the current date</a:t>
            </a:r>
          </a:p>
          <a:p>
            <a:r>
              <a:rPr lang="en-US" sz="2200" dirty="0"/>
              <a:t>If </a:t>
            </a:r>
            <a:r>
              <a:rPr lang="en-US" sz="2200" dirty="0" err="1"/>
              <a:t>lastModified</a:t>
            </a:r>
            <a:r>
              <a:rPr lang="en-US" sz="2200" dirty="0"/>
              <a:t> field does not exist, $</a:t>
            </a:r>
            <a:r>
              <a:rPr lang="en-US" sz="2200" dirty="0" err="1"/>
              <a:t>currentDate</a:t>
            </a:r>
            <a:r>
              <a:rPr lang="en-US" sz="2200" dirty="0"/>
              <a:t> will create the field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509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uses the </a:t>
            </a:r>
            <a:r>
              <a:rPr lang="en-US" dirty="0" err="1"/>
              <a:t>db.collection.updateMany</a:t>
            </a:r>
            <a:r>
              <a:rPr lang="en-US" dirty="0"/>
              <a:t>() method on the inventory collection to update all documents where </a:t>
            </a:r>
            <a:r>
              <a:rPr lang="en-US" dirty="0" err="1"/>
              <a:t>qty</a:t>
            </a:r>
            <a:r>
              <a:rPr lang="en-US" dirty="0"/>
              <a:t> is less than 50: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db.inventory.updateMany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{ "</a:t>
            </a:r>
            <a:r>
              <a:rPr lang="en-US" dirty="0" err="1"/>
              <a:t>qty</a:t>
            </a:r>
            <a:r>
              <a:rPr lang="en-US" dirty="0"/>
              <a:t>": { $</a:t>
            </a:r>
            <a:r>
              <a:rPr lang="en-US" dirty="0" err="1"/>
              <a:t>lt</a:t>
            </a:r>
            <a:r>
              <a:rPr lang="en-US" dirty="0"/>
              <a:t>: 50 } },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$set: { "</a:t>
            </a:r>
            <a:r>
              <a:rPr lang="en-US" dirty="0" err="1"/>
              <a:t>size.uom</a:t>
            </a:r>
            <a:r>
              <a:rPr lang="en-US" dirty="0"/>
              <a:t>": "in", status: "P" },</a:t>
            </a:r>
          </a:p>
          <a:p>
            <a:pPr marL="0" indent="0">
              <a:buNone/>
            </a:pPr>
            <a:r>
              <a:rPr lang="en-US" dirty="0"/>
              <a:t>     $</a:t>
            </a:r>
            <a:r>
              <a:rPr lang="en-US" dirty="0" err="1"/>
              <a:t>currentDate</a:t>
            </a:r>
            <a:r>
              <a:rPr lang="en-US" dirty="0"/>
              <a:t>: { </a:t>
            </a:r>
            <a:r>
              <a:rPr lang="en-US" dirty="0" err="1"/>
              <a:t>lastModified</a:t>
            </a:r>
            <a:r>
              <a:rPr lang="en-US" dirty="0"/>
              <a:t>: true }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61823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replace the entire content of a document except for the _id field, pass an entirely new document as the second argument to </a:t>
            </a:r>
            <a:r>
              <a:rPr lang="en-US" dirty="0" err="1"/>
              <a:t>db.collection.replaceOne</a:t>
            </a:r>
            <a:r>
              <a:rPr lang="en-US" dirty="0"/>
              <a:t>()</a:t>
            </a:r>
          </a:p>
          <a:p>
            <a:r>
              <a:rPr lang="en-US" dirty="0"/>
              <a:t>The replacement document can have different fields from the original document</a:t>
            </a:r>
          </a:p>
        </p:txBody>
      </p:sp>
    </p:spTree>
    <p:extLst>
      <p:ext uri="{BB962C8B-B14F-4D97-AF65-F5344CB8AC3E}">
        <p14:creationId xmlns:p14="http://schemas.microsoft.com/office/powerpoint/2010/main" val="8800688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example replaces the </a:t>
            </a:r>
            <a:r>
              <a:rPr lang="en-US" i="1" dirty="0"/>
              <a:t>first</a:t>
            </a:r>
            <a:r>
              <a:rPr lang="en-US" dirty="0"/>
              <a:t> document from the inventory collection that matches the filter item equals "paper":</a:t>
            </a:r>
          </a:p>
          <a:p>
            <a:pPr marL="0" indent="0">
              <a:buNone/>
            </a:pPr>
            <a:r>
              <a:rPr lang="en-US" sz="2000" dirty="0" err="1"/>
              <a:t>db.inventory.replaceOne</a:t>
            </a:r>
            <a:r>
              <a:rPr lang="en-US" sz="2000" dirty="0"/>
              <a:t>(</a:t>
            </a:r>
          </a:p>
          <a:p>
            <a:pPr marL="0" indent="0">
              <a:buNone/>
            </a:pPr>
            <a:r>
              <a:rPr lang="en-US" sz="2000" dirty="0"/>
              <a:t>   { item: "paper" },</a:t>
            </a:r>
          </a:p>
          <a:p>
            <a:pPr marL="0" indent="0">
              <a:buNone/>
            </a:pPr>
            <a:r>
              <a:rPr lang="en-US" sz="2000" dirty="0"/>
              <a:t>   { item: "paper", 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en-US" sz="2000" dirty="0" err="1"/>
              <a:t>instock</a:t>
            </a:r>
            <a:r>
              <a:rPr lang="en-US" sz="2000" dirty="0"/>
              <a:t>: [ { warehouse: "A", </a:t>
            </a:r>
            <a:r>
              <a:rPr lang="en-US" sz="2000" dirty="0" err="1"/>
              <a:t>qty</a:t>
            </a:r>
            <a:r>
              <a:rPr lang="en-US" sz="2000" dirty="0"/>
              <a:t>: 60 }, { warehouse: "B", </a:t>
            </a:r>
            <a:r>
              <a:rPr lang="en-US" sz="2000" dirty="0" err="1"/>
              <a:t>qty</a:t>
            </a:r>
            <a:r>
              <a:rPr lang="en-US" sz="2000" dirty="0"/>
              <a:t>: 40 } ] }</a:t>
            </a:r>
          </a:p>
          <a:p>
            <a:pPr marL="0" indent="0">
              <a:buNone/>
            </a:pP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65154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To remove all documents from a collection pass an empty filter document {} to the </a:t>
            </a:r>
            <a:r>
              <a:rPr lang="en-US" sz="2200" dirty="0" err="1"/>
              <a:t>db.collection.deleteMany</a:t>
            </a:r>
            <a:r>
              <a:rPr lang="en-US" sz="2200" dirty="0"/>
              <a:t>() method</a:t>
            </a:r>
          </a:p>
          <a:p>
            <a:r>
              <a:rPr lang="en-US" sz="2200" dirty="0"/>
              <a:t>The following example deletes </a:t>
            </a:r>
            <a:r>
              <a:rPr lang="en-US" sz="2200" i="1" dirty="0"/>
              <a:t>all</a:t>
            </a:r>
            <a:r>
              <a:rPr lang="en-US" sz="2200" dirty="0"/>
              <a:t> documents from the inventory collection:</a:t>
            </a:r>
          </a:p>
          <a:p>
            <a:pPr marL="0" indent="0">
              <a:buNone/>
            </a:pPr>
            <a:r>
              <a:rPr lang="en-US" sz="2200" dirty="0" err="1"/>
              <a:t>db.inventory.deleteMany</a:t>
            </a:r>
            <a:r>
              <a:rPr lang="en-US" sz="2200" dirty="0"/>
              <a:t>({})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3017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specify criteria, or filters, that identify the documents to delete</a:t>
            </a:r>
          </a:p>
          <a:p>
            <a:r>
              <a:rPr lang="en-US" dirty="0"/>
              <a:t>The filters use the same syntax as read operations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following example removes all documents from the inventory collection where the status field equals "A":</a:t>
            </a:r>
          </a:p>
          <a:p>
            <a:pPr marL="0" indent="0">
              <a:buNone/>
            </a:pPr>
            <a:r>
              <a:rPr lang="en-US" dirty="0" err="1"/>
              <a:t>db.inventory.deleteMany</a:t>
            </a:r>
            <a:r>
              <a:rPr lang="en-US" dirty="0"/>
              <a:t>({ status : "A" })</a:t>
            </a:r>
          </a:p>
        </p:txBody>
      </p:sp>
    </p:spTree>
    <p:extLst>
      <p:ext uri="{BB962C8B-B14F-4D97-AF65-F5344CB8AC3E}">
        <p14:creationId xmlns:p14="http://schemas.microsoft.com/office/powerpoint/2010/main" val="2857667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Methods |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To delete at most a single document that matches a specified filter (even though multiple documents may match the specified filter) use the </a:t>
            </a:r>
            <a:r>
              <a:rPr lang="en-US" sz="2200" dirty="0" err="1"/>
              <a:t>db.collection.deleteOne</a:t>
            </a:r>
            <a:r>
              <a:rPr lang="en-US" sz="2200" dirty="0"/>
              <a:t>() method</a:t>
            </a:r>
          </a:p>
          <a:p>
            <a:endParaRPr lang="en-US" sz="2200" dirty="0"/>
          </a:p>
          <a:p>
            <a:r>
              <a:rPr lang="en-US" sz="2200" dirty="0"/>
              <a:t>The following example deletes the </a:t>
            </a:r>
            <a:r>
              <a:rPr lang="en-US" sz="2200" i="1" dirty="0"/>
              <a:t>first</a:t>
            </a:r>
            <a:r>
              <a:rPr lang="en-US" sz="2200" dirty="0"/>
              <a:t> document where the status is "D“</a:t>
            </a:r>
          </a:p>
          <a:p>
            <a:pPr marL="0" indent="0">
              <a:buNone/>
            </a:pPr>
            <a:r>
              <a:rPr lang="en-US" dirty="0" err="1"/>
              <a:t>db.inventory.deleteOne</a:t>
            </a:r>
            <a:r>
              <a:rPr lang="en-US" dirty="0"/>
              <a:t>( { status: "D" } )</a:t>
            </a:r>
          </a:p>
        </p:txBody>
      </p:sp>
    </p:spTree>
    <p:extLst>
      <p:ext uri="{BB962C8B-B14F-4D97-AF65-F5344CB8AC3E}">
        <p14:creationId xmlns:p14="http://schemas.microsoft.com/office/powerpoint/2010/main" val="31012803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to MongoDB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658721"/>
              </p:ext>
            </p:extLst>
          </p:nvPr>
        </p:nvGraphicFramePr>
        <p:xfrm>
          <a:off x="457200" y="2039302"/>
          <a:ext cx="8229600" cy="4272915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SQL SELECT Statements</a:t>
                      </a:r>
                    </a:p>
                  </a:txBody>
                  <a:tcPr marL="47625" marR="47625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MongoDB find() Statements</a:t>
                      </a:r>
                    </a:p>
                  </a:txBody>
                  <a:tcPr marL="47625" marR="47625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>
                          <a:effectLst/>
                        </a:rPr>
                        <a:t> people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db.people.find()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>
                          <a:effectLst/>
                        </a:rPr>
                        <a:t> id, user_id, status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>
                          <a:effectLst/>
                        </a:rPr>
                        <a:t> people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db.people.find( { }, { user_id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>
                          <a:effectLst/>
                        </a:rPr>
                        <a:t>, status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>
                          <a:effectLst/>
                        </a:rPr>
                        <a:t> } )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>
                          <a:effectLst/>
                        </a:rPr>
                        <a:t> user_id, status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>
                          <a:effectLst/>
                        </a:rPr>
                        <a:t> people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db.people.find( { }, { user_id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>
                          <a:effectLst/>
                        </a:rPr>
                        <a:t>, status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>
                          <a:effectLst/>
                        </a:rPr>
                        <a:t>, _id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0</a:t>
                      </a:r>
                      <a:r>
                        <a:rPr lang="en-US">
                          <a:effectLst/>
                        </a:rPr>
                        <a:t> } )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>
                          <a:effectLst/>
                        </a:rPr>
                        <a:t> people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>
                          <a:effectLst/>
                        </a:rPr>
                        <a:t> status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>
                          <a:effectLst/>
                        </a:rPr>
                        <a:t>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db.people.find( { status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>
                          <a:effectLst/>
                        </a:rPr>
                        <a:t> } )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>
                          <a:effectLst/>
                        </a:rPr>
                        <a:t> user_id, status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>
                          <a:effectLst/>
                        </a:rPr>
                        <a:t> people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>
                          <a:effectLst/>
                        </a:rPr>
                        <a:t> status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>
                          <a:effectLst/>
                        </a:rPr>
                        <a:t>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db.people.find</a:t>
                      </a:r>
                      <a:r>
                        <a:rPr lang="en-US" dirty="0">
                          <a:effectLst/>
                        </a:rPr>
                        <a:t>( { status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dirty="0">
                          <a:effectLst/>
                        </a:rPr>
                        <a:t> }, 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    { </a:t>
                      </a:r>
                      <a:r>
                        <a:rPr lang="en-US" dirty="0" err="1">
                          <a:effectLst/>
                        </a:rPr>
                        <a:t>user_id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 dirty="0">
                          <a:effectLst/>
                        </a:rPr>
                        <a:t>, status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 dirty="0">
                          <a:effectLst/>
                        </a:rPr>
                        <a:t>, _id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208050"/>
                          </a:solidFill>
                          <a:effectLst/>
                        </a:rPr>
                        <a:t>0</a:t>
                      </a:r>
                      <a:r>
                        <a:rPr lang="en-US" dirty="0">
                          <a:effectLst/>
                        </a:rPr>
                        <a:t> } )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073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to MongoDB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393930"/>
              </p:ext>
            </p:extLst>
          </p:nvPr>
        </p:nvGraphicFramePr>
        <p:xfrm>
          <a:off x="457200" y="1738624"/>
          <a:ext cx="8153402" cy="3047210"/>
        </p:xfrm>
        <a:graphic>
          <a:graphicData uri="http://schemas.openxmlformats.org/drawingml/2006/table">
            <a:tbl>
              <a:tblPr/>
              <a:tblGrid>
                <a:gridCol w="3581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 dirty="0">
                          <a:effectLst/>
                        </a:rPr>
                        <a:t> people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 dirty="0">
                          <a:effectLst/>
                        </a:rPr>
                        <a:t> status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!=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db.people.find( { status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>
                          <a:effectLst/>
                        </a:rPr>
                        <a:t> { $ne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sz="1600">
                          <a:effectLst/>
                        </a:rPr>
                        <a:t> }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 dirty="0">
                          <a:effectLst/>
                        </a:rPr>
                        <a:t> people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 dirty="0">
                          <a:effectLst/>
                        </a:rPr>
                        <a:t> status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AND</a:t>
                      </a:r>
                      <a:r>
                        <a:rPr lang="en-US" sz="1600" dirty="0">
                          <a:effectLst/>
                        </a:rPr>
                        <a:t> age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db.people.find( { status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sz="1600">
                          <a:effectLst/>
                        </a:rPr>
                        <a:t>, age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>
                          <a:effectLst/>
                        </a:rPr>
                        <a:t>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>
                          <a:effectLst/>
                        </a:rPr>
                        <a:t> people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>
                          <a:effectLst/>
                        </a:rPr>
                        <a:t> status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OR</a:t>
                      </a:r>
                      <a:r>
                        <a:rPr lang="en-US" sz="1600">
                          <a:effectLst/>
                        </a:rPr>
                        <a:t> age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$or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[ { status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} , { age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 dirty="0">
                          <a:effectLst/>
                        </a:rPr>
                        <a:t> } ]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>
                          <a:effectLst/>
                        </a:rPr>
                        <a:t> people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>
                          <a:effectLst/>
                        </a:rPr>
                        <a:t> age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&gt;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age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{ $</a:t>
                      </a:r>
                      <a:r>
                        <a:rPr lang="en-US" sz="1600" dirty="0" err="1">
                          <a:effectLst/>
                        </a:rPr>
                        <a:t>gt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 dirty="0">
                          <a:effectLst/>
                        </a:rPr>
                        <a:t> }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>
                          <a:effectLst/>
                        </a:rPr>
                        <a:t> people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>
                          <a:effectLst/>
                        </a:rPr>
                        <a:t> age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&lt;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age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{ $</a:t>
                      </a:r>
                      <a:r>
                        <a:rPr lang="en-US" sz="1600" dirty="0" err="1">
                          <a:effectLst/>
                        </a:rPr>
                        <a:t>lt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 dirty="0">
                          <a:effectLst/>
                        </a:rPr>
                        <a:t> }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2343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to MongoDB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514696"/>
              </p:ext>
            </p:extLst>
          </p:nvPr>
        </p:nvGraphicFramePr>
        <p:xfrm>
          <a:off x="457200" y="1738624"/>
          <a:ext cx="8153402" cy="1828326"/>
        </p:xfrm>
        <a:graphic>
          <a:graphicData uri="http://schemas.openxmlformats.org/drawingml/2006/table">
            <a:tbl>
              <a:tblPr/>
              <a:tblGrid>
                <a:gridCol w="3581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 dirty="0">
                          <a:effectLst/>
                        </a:rPr>
                        <a:t> people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 dirty="0">
                          <a:effectLst/>
                        </a:rPr>
                        <a:t> age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&gt;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AND</a:t>
                      </a:r>
                      <a:r>
                        <a:rPr lang="en-US" sz="1600" dirty="0">
                          <a:effectLst/>
                        </a:rPr>
                        <a:t> age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&lt;=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age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{ $</a:t>
                      </a:r>
                      <a:r>
                        <a:rPr lang="en-US" sz="1600" dirty="0" err="1">
                          <a:effectLst/>
                        </a:rPr>
                        <a:t>gt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 sz="1600" dirty="0">
                          <a:effectLst/>
                        </a:rPr>
                        <a:t>, $</a:t>
                      </a:r>
                      <a:r>
                        <a:rPr lang="en-US" sz="1600" dirty="0" err="1">
                          <a:effectLst/>
                        </a:rPr>
                        <a:t>lte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50</a:t>
                      </a:r>
                      <a:r>
                        <a:rPr lang="en-US" sz="1600" dirty="0">
                          <a:effectLst/>
                        </a:rPr>
                        <a:t> }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 dirty="0">
                          <a:effectLst/>
                        </a:rPr>
                        <a:t> people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 dirty="0">
                          <a:effectLst/>
                        </a:rPr>
                        <a:t> status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ORDER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BY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user_id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7020"/>
                          </a:solidFill>
                          <a:effectLst/>
                        </a:rPr>
                        <a:t>ASC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status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} ).sort( { </a:t>
                      </a:r>
                      <a:r>
                        <a:rPr lang="en-US" sz="1600" dirty="0" err="1">
                          <a:effectLst/>
                        </a:rPr>
                        <a:t>user_id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} )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SELECT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*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FROM</a:t>
                      </a:r>
                      <a:r>
                        <a:rPr lang="en-US" sz="1600">
                          <a:effectLst/>
                        </a:rPr>
                        <a:t> people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 sz="1600">
                          <a:effectLst/>
                        </a:rPr>
                        <a:t> status </a:t>
                      </a:r>
                      <a:r>
                        <a:rPr lang="en-US" sz="1600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ORDER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BY</a:t>
                      </a:r>
                      <a:r>
                        <a:rPr lang="en-US" sz="1600">
                          <a:effectLst/>
                        </a:rPr>
                        <a:t> user_id </a:t>
                      </a:r>
                      <a:r>
                        <a:rPr lang="en-US" sz="1600" b="1">
                          <a:solidFill>
                            <a:srgbClr val="007020"/>
                          </a:solidFill>
                          <a:effectLst/>
                        </a:rPr>
                        <a:t>DESC</a:t>
                      </a:r>
                      <a:r>
                        <a:rPr lang="en-US" sz="1600">
                          <a:effectLst/>
                        </a:rPr>
                        <a:t> 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db.people.find</a:t>
                      </a:r>
                      <a:r>
                        <a:rPr lang="en-US" sz="1600" dirty="0">
                          <a:effectLst/>
                        </a:rPr>
                        <a:t>( { status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sz="1600" dirty="0">
                          <a:effectLst/>
                        </a:rPr>
                        <a:t> } ).sort( { </a:t>
                      </a:r>
                      <a:r>
                        <a:rPr lang="en-US" sz="1600" dirty="0" err="1">
                          <a:effectLst/>
                        </a:rPr>
                        <a:t>user_id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666666"/>
                          </a:solidFill>
                          <a:effectLst/>
                        </a:rPr>
                        <a:t>-</a:t>
                      </a:r>
                      <a:r>
                        <a:rPr lang="en-US" sz="1600" dirty="0">
                          <a:solidFill>
                            <a:srgbClr val="208050"/>
                          </a:solidFill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}</a:t>
                      </a:r>
                    </a:p>
                  </a:txBody>
                  <a:tcPr marL="26470" marR="26470" marT="58234" marB="635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7905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to MongoDB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603081"/>
              </p:ext>
            </p:extLst>
          </p:nvPr>
        </p:nvGraphicFramePr>
        <p:xfrm>
          <a:off x="457200" y="2373630"/>
          <a:ext cx="8229600" cy="196977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SQL Update Statements</a:t>
                      </a:r>
                    </a:p>
                  </a:txBody>
                  <a:tcPr marL="47625" marR="47625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MongoDB updateMany() Statements</a:t>
                      </a:r>
                    </a:p>
                  </a:txBody>
                  <a:tcPr marL="47625" marR="47625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UPDATE</a:t>
                      </a:r>
                      <a:r>
                        <a:rPr lang="en-US">
                          <a:effectLst/>
                        </a:rPr>
                        <a:t> people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SET</a:t>
                      </a:r>
                      <a:r>
                        <a:rPr lang="en-US">
                          <a:effectLst/>
                        </a:rPr>
                        <a:t> status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517918"/>
                          </a:solidFill>
                          <a:effectLst/>
                        </a:rPr>
                        <a:t>"C"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>
                          <a:effectLst/>
                        </a:rPr>
                        <a:t> age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&gt;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>
                          <a:effectLst/>
                        </a:rPr>
                        <a:t>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db.people.updateMany( { age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{ $gt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25</a:t>
                      </a:r>
                      <a:r>
                        <a:rPr lang="en-US">
                          <a:effectLst/>
                        </a:rPr>
                        <a:t> } }, { $set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{ status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4070A0"/>
                          </a:solidFill>
                          <a:effectLst/>
                        </a:rPr>
                        <a:t>"C"</a:t>
                      </a:r>
                      <a:r>
                        <a:rPr lang="en-US">
                          <a:effectLst/>
                        </a:rPr>
                        <a:t> } } )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UPDATE</a:t>
                      </a:r>
                      <a:r>
                        <a:rPr lang="en-US">
                          <a:effectLst/>
                        </a:rPr>
                        <a:t> people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SET</a:t>
                      </a:r>
                      <a:r>
                        <a:rPr lang="en-US">
                          <a:effectLst/>
                        </a:rPr>
                        <a:t> age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>
                          <a:effectLst/>
                        </a:rPr>
                        <a:t> age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+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208050"/>
                          </a:solidFill>
                          <a:effectLst/>
                        </a:rPr>
                        <a:t>3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 b="1">
                          <a:solidFill>
                            <a:srgbClr val="007020"/>
                          </a:solidFill>
                          <a:effectLst/>
                        </a:rPr>
                        <a:t>WHERE</a:t>
                      </a:r>
                      <a:r>
                        <a:rPr lang="en-US">
                          <a:effectLst/>
                        </a:rPr>
                        <a:t> status </a:t>
                      </a:r>
                      <a:r>
                        <a:rPr lang="en-US">
                          <a:solidFill>
                            <a:srgbClr val="666666"/>
                          </a:solidFill>
                          <a:effectLst/>
                        </a:rPr>
                        <a:t>=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en-US">
                          <a:solidFill>
                            <a:srgbClr val="517918"/>
                          </a:solidFill>
                          <a:effectLst/>
                        </a:rPr>
                        <a:t>"A"</a:t>
                      </a:r>
                      <a:r>
                        <a:rPr lang="en-US">
                          <a:effectLst/>
                        </a:rPr>
                        <a:t> 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db.people.updateMany</a:t>
                      </a:r>
                      <a:r>
                        <a:rPr lang="en-US" dirty="0">
                          <a:effectLst/>
                        </a:rPr>
                        <a:t>( { status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4070A0"/>
                          </a:solidFill>
                          <a:effectLst/>
                        </a:rPr>
                        <a:t>"A"</a:t>
                      </a:r>
                      <a:r>
                        <a:rPr lang="en-US" dirty="0">
                          <a:effectLst/>
                        </a:rPr>
                        <a:t> } , { $</a:t>
                      </a:r>
                      <a:r>
                        <a:rPr lang="en-US" dirty="0" err="1">
                          <a:effectLst/>
                        </a:rPr>
                        <a:t>inc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{ age</a:t>
                      </a: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: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>
                          <a:solidFill>
                            <a:srgbClr val="208050"/>
                          </a:solidFill>
                          <a:effectLst/>
                        </a:rPr>
                        <a:t>3</a:t>
                      </a:r>
                      <a:r>
                        <a:rPr lang="en-US" dirty="0">
                          <a:effectLst/>
                        </a:rPr>
                        <a:t> } } )</a:t>
                      </a:r>
                    </a:p>
                  </a:txBody>
                  <a:tcPr marL="47625" marR="47625" marT="104775" marB="1143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5768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CRUD Methods | Update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861721"/>
              </p:ext>
            </p:extLst>
          </p:nvPr>
        </p:nvGraphicFramePr>
        <p:xfrm>
          <a:off x="533401" y="1955826"/>
          <a:ext cx="7924800" cy="406397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0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29428" marR="29428" marT="2825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marL="29428" marR="29428" marT="28251" marB="706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</a:t>
                      </a:r>
                      <a:r>
                        <a:rPr lang="en-US" sz="1800" u="none" strike="noStrike" dirty="0" err="1">
                          <a:effectLst/>
                        </a:rPr>
                        <a:t>currentDate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Sets the value of a field to current date, either as a Date or a Timestamp.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</a:t>
                      </a:r>
                      <a:r>
                        <a:rPr lang="en-US" sz="1800" u="none" strike="noStrike" dirty="0" err="1">
                          <a:effectLst/>
                        </a:rPr>
                        <a:t>inc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Increments the value of the field by the specified amount.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$min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Only updates the field if the specified value is less than the existing field value.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$max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Only updates the field if the specified value is greater than the existing field value.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</a:t>
                      </a:r>
                      <a:r>
                        <a:rPr lang="en-US" sz="1800" u="none" strike="noStrike" dirty="0" err="1">
                          <a:effectLst/>
                        </a:rPr>
                        <a:t>mul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Multiplies the value of the field by the specified amount.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$set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Sets the value of a field in a document.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dirty="0">
                          <a:effectLst/>
                        </a:rPr>
                        <a:t>$unset</a:t>
                      </a:r>
                      <a:endParaRPr lang="en-US" sz="1800" dirty="0">
                        <a:effectLst/>
                      </a:endParaRPr>
                    </a:p>
                  </a:txBody>
                  <a:tcPr marL="29428" marR="29428" marT="64741" marB="7062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Removes the specified field from a document.</a:t>
                      </a:r>
                    </a:p>
                  </a:txBody>
                  <a:tcPr marL="29428" marR="29428" marT="64741" marB="7062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" y="14478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Fields</a:t>
            </a:r>
          </a:p>
        </p:txBody>
      </p:sp>
    </p:spTree>
    <p:extLst>
      <p:ext uri="{BB962C8B-B14F-4D97-AF65-F5344CB8AC3E}">
        <p14:creationId xmlns:p14="http://schemas.microsoft.com/office/powerpoint/2010/main" val="3156071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CRUD Methods | Update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478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695951"/>
              </p:ext>
            </p:extLst>
          </p:nvPr>
        </p:nvGraphicFramePr>
        <p:xfrm>
          <a:off x="457200" y="1939290"/>
          <a:ext cx="8229600" cy="339471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Name</a:t>
                      </a:r>
                    </a:p>
                  </a:txBody>
                  <a:tcPr marL="47625" marR="4762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47625" marR="47625" marB="11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</a:t>
                      </a:r>
                      <a:r>
                        <a:rPr lang="en-US" u="none" strike="noStrike" dirty="0" err="1">
                          <a:effectLst/>
                        </a:rPr>
                        <a:t>addToSet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Adds elements to an array only if they do not already exist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$pop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Removes the first or last item of an array.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$pull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Removes all array elements that match a specified query.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</a:t>
                      </a:r>
                      <a:r>
                        <a:rPr lang="en-US" u="none" strike="noStrike" dirty="0" err="1">
                          <a:effectLst/>
                        </a:rPr>
                        <a:t>pushAll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Deprecated. Adds several items to an array.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$push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Adds an item to an array.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effectLst/>
                        </a:rPr>
                        <a:t>$</a:t>
                      </a:r>
                      <a:r>
                        <a:rPr lang="en-US" u="none" strike="noStrike" dirty="0" err="1">
                          <a:effectLst/>
                        </a:rPr>
                        <a:t>pullAll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104775" marB="1143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Removes all matching values from an array.</a:t>
                      </a:r>
                    </a:p>
                  </a:txBody>
                  <a:tcPr marL="47625" marR="47625" marT="104775" marB="1143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8701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explore basic relationships among data items and how they relate to the MongoDB document model</a:t>
            </a:r>
          </a:p>
        </p:txBody>
      </p:sp>
    </p:spTree>
    <p:extLst>
      <p:ext uri="{BB962C8B-B14F-4D97-AF65-F5344CB8AC3E}">
        <p14:creationId xmlns:p14="http://schemas.microsoft.com/office/powerpoint/2010/main" val="18651355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(1:1)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the relationship between exactly two entities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Author </a:t>
            </a:r>
            <a:r>
              <a:rPr lang="en-US" dirty="0"/>
              <a:t>has a single </a:t>
            </a:r>
            <a:r>
              <a:rPr lang="en-US" i="1" dirty="0"/>
              <a:t>Address </a:t>
            </a:r>
            <a:r>
              <a:rPr lang="en-US" dirty="0"/>
              <a:t>relationship where an </a:t>
            </a:r>
            <a:r>
              <a:rPr lang="en-US" i="1" dirty="0"/>
              <a:t>Author </a:t>
            </a:r>
            <a:r>
              <a:rPr lang="en-US" dirty="0"/>
              <a:t>lives at a single </a:t>
            </a:r>
            <a:r>
              <a:rPr lang="en-US" i="1" dirty="0"/>
              <a:t>Address </a:t>
            </a:r>
            <a:r>
              <a:rPr lang="en-US" dirty="0"/>
              <a:t>and an </a:t>
            </a:r>
            <a:r>
              <a:rPr lang="en-US" i="1" dirty="0"/>
              <a:t>Address </a:t>
            </a:r>
            <a:r>
              <a:rPr lang="en-US" dirty="0"/>
              <a:t>only contains a single </a:t>
            </a:r>
            <a:r>
              <a:rPr lang="en-US" i="1" dirty="0"/>
              <a:t>Author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33800"/>
            <a:ext cx="853440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9691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| Data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399277"/>
              </p:ext>
            </p:extLst>
          </p:nvPr>
        </p:nvGraphicFramePr>
        <p:xfrm>
          <a:off x="1219200" y="23164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“Sam</a:t>
                      </a:r>
                      <a:r>
                        <a:rPr lang="en-US" baseline="0" dirty="0"/>
                        <a:t> Smith”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6800" y="16764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User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58202"/>
              </p:ext>
            </p:extLst>
          </p:nvPr>
        </p:nvGraphicFramePr>
        <p:xfrm>
          <a:off x="1219200" y="445008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“2921 N Michigan</a:t>
                      </a:r>
                      <a:r>
                        <a:rPr lang="en-US" baseline="0" dirty="0"/>
                        <a:t> Ave.”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“Chicago”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6800" y="3810000"/>
            <a:ext cx="204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Address</a:t>
            </a:r>
          </a:p>
        </p:txBody>
      </p:sp>
    </p:spTree>
    <p:extLst>
      <p:ext uri="{BB962C8B-B14F-4D97-AF65-F5344CB8AC3E}">
        <p14:creationId xmlns:p14="http://schemas.microsoft.com/office/powerpoint/2010/main" val="14392131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One-to-One |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the Address document as an embedded document in the User Document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“name” : “Sam Smith,</a:t>
            </a:r>
          </a:p>
          <a:p>
            <a:pPr marL="0" indent="0">
              <a:buNone/>
            </a:pPr>
            <a:r>
              <a:rPr lang="en-US" dirty="0"/>
              <a:t>	“age” : 27,</a:t>
            </a:r>
          </a:p>
          <a:p>
            <a:pPr marL="0" indent="0">
              <a:buNone/>
            </a:pPr>
            <a:r>
              <a:rPr lang="en-US" dirty="0"/>
              <a:t>	“address” : {</a:t>
            </a:r>
          </a:p>
          <a:p>
            <a:pPr marL="0" indent="0">
              <a:buNone/>
            </a:pPr>
            <a:r>
              <a:rPr lang="en-US" dirty="0"/>
              <a:t>		“street” : “2921 N Michigan Ave.”,</a:t>
            </a:r>
          </a:p>
          <a:p>
            <a:pPr marL="0" indent="0">
              <a:buNone/>
            </a:pPr>
            <a:r>
              <a:rPr lang="en-US" dirty="0"/>
              <a:t>		“city” : “Chicago”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520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One-to-One |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strength of embedding the </a:t>
            </a:r>
            <a:r>
              <a:rPr lang="en-US" i="1" dirty="0"/>
              <a:t>Address </a:t>
            </a:r>
            <a:r>
              <a:rPr lang="en-US" dirty="0"/>
              <a:t>document directly in the </a:t>
            </a:r>
            <a:r>
              <a:rPr lang="en-US" i="1" dirty="0"/>
              <a:t>User </a:t>
            </a:r>
            <a:r>
              <a:rPr lang="en-US" dirty="0"/>
              <a:t>document…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retrieve the user and its addresses in a single read operation…</a:t>
            </a:r>
          </a:p>
          <a:p>
            <a:r>
              <a:rPr lang="en-US" dirty="0"/>
              <a:t>Versus having to first read the user document and then the address documents for that specific user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Since addresses have a quite strong affinity to the user document the embedding makes sense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336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One-to-One |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second approach is to link the address and user document using something like a foreign key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dirty="0"/>
              <a:t>“_id” : 1,</a:t>
            </a:r>
          </a:p>
          <a:p>
            <a:pPr marL="274320" lvl="1" indent="0">
              <a:buNone/>
            </a:pPr>
            <a:r>
              <a:rPr lang="en-US" dirty="0"/>
              <a:t>“name” : “Sam Smith”,</a:t>
            </a:r>
          </a:p>
          <a:p>
            <a:pPr marL="274320" lvl="1" indent="0">
              <a:buNone/>
            </a:pPr>
            <a:r>
              <a:rPr lang="en-US" dirty="0"/>
              <a:t>“age” : 27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dirty="0"/>
              <a:t>“_id” : 527</a:t>
            </a:r>
          </a:p>
          <a:p>
            <a:pPr marL="274320" lvl="1" indent="0">
              <a:buNone/>
            </a:pPr>
            <a:r>
              <a:rPr lang="en-US" dirty="0"/>
              <a:t>“</a:t>
            </a:r>
            <a:r>
              <a:rPr lang="en-US" dirty="0" err="1"/>
              <a:t>user_id</a:t>
            </a:r>
            <a:r>
              <a:rPr lang="en-US" dirty="0"/>
              <a:t>” : 1</a:t>
            </a:r>
          </a:p>
          <a:p>
            <a:pPr marL="274320" lvl="1" indent="0">
              <a:buNone/>
            </a:pPr>
            <a:r>
              <a:rPr lang="en-US" dirty="0"/>
              <a:t>“street” : “2921 N Michigan Ave.”,</a:t>
            </a:r>
          </a:p>
          <a:p>
            <a:pPr marL="274320" lvl="1" indent="0">
              <a:buNone/>
            </a:pPr>
            <a:r>
              <a:rPr lang="en-US" dirty="0"/>
              <a:t>“city” : “Chicago”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438689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One-to-One |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similar to how traditional relational databases would store the data</a:t>
            </a:r>
          </a:p>
          <a:p>
            <a:r>
              <a:rPr lang="en-US" dirty="0"/>
              <a:t>Note that MongoDB does not enforce any foreign key constraints…</a:t>
            </a:r>
          </a:p>
          <a:p>
            <a:r>
              <a:rPr lang="en-US" dirty="0"/>
              <a:t>So the relation only exists at the application level</a:t>
            </a:r>
          </a:p>
          <a:p>
            <a:r>
              <a:rPr lang="en-US" dirty="0"/>
              <a:t>In the one to one relationship embedding is the preferred way to model the relationship…</a:t>
            </a:r>
          </a:p>
          <a:p>
            <a:r>
              <a:rPr lang="en-US" dirty="0"/>
              <a:t>As it is simpler and also more efficient to retrieve the document</a:t>
            </a:r>
          </a:p>
        </p:txBody>
      </p:sp>
    </p:spTree>
    <p:extLst>
      <p:ext uri="{BB962C8B-B14F-4D97-AF65-F5344CB8AC3E}">
        <p14:creationId xmlns:p14="http://schemas.microsoft.com/office/powerpoint/2010/main" val="21243805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One-to-Many (1:N)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Refers to the relationship between two entities A and B in which an element of A may be linked to many elements of B but a member of B is linked to only one element of A</a:t>
            </a:r>
          </a:p>
          <a:p>
            <a:endParaRPr lang="en-US" dirty="0"/>
          </a:p>
          <a:p>
            <a:r>
              <a:rPr lang="en-US" dirty="0"/>
              <a:t>A Blog (post) might have many </a:t>
            </a:r>
            <a:r>
              <a:rPr lang="en-US" i="1" dirty="0"/>
              <a:t>Comments </a:t>
            </a:r>
            <a:r>
              <a:rPr lang="en-US" dirty="0"/>
              <a:t>but a </a:t>
            </a:r>
            <a:r>
              <a:rPr lang="en-US" i="1" dirty="0"/>
              <a:t>Comment </a:t>
            </a:r>
            <a:r>
              <a:rPr lang="en-US" dirty="0"/>
              <a:t>is only related to a single Blog (post)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38600"/>
            <a:ext cx="81534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2737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Data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058928"/>
              </p:ext>
            </p:extLst>
          </p:nvPr>
        </p:nvGraphicFramePr>
        <p:xfrm>
          <a:off x="1219200" y="27432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“An awesom</a:t>
                      </a:r>
                      <a:r>
                        <a:rPr lang="en-US" baseline="0" dirty="0"/>
                        <a:t>e </a:t>
                      </a:r>
                      <a:r>
                        <a:rPr lang="en-US" dirty="0"/>
                        <a:t>blog”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url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“http://awesomeblog.com”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“This</a:t>
                      </a:r>
                      <a:r>
                        <a:rPr lang="en-US" baseline="0" dirty="0"/>
                        <a:t> is so awesome”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6800" y="228600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Blog </a:t>
            </a:r>
          </a:p>
        </p:txBody>
      </p:sp>
    </p:spTree>
    <p:extLst>
      <p:ext uri="{BB962C8B-B14F-4D97-AF65-F5344CB8AC3E}">
        <p14:creationId xmlns:p14="http://schemas.microsoft.com/office/powerpoint/2010/main" val="20514874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Data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66060"/>
              </p:ext>
            </p:extLst>
          </p:nvPr>
        </p:nvGraphicFramePr>
        <p:xfrm>
          <a:off x="1219200" y="231648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“Peter</a:t>
                      </a:r>
                      <a:r>
                        <a:rPr lang="en-US" baseline="0" dirty="0"/>
                        <a:t> Critic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created_on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ISODate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("2014-01-01T10:01:22Z")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“Awesome</a:t>
                      </a:r>
                      <a:r>
                        <a:rPr lang="en-US" baseline="0" dirty="0"/>
                        <a:t> blog post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6800" y="1676400"/>
            <a:ext cx="766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Comments | For each blog we can have 1 or more comments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799822"/>
              </p:ext>
            </p:extLst>
          </p:nvPr>
        </p:nvGraphicFramePr>
        <p:xfrm>
          <a:off x="1219200" y="43078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“Joh</a:t>
                      </a:r>
                      <a:r>
                        <a:rPr lang="en-US" baseline="0" dirty="0"/>
                        <a:t> Page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created_on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ISODate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("2014-01-01T10:01:22Z")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“Not</a:t>
                      </a:r>
                      <a:r>
                        <a:rPr lang="en-US" baseline="0" dirty="0"/>
                        <a:t> so a</a:t>
                      </a:r>
                      <a:r>
                        <a:rPr lang="en-US" dirty="0"/>
                        <a:t>wesome</a:t>
                      </a:r>
                      <a:r>
                        <a:rPr lang="en-US" baseline="0" dirty="0"/>
                        <a:t> blog post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2791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One-to-Many |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first approach is to embed the Comments in the Blog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“_id” : 1</a:t>
            </a:r>
          </a:p>
          <a:p>
            <a:pPr marL="0" indent="0">
              <a:buNone/>
            </a:pPr>
            <a:r>
              <a:rPr lang="en-US" dirty="0"/>
              <a:t>	title: "An awesome blog",</a:t>
            </a:r>
          </a:p>
          <a:p>
            <a:pPr marL="0" indent="0">
              <a:buNone/>
            </a:pPr>
            <a:r>
              <a:rPr lang="en-US" dirty="0"/>
              <a:t>	url: "http://awesomeblog.com",</a:t>
            </a:r>
          </a:p>
          <a:p>
            <a:pPr marL="0" indent="0">
              <a:buNone/>
            </a:pPr>
            <a:r>
              <a:rPr lang="en-US" dirty="0"/>
              <a:t>	text: "This is an awesome blog",</a:t>
            </a:r>
          </a:p>
          <a:p>
            <a:pPr marL="0" indent="0">
              <a:buNone/>
            </a:pPr>
            <a:r>
              <a:rPr lang="en-US" dirty="0"/>
              <a:t>	comments: [{</a:t>
            </a:r>
          </a:p>
          <a:p>
            <a:pPr marL="0" indent="0">
              <a:buNone/>
            </a:pPr>
            <a:r>
              <a:rPr lang="en-US" dirty="0"/>
              <a:t>		name: "Peter Critic",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created_on</a:t>
            </a:r>
            <a:r>
              <a:rPr lang="en-US" dirty="0"/>
              <a:t>: </a:t>
            </a:r>
            <a:r>
              <a:rPr lang="en-US" dirty="0" err="1"/>
              <a:t>ISODate</a:t>
            </a:r>
            <a:r>
              <a:rPr lang="en-US" dirty="0"/>
              <a:t>("2014-01-01T10:01:22Z"),</a:t>
            </a:r>
          </a:p>
          <a:p>
            <a:pPr marL="0" indent="0">
              <a:buNone/>
            </a:pPr>
            <a:r>
              <a:rPr lang="en-US" dirty="0"/>
              <a:t>		comment: "Awesome blog post"</a:t>
            </a:r>
          </a:p>
          <a:p>
            <a:pPr marL="0" indent="0">
              <a:buNone/>
            </a:pPr>
            <a:r>
              <a:rPr lang="en-US" dirty="0"/>
              <a:t>	}, {</a:t>
            </a:r>
          </a:p>
          <a:p>
            <a:pPr marL="0" indent="0">
              <a:buNone/>
            </a:pPr>
            <a:r>
              <a:rPr lang="en-US" dirty="0"/>
              <a:t>		name: "John Page",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created_on</a:t>
            </a:r>
            <a:r>
              <a:rPr lang="en-US" dirty="0"/>
              <a:t>: </a:t>
            </a:r>
            <a:r>
              <a:rPr lang="en-US" dirty="0" err="1"/>
              <a:t>ISODate</a:t>
            </a:r>
            <a:r>
              <a:rPr lang="en-US" dirty="0"/>
              <a:t>("2014-01-01T11:01:22Z"),</a:t>
            </a:r>
          </a:p>
          <a:p>
            <a:pPr marL="0" indent="0">
              <a:buNone/>
            </a:pPr>
            <a:r>
              <a:rPr lang="en-US" dirty="0"/>
              <a:t>		comment: "Not so awesome blog"</a:t>
            </a:r>
          </a:p>
          <a:p>
            <a:pPr marL="0" indent="0">
              <a:buNone/>
            </a:pPr>
            <a:r>
              <a:rPr lang="en-US" dirty="0"/>
              <a:t>	}]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54177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One-to-Many |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Embedding of comments in the </a:t>
            </a:r>
            <a:r>
              <a:rPr lang="en-US" i="1" dirty="0"/>
              <a:t>Blog </a:t>
            </a:r>
            <a:r>
              <a:rPr lang="en-US" dirty="0"/>
              <a:t>means we can easily retrieve all the comments belong to a particular </a:t>
            </a:r>
            <a:r>
              <a:rPr lang="en-US" i="1" dirty="0"/>
              <a:t>Blog</a:t>
            </a:r>
            <a:endParaRPr lang="en-US" dirty="0"/>
          </a:p>
          <a:p>
            <a:r>
              <a:rPr lang="en-US" dirty="0"/>
              <a:t>Adding new comments is as simple as appending the new comment document to the end of the comments array</a:t>
            </a:r>
          </a:p>
          <a:p>
            <a:r>
              <a:rPr lang="en-US" dirty="0"/>
              <a:t>However, there are potential problems associated with this approach that one should be aware of...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comments array might grow larger than the maximum document size of 16 MB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no way to limit the comments returned from the Blog using normal finds…</a:t>
            </a:r>
          </a:p>
          <a:p>
            <a:pPr lvl="1"/>
            <a:r>
              <a:rPr lang="en-US" dirty="0"/>
              <a:t>So we will have to retrieve the whole blog document and filter the comments in 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0183665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comments to the Blog Post using a more traditional foreign key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1,</a:t>
            </a:r>
          </a:p>
          <a:p>
            <a:pPr marL="274320" lvl="1" indent="0">
              <a:buNone/>
            </a:pPr>
            <a:r>
              <a:rPr lang="en-US" sz="2400" dirty="0"/>
              <a:t>title: "An awesome blog",</a:t>
            </a:r>
          </a:p>
          <a:p>
            <a:pPr marL="274320" lvl="1" indent="0">
              <a:buNone/>
            </a:pPr>
            <a:r>
              <a:rPr lang="en-US" sz="2400" dirty="0"/>
              <a:t>url: "http://awesomeblog.com",</a:t>
            </a:r>
          </a:p>
          <a:p>
            <a:pPr marL="274320" lvl="1" indent="0">
              <a:buNone/>
            </a:pPr>
            <a:r>
              <a:rPr lang="en-US" sz="2400" dirty="0"/>
              <a:t>text: "This is an awesome blog"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20793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274320" lvl="1" indent="0">
              <a:buNone/>
            </a:pPr>
            <a:r>
              <a:rPr lang="en-US" sz="1800" dirty="0"/>
              <a:t>_id : 23,</a:t>
            </a:r>
          </a:p>
          <a:p>
            <a:pPr marL="274320" lvl="1" indent="0">
              <a:buNone/>
            </a:pPr>
            <a:r>
              <a:rPr lang="en-US" sz="1800" dirty="0" err="1"/>
              <a:t>blog_entry_id</a:t>
            </a:r>
            <a:r>
              <a:rPr lang="en-US" sz="1800" dirty="0"/>
              <a:t>: 1,</a:t>
            </a:r>
          </a:p>
          <a:p>
            <a:pPr marL="274320" lvl="1" indent="0">
              <a:buNone/>
            </a:pPr>
            <a:r>
              <a:rPr lang="en-US" sz="1800" dirty="0"/>
              <a:t>name: "Peter Critic",</a:t>
            </a:r>
          </a:p>
          <a:p>
            <a:pPr marL="274320" lvl="1" indent="0">
              <a:buNone/>
            </a:pPr>
            <a:r>
              <a:rPr lang="en-US" sz="1800" dirty="0" err="1"/>
              <a:t>created_on</a:t>
            </a:r>
            <a:r>
              <a:rPr lang="en-US" sz="1800" dirty="0"/>
              <a:t>: </a:t>
            </a:r>
            <a:r>
              <a:rPr lang="en-US" sz="1800" dirty="0" err="1"/>
              <a:t>ISODate</a:t>
            </a:r>
            <a:r>
              <a:rPr lang="en-US" sz="1800" dirty="0"/>
              <a:t>("2014-01-01T10:01:22Z"),</a:t>
            </a:r>
          </a:p>
          <a:p>
            <a:pPr marL="274320" lvl="1" indent="0">
              <a:buNone/>
            </a:pPr>
            <a:r>
              <a:rPr lang="en-US" sz="1800" dirty="0"/>
              <a:t>comment: "Awesome blog post"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274320" lvl="1" indent="0">
              <a:buNone/>
            </a:pPr>
            <a:r>
              <a:rPr lang="en-US" sz="1800" dirty="0"/>
              <a:t>_id: 24,</a:t>
            </a:r>
          </a:p>
          <a:p>
            <a:pPr marL="274320" lvl="1" indent="0">
              <a:buNone/>
            </a:pPr>
            <a:r>
              <a:rPr lang="en-US" sz="1800" dirty="0" err="1"/>
              <a:t>blog_entry_id</a:t>
            </a:r>
            <a:r>
              <a:rPr lang="en-US" sz="1800" dirty="0"/>
              <a:t>: 1,</a:t>
            </a:r>
          </a:p>
          <a:p>
            <a:pPr marL="274320" lvl="1" indent="0">
              <a:buNone/>
            </a:pPr>
            <a:r>
              <a:rPr lang="en-US" sz="1800" dirty="0"/>
              <a:t>name: "John Page",</a:t>
            </a:r>
          </a:p>
          <a:p>
            <a:pPr marL="274320" lvl="1" indent="0">
              <a:buNone/>
            </a:pPr>
            <a:r>
              <a:rPr lang="en-US" sz="1800" dirty="0" err="1"/>
              <a:t>created_on</a:t>
            </a:r>
            <a:r>
              <a:rPr lang="en-US" sz="1800" dirty="0"/>
              <a:t>: </a:t>
            </a:r>
            <a:r>
              <a:rPr lang="en-US" sz="1800" dirty="0" err="1"/>
              <a:t>ISODate</a:t>
            </a:r>
            <a:r>
              <a:rPr lang="en-US" sz="1800" dirty="0"/>
              <a:t>("2014-01-01T11:01:22Z"),</a:t>
            </a:r>
          </a:p>
          <a:p>
            <a:pPr marL="274320" lvl="1" indent="0">
              <a:buNone/>
            </a:pPr>
            <a:r>
              <a:rPr lang="en-US" sz="1800" dirty="0"/>
              <a:t>comment: "Not so awesome blog"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62086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advantage this model has is that additional comments will not grow the original Blog Post document</a:t>
            </a:r>
          </a:p>
          <a:p>
            <a:r>
              <a:rPr lang="en-US" dirty="0"/>
              <a:t>It’s also much easier to return paginated comments as the application can slice and dice the comments more easily But, if we have 1000 comments on a blog post, we would need to retrieve all 1000 documents causing lots of reads from the database</a:t>
            </a:r>
          </a:p>
        </p:txBody>
      </p:sp>
    </p:spTree>
    <p:extLst>
      <p:ext uri="{BB962C8B-B14F-4D97-AF65-F5344CB8AC3E}">
        <p14:creationId xmlns:p14="http://schemas.microsoft.com/office/powerpoint/2010/main" val="13511018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Bucketing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Balance the rigidity of the embedding strategy with the flexibility of the linking strategy</a:t>
            </a:r>
          </a:p>
          <a:p>
            <a:r>
              <a:rPr lang="en-US" dirty="0"/>
              <a:t>For this example, we will split the comments into buckets with a maximum of 50 comments in each</a:t>
            </a:r>
          </a:p>
          <a:p>
            <a:r>
              <a:rPr lang="en-US" dirty="0"/>
              <a:t>An advantage this model has is that additional comments will not grow the original Blog Post document</a:t>
            </a:r>
          </a:p>
        </p:txBody>
      </p:sp>
    </p:spTree>
    <p:extLst>
      <p:ext uri="{BB962C8B-B14F-4D97-AF65-F5344CB8AC3E}">
        <p14:creationId xmlns:p14="http://schemas.microsoft.com/office/powerpoint/2010/main" val="35676932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Bucketing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12</a:t>
            </a:r>
          </a:p>
          <a:p>
            <a:pPr marL="274320" lvl="1" indent="0">
              <a:buNone/>
            </a:pPr>
            <a:r>
              <a:rPr lang="en-US" sz="2400" dirty="0" err="1"/>
              <a:t>blog_entry_id</a:t>
            </a:r>
            <a:r>
              <a:rPr lang="en-US" sz="2400" dirty="0"/>
              <a:t>: 1,</a:t>
            </a:r>
          </a:p>
          <a:p>
            <a:pPr marL="274320" lvl="1" indent="0">
              <a:buNone/>
            </a:pPr>
            <a:r>
              <a:rPr lang="en-US" sz="2400" dirty="0"/>
              <a:t>page: 1,</a:t>
            </a:r>
          </a:p>
          <a:p>
            <a:pPr marL="274320" lvl="1" indent="0">
              <a:buNone/>
            </a:pPr>
            <a:r>
              <a:rPr lang="en-US" sz="2400" dirty="0"/>
              <a:t>count: 50,</a:t>
            </a:r>
          </a:p>
          <a:p>
            <a:pPr marL="274320" lvl="1" indent="0">
              <a:buNone/>
            </a:pPr>
            <a:r>
              <a:rPr lang="en-US" sz="2400" dirty="0"/>
              <a:t>comments: [{</a:t>
            </a:r>
          </a:p>
          <a:p>
            <a:pPr marL="548640" lvl="2" indent="0">
              <a:buNone/>
            </a:pPr>
            <a:r>
              <a:rPr lang="en-US" sz="2400" dirty="0"/>
              <a:t> name: "Peter Critic",</a:t>
            </a:r>
          </a:p>
          <a:p>
            <a:pPr marL="548640" lvl="2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created_on</a:t>
            </a:r>
            <a:r>
              <a:rPr lang="en-US" sz="2400" dirty="0"/>
              <a:t>: </a:t>
            </a:r>
            <a:r>
              <a:rPr lang="en-US" sz="2400" dirty="0" err="1"/>
              <a:t>ISODate</a:t>
            </a:r>
            <a:r>
              <a:rPr lang="en-US" sz="2400" dirty="0"/>
              <a:t>("2014-01-01T10:01:22Z"),</a:t>
            </a:r>
          </a:p>
          <a:p>
            <a:pPr marL="548640" lvl="2" indent="0">
              <a:buNone/>
            </a:pPr>
            <a:r>
              <a:rPr lang="en-US" sz="2400" dirty="0"/>
              <a:t> comment: "Awesome blog post“</a:t>
            </a:r>
          </a:p>
          <a:p>
            <a:pPr marL="548640" lvl="2" indent="0">
              <a:buNone/>
            </a:pPr>
            <a:r>
              <a:rPr lang="en-US" sz="2400" dirty="0"/>
              <a:t> }, ...]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778472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Bucketing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_id: 41</a:t>
            </a:r>
          </a:p>
          <a:p>
            <a:pPr marL="0" indent="0">
              <a:buNone/>
            </a:pPr>
            <a:r>
              <a:rPr lang="en-US" dirty="0" err="1"/>
              <a:t>blog_entry_id</a:t>
            </a:r>
            <a:r>
              <a:rPr lang="en-US" dirty="0"/>
              <a:t>: 1,</a:t>
            </a:r>
          </a:p>
          <a:p>
            <a:pPr marL="0" indent="0">
              <a:buNone/>
            </a:pPr>
            <a:r>
              <a:rPr lang="en-US" dirty="0"/>
              <a:t>page: 2,</a:t>
            </a:r>
          </a:p>
          <a:p>
            <a:pPr marL="0" indent="0">
              <a:buNone/>
            </a:pPr>
            <a:r>
              <a:rPr lang="en-US" dirty="0"/>
              <a:t>count: 1,</a:t>
            </a:r>
          </a:p>
          <a:p>
            <a:pPr marL="0" indent="0">
              <a:buNone/>
            </a:pPr>
            <a:r>
              <a:rPr lang="en-US" dirty="0"/>
              <a:t>comments: [{</a:t>
            </a:r>
          </a:p>
          <a:p>
            <a:pPr marL="274320" lvl="1" indent="0">
              <a:buNone/>
            </a:pPr>
            <a:r>
              <a:rPr lang="en-US" dirty="0"/>
              <a:t>name: "John Page",</a:t>
            </a:r>
          </a:p>
          <a:p>
            <a:pPr marL="274320" lvl="1" indent="0">
              <a:buNone/>
            </a:pPr>
            <a:r>
              <a:rPr lang="en-US" dirty="0" err="1"/>
              <a:t>created_on</a:t>
            </a:r>
            <a:r>
              <a:rPr lang="en-US" dirty="0"/>
              <a:t>: </a:t>
            </a:r>
            <a:r>
              <a:rPr lang="en-US" dirty="0" err="1"/>
              <a:t>ISODate</a:t>
            </a:r>
            <a:r>
              <a:rPr lang="en-US" dirty="0"/>
              <a:t>("2014-01-01T11:01:22Z"),</a:t>
            </a:r>
          </a:p>
          <a:p>
            <a:pPr marL="274320" lvl="1" indent="0">
              <a:buNone/>
            </a:pPr>
            <a:r>
              <a:rPr lang="en-US" dirty="0"/>
              <a:t>comment: "Not so awesome blog"</a:t>
            </a:r>
          </a:p>
          <a:p>
            <a:pPr marL="0" indent="0">
              <a:buNone/>
            </a:pPr>
            <a:r>
              <a:rPr lang="en-US" dirty="0"/>
              <a:t>}]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72501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| Bucketing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main benefit of using buckets in this case is that we can perform a single read to fetch 50 comments at a time</a:t>
            </a:r>
          </a:p>
          <a:p>
            <a:endParaRPr lang="en-US" dirty="0"/>
          </a:p>
          <a:p>
            <a:r>
              <a:rPr lang="en-US" dirty="0"/>
              <a:t>When you have the possibility of splitting up your documents into discreet batches, it makes sense to consider bucketing to speed up document retrieval</a:t>
            </a:r>
          </a:p>
          <a:p>
            <a:endParaRPr lang="en-US" dirty="0"/>
          </a:p>
          <a:p>
            <a:r>
              <a:rPr lang="en-US" dirty="0"/>
              <a:t>Typical cases where bucketing is appropriate are ones such as bucketing data by hours, days or number of entries on a page (like comments pagination)</a:t>
            </a:r>
          </a:p>
        </p:txBody>
      </p:sp>
    </p:spTree>
    <p:extLst>
      <p:ext uri="{BB962C8B-B14F-4D97-AF65-F5344CB8AC3E}">
        <p14:creationId xmlns:p14="http://schemas.microsoft.com/office/powerpoint/2010/main" val="8389553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(N:M)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 between two entities where they both might have many relationships between each other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i="1" dirty="0"/>
              <a:t>Book </a:t>
            </a:r>
            <a:r>
              <a:rPr lang="en-US" dirty="0"/>
              <a:t>was written by many </a:t>
            </a:r>
            <a:r>
              <a:rPr lang="en-US" i="1" dirty="0"/>
              <a:t>Authors</a:t>
            </a:r>
            <a:r>
              <a:rPr lang="en-US" dirty="0"/>
              <a:t> while at the same time an </a:t>
            </a:r>
            <a:r>
              <a:rPr lang="en-US" i="1" dirty="0"/>
              <a:t>Author </a:t>
            </a:r>
            <a:r>
              <a:rPr lang="en-US" dirty="0"/>
              <a:t>might have written many </a:t>
            </a:r>
            <a:r>
              <a:rPr lang="en-US" i="1" dirty="0"/>
              <a:t>Books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84600"/>
            <a:ext cx="8763000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77556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(N:M)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N:M </a:t>
            </a:r>
            <a:r>
              <a:rPr lang="en-US" dirty="0"/>
              <a:t>relationships are modeled in relational databases by using a join table</a:t>
            </a:r>
          </a:p>
          <a:p>
            <a:r>
              <a:rPr lang="en-US" dirty="0"/>
              <a:t>A good example is the relationship between books and authors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3886200"/>
            <a:ext cx="1676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600" y="3886200"/>
            <a:ext cx="1676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886200"/>
            <a:ext cx="1676400" cy="1295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Book_Author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3"/>
            <a:endCxn id="7" idx="1"/>
          </p:cNvCxnSpPr>
          <p:nvPr/>
        </p:nvCxnSpPr>
        <p:spPr>
          <a:xfrm>
            <a:off x="2286000" y="4533900"/>
            <a:ext cx="1371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1"/>
            <a:endCxn id="7" idx="3"/>
          </p:cNvCxnSpPr>
          <p:nvPr/>
        </p:nvCxnSpPr>
        <p:spPr>
          <a:xfrm flipH="1">
            <a:off x="5334000" y="4533900"/>
            <a:ext cx="1371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44420" y="4070866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   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412646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           1</a:t>
            </a:r>
          </a:p>
        </p:txBody>
      </p:sp>
    </p:spTree>
    <p:extLst>
      <p:ext uri="{BB962C8B-B14F-4D97-AF65-F5344CB8AC3E}">
        <p14:creationId xmlns:p14="http://schemas.microsoft.com/office/powerpoint/2010/main" val="855755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| Two Way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will include the </a:t>
            </a:r>
            <a:r>
              <a:rPr lang="en-US" i="1" dirty="0"/>
              <a:t>Book </a:t>
            </a:r>
            <a:r>
              <a:rPr lang="en-US" dirty="0"/>
              <a:t>foreign keys under the books field of each author document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1,</a:t>
            </a:r>
          </a:p>
          <a:p>
            <a:pPr marL="274320" lvl="1" indent="0">
              <a:buNone/>
            </a:pPr>
            <a:r>
              <a:rPr lang="en-US" sz="2400" dirty="0"/>
              <a:t>name: "Peter </a:t>
            </a:r>
            <a:r>
              <a:rPr lang="en-US" sz="2400" dirty="0" err="1"/>
              <a:t>Standford</a:t>
            </a:r>
            <a:r>
              <a:rPr lang="en-US" sz="2400" dirty="0"/>
              <a:t>",</a:t>
            </a:r>
          </a:p>
          <a:p>
            <a:pPr marL="274320" lvl="1" indent="0">
              <a:buNone/>
            </a:pPr>
            <a:r>
              <a:rPr lang="en-US" sz="2400" dirty="0"/>
              <a:t>books: [1, 2]       	</a:t>
            </a:r>
            <a:r>
              <a:rPr lang="en-US" sz="2400" dirty="0">
                <a:sym typeface="Wingdings" panose="05000000000000000000" pitchFamily="2" charset="2"/>
              </a:rPr>
              <a:t> _id’s of book documents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2,</a:t>
            </a:r>
          </a:p>
          <a:p>
            <a:pPr marL="274320" lvl="1" indent="0">
              <a:buNone/>
            </a:pPr>
            <a:r>
              <a:rPr lang="en-US" sz="2400" dirty="0"/>
              <a:t>name: "Georg Peterson",</a:t>
            </a:r>
          </a:p>
          <a:p>
            <a:pPr marL="274320" lvl="1" indent="0">
              <a:buNone/>
            </a:pPr>
            <a:r>
              <a:rPr lang="en-US" sz="2400" dirty="0"/>
              <a:t>books: [2]</a:t>
            </a:r>
            <a:r>
              <a:rPr lang="en-US" sz="2400" dirty="0">
                <a:sym typeface="Wingdings" panose="05000000000000000000" pitchFamily="2" charset="2"/>
              </a:rPr>
              <a:t> 		 _id’s of book documents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817032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| Two Way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Mirroring the </a:t>
            </a:r>
            <a:r>
              <a:rPr lang="en-US" i="1" dirty="0"/>
              <a:t>Author </a:t>
            </a:r>
            <a:r>
              <a:rPr lang="en-US" dirty="0"/>
              <a:t>document, for each </a:t>
            </a:r>
            <a:r>
              <a:rPr lang="en-US" i="1" dirty="0"/>
              <a:t>Book document </a:t>
            </a:r>
            <a:r>
              <a:rPr lang="en-US" dirty="0"/>
              <a:t>we include </a:t>
            </a:r>
            <a:r>
              <a:rPr lang="en-US" i="1" dirty="0"/>
              <a:t>Author </a:t>
            </a:r>
            <a:r>
              <a:rPr lang="en-US" dirty="0"/>
              <a:t>foreign keys under the </a:t>
            </a:r>
            <a:r>
              <a:rPr lang="en-US" i="1" dirty="0"/>
              <a:t>Author </a:t>
            </a:r>
            <a:r>
              <a:rPr lang="en-US" dirty="0"/>
              <a:t>field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1,</a:t>
            </a:r>
          </a:p>
          <a:p>
            <a:pPr marL="274320" lvl="1" indent="0">
              <a:buNone/>
            </a:pPr>
            <a:r>
              <a:rPr lang="en-US" sz="2400" dirty="0"/>
              <a:t>title: "A tale of two people",</a:t>
            </a:r>
          </a:p>
          <a:p>
            <a:pPr marL="274320" lvl="1" indent="0">
              <a:buNone/>
            </a:pPr>
            <a:r>
              <a:rPr lang="en-US" sz="2400" dirty="0"/>
              <a:t>categories: ["drama"],</a:t>
            </a:r>
          </a:p>
          <a:p>
            <a:pPr marL="274320" lvl="1" indent="0">
              <a:buNone/>
            </a:pPr>
            <a:r>
              <a:rPr lang="en-US" sz="2400" dirty="0"/>
              <a:t>authors: [1, 2]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sz="2400" dirty="0"/>
              <a:t>_id: 2,</a:t>
            </a:r>
          </a:p>
          <a:p>
            <a:pPr marL="274320" lvl="1" indent="0">
              <a:buNone/>
            </a:pPr>
            <a:r>
              <a:rPr lang="en-US" sz="2400" dirty="0"/>
              <a:t>title: "A tale of two space ships",</a:t>
            </a:r>
          </a:p>
          <a:p>
            <a:pPr marL="274320" lvl="1" indent="0">
              <a:buNone/>
            </a:pPr>
            <a:r>
              <a:rPr lang="en-US" sz="2400" dirty="0"/>
              <a:t>categories: ["</a:t>
            </a:r>
            <a:r>
              <a:rPr lang="en-US" sz="2400" dirty="0" err="1"/>
              <a:t>scifi</a:t>
            </a:r>
            <a:r>
              <a:rPr lang="en-US" sz="2400" dirty="0"/>
              <a:t>"],</a:t>
            </a:r>
          </a:p>
          <a:p>
            <a:pPr marL="274320" lvl="1" indent="0">
              <a:buNone/>
            </a:pPr>
            <a:r>
              <a:rPr lang="en-US" sz="2400" dirty="0"/>
              <a:t> authors: [1]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640089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|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Fetch the books by a specific author</a:t>
            </a:r>
          </a:p>
          <a:p>
            <a:pPr marL="0" indent="0">
              <a:buNone/>
            </a:pPr>
            <a:r>
              <a:rPr lang="en-US" sz="2000" dirty="0"/>
              <a:t>author = </a:t>
            </a:r>
            <a:r>
              <a:rPr lang="en-US" sz="2000" dirty="0" err="1"/>
              <a:t>db.authors.findOne</a:t>
            </a:r>
            <a:r>
              <a:rPr lang="en-US" sz="2000" dirty="0"/>
              <a:t>({name: "Peter </a:t>
            </a:r>
            <a:r>
              <a:rPr lang="en-US" sz="2000" dirty="0" err="1"/>
              <a:t>Standford</a:t>
            </a:r>
            <a:r>
              <a:rPr lang="en-US" sz="2000" dirty="0"/>
              <a:t>"});</a:t>
            </a:r>
          </a:p>
          <a:p>
            <a:pPr marL="0" indent="0">
              <a:buNone/>
            </a:pPr>
            <a:r>
              <a:rPr lang="en-US" sz="2000" dirty="0"/>
              <a:t>books = </a:t>
            </a:r>
            <a:r>
              <a:rPr lang="en-US" sz="2000" dirty="0" err="1"/>
              <a:t>db.books.find</a:t>
            </a:r>
            <a:r>
              <a:rPr lang="en-US" sz="2000" dirty="0"/>
              <a:t>({_id: {$in: </a:t>
            </a:r>
            <a:r>
              <a:rPr lang="en-US" sz="2000" dirty="0" err="1"/>
              <a:t>author.books</a:t>
            </a:r>
            <a:r>
              <a:rPr lang="en-US" sz="2000" dirty="0"/>
              <a:t>}}).</a:t>
            </a:r>
            <a:r>
              <a:rPr lang="en-US" sz="2000" dirty="0" err="1"/>
              <a:t>toArray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Fetch authors by a specific book</a:t>
            </a:r>
          </a:p>
          <a:p>
            <a:pPr marL="0" indent="0">
              <a:buNone/>
            </a:pPr>
            <a:r>
              <a:rPr lang="en-US" sz="2000" dirty="0"/>
              <a:t>book = </a:t>
            </a:r>
            <a:r>
              <a:rPr lang="en-US" sz="2000" dirty="0" err="1"/>
              <a:t>db.books.findOne</a:t>
            </a:r>
            <a:r>
              <a:rPr lang="en-US" sz="2000" dirty="0"/>
              <a:t>({title: "A tale of two space ships"});</a:t>
            </a:r>
          </a:p>
          <a:p>
            <a:pPr marL="0" indent="0">
              <a:buNone/>
            </a:pPr>
            <a:r>
              <a:rPr lang="en-US" sz="2000" dirty="0"/>
              <a:t>authors = </a:t>
            </a:r>
            <a:r>
              <a:rPr lang="en-US" sz="2000" dirty="0" err="1"/>
              <a:t>db.author.find</a:t>
            </a:r>
            <a:r>
              <a:rPr lang="en-US" sz="2000" dirty="0"/>
              <a:t>({_id: {$in: </a:t>
            </a:r>
            <a:r>
              <a:rPr lang="en-US" sz="2000" dirty="0" err="1"/>
              <a:t>book.authors</a:t>
            </a:r>
            <a:r>
              <a:rPr lang="en-US" sz="2000" dirty="0"/>
              <a:t>}}).</a:t>
            </a:r>
            <a:r>
              <a:rPr lang="en-US" sz="2000" dirty="0" err="1"/>
              <a:t>toArray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We have to perform two queries in both directions…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either the author or the book…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Perform a $in query to find the books or authors</a:t>
            </a:r>
          </a:p>
        </p:txBody>
      </p:sp>
    </p:spTree>
    <p:extLst>
      <p:ext uri="{BB962C8B-B14F-4D97-AF65-F5344CB8AC3E}">
        <p14:creationId xmlns:p14="http://schemas.microsoft.com/office/powerpoint/2010/main" val="16327152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Architecture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509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2209800"/>
            <a:ext cx="3962400" cy="4876800"/>
          </a:xfrm>
        </p:spPr>
        <p:txBody>
          <a:bodyPr>
            <a:normAutofit/>
          </a:bodyPr>
          <a:lstStyle/>
          <a:p>
            <a:r>
              <a:rPr lang="en-US" sz="2000" dirty="0"/>
              <a:t>Replica set (master / slave)</a:t>
            </a:r>
          </a:p>
          <a:p>
            <a:r>
              <a:rPr lang="en-US" sz="2000" dirty="0"/>
              <a:t>Shard (replica set within a cluster)</a:t>
            </a:r>
          </a:p>
          <a:p>
            <a:r>
              <a:rPr lang="en-US" sz="2000" dirty="0" err="1"/>
              <a:t>Config</a:t>
            </a:r>
            <a:r>
              <a:rPr lang="en-US" sz="2000" dirty="0"/>
              <a:t> server (topology)</a:t>
            </a:r>
          </a:p>
          <a:p>
            <a:r>
              <a:rPr lang="en-US" sz="2000" dirty="0"/>
              <a:t>Mongos (router)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Shard key is an indexed field that determines o which shard a particular document belongs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114</a:t>
            </a:fld>
            <a:endParaRPr lang="en-US"/>
          </a:p>
        </p:txBody>
      </p:sp>
      <p:pic>
        <p:nvPicPr>
          <p:cNvPr id="1028" name="Picture 4" descr="Diagram of a sample sharded cluster for production purposes.  Contains exactly 3 config servers, 2 or more ``mongos`` query routers, and at least 2 shards. The shards are replica sets.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694812"/>
            <a:ext cx="5410200" cy="370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690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8384" y="6245749"/>
            <a:ext cx="44101" cy="305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09071" y="6206536"/>
            <a:ext cx="72693" cy="300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34148" y="6204205"/>
            <a:ext cx="77813" cy="305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33164" y="6341698"/>
            <a:ext cx="1051273" cy="221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115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502278" y="1527505"/>
            <a:ext cx="21424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585858"/>
                </a:solidFill>
                <a:latin typeface="Arial"/>
                <a:cs typeface="Arial"/>
              </a:rPr>
              <a:t>Auto-Sharding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579875"/>
            <a:ext cx="7447280" cy="229616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89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Increase capacity as you</a:t>
            </a:r>
            <a:r>
              <a:rPr sz="2400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go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Commodity and cloud</a:t>
            </a:r>
            <a:r>
              <a:rPr sz="2400" spc="3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architectures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Improved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operational simplicity and </a:t>
            </a: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cost</a:t>
            </a:r>
            <a:r>
              <a:rPr sz="2400" spc="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visibility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Into petabytes,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millions </a:t>
            </a: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ops/sec,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thousands </a:t>
            </a:r>
            <a:r>
              <a:rPr sz="2400" dirty="0">
                <a:solidFill>
                  <a:srgbClr val="585858"/>
                </a:solidFill>
                <a:latin typeface="Arial"/>
                <a:cs typeface="Arial"/>
              </a:rPr>
              <a:t>of</a:t>
            </a:r>
            <a:r>
              <a:rPr sz="2400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048255"/>
            <a:ext cx="9143999" cy="1670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8384" y="6245749"/>
            <a:ext cx="44101" cy="305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09071" y="6206536"/>
            <a:ext cx="72693" cy="300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34148" y="6204205"/>
            <a:ext cx="77813" cy="305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33164" y="6341698"/>
            <a:ext cx="1051273" cy="221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3667187"/>
            <a:ext cx="6987540" cy="229616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89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4E4B4B"/>
                </a:solidFill>
                <a:latin typeface="Arial"/>
                <a:cs typeface="Arial"/>
              </a:rPr>
              <a:t>Automated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replication </a:t>
            </a:r>
            <a:r>
              <a:rPr sz="2400" dirty="0">
                <a:solidFill>
                  <a:srgbClr val="4E4B4B"/>
                </a:solidFill>
                <a:latin typeface="Arial"/>
                <a:cs typeface="Arial"/>
              </a:rPr>
              <a:t>and</a:t>
            </a:r>
            <a:r>
              <a:rPr sz="2400" spc="40" dirty="0">
                <a:solidFill>
                  <a:srgbClr val="4E4B4B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failover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Multi-data center</a:t>
            </a:r>
            <a:r>
              <a:rPr sz="2400" spc="0" dirty="0">
                <a:solidFill>
                  <a:srgbClr val="4E4B4B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support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4E4B4B"/>
                </a:solidFill>
                <a:latin typeface="Arial"/>
                <a:cs typeface="Arial"/>
              </a:rPr>
              <a:t>Improved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operational simplicity </a:t>
            </a:r>
            <a:r>
              <a:rPr sz="2400" dirty="0">
                <a:solidFill>
                  <a:srgbClr val="4E4B4B"/>
                </a:solidFill>
                <a:latin typeface="Arial"/>
                <a:cs typeface="Arial"/>
              </a:rPr>
              <a:t>(e.g., HW</a:t>
            </a:r>
            <a:r>
              <a:rPr sz="2400" spc="100" dirty="0">
                <a:solidFill>
                  <a:srgbClr val="4E4B4B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swaps)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Data durability and</a:t>
            </a:r>
            <a:r>
              <a:rPr sz="2400" spc="65" dirty="0">
                <a:solidFill>
                  <a:srgbClr val="4E4B4B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E4B4B"/>
                </a:solidFill>
                <a:latin typeface="Arial"/>
                <a:cs typeface="Arial"/>
              </a:rPr>
              <a:t>consistency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1992" y="1446275"/>
            <a:ext cx="5009387" cy="22463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523240" y="6313599"/>
            <a:ext cx="2063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116</a:t>
            </a:fld>
            <a:endParaRPr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8384" y="6245749"/>
            <a:ext cx="44101" cy="305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09071" y="6206536"/>
            <a:ext cx="72693" cy="300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34148" y="6204205"/>
            <a:ext cx="77813" cy="305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33164" y="6341698"/>
            <a:ext cx="1051273" cy="221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282066"/>
            <a:ext cx="5054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FFFFFF"/>
                </a:solidFill>
              </a:rPr>
              <a:t>MongoDB</a:t>
            </a:r>
            <a:r>
              <a:rPr sz="3600" spc="-130" dirty="0">
                <a:solidFill>
                  <a:srgbClr val="FFFFFF"/>
                </a:solidFill>
              </a:rPr>
              <a:t> </a:t>
            </a:r>
            <a:r>
              <a:rPr sz="3600" spc="15" dirty="0">
                <a:solidFill>
                  <a:srgbClr val="FFFFFF"/>
                </a:solidFill>
              </a:rPr>
              <a:t>Architecture</a:t>
            </a:r>
            <a:endParaRPr sz="3600"/>
          </a:p>
        </p:txBody>
      </p:sp>
      <p:sp>
        <p:nvSpPr>
          <p:cNvPr id="7" name="object 7"/>
          <p:cNvSpPr/>
          <p:nvPr/>
        </p:nvSpPr>
        <p:spPr>
          <a:xfrm>
            <a:off x="149352" y="1513332"/>
            <a:ext cx="8845296" cy="43738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23240" y="6313599"/>
            <a:ext cx="2063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117</a:t>
            </a:fld>
            <a:endParaRPr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Aggregation Framework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70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955" y="1725167"/>
            <a:ext cx="1973579" cy="2357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7989" y="547242"/>
            <a:ext cx="4772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Analytics </a:t>
            </a:r>
            <a:r>
              <a:rPr sz="3600" spc="-85" dirty="0"/>
              <a:t>in</a:t>
            </a:r>
            <a:r>
              <a:rPr sz="3600" spc="-434" dirty="0"/>
              <a:t> </a:t>
            </a:r>
            <a:r>
              <a:rPr sz="3600" spc="-140" dirty="0"/>
              <a:t>MongoDB?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21816" y="3898138"/>
            <a:ext cx="84709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reate  </a:t>
            </a:r>
            <a:r>
              <a:rPr sz="2000" b="1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ead  </a:t>
            </a:r>
            <a:r>
              <a:rPr sz="2000" b="1" spc="0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pdate  </a:t>
            </a:r>
            <a:r>
              <a:rPr sz="2000" b="1" dirty="0"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elete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6439" y="2747772"/>
            <a:ext cx="1338072" cy="4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0683" y="2388107"/>
            <a:ext cx="877824" cy="1124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88783" y="1851151"/>
            <a:ext cx="836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585858"/>
                </a:solidFill>
                <a:latin typeface="Arial"/>
                <a:cs typeface="Arial"/>
              </a:rPr>
              <a:t>Ana</a:t>
            </a:r>
            <a:r>
              <a:rPr sz="1600" dirty="0">
                <a:solidFill>
                  <a:srgbClr val="585858"/>
                </a:solidFill>
                <a:latin typeface="Arial"/>
                <a:cs typeface="Arial"/>
              </a:rPr>
              <a:t>l</a:t>
            </a:r>
            <a:r>
              <a:rPr sz="1600" spc="-25" dirty="0">
                <a:solidFill>
                  <a:srgbClr val="585858"/>
                </a:solidFill>
                <a:latin typeface="Arial"/>
                <a:cs typeface="Arial"/>
              </a:rPr>
              <a:t>y</a:t>
            </a:r>
            <a:r>
              <a:rPr sz="1600" spc="-5" dirty="0">
                <a:solidFill>
                  <a:srgbClr val="585858"/>
                </a:solidFill>
                <a:latin typeface="Arial"/>
                <a:cs typeface="Arial"/>
              </a:rPr>
              <a:t>tics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8469" y="2361057"/>
            <a:ext cx="252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85858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4378" y="3901185"/>
            <a:ext cx="127381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0245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Arial"/>
                <a:cs typeface="Arial"/>
              </a:rPr>
              <a:t>G</a:t>
            </a:r>
            <a:r>
              <a:rPr sz="1600" spc="-5" dirty="0">
                <a:latin typeface="Arial"/>
                <a:cs typeface="Arial"/>
              </a:rPr>
              <a:t>roup  </a:t>
            </a:r>
            <a:r>
              <a:rPr sz="1600" spc="-10" dirty="0">
                <a:latin typeface="Arial"/>
                <a:cs typeface="Arial"/>
              </a:rPr>
              <a:t>Count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Derive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Values  </a:t>
            </a:r>
            <a:r>
              <a:rPr sz="1600" spc="-5" dirty="0">
                <a:latin typeface="Arial"/>
                <a:cs typeface="Arial"/>
              </a:rPr>
              <a:t>Filter  </a:t>
            </a:r>
            <a:r>
              <a:rPr sz="1600" spc="-10" dirty="0">
                <a:latin typeface="Arial"/>
                <a:cs typeface="Arial"/>
              </a:rPr>
              <a:t>Average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Sort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42788" y="2776727"/>
            <a:ext cx="1338071" cy="4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63511" y="2214372"/>
            <a:ext cx="1895855" cy="1443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1374" y="452103"/>
            <a:ext cx="779382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5" dirty="0">
                <a:solidFill>
                  <a:srgbClr val="6BA342"/>
                </a:solidFill>
              </a:rPr>
              <a:t>Aggregation </a:t>
            </a:r>
            <a:r>
              <a:rPr sz="3600" spc="50" dirty="0">
                <a:solidFill>
                  <a:srgbClr val="6BA342"/>
                </a:solidFill>
              </a:rPr>
              <a:t>in </a:t>
            </a:r>
            <a:r>
              <a:rPr sz="3600" spc="55" dirty="0">
                <a:solidFill>
                  <a:srgbClr val="6BA342"/>
                </a:solidFill>
              </a:rPr>
              <a:t>Nutshell</a:t>
            </a:r>
            <a:endParaRPr sz="3600" dirty="0"/>
          </a:p>
        </p:txBody>
      </p:sp>
      <p:sp>
        <p:nvSpPr>
          <p:cNvPr id="7" name="object 7"/>
          <p:cNvSpPr txBox="1"/>
          <p:nvPr/>
        </p:nvSpPr>
        <p:spPr>
          <a:xfrm>
            <a:off x="615949" y="1330707"/>
            <a:ext cx="7811134" cy="3365537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510"/>
              </a:spcBef>
              <a:buClr>
                <a:srgbClr val="6BA342"/>
              </a:buClr>
              <a:buSzPct val="83928"/>
              <a:buFont typeface="Arial"/>
              <a:buChar char="•"/>
              <a:tabLst>
                <a:tab pos="268605" algn="l"/>
                <a:tab pos="269240" algn="l"/>
              </a:tabLst>
            </a:pPr>
            <a:r>
              <a:rPr sz="2800" spc="-145" dirty="0">
                <a:solidFill>
                  <a:srgbClr val="625F5E"/>
                </a:solidFill>
                <a:latin typeface="Calibri"/>
                <a:cs typeface="Calibri"/>
              </a:rPr>
              <a:t>We're </a:t>
            </a:r>
            <a:r>
              <a:rPr sz="2800" spc="-25" dirty="0">
                <a:solidFill>
                  <a:srgbClr val="625F5E"/>
                </a:solidFill>
                <a:latin typeface="Calibri"/>
                <a:cs typeface="Calibri"/>
              </a:rPr>
              <a:t>storing </a:t>
            </a:r>
            <a:r>
              <a:rPr sz="2800" spc="-55" dirty="0">
                <a:solidFill>
                  <a:srgbClr val="625F5E"/>
                </a:solidFill>
                <a:latin typeface="Calibri"/>
                <a:cs typeface="Calibri"/>
              </a:rPr>
              <a:t>our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data </a:t>
            </a:r>
            <a:r>
              <a:rPr sz="2800" spc="25" dirty="0">
                <a:solidFill>
                  <a:srgbClr val="625F5E"/>
                </a:solidFill>
                <a:latin typeface="Calibri"/>
                <a:cs typeface="Calibri"/>
              </a:rPr>
              <a:t>in</a:t>
            </a:r>
            <a:r>
              <a:rPr sz="2800" spc="-190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625F5E"/>
                </a:solidFill>
                <a:latin typeface="Calibri"/>
                <a:cs typeface="Calibri"/>
              </a:rPr>
              <a:t>MongoDB</a:t>
            </a:r>
            <a:endParaRPr sz="2800" dirty="0">
              <a:latin typeface="Calibri"/>
              <a:cs typeface="Calibri"/>
            </a:endParaRPr>
          </a:p>
          <a:p>
            <a:pPr marL="266700" marR="921385" indent="-254000">
              <a:lnSpc>
                <a:spcPct val="105000"/>
              </a:lnSpc>
              <a:spcBef>
                <a:spcPts val="1245"/>
              </a:spcBef>
              <a:buClr>
                <a:srgbClr val="6BA342"/>
              </a:buClr>
              <a:buSzPct val="83928"/>
              <a:buFont typeface="Arial"/>
              <a:buChar char="•"/>
              <a:tabLst>
                <a:tab pos="268605" algn="l"/>
                <a:tab pos="269240" algn="l"/>
              </a:tabLst>
            </a:pPr>
            <a:r>
              <a:rPr sz="2800" spc="-45" dirty="0">
                <a:solidFill>
                  <a:srgbClr val="625F5E"/>
                </a:solidFill>
                <a:latin typeface="Calibri"/>
                <a:cs typeface="Calibri"/>
              </a:rPr>
              <a:t>Our </a:t>
            </a:r>
            <a:r>
              <a:rPr sz="2800" spc="-25" dirty="0">
                <a:solidFill>
                  <a:srgbClr val="625F5E"/>
                </a:solidFill>
                <a:latin typeface="Calibri"/>
                <a:cs typeface="Calibri"/>
              </a:rPr>
              <a:t>applications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need </a:t>
            </a:r>
            <a:r>
              <a:rPr sz="2800" spc="-35" dirty="0">
                <a:solidFill>
                  <a:srgbClr val="625F5E"/>
                </a:solidFill>
                <a:latin typeface="Calibri"/>
                <a:cs typeface="Calibri"/>
              </a:rPr>
              <a:t>to </a:t>
            </a:r>
            <a:r>
              <a:rPr sz="2800" spc="-45" dirty="0">
                <a:solidFill>
                  <a:srgbClr val="625F5E"/>
                </a:solidFill>
                <a:latin typeface="Calibri"/>
                <a:cs typeface="Calibri"/>
              </a:rPr>
              <a:t>run 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ad-hoc </a:t>
            </a:r>
            <a:r>
              <a:rPr sz="2800" spc="-45" dirty="0">
                <a:solidFill>
                  <a:srgbClr val="625F5E"/>
                </a:solidFill>
                <a:latin typeface="Calibri"/>
                <a:cs typeface="Calibri"/>
              </a:rPr>
              <a:t>queries</a:t>
            </a:r>
            <a:r>
              <a:rPr sz="2800" spc="-41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625F5E"/>
                </a:solidFill>
                <a:latin typeface="Calibri"/>
                <a:cs typeface="Calibri"/>
              </a:rPr>
              <a:t>for 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grouping,</a:t>
            </a:r>
            <a:r>
              <a:rPr sz="2800" spc="-310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625F5E"/>
                </a:solidFill>
                <a:latin typeface="Calibri"/>
                <a:cs typeface="Calibri"/>
              </a:rPr>
              <a:t>summarizations,</a:t>
            </a:r>
            <a:r>
              <a:rPr sz="2800" spc="-310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625F5E"/>
                </a:solidFill>
                <a:latin typeface="Calibri"/>
                <a:cs typeface="Calibri"/>
              </a:rPr>
              <a:t>reporting,</a:t>
            </a:r>
            <a:r>
              <a:rPr sz="2800" spc="-310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625F5E"/>
                </a:solidFill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266700" marR="5080" indent="-254000">
              <a:lnSpc>
                <a:spcPct val="108000"/>
              </a:lnSpc>
              <a:spcBef>
                <a:spcPts val="1145"/>
              </a:spcBef>
              <a:buClr>
                <a:srgbClr val="6BA342"/>
              </a:buClr>
              <a:buSzPct val="83928"/>
              <a:buFont typeface="Arial"/>
              <a:buChar char="•"/>
              <a:tabLst>
                <a:tab pos="268605" algn="l"/>
                <a:tab pos="269240" algn="l"/>
              </a:tabLst>
            </a:pPr>
            <a:r>
              <a:rPr sz="2800" spc="-125" dirty="0">
                <a:solidFill>
                  <a:srgbClr val="625F5E"/>
                </a:solidFill>
                <a:latin typeface="Calibri"/>
                <a:cs typeface="Calibri"/>
              </a:rPr>
              <a:t>We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625F5E"/>
                </a:solidFill>
                <a:latin typeface="Calibri"/>
                <a:cs typeface="Calibri"/>
              </a:rPr>
              <a:t>must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have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40" dirty="0">
                <a:solidFill>
                  <a:srgbClr val="625F5E"/>
                </a:solidFill>
                <a:latin typeface="Calibri"/>
                <a:cs typeface="Calibri"/>
              </a:rPr>
              <a:t>a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way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625F5E"/>
                </a:solidFill>
                <a:latin typeface="Calibri"/>
                <a:cs typeface="Calibri"/>
              </a:rPr>
              <a:t>to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625F5E"/>
                </a:solidFill>
                <a:latin typeface="Calibri"/>
                <a:cs typeface="Calibri"/>
              </a:rPr>
              <a:t>reshape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data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25F5E"/>
                </a:solidFill>
                <a:latin typeface="Calibri"/>
                <a:cs typeface="Calibri"/>
              </a:rPr>
              <a:t>easily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625F5E"/>
                </a:solidFill>
                <a:latin typeface="Calibri"/>
                <a:cs typeface="Calibri"/>
              </a:rPr>
              <a:t>to</a:t>
            </a:r>
            <a:r>
              <a:rPr sz="2800" spc="-9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625F5E"/>
                </a:solidFill>
                <a:latin typeface="Calibri"/>
                <a:cs typeface="Calibri"/>
              </a:rPr>
              <a:t>support 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these 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access</a:t>
            </a:r>
            <a:r>
              <a:rPr sz="2800" spc="-14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625F5E"/>
                </a:solidFill>
                <a:latin typeface="Calibri"/>
                <a:cs typeface="Calibri"/>
              </a:rPr>
              <a:t>patterns</a:t>
            </a:r>
            <a:endParaRPr sz="2800" dirty="0">
              <a:latin typeface="Calibri"/>
              <a:cs typeface="Calibri"/>
            </a:endParaRPr>
          </a:p>
          <a:p>
            <a:pPr marL="266700" indent="-254000">
              <a:lnSpc>
                <a:spcPct val="100000"/>
              </a:lnSpc>
              <a:spcBef>
                <a:spcPts val="1410"/>
              </a:spcBef>
              <a:buClr>
                <a:srgbClr val="6BA342"/>
              </a:buClr>
              <a:buSzPct val="83928"/>
              <a:buFont typeface="Arial"/>
              <a:buChar char="•"/>
              <a:tabLst>
                <a:tab pos="268605" algn="l"/>
                <a:tab pos="269240" algn="l"/>
              </a:tabLst>
            </a:pPr>
            <a:r>
              <a:rPr sz="2800" spc="-60" dirty="0">
                <a:solidFill>
                  <a:srgbClr val="625F5E"/>
                </a:solidFill>
                <a:latin typeface="Calibri"/>
                <a:cs typeface="Calibri"/>
              </a:rPr>
              <a:t>You </a:t>
            </a:r>
            <a:r>
              <a:rPr sz="2800" spc="-5" dirty="0">
                <a:solidFill>
                  <a:srgbClr val="625F5E"/>
                </a:solidFill>
                <a:latin typeface="Calibri"/>
                <a:cs typeface="Calibri"/>
              </a:rPr>
              <a:t>can 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use </a:t>
            </a:r>
            <a:r>
              <a:rPr lang="en-US" sz="2800" spc="-20" dirty="0">
                <a:solidFill>
                  <a:srgbClr val="625F5E"/>
                </a:solidFill>
                <a:latin typeface="Calibri"/>
                <a:cs typeface="Calibri"/>
              </a:rPr>
              <a:t>the a</a:t>
            </a:r>
            <a:r>
              <a:rPr sz="2800" spc="-20" dirty="0">
                <a:solidFill>
                  <a:srgbClr val="625F5E"/>
                </a:solidFill>
                <a:latin typeface="Calibri"/>
                <a:cs typeface="Calibri"/>
              </a:rPr>
              <a:t>ggregation </a:t>
            </a:r>
            <a:r>
              <a:rPr lang="en-US" sz="2800" spc="-50" dirty="0">
                <a:solidFill>
                  <a:srgbClr val="625F5E"/>
                </a:solidFill>
                <a:latin typeface="Calibri"/>
                <a:cs typeface="Calibri"/>
              </a:rPr>
              <a:t>f</a:t>
            </a:r>
            <a:r>
              <a:rPr sz="2800" spc="-50" dirty="0">
                <a:solidFill>
                  <a:srgbClr val="625F5E"/>
                </a:solidFill>
                <a:latin typeface="Calibri"/>
                <a:cs typeface="Calibri"/>
              </a:rPr>
              <a:t>ramework </a:t>
            </a:r>
            <a:r>
              <a:rPr sz="2800" spc="-55" dirty="0">
                <a:solidFill>
                  <a:srgbClr val="625F5E"/>
                </a:solidFill>
                <a:latin typeface="Calibri"/>
                <a:cs typeface="Calibri"/>
              </a:rPr>
              <a:t>for</a:t>
            </a:r>
            <a:r>
              <a:rPr sz="2800" spc="-385" dirty="0">
                <a:solidFill>
                  <a:srgbClr val="625F5E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625F5E"/>
                </a:solidFill>
                <a:latin typeface="Calibri"/>
                <a:cs typeface="Calibri"/>
              </a:rPr>
              <a:t>this</a:t>
            </a:r>
            <a:endParaRPr lang="en-US" sz="2800" spc="-40" dirty="0">
              <a:solidFill>
                <a:srgbClr val="625F5E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Modeled on the concept of data processing pipelines</a:t>
            </a:r>
          </a:p>
          <a:p>
            <a:r>
              <a:rPr lang="en-US" dirty="0"/>
              <a:t>Documents enter a multi-stage pipeline that transforms the documents into aggregated results</a:t>
            </a:r>
          </a:p>
          <a:p>
            <a:r>
              <a:rPr lang="en-US" dirty="0"/>
              <a:t>The MongoDB aggregation pipeline consists of stages</a:t>
            </a:r>
          </a:p>
          <a:p>
            <a:r>
              <a:rPr lang="en-US" dirty="0"/>
              <a:t>Each stage transforms the documents as they pass through the pipeline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9291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3990" y="547242"/>
            <a:ext cx="6675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0" dirty="0"/>
              <a:t>What</a:t>
            </a:r>
            <a:r>
              <a:rPr sz="3600" spc="-295" dirty="0"/>
              <a:t> </a:t>
            </a:r>
            <a:r>
              <a:rPr sz="3600" spc="-85" dirty="0"/>
              <a:t>is</a:t>
            </a:r>
            <a:r>
              <a:rPr sz="3600" spc="-305" dirty="0"/>
              <a:t> </a:t>
            </a:r>
            <a:r>
              <a:rPr sz="3600" spc="-80" dirty="0"/>
              <a:t>an</a:t>
            </a:r>
            <a:r>
              <a:rPr sz="3600" spc="-440" dirty="0"/>
              <a:t> </a:t>
            </a:r>
            <a:r>
              <a:rPr sz="3600" spc="-145" dirty="0"/>
              <a:t>Aggregation</a:t>
            </a:r>
            <a:r>
              <a:rPr sz="3600" spc="-260" dirty="0"/>
              <a:t> </a:t>
            </a:r>
            <a:r>
              <a:rPr sz="3600" spc="-145" dirty="0"/>
              <a:t>Pipeline?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64805"/>
            <a:ext cx="4716780" cy="14897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A Series of </a:t>
            </a:r>
            <a:r>
              <a:rPr lang="en-US" sz="2000" dirty="0">
                <a:solidFill>
                  <a:srgbClr val="232322"/>
                </a:solidFill>
                <a:latin typeface="Arial"/>
                <a:cs typeface="Arial"/>
              </a:rPr>
              <a:t>d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ocument</a:t>
            </a:r>
            <a:r>
              <a:rPr sz="2000" spc="-270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lang="en-US" sz="2000" spc="-5" dirty="0">
                <a:solidFill>
                  <a:srgbClr val="23232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232322"/>
                </a:solidFill>
                <a:latin typeface="Arial"/>
                <a:cs typeface="Arial"/>
              </a:rPr>
              <a:t>ransformations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Executed in</a:t>
            </a:r>
            <a:r>
              <a:rPr sz="2000" spc="-25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stages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Original input is a</a:t>
            </a:r>
            <a:r>
              <a:rPr sz="2000" spc="-65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collection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Output as a cursor or a</a:t>
            </a:r>
            <a:r>
              <a:rPr sz="2000" spc="-155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collection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126835"/>
            <a:ext cx="5664200" cy="14890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Rich Library of</a:t>
            </a:r>
            <a:r>
              <a:rPr sz="2000" spc="-65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solidFill>
                  <a:srgbClr val="232322"/>
                </a:solidFill>
                <a:latin typeface="Arial"/>
                <a:cs typeface="Arial"/>
              </a:rPr>
              <a:t>Filter,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compute, group, and summarize</a:t>
            </a:r>
            <a:r>
              <a:rPr sz="2000" spc="-150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Output of one stage sent to input of</a:t>
            </a:r>
            <a:r>
              <a:rPr sz="2000" spc="-190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next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Operations executed in sequential</a:t>
            </a:r>
            <a:r>
              <a:rPr sz="2000" spc="-110" dirty="0">
                <a:solidFill>
                  <a:srgbClr val="2323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2322"/>
                </a:solidFill>
                <a:latin typeface="Arial"/>
                <a:cs typeface="Arial"/>
              </a:rPr>
              <a:t>order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5652" y="3075432"/>
            <a:ext cx="6463284" cy="873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get an aggregation pipeline started call the </a:t>
            </a:r>
            <a:r>
              <a:rPr lang="en-US" b="1" dirty="0"/>
              <a:t>aggregate </a:t>
            </a:r>
            <a:r>
              <a:rPr lang="en-US" dirty="0"/>
              <a:t>function on any collection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db.collection.aggregate</a:t>
            </a:r>
            <a:r>
              <a:rPr lang="en-US" dirty="0"/>
              <a:t>([ ... aggregation steps go here ...])</a:t>
            </a:r>
          </a:p>
          <a:p>
            <a:endParaRPr lang="en-US" dirty="0"/>
          </a:p>
          <a:p>
            <a:r>
              <a:rPr lang="en-US" dirty="0"/>
              <a:t>Accepts an array of data transformations which are applied to the data in the order they're defined</a:t>
            </a:r>
          </a:p>
          <a:p>
            <a:endParaRPr lang="en-US" dirty="0"/>
          </a:p>
          <a:p>
            <a:r>
              <a:rPr lang="en-US" dirty="0"/>
              <a:t>Transformations listed first will be executed first and the result will be used by next transformation in sequence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7947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8117" y="547242"/>
            <a:ext cx="4227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Aggregation</a:t>
            </a:r>
            <a:r>
              <a:rPr sz="3600" spc="-295" dirty="0"/>
              <a:t> </a:t>
            </a:r>
            <a:r>
              <a:rPr sz="3600" spc="-145" dirty="0"/>
              <a:t>Pipeline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5924" y="1220724"/>
            <a:ext cx="7463028" cy="5375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8117" y="547242"/>
            <a:ext cx="4227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Aggregation</a:t>
            </a:r>
            <a:r>
              <a:rPr sz="3600" spc="-295" dirty="0"/>
              <a:t> </a:t>
            </a:r>
            <a:r>
              <a:rPr sz="3600" spc="-145" dirty="0"/>
              <a:t>Pipeline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5924" y="1219200"/>
            <a:ext cx="7463028" cy="5375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5702" y="469951"/>
            <a:ext cx="723289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5" dirty="0">
                <a:solidFill>
                  <a:srgbClr val="6BA342"/>
                </a:solidFill>
              </a:rPr>
              <a:t>Pipeline</a:t>
            </a:r>
            <a:r>
              <a:rPr lang="en-US" sz="3600" spc="65" dirty="0">
                <a:solidFill>
                  <a:srgbClr val="6BA342"/>
                </a:solidFill>
              </a:rPr>
              <a:t> </a:t>
            </a:r>
            <a:r>
              <a:rPr sz="3600" spc="0" dirty="0">
                <a:solidFill>
                  <a:srgbClr val="6BA342"/>
                </a:solidFill>
              </a:rPr>
              <a:t>Operators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4658758" y="1183640"/>
            <a:ext cx="4167504" cy="5140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40"/>
              </a:lnSpc>
              <a:spcBef>
                <a:spcPts val="100"/>
              </a:spcBef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25" dirty="0">
                <a:solidFill>
                  <a:srgbClr val="3A281E"/>
                </a:solidFill>
                <a:latin typeface="Calibri"/>
                <a:cs typeface="Calibri"/>
              </a:rPr>
              <a:t>$sort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ts val="2840"/>
              </a:lnSpc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5" dirty="0">
                <a:solidFill>
                  <a:srgbClr val="3A281E"/>
                </a:solidFill>
                <a:latin typeface="Calibri"/>
                <a:cs typeface="Calibri"/>
              </a:rPr>
              <a:t>Order</a:t>
            </a:r>
            <a:r>
              <a:rPr sz="2400" spc="8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BA342"/>
              </a:buClr>
              <a:buFont typeface="Arial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75" dirty="0">
                <a:solidFill>
                  <a:srgbClr val="3A281E"/>
                </a:solidFill>
                <a:latin typeface="Calibri"/>
                <a:cs typeface="Calibri"/>
              </a:rPr>
              <a:t>$limit </a:t>
            </a:r>
            <a:r>
              <a:rPr sz="2400" spc="-80" dirty="0">
                <a:solidFill>
                  <a:srgbClr val="3A281E"/>
                </a:solidFill>
                <a:latin typeface="Calibri"/>
                <a:cs typeface="Calibri"/>
              </a:rPr>
              <a:t>/</a:t>
            </a:r>
            <a:r>
              <a:rPr sz="2400" spc="100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65" dirty="0">
                <a:solidFill>
                  <a:srgbClr val="3A281E"/>
                </a:solidFill>
                <a:latin typeface="Calibri"/>
                <a:cs typeface="Calibri"/>
              </a:rPr>
              <a:t>$skip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60" dirty="0">
                <a:solidFill>
                  <a:srgbClr val="3A281E"/>
                </a:solidFill>
                <a:latin typeface="Calibri"/>
                <a:cs typeface="Calibri"/>
              </a:rPr>
              <a:t>Paginate</a:t>
            </a:r>
            <a:r>
              <a:rPr sz="2400" spc="80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6BA342"/>
              </a:buClr>
              <a:buFont typeface="Arial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25" dirty="0">
                <a:solidFill>
                  <a:srgbClr val="3A281E"/>
                </a:solidFill>
                <a:latin typeface="Calibri"/>
                <a:cs typeface="Calibri"/>
              </a:rPr>
              <a:t>$redact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25" dirty="0">
                <a:solidFill>
                  <a:srgbClr val="3A281E"/>
                </a:solidFill>
                <a:latin typeface="Calibri"/>
                <a:cs typeface="Calibri"/>
              </a:rPr>
              <a:t>Restrict</a:t>
            </a:r>
            <a:r>
              <a:rPr sz="2400" spc="8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BA342"/>
              </a:buClr>
              <a:buFont typeface="Arial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$geoNear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55" dirty="0">
                <a:solidFill>
                  <a:srgbClr val="3A281E"/>
                </a:solidFill>
                <a:latin typeface="Calibri"/>
                <a:cs typeface="Calibri"/>
              </a:rPr>
              <a:t>Proximity </a:t>
            </a:r>
            <a:r>
              <a:rPr sz="2400" spc="15" dirty="0">
                <a:solidFill>
                  <a:srgbClr val="3A281E"/>
                </a:solidFill>
                <a:latin typeface="Calibri"/>
                <a:cs typeface="Calibri"/>
              </a:rPr>
              <a:t>sort</a:t>
            </a:r>
            <a:r>
              <a:rPr sz="2400" spc="7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6BA342"/>
              </a:buClr>
              <a:buFont typeface="Arial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25" dirty="0">
                <a:solidFill>
                  <a:srgbClr val="3A281E"/>
                </a:solidFill>
                <a:latin typeface="Calibri"/>
                <a:cs typeface="Calibri"/>
              </a:rPr>
              <a:t>$let,</a:t>
            </a:r>
            <a:r>
              <a:rPr sz="2400" spc="-9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$map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25" dirty="0">
                <a:solidFill>
                  <a:srgbClr val="3A281E"/>
                </a:solidFill>
                <a:latin typeface="Calibri"/>
                <a:cs typeface="Calibri"/>
              </a:rPr>
              <a:t>Define</a:t>
            </a:r>
            <a:r>
              <a:rPr sz="2400" spc="8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variables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982" y="1175964"/>
            <a:ext cx="378587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40"/>
              </a:lnSpc>
              <a:spcBef>
                <a:spcPts val="100"/>
              </a:spcBef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40" dirty="0">
                <a:solidFill>
                  <a:srgbClr val="3A281E"/>
                </a:solidFill>
                <a:latin typeface="Calibri"/>
                <a:cs typeface="Calibri"/>
              </a:rPr>
              <a:t>$match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ts val="2840"/>
              </a:lnSpc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60" dirty="0">
                <a:solidFill>
                  <a:srgbClr val="3A281E"/>
                </a:solidFill>
                <a:latin typeface="Calibri"/>
                <a:cs typeface="Calibri"/>
              </a:rPr>
              <a:t>Filter</a:t>
            </a:r>
            <a:r>
              <a:rPr sz="2400" spc="80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BA342"/>
              </a:buClr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$project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Reshape</a:t>
            </a:r>
            <a:r>
              <a:rPr sz="2400" spc="7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6BA342"/>
              </a:buClr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$group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Summarize</a:t>
            </a:r>
            <a:r>
              <a:rPr sz="2400" spc="55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6BA342"/>
              </a:buClr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6BA342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50" dirty="0">
                <a:solidFill>
                  <a:srgbClr val="3A281E"/>
                </a:solidFill>
                <a:latin typeface="Calibri"/>
                <a:cs typeface="Calibri"/>
              </a:rPr>
              <a:t>$unwind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Clr>
                <a:srgbClr val="6BA342"/>
              </a:buClr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75" dirty="0">
                <a:solidFill>
                  <a:srgbClr val="3A281E"/>
                </a:solidFill>
                <a:latin typeface="Calibri"/>
                <a:cs typeface="Calibri"/>
              </a:rPr>
              <a:t>Expand</a:t>
            </a:r>
            <a:r>
              <a:rPr sz="2400" spc="80" dirty="0">
                <a:solidFill>
                  <a:srgbClr val="3A281E"/>
                </a:solidFill>
                <a:latin typeface="Calibri"/>
                <a:cs typeface="Calibri"/>
              </a:rPr>
              <a:t> </a:t>
            </a:r>
            <a:r>
              <a:rPr sz="2400" spc="30" dirty="0">
                <a:solidFill>
                  <a:srgbClr val="3A281E"/>
                </a:solidFill>
                <a:latin typeface="Calibri"/>
                <a:cs typeface="Calibri"/>
              </a:rPr>
              <a:t>documents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400253"/>
            <a:ext cx="1803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$match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616102" y="1315862"/>
            <a:ext cx="586994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3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Filter</a:t>
            </a:r>
            <a:r>
              <a:rPr sz="3000" spc="-24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documents</a:t>
            </a:r>
            <a:endParaRPr sz="3000" dirty="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75" dirty="0">
                <a:solidFill>
                  <a:srgbClr val="615F5E"/>
                </a:solidFill>
                <a:latin typeface="Arial"/>
                <a:cs typeface="Arial"/>
              </a:rPr>
              <a:t>Uses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existing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query</a:t>
            </a:r>
            <a:r>
              <a:rPr sz="3000" spc="-5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syntax</a:t>
            </a:r>
            <a:endParaRPr sz="3000" dirty="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No</a:t>
            </a:r>
            <a:r>
              <a:rPr sz="3000" spc="-22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geospatial</a:t>
            </a:r>
            <a:r>
              <a:rPr sz="3000" spc="-25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operations</a:t>
            </a:r>
            <a:r>
              <a:rPr sz="30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615F5E"/>
                </a:solidFill>
                <a:latin typeface="Arial"/>
                <a:cs typeface="Arial"/>
              </a:rPr>
              <a:t>or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$where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4771505" y="1500447"/>
            <a:ext cx="3844636" cy="1122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3998" cy="1475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0"/>
                </a:moveTo>
                <a:lnTo>
                  <a:pt x="9143998" y="0"/>
                </a:lnTo>
                <a:lnTo>
                  <a:pt x="9143998" y="1405503"/>
                </a:lnTo>
                <a:lnTo>
                  <a:pt x="0" y="1405503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5701" y="455712"/>
            <a:ext cx="605110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6BA342"/>
                </a:solidFill>
              </a:rPr>
              <a:t>Matching </a:t>
            </a:r>
            <a:r>
              <a:rPr sz="3600" spc="85" dirty="0" err="1">
                <a:solidFill>
                  <a:srgbClr val="6BA342"/>
                </a:solidFill>
              </a:rPr>
              <a:t>Field</a:t>
            </a:r>
            <a:r>
              <a:rPr sz="3600" spc="10" dirty="0" err="1">
                <a:solidFill>
                  <a:srgbClr val="6BA342"/>
                </a:solidFill>
              </a:rPr>
              <a:t>Values</a:t>
            </a:r>
            <a:endParaRPr sz="3600" dirty="0"/>
          </a:p>
        </p:txBody>
      </p:sp>
      <p:sp>
        <p:nvSpPr>
          <p:cNvPr id="6" name="object 6"/>
          <p:cNvSpPr/>
          <p:nvPr/>
        </p:nvSpPr>
        <p:spPr>
          <a:xfrm>
            <a:off x="361603" y="3021675"/>
            <a:ext cx="3969326" cy="1666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1603" y="4655126"/>
            <a:ext cx="3969326" cy="15918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1603" y="1500446"/>
            <a:ext cx="3969326" cy="15253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17533" y="1524000"/>
            <a:ext cx="3752215" cy="10287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00330" rIns="0" bIns="0" rtlCol="0">
            <a:spAutoFit/>
          </a:bodyPr>
          <a:lstStyle/>
          <a:p>
            <a:pPr marL="10160">
              <a:lnSpc>
                <a:spcPts val="2130"/>
              </a:lnSpc>
              <a:spcBef>
                <a:spcPts val="79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$match: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3716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1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10160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06393" y="1524000"/>
          <a:ext cx="3877945" cy="4652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77010">
                <a:tc>
                  <a:txBody>
                    <a:bodyPr/>
                    <a:lstStyle/>
                    <a:p>
                      <a:pPr marL="90805">
                        <a:lnSpc>
                          <a:spcPts val="203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subject: "Hello</a:t>
                      </a:r>
                      <a:r>
                        <a:rPr sz="1800" b="1" spc="-1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There",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5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words:</a:t>
                      </a:r>
                      <a:r>
                        <a:rPr sz="1800" b="1" spc="-1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218,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from:</a:t>
                      </a:r>
                      <a:r>
                        <a:rPr sz="1800" b="1" spc="-3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  <a:hlinkClick r:id="rId8"/>
                        </a:rPr>
                        <a:t>norberto@mongodb.com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ts val="2080"/>
                        </a:lnSpc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B w="84665">
                      <a:solidFill>
                        <a:srgbClr val="FFFFFF"/>
                      </a:solidFill>
                      <a:prstDash val="solid"/>
                    </a:lnB>
                    <a:solidFill>
                      <a:srgbClr val="F0D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7825">
                <a:tc>
                  <a:txBody>
                    <a:bodyPr/>
                    <a:lstStyle/>
                    <a:p>
                      <a:pPr marL="90805">
                        <a:lnSpc>
                          <a:spcPts val="2030"/>
                        </a:lnSpc>
                        <a:spcBef>
                          <a:spcPts val="560"/>
                        </a:spcBef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subject: "I love</a:t>
                      </a:r>
                      <a:r>
                        <a:rPr sz="1800" b="1" spc="-1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Hofbrauhaus",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5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words:</a:t>
                      </a:r>
                      <a:r>
                        <a:rPr sz="1800" b="1" spc="-1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90,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844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from:</a:t>
                      </a:r>
                      <a:r>
                        <a:rPr sz="1800" b="1" spc="-3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  <a:hlinkClick r:id="rId8"/>
                        </a:rPr>
                        <a:t>norberto@mongodb.com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ts val="2080"/>
                        </a:lnSpc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T w="8466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0D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7175">
                <a:tc>
                  <a:txBody>
                    <a:bodyPr/>
                    <a:lstStyle/>
                    <a:p>
                      <a:pPr marL="86360">
                        <a:lnSpc>
                          <a:spcPts val="2030"/>
                        </a:lnSpc>
                        <a:spcBef>
                          <a:spcPts val="464"/>
                        </a:spcBef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336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subject: "MongoDB</a:t>
                      </a:r>
                      <a:r>
                        <a:rPr sz="1800" b="1" spc="-1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Rules!",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3360">
                        <a:lnSpc>
                          <a:spcPts val="205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words:</a:t>
                      </a:r>
                      <a:r>
                        <a:rPr sz="1800" b="1" spc="-10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100,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13360">
                        <a:lnSpc>
                          <a:spcPts val="2000"/>
                        </a:lnSpc>
                      </a:pP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from:</a:t>
                      </a:r>
                      <a:r>
                        <a:rPr sz="1800" b="1" spc="-1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  <a:hlinkClick r:id="rId7"/>
                        </a:rPr>
                        <a:t>hipster@somemail.com</a:t>
                      </a:r>
                      <a:r>
                        <a:rPr sz="1800" b="1" spc="-5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"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6360">
                        <a:lnSpc>
                          <a:spcPts val="2080"/>
                        </a:lnSpc>
                      </a:pPr>
                      <a:r>
                        <a:rPr sz="1800" b="1" dirty="0">
                          <a:solidFill>
                            <a:srgbClr val="3A281E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0D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6392486" y="2664228"/>
            <a:ext cx="548639" cy="5943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40148" y="2687467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6"/>
                </a:moveTo>
                <a:lnTo>
                  <a:pt x="0" y="272846"/>
                </a:lnTo>
                <a:lnTo>
                  <a:pt x="228600" y="501445"/>
                </a:lnTo>
                <a:lnTo>
                  <a:pt x="457200" y="272846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6"/>
                </a:lnTo>
                <a:lnTo>
                  <a:pt x="342900" y="272846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71505" y="3304308"/>
            <a:ext cx="3844636" cy="17581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17533" y="3327400"/>
            <a:ext cx="3752215" cy="166814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28575" rIns="0" bIns="0" rtlCol="0">
            <a:spAutoFit/>
          </a:bodyPr>
          <a:lstStyle/>
          <a:p>
            <a:pPr marL="9842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25425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"MongoDB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Rules!",</a:t>
            </a:r>
            <a:endParaRPr sz="1800">
              <a:latin typeface="Arial"/>
              <a:cs typeface="Arial"/>
            </a:endParaRPr>
          </a:p>
          <a:p>
            <a:pPr marL="225425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100,</a:t>
            </a:r>
            <a:endParaRPr sz="1800">
              <a:latin typeface="Arial"/>
              <a:cs typeface="Arial"/>
            </a:endParaRPr>
          </a:p>
          <a:p>
            <a:pPr marL="225425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2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98425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7196" y="416760"/>
            <a:ext cx="8375804" cy="6020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sz="4000" spc="-5" dirty="0"/>
              <a:t>{ $match : { language :</a:t>
            </a:r>
            <a:r>
              <a:rPr lang="en-US" dirty="0"/>
              <a:t> </a:t>
            </a:r>
            <a:r>
              <a:rPr sz="4000" spc="-5" dirty="0"/>
              <a:t>"Russian" }</a:t>
            </a:r>
            <a:r>
              <a:rPr sz="4000" spc="0" dirty="0"/>
              <a:t> </a:t>
            </a:r>
            <a:r>
              <a:rPr sz="4000" spc="-5" dirty="0"/>
              <a:t>}</a:t>
            </a:r>
            <a:endParaRPr sz="4000" dirty="0"/>
          </a:p>
        </p:txBody>
      </p:sp>
      <p:sp>
        <p:nvSpPr>
          <p:cNvPr id="5" name="object 5"/>
          <p:cNvSpPr/>
          <p:nvPr/>
        </p:nvSpPr>
        <p:spPr>
          <a:xfrm>
            <a:off x="504444" y="1444752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8723" y="1411224"/>
            <a:ext cx="3006852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366" y="1464817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79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965835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"The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Great</a:t>
            </a:r>
            <a:r>
              <a:rPr sz="1800" spc="-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  pages: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218,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language: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8" name="object 8"/>
          <p:cNvSpPr/>
          <p:nvPr/>
        </p:nvSpPr>
        <p:spPr>
          <a:xfrm>
            <a:off x="504444" y="3031235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8723" y="2997707"/>
            <a:ext cx="2753868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366" y="3051301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121920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“War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18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Peace",  pages: 1440,  language: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”Russian"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1" name="object 11"/>
          <p:cNvSpPr/>
          <p:nvPr/>
        </p:nvSpPr>
        <p:spPr>
          <a:xfrm>
            <a:off x="504444" y="4623815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8723" y="4591811"/>
            <a:ext cx="2747772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366" y="4644009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122491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title: “Atlas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Shrugged",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pages: 1088,  language: ”English"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5" name="object 15"/>
          <p:cNvSpPr/>
          <p:nvPr/>
        </p:nvSpPr>
        <p:spPr>
          <a:xfrm>
            <a:off x="4356100" y="3172968"/>
            <a:ext cx="660400" cy="48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5"/>
          <p:cNvSpPr/>
          <p:nvPr/>
        </p:nvSpPr>
        <p:spPr>
          <a:xfrm>
            <a:off x="4343400" y="4849368"/>
            <a:ext cx="660400" cy="48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04444" y="1444752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8723" y="1411224"/>
            <a:ext cx="3006852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366" y="1464817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79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965835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"The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Great</a:t>
            </a:r>
            <a:r>
              <a:rPr sz="1800" spc="-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  pages: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218,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language: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7" name="object 7"/>
          <p:cNvSpPr/>
          <p:nvPr/>
        </p:nvSpPr>
        <p:spPr>
          <a:xfrm>
            <a:off x="504444" y="3031235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8723" y="2997707"/>
            <a:ext cx="2753868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366" y="3051301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121920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“War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18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Peace",  pages: 1440,  language: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”Russian"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0" name="object 10"/>
          <p:cNvSpPr/>
          <p:nvPr/>
        </p:nvSpPr>
        <p:spPr>
          <a:xfrm>
            <a:off x="504444" y="4623815"/>
            <a:ext cx="3797807" cy="1525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8723" y="4591811"/>
            <a:ext cx="2747772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366" y="4644009"/>
            <a:ext cx="3712845" cy="1439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</a:p>
          <a:p>
            <a:pPr marL="217804" marR="122491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title: “Atlas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Shrugged",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pages: 1088,  language: ”English"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4" name="object 14"/>
          <p:cNvSpPr/>
          <p:nvPr/>
        </p:nvSpPr>
        <p:spPr>
          <a:xfrm>
            <a:off x="4356100" y="3249168"/>
            <a:ext cx="660400" cy="48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17703" y="431867"/>
            <a:ext cx="12407697" cy="563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ts val="5015"/>
              </a:lnSpc>
              <a:spcBef>
                <a:spcPts val="100"/>
              </a:spcBef>
            </a:pPr>
            <a:r>
              <a:rPr lang="en-US" sz="2400" b="1" dirty="0"/>
              <a:t>{ $match : { pages : { $</a:t>
            </a:r>
            <a:r>
              <a:rPr lang="en-US" sz="2400" b="1" dirty="0" err="1"/>
              <a:t>gt</a:t>
            </a:r>
            <a:r>
              <a:rPr lang="en-US" sz="2400" b="1" dirty="0"/>
              <a:t> : 1000 }, language : "Russian" } }</a:t>
            </a:r>
            <a:endParaRPr sz="2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400253"/>
            <a:ext cx="19996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$pr</a:t>
            </a:r>
            <a:r>
              <a:rPr sz="4000" spc="-20" dirty="0"/>
              <a:t>o</a:t>
            </a:r>
            <a:r>
              <a:rPr sz="4000" spc="-5" dirty="0"/>
              <a:t>ject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616102" y="1315862"/>
            <a:ext cx="5460365" cy="24650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3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Reshape</a:t>
            </a:r>
            <a:r>
              <a:rPr sz="3000" spc="-25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documents</a:t>
            </a:r>
            <a:endParaRPr sz="30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Include,</a:t>
            </a:r>
            <a:r>
              <a:rPr sz="3000" spc="-25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exclude</a:t>
            </a:r>
            <a:r>
              <a:rPr sz="3000" spc="-27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615F5E"/>
                </a:solidFill>
                <a:latin typeface="Arial"/>
                <a:cs typeface="Arial"/>
              </a:rPr>
              <a:t>or</a:t>
            </a:r>
            <a:r>
              <a:rPr sz="30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rename</a:t>
            </a:r>
            <a:r>
              <a:rPr sz="3000" spc="-24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endParaRPr sz="30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Inject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computed</a:t>
            </a:r>
            <a:r>
              <a:rPr sz="3000" spc="-39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endParaRPr sz="30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5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Create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sub-document</a:t>
            </a:r>
            <a:r>
              <a:rPr sz="3000" spc="-4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9284" y="3345179"/>
            <a:ext cx="3837432" cy="1389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93564" y="3381755"/>
            <a:ext cx="2549651" cy="1249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2590" y="3364991"/>
            <a:ext cx="3752215" cy="120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977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 marR="146177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"Great</a:t>
            </a:r>
            <a:r>
              <a:rPr sz="18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  language: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4236" y="2179320"/>
            <a:ext cx="3781044" cy="3721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8515" y="2147316"/>
            <a:ext cx="3015996" cy="3718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00" y="2198928"/>
            <a:ext cx="3695700" cy="36366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920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_id: 375,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"Great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ISBN: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"9781857150193",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 marR="193865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available: true,  pages: 218,  subjects: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[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"Long Island",  "New 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York",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"1920s"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],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language: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5796" y="386727"/>
            <a:ext cx="8160919" cy="6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sz="4400" dirty="0">
                <a:solidFill>
                  <a:srgbClr val="535350"/>
                </a:solidFill>
              </a:rPr>
              <a:t>Selecting and</a:t>
            </a:r>
            <a:r>
              <a:rPr sz="4400" spc="-85" dirty="0">
                <a:solidFill>
                  <a:srgbClr val="535350"/>
                </a:solidFill>
              </a:rPr>
              <a:t> </a:t>
            </a:r>
            <a:r>
              <a:rPr sz="4400" dirty="0">
                <a:solidFill>
                  <a:srgbClr val="535350"/>
                </a:solidFill>
              </a:rPr>
              <a:t>Excluding</a:t>
            </a:r>
            <a:r>
              <a:rPr lang="en-US" sz="4400" dirty="0">
                <a:solidFill>
                  <a:srgbClr val="535350"/>
                </a:solidFill>
              </a:rPr>
              <a:t> </a:t>
            </a:r>
            <a:r>
              <a:rPr sz="4400" dirty="0">
                <a:solidFill>
                  <a:srgbClr val="535350"/>
                </a:solidFill>
              </a:rPr>
              <a:t>Fields</a:t>
            </a:r>
            <a:endParaRPr sz="4400" dirty="0"/>
          </a:p>
        </p:txBody>
      </p:sp>
      <p:sp>
        <p:nvSpPr>
          <p:cNvPr id="12" name="object 12"/>
          <p:cNvSpPr/>
          <p:nvPr/>
        </p:nvSpPr>
        <p:spPr>
          <a:xfrm>
            <a:off x="4408932" y="3985259"/>
            <a:ext cx="85344" cy="85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58690" y="3777107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923" y="0"/>
                </a:moveTo>
                <a:lnTo>
                  <a:pt x="272923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923" y="342900"/>
                </a:lnTo>
                <a:lnTo>
                  <a:pt x="272923" y="457200"/>
                </a:lnTo>
                <a:lnTo>
                  <a:pt x="501523" y="228600"/>
                </a:lnTo>
                <a:lnTo>
                  <a:pt x="272923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199" y="1468882"/>
            <a:ext cx="68370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929491"/>
                </a:solidFill>
                <a:latin typeface="Arial"/>
                <a:cs typeface="Arial"/>
              </a:rPr>
              <a:t>$project: </a:t>
            </a:r>
            <a:r>
              <a:rPr sz="3200" dirty="0">
                <a:solidFill>
                  <a:srgbClr val="929491"/>
                </a:solidFill>
                <a:latin typeface="Arial"/>
                <a:cs typeface="Arial"/>
              </a:rPr>
              <a:t>{ </a:t>
            </a:r>
            <a:r>
              <a:rPr sz="3200" spc="-5" dirty="0">
                <a:solidFill>
                  <a:srgbClr val="929491"/>
                </a:solidFill>
                <a:latin typeface="Arial"/>
                <a:cs typeface="Arial"/>
              </a:rPr>
              <a:t>_id: </a:t>
            </a:r>
            <a:r>
              <a:rPr sz="3200" dirty="0">
                <a:solidFill>
                  <a:srgbClr val="929491"/>
                </a:solidFill>
                <a:latin typeface="Arial"/>
                <a:cs typeface="Arial"/>
              </a:rPr>
              <a:t>0, </a:t>
            </a:r>
            <a:r>
              <a:rPr sz="3200" spc="-5" dirty="0">
                <a:solidFill>
                  <a:srgbClr val="929491"/>
                </a:solidFill>
                <a:latin typeface="Arial"/>
                <a:cs typeface="Arial"/>
              </a:rPr>
              <a:t>title: </a:t>
            </a:r>
            <a:r>
              <a:rPr sz="3200" dirty="0">
                <a:solidFill>
                  <a:srgbClr val="929491"/>
                </a:solidFill>
                <a:latin typeface="Arial"/>
                <a:cs typeface="Arial"/>
              </a:rPr>
              <a:t>1, </a:t>
            </a:r>
            <a:r>
              <a:rPr sz="3200" spc="-5" dirty="0">
                <a:solidFill>
                  <a:srgbClr val="929491"/>
                </a:solidFill>
                <a:latin typeface="Arial"/>
                <a:cs typeface="Arial"/>
              </a:rPr>
              <a:t>language: </a:t>
            </a:r>
            <a:r>
              <a:rPr sz="3200" dirty="0">
                <a:solidFill>
                  <a:srgbClr val="929491"/>
                </a:solidFill>
                <a:latin typeface="Arial"/>
                <a:cs typeface="Arial"/>
              </a:rPr>
              <a:t>1</a:t>
            </a:r>
            <a:r>
              <a:rPr sz="3200" spc="-60" dirty="0">
                <a:solidFill>
                  <a:srgbClr val="92949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929491"/>
                </a:solidFill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2" y="452103"/>
            <a:ext cx="77662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5" dirty="0">
                <a:solidFill>
                  <a:srgbClr val="6BA342"/>
                </a:solidFill>
              </a:rPr>
              <a:t>Including </a:t>
            </a:r>
            <a:r>
              <a:rPr sz="3600" spc="10" dirty="0">
                <a:solidFill>
                  <a:srgbClr val="6BA342"/>
                </a:solidFill>
              </a:rPr>
              <a:t>and </a:t>
            </a:r>
            <a:r>
              <a:rPr sz="3600" spc="100" dirty="0">
                <a:solidFill>
                  <a:srgbClr val="6BA342"/>
                </a:solidFill>
              </a:rPr>
              <a:t>Excluding</a:t>
            </a:r>
            <a:r>
              <a:rPr sz="3600" spc="180" dirty="0">
                <a:solidFill>
                  <a:srgbClr val="6BA342"/>
                </a:solidFill>
              </a:rPr>
              <a:t> </a:t>
            </a:r>
            <a:r>
              <a:rPr sz="3600" spc="85" dirty="0">
                <a:solidFill>
                  <a:srgbClr val="6BA342"/>
                </a:solidFill>
              </a:rPr>
              <a:t>Fields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6"/>
            <a:ext cx="3844636" cy="1758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1664970"/>
          </a:xfrm>
          <a:custGeom>
            <a:avLst/>
            <a:gdLst/>
            <a:ahLst/>
            <a:cxnLst/>
            <a:rect l="l" t="t" r="r" b="b"/>
            <a:pathLst>
              <a:path w="3752215" h="1664970">
                <a:moveTo>
                  <a:pt x="0" y="0"/>
                </a:moveTo>
                <a:lnTo>
                  <a:pt x="3751649" y="0"/>
                </a:lnTo>
                <a:lnTo>
                  <a:pt x="3751649" y="1664912"/>
                </a:lnTo>
                <a:lnTo>
                  <a:pt x="0" y="16649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7"/>
            <a:ext cx="3969326" cy="3865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316777"/>
            <a:ext cx="548639" cy="594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340598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5"/>
                </a:moveTo>
                <a:lnTo>
                  <a:pt x="0" y="272845"/>
                </a:lnTo>
                <a:lnTo>
                  <a:pt x="228600" y="501445"/>
                </a:lnTo>
                <a:lnTo>
                  <a:pt x="457200" y="272845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5"/>
                </a:lnTo>
                <a:lnTo>
                  <a:pt x="342900" y="272845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6393" y="1524001"/>
            <a:ext cx="3877945" cy="3773804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>
              <a:latin typeface="Arial"/>
              <a:cs typeface="Arial"/>
            </a:endParaRPr>
          </a:p>
          <a:p>
            <a:pPr marL="218440" marR="1186180">
              <a:lnSpc>
                <a:spcPts val="2000"/>
              </a:lnSpc>
              <a:spcBef>
                <a:spcPts val="17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 marR="11303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  to: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[</a:t>
            </a:r>
            <a:r>
              <a:rPr sz="1800" b="1" spc="484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218440" marR="277495" indent="571500">
              <a:lnSpc>
                <a:spcPts val="2000"/>
              </a:lnSpc>
              <a:tabLst>
                <a:tab pos="3451860" algn="l"/>
              </a:tabLst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"sam@mongodb.co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m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	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],  account: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mail",  date: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ISODate("2012-08-05"),</a:t>
            </a:r>
            <a:endParaRPr sz="1800">
              <a:latin typeface="Arial"/>
              <a:cs typeface="Arial"/>
            </a:endParaRPr>
          </a:p>
          <a:p>
            <a:pPr marL="218440" marR="1986914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folder:</a:t>
            </a:r>
            <a:r>
              <a:rPr sz="1800" b="1" spc="-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"Inbox",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18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17533" y="1583101"/>
            <a:ext cx="375221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$project: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0,</a:t>
            </a:r>
            <a:endParaRPr sz="180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1,</a:t>
            </a:r>
            <a:endParaRPr sz="180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7348" y="3961014"/>
            <a:ext cx="3840479" cy="15087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11012" y="3982794"/>
            <a:ext cx="3764915" cy="14179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52705" rIns="0" bIns="0" rtlCol="0">
            <a:spAutoFit/>
          </a:bodyPr>
          <a:lstStyle/>
          <a:p>
            <a:pPr marL="88265" marR="3175">
              <a:lnSpc>
                <a:spcPts val="2130"/>
              </a:lnSpc>
              <a:spcBef>
                <a:spcPts val="41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5265">
              <a:lnSpc>
                <a:spcPts val="2200"/>
              </a:lnSpc>
              <a:spcBef>
                <a:spcPts val="1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from:"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88265" marR="3175">
              <a:lnSpc>
                <a:spcPts val="202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2" y="492760"/>
            <a:ext cx="76138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rgbClr val="6BA342"/>
                </a:solidFill>
              </a:rPr>
              <a:t>Renaming </a:t>
            </a:r>
            <a:r>
              <a:rPr sz="3600" spc="10" dirty="0">
                <a:solidFill>
                  <a:srgbClr val="6BA342"/>
                </a:solidFill>
              </a:rPr>
              <a:t>and </a:t>
            </a:r>
            <a:r>
              <a:rPr sz="3600" spc="40" dirty="0">
                <a:solidFill>
                  <a:srgbClr val="6BA342"/>
                </a:solidFill>
              </a:rPr>
              <a:t>Computing</a:t>
            </a:r>
            <a:r>
              <a:rPr sz="3600" spc="175" dirty="0">
                <a:solidFill>
                  <a:srgbClr val="6BA342"/>
                </a:solidFill>
              </a:rPr>
              <a:t> </a:t>
            </a:r>
            <a:r>
              <a:rPr sz="3600" spc="85" dirty="0">
                <a:solidFill>
                  <a:srgbClr val="6BA342"/>
                </a:solidFill>
              </a:rPr>
              <a:t>Fields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7"/>
            <a:ext cx="3844636" cy="22485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2155825"/>
          </a:xfrm>
          <a:custGeom>
            <a:avLst/>
            <a:gdLst/>
            <a:ahLst/>
            <a:cxnLst/>
            <a:rect l="l" t="t" r="r" b="b"/>
            <a:pathLst>
              <a:path w="3752215" h="2155825">
                <a:moveTo>
                  <a:pt x="0" y="0"/>
                </a:moveTo>
                <a:lnTo>
                  <a:pt x="3751649" y="0"/>
                </a:lnTo>
                <a:lnTo>
                  <a:pt x="3751649" y="2155257"/>
                </a:lnTo>
                <a:lnTo>
                  <a:pt x="0" y="21552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7"/>
            <a:ext cx="3969326" cy="4339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753196"/>
            <a:ext cx="548639" cy="594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776017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5"/>
                </a:moveTo>
                <a:lnTo>
                  <a:pt x="0" y="272845"/>
                </a:lnTo>
                <a:lnTo>
                  <a:pt x="228600" y="501445"/>
                </a:lnTo>
                <a:lnTo>
                  <a:pt x="457200" y="272845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5"/>
                </a:lnTo>
                <a:lnTo>
                  <a:pt x="342900" y="272845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7533" y="1547983"/>
            <a:ext cx="3752215" cy="19380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27939" rIns="0" bIns="0" rtlCol="0">
            <a:spAutoFit/>
          </a:bodyPr>
          <a:lstStyle/>
          <a:p>
            <a:pPr marL="362585" marR="1957705" indent="-127635">
              <a:lnSpc>
                <a:spcPts val="2100"/>
              </a:lnSpc>
              <a:spcBef>
                <a:spcPts val="219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$project: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spamIndex:</a:t>
            </a:r>
            <a:r>
              <a:rPr sz="1800" b="1" spc="-6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489584">
              <a:lnSpc>
                <a:spcPts val="211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$mul: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["$words",</a:t>
            </a:r>
            <a:endParaRPr sz="1800" dirty="0">
              <a:latin typeface="Arial"/>
              <a:cs typeface="Arial"/>
            </a:endParaRPr>
          </a:p>
          <a:p>
            <a:pPr marL="1124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"$replies"]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},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user: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"$from"</a:t>
            </a:r>
            <a:endParaRPr sz="18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7348" y="4384962"/>
            <a:ext cx="3840479" cy="1683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11012" y="4406117"/>
            <a:ext cx="3752215" cy="15932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71120" rIns="0" bIns="0" rtlCol="0">
            <a:spAutoFit/>
          </a:bodyPr>
          <a:lstStyle/>
          <a:p>
            <a:pPr marL="46990">
              <a:lnSpc>
                <a:spcPts val="2130"/>
              </a:lnSpc>
              <a:spcBef>
                <a:spcPts val="56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spamIndex: 72.6666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,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user:</a:t>
            </a:r>
            <a:r>
              <a:rPr sz="1800" b="1" spc="-3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"norberto@mongodb.com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 dirty="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393" y="1524001"/>
            <a:ext cx="3877945" cy="4247515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>
              <a:latin typeface="Arial"/>
              <a:cs typeface="Arial"/>
            </a:endParaRPr>
          </a:p>
          <a:p>
            <a:pPr marL="218440" marR="1186180">
              <a:lnSpc>
                <a:spcPts val="2000"/>
              </a:lnSpc>
              <a:spcBef>
                <a:spcPts val="17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 marR="11303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  to: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[</a:t>
            </a:r>
            <a:r>
              <a:rPr sz="1800" b="1" spc="484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218440" marR="277495" indent="571500">
              <a:lnSpc>
                <a:spcPts val="2000"/>
              </a:lnSpc>
              <a:tabLst>
                <a:tab pos="3451860" algn="l"/>
              </a:tabLst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"sam@mongodb.co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m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	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],  account: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mail",  date: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ISODate("2012-08-05"),</a:t>
            </a:r>
            <a:endParaRPr sz="1800">
              <a:latin typeface="Arial"/>
              <a:cs typeface="Arial"/>
            </a:endParaRPr>
          </a:p>
          <a:p>
            <a:pPr marL="218440" marR="1986914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folder:</a:t>
            </a:r>
            <a:r>
              <a:rPr sz="1800" b="1" spc="-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"Inbox",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18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9284" y="5032248"/>
            <a:ext cx="3837432" cy="1597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93564" y="5035296"/>
            <a:ext cx="3378708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2590" y="5052061"/>
            <a:ext cx="3752215" cy="1449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641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_id: 375,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 marR="63246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avgChapterLength: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24.2222,  lang: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4236" y="2907792"/>
            <a:ext cx="3781044" cy="3721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8515" y="2875788"/>
            <a:ext cx="3015996" cy="3718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00" y="2927400"/>
            <a:ext cx="3695700" cy="36366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920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_id: 375,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"Great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ISBN: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"9781857150193",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 marR="193865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available: true,  pages: 218,  subjects: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[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"Long Island",  "New 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York",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"1920s"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],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language: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7200" y="386727"/>
            <a:ext cx="8119008" cy="6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sz="4400" dirty="0"/>
              <a:t>Renaming and</a:t>
            </a:r>
            <a:r>
              <a:rPr sz="4400" spc="-95" dirty="0"/>
              <a:t> </a:t>
            </a:r>
            <a:r>
              <a:rPr sz="4400" dirty="0"/>
              <a:t>Computing</a:t>
            </a:r>
            <a:r>
              <a:rPr lang="en-US" sz="4400" dirty="0"/>
              <a:t> </a:t>
            </a:r>
            <a:r>
              <a:rPr sz="4400" dirty="0"/>
              <a:t>Fields</a:t>
            </a:r>
          </a:p>
        </p:txBody>
      </p:sp>
      <p:sp>
        <p:nvSpPr>
          <p:cNvPr id="12" name="object 12"/>
          <p:cNvSpPr/>
          <p:nvPr/>
        </p:nvSpPr>
        <p:spPr>
          <a:xfrm>
            <a:off x="4408932" y="5786628"/>
            <a:ext cx="85344" cy="85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58690" y="5578476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923" y="0"/>
                </a:moveTo>
                <a:lnTo>
                  <a:pt x="272923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923" y="342900"/>
                </a:lnTo>
                <a:lnTo>
                  <a:pt x="272923" y="457200"/>
                </a:lnTo>
                <a:lnTo>
                  <a:pt x="501523" y="228600"/>
                </a:lnTo>
                <a:lnTo>
                  <a:pt x="272923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sz="half" idx="4294967295"/>
          </p:nvPr>
        </p:nvSpPr>
        <p:spPr>
          <a:xfrm>
            <a:off x="5105400" y="1673352"/>
            <a:ext cx="4038600" cy="4718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5"/>
              </a:spcBef>
            </a:pPr>
            <a:r>
              <a:rPr dirty="0"/>
              <a:t>{ </a:t>
            </a:r>
            <a:r>
              <a:rPr spc="-5" dirty="0"/>
              <a:t>$project: </a:t>
            </a:r>
            <a:r>
              <a:rPr dirty="0"/>
              <a:t>{  </a:t>
            </a:r>
            <a:r>
              <a:rPr spc="-5" dirty="0">
                <a:solidFill>
                  <a:srgbClr val="0C5FB1"/>
                </a:solidFill>
              </a:rPr>
              <a:t>avgChapterLength</a:t>
            </a:r>
            <a:r>
              <a:rPr spc="-5" dirty="0"/>
              <a:t>:</a:t>
            </a:r>
            <a:r>
              <a:rPr spc="-85" dirty="0"/>
              <a:t> </a:t>
            </a:r>
            <a:r>
              <a:rPr dirty="0"/>
              <a:t>{</a:t>
            </a:r>
          </a:p>
          <a:p>
            <a:pPr marL="462280">
              <a:lnSpc>
                <a:spcPct val="100000"/>
              </a:lnSpc>
            </a:pPr>
            <a:r>
              <a:rPr spc="-5" dirty="0"/>
              <a:t>$divide:</a:t>
            </a:r>
            <a:r>
              <a:rPr spc="-20" dirty="0"/>
              <a:t> </a:t>
            </a:r>
            <a:r>
              <a:rPr spc="-5" dirty="0"/>
              <a:t>["$pages",</a:t>
            </a:r>
          </a:p>
          <a:p>
            <a:pPr marL="1588770">
              <a:lnSpc>
                <a:spcPct val="100000"/>
              </a:lnSpc>
            </a:pPr>
            <a:r>
              <a:rPr dirty="0"/>
              <a:t>"$chapters"]</a:t>
            </a:r>
          </a:p>
          <a:p>
            <a:pPr marL="236220">
              <a:lnSpc>
                <a:spcPct val="100000"/>
              </a:lnSpc>
            </a:pPr>
            <a:r>
              <a:rPr spc="-5" dirty="0"/>
              <a:t>},</a:t>
            </a:r>
          </a:p>
          <a:p>
            <a:pPr marL="236220">
              <a:lnSpc>
                <a:spcPct val="100000"/>
              </a:lnSpc>
            </a:pPr>
            <a:r>
              <a:rPr spc="-5" dirty="0"/>
              <a:t>lang:</a:t>
            </a:r>
            <a:r>
              <a:rPr spc="-15" dirty="0"/>
              <a:t> </a:t>
            </a:r>
            <a:r>
              <a:rPr spc="-5" dirty="0"/>
              <a:t>"$language"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}}</a:t>
            </a:r>
          </a:p>
        </p:txBody>
      </p:sp>
      <p:sp>
        <p:nvSpPr>
          <p:cNvPr id="18" name="object 4"/>
          <p:cNvSpPr txBox="1"/>
          <p:nvPr/>
        </p:nvSpPr>
        <p:spPr>
          <a:xfrm>
            <a:off x="1561083" y="1732787"/>
            <a:ext cx="1605280" cy="4521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New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Field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5"/>
          <p:cNvSpPr/>
          <p:nvPr/>
        </p:nvSpPr>
        <p:spPr>
          <a:xfrm flipH="1">
            <a:off x="3239770" y="1954530"/>
            <a:ext cx="1941830" cy="331470"/>
          </a:xfrm>
          <a:custGeom>
            <a:avLst/>
            <a:gdLst/>
            <a:ahLst/>
            <a:cxnLst/>
            <a:rect l="l" t="t" r="r" b="b"/>
            <a:pathLst>
              <a:path w="1941829" h="331469">
                <a:moveTo>
                  <a:pt x="120205" y="189515"/>
                </a:moveTo>
                <a:lnTo>
                  <a:pt x="114129" y="189936"/>
                </a:lnTo>
                <a:lnTo>
                  <a:pt x="108457" y="192786"/>
                </a:lnTo>
                <a:lnTo>
                  <a:pt x="0" y="277240"/>
                </a:lnTo>
                <a:lnTo>
                  <a:pt x="127000" y="330072"/>
                </a:lnTo>
                <a:lnTo>
                  <a:pt x="133199" y="331261"/>
                </a:lnTo>
                <a:lnTo>
                  <a:pt x="139160" y="330057"/>
                </a:lnTo>
                <a:lnTo>
                  <a:pt x="144216" y="326733"/>
                </a:lnTo>
                <a:lnTo>
                  <a:pt x="147700" y="321563"/>
                </a:lnTo>
                <a:lnTo>
                  <a:pt x="148961" y="315362"/>
                </a:lnTo>
                <a:lnTo>
                  <a:pt x="147780" y="309387"/>
                </a:lnTo>
                <a:lnTo>
                  <a:pt x="144432" y="304293"/>
                </a:lnTo>
                <a:lnTo>
                  <a:pt x="139191" y="300736"/>
                </a:lnTo>
                <a:lnTo>
                  <a:pt x="110440" y="288797"/>
                </a:lnTo>
                <a:lnTo>
                  <a:pt x="33400" y="288797"/>
                </a:lnTo>
                <a:lnTo>
                  <a:pt x="29210" y="257301"/>
                </a:lnTo>
                <a:lnTo>
                  <a:pt x="87418" y="249453"/>
                </a:lnTo>
                <a:lnTo>
                  <a:pt x="128015" y="217804"/>
                </a:lnTo>
                <a:lnTo>
                  <a:pt x="132095" y="213046"/>
                </a:lnTo>
                <a:lnTo>
                  <a:pt x="133985" y="207263"/>
                </a:lnTo>
                <a:lnTo>
                  <a:pt x="133588" y="201195"/>
                </a:lnTo>
                <a:lnTo>
                  <a:pt x="130810" y="195579"/>
                </a:lnTo>
                <a:lnTo>
                  <a:pt x="125995" y="191428"/>
                </a:lnTo>
                <a:lnTo>
                  <a:pt x="120205" y="189515"/>
                </a:lnTo>
                <a:close/>
              </a:path>
              <a:path w="1941829" h="331469">
                <a:moveTo>
                  <a:pt x="87418" y="249453"/>
                </a:moveTo>
                <a:lnTo>
                  <a:pt x="29210" y="257301"/>
                </a:lnTo>
                <a:lnTo>
                  <a:pt x="33400" y="288797"/>
                </a:lnTo>
                <a:lnTo>
                  <a:pt x="56938" y="285622"/>
                </a:lnTo>
                <a:lnTo>
                  <a:pt x="41021" y="285622"/>
                </a:lnTo>
                <a:lnTo>
                  <a:pt x="37337" y="258444"/>
                </a:lnTo>
                <a:lnTo>
                  <a:pt x="75884" y="258444"/>
                </a:lnTo>
                <a:lnTo>
                  <a:pt x="87418" y="249453"/>
                </a:lnTo>
                <a:close/>
              </a:path>
              <a:path w="1941829" h="331469">
                <a:moveTo>
                  <a:pt x="91549" y="280954"/>
                </a:moveTo>
                <a:lnTo>
                  <a:pt x="33400" y="288797"/>
                </a:lnTo>
                <a:lnTo>
                  <a:pt x="110440" y="288797"/>
                </a:lnTo>
                <a:lnTo>
                  <a:pt x="91549" y="280954"/>
                </a:lnTo>
                <a:close/>
              </a:path>
              <a:path w="1941829" h="331469">
                <a:moveTo>
                  <a:pt x="37337" y="258444"/>
                </a:moveTo>
                <a:lnTo>
                  <a:pt x="41021" y="285622"/>
                </a:lnTo>
                <a:lnTo>
                  <a:pt x="62488" y="268887"/>
                </a:lnTo>
                <a:lnTo>
                  <a:pt x="37337" y="258444"/>
                </a:lnTo>
                <a:close/>
              </a:path>
              <a:path w="1941829" h="331469">
                <a:moveTo>
                  <a:pt x="62488" y="268887"/>
                </a:moveTo>
                <a:lnTo>
                  <a:pt x="41021" y="285622"/>
                </a:lnTo>
                <a:lnTo>
                  <a:pt x="56938" y="285622"/>
                </a:lnTo>
                <a:lnTo>
                  <a:pt x="91549" y="280954"/>
                </a:lnTo>
                <a:lnTo>
                  <a:pt x="62488" y="268887"/>
                </a:lnTo>
                <a:close/>
              </a:path>
              <a:path w="1941829" h="331469">
                <a:moveTo>
                  <a:pt x="1937512" y="0"/>
                </a:moveTo>
                <a:lnTo>
                  <a:pt x="87418" y="249453"/>
                </a:lnTo>
                <a:lnTo>
                  <a:pt x="62488" y="268887"/>
                </a:lnTo>
                <a:lnTo>
                  <a:pt x="91549" y="280954"/>
                </a:lnTo>
                <a:lnTo>
                  <a:pt x="1941829" y="31368"/>
                </a:lnTo>
                <a:lnTo>
                  <a:pt x="1937512" y="0"/>
                </a:lnTo>
                <a:close/>
              </a:path>
              <a:path w="1941829" h="331469">
                <a:moveTo>
                  <a:pt x="75884" y="258444"/>
                </a:moveTo>
                <a:lnTo>
                  <a:pt x="37337" y="258444"/>
                </a:lnTo>
                <a:lnTo>
                  <a:pt x="62488" y="268887"/>
                </a:lnTo>
                <a:lnTo>
                  <a:pt x="75884" y="258444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2" y="492760"/>
            <a:ext cx="76138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rgbClr val="6BA342"/>
                </a:solidFill>
              </a:rPr>
              <a:t>Renaming </a:t>
            </a:r>
            <a:r>
              <a:rPr sz="3600" spc="10" dirty="0">
                <a:solidFill>
                  <a:srgbClr val="6BA342"/>
                </a:solidFill>
              </a:rPr>
              <a:t>and </a:t>
            </a:r>
            <a:r>
              <a:rPr sz="3600" spc="40" dirty="0">
                <a:solidFill>
                  <a:srgbClr val="6BA342"/>
                </a:solidFill>
              </a:rPr>
              <a:t>Computing</a:t>
            </a:r>
            <a:r>
              <a:rPr sz="3600" spc="175" dirty="0">
                <a:solidFill>
                  <a:srgbClr val="6BA342"/>
                </a:solidFill>
              </a:rPr>
              <a:t> </a:t>
            </a:r>
            <a:r>
              <a:rPr sz="3600" spc="85" dirty="0">
                <a:solidFill>
                  <a:srgbClr val="6BA342"/>
                </a:solidFill>
              </a:rPr>
              <a:t>Fields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7"/>
            <a:ext cx="3844636" cy="22485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2155825"/>
          </a:xfrm>
          <a:custGeom>
            <a:avLst/>
            <a:gdLst/>
            <a:ahLst/>
            <a:cxnLst/>
            <a:rect l="l" t="t" r="r" b="b"/>
            <a:pathLst>
              <a:path w="3752215" h="2155825">
                <a:moveTo>
                  <a:pt x="0" y="0"/>
                </a:moveTo>
                <a:lnTo>
                  <a:pt x="3751649" y="0"/>
                </a:lnTo>
                <a:lnTo>
                  <a:pt x="3751649" y="2155257"/>
                </a:lnTo>
                <a:lnTo>
                  <a:pt x="0" y="21552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7"/>
            <a:ext cx="3969326" cy="4339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753196"/>
            <a:ext cx="548639" cy="594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776017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5"/>
                </a:moveTo>
                <a:lnTo>
                  <a:pt x="0" y="272845"/>
                </a:lnTo>
                <a:lnTo>
                  <a:pt x="228600" y="501445"/>
                </a:lnTo>
                <a:lnTo>
                  <a:pt x="457200" y="272845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5"/>
                </a:lnTo>
                <a:lnTo>
                  <a:pt x="342900" y="272845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7533" y="1547983"/>
            <a:ext cx="3752215" cy="19380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27939" rIns="0" bIns="0" rtlCol="0">
            <a:spAutoFit/>
          </a:bodyPr>
          <a:lstStyle/>
          <a:p>
            <a:pPr marL="362585" marR="1957705" indent="-127635">
              <a:lnSpc>
                <a:spcPts val="2100"/>
              </a:lnSpc>
              <a:spcBef>
                <a:spcPts val="219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$project: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spamIndex:</a:t>
            </a:r>
            <a:r>
              <a:rPr sz="1800" b="1" spc="-6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489584">
              <a:lnSpc>
                <a:spcPts val="211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$mul: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["$words",</a:t>
            </a:r>
            <a:endParaRPr sz="1800" dirty="0">
              <a:latin typeface="Arial"/>
              <a:cs typeface="Arial"/>
            </a:endParaRPr>
          </a:p>
          <a:p>
            <a:pPr marL="1124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"$replies"]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},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user: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"$from"</a:t>
            </a:r>
            <a:endParaRPr sz="18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7348" y="4384962"/>
            <a:ext cx="3840479" cy="1683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11012" y="4406117"/>
            <a:ext cx="3752215" cy="15932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71120" rIns="0" bIns="0" rtlCol="0">
            <a:spAutoFit/>
          </a:bodyPr>
          <a:lstStyle/>
          <a:p>
            <a:pPr marL="46990">
              <a:lnSpc>
                <a:spcPts val="2130"/>
              </a:lnSpc>
              <a:spcBef>
                <a:spcPts val="56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spamIndex: 72.6666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,</a:t>
            </a:r>
            <a:endParaRPr sz="1800" dirty="0">
              <a:latin typeface="Arial"/>
              <a:cs typeface="Arial"/>
            </a:endParaRPr>
          </a:p>
          <a:p>
            <a:pPr marL="17399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user:</a:t>
            </a:r>
            <a:r>
              <a:rPr sz="1800" b="1" spc="-3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"norberto@mongodb.com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 dirty="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393" y="1524001"/>
            <a:ext cx="3877945" cy="4247515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>
              <a:latin typeface="Arial"/>
              <a:cs typeface="Arial"/>
            </a:endParaRPr>
          </a:p>
          <a:p>
            <a:pPr marL="218440" marR="1186180">
              <a:lnSpc>
                <a:spcPts val="2000"/>
              </a:lnSpc>
              <a:spcBef>
                <a:spcPts val="17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 marR="11303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  to: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[</a:t>
            </a:r>
            <a:r>
              <a:rPr sz="1800" b="1" spc="484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218440" marR="277495" indent="571500">
              <a:lnSpc>
                <a:spcPts val="2000"/>
              </a:lnSpc>
              <a:tabLst>
                <a:tab pos="3451860" algn="l"/>
              </a:tabLst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"sam@mongodb.co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m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	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],  account: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mail",  date: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ISODate("2012-08-05"),</a:t>
            </a:r>
            <a:endParaRPr sz="1800">
              <a:latin typeface="Arial"/>
              <a:cs typeface="Arial"/>
            </a:endParaRPr>
          </a:p>
          <a:p>
            <a:pPr marL="218440" marR="1986914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folder:</a:t>
            </a:r>
            <a:r>
              <a:rPr sz="1800" b="1" spc="-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"Inbox",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18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4236" y="2958084"/>
            <a:ext cx="3781044" cy="37475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15" y="2939796"/>
            <a:ext cx="3015996" cy="3718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25568" y="3994404"/>
            <a:ext cx="3837432" cy="2314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79848" y="3944112"/>
            <a:ext cx="2587752" cy="2346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8367" y="4013328"/>
            <a:ext cx="3752215" cy="22313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_id: 375,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 marR="146177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"Great</a:t>
            </a:r>
            <a:r>
              <a:rPr sz="18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Gatsby",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stats: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344805" marR="142303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pages: 218,  language: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5797" y="63500"/>
            <a:ext cx="6424295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sz="4400" dirty="0"/>
              <a:t>Creating</a:t>
            </a:r>
            <a:r>
              <a:rPr sz="4400" spc="-85" dirty="0"/>
              <a:t> </a:t>
            </a:r>
            <a:r>
              <a:rPr sz="4400" dirty="0"/>
              <a:t>Sub-Document</a:t>
            </a:r>
            <a:endParaRPr sz="4400"/>
          </a:p>
          <a:p>
            <a:pPr marL="12700">
              <a:lnSpc>
                <a:spcPts val="5015"/>
              </a:lnSpc>
            </a:pPr>
            <a:r>
              <a:rPr sz="4400" dirty="0"/>
              <a:t>Fields</a:t>
            </a:r>
            <a:endParaRPr sz="4400"/>
          </a:p>
        </p:txBody>
      </p:sp>
      <p:sp>
        <p:nvSpPr>
          <p:cNvPr id="11" name="object 11"/>
          <p:cNvSpPr/>
          <p:nvPr/>
        </p:nvSpPr>
        <p:spPr>
          <a:xfrm>
            <a:off x="4408932" y="5108448"/>
            <a:ext cx="85344" cy="85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58690" y="4900296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923" y="0"/>
                </a:moveTo>
                <a:lnTo>
                  <a:pt x="272923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923" y="342900"/>
                </a:lnTo>
                <a:lnTo>
                  <a:pt x="272923" y="457200"/>
                </a:lnTo>
                <a:lnTo>
                  <a:pt x="501523" y="228600"/>
                </a:lnTo>
                <a:lnTo>
                  <a:pt x="272923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343" y="1484756"/>
            <a:ext cx="60915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929491"/>
                </a:solidFill>
                <a:latin typeface="Arial"/>
                <a:cs typeface="Arial"/>
              </a:rPr>
              <a:t>$project: { </a:t>
            </a:r>
            <a:r>
              <a:rPr sz="2800" dirty="0">
                <a:solidFill>
                  <a:srgbClr val="929491"/>
                </a:solidFill>
                <a:latin typeface="Arial"/>
                <a:cs typeface="Arial"/>
              </a:rPr>
              <a:t>title:</a:t>
            </a:r>
            <a:r>
              <a:rPr sz="2800" spc="-15" dirty="0">
                <a:solidFill>
                  <a:srgbClr val="929491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929491"/>
                </a:solidFill>
                <a:latin typeface="Arial"/>
                <a:cs typeface="Arial"/>
              </a:rPr>
              <a:t>1,</a:t>
            </a:r>
            <a:endParaRPr sz="2800" dirty="0">
              <a:latin typeface="Arial"/>
              <a:cs typeface="Arial"/>
            </a:endParaRPr>
          </a:p>
          <a:p>
            <a:pPr marL="469265" marR="5080">
              <a:lnSpc>
                <a:spcPct val="100000"/>
              </a:lnSpc>
              <a:tabLst>
                <a:tab pos="4512945" algn="l"/>
              </a:tabLst>
            </a:pP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t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at</a:t>
            </a:r>
            <a:r>
              <a:rPr sz="2800" spc="5" dirty="0">
                <a:solidFill>
                  <a:srgbClr val="5CA92F"/>
                </a:solidFill>
                <a:latin typeface="Arial"/>
                <a:cs typeface="Arial"/>
              </a:rPr>
              <a:t>s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:</a:t>
            </a:r>
            <a:r>
              <a:rPr sz="2800" spc="-35" dirty="0">
                <a:solidFill>
                  <a:srgbClr val="5CA92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{ 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p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a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g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e</a:t>
            </a:r>
            <a:r>
              <a:rPr sz="2800" spc="5" dirty="0">
                <a:solidFill>
                  <a:srgbClr val="5CA92F"/>
                </a:solidFill>
                <a:latin typeface="Arial"/>
                <a:cs typeface="Arial"/>
              </a:rPr>
              <a:t>s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: "$</a:t>
            </a:r>
            <a:r>
              <a:rPr sz="2800" spc="-10" dirty="0">
                <a:solidFill>
                  <a:srgbClr val="5CA92F"/>
                </a:solidFill>
                <a:latin typeface="Arial"/>
                <a:cs typeface="Arial"/>
              </a:rPr>
              <a:t>p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a</a:t>
            </a:r>
            <a:r>
              <a:rPr sz="2800" spc="-10" dirty="0">
                <a:solidFill>
                  <a:srgbClr val="5CA92F"/>
                </a:solidFill>
                <a:latin typeface="Arial"/>
                <a:cs typeface="Arial"/>
              </a:rPr>
              <a:t>g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e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,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a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g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a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g</a:t>
            </a:r>
            <a:r>
              <a:rPr sz="2800" spc="5" dirty="0">
                <a:solidFill>
                  <a:srgbClr val="5CA92F"/>
                </a:solidFill>
                <a:latin typeface="Arial"/>
                <a:cs typeface="Arial"/>
              </a:rPr>
              <a:t>e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:  "$language”</a:t>
            </a:r>
            <a:r>
              <a:rPr sz="2800" dirty="0">
                <a:solidFill>
                  <a:srgbClr val="5CA92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CA92F"/>
                </a:solidFill>
                <a:latin typeface="Arial"/>
                <a:cs typeface="Arial"/>
              </a:rPr>
              <a:t>}</a:t>
            </a:r>
            <a:r>
              <a:rPr lang="en-US" sz="2800" spc="-5" dirty="0">
                <a:solidFill>
                  <a:srgbClr val="5CA92F"/>
                </a:solidFill>
                <a:latin typeface="Arial"/>
                <a:cs typeface="Arial"/>
              </a:rPr>
              <a:t> }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400" y="2978125"/>
            <a:ext cx="3695700" cy="36620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595"/>
              </a:lnSpc>
            </a:pPr>
            <a:r>
              <a:rPr sz="1800" spc="-305" dirty="0">
                <a:solidFill>
                  <a:schemeClr val="tx1"/>
                </a:solidFill>
                <a:latin typeface="Arial"/>
                <a:cs typeface="Arial"/>
              </a:rPr>
              <a:t>{</a:t>
            </a:r>
            <a:endParaRPr sz="4200" baseline="-2976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ts val="206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_id: 375,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 marR="93980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title: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"Great Gatsby",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ISBN: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"9781857150193",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 marR="1938655">
              <a:lnSpc>
                <a:spcPct val="100000"/>
              </a:lnSpc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available: true,  pages: 218,  subjects: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[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"Long Island",  "New 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York", 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"1920s"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],</a:t>
            </a:r>
          </a:p>
          <a:p>
            <a:pPr marL="217804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language: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"English"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1" y="452103"/>
            <a:ext cx="7430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0" dirty="0">
                <a:solidFill>
                  <a:srgbClr val="6BA342"/>
                </a:solidFill>
              </a:rPr>
              <a:t>Creating </a:t>
            </a:r>
            <a:r>
              <a:rPr sz="3600" spc="40" dirty="0">
                <a:solidFill>
                  <a:srgbClr val="6BA342"/>
                </a:solidFill>
              </a:rPr>
              <a:t>Sub-Document</a:t>
            </a:r>
            <a:r>
              <a:rPr sz="3600" spc="60" dirty="0">
                <a:solidFill>
                  <a:srgbClr val="6BA342"/>
                </a:solidFill>
              </a:rPr>
              <a:t> </a:t>
            </a:r>
            <a:r>
              <a:rPr sz="3600" spc="85" dirty="0">
                <a:solidFill>
                  <a:srgbClr val="6BA342"/>
                </a:solidFill>
              </a:rPr>
              <a:t>Fields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7"/>
            <a:ext cx="3844636" cy="2248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2155825"/>
          </a:xfrm>
          <a:custGeom>
            <a:avLst/>
            <a:gdLst/>
            <a:ahLst/>
            <a:cxnLst/>
            <a:rect l="l" t="t" r="r" b="b"/>
            <a:pathLst>
              <a:path w="3752215" h="2155825">
                <a:moveTo>
                  <a:pt x="0" y="0"/>
                </a:moveTo>
                <a:lnTo>
                  <a:pt x="3751649" y="0"/>
                </a:lnTo>
                <a:lnTo>
                  <a:pt x="3751649" y="2155257"/>
                </a:lnTo>
                <a:lnTo>
                  <a:pt x="0" y="21552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7"/>
            <a:ext cx="3969326" cy="43392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753196"/>
            <a:ext cx="548639" cy="594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776017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5"/>
                </a:moveTo>
                <a:lnTo>
                  <a:pt x="0" y="272845"/>
                </a:lnTo>
                <a:lnTo>
                  <a:pt x="228600" y="501445"/>
                </a:lnTo>
                <a:lnTo>
                  <a:pt x="457200" y="272845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5"/>
                </a:lnTo>
                <a:lnTo>
                  <a:pt x="342900" y="272845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7533" y="1632648"/>
            <a:ext cx="3752215" cy="19380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3970" rIns="0" bIns="0" rtlCol="0">
            <a:spAutoFit/>
          </a:bodyPr>
          <a:lstStyle/>
          <a:p>
            <a:pPr marL="362585" marR="2237740" indent="-127635" algn="just">
              <a:lnSpc>
                <a:spcPct val="99500"/>
              </a:lnSpc>
              <a:spcBef>
                <a:spcPts val="11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$project:</a:t>
            </a:r>
            <a:r>
              <a:rPr sz="1800" b="1" spc="-8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stats:</a:t>
            </a:r>
            <a:r>
              <a:rPr sz="1800" b="1" spc="-2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489584">
              <a:lnSpc>
                <a:spcPts val="21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"$replies",</a:t>
            </a:r>
            <a:endParaRPr sz="1800" dirty="0">
              <a:latin typeface="Arial"/>
              <a:cs typeface="Arial"/>
            </a:endParaRPr>
          </a:p>
          <a:p>
            <a:pPr marL="489584" marR="1690370">
              <a:lnSpc>
                <a:spcPts val="2100"/>
              </a:lnSpc>
              <a:spcBef>
                <a:spcPts val="16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6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"$from",  date:</a:t>
            </a:r>
            <a:r>
              <a:rPr sz="1800" b="1" spc="-2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"$date"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4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7348" y="4384964"/>
            <a:ext cx="3840479" cy="24314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11012" y="4406117"/>
            <a:ext cx="3752215" cy="2343150"/>
          </a:xfrm>
          <a:custGeom>
            <a:avLst/>
            <a:gdLst/>
            <a:ahLst/>
            <a:cxnLst/>
            <a:rect l="l" t="t" r="r" b="b"/>
            <a:pathLst>
              <a:path w="3752215" h="2343150">
                <a:moveTo>
                  <a:pt x="0" y="0"/>
                </a:moveTo>
                <a:lnTo>
                  <a:pt x="3751649" y="0"/>
                </a:lnTo>
                <a:lnTo>
                  <a:pt x="3751649" y="2343024"/>
                </a:lnTo>
                <a:lnTo>
                  <a:pt x="0" y="234302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92061" y="4484099"/>
            <a:ext cx="106743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39700">
              <a:lnSpc>
                <a:spcPts val="213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8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375,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9071" y="5030199"/>
            <a:ext cx="2491105" cy="8458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stats: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ts val="214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2576" y="5842998"/>
            <a:ext cx="369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4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9071" y="6122399"/>
            <a:ext cx="312674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date:</a:t>
            </a:r>
            <a:r>
              <a:rPr sz="1800" b="1" spc="-2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ISODate("2012-08-05")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393" y="1524001"/>
            <a:ext cx="3877945" cy="4247515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12345,</a:t>
            </a:r>
            <a:endParaRPr sz="1800">
              <a:latin typeface="Arial"/>
              <a:cs typeface="Arial"/>
            </a:endParaRPr>
          </a:p>
          <a:p>
            <a:pPr marL="218440" marR="1186180">
              <a:lnSpc>
                <a:spcPts val="2000"/>
              </a:lnSpc>
              <a:spcBef>
                <a:spcPts val="17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 There",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 marR="11303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  to: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[</a:t>
            </a:r>
            <a:r>
              <a:rPr sz="1800" b="1" spc="484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8"/>
              </a:rPr>
              <a:t>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218440" marR="277495" indent="571500">
              <a:lnSpc>
                <a:spcPts val="2000"/>
              </a:lnSpc>
              <a:tabLst>
                <a:tab pos="3451860" algn="l"/>
              </a:tabLst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  <a:hlinkClick r:id="rId9"/>
              </a:rPr>
              <a:t>"sam@mongodb.co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9"/>
              </a:rPr>
              <a:t>m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	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],  account: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mail",  date: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ISODate("2012-08-05"),</a:t>
            </a:r>
            <a:endParaRPr sz="1800">
              <a:latin typeface="Arial"/>
              <a:cs typeface="Arial"/>
            </a:endParaRPr>
          </a:p>
          <a:p>
            <a:pPr marL="218440" marR="1986914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replies: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folder:</a:t>
            </a:r>
            <a:r>
              <a:rPr sz="1800" b="1" spc="-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"Inbox",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18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400253"/>
            <a:ext cx="1744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$gr</a:t>
            </a:r>
            <a:r>
              <a:rPr sz="4000" spc="-20" dirty="0"/>
              <a:t>o</a:t>
            </a:r>
            <a:r>
              <a:rPr sz="4000" spc="-5" dirty="0"/>
              <a:t>up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616102" y="1434082"/>
            <a:ext cx="5434330" cy="330072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37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Group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documents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by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an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615F5E"/>
                </a:solidFill>
                <a:latin typeface="Arial"/>
                <a:cs typeface="Arial"/>
              </a:rPr>
              <a:t>ID</a:t>
            </a:r>
            <a:endParaRPr sz="30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1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Field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reference,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object,</a:t>
            </a:r>
            <a:r>
              <a:rPr sz="2400" spc="-5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constant</a:t>
            </a:r>
            <a:endParaRPr sz="24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18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Other</a:t>
            </a:r>
            <a:r>
              <a:rPr sz="3000" spc="-22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output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r>
              <a:rPr sz="3000" spc="-24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615F5E"/>
                </a:solidFill>
                <a:latin typeface="Arial"/>
                <a:cs typeface="Arial"/>
              </a:rPr>
              <a:t>are</a:t>
            </a:r>
            <a:r>
              <a:rPr sz="30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computed</a:t>
            </a:r>
            <a:endParaRPr sz="30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2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$max, $min, $avg,</a:t>
            </a:r>
            <a:r>
              <a:rPr sz="2400" spc="-47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615F5E"/>
                </a:solidFill>
                <a:latin typeface="Arial"/>
                <a:cs typeface="Arial"/>
              </a:rPr>
              <a:t>$sum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19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120" dirty="0">
                <a:solidFill>
                  <a:srgbClr val="615F5E"/>
                </a:solidFill>
                <a:latin typeface="Arial"/>
                <a:cs typeface="Arial"/>
              </a:rPr>
              <a:t>$addToSet,</a:t>
            </a:r>
            <a:r>
              <a:rPr sz="24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$push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04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$first,</a:t>
            </a:r>
            <a:r>
              <a:rPr sz="2400" spc="-26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$last</a:t>
            </a:r>
            <a:endParaRPr sz="24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175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Processes</a:t>
            </a:r>
            <a:r>
              <a:rPr sz="3000" spc="-26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65" dirty="0">
                <a:solidFill>
                  <a:srgbClr val="615F5E"/>
                </a:solidFill>
                <a:latin typeface="Arial"/>
                <a:cs typeface="Arial"/>
              </a:rPr>
              <a:t>all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data</a:t>
            </a:r>
            <a:r>
              <a:rPr sz="30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in</a:t>
            </a:r>
            <a:r>
              <a:rPr sz="30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memory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2" y="452103"/>
            <a:ext cx="72328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5" dirty="0">
                <a:solidFill>
                  <a:srgbClr val="6BA342"/>
                </a:solidFill>
              </a:rPr>
              <a:t>Calculating </a:t>
            </a:r>
            <a:r>
              <a:rPr sz="3600" spc="5" dirty="0">
                <a:solidFill>
                  <a:srgbClr val="6BA342"/>
                </a:solidFill>
              </a:rPr>
              <a:t>An</a:t>
            </a:r>
            <a:r>
              <a:rPr sz="3600" spc="90" dirty="0">
                <a:solidFill>
                  <a:srgbClr val="6BA342"/>
                </a:solidFill>
              </a:rPr>
              <a:t> </a:t>
            </a:r>
            <a:r>
              <a:rPr sz="3600" spc="0" dirty="0">
                <a:solidFill>
                  <a:srgbClr val="6BA342"/>
                </a:solidFill>
              </a:rPr>
              <a:t>Average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6"/>
            <a:ext cx="3844636" cy="1749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1657350"/>
          </a:xfrm>
          <a:custGeom>
            <a:avLst/>
            <a:gdLst/>
            <a:ahLst/>
            <a:cxnLst/>
            <a:rect l="l" t="t" r="r" b="b"/>
            <a:pathLst>
              <a:path w="3752215" h="1657350">
                <a:moveTo>
                  <a:pt x="0" y="0"/>
                </a:moveTo>
                <a:lnTo>
                  <a:pt x="3751649" y="0"/>
                </a:lnTo>
                <a:lnTo>
                  <a:pt x="3751649" y="1657047"/>
                </a:lnTo>
                <a:lnTo>
                  <a:pt x="0" y="165704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6"/>
            <a:ext cx="3969326" cy="174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291840"/>
            <a:ext cx="548639" cy="594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316406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6"/>
                </a:moveTo>
                <a:lnTo>
                  <a:pt x="0" y="272846"/>
                </a:lnTo>
                <a:lnTo>
                  <a:pt x="228600" y="501446"/>
                </a:lnTo>
                <a:lnTo>
                  <a:pt x="457200" y="272846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6"/>
                </a:lnTo>
                <a:lnTo>
                  <a:pt x="342900" y="272846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7533" y="1655508"/>
            <a:ext cx="3752215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ts val="214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$group: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362585" marR="1390650" indent="-635">
              <a:lnSpc>
                <a:spcPts val="2200"/>
              </a:lnSpc>
              <a:spcBef>
                <a:spcPts val="2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 "$from",  avgWords: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r>
              <a:rPr sz="1800" b="1" spc="-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$avg:</a:t>
            </a:r>
            <a:endParaRPr sz="1800">
              <a:latin typeface="Arial"/>
              <a:cs typeface="Arial"/>
            </a:endParaRPr>
          </a:p>
          <a:p>
            <a:pPr marL="1061085">
              <a:lnSpc>
                <a:spcPts val="202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"$words"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7348" y="3898669"/>
            <a:ext cx="3840479" cy="12801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11012" y="3922318"/>
            <a:ext cx="3752215" cy="118808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5240" rIns="0" bIns="0" rtlCol="0">
            <a:spAutoFit/>
          </a:bodyPr>
          <a:lstStyle/>
          <a:p>
            <a:pPr marL="27940">
              <a:lnSpc>
                <a:spcPts val="2100"/>
              </a:lnSpc>
              <a:spcBef>
                <a:spcPts val="12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54940">
              <a:lnSpc>
                <a:spcPts val="21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2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"norberto@mongodb.com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 dirty="0">
              <a:latin typeface="Arial"/>
              <a:cs typeface="Arial"/>
            </a:endParaRPr>
          </a:p>
          <a:p>
            <a:pPr marL="154940">
              <a:lnSpc>
                <a:spcPts val="2130"/>
              </a:lnSpc>
              <a:spcBef>
                <a:spcPts val="4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avgPages: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154</a:t>
            </a:r>
            <a:endParaRPr sz="1800" dirty="0">
              <a:latin typeface="Arial"/>
              <a:cs typeface="Arial"/>
            </a:endParaRPr>
          </a:p>
          <a:p>
            <a:pPr marL="27940">
              <a:lnSpc>
                <a:spcPts val="213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1603" y="3320934"/>
            <a:ext cx="3969326" cy="17498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1603" y="5070764"/>
            <a:ext cx="3969326" cy="17456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6393" y="5092095"/>
            <a:ext cx="3877945" cy="1657350"/>
          </a:xfrm>
          <a:custGeom>
            <a:avLst/>
            <a:gdLst/>
            <a:ahLst/>
            <a:cxnLst/>
            <a:rect l="l" t="t" r="r" b="b"/>
            <a:pathLst>
              <a:path w="3877945" h="1657350">
                <a:moveTo>
                  <a:pt x="0" y="0"/>
                </a:moveTo>
                <a:lnTo>
                  <a:pt x="3877739" y="0"/>
                </a:lnTo>
                <a:lnTo>
                  <a:pt x="3877739" y="1657047"/>
                </a:lnTo>
                <a:lnTo>
                  <a:pt x="0" y="1657047"/>
                </a:lnTo>
                <a:lnTo>
                  <a:pt x="0" y="0"/>
                </a:lnTo>
                <a:close/>
              </a:path>
            </a:pathLst>
          </a:custGeom>
          <a:solidFill>
            <a:srgbClr val="F0D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92286" y="5324301"/>
            <a:ext cx="3840480" cy="12801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36648" y="5348038"/>
            <a:ext cx="3752215" cy="118808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4925" rIns="0" bIns="0" rtlCol="0">
            <a:spAutoFit/>
          </a:bodyPr>
          <a:lstStyle/>
          <a:p>
            <a:pPr marL="157480">
              <a:lnSpc>
                <a:spcPts val="2130"/>
              </a:lnSpc>
              <a:spcBef>
                <a:spcPts val="27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284480" marR="135890" indent="-635">
              <a:lnSpc>
                <a:spcPts val="2200"/>
              </a:lnSpc>
              <a:spcBef>
                <a:spcPts val="1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11"/>
              </a:rPr>
              <a:t>"hipster@somemail.com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avgPages: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100</a:t>
            </a:r>
            <a:endParaRPr sz="1800" dirty="0">
              <a:latin typeface="Arial"/>
              <a:cs typeface="Arial"/>
            </a:endParaRPr>
          </a:p>
          <a:p>
            <a:pPr marL="157480">
              <a:lnSpc>
                <a:spcPts val="202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6393" y="1524000"/>
            <a:ext cx="3877945" cy="1657350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There",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6393" y="3345541"/>
            <a:ext cx="3877945" cy="1657350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39370" rIns="0" bIns="0" rtlCol="0">
            <a:spAutoFit/>
          </a:bodyPr>
          <a:lstStyle/>
          <a:p>
            <a:pPr marL="86360">
              <a:lnSpc>
                <a:spcPts val="2030"/>
              </a:lnSpc>
              <a:spcBef>
                <a:spcPts val="31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"I love</a:t>
            </a:r>
            <a:r>
              <a:rPr sz="1800" b="1" spc="-1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Hofbrauhaus",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90,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86360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575" y="5126993"/>
            <a:ext cx="3590290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3970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"MongoDB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Rules!",</a:t>
            </a:r>
            <a:endParaRPr sz="1800">
              <a:latin typeface="Arial"/>
              <a:cs typeface="Arial"/>
            </a:endParaRPr>
          </a:p>
          <a:p>
            <a:pPr marL="139700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100,</a:t>
            </a:r>
            <a:endParaRPr sz="1800">
              <a:latin typeface="Arial"/>
              <a:cs typeface="Arial"/>
            </a:endParaRPr>
          </a:p>
          <a:p>
            <a:pPr marL="13970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11"/>
              </a:rPr>
              <a:t>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181600" y="3756659"/>
            <a:ext cx="3835907" cy="138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135879" y="3793235"/>
            <a:ext cx="2007107" cy="1249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5223890" y="3775836"/>
            <a:ext cx="3752215" cy="1304290"/>
          </a:xfrm>
          <a:custGeom>
            <a:avLst/>
            <a:gdLst/>
            <a:ahLst/>
            <a:cxnLst/>
            <a:rect l="l" t="t" r="r" b="b"/>
            <a:pathLst>
              <a:path w="3752215" h="1304289">
                <a:moveTo>
                  <a:pt x="0" y="1304163"/>
                </a:moveTo>
                <a:lnTo>
                  <a:pt x="3751707" y="1304163"/>
                </a:lnTo>
                <a:lnTo>
                  <a:pt x="3751707" y="0"/>
                </a:lnTo>
                <a:lnTo>
                  <a:pt x="0" y="0"/>
                </a:lnTo>
                <a:lnTo>
                  <a:pt x="0" y="1304163"/>
                </a:lnTo>
                <a:close/>
              </a:path>
            </a:pathLst>
          </a:custGeom>
          <a:solidFill>
            <a:srgbClr val="0076C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5181600" y="2548127"/>
            <a:ext cx="3835907" cy="1197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5135879" y="2452116"/>
            <a:ext cx="2133600" cy="12451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5223890" y="2567470"/>
            <a:ext cx="3752215" cy="1113790"/>
          </a:xfrm>
          <a:custGeom>
            <a:avLst/>
            <a:gdLst/>
            <a:ahLst/>
            <a:cxnLst/>
            <a:rect l="l" t="t" r="r" b="b"/>
            <a:pathLst>
              <a:path w="3752215" h="1113789">
                <a:moveTo>
                  <a:pt x="0" y="1113370"/>
                </a:moveTo>
                <a:lnTo>
                  <a:pt x="3751707" y="1113370"/>
                </a:lnTo>
                <a:lnTo>
                  <a:pt x="3751707" y="0"/>
                </a:lnTo>
                <a:lnTo>
                  <a:pt x="0" y="0"/>
                </a:lnTo>
                <a:lnTo>
                  <a:pt x="0" y="1113370"/>
                </a:lnTo>
                <a:close/>
              </a:path>
            </a:pathLst>
          </a:custGeom>
          <a:solidFill>
            <a:srgbClr val="0076C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5303646" y="2520822"/>
            <a:ext cx="1799589" cy="246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39065" marR="5080">
              <a:lnSpc>
                <a:spcPts val="2160"/>
              </a:lnSpc>
              <a:spcBef>
                <a:spcPts val="55"/>
              </a:spcBef>
            </a:pP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_id: </a:t>
            </a:r>
            <a:r>
              <a:rPr sz="1800" spc="-5" dirty="0">
                <a:solidFill>
                  <a:srgbClr val="F7D48F"/>
                </a:solidFill>
                <a:latin typeface="Arial"/>
                <a:cs typeface="Arial"/>
              </a:rPr>
              <a:t>"Russian"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,  avgPages:</a:t>
            </a:r>
            <a:r>
              <a:rPr sz="1800" spc="-6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AED2E9"/>
                </a:solidFill>
                <a:latin typeface="Arial"/>
                <a:cs typeface="Arial"/>
              </a:rPr>
              <a:t>1440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39065" marR="131445">
              <a:lnSpc>
                <a:spcPct val="100000"/>
              </a:lnSpc>
            </a:pP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_id: </a:t>
            </a:r>
            <a:r>
              <a:rPr sz="1800" spc="-5" dirty="0">
                <a:solidFill>
                  <a:srgbClr val="F7D48F"/>
                </a:solidFill>
                <a:latin typeface="Arial"/>
                <a:cs typeface="Arial"/>
              </a:rPr>
              <a:t>"English"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,  avgPages:</a:t>
            </a:r>
            <a:r>
              <a:rPr sz="1800" spc="-70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AED2E9"/>
                </a:solidFill>
                <a:latin typeface="Arial"/>
                <a:cs typeface="Arial"/>
              </a:rPr>
              <a:t>653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236" y="1639823"/>
            <a:ext cx="3962400" cy="15499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318515" y="1610867"/>
            <a:ext cx="3006852" cy="15468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64236" y="3137916"/>
            <a:ext cx="3962400" cy="15499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18515" y="3118104"/>
            <a:ext cx="2758440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364236" y="4637532"/>
            <a:ext cx="3962400" cy="15499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318515" y="4616196"/>
            <a:ext cx="2752344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06400" y="1659508"/>
          <a:ext cx="3877945" cy="445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17804">
                        <a:lnSpc>
                          <a:spcPts val="2150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title: </a:t>
                      </a:r>
                      <a:r>
                        <a:rPr sz="1800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"The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Great</a:t>
                      </a:r>
                      <a:r>
                        <a:rPr sz="1800" spc="-3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Gatsby"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pages:</a:t>
                      </a: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AED2E9"/>
                          </a:solidFill>
                          <a:latin typeface="Arial"/>
                          <a:cs typeface="Arial"/>
                        </a:rPr>
                        <a:t>218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language:</a:t>
                      </a:r>
                      <a:r>
                        <a:rPr sz="1800" spc="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"English"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455"/>
                        </a:spcBef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title: </a:t>
                      </a:r>
                      <a:r>
                        <a:rPr sz="1800" spc="-20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"War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0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Peace"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pages:</a:t>
                      </a: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AED2E9"/>
                          </a:solidFill>
                          <a:latin typeface="Arial"/>
                          <a:cs typeface="Arial"/>
                        </a:rPr>
                        <a:t>1440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language:</a:t>
                      </a:r>
                      <a:r>
                        <a:rPr sz="1800" spc="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"Russian"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459"/>
                        </a:spcBef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title: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"Atlas</a:t>
                      </a:r>
                      <a:r>
                        <a:rPr sz="1800" spc="-20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Shrugged"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pages:</a:t>
                      </a: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AED2E9"/>
                          </a:solidFill>
                          <a:latin typeface="Arial"/>
                          <a:cs typeface="Arial"/>
                        </a:rPr>
                        <a:t>1088</a:t>
                      </a: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217804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language:</a:t>
                      </a:r>
                      <a:r>
                        <a:rPr sz="1800" spc="5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F7D48F"/>
                          </a:solidFill>
                          <a:latin typeface="Arial"/>
                          <a:cs typeface="Arial"/>
                        </a:rPr>
                        <a:t>"English"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solidFill>
                            <a:srgbClr val="EAEAEA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 rot="10800000">
            <a:off x="4495801" y="3505200"/>
            <a:ext cx="560070" cy="457200"/>
          </a:xfrm>
          <a:custGeom>
            <a:avLst/>
            <a:gdLst/>
            <a:ahLst/>
            <a:cxnLst/>
            <a:rect l="l" t="t" r="r" b="b"/>
            <a:pathLst>
              <a:path w="560070" h="457200">
                <a:moveTo>
                  <a:pt x="228600" y="0"/>
                </a:moveTo>
                <a:lnTo>
                  <a:pt x="0" y="228600"/>
                </a:lnTo>
                <a:lnTo>
                  <a:pt x="228600" y="457200"/>
                </a:lnTo>
                <a:lnTo>
                  <a:pt x="228600" y="342900"/>
                </a:lnTo>
                <a:lnTo>
                  <a:pt x="559688" y="342900"/>
                </a:lnTo>
                <a:lnTo>
                  <a:pt x="559688" y="114300"/>
                </a:lnTo>
                <a:lnTo>
                  <a:pt x="228600" y="114300"/>
                </a:lnTo>
                <a:lnTo>
                  <a:pt x="228600" y="0"/>
                </a:lnTo>
                <a:close/>
              </a:path>
            </a:pathLst>
          </a:custGeom>
          <a:solidFill>
            <a:srgbClr val="43AF2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23772" y="-41855"/>
            <a:ext cx="8339227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4400" b="1" dirty="0"/>
              <a:t>$group: {_id: "$language”, </a:t>
            </a:r>
            <a:r>
              <a:rPr lang="en-US" sz="4400" b="1" dirty="0" err="1"/>
              <a:t>avgPages</a:t>
            </a:r>
            <a:r>
              <a:rPr lang="en-US" sz="4400" b="1" dirty="0"/>
              <a:t>: { $</a:t>
            </a:r>
            <a:r>
              <a:rPr lang="en-US" sz="4400" b="1" dirty="0" err="1"/>
              <a:t>avg</a:t>
            </a:r>
            <a:r>
              <a:rPr lang="en-US" sz="4400" b="1" dirty="0"/>
              <a:t>:"$pages"}}</a:t>
            </a:r>
            <a:endParaRPr sz="4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02" y="452103"/>
            <a:ext cx="76138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>
                <a:solidFill>
                  <a:srgbClr val="6BA342"/>
                </a:solidFill>
              </a:rPr>
              <a:t>Summing </a:t>
            </a:r>
            <a:r>
              <a:rPr sz="3600" spc="85" dirty="0">
                <a:solidFill>
                  <a:srgbClr val="6BA342"/>
                </a:solidFill>
              </a:rPr>
              <a:t>Fields </a:t>
            </a:r>
            <a:r>
              <a:rPr sz="3600" spc="10" dirty="0">
                <a:solidFill>
                  <a:srgbClr val="6BA342"/>
                </a:solidFill>
              </a:rPr>
              <a:t>and</a:t>
            </a:r>
            <a:r>
              <a:rPr sz="3600" spc="65" dirty="0">
                <a:solidFill>
                  <a:srgbClr val="6BA342"/>
                </a:solidFill>
              </a:rPr>
              <a:t> </a:t>
            </a:r>
            <a:r>
              <a:rPr sz="3600" spc="55" dirty="0">
                <a:solidFill>
                  <a:srgbClr val="6BA342"/>
                </a:solidFill>
              </a:rPr>
              <a:t>Counting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4771505" y="1500446"/>
            <a:ext cx="3844636" cy="1749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7533" y="1524000"/>
            <a:ext cx="3752215" cy="1657350"/>
          </a:xfrm>
          <a:custGeom>
            <a:avLst/>
            <a:gdLst/>
            <a:ahLst/>
            <a:cxnLst/>
            <a:rect l="l" t="t" r="r" b="b"/>
            <a:pathLst>
              <a:path w="3752215" h="1657350">
                <a:moveTo>
                  <a:pt x="0" y="0"/>
                </a:moveTo>
                <a:lnTo>
                  <a:pt x="3751649" y="0"/>
                </a:lnTo>
                <a:lnTo>
                  <a:pt x="3751649" y="1657047"/>
                </a:lnTo>
                <a:lnTo>
                  <a:pt x="0" y="165704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603" y="1500446"/>
            <a:ext cx="3969326" cy="174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92486" y="3291840"/>
            <a:ext cx="548639" cy="594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0148" y="3316406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6"/>
                </a:moveTo>
                <a:lnTo>
                  <a:pt x="0" y="272846"/>
                </a:lnTo>
                <a:lnTo>
                  <a:pt x="228600" y="501446"/>
                </a:lnTo>
                <a:lnTo>
                  <a:pt x="457200" y="272846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6"/>
                </a:lnTo>
                <a:lnTo>
                  <a:pt x="342900" y="272846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7533" y="1655508"/>
            <a:ext cx="3752215" cy="13944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ts val="214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$group: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362585">
              <a:lnSpc>
                <a:spcPts val="214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"$from",</a:t>
            </a:r>
            <a:endParaRPr sz="1800" dirty="0">
              <a:latin typeface="Arial"/>
              <a:cs typeface="Arial"/>
            </a:endParaRPr>
          </a:p>
          <a:p>
            <a:pPr marL="362585" marR="445770">
              <a:lnSpc>
                <a:spcPts val="2100"/>
              </a:lnSpc>
              <a:spcBef>
                <a:spcPts val="16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$sum: "$words"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}, 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mails: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$sum: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</a:t>
            </a:r>
            <a:r>
              <a:rPr sz="1800" b="1" spc="-1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235585">
              <a:lnSpc>
                <a:spcPts val="214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}}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7348" y="3898669"/>
            <a:ext cx="3840479" cy="15087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11012" y="3922318"/>
            <a:ext cx="3752215" cy="1415415"/>
          </a:xfrm>
          <a:custGeom>
            <a:avLst/>
            <a:gdLst/>
            <a:ahLst/>
            <a:cxnLst/>
            <a:rect l="l" t="t" r="r" b="b"/>
            <a:pathLst>
              <a:path w="3752215" h="1415414">
                <a:moveTo>
                  <a:pt x="0" y="0"/>
                </a:moveTo>
                <a:lnTo>
                  <a:pt x="3751649" y="0"/>
                </a:lnTo>
                <a:lnTo>
                  <a:pt x="3751649" y="1414853"/>
                </a:lnTo>
                <a:lnTo>
                  <a:pt x="0" y="141485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9752" y="393273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6762" y="4191815"/>
            <a:ext cx="3513454" cy="8458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"norberto@mongodb.com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308,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1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89752" y="501731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1603" y="3320934"/>
            <a:ext cx="3969326" cy="17498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1603" y="5070764"/>
            <a:ext cx="3969326" cy="17456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6393" y="5092095"/>
            <a:ext cx="3877945" cy="1657350"/>
          </a:xfrm>
          <a:custGeom>
            <a:avLst/>
            <a:gdLst/>
            <a:ahLst/>
            <a:cxnLst/>
            <a:rect l="l" t="t" r="r" b="b"/>
            <a:pathLst>
              <a:path w="3877945" h="1657350">
                <a:moveTo>
                  <a:pt x="0" y="0"/>
                </a:moveTo>
                <a:lnTo>
                  <a:pt x="3877739" y="0"/>
                </a:lnTo>
                <a:lnTo>
                  <a:pt x="3877739" y="1657047"/>
                </a:lnTo>
                <a:lnTo>
                  <a:pt x="0" y="1657047"/>
                </a:lnTo>
                <a:lnTo>
                  <a:pt x="0" y="0"/>
                </a:lnTo>
                <a:close/>
              </a:path>
            </a:pathLst>
          </a:custGeom>
          <a:solidFill>
            <a:srgbClr val="F0D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92286" y="5403272"/>
            <a:ext cx="3840480" cy="14131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36648" y="5425006"/>
            <a:ext cx="3752215" cy="1321435"/>
          </a:xfrm>
          <a:custGeom>
            <a:avLst/>
            <a:gdLst/>
            <a:ahLst/>
            <a:cxnLst/>
            <a:rect l="l" t="t" r="r" b="b"/>
            <a:pathLst>
              <a:path w="3752215" h="1321434">
                <a:moveTo>
                  <a:pt x="0" y="0"/>
                </a:moveTo>
                <a:lnTo>
                  <a:pt x="3751649" y="0"/>
                </a:lnTo>
                <a:lnTo>
                  <a:pt x="3751649" y="1321116"/>
                </a:lnTo>
                <a:lnTo>
                  <a:pt x="0" y="13211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71636" y="5370193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98646" y="5636893"/>
            <a:ext cx="3348990" cy="8458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11"/>
              </a:rPr>
              <a:t>"hipster@somemail.com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100,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71636" y="6462392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6393" y="1524000"/>
            <a:ext cx="3877945" cy="1657350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22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"Hello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There",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218,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6393" y="3345541"/>
            <a:ext cx="3877945" cy="1657350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39370" rIns="0" bIns="0" rtlCol="0">
            <a:spAutoFit/>
          </a:bodyPr>
          <a:lstStyle/>
          <a:p>
            <a:pPr marL="86360">
              <a:lnSpc>
                <a:spcPts val="2030"/>
              </a:lnSpc>
              <a:spcBef>
                <a:spcPts val="31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"I love</a:t>
            </a:r>
            <a:r>
              <a:rPr sz="1800" b="1" spc="-1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Hofbrauhaus",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5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90,</a:t>
            </a:r>
            <a:endParaRPr sz="1800">
              <a:latin typeface="Arial"/>
              <a:cs typeface="Arial"/>
            </a:endParaRPr>
          </a:p>
          <a:p>
            <a:pPr marL="21336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norberto@mongodb.com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86360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575" y="5126993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7586" y="5368293"/>
            <a:ext cx="3463290" cy="82041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381000">
              <a:lnSpc>
                <a:spcPts val="2100"/>
              </a:lnSpc>
              <a:spcBef>
                <a:spcPts val="22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"MongoDB Rules!",  words: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100,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39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from:</a:t>
            </a:r>
            <a:r>
              <a:rPr sz="1800" b="1" spc="-3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11"/>
              </a:rPr>
              <a:t>hipster@somemail.com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575" y="6142992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400253"/>
            <a:ext cx="2082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$u</a:t>
            </a:r>
            <a:r>
              <a:rPr sz="4000" spc="-25" dirty="0"/>
              <a:t>n</a:t>
            </a:r>
            <a:r>
              <a:rPr sz="4000" spc="-5" dirty="0"/>
              <a:t>wind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616102" y="1315862"/>
            <a:ext cx="7279005" cy="30283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3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Operate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on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an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array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field</a:t>
            </a:r>
            <a:endParaRPr sz="30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20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105" dirty="0">
                <a:solidFill>
                  <a:srgbClr val="615F5E"/>
                </a:solidFill>
                <a:latin typeface="Arial"/>
                <a:cs typeface="Arial"/>
              </a:rPr>
              <a:t>Yield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5" dirty="0">
                <a:solidFill>
                  <a:srgbClr val="615F5E"/>
                </a:solidFill>
                <a:latin typeface="Arial"/>
                <a:cs typeface="Arial"/>
              </a:rPr>
              <a:t>new</a:t>
            </a:r>
            <a:r>
              <a:rPr sz="3000" spc="-26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documents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615F5E"/>
                </a:solidFill>
                <a:latin typeface="Arial"/>
                <a:cs typeface="Arial"/>
              </a:rPr>
              <a:t>for</a:t>
            </a:r>
            <a:r>
              <a:rPr sz="30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each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array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element</a:t>
            </a:r>
            <a:endParaRPr sz="30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1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80" dirty="0">
                <a:solidFill>
                  <a:srgbClr val="615F5E"/>
                </a:solidFill>
                <a:latin typeface="Arial"/>
                <a:cs typeface="Arial"/>
              </a:rPr>
              <a:t>Array</a:t>
            </a:r>
            <a:r>
              <a:rPr sz="24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replaced</a:t>
            </a:r>
            <a:r>
              <a:rPr sz="24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615F5E"/>
                </a:solidFill>
                <a:latin typeface="Arial"/>
                <a:cs typeface="Arial"/>
              </a:rPr>
              <a:t>by</a:t>
            </a:r>
            <a:r>
              <a:rPr sz="24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element</a:t>
            </a:r>
            <a:r>
              <a:rPr sz="24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04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95" dirty="0">
                <a:solidFill>
                  <a:srgbClr val="615F5E"/>
                </a:solidFill>
                <a:latin typeface="Arial"/>
                <a:cs typeface="Arial"/>
              </a:rPr>
              <a:t>Missing/empty</a:t>
            </a:r>
            <a:r>
              <a:rPr sz="2400" spc="-25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r>
              <a:rPr sz="24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15F5E"/>
                </a:solidFill>
                <a:latin typeface="Arial"/>
                <a:cs typeface="Arial"/>
              </a:rPr>
              <a:t>→</a:t>
            </a:r>
            <a:r>
              <a:rPr sz="24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615F5E"/>
                </a:solidFill>
                <a:latin typeface="Arial"/>
                <a:cs typeface="Arial"/>
              </a:rPr>
              <a:t>no</a:t>
            </a:r>
            <a:r>
              <a:rPr sz="24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19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Non-array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fields </a:t>
            </a:r>
            <a:r>
              <a:rPr sz="2400" spc="-5" dirty="0">
                <a:solidFill>
                  <a:srgbClr val="615F5E"/>
                </a:solidFill>
                <a:latin typeface="Arial"/>
                <a:cs typeface="Arial"/>
              </a:rPr>
              <a:t>→</a:t>
            </a:r>
            <a:r>
              <a:rPr sz="2400" spc="-46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615F5E"/>
                </a:solidFill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19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75" dirty="0">
                <a:solidFill>
                  <a:srgbClr val="615F5E"/>
                </a:solidFill>
                <a:latin typeface="Arial"/>
                <a:cs typeface="Arial"/>
              </a:rPr>
              <a:t>Pipe</a:t>
            </a:r>
            <a:r>
              <a:rPr sz="3000" spc="-25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615F5E"/>
                </a:solidFill>
                <a:latin typeface="Arial"/>
                <a:cs typeface="Arial"/>
              </a:rPr>
              <a:t>to</a:t>
            </a:r>
            <a:r>
              <a:rPr sz="3000" spc="-19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$group</a:t>
            </a:r>
            <a:r>
              <a:rPr sz="30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615F5E"/>
                </a:solidFill>
                <a:latin typeface="Arial"/>
                <a:cs typeface="Arial"/>
              </a:rPr>
              <a:t>to</a:t>
            </a:r>
            <a:r>
              <a:rPr sz="3000" spc="-20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615F5E"/>
                </a:solidFill>
                <a:latin typeface="Arial"/>
                <a:cs typeface="Arial"/>
              </a:rPr>
              <a:t>aggregate</a:t>
            </a:r>
            <a:r>
              <a:rPr sz="3000" spc="-25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array</a:t>
            </a:r>
            <a:r>
              <a:rPr sz="30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values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9265" y="855233"/>
            <a:ext cx="4046853" cy="631628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1520">
              <a:spcBef>
                <a:spcPts val="91"/>
              </a:spcBef>
            </a:pPr>
            <a:r>
              <a:rPr spc="-5" dirty="0"/>
              <a:t>$unwind</a:t>
            </a:r>
            <a:r>
              <a:rPr spc="-59" dirty="0"/>
              <a:t> </a:t>
            </a:r>
            <a:r>
              <a:rPr spc="-9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2464" y="1886814"/>
            <a:ext cx="6692164" cy="2393961"/>
          </a:xfrm>
          <a:prstGeom prst="rect">
            <a:avLst/>
          </a:prstGeom>
        </p:spPr>
        <p:txBody>
          <a:bodyPr vert="horz" wrap="square" lIns="0" tIns="40321" rIns="0" bIns="0" rtlCol="0">
            <a:spAutoFit/>
          </a:bodyPr>
          <a:lstStyle/>
          <a:p>
            <a:pPr marL="11520" marR="4608">
              <a:lnSpc>
                <a:spcPct val="93400"/>
              </a:lnSpc>
              <a:spcBef>
                <a:spcPts val="317"/>
              </a:spcBef>
            </a:pPr>
            <a:r>
              <a:rPr sz="2900" dirty="0">
                <a:latin typeface="Arial"/>
                <a:cs typeface="Arial"/>
              </a:rPr>
              <a:t>Decompose </a:t>
            </a:r>
            <a:r>
              <a:rPr sz="2900" spc="-5" dirty="0">
                <a:latin typeface="Arial"/>
                <a:cs typeface="Arial"/>
              </a:rPr>
              <a:t>the </a:t>
            </a:r>
            <a:r>
              <a:rPr sz="2900" dirty="0">
                <a:latin typeface="Arial"/>
                <a:cs typeface="Arial"/>
              </a:rPr>
              <a:t>embedded </a:t>
            </a:r>
            <a:r>
              <a:rPr sz="2900" spc="-5" dirty="0">
                <a:latin typeface="Arial"/>
                <a:cs typeface="Arial"/>
              </a:rPr>
              <a:t>array into flat  </a:t>
            </a:r>
            <a:r>
              <a:rPr sz="2900" dirty="0">
                <a:latin typeface="Arial"/>
                <a:cs typeface="Arial"/>
              </a:rPr>
              <a:t>document </a:t>
            </a:r>
            <a:r>
              <a:rPr sz="2900" spc="-5" dirty="0">
                <a:latin typeface="Arial"/>
                <a:cs typeface="Arial"/>
              </a:rPr>
              <a:t>and relate </a:t>
            </a:r>
            <a:r>
              <a:rPr sz="2900" dirty="0">
                <a:latin typeface="Arial"/>
                <a:cs typeface="Arial"/>
              </a:rPr>
              <a:t>each </a:t>
            </a:r>
            <a:r>
              <a:rPr sz="2900" spc="-5" dirty="0">
                <a:latin typeface="Arial"/>
                <a:cs typeface="Arial"/>
              </a:rPr>
              <a:t>entry in the  array </a:t>
            </a:r>
            <a:r>
              <a:rPr sz="2900" spc="-9" dirty="0">
                <a:latin typeface="Arial"/>
                <a:cs typeface="Arial"/>
              </a:rPr>
              <a:t>with </a:t>
            </a:r>
            <a:r>
              <a:rPr sz="2900" spc="-5" dirty="0">
                <a:latin typeface="Arial"/>
                <a:cs typeface="Arial"/>
              </a:rPr>
              <a:t>outer</a:t>
            </a:r>
            <a:r>
              <a:rPr sz="2900" spc="-9" dirty="0">
                <a:latin typeface="Arial"/>
                <a:cs typeface="Arial"/>
              </a:rPr>
              <a:t> </a:t>
            </a:r>
            <a:r>
              <a:rPr sz="2900" spc="-5" dirty="0">
                <a:latin typeface="Arial"/>
                <a:cs typeface="Arial"/>
              </a:rPr>
              <a:t>fields.</a:t>
            </a:r>
            <a:endParaRPr sz="2900">
              <a:latin typeface="Arial"/>
              <a:cs typeface="Arial"/>
            </a:endParaRPr>
          </a:p>
          <a:p>
            <a:pPr marL="11520">
              <a:spcBef>
                <a:spcPts val="1061"/>
              </a:spcBef>
            </a:pPr>
            <a:r>
              <a:rPr sz="2900" spc="-5" dirty="0">
                <a:latin typeface="Arial"/>
                <a:cs typeface="Arial"/>
              </a:rPr>
              <a:t>Example</a:t>
            </a:r>
            <a:r>
              <a:rPr sz="2900" spc="-9" dirty="0">
                <a:latin typeface="Arial"/>
                <a:cs typeface="Arial"/>
              </a:rPr>
              <a:t> </a:t>
            </a:r>
            <a:r>
              <a:rPr sz="2900" spc="-5" dirty="0">
                <a:latin typeface="Arial"/>
                <a:cs typeface="Arial"/>
              </a:rPr>
              <a:t>:-</a:t>
            </a:r>
            <a:endParaRPr sz="2900">
              <a:latin typeface="Arial"/>
              <a:cs typeface="Arial"/>
            </a:endParaRPr>
          </a:p>
          <a:p>
            <a:pPr marL="101377">
              <a:spcBef>
                <a:spcPts val="1079"/>
              </a:spcBef>
            </a:pPr>
            <a:r>
              <a:rPr sz="2500" dirty="0">
                <a:latin typeface="Arial"/>
                <a:cs typeface="Arial"/>
              </a:rPr>
              <a:t>{ </a:t>
            </a:r>
            <a:r>
              <a:rPr sz="2500" spc="-5" dirty="0">
                <a:latin typeface="Arial"/>
                <a:cs typeface="Arial"/>
              </a:rPr>
              <a:t>_id: “blog”, tags: </a:t>
            </a:r>
            <a:r>
              <a:rPr sz="2500" dirty="0">
                <a:latin typeface="Arial"/>
                <a:cs typeface="Arial"/>
              </a:rPr>
              <a:t>[ </a:t>
            </a:r>
            <a:r>
              <a:rPr sz="2500" spc="-5" dirty="0">
                <a:latin typeface="Arial"/>
                <a:cs typeface="Arial"/>
              </a:rPr>
              <a:t>“social”, “economic” </a:t>
            </a:r>
            <a:r>
              <a:rPr sz="2500" dirty="0">
                <a:latin typeface="Arial"/>
                <a:cs typeface="Arial"/>
              </a:rPr>
              <a:t>]</a:t>
            </a:r>
            <a:r>
              <a:rPr sz="2500" spc="3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464" y="4781006"/>
            <a:ext cx="2230721" cy="993568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91235" marR="4608" indent="-179715">
              <a:lnSpc>
                <a:spcPct val="135100"/>
              </a:lnSpc>
              <a:spcBef>
                <a:spcPts val="91"/>
              </a:spcBef>
            </a:pPr>
            <a:r>
              <a:rPr sz="2500" dirty="0">
                <a:latin typeface="Arial"/>
                <a:cs typeface="Arial"/>
              </a:rPr>
              <a:t>{ </a:t>
            </a:r>
            <a:r>
              <a:rPr sz="2500" spc="-5" dirty="0">
                <a:latin typeface="Arial"/>
                <a:cs typeface="Arial"/>
              </a:rPr>
              <a:t>_id: “blog”,  tags: “social”</a:t>
            </a:r>
            <a:r>
              <a:rPr sz="2500" spc="-4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3867" y="4781006"/>
            <a:ext cx="2786962" cy="1069617"/>
          </a:xfrm>
          <a:prstGeom prst="rect">
            <a:avLst/>
          </a:prstGeom>
        </p:spPr>
        <p:txBody>
          <a:bodyPr vert="horz" wrap="square" lIns="0" tIns="147458" rIns="0" bIns="0" rtlCol="0">
            <a:spAutoFit/>
          </a:bodyPr>
          <a:lstStyle/>
          <a:p>
            <a:pPr marL="11520">
              <a:spcBef>
                <a:spcPts val="1161"/>
              </a:spcBef>
            </a:pPr>
            <a:r>
              <a:rPr sz="2500" dirty="0">
                <a:latin typeface="Arial"/>
                <a:cs typeface="Arial"/>
              </a:rPr>
              <a:t>{ </a:t>
            </a:r>
            <a:r>
              <a:rPr sz="2500" spc="-5" dirty="0">
                <a:latin typeface="Arial"/>
                <a:cs typeface="Arial"/>
              </a:rPr>
              <a:t>_id: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“blog”</a:t>
            </a:r>
            <a:endParaRPr sz="2500">
              <a:latin typeface="Arial"/>
              <a:cs typeface="Arial"/>
            </a:endParaRPr>
          </a:p>
          <a:p>
            <a:pPr marL="189507">
              <a:spcBef>
                <a:spcPts val="1070"/>
              </a:spcBef>
            </a:pPr>
            <a:r>
              <a:rPr sz="2500" spc="-5" dirty="0">
                <a:latin typeface="Arial"/>
                <a:cs typeface="Arial"/>
              </a:rPr>
              <a:t>tags: “economic”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39562" y="4377593"/>
            <a:ext cx="0" cy="242047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7239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1673" y="4606962"/>
            <a:ext cx="195778" cy="293914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215900" y="0"/>
                </a:moveTo>
                <a:lnTo>
                  <a:pt x="0" y="0"/>
                </a:lnTo>
                <a:lnTo>
                  <a:pt x="107950" y="323850"/>
                </a:lnTo>
                <a:lnTo>
                  <a:pt x="215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7870" y="5133702"/>
            <a:ext cx="1044535" cy="261641"/>
          </a:xfrm>
          <a:custGeom>
            <a:avLst/>
            <a:gdLst/>
            <a:ahLst/>
            <a:cxnLst/>
            <a:rect l="l" t="t" r="r" b="b"/>
            <a:pathLst>
              <a:path w="1151889" h="288289">
                <a:moveTo>
                  <a:pt x="228600" y="0"/>
                </a:moveTo>
                <a:lnTo>
                  <a:pt x="0" y="143510"/>
                </a:lnTo>
                <a:lnTo>
                  <a:pt x="228600" y="288290"/>
                </a:lnTo>
                <a:lnTo>
                  <a:pt x="228600" y="215900"/>
                </a:lnTo>
                <a:lnTo>
                  <a:pt x="1036954" y="215900"/>
                </a:lnTo>
                <a:lnTo>
                  <a:pt x="1151889" y="143510"/>
                </a:lnTo>
                <a:lnTo>
                  <a:pt x="1035937" y="71120"/>
                </a:lnTo>
                <a:lnTo>
                  <a:pt x="228600" y="71120"/>
                </a:lnTo>
                <a:lnTo>
                  <a:pt x="228600" y="0"/>
                </a:lnTo>
                <a:close/>
              </a:path>
              <a:path w="1151889" h="288289">
                <a:moveTo>
                  <a:pt x="1036954" y="215900"/>
                </a:moveTo>
                <a:lnTo>
                  <a:pt x="922020" y="215900"/>
                </a:lnTo>
                <a:lnTo>
                  <a:pt x="922020" y="288290"/>
                </a:lnTo>
                <a:lnTo>
                  <a:pt x="1036954" y="215900"/>
                </a:lnTo>
                <a:close/>
              </a:path>
              <a:path w="1151889" h="288289">
                <a:moveTo>
                  <a:pt x="922020" y="0"/>
                </a:moveTo>
                <a:lnTo>
                  <a:pt x="922020" y="71120"/>
                </a:lnTo>
                <a:lnTo>
                  <a:pt x="1035937" y="71120"/>
                </a:lnTo>
                <a:lnTo>
                  <a:pt x="922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048000" y="4377593"/>
            <a:ext cx="1143000" cy="376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439562" y="4377593"/>
            <a:ext cx="1164305" cy="403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87883" y="2988425"/>
            <a:ext cx="3840479" cy="10848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32271" y="3010876"/>
            <a:ext cx="3752215" cy="995680"/>
          </a:xfrm>
          <a:custGeom>
            <a:avLst/>
            <a:gdLst/>
            <a:ahLst/>
            <a:cxnLst/>
            <a:rect l="l" t="t" r="r" b="b"/>
            <a:pathLst>
              <a:path w="3752215" h="995679">
                <a:moveTo>
                  <a:pt x="0" y="0"/>
                </a:moveTo>
                <a:lnTo>
                  <a:pt x="3751649" y="0"/>
                </a:lnTo>
                <a:lnTo>
                  <a:pt x="3751649" y="995535"/>
                </a:lnTo>
                <a:lnTo>
                  <a:pt x="0" y="9955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02" y="452103"/>
            <a:ext cx="73852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80" dirty="0">
                <a:solidFill>
                  <a:srgbClr val="6BA342"/>
                </a:solidFill>
              </a:rPr>
              <a:t>Collecting </a:t>
            </a:r>
            <a:r>
              <a:rPr sz="3600" spc="50" dirty="0">
                <a:solidFill>
                  <a:srgbClr val="6BA342"/>
                </a:solidFill>
              </a:rPr>
              <a:t>Distinct</a:t>
            </a:r>
            <a:r>
              <a:rPr sz="3600" spc="55" dirty="0">
                <a:solidFill>
                  <a:srgbClr val="6BA342"/>
                </a:solidFill>
              </a:rPr>
              <a:t> </a:t>
            </a:r>
            <a:r>
              <a:rPr sz="3600" spc="10" dirty="0">
                <a:solidFill>
                  <a:srgbClr val="6BA342"/>
                </a:solidFill>
              </a:rPr>
              <a:t>Values</a:t>
            </a:r>
            <a:endParaRPr sz="3600" dirty="0"/>
          </a:p>
        </p:txBody>
      </p:sp>
      <p:sp>
        <p:nvSpPr>
          <p:cNvPr id="5" name="object 5"/>
          <p:cNvSpPr/>
          <p:nvPr/>
        </p:nvSpPr>
        <p:spPr>
          <a:xfrm>
            <a:off x="4276897" y="1874520"/>
            <a:ext cx="594360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23106" y="1897454"/>
            <a:ext cx="501650" cy="457200"/>
          </a:xfrm>
          <a:custGeom>
            <a:avLst/>
            <a:gdLst/>
            <a:ahLst/>
            <a:cxnLst/>
            <a:rect l="l" t="t" r="r" b="b"/>
            <a:pathLst>
              <a:path w="501650" h="457200">
                <a:moveTo>
                  <a:pt x="272846" y="0"/>
                </a:moveTo>
                <a:lnTo>
                  <a:pt x="272846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272846" y="342900"/>
                </a:lnTo>
                <a:lnTo>
                  <a:pt x="272846" y="457200"/>
                </a:lnTo>
                <a:lnTo>
                  <a:pt x="501445" y="228600"/>
                </a:lnTo>
                <a:lnTo>
                  <a:pt x="272846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04709" y="2473036"/>
            <a:ext cx="548640" cy="590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49002" y="2493947"/>
            <a:ext cx="457200" cy="501650"/>
          </a:xfrm>
          <a:custGeom>
            <a:avLst/>
            <a:gdLst/>
            <a:ahLst/>
            <a:cxnLst/>
            <a:rect l="l" t="t" r="r" b="b"/>
            <a:pathLst>
              <a:path w="457200" h="501650">
                <a:moveTo>
                  <a:pt x="457200" y="272846"/>
                </a:moveTo>
                <a:lnTo>
                  <a:pt x="0" y="272846"/>
                </a:lnTo>
                <a:lnTo>
                  <a:pt x="228600" y="501445"/>
                </a:lnTo>
                <a:lnTo>
                  <a:pt x="457200" y="272846"/>
                </a:lnTo>
                <a:close/>
              </a:path>
              <a:path w="457200" h="501650">
                <a:moveTo>
                  <a:pt x="342900" y="0"/>
                </a:moveTo>
                <a:lnTo>
                  <a:pt x="114300" y="0"/>
                </a:lnTo>
                <a:lnTo>
                  <a:pt x="114300" y="272846"/>
                </a:lnTo>
                <a:lnTo>
                  <a:pt x="342900" y="272846"/>
                </a:lnTo>
                <a:lnTo>
                  <a:pt x="342900" y="0"/>
                </a:lnTo>
                <a:close/>
              </a:path>
            </a:pathLst>
          </a:custGeom>
          <a:solidFill>
            <a:srgbClr val="7CA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2271" y="3049670"/>
            <a:ext cx="3752215" cy="8458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3970" rIns="0" bIns="0" rtlCol="0">
            <a:spAutoFit/>
          </a:bodyPr>
          <a:lstStyle/>
          <a:p>
            <a:pPr marL="218440" marR="501015" indent="-127635" algn="just">
              <a:lnSpc>
                <a:spcPct val="99500"/>
              </a:lnSpc>
              <a:spcBef>
                <a:spcPts val="11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"2.8 will be great!",  to: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4"/>
              </a:rPr>
              <a:t>"marc@mongodb.com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account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: 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mail”</a:t>
            </a:r>
            <a:r>
              <a:rPr sz="1800" b="1" spc="-8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50475" y="1866207"/>
            <a:ext cx="3857105" cy="5569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97123" y="1886853"/>
            <a:ext cx="3764279" cy="4679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8191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64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$unwind: "$to"</a:t>
            </a:r>
            <a:r>
              <a:rPr sz="1800" b="1" spc="-1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1603" y="1500447"/>
            <a:ext cx="3969326" cy="28928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6393" y="1524001"/>
            <a:ext cx="3877945" cy="2801620"/>
          </a:xfrm>
          <a:prstGeom prst="rect">
            <a:avLst/>
          </a:prstGeom>
          <a:solidFill>
            <a:srgbClr val="F0DEA8"/>
          </a:solidFill>
        </p:spPr>
        <p:txBody>
          <a:bodyPr vert="horz" wrap="square" lIns="0" tIns="152400" rIns="0" bIns="0" rtlCol="0">
            <a:spAutoFit/>
          </a:bodyPr>
          <a:lstStyle/>
          <a:p>
            <a:pPr marL="90805">
              <a:lnSpc>
                <a:spcPts val="2030"/>
              </a:lnSpc>
              <a:spcBef>
                <a:spcPts val="1200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_id:</a:t>
            </a:r>
            <a:r>
              <a:rPr sz="1800" b="1" spc="-1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2222,</a:t>
            </a:r>
            <a:endParaRPr sz="1800">
              <a:latin typeface="Arial"/>
              <a:cs typeface="Arial"/>
            </a:endParaRPr>
          </a:p>
          <a:p>
            <a:pPr marL="218440" marR="468630">
              <a:lnSpc>
                <a:spcPts val="2000"/>
              </a:lnSpc>
              <a:spcBef>
                <a:spcPts val="170"/>
              </a:spcBef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"2.8 will be great!",  to: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[</a:t>
            </a:r>
            <a:r>
              <a:rPr sz="1800" b="1" spc="475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4"/>
              </a:rPr>
              <a:t>"marc@mongodb.com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802640" marR="480695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"eliot@mongodb.com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asya@mongodb.co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</a:t>
            </a:r>
            <a:endParaRPr sz="1800">
              <a:latin typeface="Arial"/>
              <a:cs typeface="Arial"/>
            </a:endParaRPr>
          </a:p>
          <a:p>
            <a:pPr marL="599440">
              <a:lnSpc>
                <a:spcPts val="188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],</a:t>
            </a:r>
            <a:endParaRPr sz="1800">
              <a:latin typeface="Arial"/>
              <a:cs typeface="Arial"/>
            </a:endParaRPr>
          </a:p>
          <a:p>
            <a:pPr marL="281940">
              <a:lnSpc>
                <a:spcPts val="2000"/>
              </a:lnSpc>
            </a:pP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account: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"mongodb</a:t>
            </a:r>
            <a:r>
              <a:rPr sz="1800" b="1" spc="-2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mail"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ts val="2080"/>
              </a:lnSpc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87883" y="4131424"/>
            <a:ext cx="3840479" cy="10848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32271" y="4153038"/>
            <a:ext cx="3752215" cy="9956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52705" rIns="0" bIns="0" rtlCol="0">
            <a:spAutoFit/>
          </a:bodyPr>
          <a:lstStyle/>
          <a:p>
            <a:pPr marL="241300" marR="478155" indent="-127635">
              <a:lnSpc>
                <a:spcPct val="99500"/>
              </a:lnSpc>
              <a:spcBef>
                <a:spcPts val="41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"2.8 will be great!",  to: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6"/>
              </a:rPr>
              <a:t>"eliot@mongodb.com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account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: 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mail”</a:t>
            </a:r>
            <a:r>
              <a:rPr sz="1800" b="1" spc="-8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87883" y="5307676"/>
            <a:ext cx="3840479" cy="108896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32271" y="5332044"/>
            <a:ext cx="3752215" cy="9956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52705" rIns="0" bIns="0" rtlCol="0">
            <a:spAutoFit/>
          </a:bodyPr>
          <a:lstStyle/>
          <a:p>
            <a:pPr marL="218440" marR="501015" indent="-127635">
              <a:lnSpc>
                <a:spcPct val="99500"/>
              </a:lnSpc>
              <a:spcBef>
                <a:spcPts val="415"/>
              </a:spcBef>
            </a:pP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{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subject: "2.8 will be great!",  to: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  <a:hlinkClick r:id="rId7"/>
              </a:rPr>
              <a:t>"asya@mongodb.com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",  account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: "mongodb </a:t>
            </a:r>
            <a:r>
              <a:rPr sz="1800" b="1" spc="-5" dirty="0">
                <a:solidFill>
                  <a:srgbClr val="3A281E"/>
                </a:solidFill>
                <a:latin typeface="Arial"/>
                <a:cs typeface="Arial"/>
              </a:rPr>
              <a:t>mail”</a:t>
            </a:r>
            <a:r>
              <a:rPr sz="1800" b="1" spc="-80" dirty="0">
                <a:solidFill>
                  <a:srgbClr val="3A281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A281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400253"/>
            <a:ext cx="4457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$sort, $limit,</a:t>
            </a:r>
            <a:r>
              <a:rPr sz="4000" spc="-25" dirty="0"/>
              <a:t> </a:t>
            </a:r>
            <a:r>
              <a:rPr sz="4000" spc="-5" dirty="0"/>
              <a:t>$skip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616102" y="1434082"/>
            <a:ext cx="6169660" cy="23006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37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75" dirty="0">
                <a:solidFill>
                  <a:srgbClr val="615F5E"/>
                </a:solidFill>
                <a:latin typeface="Arial"/>
                <a:cs typeface="Arial"/>
              </a:rPr>
              <a:t>Sort</a:t>
            </a:r>
            <a:r>
              <a:rPr sz="30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documents</a:t>
            </a:r>
            <a:r>
              <a:rPr sz="3000" spc="-24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by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615F5E"/>
                </a:solidFill>
                <a:latin typeface="Arial"/>
                <a:cs typeface="Arial"/>
              </a:rPr>
              <a:t>one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50" dirty="0">
                <a:solidFill>
                  <a:srgbClr val="615F5E"/>
                </a:solidFill>
                <a:latin typeface="Arial"/>
                <a:cs typeface="Arial"/>
              </a:rPr>
              <a:t>or</a:t>
            </a:r>
            <a:r>
              <a:rPr sz="30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more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fields</a:t>
            </a:r>
            <a:endParaRPr sz="30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1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80" dirty="0">
                <a:solidFill>
                  <a:srgbClr val="615F5E"/>
                </a:solidFill>
                <a:latin typeface="Arial"/>
                <a:cs typeface="Arial"/>
              </a:rPr>
              <a:t>Same</a:t>
            </a:r>
            <a:r>
              <a:rPr sz="24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615F5E"/>
                </a:solidFill>
                <a:latin typeface="Arial"/>
                <a:cs typeface="Arial"/>
              </a:rPr>
              <a:t>order</a:t>
            </a:r>
            <a:r>
              <a:rPr sz="24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syntax</a:t>
            </a:r>
            <a:r>
              <a:rPr sz="24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615F5E"/>
                </a:solidFill>
                <a:latin typeface="Arial"/>
                <a:cs typeface="Arial"/>
              </a:rPr>
              <a:t>as</a:t>
            </a:r>
            <a:r>
              <a:rPr sz="24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cursors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204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100" dirty="0">
                <a:solidFill>
                  <a:srgbClr val="615F5E"/>
                </a:solidFill>
                <a:latin typeface="Arial"/>
                <a:cs typeface="Arial"/>
              </a:rPr>
              <a:t>Waits</a:t>
            </a:r>
            <a:r>
              <a:rPr sz="2400" spc="-23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615F5E"/>
                </a:solidFill>
                <a:latin typeface="Arial"/>
                <a:cs typeface="Arial"/>
              </a:rPr>
              <a:t>for</a:t>
            </a:r>
            <a:r>
              <a:rPr sz="24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earlier</a:t>
            </a:r>
            <a:r>
              <a:rPr sz="2400" spc="-19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pipeline</a:t>
            </a:r>
            <a:r>
              <a:rPr sz="2400" spc="-18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operator</a:t>
            </a:r>
            <a:r>
              <a:rPr sz="2400" spc="-22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615F5E"/>
                </a:solidFill>
                <a:latin typeface="Arial"/>
                <a:cs typeface="Arial"/>
              </a:rPr>
              <a:t>to</a:t>
            </a:r>
            <a:r>
              <a:rPr sz="24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return</a:t>
            </a:r>
            <a:endParaRPr sz="2400">
              <a:latin typeface="Arial"/>
              <a:cs typeface="Arial"/>
            </a:endParaRPr>
          </a:p>
          <a:p>
            <a:pPr marL="753110" lvl="1" indent="-255904">
              <a:lnSpc>
                <a:spcPct val="100000"/>
              </a:lnSpc>
              <a:spcBef>
                <a:spcPts val="195"/>
              </a:spcBef>
              <a:buSzPct val="89583"/>
              <a:buChar char="–"/>
              <a:tabLst>
                <a:tab pos="753745" algn="l"/>
              </a:tabLst>
            </a:pP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In-memory</a:t>
            </a:r>
            <a:r>
              <a:rPr sz="2400" spc="-26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unless</a:t>
            </a:r>
            <a:r>
              <a:rPr sz="24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615F5E"/>
                </a:solidFill>
                <a:latin typeface="Arial"/>
                <a:cs typeface="Arial"/>
              </a:rPr>
              <a:t>early</a:t>
            </a:r>
            <a:r>
              <a:rPr sz="2400" spc="-20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615F5E"/>
                </a:solidFill>
                <a:latin typeface="Arial"/>
                <a:cs typeface="Arial"/>
              </a:rPr>
              <a:t>and</a:t>
            </a:r>
            <a:r>
              <a:rPr sz="2400" spc="-210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615F5E"/>
                </a:solidFill>
                <a:latin typeface="Arial"/>
                <a:cs typeface="Arial"/>
              </a:rPr>
              <a:t>indexed</a:t>
            </a:r>
            <a:endParaRPr sz="2400">
              <a:latin typeface="Arial"/>
              <a:cs typeface="Arial"/>
            </a:endParaRPr>
          </a:p>
          <a:p>
            <a:pPr marL="268605" indent="-255904">
              <a:lnSpc>
                <a:spcPct val="100000"/>
              </a:lnSpc>
              <a:spcBef>
                <a:spcPts val="1190"/>
              </a:spcBef>
              <a:buClr>
                <a:srgbClr val="0075BE"/>
              </a:buClr>
              <a:buSzPct val="85000"/>
              <a:buChar char="•"/>
              <a:tabLst>
                <a:tab pos="268605" algn="l"/>
                <a:tab pos="269240" algn="l"/>
              </a:tabLst>
            </a:pPr>
            <a:r>
              <a:rPr sz="3000" spc="-80" dirty="0">
                <a:solidFill>
                  <a:srgbClr val="615F5E"/>
                </a:solidFill>
                <a:latin typeface="Arial"/>
                <a:cs typeface="Arial"/>
              </a:rPr>
              <a:t>Limit</a:t>
            </a:r>
            <a:r>
              <a:rPr sz="3000" spc="-24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615F5E"/>
                </a:solidFill>
                <a:latin typeface="Arial"/>
                <a:cs typeface="Arial"/>
              </a:rPr>
              <a:t>and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75" dirty="0">
                <a:solidFill>
                  <a:srgbClr val="615F5E"/>
                </a:solidFill>
                <a:latin typeface="Arial"/>
                <a:cs typeface="Arial"/>
              </a:rPr>
              <a:t>skip</a:t>
            </a:r>
            <a:r>
              <a:rPr sz="3000" spc="-229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follow</a:t>
            </a:r>
            <a:r>
              <a:rPr sz="3000" spc="-215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85" dirty="0">
                <a:solidFill>
                  <a:srgbClr val="615F5E"/>
                </a:solidFill>
                <a:latin typeface="Arial"/>
                <a:cs typeface="Arial"/>
              </a:rPr>
              <a:t>cursor</a:t>
            </a:r>
            <a:r>
              <a:rPr sz="3000" spc="-254" dirty="0">
                <a:solidFill>
                  <a:srgbClr val="615F5E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615F5E"/>
                </a:solidFill>
                <a:latin typeface="Arial"/>
                <a:cs typeface="Arial"/>
              </a:rPr>
              <a:t>behavior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1405890"/>
          </a:xfrm>
          <a:custGeom>
            <a:avLst/>
            <a:gdLst/>
            <a:ahLst/>
            <a:cxnLst/>
            <a:rect l="l" t="t" r="r" b="b"/>
            <a:pathLst>
              <a:path w="9144000" h="1405890">
                <a:moveTo>
                  <a:pt x="0" y="1405509"/>
                </a:moveTo>
                <a:lnTo>
                  <a:pt x="9144000" y="1405509"/>
                </a:lnTo>
                <a:lnTo>
                  <a:pt x="9144000" y="0"/>
                </a:lnTo>
                <a:lnTo>
                  <a:pt x="0" y="0"/>
                </a:lnTo>
                <a:lnTo>
                  <a:pt x="0" y="140550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797" y="365201"/>
            <a:ext cx="4903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$sort, $limit,</a:t>
            </a:r>
            <a:r>
              <a:rPr sz="4400" spc="-90" dirty="0"/>
              <a:t> </a:t>
            </a:r>
            <a:r>
              <a:rPr sz="4400" dirty="0"/>
              <a:t>$skip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2765805" y="1652981"/>
            <a:ext cx="35553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929491"/>
                </a:solidFill>
                <a:latin typeface="Arial"/>
                <a:cs typeface="Arial"/>
              </a:rPr>
              <a:t>{ </a:t>
            </a:r>
            <a:r>
              <a:rPr sz="3200" b="1" spc="25" dirty="0">
                <a:solidFill>
                  <a:srgbClr val="929491"/>
                </a:solidFill>
                <a:latin typeface="Arial"/>
                <a:cs typeface="Arial"/>
              </a:rPr>
              <a:t>$sort: </a:t>
            </a:r>
            <a:r>
              <a:rPr sz="3200" b="1" dirty="0">
                <a:solidFill>
                  <a:srgbClr val="929491"/>
                </a:solidFill>
                <a:latin typeface="Arial"/>
                <a:cs typeface="Arial"/>
              </a:rPr>
              <a:t>{ </a:t>
            </a:r>
            <a:r>
              <a:rPr sz="3200" b="1" spc="25" dirty="0">
                <a:solidFill>
                  <a:srgbClr val="929491"/>
                </a:solidFill>
                <a:latin typeface="Arial"/>
                <a:cs typeface="Arial"/>
              </a:rPr>
              <a:t>title: </a:t>
            </a:r>
            <a:r>
              <a:rPr sz="3200" b="1" dirty="0">
                <a:solidFill>
                  <a:srgbClr val="929491"/>
                </a:solidFill>
                <a:latin typeface="Arial"/>
                <a:cs typeface="Arial"/>
              </a:rPr>
              <a:t>1</a:t>
            </a:r>
            <a:r>
              <a:rPr sz="3200" b="1" spc="330" dirty="0">
                <a:solidFill>
                  <a:srgbClr val="929491"/>
                </a:solidFill>
                <a:latin typeface="Arial"/>
                <a:cs typeface="Arial"/>
              </a:rPr>
              <a:t> </a:t>
            </a:r>
            <a:r>
              <a:rPr sz="3200" b="1" spc="10" dirty="0">
                <a:solidFill>
                  <a:srgbClr val="929491"/>
                </a:solidFill>
                <a:latin typeface="Arial"/>
                <a:cs typeface="Arial"/>
              </a:rPr>
              <a:t>}}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5462015"/>
            <a:ext cx="3962400" cy="454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8575" y="5442203"/>
            <a:ext cx="2670048" cy="426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729" y="5482158"/>
            <a:ext cx="3877310" cy="368300"/>
          </a:xfrm>
          <a:custGeom>
            <a:avLst/>
            <a:gdLst/>
            <a:ahLst/>
            <a:cxnLst/>
            <a:rect l="l" t="t" r="r" b="b"/>
            <a:pathLst>
              <a:path w="3877310" h="368300">
                <a:moveTo>
                  <a:pt x="0" y="368300"/>
                </a:moveTo>
                <a:lnTo>
                  <a:pt x="3877183" y="368300"/>
                </a:lnTo>
                <a:lnTo>
                  <a:pt x="3877183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solidFill>
            <a:srgbClr val="003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729" y="5511495"/>
            <a:ext cx="387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29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 :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“Invisible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Man”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" y="5013959"/>
            <a:ext cx="3962400" cy="454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0747" y="4994147"/>
            <a:ext cx="2965704" cy="4267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729" y="5033390"/>
            <a:ext cx="3877310" cy="368300"/>
          </a:xfrm>
          <a:custGeom>
            <a:avLst/>
            <a:gdLst/>
            <a:ahLst/>
            <a:cxnLst/>
            <a:rect l="l" t="t" r="r" b="b"/>
            <a:pathLst>
              <a:path w="3877310" h="368300">
                <a:moveTo>
                  <a:pt x="0" y="368300"/>
                </a:moveTo>
                <a:lnTo>
                  <a:pt x="3877183" y="368300"/>
                </a:lnTo>
                <a:lnTo>
                  <a:pt x="3877183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solidFill>
            <a:srgbClr val="003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729" y="5062473"/>
            <a:ext cx="387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”Father and Sons"</a:t>
            </a:r>
            <a:r>
              <a:rPr sz="1800" spc="-4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591" y="4558284"/>
            <a:ext cx="3962400" cy="454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7324" y="4538471"/>
            <a:ext cx="2915412" cy="4267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6921" y="457835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”Lord of the Flies"</a:t>
            </a:r>
            <a:r>
              <a:rPr sz="1800" spc="-40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2400" y="4079747"/>
            <a:ext cx="3962400" cy="454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7344" y="4059935"/>
            <a:ext cx="2572511" cy="4267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4729" y="409994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”Animal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Farm"</a:t>
            </a:r>
            <a:r>
              <a:rPr sz="1800" spc="-3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2400" y="3625596"/>
            <a:ext cx="3962400" cy="4526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1416" y="3605784"/>
            <a:ext cx="2944368" cy="4267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4729" y="364490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”Grapes of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Wrath”</a:t>
            </a:r>
            <a:r>
              <a:rPr sz="1800" spc="-4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2400" y="3163823"/>
            <a:ext cx="3962400" cy="454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075" y="3144011"/>
            <a:ext cx="3051048" cy="4267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4729" y="3183508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”Brave New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World"</a:t>
            </a:r>
            <a:r>
              <a:rPr sz="1800" spc="-3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2400" y="2691383"/>
            <a:ext cx="3962400" cy="454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6739" y="2671572"/>
            <a:ext cx="3093720" cy="4267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4729" y="271145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”The Great Gatsby"</a:t>
            </a:r>
            <a:r>
              <a:rPr sz="1800" spc="-2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17008" y="5462015"/>
            <a:ext cx="3962400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22391" y="5442203"/>
            <a:ext cx="3151632" cy="4267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60315" y="5482158"/>
            <a:ext cx="3877310" cy="368300"/>
          </a:xfrm>
          <a:custGeom>
            <a:avLst/>
            <a:gdLst/>
            <a:ahLst/>
            <a:cxnLst/>
            <a:rect l="l" t="t" r="r" b="b"/>
            <a:pathLst>
              <a:path w="3877309" h="368300">
                <a:moveTo>
                  <a:pt x="0" y="368300"/>
                </a:moveTo>
                <a:lnTo>
                  <a:pt x="3877183" y="368300"/>
                </a:lnTo>
                <a:lnTo>
                  <a:pt x="3877183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solidFill>
            <a:srgbClr val="003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060315" y="5511495"/>
            <a:ext cx="387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 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“The Great Gatsby”</a:t>
            </a:r>
            <a:r>
              <a:rPr sz="1800" spc="-3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17008" y="5013959"/>
            <a:ext cx="3962400" cy="454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39740" y="4994147"/>
            <a:ext cx="2915412" cy="4267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60315" y="5033390"/>
            <a:ext cx="3877310" cy="368300"/>
          </a:xfrm>
          <a:custGeom>
            <a:avLst/>
            <a:gdLst/>
            <a:ahLst/>
            <a:cxnLst/>
            <a:rect l="l" t="t" r="r" b="b"/>
            <a:pathLst>
              <a:path w="3877309" h="368300">
                <a:moveTo>
                  <a:pt x="0" y="368300"/>
                </a:moveTo>
                <a:lnTo>
                  <a:pt x="3877183" y="368300"/>
                </a:lnTo>
                <a:lnTo>
                  <a:pt x="3877183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solidFill>
            <a:srgbClr val="003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060315" y="5062473"/>
            <a:ext cx="387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“Lord of the Flies"</a:t>
            </a:r>
            <a:r>
              <a:rPr sz="1800" spc="-40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029200" y="4558284"/>
            <a:ext cx="3962400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04332" y="4538471"/>
            <a:ext cx="2610612" cy="4267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072507" y="457835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8128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”Invisible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Man"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17008" y="4079747"/>
            <a:ext cx="3962400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490971" y="4059935"/>
            <a:ext cx="3012947" cy="4267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060315" y="409994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”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Grapes of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Wrath"</a:t>
            </a:r>
            <a:r>
              <a:rPr sz="1800" spc="-4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017008" y="3625596"/>
            <a:ext cx="3962400" cy="4526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460491" y="3605784"/>
            <a:ext cx="3075432" cy="4267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060315" y="364490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”Fathers and Sons”</a:t>
            </a:r>
            <a:r>
              <a:rPr sz="1800" spc="-4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017008" y="3163823"/>
            <a:ext cx="3962400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72684" y="3144011"/>
            <a:ext cx="3051048" cy="42672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060315" y="3183508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59309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”Brave New </a:t>
            </a:r>
            <a:r>
              <a:rPr sz="1800" spc="-10" dirty="0">
                <a:solidFill>
                  <a:srgbClr val="EAEAEA"/>
                </a:solidFill>
                <a:latin typeface="Arial"/>
                <a:cs typeface="Arial"/>
              </a:rPr>
              <a:t>World"</a:t>
            </a:r>
            <a:r>
              <a:rPr sz="1800" spc="-3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17008" y="2691383"/>
            <a:ext cx="3962400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11952" y="2671572"/>
            <a:ext cx="2572511" cy="42672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060315" y="2711450"/>
            <a:ext cx="3877310" cy="368300"/>
          </a:xfrm>
          <a:prstGeom prst="rect">
            <a:avLst/>
          </a:prstGeom>
          <a:solidFill>
            <a:srgbClr val="003593"/>
          </a:solidFill>
        </p:spPr>
        <p:txBody>
          <a:bodyPr vert="horz" wrap="square" lIns="0" tIns="41275" rIns="0" bIns="0" rtlCol="0">
            <a:spAutoFit/>
          </a:bodyPr>
          <a:lstStyle/>
          <a:p>
            <a:pPr marL="83248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{ title: </a:t>
            </a:r>
            <a:r>
              <a:rPr sz="1800" spc="-5" dirty="0">
                <a:solidFill>
                  <a:srgbClr val="EAEAEA"/>
                </a:solidFill>
                <a:latin typeface="Arial"/>
                <a:cs typeface="Arial"/>
              </a:rPr>
              <a:t>”Animal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Farm"</a:t>
            </a:r>
            <a:r>
              <a:rPr sz="1800" spc="-35" dirty="0">
                <a:solidFill>
                  <a:srgbClr val="EAEA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AEAEA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4267200" y="4099940"/>
            <a:ext cx="609600" cy="4784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to Aggregation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199" y="1674584"/>
          <a:ext cx="8153400" cy="480241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66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 SQL 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 MongoDB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Description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Select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$project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Passes the fields to next stage with existing Fields or with New fields.We can add new Fields dynamically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Where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$match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This will filter the documents and will pass only matching documents to next pipeline stage.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Limit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$limit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limit the first x unmodified documents and pass them to next stage of pipeline. x is the number of the documents which will pass through the next stage of pipeline.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GroupBy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$group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This will group the documents and pass them to the next stage of Aggregation pipeline.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OrderBy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$sort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will change the order of documents either in ascending or descending.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Sum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$sum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To calculate the sum of all the numeric values.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Join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$lookup</a:t>
                      </a:r>
                      <a:endParaRPr lang="en-US" sz="180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It will perform the left outer join with another collection in same database.</a:t>
                      </a:r>
                      <a:endParaRPr lang="en-US" sz="1800" dirty="0">
                        <a:solidFill>
                          <a:srgbClr val="111111"/>
                        </a:solidFill>
                        <a:effectLst/>
                        <a:latin typeface="Segoe UI"/>
                      </a:endParaRPr>
                    </a:p>
                  </a:txBody>
                  <a:tcPr marL="25831" marR="25831" marT="25831" marB="2583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Module 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700C-1849-4B7F-B323-4F6047AB90E9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6046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2150" y="855233"/>
            <a:ext cx="2243965" cy="631628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1520">
              <a:spcBef>
                <a:spcPts val="91"/>
              </a:spcBef>
            </a:pPr>
            <a:r>
              <a:rPr spc="-9" dirty="0"/>
              <a:t>Examples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2423" y="1931766"/>
          <a:ext cx="7540920" cy="4712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2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SQL</a:t>
                      </a:r>
                      <a:r>
                        <a:rPr sz="16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Query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627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Aggregation Query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627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6653">
                <a:tc>
                  <a:txBody>
                    <a:bodyPr/>
                    <a:lstStyle/>
                    <a:p>
                      <a:pPr marL="89535" marR="761365">
                        <a:lnSpc>
                          <a:spcPts val="2020"/>
                        </a:lnSpc>
                        <a:spcBef>
                          <a:spcPts val="38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SELECT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COUNT(*) AS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COUNT 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EMPLOYEE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799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090"/>
                        </a:lnSpc>
                        <a:spcBef>
                          <a:spcPts val="20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db.employee.aggregate([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2014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{$group: {_id:null,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count: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{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$sum:1}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}</a:t>
                      </a:r>
                      <a:r>
                        <a:rPr sz="16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}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208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])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209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Explaination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: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2014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Group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: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nothing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170" marR="102870">
                        <a:lnSpc>
                          <a:spcPts val="202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Sum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: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Just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add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1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count field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each 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record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052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542">
                <a:tc>
                  <a:txBody>
                    <a:bodyPr/>
                    <a:lstStyle/>
                    <a:p>
                      <a:pPr marL="89535" marR="425450">
                        <a:lnSpc>
                          <a:spcPts val="2010"/>
                        </a:lnSpc>
                        <a:spcBef>
                          <a:spcPts val="39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SELECT 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SUM(SALARY)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6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TOTAL 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EMPLOYEE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952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085"/>
                        </a:lnSpc>
                        <a:spcBef>
                          <a:spcPts val="20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db.employee.aggregate([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2014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{$group: {_id:null,</a:t>
                      </a:r>
                      <a:r>
                        <a:rPr sz="16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total: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202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{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$sum:”$salary”}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}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}</a:t>
                      </a:r>
                    </a:p>
                    <a:p>
                      <a:pPr marL="90170">
                        <a:lnSpc>
                          <a:spcPts val="209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])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2085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Explaination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:</a:t>
                      </a:r>
                    </a:p>
                    <a:p>
                      <a:pPr marL="90170">
                        <a:lnSpc>
                          <a:spcPts val="2014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Group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: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nothing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0170" marR="155575">
                        <a:lnSpc>
                          <a:spcPts val="2010"/>
                        </a:lnSpc>
                        <a:spcBef>
                          <a:spcPts val="12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Sum: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do the sum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value of salary 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field of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each doc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put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result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total.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3052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715107"/>
            <a:ext cx="8229600" cy="627186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495367">
              <a:spcBef>
                <a:spcPts val="91"/>
              </a:spcBef>
            </a:pPr>
            <a:r>
              <a:rPr spc="-9" dirty="0"/>
              <a:t>Example</a:t>
            </a:r>
            <a:r>
              <a:rPr spc="-63" dirty="0"/>
              <a:t> </a:t>
            </a:r>
            <a:r>
              <a:rPr spc="-5" dirty="0"/>
              <a:t>Cont.</a:t>
            </a:r>
          </a:p>
        </p:txBody>
      </p:sp>
      <p:sp>
        <p:nvSpPr>
          <p:cNvPr id="3" name="object 3"/>
          <p:cNvSpPr/>
          <p:nvPr/>
        </p:nvSpPr>
        <p:spPr>
          <a:xfrm>
            <a:off x="1142424" y="1931766"/>
            <a:ext cx="3689845" cy="3818581"/>
          </a:xfrm>
          <a:custGeom>
            <a:avLst/>
            <a:gdLst/>
            <a:ahLst/>
            <a:cxnLst/>
            <a:rect l="l" t="t" r="r" b="b"/>
            <a:pathLst>
              <a:path w="4069079" h="4207510">
                <a:moveTo>
                  <a:pt x="0" y="0"/>
                </a:moveTo>
                <a:lnTo>
                  <a:pt x="4069080" y="0"/>
                </a:lnTo>
                <a:lnTo>
                  <a:pt x="4069080" y="4207509"/>
                </a:lnTo>
                <a:lnTo>
                  <a:pt x="0" y="4207509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2674" y="2176118"/>
            <a:ext cx="3117482" cy="1201014"/>
          </a:xfrm>
          <a:prstGeom prst="rect">
            <a:avLst/>
          </a:prstGeom>
        </p:spPr>
        <p:txBody>
          <a:bodyPr vert="horz" wrap="square" lIns="0" tIns="28224" rIns="0" bIns="0" rtlCol="0">
            <a:spAutoFit/>
          </a:bodyPr>
          <a:lstStyle/>
          <a:p>
            <a:pPr marL="11520" marR="4608">
              <a:lnSpc>
                <a:spcPct val="93300"/>
              </a:lnSpc>
              <a:spcBef>
                <a:spcPts val="221"/>
              </a:spcBef>
            </a:pPr>
            <a:r>
              <a:rPr sz="1600" spc="-9" dirty="0">
                <a:latin typeface="Arial"/>
                <a:cs typeface="Arial"/>
              </a:rPr>
              <a:t>SELECT </a:t>
            </a:r>
            <a:r>
              <a:rPr sz="1600" spc="-18" dirty="0">
                <a:latin typeface="Arial"/>
                <a:cs typeface="Arial"/>
              </a:rPr>
              <a:t>DEPARTMENT_ID,  </a:t>
            </a:r>
            <a:r>
              <a:rPr sz="1600" spc="-14" dirty="0">
                <a:latin typeface="Arial"/>
                <a:cs typeface="Arial"/>
              </a:rPr>
              <a:t>SUM(SALARY) </a:t>
            </a:r>
            <a:r>
              <a:rPr sz="1600" spc="-5" dirty="0">
                <a:latin typeface="Arial"/>
                <a:cs typeface="Arial"/>
              </a:rPr>
              <a:t>AS </a:t>
            </a:r>
            <a:r>
              <a:rPr sz="1600" spc="-27" dirty="0">
                <a:latin typeface="Arial"/>
                <a:cs typeface="Arial"/>
              </a:rPr>
              <a:t>TOTAL</a:t>
            </a:r>
            <a:r>
              <a:rPr sz="1600" spc="-227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FROM  </a:t>
            </a:r>
            <a:r>
              <a:rPr sz="1600" spc="-9" dirty="0">
                <a:latin typeface="Arial"/>
                <a:cs typeface="Arial"/>
              </a:rPr>
              <a:t>EMPLOYEE </a:t>
            </a:r>
            <a:r>
              <a:rPr sz="1600" spc="-5" dirty="0">
                <a:latin typeface="Arial"/>
                <a:cs typeface="Arial"/>
              </a:rPr>
              <a:t>GROUP </a:t>
            </a:r>
            <a:r>
              <a:rPr sz="1600" spc="-9" dirty="0">
                <a:latin typeface="Arial"/>
                <a:cs typeface="Arial"/>
              </a:rPr>
              <a:t>BY  </a:t>
            </a:r>
            <a:r>
              <a:rPr sz="1600" spc="-18" dirty="0">
                <a:latin typeface="Arial"/>
                <a:cs typeface="Arial"/>
              </a:rPr>
              <a:t>DEPARTMENT_ID </a:t>
            </a:r>
            <a:r>
              <a:rPr sz="1600" spc="-9" dirty="0">
                <a:latin typeface="Arial"/>
                <a:cs typeface="Arial"/>
              </a:rPr>
              <a:t>ORDER </a:t>
            </a:r>
            <a:r>
              <a:rPr sz="1600" spc="-5" dirty="0">
                <a:latin typeface="Arial"/>
                <a:cs typeface="Arial"/>
              </a:rPr>
              <a:t>BY  </a:t>
            </a:r>
            <a:r>
              <a:rPr sz="1600" spc="-27" dirty="0">
                <a:latin typeface="Arial"/>
                <a:cs typeface="Arial"/>
              </a:rPr>
              <a:t>TOTAL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32270" y="1931766"/>
            <a:ext cx="3770460" cy="3818581"/>
          </a:xfrm>
          <a:custGeom>
            <a:avLst/>
            <a:gdLst/>
            <a:ahLst/>
            <a:cxnLst/>
            <a:rect l="l" t="t" r="r" b="b"/>
            <a:pathLst>
              <a:path w="4157979" h="4207510">
                <a:moveTo>
                  <a:pt x="0" y="0"/>
                </a:moveTo>
                <a:lnTo>
                  <a:pt x="4157979" y="0"/>
                </a:lnTo>
                <a:lnTo>
                  <a:pt x="4157979" y="4207509"/>
                </a:lnTo>
                <a:lnTo>
                  <a:pt x="0" y="4207509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01368" y="2176117"/>
            <a:ext cx="3564317" cy="2595667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1520">
              <a:lnSpc>
                <a:spcPts val="1896"/>
              </a:lnSpc>
              <a:spcBef>
                <a:spcPts val="91"/>
              </a:spcBef>
            </a:pPr>
            <a:r>
              <a:rPr sz="1600" spc="-9" dirty="0">
                <a:latin typeface="Arial"/>
                <a:cs typeface="Arial"/>
              </a:rPr>
              <a:t>db.employee.aggregate(</a:t>
            </a:r>
            <a:r>
              <a:rPr sz="1600" dirty="0">
                <a:latin typeface="Arial"/>
                <a:cs typeface="Arial"/>
              </a:rPr>
              <a:t> [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$group: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_id: </a:t>
            </a:r>
            <a:r>
              <a:rPr sz="1600" spc="-9" dirty="0">
                <a:latin typeface="Arial"/>
                <a:cs typeface="Arial"/>
              </a:rPr>
              <a:t>“$department_id”,</a:t>
            </a:r>
            <a:r>
              <a:rPr sz="1600" spc="2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total: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  <a:tabLst>
                <a:tab pos="1747034" algn="l"/>
              </a:tabLst>
            </a:pPr>
            <a:r>
              <a:rPr sz="1600" dirty="0">
                <a:latin typeface="Arial"/>
                <a:cs typeface="Arial"/>
              </a:rPr>
              <a:t>{</a:t>
            </a:r>
            <a:r>
              <a:rPr sz="1600" spc="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$sum:”$salary”</a:t>
            </a:r>
            <a:r>
              <a:rPr sz="1600" spc="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}	</a:t>
            </a:r>
            <a:r>
              <a:rPr sz="1600" spc="-5" dirty="0">
                <a:latin typeface="Arial"/>
                <a:cs typeface="Arial"/>
              </a:rPr>
              <a:t>},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$sort: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total </a:t>
            </a:r>
            <a:r>
              <a:rPr sz="1600" dirty="0">
                <a:latin typeface="Arial"/>
                <a:cs typeface="Arial"/>
              </a:rPr>
              <a:t>: 1 } }</a:t>
            </a:r>
            <a:r>
              <a:rPr sz="1600" spc="-2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91"/>
              </a:lnSpc>
            </a:pPr>
            <a:r>
              <a:rPr sz="1600" dirty="0">
                <a:latin typeface="Arial"/>
                <a:cs typeface="Arial"/>
              </a:rPr>
              <a:t>] )</a:t>
            </a:r>
            <a:endParaRPr sz="160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1500">
              <a:latin typeface="Times New Roman"/>
              <a:cs typeface="Times New Roman"/>
            </a:endParaRPr>
          </a:p>
          <a:p>
            <a:pPr marL="11520">
              <a:lnSpc>
                <a:spcPts val="1896"/>
              </a:lnSpc>
            </a:pPr>
            <a:r>
              <a:rPr sz="1600" spc="-9" dirty="0">
                <a:latin typeface="Arial"/>
                <a:cs typeface="Arial"/>
              </a:rPr>
              <a:t>Explanation:</a:t>
            </a:r>
            <a:endParaRPr sz="1600">
              <a:latin typeface="Arial"/>
              <a:cs typeface="Arial"/>
            </a:endParaRPr>
          </a:p>
          <a:p>
            <a:pPr marL="11520" marR="1419861">
              <a:lnSpc>
                <a:spcPts val="1823"/>
              </a:lnSpc>
              <a:spcBef>
                <a:spcPts val="109"/>
              </a:spcBef>
            </a:pPr>
            <a:r>
              <a:rPr sz="1600" spc="-5" dirty="0">
                <a:latin typeface="Arial"/>
                <a:cs typeface="Arial"/>
              </a:rPr>
              <a:t>Group by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9" dirty="0">
                <a:latin typeface="Arial"/>
                <a:cs typeface="Arial"/>
              </a:rPr>
              <a:t>department,  </a:t>
            </a:r>
            <a:r>
              <a:rPr sz="1600" spc="-5" dirty="0">
                <a:latin typeface="Arial"/>
                <a:cs typeface="Arial"/>
              </a:rPr>
              <a:t>Sum 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spc="-27" dirty="0">
                <a:latin typeface="Arial"/>
                <a:cs typeface="Arial"/>
              </a:rPr>
              <a:t>salary,</a:t>
            </a:r>
            <a:endParaRPr sz="1600">
              <a:latin typeface="Arial"/>
              <a:cs typeface="Arial"/>
            </a:endParaRPr>
          </a:p>
          <a:p>
            <a:pPr marL="11520" marR="536264">
              <a:lnSpc>
                <a:spcPts val="1832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Order by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5" dirty="0">
                <a:latin typeface="Arial"/>
                <a:cs typeface="Arial"/>
              </a:rPr>
              <a:t>total </a:t>
            </a:r>
            <a:r>
              <a:rPr sz="1600" spc="-9" dirty="0">
                <a:latin typeface="Arial"/>
                <a:cs typeface="Arial"/>
              </a:rPr>
              <a:t>of </a:t>
            </a:r>
            <a:r>
              <a:rPr sz="1600" spc="-5" dirty="0">
                <a:latin typeface="Arial"/>
                <a:cs typeface="Arial"/>
              </a:rPr>
              <a:t>salary for each  </a:t>
            </a:r>
            <a:r>
              <a:rPr sz="1600" spc="-9" dirty="0">
                <a:latin typeface="Arial"/>
                <a:cs typeface="Arial"/>
              </a:rPr>
              <a:t>department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2423" y="1931766"/>
            <a:ext cx="0" cy="3818581"/>
          </a:xfrm>
          <a:custGeom>
            <a:avLst/>
            <a:gdLst/>
            <a:ahLst/>
            <a:cxnLst/>
            <a:rect l="l" t="t" r="r" b="b"/>
            <a:pathLst>
              <a:path h="4207510">
                <a:moveTo>
                  <a:pt x="0" y="0"/>
                </a:moveTo>
                <a:lnTo>
                  <a:pt x="0" y="42075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2424" y="5750346"/>
            <a:ext cx="3689845" cy="0"/>
          </a:xfrm>
          <a:custGeom>
            <a:avLst/>
            <a:gdLst/>
            <a:ahLst/>
            <a:cxnLst/>
            <a:rect l="l" t="t" r="r" b="b"/>
            <a:pathLst>
              <a:path w="4069079">
                <a:moveTo>
                  <a:pt x="0" y="0"/>
                </a:moveTo>
                <a:lnTo>
                  <a:pt x="406908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2424" y="1932341"/>
            <a:ext cx="3689845" cy="0"/>
          </a:xfrm>
          <a:custGeom>
            <a:avLst/>
            <a:gdLst/>
            <a:ahLst/>
            <a:cxnLst/>
            <a:rect l="l" t="t" r="r" b="b"/>
            <a:pathLst>
              <a:path w="4069079">
                <a:moveTo>
                  <a:pt x="0" y="0"/>
                </a:moveTo>
                <a:lnTo>
                  <a:pt x="406908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31693" y="1931766"/>
            <a:ext cx="0" cy="3818581"/>
          </a:xfrm>
          <a:custGeom>
            <a:avLst/>
            <a:gdLst/>
            <a:ahLst/>
            <a:cxnLst/>
            <a:rect l="l" t="t" r="r" b="b"/>
            <a:pathLst>
              <a:path h="4207510">
                <a:moveTo>
                  <a:pt x="0" y="0"/>
                </a:moveTo>
                <a:lnTo>
                  <a:pt x="0" y="42075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32270" y="5750346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7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02155" y="1931766"/>
            <a:ext cx="0" cy="3818581"/>
          </a:xfrm>
          <a:custGeom>
            <a:avLst/>
            <a:gdLst/>
            <a:ahLst/>
            <a:cxnLst/>
            <a:rect l="l" t="t" r="r" b="b"/>
            <a:pathLst>
              <a:path h="4207510">
                <a:moveTo>
                  <a:pt x="0" y="0"/>
                </a:moveTo>
                <a:lnTo>
                  <a:pt x="0" y="42075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32270" y="1932341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7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715107"/>
            <a:ext cx="8229600" cy="627186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495367">
              <a:spcBef>
                <a:spcPts val="91"/>
              </a:spcBef>
            </a:pPr>
            <a:r>
              <a:rPr spc="-9" dirty="0"/>
              <a:t>Example</a:t>
            </a:r>
            <a:r>
              <a:rPr spc="-63" dirty="0"/>
              <a:t> </a:t>
            </a:r>
            <a:r>
              <a:rPr spc="-5" dirty="0"/>
              <a:t>Cont.</a:t>
            </a:r>
          </a:p>
        </p:txBody>
      </p:sp>
      <p:sp>
        <p:nvSpPr>
          <p:cNvPr id="3" name="object 3"/>
          <p:cNvSpPr/>
          <p:nvPr/>
        </p:nvSpPr>
        <p:spPr>
          <a:xfrm>
            <a:off x="1142424" y="1931766"/>
            <a:ext cx="3672570" cy="3948825"/>
          </a:xfrm>
          <a:custGeom>
            <a:avLst/>
            <a:gdLst/>
            <a:ahLst/>
            <a:cxnLst/>
            <a:rect l="l" t="t" r="r" b="b"/>
            <a:pathLst>
              <a:path w="4050029" h="4351020">
                <a:moveTo>
                  <a:pt x="0" y="0"/>
                </a:moveTo>
                <a:lnTo>
                  <a:pt x="4050030" y="0"/>
                </a:lnTo>
                <a:lnTo>
                  <a:pt x="4050030" y="4351020"/>
                </a:lnTo>
                <a:lnTo>
                  <a:pt x="0" y="4351020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2674" y="1944445"/>
            <a:ext cx="3282166" cy="968188"/>
          </a:xfrm>
          <a:prstGeom prst="rect">
            <a:avLst/>
          </a:prstGeom>
        </p:spPr>
        <p:txBody>
          <a:bodyPr vert="horz" wrap="square" lIns="0" tIns="28224" rIns="0" bIns="0" rtlCol="0">
            <a:spAutoFit/>
          </a:bodyPr>
          <a:lstStyle/>
          <a:p>
            <a:pPr marL="11520" marR="4608">
              <a:lnSpc>
                <a:spcPct val="93200"/>
              </a:lnSpc>
              <a:spcBef>
                <a:spcPts val="222"/>
              </a:spcBef>
            </a:pPr>
            <a:r>
              <a:rPr sz="1600" spc="-9" dirty="0">
                <a:latin typeface="Arial"/>
                <a:cs typeface="Arial"/>
              </a:rPr>
              <a:t>SELECT </a:t>
            </a:r>
            <a:r>
              <a:rPr sz="1600" spc="-5" dirty="0">
                <a:latin typeface="Arial"/>
                <a:cs typeface="Arial"/>
              </a:rPr>
              <a:t>DEPT_ID, </a:t>
            </a:r>
            <a:r>
              <a:rPr sz="1600" spc="-14" dirty="0">
                <a:latin typeface="Arial"/>
                <a:cs typeface="Arial"/>
              </a:rPr>
              <a:t>SUM(SALARY)  </a:t>
            </a:r>
            <a:r>
              <a:rPr sz="1600" spc="-5" dirty="0">
                <a:latin typeface="Arial"/>
                <a:cs typeface="Arial"/>
              </a:rPr>
              <a:t>AS </a:t>
            </a:r>
            <a:r>
              <a:rPr sz="1600" spc="-27" dirty="0">
                <a:latin typeface="Arial"/>
                <a:cs typeface="Arial"/>
              </a:rPr>
              <a:t>TOTAL </a:t>
            </a:r>
            <a:r>
              <a:rPr sz="1600" spc="-5" dirty="0">
                <a:latin typeface="Arial"/>
                <a:cs typeface="Arial"/>
              </a:rPr>
              <a:t>FROM </a:t>
            </a:r>
            <a:r>
              <a:rPr sz="1600" spc="-9" dirty="0">
                <a:latin typeface="Arial"/>
                <a:cs typeface="Arial"/>
              </a:rPr>
              <a:t>EMPLOYEE  </a:t>
            </a:r>
            <a:r>
              <a:rPr sz="1600" spc="-5" dirty="0">
                <a:latin typeface="Arial"/>
                <a:cs typeface="Arial"/>
              </a:rPr>
              <a:t>WHERE AGE&gt;25 GROUB BY  DEPT_ID, </a:t>
            </a:r>
            <a:r>
              <a:rPr sz="1600" spc="-27" dirty="0">
                <a:latin typeface="Arial"/>
                <a:cs typeface="Arial"/>
              </a:rPr>
              <a:t>HAVING TOTAL </a:t>
            </a:r>
            <a:r>
              <a:rPr sz="1600" dirty="0">
                <a:latin typeface="Arial"/>
                <a:cs typeface="Arial"/>
              </a:rPr>
              <a:t>&gt;</a:t>
            </a:r>
            <a:r>
              <a:rPr sz="1600" spc="-6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5000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4996" y="1931766"/>
            <a:ext cx="3672570" cy="3948825"/>
          </a:xfrm>
          <a:custGeom>
            <a:avLst/>
            <a:gdLst/>
            <a:ahLst/>
            <a:cxnLst/>
            <a:rect l="l" t="t" r="r" b="b"/>
            <a:pathLst>
              <a:path w="4050029" h="4351020">
                <a:moveTo>
                  <a:pt x="0" y="0"/>
                </a:moveTo>
                <a:lnTo>
                  <a:pt x="4050029" y="0"/>
                </a:lnTo>
                <a:lnTo>
                  <a:pt x="4050029" y="4351020"/>
                </a:lnTo>
                <a:lnTo>
                  <a:pt x="0" y="4351020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5245" y="1944445"/>
            <a:ext cx="3299441" cy="2827340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1520">
              <a:lnSpc>
                <a:spcPts val="1891"/>
              </a:lnSpc>
              <a:spcBef>
                <a:spcPts val="91"/>
              </a:spcBef>
            </a:pPr>
            <a:r>
              <a:rPr sz="1600" spc="-9" dirty="0">
                <a:latin typeface="Arial"/>
                <a:cs typeface="Arial"/>
              </a:rPr>
              <a:t>db.employee.aggregate( </a:t>
            </a:r>
            <a:r>
              <a:rPr sz="1600" dirty="0">
                <a:latin typeface="Arial"/>
                <a:cs typeface="Arial"/>
              </a:rPr>
              <a:t>[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$match </a:t>
            </a:r>
            <a:r>
              <a:rPr sz="1600" dirty="0">
                <a:latin typeface="Arial"/>
                <a:cs typeface="Arial"/>
              </a:rPr>
              <a:t>: { </a:t>
            </a:r>
            <a:r>
              <a:rPr sz="1600" spc="-9" dirty="0">
                <a:latin typeface="Arial"/>
                <a:cs typeface="Arial"/>
              </a:rPr>
              <a:t>age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5" dirty="0">
                <a:latin typeface="Arial"/>
                <a:cs typeface="Arial"/>
              </a:rPr>
              <a:t>{$gt: </a:t>
            </a:r>
            <a:r>
              <a:rPr sz="1600" spc="-9" dirty="0">
                <a:latin typeface="Arial"/>
                <a:cs typeface="Arial"/>
              </a:rPr>
              <a:t>25 </a:t>
            </a:r>
            <a:r>
              <a:rPr sz="1600" dirty="0">
                <a:latin typeface="Arial"/>
                <a:cs typeface="Arial"/>
              </a:rPr>
              <a:t>} }</a:t>
            </a:r>
            <a:r>
              <a:rPr sz="1600" spc="-41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$group: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_id: “$dept_id”,</a:t>
            </a:r>
            <a:r>
              <a:rPr sz="1600" spc="1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total: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$sum: </a:t>
            </a:r>
            <a:r>
              <a:rPr sz="1600" spc="-9" dirty="0">
                <a:latin typeface="Arial"/>
                <a:cs typeface="Arial"/>
              </a:rPr>
              <a:t>”$salary” </a:t>
            </a:r>
            <a:r>
              <a:rPr sz="1600" dirty="0">
                <a:latin typeface="Arial"/>
                <a:cs typeface="Arial"/>
              </a:rPr>
              <a:t>} }</a:t>
            </a:r>
            <a:r>
              <a:rPr sz="1600" spc="-23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},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$match: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total: {$gt:5000 </a:t>
            </a:r>
            <a:r>
              <a:rPr sz="1600" dirty="0">
                <a:latin typeface="Arial"/>
                <a:cs typeface="Arial"/>
              </a:rPr>
              <a:t>} }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91"/>
              </a:lnSpc>
            </a:pPr>
            <a:r>
              <a:rPr sz="1600" dirty="0">
                <a:latin typeface="Arial"/>
                <a:cs typeface="Arial"/>
              </a:rPr>
              <a:t>]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1500">
              <a:latin typeface="Times New Roman"/>
              <a:cs typeface="Times New Roman"/>
            </a:endParaRPr>
          </a:p>
          <a:p>
            <a:pPr marL="11520">
              <a:lnSpc>
                <a:spcPts val="1896"/>
              </a:lnSpc>
            </a:pPr>
            <a:r>
              <a:rPr sz="1600" spc="-9" dirty="0">
                <a:latin typeface="Arial"/>
                <a:cs typeface="Arial"/>
              </a:rPr>
              <a:t>Explanation:</a:t>
            </a:r>
            <a:endParaRPr sz="1600">
              <a:latin typeface="Arial"/>
              <a:cs typeface="Arial"/>
            </a:endParaRPr>
          </a:p>
          <a:p>
            <a:pPr marL="11520" marR="937742">
              <a:lnSpc>
                <a:spcPts val="1823"/>
              </a:lnSpc>
              <a:spcBef>
                <a:spcPts val="109"/>
              </a:spcBef>
            </a:pPr>
            <a:r>
              <a:rPr sz="1600" spc="-5" dirty="0">
                <a:latin typeface="Arial"/>
                <a:cs typeface="Arial"/>
              </a:rPr>
              <a:t>Group </a:t>
            </a:r>
            <a:r>
              <a:rPr sz="1600" spc="-9" dirty="0">
                <a:latin typeface="Arial"/>
                <a:cs typeface="Arial"/>
              </a:rPr>
              <a:t>by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9" dirty="0">
                <a:latin typeface="Arial"/>
                <a:cs typeface="Arial"/>
              </a:rPr>
              <a:t>department id,  </a:t>
            </a:r>
            <a:r>
              <a:rPr sz="1600" spc="-5" dirty="0">
                <a:latin typeface="Arial"/>
                <a:cs typeface="Arial"/>
              </a:rPr>
              <a:t>Sum 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4" dirty="0">
                <a:latin typeface="Arial"/>
                <a:cs typeface="Arial"/>
              </a:rPr>
              <a:t> </a:t>
            </a:r>
            <a:r>
              <a:rPr sz="1600" spc="-27" dirty="0">
                <a:latin typeface="Arial"/>
                <a:cs typeface="Arial"/>
              </a:rPr>
              <a:t>salary,</a:t>
            </a:r>
            <a:endParaRPr sz="1600">
              <a:latin typeface="Arial"/>
              <a:cs typeface="Arial"/>
            </a:endParaRPr>
          </a:p>
          <a:p>
            <a:pPr marL="11520" marR="4608">
              <a:lnSpc>
                <a:spcPts val="1832"/>
              </a:lnSpc>
              <a:spcBef>
                <a:spcPts val="5"/>
              </a:spcBef>
            </a:pPr>
            <a:r>
              <a:rPr sz="1600" spc="-9" dirty="0">
                <a:latin typeface="Arial"/>
                <a:cs typeface="Arial"/>
              </a:rPr>
              <a:t>Having: on total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9" dirty="0">
                <a:latin typeface="Arial"/>
                <a:cs typeface="Arial"/>
              </a:rPr>
              <a:t>each department  </a:t>
            </a:r>
            <a:r>
              <a:rPr sz="1600" spc="-5" dirty="0">
                <a:latin typeface="Arial"/>
                <a:cs typeface="Arial"/>
              </a:rPr>
              <a:t>salary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2423" y="1931766"/>
            <a:ext cx="0" cy="3948825"/>
          </a:xfrm>
          <a:custGeom>
            <a:avLst/>
            <a:gdLst/>
            <a:ahLst/>
            <a:cxnLst/>
            <a:rect l="l" t="t" r="r" b="b"/>
            <a:pathLst>
              <a:path h="4351020">
                <a:moveTo>
                  <a:pt x="0" y="0"/>
                </a:moveTo>
                <a:lnTo>
                  <a:pt x="0" y="435102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2424" y="5881167"/>
            <a:ext cx="3672570" cy="0"/>
          </a:xfrm>
          <a:custGeom>
            <a:avLst/>
            <a:gdLst/>
            <a:ahLst/>
            <a:cxnLst/>
            <a:rect l="l" t="t" r="r" b="b"/>
            <a:pathLst>
              <a:path w="4050029">
                <a:moveTo>
                  <a:pt x="0" y="0"/>
                </a:moveTo>
                <a:lnTo>
                  <a:pt x="405003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2424" y="1932341"/>
            <a:ext cx="3672570" cy="0"/>
          </a:xfrm>
          <a:custGeom>
            <a:avLst/>
            <a:gdLst/>
            <a:ahLst/>
            <a:cxnLst/>
            <a:rect l="l" t="t" r="r" b="b"/>
            <a:pathLst>
              <a:path w="4050029">
                <a:moveTo>
                  <a:pt x="0" y="0"/>
                </a:moveTo>
                <a:lnTo>
                  <a:pt x="405003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14995" y="1931766"/>
            <a:ext cx="0" cy="3948825"/>
          </a:xfrm>
          <a:custGeom>
            <a:avLst/>
            <a:gdLst/>
            <a:ahLst/>
            <a:cxnLst/>
            <a:rect l="l" t="t" r="r" b="b"/>
            <a:pathLst>
              <a:path h="4351020">
                <a:moveTo>
                  <a:pt x="0" y="0"/>
                </a:moveTo>
                <a:lnTo>
                  <a:pt x="0" y="435102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14996" y="5881167"/>
            <a:ext cx="3672570" cy="0"/>
          </a:xfrm>
          <a:custGeom>
            <a:avLst/>
            <a:gdLst/>
            <a:ahLst/>
            <a:cxnLst/>
            <a:rect l="l" t="t" r="r" b="b"/>
            <a:pathLst>
              <a:path w="4050029">
                <a:moveTo>
                  <a:pt x="0" y="0"/>
                </a:moveTo>
                <a:lnTo>
                  <a:pt x="405002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87567" y="1931766"/>
            <a:ext cx="0" cy="3948825"/>
          </a:xfrm>
          <a:custGeom>
            <a:avLst/>
            <a:gdLst/>
            <a:ahLst/>
            <a:cxnLst/>
            <a:rect l="l" t="t" r="r" b="b"/>
            <a:pathLst>
              <a:path h="4351020">
                <a:moveTo>
                  <a:pt x="0" y="0"/>
                </a:moveTo>
                <a:lnTo>
                  <a:pt x="0" y="435102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14996" y="1932341"/>
            <a:ext cx="3672570" cy="0"/>
          </a:xfrm>
          <a:custGeom>
            <a:avLst/>
            <a:gdLst/>
            <a:ahLst/>
            <a:cxnLst/>
            <a:rect l="l" t="t" r="r" b="b"/>
            <a:pathLst>
              <a:path w="4050029">
                <a:moveTo>
                  <a:pt x="0" y="0"/>
                </a:moveTo>
                <a:lnTo>
                  <a:pt x="405002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715107"/>
            <a:ext cx="8229600" cy="627186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495367">
              <a:spcBef>
                <a:spcPts val="91"/>
              </a:spcBef>
            </a:pPr>
            <a:r>
              <a:rPr spc="-9" dirty="0"/>
              <a:t>Example</a:t>
            </a:r>
            <a:r>
              <a:rPr spc="-63" dirty="0"/>
              <a:t> </a:t>
            </a:r>
            <a:r>
              <a:rPr spc="-5" dirty="0"/>
              <a:t>Cont.</a:t>
            </a:r>
          </a:p>
        </p:txBody>
      </p:sp>
      <p:sp>
        <p:nvSpPr>
          <p:cNvPr id="3" name="object 3"/>
          <p:cNvSpPr/>
          <p:nvPr/>
        </p:nvSpPr>
        <p:spPr>
          <a:xfrm>
            <a:off x="1142424" y="1931766"/>
            <a:ext cx="3770460" cy="4014523"/>
          </a:xfrm>
          <a:custGeom>
            <a:avLst/>
            <a:gdLst/>
            <a:ahLst/>
            <a:cxnLst/>
            <a:rect l="l" t="t" r="r" b="b"/>
            <a:pathLst>
              <a:path w="4157979" h="4423409">
                <a:moveTo>
                  <a:pt x="0" y="0"/>
                </a:moveTo>
                <a:lnTo>
                  <a:pt x="4157980" y="0"/>
                </a:lnTo>
                <a:lnTo>
                  <a:pt x="4157980" y="4423409"/>
                </a:lnTo>
                <a:lnTo>
                  <a:pt x="0" y="4423409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2674" y="2176117"/>
            <a:ext cx="3605776" cy="969341"/>
          </a:xfrm>
          <a:prstGeom prst="rect">
            <a:avLst/>
          </a:prstGeom>
        </p:spPr>
        <p:txBody>
          <a:bodyPr vert="horz" wrap="square" lIns="0" tIns="27648" rIns="0" bIns="0" rtlCol="0">
            <a:spAutoFit/>
          </a:bodyPr>
          <a:lstStyle/>
          <a:p>
            <a:pPr marL="11520" marR="4608">
              <a:lnSpc>
                <a:spcPct val="93400"/>
              </a:lnSpc>
              <a:spcBef>
                <a:spcPts val="218"/>
              </a:spcBef>
            </a:pPr>
            <a:r>
              <a:rPr sz="1600" spc="-9" dirty="0">
                <a:latin typeface="Arial"/>
                <a:cs typeface="Arial"/>
              </a:rPr>
              <a:t>SELECT </a:t>
            </a:r>
            <a:r>
              <a:rPr sz="1600" spc="-5" dirty="0">
                <a:latin typeface="Arial"/>
                <a:cs typeface="Arial"/>
              </a:rPr>
              <a:t>DEPT_ID, </a:t>
            </a:r>
            <a:r>
              <a:rPr sz="1600" spc="-14" dirty="0">
                <a:latin typeface="Arial"/>
                <a:cs typeface="Arial"/>
              </a:rPr>
              <a:t>SUM(SALARY)</a:t>
            </a:r>
            <a:r>
              <a:rPr sz="1600" spc="-10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  </a:t>
            </a:r>
            <a:r>
              <a:rPr sz="1600" spc="-27" dirty="0">
                <a:latin typeface="Arial"/>
                <a:cs typeface="Arial"/>
              </a:rPr>
              <a:t>TOTAL </a:t>
            </a:r>
            <a:r>
              <a:rPr sz="1600" spc="-5" dirty="0">
                <a:latin typeface="Arial"/>
                <a:cs typeface="Arial"/>
              </a:rPr>
              <a:t>FROM </a:t>
            </a:r>
            <a:r>
              <a:rPr sz="1600" spc="-9" dirty="0">
                <a:latin typeface="Arial"/>
                <a:cs typeface="Arial"/>
              </a:rPr>
              <a:t>EMPLOYEE WHERE  </a:t>
            </a:r>
            <a:r>
              <a:rPr sz="1600" spc="-5" dirty="0">
                <a:latin typeface="Arial"/>
                <a:cs typeface="Arial"/>
              </a:rPr>
              <a:t>AGE&gt;25 GROUB BY DEPT_ID,  </a:t>
            </a:r>
            <a:r>
              <a:rPr sz="1600" spc="-27" dirty="0">
                <a:latin typeface="Arial"/>
                <a:cs typeface="Arial"/>
              </a:rPr>
              <a:t>HAVING </a:t>
            </a:r>
            <a:r>
              <a:rPr sz="1600" spc="-32" dirty="0">
                <a:latin typeface="Arial"/>
                <a:cs typeface="Arial"/>
              </a:rPr>
              <a:t>TOTAL </a:t>
            </a:r>
            <a:r>
              <a:rPr sz="1600" dirty="0">
                <a:latin typeface="Arial"/>
                <a:cs typeface="Arial"/>
              </a:rPr>
              <a:t>&gt;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5000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2885" y="1931766"/>
            <a:ext cx="3770460" cy="4014523"/>
          </a:xfrm>
          <a:custGeom>
            <a:avLst/>
            <a:gdLst/>
            <a:ahLst/>
            <a:cxnLst/>
            <a:rect l="l" t="t" r="r" b="b"/>
            <a:pathLst>
              <a:path w="4157979" h="4423409">
                <a:moveTo>
                  <a:pt x="0" y="0"/>
                </a:moveTo>
                <a:lnTo>
                  <a:pt x="4157979" y="0"/>
                </a:lnTo>
                <a:lnTo>
                  <a:pt x="4157979" y="4423409"/>
                </a:lnTo>
                <a:lnTo>
                  <a:pt x="0" y="4423409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83135" y="2176117"/>
            <a:ext cx="3300017" cy="2827340"/>
          </a:xfrm>
          <a:prstGeom prst="rect">
            <a:avLst/>
          </a:prstGeom>
        </p:spPr>
        <p:txBody>
          <a:bodyPr vert="horz" wrap="square" lIns="0" tIns="11520" rIns="0" bIns="0" rtlCol="0">
            <a:spAutoFit/>
          </a:bodyPr>
          <a:lstStyle/>
          <a:p>
            <a:pPr marL="11520">
              <a:lnSpc>
                <a:spcPts val="1896"/>
              </a:lnSpc>
              <a:spcBef>
                <a:spcPts val="91"/>
              </a:spcBef>
            </a:pPr>
            <a:r>
              <a:rPr sz="1600" spc="-9" dirty="0">
                <a:latin typeface="Arial"/>
                <a:cs typeface="Arial"/>
              </a:rPr>
              <a:t>db.employee.aggregate(</a:t>
            </a:r>
            <a:r>
              <a:rPr sz="1600" dirty="0">
                <a:latin typeface="Arial"/>
                <a:cs typeface="Arial"/>
              </a:rPr>
              <a:t> [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$match </a:t>
            </a:r>
            <a:r>
              <a:rPr sz="1600" dirty="0">
                <a:latin typeface="Arial"/>
                <a:cs typeface="Arial"/>
              </a:rPr>
              <a:t>: { </a:t>
            </a:r>
            <a:r>
              <a:rPr sz="1600" spc="-9" dirty="0">
                <a:latin typeface="Arial"/>
                <a:cs typeface="Arial"/>
              </a:rPr>
              <a:t>age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5" dirty="0">
                <a:latin typeface="Arial"/>
                <a:cs typeface="Arial"/>
              </a:rPr>
              <a:t>{$gt: 25 </a:t>
            </a:r>
            <a:r>
              <a:rPr sz="1600" dirty="0">
                <a:latin typeface="Arial"/>
                <a:cs typeface="Arial"/>
              </a:rPr>
              <a:t>} }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$group: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5" dirty="0">
                <a:latin typeface="Arial"/>
                <a:cs typeface="Arial"/>
              </a:rPr>
              <a:t>_id: </a:t>
            </a:r>
            <a:r>
              <a:rPr sz="1600" spc="-9" dirty="0">
                <a:latin typeface="Arial"/>
                <a:cs typeface="Arial"/>
              </a:rPr>
              <a:t>“$dept_id”,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total: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$sum: ”$salary” </a:t>
            </a:r>
            <a:r>
              <a:rPr sz="1600" dirty="0">
                <a:latin typeface="Arial"/>
                <a:cs typeface="Arial"/>
              </a:rPr>
              <a:t>} }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},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27"/>
              </a:lnSpc>
            </a:pP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$match: </a:t>
            </a:r>
            <a:r>
              <a:rPr sz="1600" dirty="0">
                <a:latin typeface="Arial"/>
                <a:cs typeface="Arial"/>
              </a:rPr>
              <a:t>{ </a:t>
            </a:r>
            <a:r>
              <a:rPr sz="1600" spc="-9" dirty="0">
                <a:latin typeface="Arial"/>
                <a:cs typeface="Arial"/>
              </a:rPr>
              <a:t>total: {$gt:5000 </a:t>
            </a:r>
            <a:r>
              <a:rPr sz="1600" dirty="0">
                <a:latin typeface="Arial"/>
                <a:cs typeface="Arial"/>
              </a:rPr>
              <a:t>} } }</a:t>
            </a:r>
            <a:endParaRPr sz="1600">
              <a:latin typeface="Arial"/>
              <a:cs typeface="Arial"/>
            </a:endParaRPr>
          </a:p>
          <a:p>
            <a:pPr marL="11520">
              <a:lnSpc>
                <a:spcPts val="1896"/>
              </a:lnSpc>
            </a:pPr>
            <a:r>
              <a:rPr sz="1600" dirty="0">
                <a:latin typeface="Arial"/>
                <a:cs typeface="Arial"/>
              </a:rPr>
              <a:t>]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1500">
              <a:latin typeface="Times New Roman"/>
              <a:cs typeface="Times New Roman"/>
            </a:endParaRPr>
          </a:p>
          <a:p>
            <a:pPr marL="11520">
              <a:lnSpc>
                <a:spcPts val="1891"/>
              </a:lnSpc>
            </a:pPr>
            <a:r>
              <a:rPr sz="1600" spc="-9" dirty="0">
                <a:latin typeface="Arial"/>
                <a:cs typeface="Arial"/>
              </a:rPr>
              <a:t>Explanation:</a:t>
            </a:r>
            <a:endParaRPr sz="1600">
              <a:latin typeface="Arial"/>
              <a:cs typeface="Arial"/>
            </a:endParaRPr>
          </a:p>
          <a:p>
            <a:pPr marL="11520" marR="938318">
              <a:lnSpc>
                <a:spcPts val="1832"/>
              </a:lnSpc>
              <a:spcBef>
                <a:spcPts val="100"/>
              </a:spcBef>
            </a:pPr>
            <a:r>
              <a:rPr sz="1600" spc="-9" dirty="0">
                <a:latin typeface="Arial"/>
                <a:cs typeface="Arial"/>
              </a:rPr>
              <a:t>Group </a:t>
            </a:r>
            <a:r>
              <a:rPr sz="1600" spc="-5" dirty="0">
                <a:latin typeface="Arial"/>
                <a:cs typeface="Arial"/>
              </a:rPr>
              <a:t>by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9" dirty="0">
                <a:latin typeface="Arial"/>
                <a:cs typeface="Arial"/>
              </a:rPr>
              <a:t>department </a:t>
            </a:r>
            <a:r>
              <a:rPr sz="1600" spc="-5" dirty="0">
                <a:latin typeface="Arial"/>
                <a:cs typeface="Arial"/>
              </a:rPr>
              <a:t>id,  </a:t>
            </a:r>
            <a:r>
              <a:rPr sz="1600" spc="-9" dirty="0">
                <a:latin typeface="Arial"/>
                <a:cs typeface="Arial"/>
              </a:rPr>
              <a:t>Sum </a:t>
            </a:r>
            <a:r>
              <a:rPr sz="1600" dirty="0">
                <a:latin typeface="Arial"/>
                <a:cs typeface="Arial"/>
              </a:rPr>
              <a:t>: </a:t>
            </a:r>
            <a:r>
              <a:rPr sz="1600" spc="-27" dirty="0">
                <a:latin typeface="Arial"/>
                <a:cs typeface="Arial"/>
              </a:rPr>
              <a:t>salary,</a:t>
            </a:r>
            <a:endParaRPr sz="1600">
              <a:latin typeface="Arial"/>
              <a:cs typeface="Arial"/>
            </a:endParaRPr>
          </a:p>
          <a:p>
            <a:pPr marL="11520" marR="4608">
              <a:lnSpc>
                <a:spcPts val="1823"/>
              </a:lnSpc>
              <a:spcBef>
                <a:spcPts val="5"/>
              </a:spcBef>
            </a:pPr>
            <a:r>
              <a:rPr sz="1600" spc="-9" dirty="0">
                <a:latin typeface="Arial"/>
                <a:cs typeface="Arial"/>
              </a:rPr>
              <a:t>Having: </a:t>
            </a:r>
            <a:r>
              <a:rPr sz="1600" spc="-5" dirty="0">
                <a:latin typeface="Arial"/>
                <a:cs typeface="Arial"/>
              </a:rPr>
              <a:t>on total of each </a:t>
            </a:r>
            <a:r>
              <a:rPr sz="1600" spc="-9" dirty="0">
                <a:latin typeface="Arial"/>
                <a:cs typeface="Arial"/>
              </a:rPr>
              <a:t>department  salary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2423" y="1931766"/>
            <a:ext cx="0" cy="4014523"/>
          </a:xfrm>
          <a:custGeom>
            <a:avLst/>
            <a:gdLst/>
            <a:ahLst/>
            <a:cxnLst/>
            <a:rect l="l" t="t" r="r" b="b"/>
            <a:pathLst>
              <a:path h="4423409">
                <a:moveTo>
                  <a:pt x="0" y="0"/>
                </a:moveTo>
                <a:lnTo>
                  <a:pt x="0" y="44234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2424" y="5946289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8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2424" y="1932341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8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2885" y="1931766"/>
            <a:ext cx="0" cy="4014523"/>
          </a:xfrm>
          <a:custGeom>
            <a:avLst/>
            <a:gdLst/>
            <a:ahLst/>
            <a:cxnLst/>
            <a:rect l="l" t="t" r="r" b="b"/>
            <a:pathLst>
              <a:path h="4423409">
                <a:moveTo>
                  <a:pt x="0" y="0"/>
                </a:moveTo>
                <a:lnTo>
                  <a:pt x="0" y="44234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12885" y="5946289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7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83345" y="1931766"/>
            <a:ext cx="0" cy="4014523"/>
          </a:xfrm>
          <a:custGeom>
            <a:avLst/>
            <a:gdLst/>
            <a:ahLst/>
            <a:cxnLst/>
            <a:rect l="l" t="t" r="r" b="b"/>
            <a:pathLst>
              <a:path h="4423409">
                <a:moveTo>
                  <a:pt x="0" y="0"/>
                </a:moveTo>
                <a:lnTo>
                  <a:pt x="0" y="4423409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12885" y="1932341"/>
            <a:ext cx="3770460" cy="0"/>
          </a:xfrm>
          <a:custGeom>
            <a:avLst/>
            <a:gdLst/>
            <a:ahLst/>
            <a:cxnLst/>
            <a:rect l="l" t="t" r="r" b="b"/>
            <a:pathLst>
              <a:path w="4157979">
                <a:moveTo>
                  <a:pt x="0" y="0"/>
                </a:moveTo>
                <a:lnTo>
                  <a:pt x="4157979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6FA9868-49E7-47CA-827F-4B5B45774D13}"/>
</file>

<file path=customXml/itemProps2.xml><?xml version="1.0" encoding="utf-8"?>
<ds:datastoreItem xmlns:ds="http://schemas.openxmlformats.org/officeDocument/2006/customXml" ds:itemID="{A51AE9BB-03A7-4C22-B236-6D4377E9CA31}"/>
</file>

<file path=customXml/itemProps3.xml><?xml version="1.0" encoding="utf-8"?>
<ds:datastoreItem xmlns:ds="http://schemas.openxmlformats.org/officeDocument/2006/customXml" ds:itemID="{439F4143-CCD4-49E8-B563-DC397C037242}"/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22885</TotalTime>
  <Words>11750</Words>
  <Application>Microsoft Macintosh PowerPoint</Application>
  <PresentationFormat>On-screen Show (4:3)</PresentationFormat>
  <Paragraphs>1464</Paragraphs>
  <Slides>152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8" baseType="lpstr">
      <vt:lpstr>Arial</vt:lpstr>
      <vt:lpstr>Calibri</vt:lpstr>
      <vt:lpstr>Segoe UI</vt:lpstr>
      <vt:lpstr>Times New Roman</vt:lpstr>
      <vt:lpstr>Wingdings</vt:lpstr>
      <vt:lpstr>Clarity</vt:lpstr>
      <vt:lpstr>CSP554 Big Data Technologies</vt:lpstr>
      <vt:lpstr>Data and Healthcare</vt:lpstr>
      <vt:lpstr>Data and Healthcare</vt:lpstr>
      <vt:lpstr>PowerPoint Presentation</vt:lpstr>
      <vt:lpstr>Data and Healthcare</vt:lpstr>
      <vt:lpstr>Data and Healthcare</vt:lpstr>
      <vt:lpstr>Data and Healthcare</vt:lpstr>
      <vt:lpstr>MongoDB</vt:lpstr>
      <vt:lpstr>MongoDB | Ease of Use</vt:lpstr>
      <vt:lpstr>MongoDB | Ease of Use</vt:lpstr>
      <vt:lpstr>MongoDB | Easy Scaling</vt:lpstr>
      <vt:lpstr>MongoDB | Concepts</vt:lpstr>
      <vt:lpstr>MongoDB | Concepts</vt:lpstr>
      <vt:lpstr>MongoDB | Concepts</vt:lpstr>
      <vt:lpstr>Documents</vt:lpstr>
      <vt:lpstr>Documents</vt:lpstr>
      <vt:lpstr>Documents</vt:lpstr>
      <vt:lpstr>Documents</vt:lpstr>
      <vt:lpstr>Documents</vt:lpstr>
      <vt:lpstr>Documents</vt:lpstr>
      <vt:lpstr>Collections</vt:lpstr>
      <vt:lpstr>Collections</vt:lpstr>
      <vt:lpstr>Collections</vt:lpstr>
      <vt:lpstr>Collections</vt:lpstr>
      <vt:lpstr>Databases</vt:lpstr>
      <vt:lpstr>MongoDB Shell</vt:lpstr>
      <vt:lpstr>MongoDB Shell</vt:lpstr>
      <vt:lpstr>MongoDB Shell</vt:lpstr>
      <vt:lpstr>MongoDB Shell</vt:lpstr>
      <vt:lpstr>MongoDB Shell</vt:lpstr>
      <vt:lpstr>Data Types</vt:lpstr>
      <vt:lpstr>Data Types</vt:lpstr>
      <vt:lpstr>Data Types</vt:lpstr>
      <vt:lpstr>PowerPoint Presentation</vt:lpstr>
      <vt:lpstr>Data Types</vt:lpstr>
      <vt:lpstr>Data Types | Arrays</vt:lpstr>
      <vt:lpstr>Data Types | Arrays</vt:lpstr>
      <vt:lpstr>Data Types | Documents</vt:lpstr>
      <vt:lpstr>Data Types | Documents</vt:lpstr>
      <vt:lpstr>Data Types | Documents</vt:lpstr>
      <vt:lpstr>Data Types | _id and ObjectId</vt:lpstr>
      <vt:lpstr>Data Types | _id and ObjectId</vt:lpstr>
      <vt:lpstr>Inserting and Saving Documents</vt:lpstr>
      <vt:lpstr>Removing Documents</vt:lpstr>
      <vt:lpstr>CRUD Methods</vt:lpstr>
      <vt:lpstr>CRUD Methods | Create </vt:lpstr>
      <vt:lpstr>CRUD Methods | Create </vt:lpstr>
      <vt:lpstr>CRUD Methods | Create 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</vt:lpstr>
      <vt:lpstr>CRUD Methods | Read – Indexes</vt:lpstr>
      <vt:lpstr>CRUD Methods | Read – Indexes</vt:lpstr>
      <vt:lpstr>CRUD Methods | Read – Indexes</vt:lpstr>
      <vt:lpstr>CRUD Methods | Read | Cursors</vt:lpstr>
      <vt:lpstr>CRUD Methods | Read | Cursors</vt:lpstr>
      <vt:lpstr>CRUD Methods | Read | Cursors</vt:lpstr>
      <vt:lpstr>CRUD Methods | Read | Cursors</vt:lpstr>
      <vt:lpstr>CRUD Methods | Read | Cursors</vt:lpstr>
      <vt:lpstr>CRUD Methods | Read | Cursors</vt:lpstr>
      <vt:lpstr>CRUD Methods | Read | Cursors</vt:lpstr>
      <vt:lpstr>CRUD Methods | Read | Cursors</vt:lpstr>
      <vt:lpstr>CRUD Methods | Read | Cursors</vt:lpstr>
      <vt:lpstr>CRUD Methods | Update</vt:lpstr>
      <vt:lpstr>CRUD Methods | Update</vt:lpstr>
      <vt:lpstr>CRUD Methods | Update</vt:lpstr>
      <vt:lpstr>CRUD Methods | Update</vt:lpstr>
      <vt:lpstr>CRUD Methods | Update</vt:lpstr>
      <vt:lpstr>CRUD Methods | Update</vt:lpstr>
      <vt:lpstr>CRUD Methods | Update</vt:lpstr>
      <vt:lpstr>CRUD Methods | Delete</vt:lpstr>
      <vt:lpstr>CRUD Methods | Delete</vt:lpstr>
      <vt:lpstr>CRUD Methods | Delete</vt:lpstr>
      <vt:lpstr>SQL to MongoDB</vt:lpstr>
      <vt:lpstr>SQL to MongoDB</vt:lpstr>
      <vt:lpstr>SQL to MongoDB</vt:lpstr>
      <vt:lpstr>SQL to MongoDB</vt:lpstr>
      <vt:lpstr>CRUD Methods | Update Operators</vt:lpstr>
      <vt:lpstr>CRUD Methods | Update Operators</vt:lpstr>
      <vt:lpstr>Data Organization</vt:lpstr>
      <vt:lpstr>One-to-One (1:1)</vt:lpstr>
      <vt:lpstr>One-to-One | Data Model</vt:lpstr>
      <vt:lpstr>One-to-One | Embedding</vt:lpstr>
      <vt:lpstr>One-to-One | Embedding</vt:lpstr>
      <vt:lpstr>One-to-One | Linking</vt:lpstr>
      <vt:lpstr>One-to-One | Linking</vt:lpstr>
      <vt:lpstr>One-to-Many (1:N)</vt:lpstr>
      <vt:lpstr>One-to-Many | Data Model</vt:lpstr>
      <vt:lpstr>One-to-Many | Data Model</vt:lpstr>
      <vt:lpstr>One-to-Many | Embedding</vt:lpstr>
      <vt:lpstr>One-to-Many | Embedding</vt:lpstr>
      <vt:lpstr>One-to-Many | Linking</vt:lpstr>
      <vt:lpstr>One-to-Many | Linking</vt:lpstr>
      <vt:lpstr>One-to-Many | Linking</vt:lpstr>
      <vt:lpstr>One-to-Many | Bucketing</vt:lpstr>
      <vt:lpstr>One-to-Many | Bucketing</vt:lpstr>
      <vt:lpstr>One-to-Many | Bucketing</vt:lpstr>
      <vt:lpstr>One-to-Many | Bucketing</vt:lpstr>
      <vt:lpstr>Many-to-Many (N:M)</vt:lpstr>
      <vt:lpstr>Many-to-Many (N:M)</vt:lpstr>
      <vt:lpstr>Many-to-Many | Two Way Embedding</vt:lpstr>
      <vt:lpstr>Many-to-Many | Two Way Embedding</vt:lpstr>
      <vt:lpstr>Many-to-Many | Queries</vt:lpstr>
      <vt:lpstr>Architecture</vt:lpstr>
      <vt:lpstr>Architecture</vt:lpstr>
      <vt:lpstr>Architecture</vt:lpstr>
      <vt:lpstr>Architecture</vt:lpstr>
      <vt:lpstr>MongoDB Architecture</vt:lpstr>
      <vt:lpstr>Aggregation Framework</vt:lpstr>
      <vt:lpstr>Analytics in MongoDB?</vt:lpstr>
      <vt:lpstr>Aggregation in Nutshell</vt:lpstr>
      <vt:lpstr>Aggregation Framework</vt:lpstr>
      <vt:lpstr>What is an Aggregation Pipeline?</vt:lpstr>
      <vt:lpstr>Aggregation Framework</vt:lpstr>
      <vt:lpstr>Aggregation Pipeline</vt:lpstr>
      <vt:lpstr>Aggregation Pipeline</vt:lpstr>
      <vt:lpstr>Pipeline Operators</vt:lpstr>
      <vt:lpstr>$match</vt:lpstr>
      <vt:lpstr>Matching FieldValues</vt:lpstr>
      <vt:lpstr>{ $match : { language : "Russian" } }</vt:lpstr>
      <vt:lpstr>{ $match : { pages : { $gt : 1000 }, language : "Russian" } }</vt:lpstr>
      <vt:lpstr>$project</vt:lpstr>
      <vt:lpstr>Selecting and Excluding Fields</vt:lpstr>
      <vt:lpstr>Including and Excluding Fields</vt:lpstr>
      <vt:lpstr>Renaming and Computing Fields</vt:lpstr>
      <vt:lpstr>Renaming and Computing Fields</vt:lpstr>
      <vt:lpstr>Renaming and Computing Fields</vt:lpstr>
      <vt:lpstr>Creating Sub-Document Fields</vt:lpstr>
      <vt:lpstr>Creating Sub-Document Fields</vt:lpstr>
      <vt:lpstr>$group</vt:lpstr>
      <vt:lpstr>Calculating An Average</vt:lpstr>
      <vt:lpstr>$group: {_id: "$language”, avgPages: { $avg:"$pages"}}</vt:lpstr>
      <vt:lpstr>Summing Fields and Counting</vt:lpstr>
      <vt:lpstr>$unwind</vt:lpstr>
      <vt:lpstr>$unwind Operator</vt:lpstr>
      <vt:lpstr>Collecting Distinct Values</vt:lpstr>
      <vt:lpstr>$sort, $limit, $skip</vt:lpstr>
      <vt:lpstr>$sort, $limit, $skip</vt:lpstr>
      <vt:lpstr>SQL to Aggregation Mapping</vt:lpstr>
      <vt:lpstr>Examples</vt:lpstr>
      <vt:lpstr>Example Cont.</vt:lpstr>
      <vt:lpstr>Example Cont.</vt:lpstr>
      <vt:lpstr>Example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Rosen, Joseph</dc:creator>
  <cp:lastModifiedBy>Jawahar Panchal</cp:lastModifiedBy>
  <cp:revision>57</cp:revision>
  <cp:lastPrinted>2017-11-21T19:16:08Z</cp:lastPrinted>
  <dcterms:created xsi:type="dcterms:W3CDTF">2017-11-19T20:14:10Z</dcterms:created>
  <dcterms:modified xsi:type="dcterms:W3CDTF">2024-09-11T01:31:35Z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