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53"/>
  </p:notesMasterIdLst>
  <p:sldIdLst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304" r:id="rId25"/>
    <p:sldId id="305" r:id="rId26"/>
    <p:sldId id="306" r:id="rId27"/>
    <p:sldId id="307" r:id="rId28"/>
    <p:sldId id="308" r:id="rId29"/>
    <p:sldId id="309" r:id="rId30"/>
    <p:sldId id="300" r:id="rId31"/>
    <p:sldId id="302" r:id="rId32"/>
    <p:sldId id="303" r:id="rId33"/>
    <p:sldId id="310" r:id="rId34"/>
    <p:sldId id="315" r:id="rId35"/>
    <p:sldId id="316" r:id="rId36"/>
    <p:sldId id="322" r:id="rId37"/>
    <p:sldId id="298" r:id="rId38"/>
    <p:sldId id="323" r:id="rId39"/>
    <p:sldId id="324" r:id="rId40"/>
    <p:sldId id="325" r:id="rId41"/>
    <p:sldId id="326" r:id="rId42"/>
    <p:sldId id="327" r:id="rId43"/>
    <p:sldId id="291" r:id="rId44"/>
    <p:sldId id="292" r:id="rId45"/>
    <p:sldId id="293" r:id="rId46"/>
    <p:sldId id="328" r:id="rId47"/>
    <p:sldId id="329" r:id="rId48"/>
    <p:sldId id="330" r:id="rId49"/>
    <p:sldId id="331" r:id="rId50"/>
    <p:sldId id="311" r:id="rId51"/>
    <p:sldId id="312" r:id="rId52"/>
  </p:sldIdLst>
  <p:sldSz cx="18288000" cy="10287000"/>
  <p:notesSz cx="6858000" cy="9144000"/>
  <p:custDataLst>
    <p:tags r:id="rId54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5DCE5-B1EE-4333-B127-9388B410F052}" v="154" dt="2024-02-26T04:48:51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86"/>
  </p:normalViewPr>
  <p:slideViewPr>
    <p:cSldViewPr snapToGrid="0" snapToObjects="1" showGuides="1">
      <p:cViewPr varScale="1">
        <p:scale>
          <a:sx n="51" d="100"/>
          <a:sy n="51" d="100"/>
        </p:scale>
        <p:origin x="132" y="40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7885DCE5-B1EE-4333-B127-9388B410F052}"/>
    <pc:docChg chg="undo custSel addSld delSld modSld">
      <pc:chgData name="Kaiang Wen" userId="a219f04c-ae7d-4ada-9001-a33e528312f1" providerId="ADAL" clId="{7885DCE5-B1EE-4333-B127-9388B410F052}" dt="2024-02-26T05:08:16.681" v="290" actId="47"/>
      <pc:docMkLst>
        <pc:docMk/>
      </pc:docMkLst>
      <pc:sldChg chg="del">
        <pc:chgData name="Kaiang Wen" userId="a219f04c-ae7d-4ada-9001-a33e528312f1" providerId="ADAL" clId="{7885DCE5-B1EE-4333-B127-9388B410F052}" dt="2024-02-26T04:49:05.617" v="287" actId="47"/>
        <pc:sldMkLst>
          <pc:docMk/>
          <pc:sldMk cId="0" sldId="260"/>
        </pc:sldMkLst>
      </pc:sldChg>
      <pc:sldChg chg="del">
        <pc:chgData name="Kaiang Wen" userId="a219f04c-ae7d-4ada-9001-a33e528312f1" providerId="ADAL" clId="{7885DCE5-B1EE-4333-B127-9388B410F052}" dt="2024-02-26T04:49:07.846" v="289" actId="47"/>
        <pc:sldMkLst>
          <pc:docMk/>
          <pc:sldMk cId="0" sldId="261"/>
        </pc:sldMkLst>
      </pc:sldChg>
      <pc:sldChg chg="del">
        <pc:chgData name="Kaiang Wen" userId="a219f04c-ae7d-4ada-9001-a33e528312f1" providerId="ADAL" clId="{7885DCE5-B1EE-4333-B127-9388B410F052}" dt="2024-02-26T04:49:05.060" v="286" actId="47"/>
        <pc:sldMkLst>
          <pc:docMk/>
          <pc:sldMk cId="0" sldId="262"/>
        </pc:sldMkLst>
      </pc:sldChg>
      <pc:sldChg chg="del">
        <pc:chgData name="Kaiang Wen" userId="a219f04c-ae7d-4ada-9001-a33e528312f1" providerId="ADAL" clId="{7885DCE5-B1EE-4333-B127-9388B410F052}" dt="2024-02-26T04:49:05.982" v="288" actId="47"/>
        <pc:sldMkLst>
          <pc:docMk/>
          <pc:sldMk cId="0" sldId="263"/>
        </pc:sldMkLst>
      </pc:sldChg>
      <pc:sldChg chg="modAnim">
        <pc:chgData name="Kaiang Wen" userId="a219f04c-ae7d-4ada-9001-a33e528312f1" providerId="ADAL" clId="{7885DCE5-B1EE-4333-B127-9388B410F052}" dt="2024-02-26T04:31:06.164" v="0"/>
        <pc:sldMkLst>
          <pc:docMk/>
          <pc:sldMk cId="0" sldId="268"/>
        </pc:sldMkLst>
      </pc:sldChg>
      <pc:sldChg chg="addSp delSp modSp mod modAnim">
        <pc:chgData name="Kaiang Wen" userId="a219f04c-ae7d-4ada-9001-a33e528312f1" providerId="ADAL" clId="{7885DCE5-B1EE-4333-B127-9388B410F052}" dt="2024-02-26T04:36:13.254" v="54" actId="1036"/>
        <pc:sldMkLst>
          <pc:docMk/>
          <pc:sldMk cId="0" sldId="269"/>
        </pc:sldMkLst>
        <pc:spChg chg="mod">
          <ac:chgData name="Kaiang Wen" userId="a219f04c-ae7d-4ada-9001-a33e528312f1" providerId="ADAL" clId="{7885DCE5-B1EE-4333-B127-9388B410F052}" dt="2024-02-26T04:32:44.690" v="5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2:22.762" v="1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3:13.893" v="34" actId="103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6:13.254" v="54" actId="1036"/>
          <ac:spMkLst>
            <pc:docMk/>
            <pc:sldMk cId="0" sldId="269"/>
            <ac:spMk id="13" creationId="{00000000-0000-0000-0000-000000000000}"/>
          </ac:spMkLst>
        </pc:spChg>
        <pc:picChg chg="add mod ord">
          <ac:chgData name="Kaiang Wen" userId="a219f04c-ae7d-4ada-9001-a33e528312f1" providerId="ADAL" clId="{7885DCE5-B1EE-4333-B127-9388B410F052}" dt="2024-02-26T04:33:06.602" v="12" actId="14100"/>
          <ac:picMkLst>
            <pc:docMk/>
            <pc:sldMk cId="0" sldId="269"/>
            <ac:picMk id="4" creationId="{84E3485A-6CA0-01F8-E97D-22FC4808ACFD}"/>
          </ac:picMkLst>
        </pc:picChg>
        <pc:picChg chg="add mod ord">
          <ac:chgData name="Kaiang Wen" userId="a219f04c-ae7d-4ada-9001-a33e528312f1" providerId="ADAL" clId="{7885DCE5-B1EE-4333-B127-9388B410F052}" dt="2024-02-26T04:36:06.588" v="40" actId="167"/>
          <ac:picMkLst>
            <pc:docMk/>
            <pc:sldMk cId="0" sldId="269"/>
            <ac:picMk id="14" creationId="{926FC032-8AFF-2019-91F8-01AEA4DC359D}"/>
          </ac:picMkLst>
        </pc:picChg>
        <pc:picChg chg="del">
          <ac:chgData name="Kaiang Wen" userId="a219f04c-ae7d-4ada-9001-a33e528312f1" providerId="ADAL" clId="{7885DCE5-B1EE-4333-B127-9388B410F052}" dt="2024-02-26T04:32:53.952" v="7" actId="478"/>
          <ac:picMkLst>
            <pc:docMk/>
            <pc:sldMk cId="0" sldId="269"/>
            <ac:picMk id="15" creationId="{00000000-0000-0000-0000-000000000000}"/>
          </ac:picMkLst>
        </pc:picChg>
        <pc:picChg chg="del">
          <ac:chgData name="Kaiang Wen" userId="a219f04c-ae7d-4ada-9001-a33e528312f1" providerId="ADAL" clId="{7885DCE5-B1EE-4333-B127-9388B410F052}" dt="2024-02-26T04:35:53.833" v="35" actId="478"/>
          <ac:picMkLst>
            <pc:docMk/>
            <pc:sldMk cId="0" sldId="269"/>
            <ac:picMk id="14340" creationId="{00000000-0000-0000-0000-000000000000}"/>
          </ac:picMkLst>
        </pc:picChg>
      </pc:sldChg>
      <pc:sldChg chg="addSp delSp modSp mod modAnim">
        <pc:chgData name="Kaiang Wen" userId="a219f04c-ae7d-4ada-9001-a33e528312f1" providerId="ADAL" clId="{7885DCE5-B1EE-4333-B127-9388B410F052}" dt="2024-02-26T04:38:32.668" v="87" actId="14100"/>
        <pc:sldMkLst>
          <pc:docMk/>
          <pc:sldMk cId="0" sldId="270"/>
        </pc:sldMkLst>
        <pc:spChg chg="mod">
          <ac:chgData name="Kaiang Wen" userId="a219f04c-ae7d-4ada-9001-a33e528312f1" providerId="ADAL" clId="{7885DCE5-B1EE-4333-B127-9388B410F052}" dt="2024-02-26T04:37:43.789" v="66" actId="141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7.662" v="83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12.647" v="84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7:48.705" v="67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4.124" v="85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1.730" v="81" actId="1038"/>
          <ac:spMkLst>
            <pc:docMk/>
            <pc:sldMk cId="0" sldId="270"/>
            <ac:spMk id="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7.947" v="86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32.668" v="87" actId="14100"/>
          <ac:spMkLst>
            <pc:docMk/>
            <pc:sldMk cId="0" sldId="270"/>
            <ac:spMk id="13" creationId="{00000000-0000-0000-0000-000000000000}"/>
          </ac:spMkLst>
        </pc:spChg>
        <pc:picChg chg="del">
          <ac:chgData name="Kaiang Wen" userId="a219f04c-ae7d-4ada-9001-a33e528312f1" providerId="ADAL" clId="{7885DCE5-B1EE-4333-B127-9388B410F052}" dt="2024-02-26T04:37:35.266" v="64" actId="478"/>
          <ac:picMkLst>
            <pc:docMk/>
            <pc:sldMk cId="0" sldId="270"/>
            <ac:picMk id="5" creationId="{00000000-0000-0000-0000-000000000000}"/>
          </ac:picMkLst>
        </pc:picChg>
        <pc:picChg chg="add mod">
          <ac:chgData name="Kaiang Wen" userId="a219f04c-ae7d-4ada-9001-a33e528312f1" providerId="ADAL" clId="{7885DCE5-B1EE-4333-B127-9388B410F052}" dt="2024-02-26T04:38:01.730" v="81" actId="1038"/>
          <ac:picMkLst>
            <pc:docMk/>
            <pc:sldMk cId="0" sldId="270"/>
            <ac:picMk id="10" creationId="{2E1070A5-9F94-4506-386F-552D30A3425A}"/>
          </ac:picMkLst>
        </pc:picChg>
        <pc:picChg chg="add mod">
          <ac:chgData name="Kaiang Wen" userId="a219f04c-ae7d-4ada-9001-a33e528312f1" providerId="ADAL" clId="{7885DCE5-B1EE-4333-B127-9388B410F052}" dt="2024-02-26T04:37:27.616" v="60" actId="1076"/>
          <ac:picMkLst>
            <pc:docMk/>
            <pc:sldMk cId="0" sldId="270"/>
            <ac:picMk id="1026" creationId="{EE5AA5A4-3742-3B86-B06B-32BA27E36080}"/>
          </ac:picMkLst>
        </pc:picChg>
        <pc:picChg chg="del">
          <ac:chgData name="Kaiang Wen" userId="a219f04c-ae7d-4ada-9001-a33e528312f1" providerId="ADAL" clId="{7885DCE5-B1EE-4333-B127-9388B410F052}" dt="2024-02-26T04:37:14.825" v="55" actId="478"/>
          <ac:picMkLst>
            <pc:docMk/>
            <pc:sldMk cId="0" sldId="270"/>
            <ac:picMk id="16386" creationId="{00000000-0000-0000-0000-000000000000}"/>
          </ac:picMkLst>
        </pc:picChg>
      </pc:sldChg>
      <pc:sldChg chg="addSp delSp modSp mod delAnim modAnim">
        <pc:chgData name="Kaiang Wen" userId="a219f04c-ae7d-4ada-9001-a33e528312f1" providerId="ADAL" clId="{7885DCE5-B1EE-4333-B127-9388B410F052}" dt="2024-02-26T04:41:55.870" v="179"/>
        <pc:sldMkLst>
          <pc:docMk/>
          <pc:sldMk cId="0" sldId="271"/>
        </pc:sldMkLst>
        <pc:spChg chg="mod">
          <ac:chgData name="Kaiang Wen" userId="a219f04c-ae7d-4ada-9001-a33e528312f1" providerId="ADAL" clId="{7885DCE5-B1EE-4333-B127-9388B410F052}" dt="2024-02-26T04:41:20.226" v="166" actId="14100"/>
          <ac:spMkLst>
            <pc:docMk/>
            <pc:sldMk cId="0" sldId="271"/>
            <ac:spMk id="2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3" creationId="{4EBAECE0-431E-CB2C-3D9E-25C01FD3C49A}"/>
          </ac:spMkLst>
        </pc:spChg>
        <pc:spChg chg="mod">
          <ac:chgData name="Kaiang Wen" userId="a219f04c-ae7d-4ada-9001-a33e528312f1" providerId="ADAL" clId="{7885DCE5-B1EE-4333-B127-9388B410F052}" dt="2024-02-26T04:41:33.121" v="167" actId="13822"/>
          <ac:spMkLst>
            <pc:docMk/>
            <pc:sldMk cId="0" sldId="271"/>
            <ac:spMk id="6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7" creationId="{A4A61319-D239-C1B4-E460-2DE4806826B7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33.647" v="126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44.628" v="129" actId="478"/>
          <ac:spMkLst>
            <pc:docMk/>
            <pc:sldMk cId="0" sldId="271"/>
            <ac:spMk id="15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3" creationId="{00000000-0000-0000-0000-000000000000}"/>
          </ac:spMkLst>
        </pc:spChg>
        <pc:picChg chg="mod">
          <ac:chgData name="Kaiang Wen" userId="a219f04c-ae7d-4ada-9001-a33e528312f1" providerId="ADAL" clId="{7885DCE5-B1EE-4333-B127-9388B410F052}" dt="2024-02-26T04:41:13.372" v="164" actId="1038"/>
          <ac:picMkLst>
            <pc:docMk/>
            <pc:sldMk cId="0" sldId="271"/>
            <ac:picMk id="12290" creationId="{00000000-0000-0000-0000-000000000000}"/>
          </ac:picMkLst>
        </pc:picChg>
      </pc:sldChg>
      <pc:sldChg chg="addSp delSp modSp mod addAnim delAnim modAnim">
        <pc:chgData name="Kaiang Wen" userId="a219f04c-ae7d-4ada-9001-a33e528312f1" providerId="ADAL" clId="{7885DCE5-B1EE-4333-B127-9388B410F052}" dt="2024-02-26T04:47:31.825" v="270"/>
        <pc:sldMkLst>
          <pc:docMk/>
          <pc:sldMk cId="0" sldId="272"/>
        </pc:sldMkLst>
        <pc:spChg chg="mod">
          <ac:chgData name="Kaiang Wen" userId="a219f04c-ae7d-4ada-9001-a33e528312f1" providerId="ADAL" clId="{7885DCE5-B1EE-4333-B127-9388B410F052}" dt="2024-02-26T04:46:32.880" v="241" actId="404"/>
          <ac:spMkLst>
            <pc:docMk/>
            <pc:sldMk cId="0" sldId="272"/>
            <ac:spMk id="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5" creationId="{E628D2AA-8C8B-74C1-F283-9846A82B1FED}"/>
          </ac:spMkLst>
        </pc:spChg>
        <pc:spChg chg="mod">
          <ac:chgData name="Kaiang Wen" userId="a219f04c-ae7d-4ada-9001-a33e528312f1" providerId="ADAL" clId="{7885DCE5-B1EE-4333-B127-9388B410F052}" dt="2024-02-26T04:43:07.929" v="194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6:35.071" v="242" actId="404"/>
          <ac:spMkLst>
            <pc:docMk/>
            <pc:sldMk cId="0" sldId="272"/>
            <ac:spMk id="7" creationId="{00000000-0000-0000-0000-000000000000}"/>
          </ac:spMkLst>
        </pc:spChg>
        <pc:spChg chg="add del mod">
          <ac:chgData name="Kaiang Wen" userId="a219f04c-ae7d-4ada-9001-a33e528312f1" providerId="ADAL" clId="{7885DCE5-B1EE-4333-B127-9388B410F052}" dt="2024-02-26T04:45:59.648" v="234" actId="20577"/>
          <ac:spMkLst>
            <pc:docMk/>
            <pc:sldMk cId="0" sldId="272"/>
            <ac:spMk id="8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9" creationId="{FB0485FD-97DC-CD21-EF09-B015848204F6}"/>
          </ac:spMkLst>
        </pc:spChg>
        <pc:spChg chg="mod">
          <ac:chgData name="Kaiang Wen" userId="a219f04c-ae7d-4ada-9001-a33e528312f1" providerId="ADAL" clId="{7885DCE5-B1EE-4333-B127-9388B410F052}" dt="2024-02-26T04:46:30.372" v="240" actId="14100"/>
          <ac:spMkLst>
            <pc:docMk/>
            <pc:sldMk cId="0" sldId="272"/>
            <ac:spMk id="10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4.808" v="183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3.087" v="181" actId="478"/>
          <ac:spMkLst>
            <pc:docMk/>
            <pc:sldMk cId="0" sldId="272"/>
            <ac:spMk id="12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6.274" v="185" actId="478"/>
          <ac:spMkLst>
            <pc:docMk/>
            <pc:sldMk cId="0" sldId="272"/>
            <ac:spMk id="13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8.938" v="188" actId="478"/>
          <ac:spMkLst>
            <pc:docMk/>
            <pc:sldMk cId="0" sldId="272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9.975" v="189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4.371" v="192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2.554" v="191" actId="478"/>
          <ac:spMkLst>
            <pc:docMk/>
            <pc:sldMk cId="0" sldId="272"/>
            <ac:spMk id="17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5.425" v="184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8.136" v="187" actId="478"/>
          <ac:spMkLst>
            <pc:docMk/>
            <pc:sldMk cId="0" sldId="272"/>
            <ac:spMk id="19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0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4" creationId="{38D24A46-604F-7AC0-C0BF-AD69BF7D50AF}"/>
          </ac:spMkLst>
        </pc:spChg>
        <pc:spChg chg="del mod">
          <ac:chgData name="Kaiang Wen" userId="a219f04c-ae7d-4ada-9001-a33e528312f1" providerId="ADAL" clId="{7885DCE5-B1EE-4333-B127-9388B410F052}" dt="2024-02-26T04:44:30.310" v="219" actId="478"/>
          <ac:spMkLst>
            <pc:docMk/>
            <pc:sldMk cId="0" sldId="272"/>
            <ac:spMk id="2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7" creationId="{642FFB74-61F4-4C53-A49F-0D4AEF48F05C}"/>
          </ac:spMkLst>
        </pc:spChg>
        <pc:spChg chg="mod">
          <ac:chgData name="Kaiang Wen" userId="a219f04c-ae7d-4ada-9001-a33e528312f1" providerId="ADAL" clId="{7885DCE5-B1EE-4333-B127-9388B410F052}" dt="2024-02-26T04:43:12.264" v="195" actId="207"/>
          <ac:spMkLst>
            <pc:docMk/>
            <pc:sldMk cId="0" sldId="272"/>
            <ac:spMk id="29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0" creationId="{7F18B519-A71B-ED9E-F517-8C5EB485B8D3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2" creationId="{CC90AAAC-19E8-DE97-96EC-3E107917E23E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3" creationId="{1E37A8F3-BFB1-F170-7E13-7CD6E0E8C45A}"/>
          </ac:spMkLst>
        </pc:spChg>
        <pc:spChg chg="mod">
          <ac:chgData name="Kaiang Wen" userId="a219f04c-ae7d-4ada-9001-a33e528312f1" providerId="ADAL" clId="{7885DCE5-B1EE-4333-B127-9388B410F052}" dt="2024-02-26T04:43:15.128" v="196" actId="207"/>
          <ac:spMkLst>
            <pc:docMk/>
            <pc:sldMk cId="0" sldId="272"/>
            <ac:spMk id="3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6" creationId="{CFA0D467-C70B-972A-9A27-983133BBF9A7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7" creationId="{5C5711FB-128E-7C34-B676-371400CC3AB6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8" creationId="{D4368688-BA49-E26F-2533-BB020E04BF6F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9" creationId="{F202AEC2-04A0-4A18-C30B-AC44D98F7E41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40" creationId="{52958F62-C316-F520-5BD0-8FDA11441000}"/>
          </ac:spMkLst>
        </pc:spChg>
        <pc:spChg chg="add mod">
          <ac:chgData name="Kaiang Wen" userId="a219f04c-ae7d-4ada-9001-a33e528312f1" providerId="ADAL" clId="{7885DCE5-B1EE-4333-B127-9388B410F052}" dt="2024-02-26T04:46:37.161" v="243" actId="404"/>
          <ac:spMkLst>
            <pc:docMk/>
            <pc:sldMk cId="0" sldId="272"/>
            <ac:spMk id="41" creationId="{7A2A8E56-D96A-A590-8DB8-180A0682122B}"/>
          </ac:spMkLst>
        </pc:spChg>
        <pc:picChg chg="add mod">
          <ac:chgData name="Kaiang Wen" userId="a219f04c-ae7d-4ada-9001-a33e528312f1" providerId="ADAL" clId="{7885DCE5-B1EE-4333-B127-9388B410F052}" dt="2024-02-26T04:42:55.443" v="193"/>
          <ac:picMkLst>
            <pc:docMk/>
            <pc:sldMk cId="0" sldId="272"/>
            <ac:picMk id="4" creationId="{56E26D14-FAD1-F9D7-E322-B13FE0ECDF23}"/>
          </ac:picMkLst>
        </pc:picChg>
        <pc:picChg chg="del">
          <ac:chgData name="Kaiang Wen" userId="a219f04c-ae7d-4ada-9001-a33e528312f1" providerId="ADAL" clId="{7885DCE5-B1EE-4333-B127-9388B410F052}" dt="2024-02-26T04:42:42.518" v="180" actId="478"/>
          <ac:picMkLst>
            <pc:docMk/>
            <pc:sldMk cId="0" sldId="272"/>
            <ac:picMk id="12290" creationId="{00000000-0000-0000-0000-000000000000}"/>
          </ac:picMkLst>
        </pc:pic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6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8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1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4" creationId="{00000000-0000-0000-0000-000000000000}"/>
          </ac:cxnSpMkLst>
        </pc:cxnChg>
      </pc:sldChg>
      <pc:sldChg chg="del">
        <pc:chgData name="Kaiang Wen" userId="a219f04c-ae7d-4ada-9001-a33e528312f1" providerId="ADAL" clId="{7885DCE5-B1EE-4333-B127-9388B410F052}" dt="2024-02-26T04:49:00.878" v="285" actId="47"/>
        <pc:sldMkLst>
          <pc:docMk/>
          <pc:sldMk cId="0" sldId="273"/>
        </pc:sldMkLst>
      </pc:sldChg>
      <pc:sldChg chg="addSp modSp add del mod modAnim">
        <pc:chgData name="Kaiang Wen" userId="a219f04c-ae7d-4ada-9001-a33e528312f1" providerId="ADAL" clId="{7885DCE5-B1EE-4333-B127-9388B410F052}" dt="2024-02-26T05:08:16.681" v="290" actId="47"/>
        <pc:sldMkLst>
          <pc:docMk/>
          <pc:sldMk cId="4075367127" sldId="274"/>
        </pc:sldMkLst>
        <pc:spChg chg="add mod">
          <ac:chgData name="Kaiang Wen" userId="a219f04c-ae7d-4ada-9001-a33e528312f1" providerId="ADAL" clId="{7885DCE5-B1EE-4333-B127-9388B410F052}" dt="2024-02-26T04:48:43.852" v="282" actId="14100"/>
          <ac:spMkLst>
            <pc:docMk/>
            <pc:sldMk cId="4075367127" sldId="274"/>
            <ac:spMk id="8" creationId="{0B6D0284-59FE-8E24-A08F-1FF98FDCE0AA}"/>
          </ac:spMkLst>
        </pc:spChg>
        <pc:spChg chg="add mod">
          <ac:chgData name="Kaiang Wen" userId="a219f04c-ae7d-4ada-9001-a33e528312f1" providerId="ADAL" clId="{7885DCE5-B1EE-4333-B127-9388B410F052}" dt="2024-02-26T04:48:38.199" v="280" actId="14100"/>
          <ac:spMkLst>
            <pc:docMk/>
            <pc:sldMk cId="4075367127" sldId="274"/>
            <ac:spMk id="10" creationId="{373B0847-250D-0DDD-D804-864B7AC44D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45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528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475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825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805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075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F9E8A1-852F-4483-B97B-027903F81BE5}" type="slidenum">
              <a:rPr lang="zh-TW" altLang="en-US" smtClean="0"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F9E8A1-852F-4483-B97B-027903F81BE5}" type="slidenum">
              <a:rPr lang="zh-TW" altLang="en-US" smtClean="0"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</a:t>
            </a:r>
            <a:r>
              <a:rPr lang="en-US" baseline="0" dirty="0"/>
              <a:t> a image to </a:t>
            </a:r>
            <a:r>
              <a:rPr lang="en-US" dirty="0"/>
              <a:t>max</a:t>
            </a:r>
            <a:r>
              <a:rPr lang="en-US" baseline="0" dirty="0"/>
              <a:t> both content and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F9E8A1-852F-4483-B97B-027903F81BE5}" type="slidenum">
              <a:rPr lang="zh-TW" altLang="en-US" smtClean="0"/>
              <a:t>42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Very good example for </a:t>
            </a:r>
            <a:r>
              <a:rPr lang="en-US" altLang="zh-TW" dirty="0" err="1"/>
              <a:t>desing</a:t>
            </a:r>
            <a:r>
              <a:rPr lang="en-US" altLang="zh-TW" dirty="0"/>
              <a:t> your network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46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8133" y="3228975"/>
            <a:ext cx="14596534" cy="119909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5400" dirty="0"/>
              <a:t>Convolutional Neural Network (CNN)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4" y="5503333"/>
            <a:ext cx="12998450" cy="77978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/>
          </p:cNvSpPr>
          <p:nvPr>
            <p:ph type="title"/>
          </p:nvPr>
        </p:nvSpPr>
        <p:spPr>
          <a:xfrm>
            <a:off x="2286000" y="761999"/>
            <a:ext cx="13716000" cy="9314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Overview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B6CAB6-BEA5-DF6C-4DDA-042008551802}"/>
              </a:ext>
            </a:extLst>
          </p:cNvPr>
          <p:cNvSpPr txBox="1"/>
          <p:nvPr/>
        </p:nvSpPr>
        <p:spPr>
          <a:xfrm>
            <a:off x="4284133" y="1540933"/>
            <a:ext cx="11413067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3600" dirty="0">
              <a:latin typeface="Times" pitchFamily="2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3600" dirty="0">
                <a:latin typeface="Times" pitchFamily="2" charset="0"/>
              </a:rPr>
              <a:t>Why CNN for Images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Some patterns are smaller than the whole image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The same patterns appear in different regions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Subsampling the pixels will not change the object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3600" dirty="0">
                <a:latin typeface="Times" pitchFamily="2" charset="0"/>
              </a:rPr>
              <a:t>Convolutions Layers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Convolutions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Convolutions </a:t>
            </a:r>
            <a:r>
              <a:rPr lang="en-US" sz="2800" i="1" dirty="0">
                <a:latin typeface="Times" pitchFamily="2" charset="0"/>
              </a:rPr>
              <a:t>vs</a:t>
            </a:r>
            <a:r>
              <a:rPr lang="en-US" sz="2800" dirty="0">
                <a:latin typeface="Times" pitchFamily="2" charset="0"/>
              </a:rPr>
              <a:t> Fully Connected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3600" dirty="0">
                <a:latin typeface="Times" pitchFamily="2" charset="0"/>
              </a:rPr>
              <a:t>Pooling Layers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Max Pooling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Average Pooling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3600" dirty="0">
                <a:latin typeface="Times" pitchFamily="2" charset="0"/>
              </a:rPr>
              <a:t>What do CNN learn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Visualization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3600" dirty="0">
                <a:latin typeface="Times" pitchFamily="2" charset="0"/>
              </a:rPr>
              <a:t>CNN applications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CNN for playing Go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CNN for speech and text analysis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3600" dirty="0">
              <a:latin typeface="Times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2607734"/>
            <a:ext cx="15667355" cy="15578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Convolutional Neural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3765550" y="6112510"/>
            <a:ext cx="3802380" cy="2887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Some patterns are much smaller than the whole image</a:t>
            </a:r>
          </a:p>
          <a:p>
            <a:r>
              <a:rPr lang="zh-TW" altLang="en-US" dirty="0"/>
              <a:t>A neuron does not have to see the whole image to discover the pattern</a:t>
            </a:r>
          </a:p>
          <a:p>
            <a:pPr lvl="1"/>
            <a:r>
              <a:rPr lang="zh-TW" altLang="en-US" dirty="0"/>
              <a:t>Connecting to small region with less parameters</a:t>
            </a:r>
          </a:p>
        </p:txBody>
      </p:sp>
      <p:sp>
        <p:nvSpPr>
          <p:cNvPr id="11" name="AutoShape 8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>
            <a:spLocks noChangeAspect="1" noChangeArrowheads="1"/>
          </p:cNvSpPr>
          <p:nvPr/>
        </p:nvSpPr>
        <p:spPr bwMode="auto">
          <a:xfrm>
            <a:off x="2519363" y="-216694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/>
          <a:lstStyle/>
          <a:p>
            <a:endParaRPr lang="zh-TW" altLang="en-US" sz="100"/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1080" y="6258252"/>
            <a:ext cx="3226851" cy="1919772"/>
          </a:xfrm>
          <a:prstGeom prst="rect">
            <a:avLst/>
          </a:prstGeom>
        </p:spPr>
      </p:pic>
      <p:sp>
        <p:nvSpPr>
          <p:cNvPr id="43" name="圓角矩形圖說文字 42"/>
          <p:cNvSpPr/>
          <p:nvPr/>
        </p:nvSpPr>
        <p:spPr>
          <a:xfrm>
            <a:off x="11675873" y="7857567"/>
            <a:ext cx="3634853" cy="902492"/>
          </a:xfrm>
          <a:prstGeom prst="wedgeRoundRectCallout">
            <a:avLst>
              <a:gd name="adj1" fmla="val -16286"/>
              <a:gd name="adj2" fmla="val -92191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“beak”</a:t>
            </a:r>
            <a:r>
              <a:rPr lang="zh-TW" altLang="en-US" sz="3600" dirty="0">
                <a:solidFill>
                  <a:srgbClr val="FCFCFC"/>
                </a:solidFill>
              </a:rPr>
              <a:t> </a:t>
            </a:r>
            <a:r>
              <a:rPr lang="en-US" altLang="zh-TW" sz="3600" dirty="0">
                <a:solidFill>
                  <a:srgbClr val="FCFCFC"/>
                </a:solidFill>
              </a:rPr>
              <a:t>detector</a:t>
            </a:r>
          </a:p>
        </p:txBody>
      </p:sp>
      <p:sp>
        <p:nvSpPr>
          <p:cNvPr id="44" name="矩形 43"/>
          <p:cNvSpPr/>
          <p:nvPr/>
        </p:nvSpPr>
        <p:spPr>
          <a:xfrm>
            <a:off x="4496745" y="6381511"/>
            <a:ext cx="609600" cy="5691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6" name="直線單箭頭接點 45"/>
          <p:cNvCxnSpPr>
            <a:stCxn id="44" idx="3"/>
            <a:endCxn id="4" idx="1"/>
          </p:cNvCxnSpPr>
          <p:nvPr/>
        </p:nvCxnSpPr>
        <p:spPr>
          <a:xfrm>
            <a:off x="5106345" y="6666106"/>
            <a:ext cx="3418840" cy="610235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440" y="6410325"/>
            <a:ext cx="1894840" cy="171323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ldLvl="0" animBg="1"/>
      <p:bldP spid="4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926FC032-8AFF-2019-91F8-01AEA4DC3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485" y="6817170"/>
            <a:ext cx="3728493" cy="268897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4E3485A-6CA0-01F8-E97D-22FC4808ACF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64485" y="3837663"/>
            <a:ext cx="3728493" cy="268897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same patterns appear in different regions.</a:t>
            </a:r>
            <a:endParaRPr lang="zh-TW" altLang="en-US" dirty="0"/>
          </a:p>
        </p:txBody>
      </p:sp>
      <p:sp>
        <p:nvSpPr>
          <p:cNvPr id="11" name="AutoShape 8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>
            <a:spLocks noChangeAspect="1" noChangeArrowheads="1"/>
          </p:cNvSpPr>
          <p:nvPr/>
        </p:nvSpPr>
        <p:spPr bwMode="auto">
          <a:xfrm>
            <a:off x="2519363" y="-216694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/>
          <a:lstStyle/>
          <a:p>
            <a:endParaRPr lang="zh-TW" altLang="en-US" sz="10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726" y="4301936"/>
            <a:ext cx="3226851" cy="1919772"/>
          </a:xfrm>
          <a:prstGeom prst="rect">
            <a:avLst/>
          </a:prstGeom>
        </p:spPr>
      </p:pic>
      <p:sp>
        <p:nvSpPr>
          <p:cNvPr id="10" name="雲朵形圖說文字 9"/>
          <p:cNvSpPr/>
          <p:nvPr/>
        </p:nvSpPr>
        <p:spPr>
          <a:xfrm>
            <a:off x="9898959" y="3638655"/>
            <a:ext cx="4883841" cy="1427559"/>
          </a:xfrm>
          <a:prstGeom prst="cloudCallout">
            <a:avLst>
              <a:gd name="adj1" fmla="val -48303"/>
              <a:gd name="adj2" fmla="val 558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“upper-left beak”</a:t>
            </a:r>
            <a:r>
              <a:rPr lang="zh-TW" altLang="en-US" sz="3600" dirty="0">
                <a:solidFill>
                  <a:srgbClr val="FCFCFC"/>
                </a:solidFill>
              </a:rPr>
              <a:t> </a:t>
            </a:r>
            <a:r>
              <a:rPr lang="en-US" altLang="zh-TW" sz="3600" dirty="0">
                <a:solidFill>
                  <a:srgbClr val="FCFCFC"/>
                </a:solidFill>
              </a:rPr>
              <a:t>detector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17697" y="4079931"/>
            <a:ext cx="609600" cy="5691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12"/>
          <p:cNvSpPr/>
          <p:nvPr/>
        </p:nvSpPr>
        <p:spPr>
          <a:xfrm>
            <a:off x="4900343" y="7582310"/>
            <a:ext cx="609600" cy="5691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508" y="6979553"/>
            <a:ext cx="3443288" cy="2386013"/>
          </a:xfrm>
          <a:prstGeom prst="rect">
            <a:avLst/>
          </a:prstGeom>
        </p:spPr>
      </p:pic>
      <p:sp>
        <p:nvSpPr>
          <p:cNvPr id="31" name="雲朵形圖說文字 30"/>
          <p:cNvSpPr/>
          <p:nvPr/>
        </p:nvSpPr>
        <p:spPr>
          <a:xfrm>
            <a:off x="9898959" y="8270559"/>
            <a:ext cx="4504101" cy="1427559"/>
          </a:xfrm>
          <a:prstGeom prst="cloudCallout">
            <a:avLst>
              <a:gd name="adj1" fmla="val -40531"/>
              <a:gd name="adj2" fmla="val -6065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“middle beak”</a:t>
            </a:r>
            <a:r>
              <a:rPr lang="zh-TW" altLang="en-US" sz="3600" dirty="0"/>
              <a:t> </a:t>
            </a:r>
            <a:r>
              <a:rPr lang="en-US" altLang="zh-TW" sz="3600" dirty="0"/>
              <a:t>detector</a:t>
            </a:r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11720820" y="6602852"/>
            <a:ext cx="5364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They can use the same set of parameters.</a:t>
            </a:r>
            <a:endParaRPr lang="zh-TW" altLang="en-US" sz="3600" dirty="0"/>
          </a:p>
        </p:txBody>
      </p:sp>
      <p:sp>
        <p:nvSpPr>
          <p:cNvPr id="34" name="矩形 33"/>
          <p:cNvSpPr/>
          <p:nvPr/>
        </p:nvSpPr>
        <p:spPr>
          <a:xfrm>
            <a:off x="9038580" y="5816301"/>
            <a:ext cx="5364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Do almost the same thing</a:t>
            </a:r>
            <a:endParaRPr lang="zh-TW" altLang="en-US" sz="3600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8954172" y="5651970"/>
            <a:ext cx="0" cy="2012063"/>
          </a:xfrm>
          <a:prstGeom prst="straightConnector1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/>
      <p:bldP spid="13" grpId="0" bldLvl="0" animBg="1"/>
      <p:bldP spid="31" grpId="0" bldLvl="0" animBg="1"/>
      <p:bldP spid="6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28974" y="2737823"/>
            <a:ext cx="13656945" cy="6527007"/>
          </a:xfrm>
        </p:spPr>
        <p:txBody>
          <a:bodyPr/>
          <a:lstStyle/>
          <a:p>
            <a:r>
              <a:rPr lang="en-US" altLang="zh-TW" dirty="0"/>
              <a:t>Subsampling</a:t>
            </a:r>
            <a:r>
              <a:rPr lang="zh-TW" altLang="en-US" dirty="0"/>
              <a:t> </a:t>
            </a:r>
            <a:r>
              <a:rPr lang="en-US" altLang="zh-TW" dirty="0"/>
              <a:t>the pixels will not change the object</a:t>
            </a:r>
            <a:endParaRPr lang="zh-TW" altLang="en-US" dirty="0"/>
          </a:p>
        </p:txBody>
      </p:sp>
      <p:sp>
        <p:nvSpPr>
          <p:cNvPr id="4" name="向右箭號 3"/>
          <p:cNvSpPr/>
          <p:nvPr/>
        </p:nvSpPr>
        <p:spPr>
          <a:xfrm>
            <a:off x="8881515" y="5440998"/>
            <a:ext cx="3325952" cy="12044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文字方塊 5"/>
          <p:cNvSpPr txBox="1"/>
          <p:nvPr/>
        </p:nvSpPr>
        <p:spPr>
          <a:xfrm>
            <a:off x="8799258" y="6637475"/>
            <a:ext cx="34839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subsampling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94392" y="4021858"/>
            <a:ext cx="2242457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bird</a:t>
            </a:r>
            <a:endParaRPr lang="zh-TW" altLang="en-US" sz="4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2527506" y="4667383"/>
            <a:ext cx="2242457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bird</a:t>
            </a:r>
            <a:endParaRPr lang="zh-TW" altLang="en-US" sz="4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4400545" y="8267273"/>
            <a:ext cx="11313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We can subsample the pixels to make image smaller</a:t>
            </a:r>
            <a:endParaRPr lang="zh-TW" altLang="en-US" sz="28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100221" y="9256726"/>
            <a:ext cx="9301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Less parameters for the network to process the image</a:t>
            </a:r>
            <a:endParaRPr lang="zh-TW" altLang="en-US" sz="2800" dirty="0"/>
          </a:p>
        </p:txBody>
      </p:sp>
      <p:sp>
        <p:nvSpPr>
          <p:cNvPr id="12" name="向右箭號 11"/>
          <p:cNvSpPr/>
          <p:nvPr/>
        </p:nvSpPr>
        <p:spPr>
          <a:xfrm>
            <a:off x="3474182" y="9177654"/>
            <a:ext cx="1380831" cy="7243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1026" name="Picture 2" descr="Red Black Little Bird Is Perching On Plums Tree Branch HD Birds ...">
            <a:extLst>
              <a:ext uri="{FF2B5EF4-FFF2-40B4-BE49-F238E27FC236}">
                <a16:creationId xmlns:a16="http://schemas.microsoft.com/office/drawing/2014/main" id="{EE5AA5A4-3742-3B86-B06B-32BA27E36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755" y="4718541"/>
            <a:ext cx="5139733" cy="28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Black Little Bird Is Perching On Plums Tree Branch HD Birds ...">
            <a:extLst>
              <a:ext uri="{FF2B5EF4-FFF2-40B4-BE49-F238E27FC236}">
                <a16:creationId xmlns:a16="http://schemas.microsoft.com/office/drawing/2014/main" id="{2E1070A5-9F94-4506-386F-552D30A34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8597" y="5382854"/>
            <a:ext cx="2340277" cy="131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/>
      <p:bldP spid="7" grpId="0"/>
      <p:bldP spid="9" grpId="0"/>
      <p:bldP spid="8" grpId="0"/>
      <p:bldP spid="13" grpId="0"/>
      <p:bldP spid="1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8549" y="161365"/>
            <a:ext cx="8902581" cy="1551434"/>
          </a:xfrm>
        </p:spPr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3410555" y="3411522"/>
            <a:ext cx="4359852" cy="4802216"/>
            <a:chOff x="-1626455" y="3999118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11688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rgbClr val="FCFCFC"/>
                  </a:solidFill>
                </a:rPr>
                <a:t>Fully Connected Feedforward network</a:t>
              </a:r>
              <a:endParaRPr lang="zh-TW" altLang="en-US" sz="3600" dirty="0">
                <a:solidFill>
                  <a:srgbClr val="FCFCFC"/>
                </a:solidFill>
              </a:endParaRPr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463" y="287294"/>
            <a:ext cx="2656508" cy="18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4202183" y="2558954"/>
            <a:ext cx="3070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cat dog ……</a:t>
            </a:r>
            <a:endParaRPr lang="zh-TW" altLang="en-US" sz="3600" dirty="0"/>
          </a:p>
        </p:txBody>
      </p:sp>
      <p:sp>
        <p:nvSpPr>
          <p:cNvPr id="11" name="矩形 10"/>
          <p:cNvSpPr/>
          <p:nvPr/>
        </p:nvSpPr>
        <p:spPr>
          <a:xfrm>
            <a:off x="10001131" y="2894258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001131" y="4573102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272327" y="9083499"/>
            <a:ext cx="2335487" cy="645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Flatten</a:t>
            </a:r>
            <a:endParaRPr lang="zh-TW" altLang="en-US" sz="3600" dirty="0"/>
          </a:p>
        </p:txBody>
      </p:sp>
      <p:sp>
        <p:nvSpPr>
          <p:cNvPr id="12" name="向下箭號 11"/>
          <p:cNvSpPr/>
          <p:nvPr/>
        </p:nvSpPr>
        <p:spPr>
          <a:xfrm>
            <a:off x="11090430" y="217764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下箭號 17"/>
          <p:cNvSpPr/>
          <p:nvPr/>
        </p:nvSpPr>
        <p:spPr>
          <a:xfrm>
            <a:off x="11090430" y="3843813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下箭號 18"/>
          <p:cNvSpPr/>
          <p:nvPr/>
        </p:nvSpPr>
        <p:spPr>
          <a:xfrm>
            <a:off x="11090430" y="5481278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向下箭號 19"/>
          <p:cNvSpPr/>
          <p:nvPr/>
        </p:nvSpPr>
        <p:spPr>
          <a:xfrm>
            <a:off x="11090430" y="703376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右彎箭號 16"/>
          <p:cNvSpPr/>
          <p:nvPr/>
        </p:nvSpPr>
        <p:spPr>
          <a:xfrm rot="10800000">
            <a:off x="9607814" y="8630103"/>
            <a:ext cx="2068286" cy="112761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5517321" y="8011368"/>
            <a:ext cx="1452635" cy="1857378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3667292" y="5122137"/>
            <a:ext cx="289350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Can repeat many times</a:t>
            </a:r>
            <a:endParaRPr lang="zh-TW" altLang="en-US" sz="36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13069214" y="2709812"/>
            <a:ext cx="501651" cy="6071150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BAECE0-431E-CB2C-3D9E-25C01FD3C49A}"/>
              </a:ext>
            </a:extLst>
          </p:cNvPr>
          <p:cNvSpPr/>
          <p:nvPr/>
        </p:nvSpPr>
        <p:spPr>
          <a:xfrm>
            <a:off x="10001131" y="6171509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A61319-D239-C1B4-E460-2DE4806826B7}"/>
              </a:ext>
            </a:extLst>
          </p:cNvPr>
          <p:cNvSpPr/>
          <p:nvPr/>
        </p:nvSpPr>
        <p:spPr>
          <a:xfrm>
            <a:off x="10001131" y="7741459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bldLvl="0" animBg="1"/>
      <p:bldP spid="13" grpId="0" bldLvl="0" animBg="1"/>
      <p:bldP spid="16" grpId="0" bldLvl="0" animBg="1"/>
      <p:bldP spid="12" grpId="0" bldLvl="0" animBg="1"/>
      <p:bldP spid="18" grpId="0" bldLvl="0" animBg="1"/>
      <p:bldP spid="19" grpId="0" bldLvl="0" animBg="1"/>
      <p:bldP spid="20" grpId="0" bldLvl="0" animBg="1"/>
      <p:bldP spid="17" grpId="0" bldLvl="0" animBg="1"/>
      <p:bldP spid="22" grpId="0" bldLvl="0" animBg="1"/>
      <p:bldP spid="21" grpId="0"/>
      <p:bldP spid="23" grpId="0" bldLvl="0" animBg="1"/>
      <p:bldP spid="3" grpId="0" bldLvl="0" animBg="1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917193" y="2570177"/>
            <a:ext cx="6327284" cy="35618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869948" y="9152"/>
            <a:ext cx="16084552" cy="1551434"/>
          </a:xfrm>
        </p:spPr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sp>
        <p:nvSpPr>
          <p:cNvPr id="22" name="右彎箭號 21"/>
          <p:cNvSpPr/>
          <p:nvPr/>
        </p:nvSpPr>
        <p:spPr>
          <a:xfrm rot="16200000">
            <a:off x="5517321" y="8011368"/>
            <a:ext cx="1452635" cy="1857378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27847" y="2793677"/>
            <a:ext cx="69768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200" dirty="0"/>
              <a:t>Some patterns are much smaller than the whole image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2948253" y="4848365"/>
            <a:ext cx="624890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3200" dirty="0"/>
              <a:t>The same patterns appear in different regions.</a:t>
            </a:r>
            <a:endParaRPr lang="zh-TW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2984915" y="6832222"/>
            <a:ext cx="6183064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3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TW" altLang="en-US" sz="3600" dirty="0">
              <a:solidFill>
                <a:schemeClr val="tx1"/>
              </a:solidFill>
            </a:endParaRPr>
          </a:p>
        </p:txBody>
      </p:sp>
      <p:cxnSp>
        <p:nvCxnSpPr>
          <p:cNvPr id="26" name="直線單箭頭接點 25"/>
          <p:cNvCxnSpPr>
            <a:cxnSpLocks/>
            <a:endCxn id="10" idx="3"/>
          </p:cNvCxnSpPr>
          <p:nvPr/>
        </p:nvCxnSpPr>
        <p:spPr>
          <a:xfrm flipH="1">
            <a:off x="9244477" y="3311624"/>
            <a:ext cx="916408" cy="10395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cxnSpLocks/>
            <a:endCxn id="10" idx="3"/>
          </p:cNvCxnSpPr>
          <p:nvPr/>
        </p:nvCxnSpPr>
        <p:spPr>
          <a:xfrm flipH="1" flipV="1">
            <a:off x="9244477" y="4351124"/>
            <a:ext cx="916408" cy="221283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cxnSpLocks/>
          </p:cNvCxnSpPr>
          <p:nvPr/>
        </p:nvCxnSpPr>
        <p:spPr>
          <a:xfrm flipH="1">
            <a:off x="9167979" y="4961642"/>
            <a:ext cx="992906" cy="236931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cxnSpLocks/>
          </p:cNvCxnSpPr>
          <p:nvPr/>
        </p:nvCxnSpPr>
        <p:spPr>
          <a:xfrm flipH="1" flipV="1">
            <a:off x="9167979" y="7330959"/>
            <a:ext cx="992906" cy="7828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707785" y="2083431"/>
            <a:ext cx="2372531" cy="75821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Property 1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717277" y="4114770"/>
            <a:ext cx="2372531" cy="75821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Property 2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717277" y="6106080"/>
            <a:ext cx="2372531" cy="75821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Property 3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pic>
        <p:nvPicPr>
          <p:cNvPr id="4" name="Picture 2" descr="http://s.hswstatic.com/gif/whiskers-sam.jpg">
            <a:extLst>
              <a:ext uri="{FF2B5EF4-FFF2-40B4-BE49-F238E27FC236}">
                <a16:creationId xmlns:a16="http://schemas.microsoft.com/office/drawing/2014/main" id="{56E26D14-FAD1-F9D7-E322-B13FE0ECD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463" y="287294"/>
            <a:ext cx="2656508" cy="18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28D2AA-8C8B-74C1-F283-9846A82B1FED}"/>
              </a:ext>
            </a:extLst>
          </p:cNvPr>
          <p:cNvSpPr/>
          <p:nvPr/>
        </p:nvSpPr>
        <p:spPr>
          <a:xfrm>
            <a:off x="10001131" y="2894258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0485FD-97DC-CD21-EF09-B015848204F6}"/>
              </a:ext>
            </a:extLst>
          </p:cNvPr>
          <p:cNvSpPr/>
          <p:nvPr/>
        </p:nvSpPr>
        <p:spPr>
          <a:xfrm>
            <a:off x="10001131" y="4573102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24" name="文字方塊 15">
            <a:extLst>
              <a:ext uri="{FF2B5EF4-FFF2-40B4-BE49-F238E27FC236}">
                <a16:creationId xmlns:a16="http://schemas.microsoft.com/office/drawing/2014/main" id="{38D24A46-604F-7AC0-C0BF-AD69BF7D50AF}"/>
              </a:ext>
            </a:extLst>
          </p:cNvPr>
          <p:cNvSpPr txBox="1"/>
          <p:nvPr/>
        </p:nvSpPr>
        <p:spPr>
          <a:xfrm>
            <a:off x="7272327" y="9083499"/>
            <a:ext cx="2335487" cy="645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Flatten</a:t>
            </a:r>
            <a:endParaRPr lang="zh-TW" altLang="en-US" sz="3600" dirty="0"/>
          </a:p>
        </p:txBody>
      </p:sp>
      <p:sp>
        <p:nvSpPr>
          <p:cNvPr id="27" name="向下箭號 11">
            <a:extLst>
              <a:ext uri="{FF2B5EF4-FFF2-40B4-BE49-F238E27FC236}">
                <a16:creationId xmlns:a16="http://schemas.microsoft.com/office/drawing/2014/main" id="{642FFB74-61F4-4C53-A49F-0D4AEF48F05C}"/>
              </a:ext>
            </a:extLst>
          </p:cNvPr>
          <p:cNvSpPr/>
          <p:nvPr/>
        </p:nvSpPr>
        <p:spPr>
          <a:xfrm>
            <a:off x="11090430" y="217764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向下箭號 17">
            <a:extLst>
              <a:ext uri="{FF2B5EF4-FFF2-40B4-BE49-F238E27FC236}">
                <a16:creationId xmlns:a16="http://schemas.microsoft.com/office/drawing/2014/main" id="{7F18B519-A71B-ED9E-F517-8C5EB485B8D3}"/>
              </a:ext>
            </a:extLst>
          </p:cNvPr>
          <p:cNvSpPr/>
          <p:nvPr/>
        </p:nvSpPr>
        <p:spPr>
          <a:xfrm>
            <a:off x="11090430" y="3843813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向下箭號 18">
            <a:extLst>
              <a:ext uri="{FF2B5EF4-FFF2-40B4-BE49-F238E27FC236}">
                <a16:creationId xmlns:a16="http://schemas.microsoft.com/office/drawing/2014/main" id="{CC90AAAC-19E8-DE97-96EC-3E107917E23E}"/>
              </a:ext>
            </a:extLst>
          </p:cNvPr>
          <p:cNvSpPr/>
          <p:nvPr/>
        </p:nvSpPr>
        <p:spPr>
          <a:xfrm>
            <a:off x="11090430" y="5481278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向下箭號 19">
            <a:extLst>
              <a:ext uri="{FF2B5EF4-FFF2-40B4-BE49-F238E27FC236}">
                <a16:creationId xmlns:a16="http://schemas.microsoft.com/office/drawing/2014/main" id="{1E37A8F3-BFB1-F170-7E13-7CD6E0E8C45A}"/>
              </a:ext>
            </a:extLst>
          </p:cNvPr>
          <p:cNvSpPr/>
          <p:nvPr/>
        </p:nvSpPr>
        <p:spPr>
          <a:xfrm>
            <a:off x="11090430" y="703376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右彎箭號 16">
            <a:extLst>
              <a:ext uri="{FF2B5EF4-FFF2-40B4-BE49-F238E27FC236}">
                <a16:creationId xmlns:a16="http://schemas.microsoft.com/office/drawing/2014/main" id="{CFA0D467-C70B-972A-9A27-983133BBF9A7}"/>
              </a:ext>
            </a:extLst>
          </p:cNvPr>
          <p:cNvSpPr/>
          <p:nvPr/>
        </p:nvSpPr>
        <p:spPr>
          <a:xfrm rot="10800000">
            <a:off x="9607814" y="8630103"/>
            <a:ext cx="2068286" cy="112761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37" name="文字方塊 20">
            <a:extLst>
              <a:ext uri="{FF2B5EF4-FFF2-40B4-BE49-F238E27FC236}">
                <a16:creationId xmlns:a16="http://schemas.microsoft.com/office/drawing/2014/main" id="{5C5711FB-128E-7C34-B676-371400CC3AB6}"/>
              </a:ext>
            </a:extLst>
          </p:cNvPr>
          <p:cNvSpPr txBox="1"/>
          <p:nvPr/>
        </p:nvSpPr>
        <p:spPr>
          <a:xfrm>
            <a:off x="13667292" y="5122137"/>
            <a:ext cx="253593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Can repeat many times</a:t>
            </a:r>
            <a:endParaRPr lang="zh-TW" altLang="en-US" sz="3600" dirty="0"/>
          </a:p>
        </p:txBody>
      </p:sp>
      <p:sp>
        <p:nvSpPr>
          <p:cNvPr id="38" name="左大括弧 22">
            <a:extLst>
              <a:ext uri="{FF2B5EF4-FFF2-40B4-BE49-F238E27FC236}">
                <a16:creationId xmlns:a16="http://schemas.microsoft.com/office/drawing/2014/main" id="{D4368688-BA49-E26F-2533-BB020E04BF6F}"/>
              </a:ext>
            </a:extLst>
          </p:cNvPr>
          <p:cNvSpPr/>
          <p:nvPr/>
        </p:nvSpPr>
        <p:spPr>
          <a:xfrm flipH="1">
            <a:off x="13069214" y="2709812"/>
            <a:ext cx="501651" cy="6071150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202AEC2-04A0-4A18-C30B-AC44D98F7E41}"/>
              </a:ext>
            </a:extLst>
          </p:cNvPr>
          <p:cNvSpPr/>
          <p:nvPr/>
        </p:nvSpPr>
        <p:spPr>
          <a:xfrm>
            <a:off x="10001131" y="6171509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2958F62-C316-F520-5BD0-8FDA11441000}"/>
              </a:ext>
            </a:extLst>
          </p:cNvPr>
          <p:cNvSpPr/>
          <p:nvPr/>
        </p:nvSpPr>
        <p:spPr>
          <a:xfrm>
            <a:off x="10001131" y="7741459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A2A8E56-D96A-A590-8DB8-180A0682122B}"/>
              </a:ext>
            </a:extLst>
          </p:cNvPr>
          <p:cNvSpPr/>
          <p:nvPr/>
        </p:nvSpPr>
        <p:spPr>
          <a:xfrm>
            <a:off x="2944437" y="6874315"/>
            <a:ext cx="624890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3200" dirty="0"/>
              <a:t>Subsampling</a:t>
            </a:r>
            <a:r>
              <a:rPr lang="zh-TW" altLang="en-US" sz="3200" dirty="0"/>
              <a:t> </a:t>
            </a:r>
            <a:r>
              <a:rPr lang="en-US" altLang="zh-TW" sz="3200" dirty="0"/>
              <a:t>the pixels will not change the object</a:t>
            </a:r>
            <a:endParaRPr lang="zh-TW" alt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409FF4-F2EE-172C-C87C-45CA6BA3478A}"/>
              </a:ext>
            </a:extLst>
          </p:cNvPr>
          <p:cNvSpPr txBox="1"/>
          <p:nvPr/>
        </p:nvSpPr>
        <p:spPr>
          <a:xfrm>
            <a:off x="904971" y="2052901"/>
            <a:ext cx="143001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err="1"/>
              <a:t>第一个特性是</a:t>
            </a:r>
            <a:r>
              <a:rPr lang="en-US" sz="1400" dirty="0"/>
              <a:t> </a:t>
            </a:r>
            <a:r>
              <a:rPr lang="en-US" sz="1400" dirty="0" err="1"/>
              <a:t>某些图案比整幅图像小得多</a:t>
            </a:r>
            <a:r>
              <a:rPr lang="en-US" sz="1400" dirty="0"/>
              <a:t>。 </a:t>
            </a:r>
            <a:r>
              <a:rPr lang="en-US" sz="1400" dirty="0" err="1"/>
              <a:t>第二个特性是</a:t>
            </a:r>
            <a:r>
              <a:rPr lang="en-US" sz="1400" dirty="0"/>
              <a:t> </a:t>
            </a:r>
            <a:r>
              <a:rPr lang="en-US" sz="1400" dirty="0" err="1"/>
              <a:t>相同的图案出现在不同的区域</a:t>
            </a:r>
            <a:r>
              <a:rPr lang="en-US" sz="1400" dirty="0"/>
              <a:t>， </a:t>
            </a:r>
            <a:r>
              <a:rPr lang="en-US" sz="1400" dirty="0" err="1"/>
              <a:t>这也是通过卷积层实现的</a:t>
            </a:r>
            <a:r>
              <a:rPr lang="en-US" sz="1400" dirty="0"/>
              <a:t>。 </a:t>
            </a:r>
            <a:r>
              <a:rPr lang="en-US" sz="1400" dirty="0" err="1"/>
              <a:t>第三个特性是像素下采样</a:t>
            </a:r>
            <a:r>
              <a:rPr lang="en-US" sz="1400" dirty="0"/>
              <a:t> </a:t>
            </a:r>
            <a:r>
              <a:rPr lang="en-US" sz="1400" dirty="0" err="1"/>
              <a:t>不会改变对象本身</a:t>
            </a:r>
            <a:r>
              <a:rPr lang="en-US" sz="1400" dirty="0"/>
              <a:t>， </a:t>
            </a:r>
            <a:r>
              <a:rPr lang="en-US" sz="1400" dirty="0" err="1"/>
              <a:t>这些特性是通过池化层实现的</a:t>
            </a:r>
            <a:r>
              <a:rPr lang="en-US" sz="1400" dirty="0"/>
              <a:t>。 </a:t>
            </a:r>
            <a:r>
              <a:rPr lang="en-US" sz="1400" dirty="0" err="1"/>
              <a:t>前两个特性是</a:t>
            </a:r>
            <a:r>
              <a:rPr lang="en-US" sz="1400" dirty="0"/>
              <a:t> </a:t>
            </a:r>
            <a:r>
              <a:rPr lang="en-US" sz="1400" dirty="0" err="1"/>
              <a:t>卷积层实现的，第三个特性是最大池化层实现的</a:t>
            </a:r>
            <a:r>
              <a:rPr lang="en-US" sz="1400" dirty="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3" grpId="0"/>
      <p:bldP spid="7" grpId="0"/>
      <p:bldP spid="8" grpId="0" animBg="1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1591734"/>
            <a:ext cx="15667355" cy="2587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CNN - Convolution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1D56-D460-07A5-C44D-55B358C5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1948FB-8E4C-EEB4-8CBD-2C11983FB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49" y="161365"/>
            <a:ext cx="8902581" cy="1551434"/>
          </a:xfrm>
        </p:spPr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6D002DA-055A-1B91-A728-5F237FE548FF}"/>
              </a:ext>
            </a:extLst>
          </p:cNvPr>
          <p:cNvGrpSpPr/>
          <p:nvPr/>
        </p:nvGrpSpPr>
        <p:grpSpPr>
          <a:xfrm>
            <a:off x="3410555" y="3411522"/>
            <a:ext cx="4359852" cy="4802216"/>
            <a:chOff x="-1626455" y="3999118"/>
            <a:chExt cx="2906568" cy="320147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2DDA210-2F16-BD7A-4552-44A41B706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D8E5D00-EB92-DFEC-26F8-27013EE636ED}"/>
                </a:ext>
              </a:extLst>
            </p:cNvPr>
            <p:cNvSpPr txBox="1"/>
            <p:nvPr/>
          </p:nvSpPr>
          <p:spPr>
            <a:xfrm>
              <a:off x="-1626455" y="5442856"/>
              <a:ext cx="2906568" cy="11688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rgbClr val="FCFCFC"/>
                  </a:solidFill>
                </a:rPr>
                <a:t>Fully Connected Feedforward network</a:t>
              </a:r>
              <a:endParaRPr lang="zh-TW" altLang="en-US" sz="3600" dirty="0">
                <a:solidFill>
                  <a:srgbClr val="FCFCFC"/>
                </a:solidFill>
              </a:endParaRPr>
            </a:p>
          </p:txBody>
        </p:sp>
      </p:grpSp>
      <p:pic>
        <p:nvPicPr>
          <p:cNvPr id="12290" name="Picture 2" descr="http://s.hswstatic.com/gif/whiskers-sam.jpg">
            <a:extLst>
              <a:ext uri="{FF2B5EF4-FFF2-40B4-BE49-F238E27FC236}">
                <a16:creationId xmlns:a16="http://schemas.microsoft.com/office/drawing/2014/main" id="{C7ED4E72-7BA0-942D-7557-93FEDD6FA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463" y="287294"/>
            <a:ext cx="2656508" cy="18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5DC20CE-D9F9-2164-7B94-CB5AD1B0884E}"/>
              </a:ext>
            </a:extLst>
          </p:cNvPr>
          <p:cNvSpPr txBox="1"/>
          <p:nvPr/>
        </p:nvSpPr>
        <p:spPr>
          <a:xfrm>
            <a:off x="4202183" y="2558954"/>
            <a:ext cx="3070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cat dog ……</a:t>
            </a:r>
            <a:endParaRPr lang="zh-TW" altLang="en-US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E14F95-90E3-69D8-3A99-7A2DD811AF52}"/>
              </a:ext>
            </a:extLst>
          </p:cNvPr>
          <p:cNvSpPr/>
          <p:nvPr/>
        </p:nvSpPr>
        <p:spPr>
          <a:xfrm>
            <a:off x="10001131" y="2894258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42F6B3-EE2C-E2DF-EFF2-E4C426F8B453}"/>
              </a:ext>
            </a:extLst>
          </p:cNvPr>
          <p:cNvSpPr/>
          <p:nvPr/>
        </p:nvSpPr>
        <p:spPr>
          <a:xfrm>
            <a:off x="10001131" y="4573102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49EA9AD-3BC0-08EC-39EB-D458DFEA115A}"/>
              </a:ext>
            </a:extLst>
          </p:cNvPr>
          <p:cNvSpPr txBox="1"/>
          <p:nvPr/>
        </p:nvSpPr>
        <p:spPr>
          <a:xfrm>
            <a:off x="7272327" y="9083499"/>
            <a:ext cx="2335487" cy="645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Flatten</a:t>
            </a:r>
            <a:endParaRPr lang="zh-TW" altLang="en-US" sz="3600" dirty="0"/>
          </a:p>
        </p:txBody>
      </p:sp>
      <p:sp>
        <p:nvSpPr>
          <p:cNvPr id="12" name="向下箭號 11">
            <a:extLst>
              <a:ext uri="{FF2B5EF4-FFF2-40B4-BE49-F238E27FC236}">
                <a16:creationId xmlns:a16="http://schemas.microsoft.com/office/drawing/2014/main" id="{34E48F76-F5F4-9E03-9D0D-43CE7FBD903B}"/>
              </a:ext>
            </a:extLst>
          </p:cNvPr>
          <p:cNvSpPr/>
          <p:nvPr/>
        </p:nvSpPr>
        <p:spPr>
          <a:xfrm>
            <a:off x="11090430" y="217764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下箭號 17">
            <a:extLst>
              <a:ext uri="{FF2B5EF4-FFF2-40B4-BE49-F238E27FC236}">
                <a16:creationId xmlns:a16="http://schemas.microsoft.com/office/drawing/2014/main" id="{A5A88C50-E42C-E62E-50F6-0AD999B9BCCE}"/>
              </a:ext>
            </a:extLst>
          </p:cNvPr>
          <p:cNvSpPr/>
          <p:nvPr/>
        </p:nvSpPr>
        <p:spPr>
          <a:xfrm>
            <a:off x="11090430" y="3843813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下箭號 18">
            <a:extLst>
              <a:ext uri="{FF2B5EF4-FFF2-40B4-BE49-F238E27FC236}">
                <a16:creationId xmlns:a16="http://schemas.microsoft.com/office/drawing/2014/main" id="{9560F8E1-94FA-798A-64F7-662FAB28C280}"/>
              </a:ext>
            </a:extLst>
          </p:cNvPr>
          <p:cNvSpPr/>
          <p:nvPr/>
        </p:nvSpPr>
        <p:spPr>
          <a:xfrm>
            <a:off x="11090430" y="5481278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向下箭號 19">
            <a:extLst>
              <a:ext uri="{FF2B5EF4-FFF2-40B4-BE49-F238E27FC236}">
                <a16:creationId xmlns:a16="http://schemas.microsoft.com/office/drawing/2014/main" id="{1514B1EA-9F72-FCA7-6B99-117658EBF1ED}"/>
              </a:ext>
            </a:extLst>
          </p:cNvPr>
          <p:cNvSpPr/>
          <p:nvPr/>
        </p:nvSpPr>
        <p:spPr>
          <a:xfrm>
            <a:off x="11090430" y="703376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右彎箭號 16">
            <a:extLst>
              <a:ext uri="{FF2B5EF4-FFF2-40B4-BE49-F238E27FC236}">
                <a16:creationId xmlns:a16="http://schemas.microsoft.com/office/drawing/2014/main" id="{A1E29505-A6F5-C9D0-64E6-6AFFF4E0F46E}"/>
              </a:ext>
            </a:extLst>
          </p:cNvPr>
          <p:cNvSpPr/>
          <p:nvPr/>
        </p:nvSpPr>
        <p:spPr>
          <a:xfrm rot="10800000">
            <a:off x="9607814" y="8630103"/>
            <a:ext cx="2068286" cy="112761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2" name="右彎箭號 21">
            <a:extLst>
              <a:ext uri="{FF2B5EF4-FFF2-40B4-BE49-F238E27FC236}">
                <a16:creationId xmlns:a16="http://schemas.microsoft.com/office/drawing/2014/main" id="{CF8AD685-1307-C562-5496-634D4623F540}"/>
              </a:ext>
            </a:extLst>
          </p:cNvPr>
          <p:cNvSpPr/>
          <p:nvPr/>
        </p:nvSpPr>
        <p:spPr>
          <a:xfrm rot="16200000">
            <a:off x="5517321" y="8011368"/>
            <a:ext cx="1452635" cy="1857378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3B6B14A-A757-228A-1A1C-EFFFC42CCCB2}"/>
              </a:ext>
            </a:extLst>
          </p:cNvPr>
          <p:cNvSpPr txBox="1"/>
          <p:nvPr/>
        </p:nvSpPr>
        <p:spPr>
          <a:xfrm>
            <a:off x="13667292" y="5122137"/>
            <a:ext cx="253593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Can repeat many times</a:t>
            </a:r>
            <a:endParaRPr lang="zh-TW" altLang="en-US" sz="3600" dirty="0"/>
          </a:p>
        </p:txBody>
      </p:sp>
      <p:sp>
        <p:nvSpPr>
          <p:cNvPr id="23" name="左大括弧 22">
            <a:extLst>
              <a:ext uri="{FF2B5EF4-FFF2-40B4-BE49-F238E27FC236}">
                <a16:creationId xmlns:a16="http://schemas.microsoft.com/office/drawing/2014/main" id="{CB056B17-1494-13A2-3271-52CB485340A9}"/>
              </a:ext>
            </a:extLst>
          </p:cNvPr>
          <p:cNvSpPr/>
          <p:nvPr/>
        </p:nvSpPr>
        <p:spPr>
          <a:xfrm flipH="1">
            <a:off x="13069214" y="2709812"/>
            <a:ext cx="501651" cy="6071150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509345-815E-A801-8DA8-775669EF58E6}"/>
              </a:ext>
            </a:extLst>
          </p:cNvPr>
          <p:cNvSpPr/>
          <p:nvPr/>
        </p:nvSpPr>
        <p:spPr>
          <a:xfrm>
            <a:off x="10001131" y="6171509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131602-C2B7-2300-6419-A90FC097F896}"/>
              </a:ext>
            </a:extLst>
          </p:cNvPr>
          <p:cNvSpPr/>
          <p:nvPr/>
        </p:nvSpPr>
        <p:spPr>
          <a:xfrm>
            <a:off x="10001131" y="7741459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6D0284-59FE-8E24-A08F-1FF98FDCE0AA}"/>
              </a:ext>
            </a:extLst>
          </p:cNvPr>
          <p:cNvSpPr/>
          <p:nvPr/>
        </p:nvSpPr>
        <p:spPr>
          <a:xfrm>
            <a:off x="9928117" y="2867871"/>
            <a:ext cx="3141097" cy="9093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3B0847-250D-0DDD-D804-864B7AC44D73}"/>
              </a:ext>
            </a:extLst>
          </p:cNvPr>
          <p:cNvSpPr/>
          <p:nvPr/>
        </p:nvSpPr>
        <p:spPr>
          <a:xfrm>
            <a:off x="9928117" y="6143984"/>
            <a:ext cx="3141097" cy="8897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  <p:extLst>
      <p:ext uri="{BB962C8B-B14F-4D97-AF65-F5344CB8AC3E}">
        <p14:creationId xmlns:p14="http://schemas.microsoft.com/office/powerpoint/2010/main" val="407536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763667" y="3598593"/>
          <a:ext cx="431292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158875" y="8083455"/>
            <a:ext cx="35205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 x 6 image</a:t>
            </a:r>
            <a:endParaRPr lang="zh-TW" altLang="en-US" sz="3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175930" y="3103293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2473171" y="3631860"/>
            <a:ext cx="217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1</a:t>
            </a:r>
            <a:endParaRPr lang="zh-TW" altLang="en-US" sz="36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0175930" y="5540400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2473171" y="6049311"/>
            <a:ext cx="217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2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 rot="5400000">
            <a:off x="11031101" y="7852262"/>
            <a:ext cx="1062561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……</a:t>
            </a:r>
            <a:endParaRPr lang="zh-TW" altLang="en-US" sz="4200" b="1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0107295" y="1808480"/>
            <a:ext cx="61264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Those are the network parameters to be learned.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2789056" y="4319336"/>
            <a:ext cx="15404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Matrix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2789056" y="6674454"/>
            <a:ext cx="15404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Matrix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0106994" y="8775953"/>
            <a:ext cx="533303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Each filter detects a small pattern (3 x 3). </a:t>
            </a:r>
            <a:endParaRPr lang="zh-TW" altLang="en-US" sz="3600" dirty="0"/>
          </a:p>
        </p:txBody>
      </p:sp>
      <p:sp>
        <p:nvSpPr>
          <p:cNvPr id="14" name="矩形 13"/>
          <p:cNvSpPr/>
          <p:nvPr/>
        </p:nvSpPr>
        <p:spPr>
          <a:xfrm>
            <a:off x="7762759" y="9020090"/>
            <a:ext cx="2372531" cy="75821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Property 1</a:t>
            </a:r>
          </a:p>
        </p:txBody>
      </p:sp>
      <p:sp>
        <p:nvSpPr>
          <p:cNvPr id="16" name="標題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98550" y="161290"/>
            <a:ext cx="9797415" cy="1551305"/>
          </a:xfrm>
        </p:spPr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1" grpId="0"/>
      <p:bldP spid="3" grpId="0"/>
      <p:bldP spid="12" grpId="0"/>
      <p:bldP spid="13" grpId="0"/>
      <p:bldP spid="1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8550" y="161290"/>
            <a:ext cx="9797415" cy="1551305"/>
          </a:xfrm>
        </p:spPr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763667" y="3598593"/>
          <a:ext cx="431292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158875" y="8083455"/>
            <a:ext cx="35205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 x 6 image</a:t>
            </a:r>
            <a:endParaRPr lang="zh-TW" altLang="en-US" sz="3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631838" y="717608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3065069" y="1400058"/>
            <a:ext cx="217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1</a:t>
            </a:r>
            <a:endParaRPr lang="zh-TW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3763667" y="3598593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橢圓 11"/>
          <p:cNvSpPr/>
          <p:nvPr/>
        </p:nvSpPr>
        <p:spPr>
          <a:xfrm>
            <a:off x="9369093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3" name="橢圓 12"/>
          <p:cNvSpPr/>
          <p:nvPr/>
        </p:nvSpPr>
        <p:spPr>
          <a:xfrm>
            <a:off x="10631837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28" name="矩形 27"/>
          <p:cNvSpPr/>
          <p:nvPr/>
        </p:nvSpPr>
        <p:spPr>
          <a:xfrm>
            <a:off x="4513071" y="3598593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4" name="矩形 33"/>
          <p:cNvSpPr/>
          <p:nvPr/>
        </p:nvSpPr>
        <p:spPr>
          <a:xfrm>
            <a:off x="4037046" y="2598801"/>
            <a:ext cx="18211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s</a:t>
            </a:r>
            <a:r>
              <a:rPr lang="zh-TW" altLang="en-US" sz="3600" dirty="0"/>
              <a:t>tride</a:t>
            </a:r>
            <a:r>
              <a:rPr lang="en-US" altLang="zh-TW" sz="3600" dirty="0"/>
              <a:t>=1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bldLvl="0" animBg="1"/>
      <p:bldP spid="12" grpId="0" bldLvl="0" animBg="1"/>
      <p:bldP spid="13" grpId="0" bldLvl="0" animBg="1"/>
      <p:bldP spid="28" grpId="0" bldLvl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763667" y="3598593"/>
          <a:ext cx="431292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158875" y="8083455"/>
            <a:ext cx="35205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 x 6 image</a:t>
            </a:r>
            <a:endParaRPr lang="zh-TW" altLang="en-US" sz="3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631838" y="717608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3065069" y="1400058"/>
            <a:ext cx="217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1</a:t>
            </a:r>
            <a:endParaRPr lang="zh-TW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3763667" y="3598593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橢圓 11"/>
          <p:cNvSpPr/>
          <p:nvPr/>
        </p:nvSpPr>
        <p:spPr>
          <a:xfrm>
            <a:off x="9369093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3" name="橢圓 12"/>
          <p:cNvSpPr/>
          <p:nvPr/>
        </p:nvSpPr>
        <p:spPr>
          <a:xfrm>
            <a:off x="10631837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28" name="矩形 27"/>
          <p:cNvSpPr/>
          <p:nvPr/>
        </p:nvSpPr>
        <p:spPr>
          <a:xfrm>
            <a:off x="5230523" y="3598593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4" name="矩形 33"/>
          <p:cNvSpPr/>
          <p:nvPr/>
        </p:nvSpPr>
        <p:spPr>
          <a:xfrm>
            <a:off x="4037046" y="2598801"/>
            <a:ext cx="22021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If s</a:t>
            </a:r>
            <a:r>
              <a:rPr lang="zh-TW" altLang="en-US" sz="3600" dirty="0"/>
              <a:t>tride</a:t>
            </a:r>
            <a:r>
              <a:rPr lang="en-US" altLang="zh-TW" sz="3600" dirty="0"/>
              <a:t>=2</a:t>
            </a:r>
            <a:endParaRPr lang="zh-TW" altLang="en-US" sz="3600" dirty="0"/>
          </a:p>
        </p:txBody>
      </p:sp>
      <p:sp>
        <p:nvSpPr>
          <p:cNvPr id="14" name="矩形 13"/>
          <p:cNvSpPr/>
          <p:nvPr/>
        </p:nvSpPr>
        <p:spPr>
          <a:xfrm>
            <a:off x="10090367" y="6722477"/>
            <a:ext cx="468249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We set s</a:t>
            </a:r>
            <a:r>
              <a:rPr lang="zh-TW" altLang="en-US" sz="3600" dirty="0"/>
              <a:t>tride</a:t>
            </a:r>
            <a:r>
              <a:rPr lang="en-US" altLang="zh-TW" sz="3600" dirty="0"/>
              <a:t>=1 below</a:t>
            </a:r>
            <a:endParaRPr lang="zh-TW" altLang="en-US" sz="3600" dirty="0"/>
          </a:p>
        </p:txBody>
      </p:sp>
      <p:sp>
        <p:nvSpPr>
          <p:cNvPr id="9" name="標題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98550" y="161290"/>
            <a:ext cx="9797415" cy="15513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bldLvl="0" animBg="1"/>
      <p:bldP spid="12" grpId="0" bldLvl="0" animBg="1"/>
      <p:bldP spid="13" grpId="0" bldLvl="0" animBg="1"/>
      <p:bldP spid="28" grpId="0" bldLvl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763667" y="3598593"/>
          <a:ext cx="431292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158875" y="8083455"/>
            <a:ext cx="35205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 x 6 image</a:t>
            </a:r>
            <a:endParaRPr lang="zh-TW" altLang="en-US" sz="3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631838" y="717608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3065069" y="1400058"/>
            <a:ext cx="217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1</a:t>
            </a:r>
            <a:endParaRPr lang="zh-TW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3763667" y="3598593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橢圓 11"/>
          <p:cNvSpPr/>
          <p:nvPr/>
        </p:nvSpPr>
        <p:spPr>
          <a:xfrm>
            <a:off x="9369093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3" name="橢圓 12"/>
          <p:cNvSpPr/>
          <p:nvPr/>
        </p:nvSpPr>
        <p:spPr>
          <a:xfrm>
            <a:off x="10631837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" name="橢圓 13"/>
          <p:cNvSpPr/>
          <p:nvPr/>
        </p:nvSpPr>
        <p:spPr>
          <a:xfrm>
            <a:off x="11894580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15" name="橢圓 14"/>
          <p:cNvSpPr/>
          <p:nvPr/>
        </p:nvSpPr>
        <p:spPr>
          <a:xfrm>
            <a:off x="13157324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6" name="橢圓 15"/>
          <p:cNvSpPr/>
          <p:nvPr/>
        </p:nvSpPr>
        <p:spPr>
          <a:xfrm>
            <a:off x="9369093" y="538212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17" name="橢圓 16"/>
          <p:cNvSpPr/>
          <p:nvPr/>
        </p:nvSpPr>
        <p:spPr>
          <a:xfrm>
            <a:off x="10631837" y="538212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8" name="橢圓 17"/>
          <p:cNvSpPr/>
          <p:nvPr/>
        </p:nvSpPr>
        <p:spPr>
          <a:xfrm>
            <a:off x="11894580" y="538212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19" name="橢圓 18"/>
          <p:cNvSpPr/>
          <p:nvPr/>
        </p:nvSpPr>
        <p:spPr>
          <a:xfrm>
            <a:off x="13157324" y="538212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20" name="橢圓 19"/>
          <p:cNvSpPr/>
          <p:nvPr/>
        </p:nvSpPr>
        <p:spPr>
          <a:xfrm>
            <a:off x="9369093" y="666878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21" name="橢圓 20"/>
          <p:cNvSpPr/>
          <p:nvPr/>
        </p:nvSpPr>
        <p:spPr>
          <a:xfrm>
            <a:off x="10631837" y="666878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22" name="橢圓 21"/>
          <p:cNvSpPr/>
          <p:nvPr/>
        </p:nvSpPr>
        <p:spPr>
          <a:xfrm>
            <a:off x="11894580" y="666878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3" name="橢圓 22"/>
          <p:cNvSpPr/>
          <p:nvPr/>
        </p:nvSpPr>
        <p:spPr>
          <a:xfrm>
            <a:off x="13157324" y="666878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24" name="橢圓 23"/>
          <p:cNvSpPr/>
          <p:nvPr/>
        </p:nvSpPr>
        <p:spPr>
          <a:xfrm>
            <a:off x="9384054" y="788970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25" name="橢圓 24"/>
          <p:cNvSpPr/>
          <p:nvPr/>
        </p:nvSpPr>
        <p:spPr>
          <a:xfrm>
            <a:off x="10631837" y="786893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26" name="橢圓 25"/>
          <p:cNvSpPr/>
          <p:nvPr/>
        </p:nvSpPr>
        <p:spPr>
          <a:xfrm>
            <a:off x="11894580" y="786893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27" name="橢圓 26"/>
          <p:cNvSpPr/>
          <p:nvPr/>
        </p:nvSpPr>
        <p:spPr>
          <a:xfrm>
            <a:off x="13157324" y="786893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28" name="矩形 27"/>
          <p:cNvSpPr/>
          <p:nvPr/>
        </p:nvSpPr>
        <p:spPr>
          <a:xfrm>
            <a:off x="4513071" y="3598593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矩形 28"/>
          <p:cNvSpPr/>
          <p:nvPr/>
        </p:nvSpPr>
        <p:spPr>
          <a:xfrm>
            <a:off x="5182236" y="3603309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矩形 29"/>
          <p:cNvSpPr/>
          <p:nvPr/>
        </p:nvSpPr>
        <p:spPr>
          <a:xfrm>
            <a:off x="5935430" y="3608025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矩形 30"/>
          <p:cNvSpPr/>
          <p:nvPr/>
        </p:nvSpPr>
        <p:spPr>
          <a:xfrm>
            <a:off x="3763667" y="4215359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4" name="矩形 33"/>
          <p:cNvSpPr/>
          <p:nvPr/>
        </p:nvSpPr>
        <p:spPr>
          <a:xfrm>
            <a:off x="4037046" y="2598801"/>
            <a:ext cx="18211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s</a:t>
            </a:r>
            <a:r>
              <a:rPr lang="zh-TW" altLang="en-US" sz="3600" dirty="0"/>
              <a:t>tride</a:t>
            </a:r>
            <a:r>
              <a:rPr lang="en-US" altLang="zh-TW" sz="3600" dirty="0"/>
              <a:t>=1</a:t>
            </a:r>
            <a:endParaRPr lang="zh-TW" altLang="en-US" sz="3600" dirty="0"/>
          </a:p>
        </p:txBody>
      </p:sp>
      <p:sp>
        <p:nvSpPr>
          <p:cNvPr id="32" name="矩形 31"/>
          <p:cNvSpPr/>
          <p:nvPr/>
        </p:nvSpPr>
        <p:spPr>
          <a:xfrm>
            <a:off x="5935430" y="5651277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10631835" y="717608"/>
            <a:ext cx="786734" cy="682451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矩形 35"/>
          <p:cNvSpPr/>
          <p:nvPr/>
        </p:nvSpPr>
        <p:spPr>
          <a:xfrm>
            <a:off x="11466803" y="1405080"/>
            <a:ext cx="786734" cy="682451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7" name="矩形 36"/>
          <p:cNvSpPr/>
          <p:nvPr/>
        </p:nvSpPr>
        <p:spPr>
          <a:xfrm>
            <a:off x="12253536" y="2108562"/>
            <a:ext cx="786734" cy="682451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0" name="直線接點 9"/>
          <p:cNvCxnSpPr/>
          <p:nvPr/>
        </p:nvCxnSpPr>
        <p:spPr>
          <a:xfrm>
            <a:off x="10631835" y="717608"/>
            <a:ext cx="2408435" cy="2073405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9355590" y="4178807"/>
            <a:ext cx="1093503" cy="1062398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9" name="矩形 38"/>
          <p:cNvSpPr/>
          <p:nvPr/>
        </p:nvSpPr>
        <p:spPr>
          <a:xfrm>
            <a:off x="9384054" y="7893878"/>
            <a:ext cx="1093503" cy="1062398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矩形 39"/>
          <p:cNvSpPr/>
          <p:nvPr/>
        </p:nvSpPr>
        <p:spPr>
          <a:xfrm>
            <a:off x="10685813" y="9069083"/>
            <a:ext cx="2372531" cy="75821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Property 2</a:t>
            </a:r>
          </a:p>
        </p:txBody>
      </p:sp>
      <p:cxnSp>
        <p:nvCxnSpPr>
          <p:cNvPr id="41" name="直線接點 40"/>
          <p:cNvCxnSpPr/>
          <p:nvPr/>
        </p:nvCxnSpPr>
        <p:spPr>
          <a:xfrm>
            <a:off x="3680096" y="3638679"/>
            <a:ext cx="2408435" cy="2073405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3606945" y="5642346"/>
            <a:ext cx="2408435" cy="2073405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98550" y="161290"/>
            <a:ext cx="9797415" cy="15513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8" grpId="1" bldLvl="0" animBg="1"/>
      <p:bldP spid="29" grpId="0" bldLvl="0" animBg="1"/>
      <p:bldP spid="29" grpId="1" bldLvl="0" animBg="1"/>
      <p:bldP spid="30" grpId="0" bldLvl="0" animBg="1"/>
      <p:bldP spid="30" grpId="1" bldLvl="0" animBg="1"/>
      <p:bldP spid="31" grpId="0" bldLvl="0" animBg="1"/>
      <p:bldP spid="31" grpId="1" bldLvl="0" animBg="1"/>
      <p:bldP spid="32" grpId="0" bldLvl="0" animBg="1"/>
      <p:bldP spid="32" grpId="1" bldLvl="0" animBg="1"/>
      <p:bldP spid="8" grpId="0" bldLvl="0" animBg="1"/>
      <p:bldP spid="36" grpId="0" bldLvl="0" animBg="1"/>
      <p:bldP spid="37" grpId="0" bldLvl="0" animBg="1"/>
      <p:bldP spid="38" grpId="0" bldLvl="0" animBg="1"/>
      <p:bldP spid="39" grpId="0" bldLvl="0" animBg="1"/>
      <p:bldP spid="4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763667" y="3598593"/>
          <a:ext cx="431292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158875" y="8083455"/>
            <a:ext cx="35205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 x 6 image</a:t>
            </a:r>
            <a:endParaRPr lang="zh-TW" altLang="en-US" sz="3600" dirty="0"/>
          </a:p>
        </p:txBody>
      </p:sp>
      <p:sp>
        <p:nvSpPr>
          <p:cNvPr id="12" name="橢圓 11"/>
          <p:cNvSpPr/>
          <p:nvPr/>
        </p:nvSpPr>
        <p:spPr>
          <a:xfrm>
            <a:off x="9369093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3" name="橢圓 12"/>
          <p:cNvSpPr/>
          <p:nvPr/>
        </p:nvSpPr>
        <p:spPr>
          <a:xfrm>
            <a:off x="10631837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" name="橢圓 13"/>
          <p:cNvSpPr/>
          <p:nvPr/>
        </p:nvSpPr>
        <p:spPr>
          <a:xfrm>
            <a:off x="11894580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15" name="橢圓 14"/>
          <p:cNvSpPr/>
          <p:nvPr/>
        </p:nvSpPr>
        <p:spPr>
          <a:xfrm>
            <a:off x="13157324" y="418197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6" name="橢圓 15"/>
          <p:cNvSpPr/>
          <p:nvPr/>
        </p:nvSpPr>
        <p:spPr>
          <a:xfrm>
            <a:off x="9369093" y="538212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17" name="橢圓 16"/>
          <p:cNvSpPr/>
          <p:nvPr/>
        </p:nvSpPr>
        <p:spPr>
          <a:xfrm>
            <a:off x="10631837" y="538212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8" name="橢圓 17"/>
          <p:cNvSpPr/>
          <p:nvPr/>
        </p:nvSpPr>
        <p:spPr>
          <a:xfrm>
            <a:off x="11894580" y="538212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19" name="橢圓 18"/>
          <p:cNvSpPr/>
          <p:nvPr/>
        </p:nvSpPr>
        <p:spPr>
          <a:xfrm>
            <a:off x="13157324" y="538212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20" name="橢圓 19"/>
          <p:cNvSpPr/>
          <p:nvPr/>
        </p:nvSpPr>
        <p:spPr>
          <a:xfrm>
            <a:off x="9369093" y="666878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21" name="橢圓 20"/>
          <p:cNvSpPr/>
          <p:nvPr/>
        </p:nvSpPr>
        <p:spPr>
          <a:xfrm>
            <a:off x="10631837" y="666878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22" name="橢圓 21"/>
          <p:cNvSpPr/>
          <p:nvPr/>
        </p:nvSpPr>
        <p:spPr>
          <a:xfrm>
            <a:off x="11894580" y="666878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3" name="橢圓 22"/>
          <p:cNvSpPr/>
          <p:nvPr/>
        </p:nvSpPr>
        <p:spPr>
          <a:xfrm>
            <a:off x="13157324" y="666878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24" name="橢圓 23"/>
          <p:cNvSpPr/>
          <p:nvPr/>
        </p:nvSpPr>
        <p:spPr>
          <a:xfrm>
            <a:off x="9369093" y="786893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25" name="橢圓 24"/>
          <p:cNvSpPr/>
          <p:nvPr/>
        </p:nvSpPr>
        <p:spPr>
          <a:xfrm>
            <a:off x="10631837" y="786893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26" name="橢圓 25"/>
          <p:cNvSpPr/>
          <p:nvPr/>
        </p:nvSpPr>
        <p:spPr>
          <a:xfrm>
            <a:off x="11894580" y="786893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27" name="橢圓 26"/>
          <p:cNvSpPr/>
          <p:nvPr/>
        </p:nvSpPr>
        <p:spPr>
          <a:xfrm>
            <a:off x="13157324" y="7868933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10816655" y="547689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13249885" y="1230140"/>
            <a:ext cx="217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2</a:t>
            </a:r>
            <a:endParaRPr lang="zh-TW" altLang="en-US" sz="3600" dirty="0"/>
          </a:p>
        </p:txBody>
      </p:sp>
      <p:sp>
        <p:nvSpPr>
          <p:cNvPr id="37" name="矩形 36"/>
          <p:cNvSpPr/>
          <p:nvPr/>
        </p:nvSpPr>
        <p:spPr>
          <a:xfrm>
            <a:off x="3763667" y="3598593"/>
            <a:ext cx="2125689" cy="2073786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矩形 37"/>
          <p:cNvSpPr/>
          <p:nvPr/>
        </p:nvSpPr>
        <p:spPr>
          <a:xfrm>
            <a:off x="4519227" y="3598593"/>
            <a:ext cx="2125689" cy="2073786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9" name="矩形 38"/>
          <p:cNvSpPr/>
          <p:nvPr/>
        </p:nvSpPr>
        <p:spPr>
          <a:xfrm>
            <a:off x="5182236" y="3601257"/>
            <a:ext cx="2125689" cy="2073786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矩形 39"/>
          <p:cNvSpPr/>
          <p:nvPr/>
        </p:nvSpPr>
        <p:spPr>
          <a:xfrm>
            <a:off x="5895890" y="3598593"/>
            <a:ext cx="2125689" cy="2073786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矩形 40"/>
          <p:cNvSpPr/>
          <p:nvPr/>
        </p:nvSpPr>
        <p:spPr>
          <a:xfrm>
            <a:off x="3763667" y="4215359"/>
            <a:ext cx="2125689" cy="2073786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橢圓 41"/>
          <p:cNvSpPr/>
          <p:nvPr/>
        </p:nvSpPr>
        <p:spPr>
          <a:xfrm>
            <a:off x="9644399" y="4494294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3" name="橢圓 42"/>
          <p:cNvSpPr/>
          <p:nvPr/>
        </p:nvSpPr>
        <p:spPr>
          <a:xfrm>
            <a:off x="10907142" y="4494294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4" name="橢圓 43"/>
          <p:cNvSpPr/>
          <p:nvPr/>
        </p:nvSpPr>
        <p:spPr>
          <a:xfrm>
            <a:off x="12169886" y="4494294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5" name="橢圓 44"/>
          <p:cNvSpPr/>
          <p:nvPr/>
        </p:nvSpPr>
        <p:spPr>
          <a:xfrm>
            <a:off x="13432629" y="4494294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6" name="橢圓 45"/>
          <p:cNvSpPr/>
          <p:nvPr/>
        </p:nvSpPr>
        <p:spPr>
          <a:xfrm>
            <a:off x="9644399" y="5694444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7" name="橢圓 46"/>
          <p:cNvSpPr/>
          <p:nvPr/>
        </p:nvSpPr>
        <p:spPr>
          <a:xfrm>
            <a:off x="10907142" y="5694444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8" name="橢圓 47"/>
          <p:cNvSpPr/>
          <p:nvPr/>
        </p:nvSpPr>
        <p:spPr>
          <a:xfrm>
            <a:off x="12169886" y="5694444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49" name="橢圓 48"/>
          <p:cNvSpPr/>
          <p:nvPr/>
        </p:nvSpPr>
        <p:spPr>
          <a:xfrm>
            <a:off x="13432629" y="5694444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0" name="橢圓 49"/>
          <p:cNvSpPr/>
          <p:nvPr/>
        </p:nvSpPr>
        <p:spPr>
          <a:xfrm>
            <a:off x="9644399" y="6981102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51" name="橢圓 50"/>
          <p:cNvSpPr/>
          <p:nvPr/>
        </p:nvSpPr>
        <p:spPr>
          <a:xfrm>
            <a:off x="10907142" y="6981102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52" name="橢圓 51"/>
          <p:cNvSpPr/>
          <p:nvPr/>
        </p:nvSpPr>
        <p:spPr>
          <a:xfrm>
            <a:off x="12169886" y="6981102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53" name="橢圓 52"/>
          <p:cNvSpPr/>
          <p:nvPr/>
        </p:nvSpPr>
        <p:spPr>
          <a:xfrm>
            <a:off x="13432629" y="6981102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4" name="橢圓 53"/>
          <p:cNvSpPr/>
          <p:nvPr/>
        </p:nvSpPr>
        <p:spPr>
          <a:xfrm>
            <a:off x="9644399" y="8181252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55" name="橢圓 54"/>
          <p:cNvSpPr/>
          <p:nvPr/>
        </p:nvSpPr>
        <p:spPr>
          <a:xfrm>
            <a:off x="10907142" y="8181252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6" name="橢圓 55"/>
          <p:cNvSpPr/>
          <p:nvPr/>
        </p:nvSpPr>
        <p:spPr>
          <a:xfrm>
            <a:off x="12169886" y="8181252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-4</a:t>
            </a:r>
            <a:endParaRPr lang="zh-TW" altLang="en-US" sz="3600" dirty="0"/>
          </a:p>
        </p:txBody>
      </p:sp>
      <p:sp>
        <p:nvSpPr>
          <p:cNvPr id="57" name="橢圓 56"/>
          <p:cNvSpPr/>
          <p:nvPr/>
        </p:nvSpPr>
        <p:spPr>
          <a:xfrm>
            <a:off x="13432629" y="8181252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9144000" y="2684078"/>
            <a:ext cx="5689932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0000FF"/>
                </a:solidFill>
              </a:rPr>
              <a:t>Do the same process for every filter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909114" y="5674997"/>
            <a:ext cx="2125689" cy="2073786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9" name="矩形 58"/>
          <p:cNvSpPr/>
          <p:nvPr/>
        </p:nvSpPr>
        <p:spPr>
          <a:xfrm>
            <a:off x="4037046" y="2598801"/>
            <a:ext cx="18211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s</a:t>
            </a:r>
            <a:r>
              <a:rPr lang="zh-TW" altLang="en-US" sz="3600" dirty="0"/>
              <a:t>tride</a:t>
            </a:r>
            <a:r>
              <a:rPr lang="en-US" altLang="zh-TW" sz="3600" dirty="0"/>
              <a:t>=1</a:t>
            </a:r>
            <a:endParaRPr lang="zh-TW" altLang="en-US" sz="36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409616" y="9261252"/>
            <a:ext cx="35205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4 x 4 image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9699" y="6079026"/>
            <a:ext cx="3481061" cy="145869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Feature</a:t>
            </a:r>
          </a:p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Map</a:t>
            </a:r>
          </a:p>
        </p:txBody>
      </p:sp>
      <p:sp>
        <p:nvSpPr>
          <p:cNvPr id="8" name="標題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98550" y="161290"/>
            <a:ext cx="9797415" cy="15513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7" grpId="1" bldLvl="0" animBg="1"/>
      <p:bldP spid="38" grpId="0" bldLvl="0" animBg="1"/>
      <p:bldP spid="38" grpId="1" bldLvl="0" animBg="1"/>
      <p:bldP spid="39" grpId="0" bldLvl="0" animBg="1"/>
      <p:bldP spid="39" grpId="1" bldLvl="0" animBg="1"/>
      <p:bldP spid="40" grpId="0" bldLvl="0" animBg="1"/>
      <p:bldP spid="40" grpId="1" bldLvl="0" animBg="1"/>
      <p:bldP spid="41" grpId="0" bldLvl="0" animBg="1"/>
      <p:bldP spid="41" grpId="1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7" grpId="0" bldLvl="0" animBg="1"/>
      <p:bldP spid="3" grpId="0"/>
      <p:bldP spid="58" grpId="0" bldLvl="0" animBg="1"/>
      <p:bldP spid="60" grpId="0"/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Colorful image</a:t>
            </a:r>
            <a:endParaRPr lang="zh-TW" altLang="en-US" dirty="0"/>
          </a:p>
        </p:txBody>
      </p:sp>
      <p:graphicFrame>
        <p:nvGraphicFramePr>
          <p:cNvPr id="6" name="內容版面配置區 3"/>
          <p:cNvGraphicFramePr/>
          <p:nvPr/>
        </p:nvGraphicFramePr>
        <p:xfrm>
          <a:off x="9592800" y="5143500"/>
          <a:ext cx="3988008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內容版面配置區 3"/>
          <p:cNvGraphicFramePr/>
          <p:nvPr/>
        </p:nvGraphicFramePr>
        <p:xfrm>
          <a:off x="9838297" y="5450794"/>
          <a:ext cx="3988008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3"/>
          <p:cNvGraphicFramePr/>
          <p:nvPr/>
        </p:nvGraphicFramePr>
        <p:xfrm>
          <a:off x="10148664" y="5754718"/>
          <a:ext cx="3985654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6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737105" y="2422155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9300053" y="3512801"/>
            <a:ext cx="217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1</a:t>
            </a:r>
            <a:endParaRPr lang="zh-TW" altLang="en-US" sz="36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1243637" y="2359020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13807383" y="3451754"/>
            <a:ext cx="217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2</a:t>
            </a:r>
            <a:endParaRPr lang="zh-TW" altLang="en-US" sz="36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965705" y="2650755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194305" y="2823492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1473035" y="2563104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1701635" y="2791704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8729682" y="6570626"/>
            <a:ext cx="762783" cy="13008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8" name="群組 17"/>
          <p:cNvGrpSpPr/>
          <p:nvPr/>
        </p:nvGrpSpPr>
        <p:grpSpPr>
          <a:xfrm>
            <a:off x="2997295" y="5053629"/>
            <a:ext cx="5486890" cy="4401951"/>
            <a:chOff x="353684" y="3059766"/>
            <a:chExt cx="3927508" cy="3629534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122" y="3442427"/>
              <a:ext cx="3907070" cy="3246873"/>
            </a:xfrm>
            <a:prstGeom prst="rect">
              <a:avLst/>
            </a:prstGeom>
          </p:spPr>
        </p:pic>
        <p:sp>
          <p:nvSpPr>
            <p:cNvPr id="17" name="文字方塊 16"/>
            <p:cNvSpPr txBox="1"/>
            <p:nvPr/>
          </p:nvSpPr>
          <p:spPr>
            <a:xfrm>
              <a:off x="353684" y="3059766"/>
              <a:ext cx="2371685" cy="5329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Colorful image</a:t>
              </a:r>
              <a:endParaRPr lang="zh-TW" altLang="en-US" sz="36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/>
          <p:nvPr/>
        </p:nvGraphicFramePr>
        <p:xfrm>
          <a:off x="4461441" y="1933705"/>
          <a:ext cx="2708910" cy="25869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880693" y="4518938"/>
            <a:ext cx="186996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image</a:t>
            </a:r>
            <a:endParaRPr lang="zh-TW" altLang="en-US" sz="3600" dirty="0"/>
          </a:p>
        </p:txBody>
      </p:sp>
      <p:sp>
        <p:nvSpPr>
          <p:cNvPr id="7" name="向右箭號 62"/>
          <p:cNvSpPr/>
          <p:nvPr/>
        </p:nvSpPr>
        <p:spPr>
          <a:xfrm>
            <a:off x="7797012" y="3226322"/>
            <a:ext cx="2820938" cy="999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文字方塊 7"/>
          <p:cNvSpPr txBox="1"/>
          <p:nvPr/>
        </p:nvSpPr>
        <p:spPr>
          <a:xfrm>
            <a:off x="7880560" y="3944332"/>
            <a:ext cx="255656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convolution</a:t>
            </a:r>
            <a:endParaRPr lang="zh-TW" altLang="en-US" sz="36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9165339" y="1901718"/>
          <a:ext cx="1445895" cy="1223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1514" marR="81514" marT="40756" marB="407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81514" marR="81514" marT="40756" marB="407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1514" marR="81514" marT="40756" marB="407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1514" marR="81514" marT="40756" marB="407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81514" marR="81514" marT="40756" marB="407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1514" marR="81514" marT="40756" marB="407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1514" marR="81514" marT="40756" marB="407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81514" marR="81514" marT="40756" marB="407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1514" marR="81514" marT="40756" marB="407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541852" y="1908848"/>
          <a:ext cx="1423035" cy="1203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4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80146" marR="80146" marT="40072" marB="40072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0146" marR="80146" marT="40072" marB="40072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0146" marR="80146" marT="40072" marB="40072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0146" marR="80146" marT="40072" marB="40072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80146" marR="80146" marT="40072" marB="40072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0146" marR="80146" marT="40072" marB="40072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0146" marR="80146" marT="40072" marB="40072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-1</a:t>
                      </a:r>
                      <a:endParaRPr lang="zh-TW" altLang="en-US" sz="2100" dirty="0"/>
                    </a:p>
                  </a:txBody>
                  <a:tcPr marL="80146" marR="80146" marT="40072" marB="40072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80146" marR="80146" marT="40072" marB="40072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3847334" y="1568519"/>
            <a:ext cx="10636010" cy="39068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矩形 39"/>
          <p:cNvSpPr/>
          <p:nvPr/>
        </p:nvSpPr>
        <p:spPr>
          <a:xfrm>
            <a:off x="10193952" y="5847419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矩形 40"/>
          <p:cNvSpPr/>
          <p:nvPr/>
        </p:nvSpPr>
        <p:spPr>
          <a:xfrm>
            <a:off x="10296534" y="6923958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矩形 41"/>
          <p:cNvSpPr/>
          <p:nvPr/>
        </p:nvSpPr>
        <p:spPr>
          <a:xfrm>
            <a:off x="10305261" y="6068465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43" name="Object 12"/>
          <p:cNvGraphicFramePr>
            <a:graphicFrameLocks noChangeAspect="1"/>
          </p:cNvGraphicFramePr>
          <p:nvPr/>
        </p:nvGraphicFramePr>
        <p:xfrm>
          <a:off x="10324310" y="5925590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657600" imgH="5181600" progId="Equation.3">
                  <p:embed/>
                </p:oleObj>
              </mc:Choice>
              <mc:Fallback>
                <p:oleObj name="方程式" r:id="rId3" imgW="3657600" imgH="5181600" progId="Equation.3">
                  <p:embed/>
                  <p:pic>
                    <p:nvPicPr>
                      <p:cNvPr id="4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4310" y="5925590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2"/>
          <p:cNvGraphicFramePr>
            <a:graphicFrameLocks noChangeAspect="1"/>
          </p:cNvGraphicFramePr>
          <p:nvPr/>
        </p:nvGraphicFramePr>
        <p:xfrm>
          <a:off x="10332254" y="6799683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962400" imgH="5181600" progId="Equation.3">
                  <p:embed/>
                </p:oleObj>
              </mc:Choice>
              <mc:Fallback>
                <p:oleObj name="方程式" r:id="rId5" imgW="3962400" imgH="5181600" progId="Equation.3">
                  <p:embed/>
                  <p:pic>
                    <p:nvPicPr>
                      <p:cNvPr id="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2254" y="6799683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/>
          <p:cNvSpPr/>
          <p:nvPr/>
        </p:nvSpPr>
        <p:spPr>
          <a:xfrm>
            <a:off x="12525197" y="5805957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6" name="橢圓 45"/>
          <p:cNvSpPr/>
          <p:nvPr/>
        </p:nvSpPr>
        <p:spPr>
          <a:xfrm>
            <a:off x="12670862" y="5822460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橢圓 46"/>
          <p:cNvSpPr/>
          <p:nvPr/>
        </p:nvSpPr>
        <p:spPr>
          <a:xfrm>
            <a:off x="12674375" y="6990315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8" name="橢圓 47"/>
          <p:cNvSpPr/>
          <p:nvPr/>
        </p:nvSpPr>
        <p:spPr>
          <a:xfrm>
            <a:off x="12656925" y="8832333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文字方塊 48"/>
          <p:cNvSpPr txBox="1"/>
          <p:nvPr/>
        </p:nvSpPr>
        <p:spPr>
          <a:xfrm rot="5400000">
            <a:off x="12652805" y="7965773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50" name="矩形 49"/>
          <p:cNvSpPr/>
          <p:nvPr/>
        </p:nvSpPr>
        <p:spPr>
          <a:xfrm>
            <a:off x="10310822" y="9020594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51" name="Object 12"/>
          <p:cNvGraphicFramePr>
            <a:graphicFrameLocks noChangeAspect="1"/>
          </p:cNvGraphicFramePr>
          <p:nvPr/>
        </p:nvGraphicFramePr>
        <p:xfrm>
          <a:off x="10265570" y="8877404"/>
          <a:ext cx="69294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5181600" imgH="5486400" progId="Equation.3">
                  <p:embed/>
                </p:oleObj>
              </mc:Choice>
              <mc:Fallback>
                <p:oleObj name="方程式" r:id="rId7" imgW="5181600" imgH="5486400" progId="Equation.3">
                  <p:embed/>
                  <p:pic>
                    <p:nvPicPr>
                      <p:cNvPr id="5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5570" y="8877404"/>
                        <a:ext cx="692943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字方塊 51"/>
          <p:cNvSpPr txBox="1"/>
          <p:nvPr/>
        </p:nvSpPr>
        <p:spPr>
          <a:xfrm rot="5400000">
            <a:off x="10147389" y="7889211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cxnSp>
        <p:nvCxnSpPr>
          <p:cNvPr id="53" name="直線單箭頭接點 52"/>
          <p:cNvCxnSpPr>
            <a:stCxn id="43" idx="3"/>
            <a:endCxn id="46" idx="2"/>
          </p:cNvCxnSpPr>
          <p:nvPr/>
        </p:nvCxnSpPr>
        <p:spPr>
          <a:xfrm flipV="1">
            <a:off x="10812467" y="6253079"/>
            <a:ext cx="1858395" cy="1898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42" idx="3"/>
            <a:endCxn id="47" idx="2"/>
          </p:cNvCxnSpPr>
          <p:nvPr/>
        </p:nvCxnSpPr>
        <p:spPr>
          <a:xfrm>
            <a:off x="10819611" y="6325640"/>
            <a:ext cx="1854764" cy="109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42" idx="3"/>
            <a:endCxn id="48" idx="2"/>
          </p:cNvCxnSpPr>
          <p:nvPr/>
        </p:nvCxnSpPr>
        <p:spPr>
          <a:xfrm>
            <a:off x="10819611" y="6325640"/>
            <a:ext cx="1837314" cy="2937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44" idx="3"/>
            <a:endCxn id="46" idx="2"/>
          </p:cNvCxnSpPr>
          <p:nvPr/>
        </p:nvCxnSpPr>
        <p:spPr>
          <a:xfrm flipV="1">
            <a:off x="10860891" y="6253079"/>
            <a:ext cx="1809971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41" idx="3"/>
            <a:endCxn id="47" idx="2"/>
          </p:cNvCxnSpPr>
          <p:nvPr/>
        </p:nvCxnSpPr>
        <p:spPr>
          <a:xfrm>
            <a:off x="10810884" y="7181133"/>
            <a:ext cx="1863491" cy="239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41" idx="3"/>
            <a:endCxn id="48" idx="2"/>
          </p:cNvCxnSpPr>
          <p:nvPr/>
        </p:nvCxnSpPr>
        <p:spPr>
          <a:xfrm>
            <a:off x="10810884" y="7181133"/>
            <a:ext cx="1846041" cy="2081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51" idx="3"/>
            <a:endCxn id="46" idx="2"/>
          </p:cNvCxnSpPr>
          <p:nvPr/>
        </p:nvCxnSpPr>
        <p:spPr>
          <a:xfrm flipV="1">
            <a:off x="10958513" y="6253079"/>
            <a:ext cx="1712349" cy="29910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1" idx="3"/>
            <a:endCxn id="47" idx="2"/>
          </p:cNvCxnSpPr>
          <p:nvPr/>
        </p:nvCxnSpPr>
        <p:spPr>
          <a:xfrm flipV="1">
            <a:off x="10958513" y="7420934"/>
            <a:ext cx="1715862" cy="182318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51" idx="3"/>
            <a:endCxn id="48" idx="2"/>
          </p:cNvCxnSpPr>
          <p:nvPr/>
        </p:nvCxnSpPr>
        <p:spPr>
          <a:xfrm>
            <a:off x="10958513" y="9244116"/>
            <a:ext cx="1698413" cy="18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內容版面配置區 3"/>
          <p:cNvGraphicFramePr/>
          <p:nvPr/>
        </p:nvGraphicFramePr>
        <p:xfrm>
          <a:off x="7283963" y="6412067"/>
          <a:ext cx="2708910" cy="25869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250" dirty="0">
                        <a:solidFill>
                          <a:srgbClr val="0000FF"/>
                        </a:solidFill>
                      </a:endParaRPr>
                    </a:p>
                  </a:txBody>
                  <a:tcPr marL="86175" marR="86175" marT="43087" marB="430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50" dirty="0"/>
                        <a:t>0</a:t>
                      </a:r>
                      <a:endParaRPr lang="zh-TW" altLang="en-US" sz="2250" dirty="0"/>
                    </a:p>
                  </a:txBody>
                  <a:tcPr marL="86175" marR="86175" marT="43087" marB="4308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9" name="矩形 68"/>
          <p:cNvSpPr/>
          <p:nvPr/>
        </p:nvSpPr>
        <p:spPr>
          <a:xfrm>
            <a:off x="2763858" y="225106"/>
            <a:ext cx="980059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i="1" u="sng" dirty="0"/>
              <a:t>Convolution </a:t>
            </a:r>
            <a:r>
              <a:rPr lang="en-US" altLang="zh-TW" sz="4800" b="1" i="1" u="sng" dirty="0" err="1"/>
              <a:t>v.s</a:t>
            </a:r>
            <a:r>
              <a:rPr lang="en-US" altLang="zh-TW" sz="4800" b="1" i="1" u="sng" dirty="0"/>
              <a:t>. Fully Connected</a:t>
            </a:r>
            <a:endParaRPr lang="zh-TW" altLang="en-US" sz="4800" b="1" i="1" u="sng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4501197" y="7033015"/>
            <a:ext cx="290332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Fully-connected</a:t>
            </a:r>
            <a:endParaRPr lang="zh-TW" altLang="en-US" sz="4200" dirty="0"/>
          </a:p>
        </p:txBody>
      </p:sp>
      <p:sp>
        <p:nvSpPr>
          <p:cNvPr id="72" name="矩形 71"/>
          <p:cNvSpPr/>
          <p:nvPr/>
        </p:nvSpPr>
        <p:spPr>
          <a:xfrm>
            <a:off x="12384587" y="5695845"/>
            <a:ext cx="1374194" cy="412391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矩形 72"/>
          <p:cNvSpPr/>
          <p:nvPr/>
        </p:nvSpPr>
        <p:spPr>
          <a:xfrm>
            <a:off x="10786319" y="1849142"/>
            <a:ext cx="3128465" cy="308826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893425" y="1965325"/>
            <a:ext cx="2905760" cy="2862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bldLvl="0" animBg="1"/>
      <p:bldP spid="73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/>
          <p:nvPr/>
        </p:nvGraphicFramePr>
        <p:xfrm>
          <a:off x="2885954" y="2775008"/>
          <a:ext cx="431292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348903" y="6961077"/>
            <a:ext cx="35205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 x 6 image</a:t>
            </a:r>
            <a:endParaRPr lang="zh-TW" altLang="en-US" sz="3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885954" y="228045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5054696" y="355293"/>
            <a:ext cx="217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1</a:t>
            </a:r>
            <a:endParaRPr lang="zh-TW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2885954" y="2775008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32" name="圖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76" y="1795883"/>
            <a:ext cx="3359567" cy="33403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4" name="直線單箭頭接點 33"/>
          <p:cNvCxnSpPr/>
          <p:nvPr/>
        </p:nvCxnSpPr>
        <p:spPr>
          <a:xfrm>
            <a:off x="5319185" y="1256744"/>
            <a:ext cx="1290843" cy="8555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5045907" y="2357102"/>
            <a:ext cx="1564121" cy="14476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10454006" y="74175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1:</a:t>
            </a:r>
            <a:endParaRPr lang="zh-TW" altLang="en-US" sz="3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0454006" y="766673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2:</a:t>
            </a:r>
            <a:endParaRPr lang="zh-TW" altLang="en-US" sz="36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10454006" y="1441196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3:</a:t>
            </a:r>
            <a:endParaRPr lang="zh-TW" altLang="en-US" sz="3600" dirty="0"/>
          </a:p>
        </p:txBody>
      </p:sp>
      <p:sp>
        <p:nvSpPr>
          <p:cNvPr id="41" name="文字方塊 40"/>
          <p:cNvSpPr txBox="1"/>
          <p:nvPr/>
        </p:nvSpPr>
        <p:spPr>
          <a:xfrm rot="5400000">
            <a:off x="10248029" y="2716146"/>
            <a:ext cx="123211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10478061" y="3359562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7:</a:t>
            </a:r>
            <a:endParaRPr lang="zh-TW" altLang="en-US" sz="3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0478061" y="4052060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8:</a:t>
            </a:r>
            <a:endParaRPr lang="zh-TW" altLang="en-US" sz="36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10478061" y="4726583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9:</a:t>
            </a:r>
            <a:endParaRPr lang="zh-TW" altLang="en-US" sz="3600" dirty="0"/>
          </a:p>
        </p:txBody>
      </p:sp>
      <p:sp>
        <p:nvSpPr>
          <p:cNvPr id="45" name="文字方塊 44"/>
          <p:cNvSpPr txBox="1"/>
          <p:nvPr/>
        </p:nvSpPr>
        <p:spPr>
          <a:xfrm rot="5400000">
            <a:off x="10457001" y="5982425"/>
            <a:ext cx="8090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10238854" y="6657717"/>
            <a:ext cx="784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13:</a:t>
            </a:r>
            <a:endParaRPr lang="zh-TW" altLang="en-US" sz="36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10230480" y="7354005"/>
            <a:ext cx="784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14:</a:t>
            </a:r>
            <a:endParaRPr lang="zh-TW" altLang="en-US" sz="36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10230480" y="8070528"/>
            <a:ext cx="8945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15:</a:t>
            </a:r>
            <a:endParaRPr lang="zh-TW" altLang="en-US" sz="3600" dirty="0"/>
          </a:p>
        </p:txBody>
      </p:sp>
      <p:sp>
        <p:nvSpPr>
          <p:cNvPr id="49" name="文字方塊 48"/>
          <p:cNvSpPr txBox="1"/>
          <p:nvPr/>
        </p:nvSpPr>
        <p:spPr>
          <a:xfrm rot="5400000">
            <a:off x="10527800" y="9326591"/>
            <a:ext cx="637241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2029201" y="7955456"/>
            <a:ext cx="5158132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Only connect to 9 input, not fully connected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469106" y="2112321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4:</a:t>
            </a:r>
            <a:endParaRPr lang="zh-TW" altLang="en-US" sz="36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10129350" y="5343538"/>
            <a:ext cx="959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10:</a:t>
            </a:r>
            <a:endParaRPr lang="zh-TW" altLang="en-US" sz="36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10222687" y="8683862"/>
            <a:ext cx="8945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16:</a:t>
            </a:r>
            <a:endParaRPr lang="zh-TW" altLang="en-US" sz="3600" dirty="0"/>
          </a:p>
        </p:txBody>
      </p:sp>
      <p:sp>
        <p:nvSpPr>
          <p:cNvPr id="55" name="矩形 54"/>
          <p:cNvSpPr/>
          <p:nvPr/>
        </p:nvSpPr>
        <p:spPr>
          <a:xfrm>
            <a:off x="11117256" y="217923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1</a:t>
            </a:r>
          </a:p>
        </p:txBody>
      </p:sp>
      <p:sp>
        <p:nvSpPr>
          <p:cNvPr id="56" name="矩形 55"/>
          <p:cNvSpPr/>
          <p:nvPr/>
        </p:nvSpPr>
        <p:spPr>
          <a:xfrm>
            <a:off x="11117256" y="921405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0</a:t>
            </a:r>
          </a:p>
        </p:txBody>
      </p:sp>
      <p:sp>
        <p:nvSpPr>
          <p:cNvPr id="57" name="矩形 56"/>
          <p:cNvSpPr/>
          <p:nvPr/>
        </p:nvSpPr>
        <p:spPr>
          <a:xfrm>
            <a:off x="11117256" y="1584944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0</a:t>
            </a:r>
          </a:p>
        </p:txBody>
      </p:sp>
      <p:sp>
        <p:nvSpPr>
          <p:cNvPr id="58" name="矩形 57"/>
          <p:cNvSpPr/>
          <p:nvPr/>
        </p:nvSpPr>
        <p:spPr>
          <a:xfrm>
            <a:off x="11117256" y="2277638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0</a:t>
            </a:r>
          </a:p>
        </p:txBody>
      </p:sp>
      <p:sp>
        <p:nvSpPr>
          <p:cNvPr id="59" name="矩形 58"/>
          <p:cNvSpPr/>
          <p:nvPr/>
        </p:nvSpPr>
        <p:spPr>
          <a:xfrm>
            <a:off x="11117256" y="3534485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0</a:t>
            </a:r>
          </a:p>
        </p:txBody>
      </p:sp>
      <p:sp>
        <p:nvSpPr>
          <p:cNvPr id="60" name="矩形 59"/>
          <p:cNvSpPr/>
          <p:nvPr/>
        </p:nvSpPr>
        <p:spPr>
          <a:xfrm>
            <a:off x="11117256" y="4237967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1</a:t>
            </a:r>
          </a:p>
        </p:txBody>
      </p:sp>
      <p:sp>
        <p:nvSpPr>
          <p:cNvPr id="61" name="矩形 60"/>
          <p:cNvSpPr/>
          <p:nvPr/>
        </p:nvSpPr>
        <p:spPr>
          <a:xfrm>
            <a:off x="11117256" y="4901505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117256" y="5594199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0</a:t>
            </a:r>
          </a:p>
        </p:txBody>
      </p:sp>
      <p:sp>
        <p:nvSpPr>
          <p:cNvPr id="63" name="矩形 62"/>
          <p:cNvSpPr/>
          <p:nvPr/>
        </p:nvSpPr>
        <p:spPr>
          <a:xfrm>
            <a:off x="11117256" y="6779360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0</a:t>
            </a:r>
          </a:p>
        </p:txBody>
      </p:sp>
      <p:sp>
        <p:nvSpPr>
          <p:cNvPr id="64" name="矩形 63"/>
          <p:cNvSpPr/>
          <p:nvPr/>
        </p:nvSpPr>
        <p:spPr>
          <a:xfrm>
            <a:off x="11117256" y="7482842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11117256" y="8146380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1</a:t>
            </a:r>
          </a:p>
        </p:txBody>
      </p:sp>
      <p:sp>
        <p:nvSpPr>
          <p:cNvPr id="66" name="矩形 65"/>
          <p:cNvSpPr/>
          <p:nvPr/>
        </p:nvSpPr>
        <p:spPr>
          <a:xfrm>
            <a:off x="11117256" y="8839074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1</a:t>
            </a:r>
          </a:p>
        </p:txBody>
      </p:sp>
      <p:cxnSp>
        <p:nvCxnSpPr>
          <p:cNvPr id="68" name="直線單箭頭接點 67"/>
          <p:cNvCxnSpPr>
            <a:stCxn id="55" idx="3"/>
          </p:cNvCxnSpPr>
          <p:nvPr/>
        </p:nvCxnSpPr>
        <p:spPr>
          <a:xfrm>
            <a:off x="11522256" y="420423"/>
            <a:ext cx="2132330" cy="19157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56" idx="3"/>
          </p:cNvCxnSpPr>
          <p:nvPr/>
        </p:nvCxnSpPr>
        <p:spPr>
          <a:xfrm>
            <a:off x="11522256" y="1123905"/>
            <a:ext cx="2132330" cy="12122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57" idx="3"/>
          </p:cNvCxnSpPr>
          <p:nvPr/>
        </p:nvCxnSpPr>
        <p:spPr>
          <a:xfrm>
            <a:off x="11522256" y="1787443"/>
            <a:ext cx="2132330" cy="54864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11552091" y="2395351"/>
            <a:ext cx="2026920" cy="140970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60" idx="3"/>
            <a:endCxn id="109" idx="2"/>
          </p:cNvCxnSpPr>
          <p:nvPr/>
        </p:nvCxnSpPr>
        <p:spPr>
          <a:xfrm flipV="1">
            <a:off x="11522245" y="2305530"/>
            <a:ext cx="2086610" cy="213487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61" idx="3"/>
            <a:endCxn id="109" idx="2"/>
          </p:cNvCxnSpPr>
          <p:nvPr/>
        </p:nvCxnSpPr>
        <p:spPr>
          <a:xfrm flipV="1">
            <a:off x="11522245" y="2305929"/>
            <a:ext cx="2086610" cy="279844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63" idx="3"/>
          </p:cNvCxnSpPr>
          <p:nvPr/>
        </p:nvCxnSpPr>
        <p:spPr>
          <a:xfrm flipV="1">
            <a:off x="11522256" y="2467009"/>
            <a:ext cx="2026920" cy="451485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64" idx="3"/>
            <a:endCxn id="109" idx="2"/>
          </p:cNvCxnSpPr>
          <p:nvPr/>
        </p:nvCxnSpPr>
        <p:spPr>
          <a:xfrm flipV="1">
            <a:off x="11522255" y="2305604"/>
            <a:ext cx="2086610" cy="53797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stCxn id="65" idx="3"/>
            <a:endCxn id="109" idx="2"/>
          </p:cNvCxnSpPr>
          <p:nvPr/>
        </p:nvCxnSpPr>
        <p:spPr>
          <a:xfrm flipV="1">
            <a:off x="11522255" y="2305371"/>
            <a:ext cx="2086610" cy="604329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13608821" y="176589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17" name="橢圓 116"/>
          <p:cNvSpPr/>
          <p:nvPr/>
        </p:nvSpPr>
        <p:spPr>
          <a:xfrm>
            <a:off x="2955695" y="241170"/>
            <a:ext cx="682448" cy="68244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8" name="橢圓 117"/>
          <p:cNvSpPr/>
          <p:nvPr/>
        </p:nvSpPr>
        <p:spPr>
          <a:xfrm>
            <a:off x="3783983" y="198828"/>
            <a:ext cx="682448" cy="68244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9" name="橢圓 118"/>
          <p:cNvSpPr/>
          <p:nvPr/>
        </p:nvSpPr>
        <p:spPr>
          <a:xfrm>
            <a:off x="4550766" y="217923"/>
            <a:ext cx="682448" cy="682448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0" name="橢圓 119"/>
          <p:cNvSpPr/>
          <p:nvPr/>
        </p:nvSpPr>
        <p:spPr>
          <a:xfrm>
            <a:off x="2955695" y="928566"/>
            <a:ext cx="682448" cy="682448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1" name="橢圓 120"/>
          <p:cNvSpPr/>
          <p:nvPr/>
        </p:nvSpPr>
        <p:spPr>
          <a:xfrm>
            <a:off x="3783983" y="886224"/>
            <a:ext cx="682448" cy="682448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2" name="橢圓 121"/>
          <p:cNvSpPr/>
          <p:nvPr/>
        </p:nvSpPr>
        <p:spPr>
          <a:xfrm>
            <a:off x="4550766" y="905319"/>
            <a:ext cx="682448" cy="682448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3" name="橢圓 122"/>
          <p:cNvSpPr/>
          <p:nvPr/>
        </p:nvSpPr>
        <p:spPr>
          <a:xfrm>
            <a:off x="2974629" y="1612689"/>
            <a:ext cx="682448" cy="682448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4" name="橢圓 123"/>
          <p:cNvSpPr/>
          <p:nvPr/>
        </p:nvSpPr>
        <p:spPr>
          <a:xfrm>
            <a:off x="3802917" y="1570347"/>
            <a:ext cx="682448" cy="682448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5" name="橢圓 124"/>
          <p:cNvSpPr/>
          <p:nvPr/>
        </p:nvSpPr>
        <p:spPr>
          <a:xfrm>
            <a:off x="4569701" y="1589442"/>
            <a:ext cx="682448" cy="682448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7" name="文字方塊 66"/>
          <p:cNvSpPr txBox="1"/>
          <p:nvPr/>
        </p:nvSpPr>
        <p:spPr>
          <a:xfrm>
            <a:off x="3214580" y="7887841"/>
            <a:ext cx="4195872" cy="73723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CFCFC"/>
                </a:solidFill>
              </a:rPr>
              <a:t>Less parameters!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ldLvl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 bldLvl="0" animBg="1"/>
      <p:bldP spid="51" grpId="0"/>
      <p:bldP spid="52" grpId="0"/>
      <p:bldP spid="53" grpId="0"/>
      <p:bldP spid="55" grpId="0" bldLvl="0" animBg="1"/>
      <p:bldP spid="56" grpId="0" bldLvl="0" animBg="1"/>
      <p:bldP spid="57" grpId="0" bldLvl="0" animBg="1"/>
      <p:bldP spid="58" grpId="0" bldLvl="0" animBg="1"/>
      <p:bldP spid="59" grpId="0" bldLvl="0" animBg="1"/>
      <p:bldP spid="60" grpId="0" bldLvl="0" animBg="1"/>
      <p:bldP spid="61" grpId="0" bldLvl="0" animBg="1"/>
      <p:bldP spid="62" grpId="0" bldLvl="0" animBg="1"/>
      <p:bldP spid="63" grpId="0" bldLvl="0" animBg="1"/>
      <p:bldP spid="64" grpId="0" bldLvl="0" animBg="1"/>
      <p:bldP spid="65" grpId="0" bldLvl="0" animBg="1"/>
      <p:bldP spid="66" grpId="0" bldLvl="0" animBg="1"/>
      <p:bldP spid="109" grpId="0" bldLvl="0" animBg="1"/>
      <p:bldP spid="117" grpId="0" bldLvl="0" animBg="1"/>
      <p:bldP spid="118" grpId="0" bldLvl="0" animBg="1"/>
      <p:bldP spid="119" grpId="0" bldLvl="0" animBg="1"/>
      <p:bldP spid="120" grpId="0" bldLvl="0" animBg="1"/>
      <p:bldP spid="121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6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/>
          <p:nvPr/>
        </p:nvGraphicFramePr>
        <p:xfrm>
          <a:off x="2885954" y="2775008"/>
          <a:ext cx="431292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885954" y="228045"/>
          <a:ext cx="2432685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5319185" y="910496"/>
            <a:ext cx="217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1</a:t>
            </a:r>
            <a:endParaRPr lang="zh-TW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3652998" y="2751591"/>
            <a:ext cx="2125689" cy="20737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文字方塊 37"/>
          <p:cNvSpPr txBox="1"/>
          <p:nvPr/>
        </p:nvSpPr>
        <p:spPr>
          <a:xfrm>
            <a:off x="10454006" y="74175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1:</a:t>
            </a:r>
            <a:endParaRPr lang="zh-TW" altLang="en-US" sz="3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0454006" y="766673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2:</a:t>
            </a:r>
            <a:endParaRPr lang="zh-TW" altLang="en-US" sz="36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10454006" y="1441196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3:</a:t>
            </a:r>
            <a:endParaRPr lang="zh-TW" altLang="en-US" sz="3600" dirty="0"/>
          </a:p>
        </p:txBody>
      </p:sp>
      <p:sp>
        <p:nvSpPr>
          <p:cNvPr id="41" name="文字方塊 40"/>
          <p:cNvSpPr txBox="1"/>
          <p:nvPr/>
        </p:nvSpPr>
        <p:spPr>
          <a:xfrm rot="5400000">
            <a:off x="10248029" y="2716146"/>
            <a:ext cx="123211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10478061" y="3359562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7:</a:t>
            </a:r>
            <a:endParaRPr lang="zh-TW" altLang="en-US" sz="3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0478061" y="4052060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8:</a:t>
            </a:r>
            <a:endParaRPr lang="zh-TW" altLang="en-US" sz="36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10478061" y="4726583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9:</a:t>
            </a:r>
            <a:endParaRPr lang="zh-TW" altLang="en-US" sz="3600" dirty="0"/>
          </a:p>
        </p:txBody>
      </p:sp>
      <p:sp>
        <p:nvSpPr>
          <p:cNvPr id="45" name="文字方塊 44"/>
          <p:cNvSpPr txBox="1"/>
          <p:nvPr/>
        </p:nvSpPr>
        <p:spPr>
          <a:xfrm rot="5400000">
            <a:off x="10457001" y="5982425"/>
            <a:ext cx="8090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10238854" y="6657717"/>
            <a:ext cx="784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13:</a:t>
            </a:r>
            <a:endParaRPr lang="zh-TW" altLang="en-US" sz="36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10230480" y="7354005"/>
            <a:ext cx="784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14:</a:t>
            </a:r>
            <a:endParaRPr lang="zh-TW" altLang="en-US" sz="36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10230480" y="8070528"/>
            <a:ext cx="8945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15:</a:t>
            </a:r>
            <a:endParaRPr lang="zh-TW" altLang="en-US" sz="3600" dirty="0"/>
          </a:p>
        </p:txBody>
      </p:sp>
      <p:sp>
        <p:nvSpPr>
          <p:cNvPr id="49" name="文字方塊 48"/>
          <p:cNvSpPr txBox="1"/>
          <p:nvPr/>
        </p:nvSpPr>
        <p:spPr>
          <a:xfrm rot="5400000">
            <a:off x="10527800" y="9326591"/>
            <a:ext cx="637241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469106" y="2112321"/>
            <a:ext cx="5811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4:</a:t>
            </a:r>
            <a:endParaRPr lang="zh-TW" altLang="en-US" sz="36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10129350" y="5343538"/>
            <a:ext cx="959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10:</a:t>
            </a:r>
            <a:endParaRPr lang="zh-TW" altLang="en-US" sz="36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10222687" y="8683862"/>
            <a:ext cx="8945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16:</a:t>
            </a:r>
            <a:endParaRPr lang="zh-TW" altLang="en-US" sz="3600" dirty="0"/>
          </a:p>
        </p:txBody>
      </p:sp>
      <p:sp>
        <p:nvSpPr>
          <p:cNvPr id="55" name="矩形 54"/>
          <p:cNvSpPr/>
          <p:nvPr/>
        </p:nvSpPr>
        <p:spPr>
          <a:xfrm>
            <a:off x="11117256" y="217923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6" name="矩形 55"/>
          <p:cNvSpPr/>
          <p:nvPr/>
        </p:nvSpPr>
        <p:spPr>
          <a:xfrm>
            <a:off x="11117256" y="921405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矩形 56"/>
          <p:cNvSpPr/>
          <p:nvPr/>
        </p:nvSpPr>
        <p:spPr>
          <a:xfrm>
            <a:off x="11117256" y="1584944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8" name="矩形 57"/>
          <p:cNvSpPr/>
          <p:nvPr/>
        </p:nvSpPr>
        <p:spPr>
          <a:xfrm>
            <a:off x="11117256" y="2277638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9" name="矩形 58"/>
          <p:cNvSpPr/>
          <p:nvPr/>
        </p:nvSpPr>
        <p:spPr>
          <a:xfrm>
            <a:off x="11117256" y="3534485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0" name="矩形 59"/>
          <p:cNvSpPr/>
          <p:nvPr/>
        </p:nvSpPr>
        <p:spPr>
          <a:xfrm>
            <a:off x="11117256" y="4237967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61" name="矩形 60"/>
          <p:cNvSpPr/>
          <p:nvPr/>
        </p:nvSpPr>
        <p:spPr>
          <a:xfrm>
            <a:off x="11117256" y="4901505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2" name="矩形 61"/>
          <p:cNvSpPr/>
          <p:nvPr/>
        </p:nvSpPr>
        <p:spPr>
          <a:xfrm>
            <a:off x="11117256" y="5594199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3" name="矩形 62"/>
          <p:cNvSpPr/>
          <p:nvPr/>
        </p:nvSpPr>
        <p:spPr>
          <a:xfrm>
            <a:off x="11117256" y="6779360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4" name="矩形 63"/>
          <p:cNvSpPr/>
          <p:nvPr/>
        </p:nvSpPr>
        <p:spPr>
          <a:xfrm>
            <a:off x="11117256" y="7482842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5" name="矩形 64"/>
          <p:cNvSpPr/>
          <p:nvPr/>
        </p:nvSpPr>
        <p:spPr>
          <a:xfrm>
            <a:off x="11117256" y="8146380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66" name="矩形 65"/>
          <p:cNvSpPr/>
          <p:nvPr/>
        </p:nvSpPr>
        <p:spPr>
          <a:xfrm>
            <a:off x="11117256" y="8839074"/>
            <a:ext cx="405000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68" name="直線單箭頭接點 67"/>
          <p:cNvCxnSpPr>
            <a:stCxn id="55" idx="3"/>
          </p:cNvCxnSpPr>
          <p:nvPr/>
        </p:nvCxnSpPr>
        <p:spPr>
          <a:xfrm>
            <a:off x="11522256" y="420423"/>
            <a:ext cx="2132106" cy="191596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56" idx="3"/>
          </p:cNvCxnSpPr>
          <p:nvPr/>
        </p:nvCxnSpPr>
        <p:spPr>
          <a:xfrm>
            <a:off x="11522256" y="1123905"/>
            <a:ext cx="2132106" cy="12124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57" idx="3"/>
          </p:cNvCxnSpPr>
          <p:nvPr/>
        </p:nvCxnSpPr>
        <p:spPr>
          <a:xfrm>
            <a:off x="11522256" y="1787444"/>
            <a:ext cx="2132106" cy="54894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11552091" y="2395448"/>
            <a:ext cx="2026919" cy="134165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109" idx="2"/>
          </p:cNvCxnSpPr>
          <p:nvPr/>
        </p:nvCxnSpPr>
        <p:spPr>
          <a:xfrm flipV="1">
            <a:off x="11552090" y="2305895"/>
            <a:ext cx="2056731" cy="212371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109" idx="2"/>
          </p:cNvCxnSpPr>
          <p:nvPr/>
        </p:nvCxnSpPr>
        <p:spPr>
          <a:xfrm flipV="1">
            <a:off x="11552090" y="2305895"/>
            <a:ext cx="2056731" cy="279467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63" idx="3"/>
          </p:cNvCxnSpPr>
          <p:nvPr/>
        </p:nvCxnSpPr>
        <p:spPr>
          <a:xfrm flipV="1">
            <a:off x="11522256" y="2467044"/>
            <a:ext cx="2026920" cy="451481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109" idx="2"/>
          </p:cNvCxnSpPr>
          <p:nvPr/>
        </p:nvCxnSpPr>
        <p:spPr>
          <a:xfrm flipV="1">
            <a:off x="11522255" y="2305895"/>
            <a:ext cx="2086566" cy="534768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109" idx="2"/>
          </p:cNvCxnSpPr>
          <p:nvPr/>
        </p:nvCxnSpPr>
        <p:spPr>
          <a:xfrm flipV="1">
            <a:off x="11522255" y="2305895"/>
            <a:ext cx="2086566" cy="6018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13608821" y="1765895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10" name="橢圓 109"/>
          <p:cNvSpPr/>
          <p:nvPr/>
        </p:nvSpPr>
        <p:spPr>
          <a:xfrm>
            <a:off x="13579010" y="4460199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17" name="橢圓 116"/>
          <p:cNvSpPr/>
          <p:nvPr/>
        </p:nvSpPr>
        <p:spPr>
          <a:xfrm>
            <a:off x="2955695" y="241170"/>
            <a:ext cx="682448" cy="68244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8" name="橢圓 117"/>
          <p:cNvSpPr/>
          <p:nvPr/>
        </p:nvSpPr>
        <p:spPr>
          <a:xfrm>
            <a:off x="3783983" y="198828"/>
            <a:ext cx="682448" cy="68244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9" name="橢圓 118"/>
          <p:cNvSpPr/>
          <p:nvPr/>
        </p:nvSpPr>
        <p:spPr>
          <a:xfrm>
            <a:off x="4550766" y="217923"/>
            <a:ext cx="682448" cy="682448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0" name="橢圓 119"/>
          <p:cNvSpPr/>
          <p:nvPr/>
        </p:nvSpPr>
        <p:spPr>
          <a:xfrm>
            <a:off x="2955695" y="928566"/>
            <a:ext cx="682448" cy="682448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1" name="橢圓 120"/>
          <p:cNvSpPr/>
          <p:nvPr/>
        </p:nvSpPr>
        <p:spPr>
          <a:xfrm>
            <a:off x="3783983" y="886224"/>
            <a:ext cx="682448" cy="682448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2" name="橢圓 121"/>
          <p:cNvSpPr/>
          <p:nvPr/>
        </p:nvSpPr>
        <p:spPr>
          <a:xfrm>
            <a:off x="4550766" y="905319"/>
            <a:ext cx="682448" cy="682448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3" name="橢圓 122"/>
          <p:cNvSpPr/>
          <p:nvPr/>
        </p:nvSpPr>
        <p:spPr>
          <a:xfrm>
            <a:off x="2974629" y="1612689"/>
            <a:ext cx="682448" cy="682448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4" name="橢圓 123"/>
          <p:cNvSpPr/>
          <p:nvPr/>
        </p:nvSpPr>
        <p:spPr>
          <a:xfrm>
            <a:off x="3802917" y="1570347"/>
            <a:ext cx="682448" cy="682448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5" name="橢圓 124"/>
          <p:cNvSpPr/>
          <p:nvPr/>
        </p:nvSpPr>
        <p:spPr>
          <a:xfrm>
            <a:off x="4569701" y="1589442"/>
            <a:ext cx="682448" cy="682448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7" name="文字方塊 66"/>
          <p:cNvSpPr txBox="1"/>
          <p:nvPr/>
        </p:nvSpPr>
        <p:spPr>
          <a:xfrm>
            <a:off x="12019618" y="8469186"/>
            <a:ext cx="3959609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Shared weights</a:t>
            </a:r>
            <a:endParaRPr lang="zh-TW" altLang="en-US" sz="3600" dirty="0"/>
          </a:p>
        </p:txBody>
      </p:sp>
      <p:cxnSp>
        <p:nvCxnSpPr>
          <p:cNvPr id="72" name="直線單箭頭接點 71"/>
          <p:cNvCxnSpPr>
            <a:stCxn id="56" idx="3"/>
            <a:endCxn id="110" idx="2"/>
          </p:cNvCxnSpPr>
          <p:nvPr/>
        </p:nvCxnSpPr>
        <p:spPr>
          <a:xfrm>
            <a:off x="11522256" y="1123905"/>
            <a:ext cx="2056754" cy="38762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57" idx="3"/>
            <a:endCxn id="110" idx="2"/>
          </p:cNvCxnSpPr>
          <p:nvPr/>
        </p:nvCxnSpPr>
        <p:spPr>
          <a:xfrm>
            <a:off x="11522256" y="1787444"/>
            <a:ext cx="2056754" cy="32127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58" idx="3"/>
            <a:endCxn id="110" idx="2"/>
          </p:cNvCxnSpPr>
          <p:nvPr/>
        </p:nvCxnSpPr>
        <p:spPr>
          <a:xfrm>
            <a:off x="11522256" y="2480138"/>
            <a:ext cx="2056754" cy="252006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110" idx="2"/>
          </p:cNvCxnSpPr>
          <p:nvPr/>
        </p:nvCxnSpPr>
        <p:spPr>
          <a:xfrm>
            <a:off x="11566191" y="4470954"/>
            <a:ext cx="2012819" cy="52924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110" idx="2"/>
          </p:cNvCxnSpPr>
          <p:nvPr/>
        </p:nvCxnSpPr>
        <p:spPr>
          <a:xfrm flipV="1">
            <a:off x="11546312" y="5000199"/>
            <a:ext cx="2032698" cy="18755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110" idx="2"/>
          </p:cNvCxnSpPr>
          <p:nvPr/>
        </p:nvCxnSpPr>
        <p:spPr>
          <a:xfrm flipV="1">
            <a:off x="11546334" y="5000199"/>
            <a:ext cx="2032676" cy="85499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64" idx="3"/>
          </p:cNvCxnSpPr>
          <p:nvPr/>
        </p:nvCxnSpPr>
        <p:spPr>
          <a:xfrm flipV="1">
            <a:off x="11522256" y="5041550"/>
            <a:ext cx="2005434" cy="264379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65" idx="3"/>
          </p:cNvCxnSpPr>
          <p:nvPr/>
        </p:nvCxnSpPr>
        <p:spPr>
          <a:xfrm flipV="1">
            <a:off x="11522256" y="4990490"/>
            <a:ext cx="2038938" cy="335839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66" idx="3"/>
          </p:cNvCxnSpPr>
          <p:nvPr/>
        </p:nvCxnSpPr>
        <p:spPr>
          <a:xfrm flipV="1">
            <a:off x="11522256" y="5084889"/>
            <a:ext cx="2016177" cy="395668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3348903" y="6961077"/>
            <a:ext cx="35205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 x 6 image</a:t>
            </a:r>
            <a:endParaRPr lang="zh-TW" altLang="en-US" sz="3600" dirty="0"/>
          </a:p>
        </p:txBody>
      </p:sp>
      <p:pic>
        <p:nvPicPr>
          <p:cNvPr id="87" name="圖片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314" y="1823483"/>
            <a:ext cx="3344828" cy="33642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5" name="直線單箭頭接點 34"/>
          <p:cNvCxnSpPr/>
          <p:nvPr/>
        </p:nvCxnSpPr>
        <p:spPr>
          <a:xfrm flipV="1">
            <a:off x="5778687" y="2336391"/>
            <a:ext cx="1418222" cy="14007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5319185" y="1256744"/>
            <a:ext cx="1877724" cy="10287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字方塊 91"/>
          <p:cNvSpPr txBox="1"/>
          <p:nvPr/>
        </p:nvSpPr>
        <p:spPr>
          <a:xfrm>
            <a:off x="3214580" y="7887841"/>
            <a:ext cx="4195872" cy="73723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CFCFC"/>
                </a:solidFill>
              </a:rPr>
              <a:t>Less parameters!</a:t>
            </a:r>
          </a:p>
        </p:txBody>
      </p:sp>
      <p:sp>
        <p:nvSpPr>
          <p:cNvPr id="93" name="文字方塊 92"/>
          <p:cNvSpPr txBox="1"/>
          <p:nvPr/>
        </p:nvSpPr>
        <p:spPr>
          <a:xfrm>
            <a:off x="3230217" y="8906939"/>
            <a:ext cx="5913783" cy="738664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CFCFC"/>
                </a:solidFill>
              </a:rPr>
              <a:t>Even less parameters!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bldLvl="0" animBg="1"/>
      <p:bldP spid="67" grpId="0" bldLvl="0" animBg="1"/>
      <p:bldP spid="93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2506134"/>
            <a:ext cx="15667355" cy="17610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CNN – M</a:t>
            </a:r>
            <a:r>
              <a:rPr lang="en-US" altLang="zh-CN" sz="6600" dirty="0"/>
              <a:t>ax Pooling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47666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E551-FFB6-C8DB-7F16-40B4FEEC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7DE15-1060-3112-8E14-22F1466E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49" y="161365"/>
            <a:ext cx="8902581" cy="1551434"/>
          </a:xfrm>
        </p:spPr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1DBB9032-1254-4C07-8C6F-6837683B89D0}"/>
              </a:ext>
            </a:extLst>
          </p:cNvPr>
          <p:cNvGrpSpPr/>
          <p:nvPr/>
        </p:nvGrpSpPr>
        <p:grpSpPr>
          <a:xfrm>
            <a:off x="3410555" y="3411522"/>
            <a:ext cx="4359852" cy="4802216"/>
            <a:chOff x="-1626455" y="3999118"/>
            <a:chExt cx="2906568" cy="320147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3360EB0-083A-41E8-0A83-7555F5360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E1E9B8AF-F366-02DD-348C-F9F1A17B0A9C}"/>
                </a:ext>
              </a:extLst>
            </p:cNvPr>
            <p:cNvSpPr txBox="1"/>
            <p:nvPr/>
          </p:nvSpPr>
          <p:spPr>
            <a:xfrm>
              <a:off x="-1626455" y="5442856"/>
              <a:ext cx="2906568" cy="11688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rgbClr val="FCFCFC"/>
                  </a:solidFill>
                </a:rPr>
                <a:t>Fully Connected Feedforward network</a:t>
              </a:r>
              <a:endParaRPr lang="zh-TW" altLang="en-US" sz="3600" dirty="0">
                <a:solidFill>
                  <a:srgbClr val="FCFCFC"/>
                </a:solidFill>
              </a:endParaRPr>
            </a:p>
          </p:txBody>
        </p:sp>
      </p:grpSp>
      <p:pic>
        <p:nvPicPr>
          <p:cNvPr id="12290" name="Picture 2" descr="http://s.hswstatic.com/gif/whiskers-sam.jpg">
            <a:extLst>
              <a:ext uri="{FF2B5EF4-FFF2-40B4-BE49-F238E27FC236}">
                <a16:creationId xmlns:a16="http://schemas.microsoft.com/office/drawing/2014/main" id="{A4829907-F872-7636-4A44-A54E06C15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463" y="287294"/>
            <a:ext cx="2656508" cy="18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95692C8-95EA-714E-AC60-D162A25E2BB3}"/>
              </a:ext>
            </a:extLst>
          </p:cNvPr>
          <p:cNvSpPr txBox="1"/>
          <p:nvPr/>
        </p:nvSpPr>
        <p:spPr>
          <a:xfrm>
            <a:off x="4202183" y="2558954"/>
            <a:ext cx="3070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cat dog ……</a:t>
            </a:r>
            <a:endParaRPr lang="zh-TW" altLang="en-US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E7F455-B36B-6148-B496-4135C2F8EE68}"/>
              </a:ext>
            </a:extLst>
          </p:cNvPr>
          <p:cNvSpPr/>
          <p:nvPr/>
        </p:nvSpPr>
        <p:spPr>
          <a:xfrm>
            <a:off x="10001131" y="2894258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488771-631B-C85B-1C22-A3C07C99AF15}"/>
              </a:ext>
            </a:extLst>
          </p:cNvPr>
          <p:cNvSpPr/>
          <p:nvPr/>
        </p:nvSpPr>
        <p:spPr>
          <a:xfrm>
            <a:off x="10001131" y="4573102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8A3EB98-E942-F1C9-625D-7ECA1E0A3984}"/>
              </a:ext>
            </a:extLst>
          </p:cNvPr>
          <p:cNvSpPr txBox="1"/>
          <p:nvPr/>
        </p:nvSpPr>
        <p:spPr>
          <a:xfrm>
            <a:off x="7272327" y="9083499"/>
            <a:ext cx="2335487" cy="645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Flatten</a:t>
            </a:r>
            <a:endParaRPr lang="zh-TW" altLang="en-US" sz="3600" dirty="0"/>
          </a:p>
        </p:txBody>
      </p:sp>
      <p:sp>
        <p:nvSpPr>
          <p:cNvPr id="12" name="向下箭號 11">
            <a:extLst>
              <a:ext uri="{FF2B5EF4-FFF2-40B4-BE49-F238E27FC236}">
                <a16:creationId xmlns:a16="http://schemas.microsoft.com/office/drawing/2014/main" id="{E3B9FFAA-1CD1-051B-46F2-F80A03992964}"/>
              </a:ext>
            </a:extLst>
          </p:cNvPr>
          <p:cNvSpPr/>
          <p:nvPr/>
        </p:nvSpPr>
        <p:spPr>
          <a:xfrm>
            <a:off x="11090430" y="217764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下箭號 17">
            <a:extLst>
              <a:ext uri="{FF2B5EF4-FFF2-40B4-BE49-F238E27FC236}">
                <a16:creationId xmlns:a16="http://schemas.microsoft.com/office/drawing/2014/main" id="{7CC72CB1-9627-C656-AEC4-884867CB7276}"/>
              </a:ext>
            </a:extLst>
          </p:cNvPr>
          <p:cNvSpPr/>
          <p:nvPr/>
        </p:nvSpPr>
        <p:spPr>
          <a:xfrm>
            <a:off x="11090430" y="3843813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下箭號 18">
            <a:extLst>
              <a:ext uri="{FF2B5EF4-FFF2-40B4-BE49-F238E27FC236}">
                <a16:creationId xmlns:a16="http://schemas.microsoft.com/office/drawing/2014/main" id="{3BC575A1-B936-EBDF-EFBE-EA6BC3785C2F}"/>
              </a:ext>
            </a:extLst>
          </p:cNvPr>
          <p:cNvSpPr/>
          <p:nvPr/>
        </p:nvSpPr>
        <p:spPr>
          <a:xfrm>
            <a:off x="11090430" y="5481278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向下箭號 19">
            <a:extLst>
              <a:ext uri="{FF2B5EF4-FFF2-40B4-BE49-F238E27FC236}">
                <a16:creationId xmlns:a16="http://schemas.microsoft.com/office/drawing/2014/main" id="{D00750B6-6DE8-6DA2-8DF9-61A98F236E5F}"/>
              </a:ext>
            </a:extLst>
          </p:cNvPr>
          <p:cNvSpPr/>
          <p:nvPr/>
        </p:nvSpPr>
        <p:spPr>
          <a:xfrm>
            <a:off x="11090430" y="703376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右彎箭號 16">
            <a:extLst>
              <a:ext uri="{FF2B5EF4-FFF2-40B4-BE49-F238E27FC236}">
                <a16:creationId xmlns:a16="http://schemas.microsoft.com/office/drawing/2014/main" id="{8B905E15-C029-8355-FC4E-0AE02E568BFE}"/>
              </a:ext>
            </a:extLst>
          </p:cNvPr>
          <p:cNvSpPr/>
          <p:nvPr/>
        </p:nvSpPr>
        <p:spPr>
          <a:xfrm rot="10800000">
            <a:off x="9607814" y="8630103"/>
            <a:ext cx="2068286" cy="112761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2" name="右彎箭號 21">
            <a:extLst>
              <a:ext uri="{FF2B5EF4-FFF2-40B4-BE49-F238E27FC236}">
                <a16:creationId xmlns:a16="http://schemas.microsoft.com/office/drawing/2014/main" id="{F2C727BC-62EA-71E1-7755-28A175316F3B}"/>
              </a:ext>
            </a:extLst>
          </p:cNvPr>
          <p:cNvSpPr/>
          <p:nvPr/>
        </p:nvSpPr>
        <p:spPr>
          <a:xfrm rot="16200000">
            <a:off x="5517321" y="8011368"/>
            <a:ext cx="1452635" cy="1857378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2420FDE-EB61-F07D-E127-3BB3E3869B81}"/>
              </a:ext>
            </a:extLst>
          </p:cNvPr>
          <p:cNvSpPr txBox="1"/>
          <p:nvPr/>
        </p:nvSpPr>
        <p:spPr>
          <a:xfrm>
            <a:off x="13667292" y="5122137"/>
            <a:ext cx="253593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Can repeat many times</a:t>
            </a:r>
            <a:endParaRPr lang="zh-TW" altLang="en-US" sz="3600" dirty="0"/>
          </a:p>
        </p:txBody>
      </p:sp>
      <p:sp>
        <p:nvSpPr>
          <p:cNvPr id="23" name="左大括弧 22">
            <a:extLst>
              <a:ext uri="{FF2B5EF4-FFF2-40B4-BE49-F238E27FC236}">
                <a16:creationId xmlns:a16="http://schemas.microsoft.com/office/drawing/2014/main" id="{DD36AB99-2767-7896-C7B4-A553C05A93B1}"/>
              </a:ext>
            </a:extLst>
          </p:cNvPr>
          <p:cNvSpPr/>
          <p:nvPr/>
        </p:nvSpPr>
        <p:spPr>
          <a:xfrm flipH="1">
            <a:off x="13069214" y="2709812"/>
            <a:ext cx="501651" cy="6071150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9A7E4D-5C82-750D-27B4-51909A76B80A}"/>
              </a:ext>
            </a:extLst>
          </p:cNvPr>
          <p:cNvSpPr/>
          <p:nvPr/>
        </p:nvSpPr>
        <p:spPr>
          <a:xfrm>
            <a:off x="10001131" y="6171509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47A1E6-B26E-A3F4-E500-CB9732A56257}"/>
              </a:ext>
            </a:extLst>
          </p:cNvPr>
          <p:cNvSpPr/>
          <p:nvPr/>
        </p:nvSpPr>
        <p:spPr>
          <a:xfrm>
            <a:off x="10001131" y="7741459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9FDA56-DD5A-F6F0-CB79-CC122D216715}"/>
              </a:ext>
            </a:extLst>
          </p:cNvPr>
          <p:cNvSpPr/>
          <p:nvPr/>
        </p:nvSpPr>
        <p:spPr>
          <a:xfrm>
            <a:off x="9928116" y="4553661"/>
            <a:ext cx="3141097" cy="9093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376ED7-E094-998B-F864-E6359696C90C}"/>
              </a:ext>
            </a:extLst>
          </p:cNvPr>
          <p:cNvSpPr/>
          <p:nvPr/>
        </p:nvSpPr>
        <p:spPr>
          <a:xfrm>
            <a:off x="9928117" y="7699840"/>
            <a:ext cx="3141097" cy="8897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  <p:extLst>
      <p:ext uri="{BB962C8B-B14F-4D97-AF65-F5344CB8AC3E}">
        <p14:creationId xmlns:p14="http://schemas.microsoft.com/office/powerpoint/2010/main" val="350740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Max Pooling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3628904" y="4927941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3" name="橢圓 12"/>
          <p:cNvSpPr/>
          <p:nvPr/>
        </p:nvSpPr>
        <p:spPr>
          <a:xfrm>
            <a:off x="4891647" y="4927941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" name="橢圓 13"/>
          <p:cNvSpPr/>
          <p:nvPr/>
        </p:nvSpPr>
        <p:spPr>
          <a:xfrm>
            <a:off x="6154391" y="4927941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15" name="橢圓 14"/>
          <p:cNvSpPr/>
          <p:nvPr/>
        </p:nvSpPr>
        <p:spPr>
          <a:xfrm>
            <a:off x="7417134" y="4927941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6" name="橢圓 15"/>
          <p:cNvSpPr/>
          <p:nvPr/>
        </p:nvSpPr>
        <p:spPr>
          <a:xfrm>
            <a:off x="3628904" y="6128091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17" name="橢圓 16"/>
          <p:cNvSpPr/>
          <p:nvPr/>
        </p:nvSpPr>
        <p:spPr>
          <a:xfrm>
            <a:off x="4891647" y="6128091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8" name="橢圓 17"/>
          <p:cNvSpPr/>
          <p:nvPr/>
        </p:nvSpPr>
        <p:spPr>
          <a:xfrm>
            <a:off x="6154391" y="6128091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19" name="橢圓 18"/>
          <p:cNvSpPr/>
          <p:nvPr/>
        </p:nvSpPr>
        <p:spPr>
          <a:xfrm>
            <a:off x="7417134" y="6128091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20" name="橢圓 19"/>
          <p:cNvSpPr/>
          <p:nvPr/>
        </p:nvSpPr>
        <p:spPr>
          <a:xfrm>
            <a:off x="3628904" y="7414749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21" name="橢圓 20"/>
          <p:cNvSpPr/>
          <p:nvPr/>
        </p:nvSpPr>
        <p:spPr>
          <a:xfrm>
            <a:off x="4891647" y="7414749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22" name="橢圓 21"/>
          <p:cNvSpPr/>
          <p:nvPr/>
        </p:nvSpPr>
        <p:spPr>
          <a:xfrm>
            <a:off x="6154391" y="7414749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3" name="橢圓 22"/>
          <p:cNvSpPr/>
          <p:nvPr/>
        </p:nvSpPr>
        <p:spPr>
          <a:xfrm>
            <a:off x="7417134" y="7414749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24" name="橢圓 23"/>
          <p:cNvSpPr/>
          <p:nvPr/>
        </p:nvSpPr>
        <p:spPr>
          <a:xfrm>
            <a:off x="3628904" y="8614899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25" name="橢圓 24"/>
          <p:cNvSpPr/>
          <p:nvPr/>
        </p:nvSpPr>
        <p:spPr>
          <a:xfrm>
            <a:off x="4891647" y="8614899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26" name="橢圓 25"/>
          <p:cNvSpPr/>
          <p:nvPr/>
        </p:nvSpPr>
        <p:spPr>
          <a:xfrm>
            <a:off x="6154391" y="8614899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27" name="橢圓 26"/>
          <p:cNvSpPr/>
          <p:nvPr/>
        </p:nvSpPr>
        <p:spPr>
          <a:xfrm>
            <a:off x="7417134" y="8614899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10853763" y="2426099"/>
          <a:ext cx="2433231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13086919" y="3129940"/>
            <a:ext cx="2172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2</a:t>
            </a:r>
            <a:endParaRPr lang="zh-TW" altLang="en-US" sz="3600" dirty="0"/>
          </a:p>
        </p:txBody>
      </p:sp>
      <p:sp>
        <p:nvSpPr>
          <p:cNvPr id="42" name="橢圓 41"/>
          <p:cNvSpPr/>
          <p:nvPr/>
        </p:nvSpPr>
        <p:spPr>
          <a:xfrm>
            <a:off x="9882374" y="5031270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3" name="橢圓 42"/>
          <p:cNvSpPr/>
          <p:nvPr/>
        </p:nvSpPr>
        <p:spPr>
          <a:xfrm>
            <a:off x="11145117" y="5031270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4" name="橢圓 43"/>
          <p:cNvSpPr/>
          <p:nvPr/>
        </p:nvSpPr>
        <p:spPr>
          <a:xfrm>
            <a:off x="12407861" y="5031270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5" name="橢圓 44"/>
          <p:cNvSpPr/>
          <p:nvPr/>
        </p:nvSpPr>
        <p:spPr>
          <a:xfrm>
            <a:off x="13670604" y="5031270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6" name="橢圓 45"/>
          <p:cNvSpPr/>
          <p:nvPr/>
        </p:nvSpPr>
        <p:spPr>
          <a:xfrm>
            <a:off x="9882374" y="6231420"/>
            <a:ext cx="1080000" cy="103674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7" name="橢圓 46"/>
          <p:cNvSpPr/>
          <p:nvPr/>
        </p:nvSpPr>
        <p:spPr>
          <a:xfrm>
            <a:off x="11145117" y="6231420"/>
            <a:ext cx="1080000" cy="103674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48" name="橢圓 47"/>
          <p:cNvSpPr/>
          <p:nvPr/>
        </p:nvSpPr>
        <p:spPr>
          <a:xfrm>
            <a:off x="12407861" y="6231420"/>
            <a:ext cx="1080000" cy="103674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49" name="橢圓 48"/>
          <p:cNvSpPr/>
          <p:nvPr/>
        </p:nvSpPr>
        <p:spPr>
          <a:xfrm>
            <a:off x="13670604" y="6231420"/>
            <a:ext cx="1080000" cy="103674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0" name="橢圓 49"/>
          <p:cNvSpPr/>
          <p:nvPr/>
        </p:nvSpPr>
        <p:spPr>
          <a:xfrm>
            <a:off x="9882374" y="7518078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51" name="橢圓 50"/>
          <p:cNvSpPr/>
          <p:nvPr/>
        </p:nvSpPr>
        <p:spPr>
          <a:xfrm>
            <a:off x="11145117" y="7518078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52" name="橢圓 51"/>
          <p:cNvSpPr/>
          <p:nvPr/>
        </p:nvSpPr>
        <p:spPr>
          <a:xfrm>
            <a:off x="12407861" y="7518078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53" name="橢圓 52"/>
          <p:cNvSpPr/>
          <p:nvPr/>
        </p:nvSpPr>
        <p:spPr>
          <a:xfrm>
            <a:off x="13670604" y="7518078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4" name="橢圓 53"/>
          <p:cNvSpPr/>
          <p:nvPr/>
        </p:nvSpPr>
        <p:spPr>
          <a:xfrm>
            <a:off x="9882374" y="8718228"/>
            <a:ext cx="1080000" cy="103328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55" name="橢圓 54"/>
          <p:cNvSpPr/>
          <p:nvPr/>
        </p:nvSpPr>
        <p:spPr>
          <a:xfrm>
            <a:off x="11145117" y="8718228"/>
            <a:ext cx="1080000" cy="103328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6" name="橢圓 55"/>
          <p:cNvSpPr/>
          <p:nvPr/>
        </p:nvSpPr>
        <p:spPr>
          <a:xfrm>
            <a:off x="12407861" y="8718228"/>
            <a:ext cx="1080000" cy="103328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-4</a:t>
            </a:r>
            <a:endParaRPr lang="zh-TW" altLang="en-US" sz="3600" dirty="0"/>
          </a:p>
        </p:txBody>
      </p:sp>
      <p:sp>
        <p:nvSpPr>
          <p:cNvPr id="57" name="橢圓 56"/>
          <p:cNvSpPr/>
          <p:nvPr/>
        </p:nvSpPr>
        <p:spPr>
          <a:xfrm>
            <a:off x="13670604" y="8718228"/>
            <a:ext cx="1080000" cy="103328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4846404" y="2426099"/>
          <a:ext cx="2433231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-1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7279636" y="3108550"/>
            <a:ext cx="2172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Filter 1</a:t>
            </a:r>
            <a:endParaRPr lang="zh-TW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3628904" y="4927941"/>
            <a:ext cx="2342745" cy="2280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6154389" y="4927941"/>
            <a:ext cx="2342745" cy="2280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3628904" y="7411286"/>
            <a:ext cx="2342745" cy="2280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/>
        </p:nvSpPr>
        <p:spPr>
          <a:xfrm>
            <a:off x="6154389" y="7411286"/>
            <a:ext cx="2342745" cy="2280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/>
        </p:nvSpPr>
        <p:spPr>
          <a:xfrm>
            <a:off x="9882375" y="4988016"/>
            <a:ext cx="2342745" cy="228015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/>
        </p:nvSpPr>
        <p:spPr>
          <a:xfrm>
            <a:off x="12407861" y="4988016"/>
            <a:ext cx="2342745" cy="228015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/>
        </p:nvSpPr>
        <p:spPr>
          <a:xfrm>
            <a:off x="9882375" y="7471361"/>
            <a:ext cx="2342745" cy="228015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12407861" y="7471361"/>
            <a:ext cx="2342745" cy="228015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6" grpId="0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 animBg="1"/>
      <p:bldP spid="48" grpId="1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6" grpId="0" animBg="1"/>
      <p:bldP spid="56" grpId="1" animBg="1"/>
      <p:bldP spid="57" grpId="0" animBg="1"/>
      <p:bldP spid="59" grpId="0"/>
      <p:bldP spid="3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Max Pooling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/>
          <p:nvPr/>
        </p:nvGraphicFramePr>
        <p:xfrm>
          <a:off x="2793953" y="2128405"/>
          <a:ext cx="4310958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4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189161" y="6613267"/>
            <a:ext cx="3520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 x 6 image</a:t>
            </a:r>
            <a:endParaRPr lang="zh-TW" altLang="en-US" sz="3600" dirty="0"/>
          </a:p>
        </p:txBody>
      </p:sp>
      <p:sp>
        <p:nvSpPr>
          <p:cNvPr id="6" name="橢圓 5"/>
          <p:cNvSpPr/>
          <p:nvPr/>
        </p:nvSpPr>
        <p:spPr>
          <a:xfrm>
            <a:off x="11250102" y="6431892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7" name="橢圓 6"/>
          <p:cNvSpPr/>
          <p:nvPr/>
        </p:nvSpPr>
        <p:spPr>
          <a:xfrm>
            <a:off x="12707512" y="6431892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" name="橢圓 7"/>
          <p:cNvSpPr/>
          <p:nvPr/>
        </p:nvSpPr>
        <p:spPr>
          <a:xfrm>
            <a:off x="12707512" y="8094340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9" name="橢圓 8"/>
          <p:cNvSpPr/>
          <p:nvPr/>
        </p:nvSpPr>
        <p:spPr>
          <a:xfrm>
            <a:off x="11250102" y="8094340"/>
            <a:ext cx="108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0" name="橢圓 9"/>
          <p:cNvSpPr/>
          <p:nvPr/>
        </p:nvSpPr>
        <p:spPr>
          <a:xfrm>
            <a:off x="11535240" y="6757030"/>
            <a:ext cx="1080000" cy="108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1" name="橢圓 10"/>
          <p:cNvSpPr/>
          <p:nvPr/>
        </p:nvSpPr>
        <p:spPr>
          <a:xfrm>
            <a:off x="13045108" y="6723577"/>
            <a:ext cx="1080000" cy="108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2" name="橢圓 11"/>
          <p:cNvSpPr/>
          <p:nvPr/>
        </p:nvSpPr>
        <p:spPr>
          <a:xfrm>
            <a:off x="13045108" y="8329906"/>
            <a:ext cx="1080000" cy="108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3" name="橢圓 12"/>
          <p:cNvSpPr/>
          <p:nvPr/>
        </p:nvSpPr>
        <p:spPr>
          <a:xfrm>
            <a:off x="11556751" y="8333643"/>
            <a:ext cx="1080000" cy="108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829022" y="8627788"/>
            <a:ext cx="3520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 x 2 image</a:t>
            </a:r>
            <a:endParaRPr lang="zh-TW" altLang="en-US" sz="3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4462704" y="7259598"/>
            <a:ext cx="34006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Each filter </a:t>
            </a:r>
          </a:p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is a channel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16" name="向右箭號 15"/>
          <p:cNvSpPr/>
          <p:nvPr/>
        </p:nvSpPr>
        <p:spPr>
          <a:xfrm>
            <a:off x="7104911" y="3533080"/>
            <a:ext cx="1289081" cy="127046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7829022" y="6944911"/>
            <a:ext cx="34210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New image </a:t>
            </a:r>
          </a:p>
          <a:p>
            <a:pPr algn="ctr"/>
            <a:r>
              <a:rPr lang="en-US" altLang="zh-TW" sz="4200" dirty="0"/>
              <a:t>but smaller</a:t>
            </a:r>
            <a:endParaRPr lang="zh-TW" altLang="en-US" sz="4200" dirty="0"/>
          </a:p>
        </p:txBody>
      </p:sp>
      <p:sp>
        <p:nvSpPr>
          <p:cNvPr id="19" name="矩形 18"/>
          <p:cNvSpPr/>
          <p:nvPr/>
        </p:nvSpPr>
        <p:spPr>
          <a:xfrm>
            <a:off x="8398593" y="3354808"/>
            <a:ext cx="2062832" cy="160058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Conv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55107" y="3385512"/>
            <a:ext cx="2067435" cy="16005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Max</a:t>
            </a:r>
          </a:p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Pooling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3" name="向右箭號 15">
            <a:extLst>
              <a:ext uri="{FF2B5EF4-FFF2-40B4-BE49-F238E27FC236}">
                <a16:creationId xmlns:a16="http://schemas.microsoft.com/office/drawing/2014/main" id="{F2FBE87F-68A6-FFB7-FDCB-12DDAD9A003A}"/>
              </a:ext>
            </a:extLst>
          </p:cNvPr>
          <p:cNvSpPr/>
          <p:nvPr/>
        </p:nvSpPr>
        <p:spPr>
          <a:xfrm>
            <a:off x="10467949" y="3519871"/>
            <a:ext cx="1289081" cy="127046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右箭號 15">
            <a:extLst>
              <a:ext uri="{FF2B5EF4-FFF2-40B4-BE49-F238E27FC236}">
                <a16:creationId xmlns:a16="http://schemas.microsoft.com/office/drawing/2014/main" id="{DDBC02E0-44B5-9705-A9D1-4479D79D1A9A}"/>
              </a:ext>
            </a:extLst>
          </p:cNvPr>
          <p:cNvSpPr/>
          <p:nvPr/>
        </p:nvSpPr>
        <p:spPr>
          <a:xfrm rot="5400000">
            <a:off x="12144283" y="4997519"/>
            <a:ext cx="1289081" cy="127046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字方塊 24"/>
          <p:cNvSpPr txBox="1"/>
          <p:nvPr/>
        </p:nvSpPr>
        <p:spPr>
          <a:xfrm>
            <a:off x="4145710" y="5443299"/>
            <a:ext cx="3405116" cy="7386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/>
              <a:t>A new image</a:t>
            </a:r>
            <a:endParaRPr lang="zh-TW" altLang="en-US" sz="42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780629" y="7672190"/>
            <a:ext cx="78012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The number of the channel is the number of filters</a:t>
            </a:r>
            <a:endParaRPr lang="zh-TW" altLang="en-US" sz="4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721224" y="6429959"/>
            <a:ext cx="78012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Smaller than the original image</a:t>
            </a:r>
            <a:endParaRPr lang="zh-TW" altLang="en-US" sz="4200" dirty="0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7588271" y="5812631"/>
            <a:ext cx="340511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/>
        </p:nvGrpSpPr>
        <p:grpSpPr>
          <a:xfrm>
            <a:off x="4310711" y="2525833"/>
            <a:ext cx="2921873" cy="2657343"/>
            <a:chOff x="1561968" y="1612084"/>
            <a:chExt cx="1947915" cy="1771562"/>
          </a:xfrm>
        </p:grpSpPr>
        <p:sp>
          <p:nvSpPr>
            <p:cNvPr id="30" name="橢圓 29"/>
            <p:cNvSpPr/>
            <p:nvPr/>
          </p:nvSpPr>
          <p:spPr>
            <a:xfrm>
              <a:off x="1593212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3</a:t>
              </a:r>
              <a:endParaRPr lang="zh-TW" altLang="en-US" sz="3600" dirty="0"/>
            </a:p>
          </p:txBody>
        </p:sp>
        <p:sp>
          <p:nvSpPr>
            <p:cNvPr id="31" name="橢圓 30"/>
            <p:cNvSpPr/>
            <p:nvPr/>
          </p:nvSpPr>
          <p:spPr>
            <a:xfrm>
              <a:off x="2564819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  <p:sp>
          <p:nvSpPr>
            <p:cNvPr id="32" name="橢圓 31"/>
            <p:cNvSpPr/>
            <p:nvPr/>
          </p:nvSpPr>
          <p:spPr>
            <a:xfrm>
              <a:off x="2533575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33" name="橢圓 32"/>
            <p:cNvSpPr/>
            <p:nvPr/>
          </p:nvSpPr>
          <p:spPr>
            <a:xfrm>
              <a:off x="1561968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3</a:t>
              </a:r>
              <a:endParaRPr lang="zh-TW" altLang="en-US" sz="3600" dirty="0"/>
            </a:p>
          </p:txBody>
        </p:sp>
        <p:sp>
          <p:nvSpPr>
            <p:cNvPr id="34" name="橢圓 33"/>
            <p:cNvSpPr/>
            <p:nvPr/>
          </p:nvSpPr>
          <p:spPr>
            <a:xfrm>
              <a:off x="1783304" y="1828843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-1</a:t>
              </a:r>
              <a:endParaRPr lang="zh-TW" altLang="en-US" sz="3600" dirty="0"/>
            </a:p>
          </p:txBody>
        </p:sp>
        <p:sp>
          <p:nvSpPr>
            <p:cNvPr id="35" name="橢圓 34"/>
            <p:cNvSpPr/>
            <p:nvPr/>
          </p:nvSpPr>
          <p:spPr>
            <a:xfrm>
              <a:off x="2789883" y="1806541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36" name="橢圓 35"/>
            <p:cNvSpPr/>
            <p:nvPr/>
          </p:nvSpPr>
          <p:spPr>
            <a:xfrm>
              <a:off x="2758639" y="2661155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3</a:t>
              </a:r>
              <a:endParaRPr lang="zh-TW" altLang="en-US" sz="3600" dirty="0"/>
            </a:p>
          </p:txBody>
        </p:sp>
        <p:sp>
          <p:nvSpPr>
            <p:cNvPr id="37" name="橢圓 36"/>
            <p:cNvSpPr/>
            <p:nvPr/>
          </p:nvSpPr>
          <p:spPr>
            <a:xfrm>
              <a:off x="1766401" y="2663646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pic>
        <p:nvPicPr>
          <p:cNvPr id="3" name="Picture 2" descr="http://s.hswstatic.com/gif/whiskers-sam.jpg">
            <a:extLst>
              <a:ext uri="{FF2B5EF4-FFF2-40B4-BE49-F238E27FC236}">
                <a16:creationId xmlns:a16="http://schemas.microsoft.com/office/drawing/2014/main" id="{36806C5E-75FA-C7DC-3DEF-1FA690486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463" y="287294"/>
            <a:ext cx="2656508" cy="18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9AD46DD-B04D-3B53-C2C4-DB2300F8D313}"/>
              </a:ext>
            </a:extLst>
          </p:cNvPr>
          <p:cNvSpPr/>
          <p:nvPr/>
        </p:nvSpPr>
        <p:spPr>
          <a:xfrm>
            <a:off x="10001131" y="2894258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6954F0-4120-CC67-5E62-A9E2D64D8CC1}"/>
              </a:ext>
            </a:extLst>
          </p:cNvPr>
          <p:cNvSpPr/>
          <p:nvPr/>
        </p:nvSpPr>
        <p:spPr>
          <a:xfrm>
            <a:off x="10001131" y="4573102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6" name="向下箭號 11">
            <a:extLst>
              <a:ext uri="{FF2B5EF4-FFF2-40B4-BE49-F238E27FC236}">
                <a16:creationId xmlns:a16="http://schemas.microsoft.com/office/drawing/2014/main" id="{4A268AB3-EF5A-D05F-87EF-C17FDA996EC6}"/>
              </a:ext>
            </a:extLst>
          </p:cNvPr>
          <p:cNvSpPr/>
          <p:nvPr/>
        </p:nvSpPr>
        <p:spPr>
          <a:xfrm>
            <a:off x="11090430" y="217764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向下箭號 17">
            <a:extLst>
              <a:ext uri="{FF2B5EF4-FFF2-40B4-BE49-F238E27FC236}">
                <a16:creationId xmlns:a16="http://schemas.microsoft.com/office/drawing/2014/main" id="{BBC973E9-51B3-0D0E-37F6-8305F47AC576}"/>
              </a:ext>
            </a:extLst>
          </p:cNvPr>
          <p:cNvSpPr/>
          <p:nvPr/>
        </p:nvSpPr>
        <p:spPr>
          <a:xfrm>
            <a:off x="11090430" y="3843813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向下箭號 18">
            <a:extLst>
              <a:ext uri="{FF2B5EF4-FFF2-40B4-BE49-F238E27FC236}">
                <a16:creationId xmlns:a16="http://schemas.microsoft.com/office/drawing/2014/main" id="{ACDB6D21-E698-A4AC-B4CE-94A0CDF91C70}"/>
              </a:ext>
            </a:extLst>
          </p:cNvPr>
          <p:cNvSpPr/>
          <p:nvPr/>
        </p:nvSpPr>
        <p:spPr>
          <a:xfrm>
            <a:off x="11090430" y="5481278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向下箭號 19">
            <a:extLst>
              <a:ext uri="{FF2B5EF4-FFF2-40B4-BE49-F238E27FC236}">
                <a16:creationId xmlns:a16="http://schemas.microsoft.com/office/drawing/2014/main" id="{27B5ABEF-8C43-8D13-1FAA-78828C62BEF1}"/>
              </a:ext>
            </a:extLst>
          </p:cNvPr>
          <p:cNvSpPr/>
          <p:nvPr/>
        </p:nvSpPr>
        <p:spPr>
          <a:xfrm>
            <a:off x="11090430" y="703376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文字方塊 20">
            <a:extLst>
              <a:ext uri="{FF2B5EF4-FFF2-40B4-BE49-F238E27FC236}">
                <a16:creationId xmlns:a16="http://schemas.microsoft.com/office/drawing/2014/main" id="{C0592900-FC51-56E3-7ECE-45AFB1E96FDE}"/>
              </a:ext>
            </a:extLst>
          </p:cNvPr>
          <p:cNvSpPr txBox="1"/>
          <p:nvPr/>
        </p:nvSpPr>
        <p:spPr>
          <a:xfrm>
            <a:off x="13667292" y="5122137"/>
            <a:ext cx="253593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Can repeat many times</a:t>
            </a:r>
            <a:endParaRPr lang="zh-TW" altLang="en-US" sz="3600" dirty="0"/>
          </a:p>
        </p:txBody>
      </p:sp>
      <p:sp>
        <p:nvSpPr>
          <p:cNvPr id="22" name="左大括弧 22">
            <a:extLst>
              <a:ext uri="{FF2B5EF4-FFF2-40B4-BE49-F238E27FC236}">
                <a16:creationId xmlns:a16="http://schemas.microsoft.com/office/drawing/2014/main" id="{3B4A0977-1B14-6E08-1188-F56F9A3CBB16}"/>
              </a:ext>
            </a:extLst>
          </p:cNvPr>
          <p:cNvSpPr/>
          <p:nvPr/>
        </p:nvSpPr>
        <p:spPr>
          <a:xfrm flipH="1">
            <a:off x="13069214" y="2709812"/>
            <a:ext cx="501651" cy="6071150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6381B5-4C30-8B95-B870-60125557A472}"/>
              </a:ext>
            </a:extLst>
          </p:cNvPr>
          <p:cNvSpPr/>
          <p:nvPr/>
        </p:nvSpPr>
        <p:spPr>
          <a:xfrm>
            <a:off x="10001131" y="6171509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1971CEC-4132-D9F6-0B96-B016E52A2AC9}"/>
              </a:ext>
            </a:extLst>
          </p:cNvPr>
          <p:cNvSpPr/>
          <p:nvPr/>
        </p:nvSpPr>
        <p:spPr>
          <a:xfrm>
            <a:off x="10001131" y="7741459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F7D191C-EF41-3EDC-1B71-EBFD4FB9CE23}"/>
              </a:ext>
            </a:extLst>
          </p:cNvPr>
          <p:cNvSpPr/>
          <p:nvPr/>
        </p:nvSpPr>
        <p:spPr>
          <a:xfrm>
            <a:off x="9928116" y="2817519"/>
            <a:ext cx="3141097" cy="26455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D5A0D60-09BC-81EA-3CD2-6EDB42A87E16}"/>
              </a:ext>
            </a:extLst>
          </p:cNvPr>
          <p:cNvSpPr/>
          <p:nvPr/>
        </p:nvSpPr>
        <p:spPr>
          <a:xfrm>
            <a:off x="9928117" y="6102899"/>
            <a:ext cx="3141097" cy="24867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標題 1">
            <a:extLst>
              <a:ext uri="{FF2B5EF4-FFF2-40B4-BE49-F238E27FC236}">
                <a16:creationId xmlns:a16="http://schemas.microsoft.com/office/drawing/2014/main" id="{4301ADB9-1132-4405-CBC6-838296409832}"/>
              </a:ext>
            </a:extLst>
          </p:cNvPr>
          <p:cNvSpPr txBox="1">
            <a:spLocks/>
          </p:cNvSpPr>
          <p:nvPr/>
        </p:nvSpPr>
        <p:spPr bwMode="auto">
          <a:xfrm>
            <a:off x="1098549" y="161365"/>
            <a:ext cx="8902581" cy="155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/>
              <a:t>The whole CNN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E50E3-5D5A-C58C-5AAF-F1A91434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D76354-6950-93B4-EF04-5783F808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49" y="161365"/>
            <a:ext cx="8902581" cy="1551434"/>
          </a:xfrm>
        </p:spPr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5BFA1D26-D754-5E22-7F66-5318AD2E02B2}"/>
              </a:ext>
            </a:extLst>
          </p:cNvPr>
          <p:cNvGrpSpPr/>
          <p:nvPr/>
        </p:nvGrpSpPr>
        <p:grpSpPr>
          <a:xfrm>
            <a:off x="3410555" y="3411522"/>
            <a:ext cx="4359852" cy="4802216"/>
            <a:chOff x="-1626455" y="3999118"/>
            <a:chExt cx="2906568" cy="320147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1382353A-8A69-54D4-FE26-545BD0814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8386F020-D6DB-96E1-ACBF-EA81BD94205C}"/>
                </a:ext>
              </a:extLst>
            </p:cNvPr>
            <p:cNvSpPr txBox="1"/>
            <p:nvPr/>
          </p:nvSpPr>
          <p:spPr>
            <a:xfrm>
              <a:off x="-1626455" y="5442856"/>
              <a:ext cx="2906568" cy="11688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rgbClr val="FCFCFC"/>
                  </a:solidFill>
                </a:rPr>
                <a:t>Fully Connected Feedforward network</a:t>
              </a:r>
              <a:endParaRPr lang="zh-TW" altLang="en-US" sz="3600" dirty="0">
                <a:solidFill>
                  <a:srgbClr val="FCFCFC"/>
                </a:solidFill>
              </a:endParaRPr>
            </a:p>
          </p:txBody>
        </p:sp>
      </p:grpSp>
      <p:pic>
        <p:nvPicPr>
          <p:cNvPr id="12290" name="Picture 2" descr="http://s.hswstatic.com/gif/whiskers-sam.jpg">
            <a:extLst>
              <a:ext uri="{FF2B5EF4-FFF2-40B4-BE49-F238E27FC236}">
                <a16:creationId xmlns:a16="http://schemas.microsoft.com/office/drawing/2014/main" id="{8592C615-CE4D-490C-AAAE-0099AFD28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463" y="287294"/>
            <a:ext cx="2656508" cy="18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FD804DA-9DD9-E68C-0A97-5926B36C76DC}"/>
              </a:ext>
            </a:extLst>
          </p:cNvPr>
          <p:cNvSpPr txBox="1"/>
          <p:nvPr/>
        </p:nvSpPr>
        <p:spPr>
          <a:xfrm>
            <a:off x="4202183" y="2558954"/>
            <a:ext cx="3070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cat dog ……</a:t>
            </a:r>
            <a:endParaRPr lang="zh-TW" altLang="en-US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F45E9D-E569-A3FA-6253-D00ADF8FEC7A}"/>
              </a:ext>
            </a:extLst>
          </p:cNvPr>
          <p:cNvSpPr/>
          <p:nvPr/>
        </p:nvSpPr>
        <p:spPr>
          <a:xfrm>
            <a:off x="10001131" y="2894258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87F687-AD5E-FDCF-BEC9-EE7F0B9828F0}"/>
              </a:ext>
            </a:extLst>
          </p:cNvPr>
          <p:cNvSpPr/>
          <p:nvPr/>
        </p:nvSpPr>
        <p:spPr>
          <a:xfrm>
            <a:off x="10001131" y="4573102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59C9477-6CFE-66BF-FA75-F20FA54315B1}"/>
              </a:ext>
            </a:extLst>
          </p:cNvPr>
          <p:cNvSpPr txBox="1"/>
          <p:nvPr/>
        </p:nvSpPr>
        <p:spPr>
          <a:xfrm>
            <a:off x="7272327" y="9083499"/>
            <a:ext cx="2335487" cy="645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Flatten</a:t>
            </a:r>
            <a:endParaRPr lang="zh-TW" altLang="en-US" sz="3600" dirty="0"/>
          </a:p>
        </p:txBody>
      </p:sp>
      <p:sp>
        <p:nvSpPr>
          <p:cNvPr id="12" name="向下箭號 11">
            <a:extLst>
              <a:ext uri="{FF2B5EF4-FFF2-40B4-BE49-F238E27FC236}">
                <a16:creationId xmlns:a16="http://schemas.microsoft.com/office/drawing/2014/main" id="{3A5C44F2-E1FF-1D6C-1EF0-8760D0DF83D7}"/>
              </a:ext>
            </a:extLst>
          </p:cNvPr>
          <p:cNvSpPr/>
          <p:nvPr/>
        </p:nvSpPr>
        <p:spPr>
          <a:xfrm>
            <a:off x="11090430" y="217764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下箭號 17">
            <a:extLst>
              <a:ext uri="{FF2B5EF4-FFF2-40B4-BE49-F238E27FC236}">
                <a16:creationId xmlns:a16="http://schemas.microsoft.com/office/drawing/2014/main" id="{CFC64CDC-E04B-CFF2-48E9-DFDA5627E8C0}"/>
              </a:ext>
            </a:extLst>
          </p:cNvPr>
          <p:cNvSpPr/>
          <p:nvPr/>
        </p:nvSpPr>
        <p:spPr>
          <a:xfrm>
            <a:off x="11090430" y="3843813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下箭號 18">
            <a:extLst>
              <a:ext uri="{FF2B5EF4-FFF2-40B4-BE49-F238E27FC236}">
                <a16:creationId xmlns:a16="http://schemas.microsoft.com/office/drawing/2014/main" id="{20098CE0-6F28-C981-23F4-1870A1EEF35E}"/>
              </a:ext>
            </a:extLst>
          </p:cNvPr>
          <p:cNvSpPr/>
          <p:nvPr/>
        </p:nvSpPr>
        <p:spPr>
          <a:xfrm>
            <a:off x="11090430" y="5481278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向下箭號 19">
            <a:extLst>
              <a:ext uri="{FF2B5EF4-FFF2-40B4-BE49-F238E27FC236}">
                <a16:creationId xmlns:a16="http://schemas.microsoft.com/office/drawing/2014/main" id="{65349277-0C4D-09BB-1359-3600E39F39C4}"/>
              </a:ext>
            </a:extLst>
          </p:cNvPr>
          <p:cNvSpPr/>
          <p:nvPr/>
        </p:nvSpPr>
        <p:spPr>
          <a:xfrm>
            <a:off x="11090430" y="703376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右彎箭號 16">
            <a:extLst>
              <a:ext uri="{FF2B5EF4-FFF2-40B4-BE49-F238E27FC236}">
                <a16:creationId xmlns:a16="http://schemas.microsoft.com/office/drawing/2014/main" id="{1FD30B03-5E10-2637-08DE-B29C0CC58A02}"/>
              </a:ext>
            </a:extLst>
          </p:cNvPr>
          <p:cNvSpPr/>
          <p:nvPr/>
        </p:nvSpPr>
        <p:spPr>
          <a:xfrm rot="10800000">
            <a:off x="9607814" y="8630103"/>
            <a:ext cx="2068286" cy="112761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2" name="右彎箭號 21">
            <a:extLst>
              <a:ext uri="{FF2B5EF4-FFF2-40B4-BE49-F238E27FC236}">
                <a16:creationId xmlns:a16="http://schemas.microsoft.com/office/drawing/2014/main" id="{97041DE0-E43D-3DD8-E6D9-A41831913706}"/>
              </a:ext>
            </a:extLst>
          </p:cNvPr>
          <p:cNvSpPr/>
          <p:nvPr/>
        </p:nvSpPr>
        <p:spPr>
          <a:xfrm rot="16200000">
            <a:off x="5517321" y="8011368"/>
            <a:ext cx="1452635" cy="1857378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410F07-156E-3299-C9B1-F8CF48FC1EFA}"/>
              </a:ext>
            </a:extLst>
          </p:cNvPr>
          <p:cNvSpPr/>
          <p:nvPr/>
        </p:nvSpPr>
        <p:spPr>
          <a:xfrm>
            <a:off x="10001131" y="6171509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619927-131C-91D7-DD63-ACA3D777739D}"/>
              </a:ext>
            </a:extLst>
          </p:cNvPr>
          <p:cNvSpPr/>
          <p:nvPr/>
        </p:nvSpPr>
        <p:spPr>
          <a:xfrm>
            <a:off x="10001131" y="7741459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5D3FFB-67B4-0FBB-6FB2-E6552E782E59}"/>
              </a:ext>
            </a:extLst>
          </p:cNvPr>
          <p:cNvSpPr/>
          <p:nvPr/>
        </p:nvSpPr>
        <p:spPr>
          <a:xfrm>
            <a:off x="3305462" y="3343383"/>
            <a:ext cx="6391854" cy="67822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053B87-6C7C-8E0A-5D44-A9B25B93D2DE}"/>
              </a:ext>
            </a:extLst>
          </p:cNvPr>
          <p:cNvSpPr/>
          <p:nvPr/>
        </p:nvSpPr>
        <p:spPr>
          <a:xfrm>
            <a:off x="12005392" y="5198831"/>
            <a:ext cx="2997130" cy="8347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A new image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FBD012-7A74-8A4F-1BCB-DD40702220E7}"/>
              </a:ext>
            </a:extLst>
          </p:cNvPr>
          <p:cNvSpPr/>
          <p:nvPr/>
        </p:nvSpPr>
        <p:spPr>
          <a:xfrm>
            <a:off x="12005392" y="8359179"/>
            <a:ext cx="2997130" cy="8347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A new image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09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字方塊 16"/>
          <p:cNvSpPr txBox="1"/>
          <p:nvPr/>
        </p:nvSpPr>
        <p:spPr>
          <a:xfrm>
            <a:off x="6049511" y="5854274"/>
            <a:ext cx="20460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Flatten</a:t>
            </a:r>
            <a:endParaRPr lang="zh-TW" altLang="en-US" sz="4200" dirty="0"/>
          </a:p>
        </p:txBody>
      </p:sp>
      <p:sp>
        <p:nvSpPr>
          <p:cNvPr id="21" name="橢圓 20"/>
          <p:cNvSpPr/>
          <p:nvPr/>
        </p:nvSpPr>
        <p:spPr>
          <a:xfrm>
            <a:off x="8604000" y="292328"/>
            <a:ext cx="1080000" cy="108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22" name="橢圓 21"/>
          <p:cNvSpPr/>
          <p:nvPr/>
        </p:nvSpPr>
        <p:spPr>
          <a:xfrm>
            <a:off x="8604000" y="1626576"/>
            <a:ext cx="1080000" cy="108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3" name="橢圓 22"/>
          <p:cNvSpPr/>
          <p:nvPr/>
        </p:nvSpPr>
        <p:spPr>
          <a:xfrm>
            <a:off x="8604000" y="2884926"/>
            <a:ext cx="1080000" cy="108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24" name="橢圓 23"/>
          <p:cNvSpPr/>
          <p:nvPr/>
        </p:nvSpPr>
        <p:spPr>
          <a:xfrm>
            <a:off x="8604000" y="4167330"/>
            <a:ext cx="1080000" cy="108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25" name="橢圓 24"/>
          <p:cNvSpPr/>
          <p:nvPr/>
        </p:nvSpPr>
        <p:spPr>
          <a:xfrm>
            <a:off x="8604000" y="5422601"/>
            <a:ext cx="1080000" cy="108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26" name="橢圓 25"/>
          <p:cNvSpPr/>
          <p:nvPr/>
        </p:nvSpPr>
        <p:spPr>
          <a:xfrm>
            <a:off x="8604000" y="6604134"/>
            <a:ext cx="1080000" cy="108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27" name="橢圓 26"/>
          <p:cNvSpPr/>
          <p:nvPr/>
        </p:nvSpPr>
        <p:spPr>
          <a:xfrm>
            <a:off x="8604000" y="7806869"/>
            <a:ext cx="1080000" cy="108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8" name="橢圓 27"/>
          <p:cNvSpPr/>
          <p:nvPr/>
        </p:nvSpPr>
        <p:spPr>
          <a:xfrm>
            <a:off x="8604000" y="9043914"/>
            <a:ext cx="1080000" cy="108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5" name="向右箭號 4"/>
          <p:cNvSpPr/>
          <p:nvPr/>
        </p:nvSpPr>
        <p:spPr>
          <a:xfrm>
            <a:off x="9767470" y="4785956"/>
            <a:ext cx="837419" cy="10930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10713798" y="3979566"/>
            <a:ext cx="4802216" cy="2552682"/>
          </a:xfrm>
          <a:prstGeom prst="rect">
            <a:avLst/>
          </a:prstGeom>
        </p:spPr>
      </p:pic>
      <p:sp>
        <p:nvSpPr>
          <p:cNvPr id="34" name="向右箭號 33"/>
          <p:cNvSpPr/>
          <p:nvPr/>
        </p:nvSpPr>
        <p:spPr>
          <a:xfrm>
            <a:off x="5774531" y="4803066"/>
            <a:ext cx="2749014" cy="10930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8EEB0874-9F30-D3F3-AEA9-9BC1915E5823}"/>
              </a:ext>
            </a:extLst>
          </p:cNvPr>
          <p:cNvSpPr txBox="1"/>
          <p:nvPr/>
        </p:nvSpPr>
        <p:spPr>
          <a:xfrm>
            <a:off x="10934980" y="6690126"/>
            <a:ext cx="4359852" cy="17532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Fully Connected Feedforward network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70E4E031-1B1E-1FC0-AEA6-7AE13619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086" y="161365"/>
            <a:ext cx="7610044" cy="1551434"/>
          </a:xfrm>
        </p:spPr>
        <p:txBody>
          <a:bodyPr/>
          <a:lstStyle/>
          <a:p>
            <a:pPr algn="l"/>
            <a:r>
              <a:rPr lang="en-US" altLang="zh-TW" dirty="0"/>
              <a:t>Flatten</a:t>
            </a:r>
            <a:endParaRPr lang="zh-TW" altLang="en-US" dirty="0"/>
          </a:p>
        </p:txBody>
      </p:sp>
      <p:grpSp>
        <p:nvGrpSpPr>
          <p:cNvPr id="16" name="群組 7">
            <a:extLst>
              <a:ext uri="{FF2B5EF4-FFF2-40B4-BE49-F238E27FC236}">
                <a16:creationId xmlns:a16="http://schemas.microsoft.com/office/drawing/2014/main" id="{60C47C00-7FEE-924F-FC2D-010EA01AFFE1}"/>
              </a:ext>
            </a:extLst>
          </p:cNvPr>
          <p:cNvGrpSpPr/>
          <p:nvPr/>
        </p:nvGrpSpPr>
        <p:grpSpPr>
          <a:xfrm>
            <a:off x="2344220" y="3850768"/>
            <a:ext cx="2921873" cy="2657343"/>
            <a:chOff x="1561968" y="1612084"/>
            <a:chExt cx="1947915" cy="1771562"/>
          </a:xfrm>
        </p:grpSpPr>
        <p:sp>
          <p:nvSpPr>
            <p:cNvPr id="18" name="橢圓 29">
              <a:extLst>
                <a:ext uri="{FF2B5EF4-FFF2-40B4-BE49-F238E27FC236}">
                  <a16:creationId xmlns:a16="http://schemas.microsoft.com/office/drawing/2014/main" id="{C70C346F-F2D6-7423-7245-C2669DD8E0A4}"/>
                </a:ext>
              </a:extLst>
            </p:cNvPr>
            <p:cNvSpPr/>
            <p:nvPr/>
          </p:nvSpPr>
          <p:spPr>
            <a:xfrm>
              <a:off x="1593212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3</a:t>
              </a:r>
              <a:endParaRPr lang="zh-TW" altLang="en-US" sz="3600" dirty="0"/>
            </a:p>
          </p:txBody>
        </p:sp>
        <p:sp>
          <p:nvSpPr>
            <p:cNvPr id="19" name="橢圓 30">
              <a:extLst>
                <a:ext uri="{FF2B5EF4-FFF2-40B4-BE49-F238E27FC236}">
                  <a16:creationId xmlns:a16="http://schemas.microsoft.com/office/drawing/2014/main" id="{A920FB5A-5E59-24A5-5EC3-21788211A6B9}"/>
                </a:ext>
              </a:extLst>
            </p:cNvPr>
            <p:cNvSpPr/>
            <p:nvPr/>
          </p:nvSpPr>
          <p:spPr>
            <a:xfrm>
              <a:off x="2564819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  <p:sp>
          <p:nvSpPr>
            <p:cNvPr id="20" name="橢圓 31">
              <a:extLst>
                <a:ext uri="{FF2B5EF4-FFF2-40B4-BE49-F238E27FC236}">
                  <a16:creationId xmlns:a16="http://schemas.microsoft.com/office/drawing/2014/main" id="{4A0B5691-841A-7D12-71CD-0623D3CDB55D}"/>
                </a:ext>
              </a:extLst>
            </p:cNvPr>
            <p:cNvSpPr/>
            <p:nvPr/>
          </p:nvSpPr>
          <p:spPr>
            <a:xfrm>
              <a:off x="2533575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32" name="橢圓 32">
              <a:extLst>
                <a:ext uri="{FF2B5EF4-FFF2-40B4-BE49-F238E27FC236}">
                  <a16:creationId xmlns:a16="http://schemas.microsoft.com/office/drawing/2014/main" id="{F996D289-80F9-79E1-AA29-5AE7B6822F3A}"/>
                </a:ext>
              </a:extLst>
            </p:cNvPr>
            <p:cNvSpPr/>
            <p:nvPr/>
          </p:nvSpPr>
          <p:spPr>
            <a:xfrm>
              <a:off x="1561968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3</a:t>
              </a:r>
              <a:endParaRPr lang="zh-TW" altLang="en-US" sz="3600" dirty="0"/>
            </a:p>
          </p:txBody>
        </p:sp>
        <p:sp>
          <p:nvSpPr>
            <p:cNvPr id="35" name="橢圓 33">
              <a:extLst>
                <a:ext uri="{FF2B5EF4-FFF2-40B4-BE49-F238E27FC236}">
                  <a16:creationId xmlns:a16="http://schemas.microsoft.com/office/drawing/2014/main" id="{A83A53A6-42E6-1F93-F170-4A269CDFA192}"/>
                </a:ext>
              </a:extLst>
            </p:cNvPr>
            <p:cNvSpPr/>
            <p:nvPr/>
          </p:nvSpPr>
          <p:spPr>
            <a:xfrm>
              <a:off x="1783304" y="1828843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-1</a:t>
              </a:r>
              <a:endParaRPr lang="zh-TW" altLang="en-US" sz="3600" dirty="0"/>
            </a:p>
          </p:txBody>
        </p:sp>
        <p:sp>
          <p:nvSpPr>
            <p:cNvPr id="36" name="橢圓 34">
              <a:extLst>
                <a:ext uri="{FF2B5EF4-FFF2-40B4-BE49-F238E27FC236}">
                  <a16:creationId xmlns:a16="http://schemas.microsoft.com/office/drawing/2014/main" id="{63D49F14-F330-65BC-F2E3-49EF9E791144}"/>
                </a:ext>
              </a:extLst>
            </p:cNvPr>
            <p:cNvSpPr/>
            <p:nvPr/>
          </p:nvSpPr>
          <p:spPr>
            <a:xfrm>
              <a:off x="2789883" y="1806541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37" name="橢圓 35">
              <a:extLst>
                <a:ext uri="{FF2B5EF4-FFF2-40B4-BE49-F238E27FC236}">
                  <a16:creationId xmlns:a16="http://schemas.microsoft.com/office/drawing/2014/main" id="{897AFBC5-3346-729C-AD5C-796E07CE2DB0}"/>
                </a:ext>
              </a:extLst>
            </p:cNvPr>
            <p:cNvSpPr/>
            <p:nvPr/>
          </p:nvSpPr>
          <p:spPr>
            <a:xfrm>
              <a:off x="2758639" y="2661155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3</a:t>
              </a:r>
              <a:endParaRPr lang="zh-TW" altLang="en-US" sz="3600" dirty="0"/>
            </a:p>
          </p:txBody>
        </p:sp>
        <p:sp>
          <p:nvSpPr>
            <p:cNvPr id="38" name="橢圓 36">
              <a:extLst>
                <a:ext uri="{FF2B5EF4-FFF2-40B4-BE49-F238E27FC236}">
                  <a16:creationId xmlns:a16="http://schemas.microsoft.com/office/drawing/2014/main" id="{6B6009B8-1537-B61D-F178-B5DF45395F99}"/>
                </a:ext>
              </a:extLst>
            </p:cNvPr>
            <p:cNvSpPr/>
            <p:nvPr/>
          </p:nvSpPr>
          <p:spPr>
            <a:xfrm>
              <a:off x="1766401" y="2663646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5" grpId="0" animBg="1"/>
      <p:bldP spid="34" grpId="0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22568" y="212627"/>
            <a:ext cx="9590420" cy="120032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CFCFC"/>
                </a:solidFill>
              </a:rPr>
              <a:t>Only modified the </a:t>
            </a:r>
            <a:r>
              <a:rPr lang="en-US" altLang="zh-TW" sz="3600" b="1" i="1" dirty="0">
                <a:solidFill>
                  <a:srgbClr val="FCFCFC"/>
                </a:solidFill>
              </a:rPr>
              <a:t>network structure </a:t>
            </a:r>
            <a:r>
              <a:rPr lang="en-US" altLang="zh-TW" sz="3600" dirty="0">
                <a:solidFill>
                  <a:srgbClr val="FCFCFC"/>
                </a:solidFill>
              </a:rPr>
              <a:t>and </a:t>
            </a:r>
            <a:r>
              <a:rPr lang="en-US" altLang="zh-TW" sz="3600" b="1" i="1" dirty="0">
                <a:solidFill>
                  <a:srgbClr val="FCFCFC"/>
                </a:solidFill>
              </a:rPr>
              <a:t>input format (vector -&gt; 3-D tensor)</a:t>
            </a:r>
            <a:endParaRPr lang="zh-TW" altLang="en-US" sz="3600" b="1" i="1" dirty="0">
              <a:solidFill>
                <a:srgbClr val="FCFCFC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87165" y="397593"/>
            <a:ext cx="362791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CNN in </a:t>
            </a:r>
            <a:r>
              <a:rPr lang="en-US" altLang="zh-TW" sz="4200" b="1" i="1" u="sng" dirty="0" err="1"/>
              <a:t>Keras</a:t>
            </a:r>
            <a:endParaRPr lang="zh-TW" altLang="en-US" sz="4200" b="1" i="1" u="sng" dirty="0"/>
          </a:p>
        </p:txBody>
      </p:sp>
      <p:sp>
        <p:nvSpPr>
          <p:cNvPr id="34" name="向下箭號 11"/>
          <p:cNvSpPr/>
          <p:nvPr/>
        </p:nvSpPr>
        <p:spPr>
          <a:xfrm>
            <a:off x="12678308" y="209446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向下箭號 17"/>
          <p:cNvSpPr/>
          <p:nvPr/>
        </p:nvSpPr>
        <p:spPr>
          <a:xfrm>
            <a:off x="12678308" y="376064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下箭號 18"/>
          <p:cNvSpPr/>
          <p:nvPr/>
        </p:nvSpPr>
        <p:spPr>
          <a:xfrm>
            <a:off x="12678308" y="5398104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下箭號 19"/>
          <p:cNvSpPr/>
          <p:nvPr/>
        </p:nvSpPr>
        <p:spPr>
          <a:xfrm>
            <a:off x="12678308" y="6950594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11571686" y="1459123"/>
            <a:ext cx="3070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  <a:endParaRPr lang="zh-TW" altLang="en-US" sz="36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623" y="2177502"/>
            <a:ext cx="7300913" cy="82867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858" y="7046640"/>
            <a:ext cx="6257925" cy="400050"/>
          </a:xfrm>
          <a:prstGeom prst="rect">
            <a:avLst/>
          </a:prstGeom>
        </p:spPr>
      </p:pic>
      <p:cxnSp>
        <p:nvCxnSpPr>
          <p:cNvPr id="46" name="直線接點 45"/>
          <p:cNvCxnSpPr/>
          <p:nvPr/>
        </p:nvCxnSpPr>
        <p:spPr>
          <a:xfrm>
            <a:off x="5589903" y="2506958"/>
            <a:ext cx="256429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8479047" y="2506958"/>
            <a:ext cx="50320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9125717" y="2506958"/>
            <a:ext cx="25160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9509593" y="2508830"/>
            <a:ext cx="25160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3371120" y="3306071"/>
          <a:ext cx="2073903" cy="1668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1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7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7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7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/>
        </p:nvGraphicFramePr>
        <p:xfrm>
          <a:off x="4524677" y="3552014"/>
          <a:ext cx="2098095" cy="1668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7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7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7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 dirty="0"/>
                        <a:t>-1</a:t>
                      </a:r>
                      <a:endParaRPr lang="zh-TW" altLang="en-US" sz="27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" name="文字方塊 56"/>
          <p:cNvSpPr txBox="1"/>
          <p:nvPr/>
        </p:nvSpPr>
        <p:spPr>
          <a:xfrm>
            <a:off x="7718139" y="3679656"/>
            <a:ext cx="3003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There are </a:t>
            </a:r>
            <a:r>
              <a:rPr lang="en-US" altLang="zh-TW" sz="3600" dirty="0">
                <a:solidFill>
                  <a:srgbClr val="FF0000"/>
                </a:solidFill>
              </a:rPr>
              <a:t>25</a:t>
            </a:r>
            <a:r>
              <a:rPr lang="en-US" altLang="zh-TW" sz="3600" dirty="0"/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3x3</a:t>
            </a:r>
            <a:r>
              <a:rPr lang="en-US" altLang="zh-TW" sz="3600" dirty="0"/>
              <a:t> filters.</a:t>
            </a:r>
            <a:endParaRPr lang="zh-TW" altLang="en-US" sz="36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676635" y="3782636"/>
            <a:ext cx="10383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4131968" y="5235047"/>
            <a:ext cx="6288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Input_shape</a:t>
            </a:r>
            <a:r>
              <a:rPr lang="en-US" altLang="zh-TW" sz="3600" dirty="0"/>
              <a:t> = ( 28 , 28 , 1)</a:t>
            </a:r>
            <a:endParaRPr lang="zh-TW" altLang="en-US" sz="36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217379" y="5976706"/>
            <a:ext cx="4952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1: black/white, 3: RGB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3217824" y="5976706"/>
            <a:ext cx="3036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28 x 28 pixels</a:t>
            </a:r>
            <a:endParaRPr lang="zh-TW" altLang="en-US" sz="3600" dirty="0"/>
          </a:p>
        </p:txBody>
      </p:sp>
      <p:sp>
        <p:nvSpPr>
          <p:cNvPr id="62" name="橢圓 61"/>
          <p:cNvSpPr/>
          <p:nvPr/>
        </p:nvSpPr>
        <p:spPr>
          <a:xfrm>
            <a:off x="4765466" y="7676778"/>
            <a:ext cx="945000" cy="945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63" name="橢圓 62"/>
          <p:cNvSpPr/>
          <p:nvPr/>
        </p:nvSpPr>
        <p:spPr>
          <a:xfrm>
            <a:off x="5817110" y="7676778"/>
            <a:ext cx="945000" cy="945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64" name="橢圓 63"/>
          <p:cNvSpPr/>
          <p:nvPr/>
        </p:nvSpPr>
        <p:spPr>
          <a:xfrm>
            <a:off x="4754745" y="8757903"/>
            <a:ext cx="945000" cy="945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-3</a:t>
            </a:r>
            <a:endParaRPr lang="zh-TW" altLang="en-US" sz="3600" dirty="0"/>
          </a:p>
        </p:txBody>
      </p:sp>
      <p:sp>
        <p:nvSpPr>
          <p:cNvPr id="65" name="橢圓 64"/>
          <p:cNvSpPr/>
          <p:nvPr/>
        </p:nvSpPr>
        <p:spPr>
          <a:xfrm>
            <a:off x="5805234" y="8757903"/>
            <a:ext cx="945000" cy="945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66" name="矩形 65"/>
          <p:cNvSpPr/>
          <p:nvPr/>
        </p:nvSpPr>
        <p:spPr>
          <a:xfrm>
            <a:off x="4765466" y="7638803"/>
            <a:ext cx="1996644" cy="20641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/>
          <p:cNvSpPr/>
          <p:nvPr/>
        </p:nvSpPr>
        <p:spPr>
          <a:xfrm>
            <a:off x="8196741" y="7695704"/>
            <a:ext cx="945000" cy="945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71" name="矩形 70"/>
          <p:cNvSpPr/>
          <p:nvPr/>
        </p:nvSpPr>
        <p:spPr>
          <a:xfrm>
            <a:off x="8196741" y="7657729"/>
            <a:ext cx="1996644" cy="20641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箭號: 向右 71"/>
          <p:cNvSpPr/>
          <p:nvPr/>
        </p:nvSpPr>
        <p:spPr>
          <a:xfrm>
            <a:off x="6909659" y="8375816"/>
            <a:ext cx="1175532" cy="71501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/>
        </p:nvSpPr>
        <p:spPr>
          <a:xfrm>
            <a:off x="2847268" y="1888430"/>
            <a:ext cx="8048978" cy="481875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4120358" y="6898154"/>
            <a:ext cx="6787052" cy="308163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單箭頭接點 75"/>
          <p:cNvCxnSpPr>
            <a:cxnSpLocks/>
            <a:stCxn id="4" idx="1"/>
          </p:cNvCxnSpPr>
          <p:nvPr/>
        </p:nvCxnSpPr>
        <p:spPr>
          <a:xfrm flipH="1">
            <a:off x="10907411" y="3174539"/>
            <a:ext cx="632737" cy="128656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cxnSpLocks/>
            <a:stCxn id="6" idx="1"/>
            <a:endCxn id="74" idx="3"/>
          </p:cNvCxnSpPr>
          <p:nvPr/>
        </p:nvCxnSpPr>
        <p:spPr>
          <a:xfrm flipH="1">
            <a:off x="10907410" y="4853383"/>
            <a:ext cx="632738" cy="35855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9280134" y="5784809"/>
            <a:ext cx="4110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>
            <a:cxnSpLocks/>
          </p:cNvCxnSpPr>
          <p:nvPr/>
        </p:nvCxnSpPr>
        <p:spPr>
          <a:xfrm flipV="1">
            <a:off x="7448616" y="5784809"/>
            <a:ext cx="1533636" cy="30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>
            <a:cxnSpLocks/>
          </p:cNvCxnSpPr>
          <p:nvPr/>
        </p:nvCxnSpPr>
        <p:spPr>
          <a:xfrm flipH="1">
            <a:off x="8469573" y="5814415"/>
            <a:ext cx="907747" cy="37093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 flipH="1">
            <a:off x="5963637" y="5833689"/>
            <a:ext cx="1862034" cy="31623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154" y="2561746"/>
            <a:ext cx="1913042" cy="419297"/>
          </a:xfrm>
          <a:prstGeom prst="rect">
            <a:avLst/>
          </a:prstGeom>
        </p:spPr>
      </p:pic>
      <p:cxnSp>
        <p:nvCxnSpPr>
          <p:cNvPr id="53" name="直線接點 52"/>
          <p:cNvCxnSpPr/>
          <p:nvPr/>
        </p:nvCxnSpPr>
        <p:spPr>
          <a:xfrm>
            <a:off x="5355073" y="2863160"/>
            <a:ext cx="417129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38F56DE-5D4C-E607-025B-A4AD68E95BA7}"/>
              </a:ext>
            </a:extLst>
          </p:cNvPr>
          <p:cNvSpPr/>
          <p:nvPr/>
        </p:nvSpPr>
        <p:spPr>
          <a:xfrm>
            <a:off x="11540148" y="2757173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8C8640-E193-884B-09EF-FDE9D3F35E71}"/>
              </a:ext>
            </a:extLst>
          </p:cNvPr>
          <p:cNvSpPr/>
          <p:nvPr/>
        </p:nvSpPr>
        <p:spPr>
          <a:xfrm>
            <a:off x="11540148" y="4436017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4A4C85-E721-036C-DB49-3B5CB6C94D93}"/>
              </a:ext>
            </a:extLst>
          </p:cNvPr>
          <p:cNvSpPr/>
          <p:nvPr/>
        </p:nvSpPr>
        <p:spPr>
          <a:xfrm>
            <a:off x="11540148" y="6034424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01B4D3-1EF4-26C7-B27F-B6361EF38791}"/>
              </a:ext>
            </a:extLst>
          </p:cNvPr>
          <p:cNvSpPr/>
          <p:nvPr/>
        </p:nvSpPr>
        <p:spPr>
          <a:xfrm>
            <a:off x="11540148" y="7604374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3087165" y="397593"/>
            <a:ext cx="362791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CNN in </a:t>
            </a:r>
            <a:r>
              <a:rPr lang="en-US" altLang="zh-TW" sz="4200" b="1" i="1" u="sng" dirty="0" err="1"/>
              <a:t>Keras</a:t>
            </a:r>
            <a:endParaRPr lang="zh-TW" altLang="en-US" sz="4200" b="1" i="1" u="sng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055" y="2811084"/>
            <a:ext cx="7300913" cy="82867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042" y="4732038"/>
            <a:ext cx="6257925" cy="400050"/>
          </a:xfrm>
          <a:prstGeom prst="rect">
            <a:avLst/>
          </a:prstGeom>
        </p:spPr>
      </p:pic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567" y="6296688"/>
            <a:ext cx="6629400" cy="457200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605" y="7857991"/>
            <a:ext cx="6329363" cy="385763"/>
          </a:xfrm>
          <a:prstGeom prst="rect">
            <a:avLst/>
          </a:prstGeom>
        </p:spPr>
      </p:pic>
      <p:sp>
        <p:nvSpPr>
          <p:cNvPr id="23" name="文字方塊 22"/>
          <p:cNvSpPr txBox="1"/>
          <p:nvPr/>
        </p:nvSpPr>
        <p:spPr>
          <a:xfrm>
            <a:off x="8118963" y="2178663"/>
            <a:ext cx="251249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1 x 28 x 28</a:t>
            </a:r>
            <a:endParaRPr lang="zh-TW" altLang="en-US" sz="32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8118963" y="4036585"/>
            <a:ext cx="251249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25 x 26 x 26</a:t>
            </a:r>
            <a:endParaRPr lang="zh-TW" altLang="en-US" sz="32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118963" y="5628431"/>
            <a:ext cx="251249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25 x 13 x 13</a:t>
            </a:r>
            <a:endParaRPr lang="zh-TW" altLang="en-US" sz="32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118963" y="7179928"/>
            <a:ext cx="251249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50 x 11 x 11</a:t>
            </a:r>
            <a:endParaRPr lang="zh-TW" altLang="en-US" sz="32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118963" y="8724213"/>
            <a:ext cx="251249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50 x 5 x 5</a:t>
            </a:r>
            <a:endParaRPr lang="zh-TW" altLang="en-US" sz="3200" dirty="0"/>
          </a:p>
        </p:txBody>
      </p:sp>
      <p:cxnSp>
        <p:nvCxnSpPr>
          <p:cNvPr id="33" name="直線單箭頭接點 32"/>
          <p:cNvCxnSpPr>
            <a:cxnSpLocks/>
            <a:endCxn id="2" idx="3"/>
          </p:cNvCxnSpPr>
          <p:nvPr/>
        </p:nvCxnSpPr>
        <p:spPr>
          <a:xfrm flipH="1" flipV="1">
            <a:off x="10643967" y="3225422"/>
            <a:ext cx="1104795" cy="302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 flipV="1">
            <a:off x="10643967" y="4875440"/>
            <a:ext cx="1104795" cy="302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H="1" flipV="1">
            <a:off x="10643967" y="6528202"/>
            <a:ext cx="1104795" cy="302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 flipV="1">
            <a:off x="10655024" y="8100578"/>
            <a:ext cx="1104795" cy="302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810871" y="3535477"/>
            <a:ext cx="5318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How many parameters for each filter?</a:t>
            </a:r>
            <a:endParaRPr lang="zh-TW" altLang="en-US" sz="36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810872" y="6683211"/>
            <a:ext cx="5284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How many parameters for each filter?</a:t>
            </a:r>
            <a:endParaRPr lang="zh-TW" altLang="en-US" sz="36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7046294" y="4047514"/>
            <a:ext cx="731715" cy="64633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9</a:t>
            </a:r>
            <a:endParaRPr lang="zh-TW" altLang="en-US" sz="36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6881428" y="7150856"/>
            <a:ext cx="1061450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225</a:t>
            </a:r>
            <a:endParaRPr lang="zh-TW" altLang="en-US" sz="3600" dirty="0"/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8882" y="3197041"/>
            <a:ext cx="1913042" cy="419297"/>
          </a:xfrm>
          <a:prstGeom prst="rect">
            <a:avLst/>
          </a:prstGeom>
        </p:spPr>
      </p:pic>
      <p:sp>
        <p:nvSpPr>
          <p:cNvPr id="6" name="文字方塊 4">
            <a:extLst>
              <a:ext uri="{FF2B5EF4-FFF2-40B4-BE49-F238E27FC236}">
                <a16:creationId xmlns:a16="http://schemas.microsoft.com/office/drawing/2014/main" id="{67DC10D8-DBDC-AFFE-D863-A79D12EB5776}"/>
              </a:ext>
            </a:extLst>
          </p:cNvPr>
          <p:cNvSpPr txBox="1"/>
          <p:nvPr/>
        </p:nvSpPr>
        <p:spPr>
          <a:xfrm>
            <a:off x="6922568" y="212627"/>
            <a:ext cx="9590420" cy="120032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CFCFC"/>
                </a:solidFill>
              </a:rPr>
              <a:t>Only modified the </a:t>
            </a:r>
            <a:r>
              <a:rPr lang="en-US" altLang="zh-TW" sz="3600" b="1" i="1" dirty="0">
                <a:solidFill>
                  <a:srgbClr val="FCFCFC"/>
                </a:solidFill>
              </a:rPr>
              <a:t>network structure </a:t>
            </a:r>
            <a:r>
              <a:rPr lang="en-US" altLang="zh-TW" sz="3600" dirty="0">
                <a:solidFill>
                  <a:srgbClr val="FCFCFC"/>
                </a:solidFill>
              </a:rPr>
              <a:t>and </a:t>
            </a:r>
            <a:r>
              <a:rPr lang="en-US" altLang="zh-TW" sz="3600" b="1" i="1" dirty="0">
                <a:solidFill>
                  <a:srgbClr val="FCFCFC"/>
                </a:solidFill>
              </a:rPr>
              <a:t>input format (vector -&gt; 3-D tensor)</a:t>
            </a:r>
            <a:endParaRPr lang="zh-TW" altLang="en-US" sz="3600" b="1" i="1" dirty="0">
              <a:solidFill>
                <a:srgbClr val="FCFCFC"/>
              </a:solidFill>
            </a:endParaRPr>
          </a:p>
        </p:txBody>
      </p:sp>
      <p:sp>
        <p:nvSpPr>
          <p:cNvPr id="7" name="向下箭號 11">
            <a:extLst>
              <a:ext uri="{FF2B5EF4-FFF2-40B4-BE49-F238E27FC236}">
                <a16:creationId xmlns:a16="http://schemas.microsoft.com/office/drawing/2014/main" id="{EBC63B1D-A48D-CE0B-AB72-5552DC0AE48F}"/>
              </a:ext>
            </a:extLst>
          </p:cNvPr>
          <p:cNvSpPr/>
          <p:nvPr/>
        </p:nvSpPr>
        <p:spPr>
          <a:xfrm>
            <a:off x="12678308" y="209446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下箭號 17">
            <a:extLst>
              <a:ext uri="{FF2B5EF4-FFF2-40B4-BE49-F238E27FC236}">
                <a16:creationId xmlns:a16="http://schemas.microsoft.com/office/drawing/2014/main" id="{12347BD9-9430-F326-A54E-AA6CD74594D4}"/>
              </a:ext>
            </a:extLst>
          </p:cNvPr>
          <p:cNvSpPr/>
          <p:nvPr/>
        </p:nvSpPr>
        <p:spPr>
          <a:xfrm>
            <a:off x="12678308" y="376064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下箭號 18">
            <a:extLst>
              <a:ext uri="{FF2B5EF4-FFF2-40B4-BE49-F238E27FC236}">
                <a16:creationId xmlns:a16="http://schemas.microsoft.com/office/drawing/2014/main" id="{CC49398C-706D-9A82-DE26-FFA949ED8F49}"/>
              </a:ext>
            </a:extLst>
          </p:cNvPr>
          <p:cNvSpPr/>
          <p:nvPr/>
        </p:nvSpPr>
        <p:spPr>
          <a:xfrm>
            <a:off x="12678308" y="546982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下箭號 19">
            <a:extLst>
              <a:ext uri="{FF2B5EF4-FFF2-40B4-BE49-F238E27FC236}">
                <a16:creationId xmlns:a16="http://schemas.microsoft.com/office/drawing/2014/main" id="{8D044297-F834-4A92-10C9-B40BA0ACF274}"/>
              </a:ext>
            </a:extLst>
          </p:cNvPr>
          <p:cNvSpPr/>
          <p:nvPr/>
        </p:nvSpPr>
        <p:spPr>
          <a:xfrm>
            <a:off x="12678308" y="702231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41">
            <a:extLst>
              <a:ext uri="{FF2B5EF4-FFF2-40B4-BE49-F238E27FC236}">
                <a16:creationId xmlns:a16="http://schemas.microsoft.com/office/drawing/2014/main" id="{C24E65FE-9195-94CF-8F22-37624798C600}"/>
              </a:ext>
            </a:extLst>
          </p:cNvPr>
          <p:cNvSpPr txBox="1"/>
          <p:nvPr/>
        </p:nvSpPr>
        <p:spPr>
          <a:xfrm>
            <a:off x="11571686" y="1459123"/>
            <a:ext cx="3070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01A006-55C1-B872-3CF9-7E59C96A311A}"/>
              </a:ext>
            </a:extLst>
          </p:cNvPr>
          <p:cNvSpPr/>
          <p:nvPr/>
        </p:nvSpPr>
        <p:spPr>
          <a:xfrm>
            <a:off x="11540148" y="2757173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489063-8C9C-18AE-8957-D8CF126FF2E8}"/>
              </a:ext>
            </a:extLst>
          </p:cNvPr>
          <p:cNvSpPr/>
          <p:nvPr/>
        </p:nvSpPr>
        <p:spPr>
          <a:xfrm>
            <a:off x="11540148" y="4436017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A4865B-4995-64F8-1EB2-079899D88107}"/>
              </a:ext>
            </a:extLst>
          </p:cNvPr>
          <p:cNvSpPr/>
          <p:nvPr/>
        </p:nvSpPr>
        <p:spPr>
          <a:xfrm>
            <a:off x="11540148" y="6106140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CEFFD9-5862-17A8-A9CA-FB24783B5EF0}"/>
              </a:ext>
            </a:extLst>
          </p:cNvPr>
          <p:cNvSpPr/>
          <p:nvPr/>
        </p:nvSpPr>
        <p:spPr>
          <a:xfrm>
            <a:off x="11540148" y="7676090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3" grpId="0"/>
      <p:bldP spid="28" grpId="0"/>
      <p:bldP spid="4" grpId="0" animBg="1"/>
      <p:bldP spid="4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3087165" y="397593"/>
            <a:ext cx="362791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CNN in </a:t>
            </a:r>
            <a:r>
              <a:rPr lang="en-US" altLang="zh-TW" sz="4200" b="1" i="1" u="sng" dirty="0" err="1"/>
              <a:t>Keras</a:t>
            </a:r>
            <a:endParaRPr lang="zh-TW" altLang="en-US" sz="4200" b="1" i="1" u="sng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165817" y="2047475"/>
            <a:ext cx="251249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1 x 28 x 28</a:t>
            </a:r>
            <a:endParaRPr lang="zh-TW" altLang="en-US" sz="32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165817" y="3720674"/>
            <a:ext cx="251249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25 x 26 x 26</a:t>
            </a:r>
            <a:endParaRPr lang="zh-TW" altLang="en-US" sz="32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0165817" y="5334945"/>
            <a:ext cx="251249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25 x 13 x 13</a:t>
            </a:r>
            <a:endParaRPr lang="zh-TW" altLang="en-US" sz="32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10165817" y="6920803"/>
            <a:ext cx="251249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50 x 11 x 11</a:t>
            </a:r>
            <a:endParaRPr lang="zh-TW" altLang="en-US" sz="3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187395" y="8776888"/>
            <a:ext cx="2335487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Flatten</a:t>
            </a:r>
            <a:endParaRPr lang="zh-TW" altLang="en-US" sz="3600" dirty="0"/>
          </a:p>
        </p:txBody>
      </p:sp>
      <p:sp>
        <p:nvSpPr>
          <p:cNvPr id="38" name="右彎箭號 16"/>
          <p:cNvSpPr/>
          <p:nvPr/>
        </p:nvSpPr>
        <p:spPr>
          <a:xfrm rot="10800000">
            <a:off x="9583064" y="8477375"/>
            <a:ext cx="3677997" cy="94693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9" name="右彎箭號 21"/>
          <p:cNvSpPr/>
          <p:nvPr/>
        </p:nvSpPr>
        <p:spPr>
          <a:xfrm rot="16200000">
            <a:off x="5514220" y="7690708"/>
            <a:ext cx="1090103" cy="2098013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155" y="9492887"/>
            <a:ext cx="4271963" cy="400050"/>
          </a:xfrm>
          <a:prstGeom prst="rect">
            <a:avLst/>
          </a:prstGeom>
        </p:spPr>
      </p:pic>
      <p:sp>
        <p:nvSpPr>
          <p:cNvPr id="40" name="文字方塊 39"/>
          <p:cNvSpPr txBox="1"/>
          <p:nvPr/>
        </p:nvSpPr>
        <p:spPr>
          <a:xfrm>
            <a:off x="5554073" y="8224133"/>
            <a:ext cx="1509701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1250</a:t>
            </a:r>
            <a:endParaRPr lang="zh-TW" altLang="en-US" sz="3600" dirty="0"/>
          </a:p>
        </p:txBody>
      </p:sp>
      <p:grpSp>
        <p:nvGrpSpPr>
          <p:cNvPr id="41" name="群組 40"/>
          <p:cNvGrpSpPr/>
          <p:nvPr/>
        </p:nvGrpSpPr>
        <p:grpSpPr>
          <a:xfrm>
            <a:off x="2984918" y="3312464"/>
            <a:ext cx="4646067" cy="4802216"/>
            <a:chOff x="-1644474" y="3999117"/>
            <a:chExt cx="3097378" cy="3201477"/>
          </a:xfrm>
        </p:grpSpPr>
        <p:pic>
          <p:nvPicPr>
            <p:cNvPr id="45" name="圖片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46" name="文字方塊 45"/>
            <p:cNvSpPr txBox="1"/>
            <p:nvPr/>
          </p:nvSpPr>
          <p:spPr>
            <a:xfrm>
              <a:off x="-1644474" y="4773762"/>
              <a:ext cx="3097378" cy="8002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rgbClr val="FCFCFC"/>
                  </a:solidFill>
                </a:rPr>
                <a:t>Fully Connected Feedforward network</a:t>
              </a:r>
              <a:endParaRPr lang="zh-TW" altLang="en-US" sz="3600" dirty="0">
                <a:solidFill>
                  <a:srgbClr val="FCFCFC"/>
                </a:solidFill>
              </a:endParaRPr>
            </a:p>
          </p:txBody>
        </p:sp>
      </p:grpSp>
      <p:sp>
        <p:nvSpPr>
          <p:cNvPr id="47" name="文字方塊 46"/>
          <p:cNvSpPr txBox="1"/>
          <p:nvPr/>
        </p:nvSpPr>
        <p:spPr>
          <a:xfrm>
            <a:off x="3712544" y="2741290"/>
            <a:ext cx="3070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</a:t>
            </a:r>
            <a:endParaRPr lang="zh-TW" altLang="en-US" sz="3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709" y="5898351"/>
            <a:ext cx="6829425" cy="1543050"/>
          </a:xfrm>
          <a:prstGeom prst="rect">
            <a:avLst/>
          </a:prstGeom>
        </p:spPr>
      </p:pic>
      <p:sp>
        <p:nvSpPr>
          <p:cNvPr id="2" name="文字方塊 4">
            <a:extLst>
              <a:ext uri="{FF2B5EF4-FFF2-40B4-BE49-F238E27FC236}">
                <a16:creationId xmlns:a16="http://schemas.microsoft.com/office/drawing/2014/main" id="{12EEE2EB-6835-32F4-CFE0-3F99158EB28D}"/>
              </a:ext>
            </a:extLst>
          </p:cNvPr>
          <p:cNvSpPr txBox="1"/>
          <p:nvPr/>
        </p:nvSpPr>
        <p:spPr>
          <a:xfrm>
            <a:off x="6922568" y="212627"/>
            <a:ext cx="9590420" cy="120032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CFCFC"/>
                </a:solidFill>
              </a:rPr>
              <a:t>Only modified the </a:t>
            </a:r>
            <a:r>
              <a:rPr lang="en-US" altLang="zh-TW" sz="3600" b="1" i="1" dirty="0">
                <a:solidFill>
                  <a:srgbClr val="FCFCFC"/>
                </a:solidFill>
              </a:rPr>
              <a:t>network structure </a:t>
            </a:r>
            <a:r>
              <a:rPr lang="en-US" altLang="zh-TW" sz="3600" dirty="0">
                <a:solidFill>
                  <a:srgbClr val="FCFCFC"/>
                </a:solidFill>
              </a:rPr>
              <a:t>and </a:t>
            </a:r>
            <a:r>
              <a:rPr lang="en-US" altLang="zh-TW" sz="3600" b="1" i="1" dirty="0">
                <a:solidFill>
                  <a:srgbClr val="FCFCFC"/>
                </a:solidFill>
              </a:rPr>
              <a:t>input format (vector -&gt; 3-D tensor)</a:t>
            </a:r>
            <a:endParaRPr lang="zh-TW" altLang="en-US" sz="3600" b="1" i="1" dirty="0">
              <a:solidFill>
                <a:srgbClr val="FCFCFC"/>
              </a:solidFill>
            </a:endParaRPr>
          </a:p>
        </p:txBody>
      </p:sp>
      <p:sp>
        <p:nvSpPr>
          <p:cNvPr id="6" name="向下箭號 11">
            <a:extLst>
              <a:ext uri="{FF2B5EF4-FFF2-40B4-BE49-F238E27FC236}">
                <a16:creationId xmlns:a16="http://schemas.microsoft.com/office/drawing/2014/main" id="{ADB5AE06-5B13-BDB8-8B0A-DC741FBFE372}"/>
              </a:ext>
            </a:extLst>
          </p:cNvPr>
          <p:cNvSpPr/>
          <p:nvPr/>
        </p:nvSpPr>
        <p:spPr>
          <a:xfrm>
            <a:off x="12678308" y="209446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下箭號 17">
            <a:extLst>
              <a:ext uri="{FF2B5EF4-FFF2-40B4-BE49-F238E27FC236}">
                <a16:creationId xmlns:a16="http://schemas.microsoft.com/office/drawing/2014/main" id="{DB0F1394-5101-CC12-37CC-5477FB997172}"/>
              </a:ext>
            </a:extLst>
          </p:cNvPr>
          <p:cNvSpPr/>
          <p:nvPr/>
        </p:nvSpPr>
        <p:spPr>
          <a:xfrm>
            <a:off x="12678308" y="376064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下箭號 18">
            <a:extLst>
              <a:ext uri="{FF2B5EF4-FFF2-40B4-BE49-F238E27FC236}">
                <a16:creationId xmlns:a16="http://schemas.microsoft.com/office/drawing/2014/main" id="{F108B0A6-5C78-727C-4B60-E3927EA69822}"/>
              </a:ext>
            </a:extLst>
          </p:cNvPr>
          <p:cNvSpPr/>
          <p:nvPr/>
        </p:nvSpPr>
        <p:spPr>
          <a:xfrm>
            <a:off x="12678308" y="546982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下箭號 19">
            <a:extLst>
              <a:ext uri="{FF2B5EF4-FFF2-40B4-BE49-F238E27FC236}">
                <a16:creationId xmlns:a16="http://schemas.microsoft.com/office/drawing/2014/main" id="{B81351B9-B3A2-53CA-EE1E-948EBECCA386}"/>
              </a:ext>
            </a:extLst>
          </p:cNvPr>
          <p:cNvSpPr/>
          <p:nvPr/>
        </p:nvSpPr>
        <p:spPr>
          <a:xfrm>
            <a:off x="12678308" y="702231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41">
            <a:extLst>
              <a:ext uri="{FF2B5EF4-FFF2-40B4-BE49-F238E27FC236}">
                <a16:creationId xmlns:a16="http://schemas.microsoft.com/office/drawing/2014/main" id="{21F079A8-BA21-D739-B55F-DE8981F8024F}"/>
              </a:ext>
            </a:extLst>
          </p:cNvPr>
          <p:cNvSpPr txBox="1"/>
          <p:nvPr/>
        </p:nvSpPr>
        <p:spPr>
          <a:xfrm>
            <a:off x="11571686" y="1459123"/>
            <a:ext cx="3070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1C5040-4D53-8947-D607-B77FEF00B72B}"/>
              </a:ext>
            </a:extLst>
          </p:cNvPr>
          <p:cNvSpPr/>
          <p:nvPr/>
        </p:nvSpPr>
        <p:spPr>
          <a:xfrm>
            <a:off x="11540148" y="2757173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0BF7EC-324E-80E8-1224-EFC9321CECED}"/>
              </a:ext>
            </a:extLst>
          </p:cNvPr>
          <p:cNvSpPr/>
          <p:nvPr/>
        </p:nvSpPr>
        <p:spPr>
          <a:xfrm>
            <a:off x="11540148" y="4436017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5D6562-FA4D-0F04-80EE-91146181ADD8}"/>
              </a:ext>
            </a:extLst>
          </p:cNvPr>
          <p:cNvSpPr/>
          <p:nvPr/>
        </p:nvSpPr>
        <p:spPr>
          <a:xfrm>
            <a:off x="11540148" y="6106140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828C6C-F6F0-811D-9190-C1CA872022A5}"/>
              </a:ext>
            </a:extLst>
          </p:cNvPr>
          <p:cNvSpPr/>
          <p:nvPr/>
        </p:nvSpPr>
        <p:spPr>
          <a:xfrm>
            <a:off x="11540148" y="7676090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165817" y="8328446"/>
            <a:ext cx="251249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50 x 5 x 5</a:t>
            </a:r>
            <a:endParaRPr lang="zh-TW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8" grpId="0" animBg="1"/>
      <p:bldP spid="39" grpId="0" animBg="1"/>
      <p:bldP spid="40" grpId="0" animBg="1"/>
      <p:bldP spid="4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1388533"/>
            <a:ext cx="15667355" cy="2587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What does CNN learn?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does machine learn?</a:t>
            </a:r>
            <a:endParaRPr lang="zh-TW" altLang="en-US" dirty="0"/>
          </a:p>
        </p:txBody>
      </p:sp>
      <p:pic>
        <p:nvPicPr>
          <p:cNvPr id="3074" name="Picture 2" descr="「puma」的圖片搜尋結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3037118"/>
            <a:ext cx="7496331" cy="52554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1947334" y="8531445"/>
            <a:ext cx="136948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http://newsneakernews.wpengine.netdna-cdn.com/wp-content/uploads/2016/11/rihanna-puma-creeper-velvet-release-date-02.jpg</a:t>
            </a:r>
          </a:p>
        </p:txBody>
      </p:sp>
      <p:pic>
        <p:nvPicPr>
          <p:cNvPr id="7" name="Picture 2" descr="http://www.is-scam.com/wp-content/uploads/2014/12/question-robo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702" y="4333382"/>
            <a:ext cx="2282361" cy="294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語音泡泡: 圓角矩形 4"/>
          <p:cNvSpPr/>
          <p:nvPr/>
        </p:nvSpPr>
        <p:spPr>
          <a:xfrm>
            <a:off x="9756322" y="3909795"/>
            <a:ext cx="3320381" cy="1543050"/>
          </a:xfrm>
          <a:prstGeom prst="wedgeRoundRectCallout">
            <a:avLst>
              <a:gd name="adj1" fmla="val 69898"/>
              <a:gd name="adj2" fmla="val 275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Shoes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9" name="語音泡泡: 圓角矩形 8"/>
          <p:cNvSpPr/>
          <p:nvPr/>
        </p:nvSpPr>
        <p:spPr>
          <a:xfrm>
            <a:off x="9756322" y="5800869"/>
            <a:ext cx="3320381" cy="1543050"/>
          </a:xfrm>
          <a:prstGeom prst="wedgeRoundRectCallout">
            <a:avLst>
              <a:gd name="adj1" fmla="val 70472"/>
              <a:gd name="adj2" fmla="val -637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00" dirty="0">
                <a:solidFill>
                  <a:srgbClr val="FCFCFC"/>
                </a:solidFill>
              </a:rPr>
              <a:t>Puma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37860" y="5279022"/>
            <a:ext cx="400050" cy="365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First</a:t>
            </a:r>
            <a:r>
              <a:rPr lang="zh-TW" altLang="en-US" dirty="0"/>
              <a:t> </a:t>
            </a:r>
            <a:r>
              <a:rPr lang="en-US" altLang="zh-TW" dirty="0"/>
              <a:t>Convolution Layer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63564" y="3993497"/>
            <a:ext cx="5286375" cy="6527007"/>
          </a:xfrm>
        </p:spPr>
        <p:txBody>
          <a:bodyPr/>
          <a:lstStyle/>
          <a:p>
            <a:r>
              <a:rPr lang="en-US" altLang="zh-TW" dirty="0">
                <a:solidFill>
                  <a:srgbClr val="575651"/>
                </a:solidFill>
                <a:latin typeface="Roboto"/>
              </a:rPr>
              <a:t>Typical-looking filters on the trained first layer 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7949939" y="9265445"/>
            <a:ext cx="71090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altLang="zh-TW" dirty="0"/>
              <a:t>http://cs231n.github.io/understanding-cnn/</a:t>
            </a:r>
          </a:p>
        </p:txBody>
      </p:sp>
      <p:pic>
        <p:nvPicPr>
          <p:cNvPr id="37890" name="Picture 2" descr="http://cs231n.github.io/assets/cnnvis/filt1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421" y="2536034"/>
            <a:ext cx="6681342" cy="665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4814854" y="7672702"/>
            <a:ext cx="3135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11 x 11</a:t>
            </a:r>
          </a:p>
          <a:p>
            <a:pPr algn="r"/>
            <a:r>
              <a:rPr lang="en-US" altLang="zh-TW" sz="3600" dirty="0"/>
              <a:t>(</a:t>
            </a:r>
            <a:r>
              <a:rPr lang="en-US" altLang="zh-TW" sz="3600" dirty="0" err="1"/>
              <a:t>AlexNet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Which images make a specific neuron activate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436" y="2770825"/>
            <a:ext cx="7234832" cy="569652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250950" y="8652854"/>
            <a:ext cx="169163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Ross </a:t>
            </a:r>
            <a:r>
              <a:rPr lang="en-US" altLang="zh-TW" dirty="0" err="1"/>
              <a:t>Girshick</a:t>
            </a:r>
            <a:r>
              <a:rPr lang="en-US" altLang="zh-TW" dirty="0"/>
              <a:t>, Jeff Donahue, Trevor Darrell, Jitendra Malik, “Rich feature hierarchies for accurate object detection and semantic segmentation”, CVPR, 2014</a:t>
            </a:r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2819515-F19B-A909-3003-DD4199ECDD3D}"/>
              </a:ext>
            </a:extLst>
          </p:cNvPr>
          <p:cNvSpPr txBox="1">
            <a:spLocks/>
          </p:cNvSpPr>
          <p:nvPr/>
        </p:nvSpPr>
        <p:spPr bwMode="auto">
          <a:xfrm>
            <a:off x="1250950" y="313765"/>
            <a:ext cx="16084552" cy="155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/>
              <a:t>H</a:t>
            </a:r>
            <a:r>
              <a:rPr lang="en-US" altLang="zh-CN" dirty="0"/>
              <a:t>ow about higher layers?</a:t>
            </a:r>
            <a:endParaRPr lang="zh-TW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字方塊 13"/>
          <p:cNvSpPr txBox="1"/>
          <p:nvPr/>
        </p:nvSpPr>
        <p:spPr>
          <a:xfrm>
            <a:off x="10289281" y="2843741"/>
            <a:ext cx="16896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25 3x3 filters</a:t>
            </a:r>
            <a:endParaRPr lang="zh-TW" altLang="en-US" sz="3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0305347" y="6096078"/>
            <a:ext cx="16896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50 3x3 filters</a:t>
            </a:r>
            <a:endParaRPr lang="zh-TW" altLang="en-US" sz="3600" dirty="0"/>
          </a:p>
        </p:txBody>
      </p:sp>
      <p:sp>
        <p:nvSpPr>
          <p:cNvPr id="17" name="矩形 16"/>
          <p:cNvSpPr/>
          <p:nvPr/>
        </p:nvSpPr>
        <p:spPr>
          <a:xfrm>
            <a:off x="2598830" y="231360"/>
            <a:ext cx="598914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What does CNN learn?</a:t>
            </a:r>
            <a:endParaRPr lang="zh-TW" altLang="en-US" sz="4200" b="1" i="1" u="sng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67374" y="1025039"/>
            <a:ext cx="6510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The output of the k-</a:t>
            </a:r>
            <a:r>
              <a:rPr lang="en-US" altLang="zh-TW" sz="3600" dirty="0" err="1"/>
              <a:t>th</a:t>
            </a:r>
            <a:r>
              <a:rPr lang="en-US" altLang="zh-TW" sz="3600" dirty="0"/>
              <a:t> filter is a 11 x 11 matrix.</a:t>
            </a:r>
            <a:endParaRPr lang="zh-TW" altLang="en-US" sz="36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67373" y="2155734"/>
            <a:ext cx="5233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Degree of the activation of the k-</a:t>
            </a:r>
            <a:r>
              <a:rPr lang="en-US" altLang="zh-TW" sz="3600" dirty="0" err="1"/>
              <a:t>th</a:t>
            </a:r>
            <a:r>
              <a:rPr lang="en-US" altLang="zh-TW" sz="3600" dirty="0"/>
              <a:t> filter: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6802994" y="2243831"/>
                <a:ext cx="3172150" cy="1618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994" y="2243831"/>
                <a:ext cx="3172150" cy="1618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/>
          <p:cNvGrpSpPr/>
          <p:nvPr/>
        </p:nvGrpSpPr>
        <p:grpSpPr>
          <a:xfrm>
            <a:off x="4465636" y="5636644"/>
            <a:ext cx="4365185" cy="4051010"/>
            <a:chOff x="1118013" y="4102561"/>
            <a:chExt cx="2910123" cy="2700673"/>
          </a:xfrm>
        </p:grpSpPr>
        <p:sp>
          <p:nvSpPr>
            <p:cNvPr id="23" name="橢圓 22"/>
            <p:cNvSpPr/>
            <p:nvPr/>
          </p:nvSpPr>
          <p:spPr>
            <a:xfrm>
              <a:off x="1134682" y="4135484"/>
              <a:ext cx="630000" cy="63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3</a:t>
              </a:r>
              <a:endParaRPr lang="zh-TW" altLang="en-US" sz="3600" dirty="0"/>
            </a:p>
          </p:txBody>
        </p:sp>
        <p:sp>
          <p:nvSpPr>
            <p:cNvPr id="24" name="橢圓 23"/>
            <p:cNvSpPr/>
            <p:nvPr/>
          </p:nvSpPr>
          <p:spPr>
            <a:xfrm>
              <a:off x="1976511" y="4135484"/>
              <a:ext cx="630000" cy="63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-1</a:t>
              </a:r>
              <a:endParaRPr lang="zh-TW" altLang="en-US" sz="3600" dirty="0"/>
            </a:p>
          </p:txBody>
        </p:sp>
        <p:sp>
          <p:nvSpPr>
            <p:cNvPr id="26" name="橢圓 25"/>
            <p:cNvSpPr/>
            <p:nvPr/>
          </p:nvSpPr>
          <p:spPr>
            <a:xfrm>
              <a:off x="3398136" y="4135484"/>
              <a:ext cx="630000" cy="63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-1</a:t>
              </a:r>
              <a:endParaRPr lang="zh-TW" altLang="en-US" sz="3600" dirty="0"/>
            </a:p>
          </p:txBody>
        </p:sp>
        <p:sp>
          <p:nvSpPr>
            <p:cNvPr id="27" name="橢圓 26"/>
            <p:cNvSpPr/>
            <p:nvPr/>
          </p:nvSpPr>
          <p:spPr>
            <a:xfrm>
              <a:off x="1134682" y="4935584"/>
              <a:ext cx="630000" cy="63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-3</a:t>
              </a:r>
              <a:endParaRPr lang="zh-TW" altLang="en-US" sz="3600" dirty="0"/>
            </a:p>
          </p:txBody>
        </p:sp>
        <p:sp>
          <p:nvSpPr>
            <p:cNvPr id="28" name="橢圓 27"/>
            <p:cNvSpPr/>
            <p:nvPr/>
          </p:nvSpPr>
          <p:spPr>
            <a:xfrm>
              <a:off x="1976511" y="4935584"/>
              <a:ext cx="630000" cy="63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30" name="橢圓 29"/>
            <p:cNvSpPr/>
            <p:nvPr/>
          </p:nvSpPr>
          <p:spPr>
            <a:xfrm>
              <a:off x="3384571" y="4935584"/>
              <a:ext cx="630000" cy="63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-3</a:t>
              </a:r>
              <a:endParaRPr lang="zh-TW" altLang="en-US" sz="3600" dirty="0"/>
            </a:p>
          </p:txBody>
        </p:sp>
        <p:sp>
          <p:nvSpPr>
            <p:cNvPr id="35" name="橢圓 34"/>
            <p:cNvSpPr/>
            <p:nvPr/>
          </p:nvSpPr>
          <p:spPr>
            <a:xfrm>
              <a:off x="1118013" y="6173234"/>
              <a:ext cx="630000" cy="63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3</a:t>
              </a:r>
              <a:endParaRPr lang="zh-TW" altLang="en-US" sz="3600" dirty="0"/>
            </a:p>
          </p:txBody>
        </p:sp>
        <p:sp>
          <p:nvSpPr>
            <p:cNvPr id="36" name="橢圓 35"/>
            <p:cNvSpPr/>
            <p:nvPr/>
          </p:nvSpPr>
          <p:spPr>
            <a:xfrm>
              <a:off x="1959842" y="6173234"/>
              <a:ext cx="630000" cy="63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-2</a:t>
              </a:r>
              <a:endParaRPr lang="zh-TW" altLang="en-US" sz="3600" dirty="0"/>
            </a:p>
          </p:txBody>
        </p:sp>
        <p:sp>
          <p:nvSpPr>
            <p:cNvPr id="38" name="橢圓 37"/>
            <p:cNvSpPr/>
            <p:nvPr/>
          </p:nvSpPr>
          <p:spPr>
            <a:xfrm>
              <a:off x="3377908" y="6173234"/>
              <a:ext cx="630000" cy="63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-1</a:t>
              </a:r>
              <a:endParaRPr lang="zh-TW" altLang="en-US" sz="3600" dirty="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2678192" y="4102561"/>
              <a:ext cx="7083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…</a:t>
              </a:r>
              <a:endParaRPr lang="zh-TW" altLang="en-US" sz="3600" dirty="0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2669589" y="5012248"/>
              <a:ext cx="7083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…</a:t>
              </a:r>
              <a:endParaRPr lang="zh-TW" altLang="en-US" sz="3600" dirty="0"/>
            </a:p>
          </p:txBody>
        </p:sp>
        <p:sp>
          <p:nvSpPr>
            <p:cNvPr id="45" name="文字方塊 44"/>
            <p:cNvSpPr txBox="1"/>
            <p:nvPr/>
          </p:nvSpPr>
          <p:spPr>
            <a:xfrm rot="5400000">
              <a:off x="1211229" y="5681949"/>
              <a:ext cx="7083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…</a:t>
              </a:r>
              <a:endParaRPr lang="zh-TW" altLang="en-US" sz="3600" dirty="0"/>
            </a:p>
          </p:txBody>
        </p:sp>
        <p:sp>
          <p:nvSpPr>
            <p:cNvPr id="46" name="文字方塊 45"/>
            <p:cNvSpPr txBox="1"/>
            <p:nvPr/>
          </p:nvSpPr>
          <p:spPr>
            <a:xfrm rot="5400000">
              <a:off x="2053058" y="5681950"/>
              <a:ext cx="7083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…</a:t>
              </a:r>
              <a:endParaRPr lang="zh-TW" altLang="en-US" sz="3600" dirty="0"/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2676252" y="6206283"/>
              <a:ext cx="7083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…</a:t>
              </a:r>
              <a:endParaRPr lang="zh-TW" altLang="en-US" sz="3600" dirty="0"/>
            </a:p>
          </p:txBody>
        </p:sp>
        <p:sp>
          <p:nvSpPr>
            <p:cNvPr id="48" name="文字方塊 47"/>
            <p:cNvSpPr txBox="1"/>
            <p:nvPr/>
          </p:nvSpPr>
          <p:spPr>
            <a:xfrm rot="5400000">
              <a:off x="3443144" y="5721497"/>
              <a:ext cx="7083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…</a:t>
              </a:r>
              <a:endParaRPr lang="zh-TW" altLang="en-US" sz="3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6553152" y="6426910"/>
                <a:ext cx="806888" cy="771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152" y="6426910"/>
                <a:ext cx="806888" cy="771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左大括弧 50"/>
          <p:cNvSpPr/>
          <p:nvPr/>
        </p:nvSpPr>
        <p:spPr>
          <a:xfrm>
            <a:off x="4041435" y="5800078"/>
            <a:ext cx="424200" cy="3887576"/>
          </a:xfrm>
          <a:prstGeom prst="leftBrace">
            <a:avLst>
              <a:gd name="adj1" fmla="val 2991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左大括弧 52"/>
          <p:cNvSpPr/>
          <p:nvPr/>
        </p:nvSpPr>
        <p:spPr>
          <a:xfrm rot="5400000">
            <a:off x="6488553" y="3396382"/>
            <a:ext cx="365715" cy="4318817"/>
          </a:xfrm>
          <a:prstGeom prst="leftBrace">
            <a:avLst>
              <a:gd name="adj1" fmla="val 2991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/>
          <p:cNvSpPr txBox="1"/>
          <p:nvPr/>
        </p:nvSpPr>
        <p:spPr>
          <a:xfrm>
            <a:off x="6162136" y="4675429"/>
            <a:ext cx="101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11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3075584" y="7358678"/>
            <a:ext cx="101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11</a:t>
            </a:r>
            <a:endParaRPr lang="zh-TW" altLang="en-US" sz="36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13137153" y="1068922"/>
            <a:ext cx="933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x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2550430" y="3981590"/>
                <a:ext cx="3436518" cy="747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430" y="3981590"/>
                <a:ext cx="3436518" cy="7473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字方塊 57"/>
          <p:cNvSpPr txBox="1"/>
          <p:nvPr/>
        </p:nvSpPr>
        <p:spPr>
          <a:xfrm>
            <a:off x="6062715" y="4044070"/>
            <a:ext cx="358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(gradient ascent)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11288693" y="691992"/>
                <a:ext cx="1102225" cy="1492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693" y="691992"/>
                <a:ext cx="1102225" cy="14925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1C82A333-3EFF-F607-DD1B-8E0898A21567}"/>
              </a:ext>
            </a:extLst>
          </p:cNvPr>
          <p:cNvSpPr/>
          <p:nvPr/>
        </p:nvSpPr>
        <p:spPr>
          <a:xfrm>
            <a:off x="12105313" y="3075328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E8D893-FCE7-01B9-742F-4C28026A1698}"/>
              </a:ext>
            </a:extLst>
          </p:cNvPr>
          <p:cNvSpPr/>
          <p:nvPr/>
        </p:nvSpPr>
        <p:spPr>
          <a:xfrm>
            <a:off x="12105313" y="4754172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31" name="向下箭號 11">
            <a:extLst>
              <a:ext uri="{FF2B5EF4-FFF2-40B4-BE49-F238E27FC236}">
                <a16:creationId xmlns:a16="http://schemas.microsoft.com/office/drawing/2014/main" id="{86EAB925-050B-A8A2-50C0-F46E33E97AC8}"/>
              </a:ext>
            </a:extLst>
          </p:cNvPr>
          <p:cNvSpPr/>
          <p:nvPr/>
        </p:nvSpPr>
        <p:spPr>
          <a:xfrm>
            <a:off x="13194612" y="235871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向下箭號 17">
            <a:extLst>
              <a:ext uri="{FF2B5EF4-FFF2-40B4-BE49-F238E27FC236}">
                <a16:creationId xmlns:a16="http://schemas.microsoft.com/office/drawing/2014/main" id="{38C710ED-EA84-F20F-37EC-798304B9A40F}"/>
              </a:ext>
            </a:extLst>
          </p:cNvPr>
          <p:cNvSpPr/>
          <p:nvPr/>
        </p:nvSpPr>
        <p:spPr>
          <a:xfrm>
            <a:off x="13194612" y="4024883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向下箭號 18">
            <a:extLst>
              <a:ext uri="{FF2B5EF4-FFF2-40B4-BE49-F238E27FC236}">
                <a16:creationId xmlns:a16="http://schemas.microsoft.com/office/drawing/2014/main" id="{9BB6E5C1-225B-C7BF-53EF-7352403173AE}"/>
              </a:ext>
            </a:extLst>
          </p:cNvPr>
          <p:cNvSpPr/>
          <p:nvPr/>
        </p:nvSpPr>
        <p:spPr>
          <a:xfrm>
            <a:off x="13194612" y="5662348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4" name="向下箭號 19">
            <a:extLst>
              <a:ext uri="{FF2B5EF4-FFF2-40B4-BE49-F238E27FC236}">
                <a16:creationId xmlns:a16="http://schemas.microsoft.com/office/drawing/2014/main" id="{DB737676-434B-AD0A-75D5-308496446E97}"/>
              </a:ext>
            </a:extLst>
          </p:cNvPr>
          <p:cNvSpPr/>
          <p:nvPr/>
        </p:nvSpPr>
        <p:spPr>
          <a:xfrm>
            <a:off x="13194612" y="721483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4B73436-62A0-A2AE-A2D4-403C029C9024}"/>
              </a:ext>
            </a:extLst>
          </p:cNvPr>
          <p:cNvSpPr/>
          <p:nvPr/>
        </p:nvSpPr>
        <p:spPr>
          <a:xfrm>
            <a:off x="12105313" y="6352579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0D3CF5C-A1AC-B077-1B3E-C396F1DA2851}"/>
              </a:ext>
            </a:extLst>
          </p:cNvPr>
          <p:cNvSpPr/>
          <p:nvPr/>
        </p:nvSpPr>
        <p:spPr>
          <a:xfrm>
            <a:off x="12105313" y="7922529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9872575" y="7312783"/>
            <a:ext cx="283223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50 x 11 x 11</a:t>
            </a:r>
            <a:endParaRPr lang="zh-TW" altLang="en-US" sz="3600" dirty="0"/>
          </a:p>
        </p:txBody>
      </p:sp>
      <p:sp>
        <p:nvSpPr>
          <p:cNvPr id="41" name="文字方塊 55">
            <a:extLst>
              <a:ext uri="{FF2B5EF4-FFF2-40B4-BE49-F238E27FC236}">
                <a16:creationId xmlns:a16="http://schemas.microsoft.com/office/drawing/2014/main" id="{9D15D71C-AC43-2003-58A9-A21A8927F493}"/>
              </a:ext>
            </a:extLst>
          </p:cNvPr>
          <p:cNvSpPr txBox="1"/>
          <p:nvPr/>
        </p:nvSpPr>
        <p:spPr>
          <a:xfrm>
            <a:off x="12840235" y="1722307"/>
            <a:ext cx="1527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input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50" grpId="0"/>
      <p:bldP spid="51" grpId="0" animBg="1"/>
      <p:bldP spid="53" grpId="0" animBg="1"/>
      <p:bldP spid="54" grpId="0"/>
      <p:bldP spid="55" grpId="0"/>
      <p:bldP spid="57" grpId="0"/>
      <p:bldP spid="58" grpId="0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6101-7736-C005-A967-5E54293C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字方塊 13">
            <a:extLst>
              <a:ext uri="{FF2B5EF4-FFF2-40B4-BE49-F238E27FC236}">
                <a16:creationId xmlns:a16="http://schemas.microsoft.com/office/drawing/2014/main" id="{0D83C336-85D3-29C3-0DF3-31AB6E8EBDF9}"/>
              </a:ext>
            </a:extLst>
          </p:cNvPr>
          <p:cNvSpPr txBox="1"/>
          <p:nvPr/>
        </p:nvSpPr>
        <p:spPr>
          <a:xfrm>
            <a:off x="10289281" y="2843741"/>
            <a:ext cx="16896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25 3x3 filters</a:t>
            </a:r>
            <a:endParaRPr lang="zh-TW" altLang="en-US" sz="36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0FEE3CD-531C-3D4E-D552-FE1E11C16101}"/>
              </a:ext>
            </a:extLst>
          </p:cNvPr>
          <p:cNvSpPr txBox="1"/>
          <p:nvPr/>
        </p:nvSpPr>
        <p:spPr>
          <a:xfrm>
            <a:off x="10305347" y="6096078"/>
            <a:ext cx="16896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50 3x3 filters</a:t>
            </a:r>
            <a:endParaRPr lang="zh-TW" altLang="en-US" sz="36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1116D9-673F-D99B-3AA5-308066228CB3}"/>
              </a:ext>
            </a:extLst>
          </p:cNvPr>
          <p:cNvSpPr/>
          <p:nvPr/>
        </p:nvSpPr>
        <p:spPr>
          <a:xfrm>
            <a:off x="2598830" y="231360"/>
            <a:ext cx="598914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What does CNN learn?</a:t>
            </a:r>
            <a:endParaRPr lang="zh-TW" altLang="en-US" sz="4200" b="1" i="1" u="sng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0EA2974-8D92-A24E-7F7B-EDA090F62EE4}"/>
              </a:ext>
            </a:extLst>
          </p:cNvPr>
          <p:cNvSpPr txBox="1"/>
          <p:nvPr/>
        </p:nvSpPr>
        <p:spPr>
          <a:xfrm>
            <a:off x="2367374" y="1025039"/>
            <a:ext cx="6510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The output of the k-</a:t>
            </a:r>
            <a:r>
              <a:rPr lang="en-US" altLang="zh-TW" sz="3600" dirty="0" err="1"/>
              <a:t>th</a:t>
            </a:r>
            <a:r>
              <a:rPr lang="en-US" altLang="zh-TW" sz="3600" dirty="0"/>
              <a:t> filter is a 11 x 11 matrix.</a:t>
            </a:r>
            <a:endParaRPr lang="zh-TW" altLang="en-US" sz="36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48AFF2E-F576-1399-FEE6-1D124744C8B9}"/>
              </a:ext>
            </a:extLst>
          </p:cNvPr>
          <p:cNvSpPr txBox="1"/>
          <p:nvPr/>
        </p:nvSpPr>
        <p:spPr>
          <a:xfrm>
            <a:off x="2367373" y="2155734"/>
            <a:ext cx="5233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Degree of the activation of the k-</a:t>
            </a:r>
            <a:r>
              <a:rPr lang="en-US" altLang="zh-TW" sz="3600" dirty="0" err="1"/>
              <a:t>th</a:t>
            </a:r>
            <a:r>
              <a:rPr lang="en-US" altLang="zh-TW" sz="3600" dirty="0"/>
              <a:t> filter: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39CDE02-250D-1366-B21A-35E54F823997}"/>
                  </a:ext>
                </a:extLst>
              </p:cNvPr>
              <p:cNvSpPr txBox="1"/>
              <p:nvPr/>
            </p:nvSpPr>
            <p:spPr>
              <a:xfrm>
                <a:off x="6802994" y="2243831"/>
                <a:ext cx="3172150" cy="1618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39CDE02-250D-1366-B21A-35E54F823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994" y="2243831"/>
                <a:ext cx="3172150" cy="1618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B761F3CF-2425-0528-D81C-E8FDA395D45B}"/>
                  </a:ext>
                </a:extLst>
              </p:cNvPr>
              <p:cNvSpPr txBox="1"/>
              <p:nvPr/>
            </p:nvSpPr>
            <p:spPr>
              <a:xfrm>
                <a:off x="2550430" y="3981590"/>
                <a:ext cx="3436518" cy="747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B761F3CF-2425-0528-D81C-E8FDA395D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430" y="3981590"/>
                <a:ext cx="3436518" cy="7473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字方塊 57">
            <a:extLst>
              <a:ext uri="{FF2B5EF4-FFF2-40B4-BE49-F238E27FC236}">
                <a16:creationId xmlns:a16="http://schemas.microsoft.com/office/drawing/2014/main" id="{7C1F00AD-AC81-96BC-F97B-6BE80A375030}"/>
              </a:ext>
            </a:extLst>
          </p:cNvPr>
          <p:cNvSpPr txBox="1"/>
          <p:nvPr/>
        </p:nvSpPr>
        <p:spPr>
          <a:xfrm>
            <a:off x="6062715" y="4044070"/>
            <a:ext cx="358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(gradient ascent)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B4500BC3-2B26-D99F-FF0F-D6799A83BCDF}"/>
                  </a:ext>
                </a:extLst>
              </p:cNvPr>
              <p:cNvSpPr txBox="1"/>
              <p:nvPr/>
            </p:nvSpPr>
            <p:spPr>
              <a:xfrm>
                <a:off x="11288693" y="691992"/>
                <a:ext cx="1102225" cy="1492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B4500BC3-2B26-D99F-FF0F-D6799A83B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693" y="691992"/>
                <a:ext cx="1102225" cy="14925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B20C7021-DA91-B7B3-A3A8-FB5A8D2AE6F1}"/>
              </a:ext>
            </a:extLst>
          </p:cNvPr>
          <p:cNvSpPr/>
          <p:nvPr/>
        </p:nvSpPr>
        <p:spPr>
          <a:xfrm>
            <a:off x="12105313" y="3075328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02B30D6-660F-C490-8977-749501479343}"/>
              </a:ext>
            </a:extLst>
          </p:cNvPr>
          <p:cNvSpPr/>
          <p:nvPr/>
        </p:nvSpPr>
        <p:spPr>
          <a:xfrm>
            <a:off x="12105313" y="4754172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31" name="向下箭號 11">
            <a:extLst>
              <a:ext uri="{FF2B5EF4-FFF2-40B4-BE49-F238E27FC236}">
                <a16:creationId xmlns:a16="http://schemas.microsoft.com/office/drawing/2014/main" id="{2C90F240-36D6-D9B2-C208-3DAF4DBDDC77}"/>
              </a:ext>
            </a:extLst>
          </p:cNvPr>
          <p:cNvSpPr/>
          <p:nvPr/>
        </p:nvSpPr>
        <p:spPr>
          <a:xfrm>
            <a:off x="13194612" y="2358710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向下箭號 17">
            <a:extLst>
              <a:ext uri="{FF2B5EF4-FFF2-40B4-BE49-F238E27FC236}">
                <a16:creationId xmlns:a16="http://schemas.microsoft.com/office/drawing/2014/main" id="{740B8AA9-8FAF-307D-5D9D-A9AFC1754117}"/>
              </a:ext>
            </a:extLst>
          </p:cNvPr>
          <p:cNvSpPr/>
          <p:nvPr/>
        </p:nvSpPr>
        <p:spPr>
          <a:xfrm>
            <a:off x="13194612" y="4024883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向下箭號 18">
            <a:extLst>
              <a:ext uri="{FF2B5EF4-FFF2-40B4-BE49-F238E27FC236}">
                <a16:creationId xmlns:a16="http://schemas.microsoft.com/office/drawing/2014/main" id="{FAE5463A-E428-D1DC-4C1F-A6CC7ED16923}"/>
              </a:ext>
            </a:extLst>
          </p:cNvPr>
          <p:cNvSpPr/>
          <p:nvPr/>
        </p:nvSpPr>
        <p:spPr>
          <a:xfrm>
            <a:off x="13194612" y="5662348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4" name="向下箭號 19">
            <a:extLst>
              <a:ext uri="{FF2B5EF4-FFF2-40B4-BE49-F238E27FC236}">
                <a16:creationId xmlns:a16="http://schemas.microsoft.com/office/drawing/2014/main" id="{502A591C-C259-FDE2-4B59-7BEEAD5C0B3E}"/>
              </a:ext>
            </a:extLst>
          </p:cNvPr>
          <p:cNvSpPr/>
          <p:nvPr/>
        </p:nvSpPr>
        <p:spPr>
          <a:xfrm>
            <a:off x="13194612" y="7214837"/>
            <a:ext cx="818535" cy="6627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7DCB534-FB57-DFB0-154C-58AEFE706307}"/>
              </a:ext>
            </a:extLst>
          </p:cNvPr>
          <p:cNvSpPr/>
          <p:nvPr/>
        </p:nvSpPr>
        <p:spPr>
          <a:xfrm>
            <a:off x="12105313" y="6352579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E6A41EF-C3B8-F405-002A-4CEC79A44EC4}"/>
              </a:ext>
            </a:extLst>
          </p:cNvPr>
          <p:cNvSpPr/>
          <p:nvPr/>
        </p:nvSpPr>
        <p:spPr>
          <a:xfrm>
            <a:off x="12105313" y="7922529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B1F711E-D980-9F5D-9937-53955D17F48A}"/>
              </a:ext>
            </a:extLst>
          </p:cNvPr>
          <p:cNvSpPr txBox="1"/>
          <p:nvPr/>
        </p:nvSpPr>
        <p:spPr>
          <a:xfrm>
            <a:off x="9872575" y="7312783"/>
            <a:ext cx="283223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50 x 11 x 11</a:t>
            </a:r>
            <a:endParaRPr lang="zh-TW" altLang="en-US" sz="3600" dirty="0"/>
          </a:p>
        </p:txBody>
      </p:sp>
      <p:pic>
        <p:nvPicPr>
          <p:cNvPr id="3" name="圖片 3">
            <a:extLst>
              <a:ext uri="{FF2B5EF4-FFF2-40B4-BE49-F238E27FC236}">
                <a16:creationId xmlns:a16="http://schemas.microsoft.com/office/drawing/2014/main" id="{D8E6FACA-CECF-C982-D41D-AFA3699A6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190" y="5071691"/>
            <a:ext cx="6119432" cy="4541766"/>
          </a:xfrm>
          <a:prstGeom prst="rect">
            <a:avLst/>
          </a:prstGeom>
        </p:spPr>
      </p:pic>
      <p:sp>
        <p:nvSpPr>
          <p:cNvPr id="4" name="文字方塊 55">
            <a:extLst>
              <a:ext uri="{FF2B5EF4-FFF2-40B4-BE49-F238E27FC236}">
                <a16:creationId xmlns:a16="http://schemas.microsoft.com/office/drawing/2014/main" id="{781E3EA5-2CE3-8484-852E-09D2C4BD9960}"/>
              </a:ext>
            </a:extLst>
          </p:cNvPr>
          <p:cNvSpPr txBox="1"/>
          <p:nvPr/>
        </p:nvSpPr>
        <p:spPr>
          <a:xfrm>
            <a:off x="12840235" y="1722307"/>
            <a:ext cx="1527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input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5515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201" y="3681095"/>
            <a:ext cx="5072064" cy="507206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598830" y="231360"/>
            <a:ext cx="598914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What does CNN learn?</a:t>
            </a:r>
            <a:endParaRPr lang="zh-TW" altLang="en-US" sz="4200" b="1" i="1" u="sng" dirty="0"/>
          </a:p>
        </p:txBody>
      </p:sp>
      <p:pic>
        <p:nvPicPr>
          <p:cNvPr id="26" name="圖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2678641" y="7170607"/>
            <a:ext cx="1711259" cy="18521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11785069" y="8324525"/>
                <a:ext cx="621067" cy="698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5069" y="8324525"/>
                <a:ext cx="621067" cy="698268"/>
              </a:xfrm>
              <a:prstGeom prst="rect">
                <a:avLst/>
              </a:prstGeom>
              <a:blipFill>
                <a:blip r:embed="rId4"/>
                <a:stretch>
                  <a:fillRect l="-8000" r="-10000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單箭頭接點 29"/>
          <p:cNvCxnSpPr/>
          <p:nvPr/>
        </p:nvCxnSpPr>
        <p:spPr>
          <a:xfrm flipH="1">
            <a:off x="12228785" y="7933340"/>
            <a:ext cx="449856" cy="63310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5422388" y="2713049"/>
                <a:ext cx="3403945" cy="755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388" y="2713049"/>
                <a:ext cx="3403945" cy="755463"/>
              </a:xfrm>
              <a:prstGeom prst="rect">
                <a:avLst/>
              </a:prstGeom>
              <a:blipFill>
                <a:blip r:embed="rId5"/>
                <a:stretch>
                  <a:fillRect l="-741" r="-741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/>
          <p:cNvSpPr txBox="1"/>
          <p:nvPr/>
        </p:nvSpPr>
        <p:spPr>
          <a:xfrm>
            <a:off x="3515816" y="8733714"/>
            <a:ext cx="7838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Each figure corresponds to a neuron</a:t>
            </a:r>
            <a:endParaRPr lang="zh-TW" altLang="en-US" sz="36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3533205" y="1529411"/>
            <a:ext cx="7182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Find an image maximizing the output of neuron:</a:t>
            </a:r>
            <a:endParaRPr lang="zh-TW" altLang="en-US" sz="36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3C5648-6662-3462-89CA-9D2224A362EA}"/>
              </a:ext>
            </a:extLst>
          </p:cNvPr>
          <p:cNvSpPr/>
          <p:nvPr/>
        </p:nvSpPr>
        <p:spPr>
          <a:xfrm>
            <a:off x="11983272" y="1550358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A3400A-0D56-650F-3A84-5F9243B83885}"/>
              </a:ext>
            </a:extLst>
          </p:cNvPr>
          <p:cNvSpPr/>
          <p:nvPr/>
        </p:nvSpPr>
        <p:spPr>
          <a:xfrm>
            <a:off x="11983272" y="2633780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D1B7F1-2478-F335-C9EE-C80A4B06CDB2}"/>
              </a:ext>
            </a:extLst>
          </p:cNvPr>
          <p:cNvSpPr/>
          <p:nvPr/>
        </p:nvSpPr>
        <p:spPr>
          <a:xfrm>
            <a:off x="11983272" y="3718891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80E3AD4-6EB0-25B5-C67D-9BB2F09DE826}"/>
              </a:ext>
            </a:extLst>
          </p:cNvPr>
          <p:cNvSpPr/>
          <p:nvPr/>
        </p:nvSpPr>
        <p:spPr>
          <a:xfrm>
            <a:off x="11952135" y="4803157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23" name="文字方塊 55">
            <a:extLst>
              <a:ext uri="{FF2B5EF4-FFF2-40B4-BE49-F238E27FC236}">
                <a16:creationId xmlns:a16="http://schemas.microsoft.com/office/drawing/2014/main" id="{D3B8C12C-3120-D23E-FA68-4790E08175DB}"/>
              </a:ext>
            </a:extLst>
          </p:cNvPr>
          <p:cNvSpPr txBox="1"/>
          <p:nvPr/>
        </p:nvSpPr>
        <p:spPr>
          <a:xfrm>
            <a:off x="12718194" y="814023"/>
            <a:ext cx="1527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input</a:t>
            </a:r>
            <a:endParaRPr lang="zh-TW" altLang="en-US" sz="3600" dirty="0"/>
          </a:p>
        </p:txBody>
      </p:sp>
      <p:sp>
        <p:nvSpPr>
          <p:cNvPr id="24" name="向下箭號 17">
            <a:extLst>
              <a:ext uri="{FF2B5EF4-FFF2-40B4-BE49-F238E27FC236}">
                <a16:creationId xmlns:a16="http://schemas.microsoft.com/office/drawing/2014/main" id="{2E510220-4FCA-9254-1322-4D6361B21BD4}"/>
              </a:ext>
            </a:extLst>
          </p:cNvPr>
          <p:cNvSpPr/>
          <p:nvPr/>
        </p:nvSpPr>
        <p:spPr>
          <a:xfrm>
            <a:off x="13073504" y="2262924"/>
            <a:ext cx="818535" cy="49133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向下箭號 17">
            <a:extLst>
              <a:ext uri="{FF2B5EF4-FFF2-40B4-BE49-F238E27FC236}">
                <a16:creationId xmlns:a16="http://schemas.microsoft.com/office/drawing/2014/main" id="{2475F660-AEF8-2BD4-F0AD-34D60CF0F3CD}"/>
              </a:ext>
            </a:extLst>
          </p:cNvPr>
          <p:cNvSpPr/>
          <p:nvPr/>
        </p:nvSpPr>
        <p:spPr>
          <a:xfrm>
            <a:off x="13073504" y="3347612"/>
            <a:ext cx="818535" cy="49133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向下箭號 17">
            <a:extLst>
              <a:ext uri="{FF2B5EF4-FFF2-40B4-BE49-F238E27FC236}">
                <a16:creationId xmlns:a16="http://schemas.microsoft.com/office/drawing/2014/main" id="{457B43AD-6F94-660C-FA1C-2D00595C6D68}"/>
              </a:ext>
            </a:extLst>
          </p:cNvPr>
          <p:cNvSpPr/>
          <p:nvPr/>
        </p:nvSpPr>
        <p:spPr>
          <a:xfrm>
            <a:off x="13073504" y="4471740"/>
            <a:ext cx="818535" cy="49133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A0C9CD-B8E9-0F4B-E9BD-2DEFBF67B220}"/>
              </a:ext>
            </a:extLst>
          </p:cNvPr>
          <p:cNvSpPr/>
          <p:nvPr/>
        </p:nvSpPr>
        <p:spPr>
          <a:xfrm>
            <a:off x="11936562" y="5886579"/>
            <a:ext cx="2997131" cy="8347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Flatten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32" name="向下箭號 17">
            <a:extLst>
              <a:ext uri="{FF2B5EF4-FFF2-40B4-BE49-F238E27FC236}">
                <a16:creationId xmlns:a16="http://schemas.microsoft.com/office/drawing/2014/main" id="{C09C9F06-91DE-32DB-C38D-9D1985071A90}"/>
              </a:ext>
            </a:extLst>
          </p:cNvPr>
          <p:cNvSpPr/>
          <p:nvPr/>
        </p:nvSpPr>
        <p:spPr>
          <a:xfrm>
            <a:off x="13073504" y="5516567"/>
            <a:ext cx="818535" cy="49133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向下箭號 17">
            <a:extLst>
              <a:ext uri="{FF2B5EF4-FFF2-40B4-BE49-F238E27FC236}">
                <a16:creationId xmlns:a16="http://schemas.microsoft.com/office/drawing/2014/main" id="{41E3AD08-D97C-0512-CC47-A7A9AF471A73}"/>
              </a:ext>
            </a:extLst>
          </p:cNvPr>
          <p:cNvSpPr/>
          <p:nvPr/>
        </p:nvSpPr>
        <p:spPr>
          <a:xfrm>
            <a:off x="13073504" y="6679273"/>
            <a:ext cx="818535" cy="49133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4" grpId="0"/>
      <p:bldP spid="36" grpId="0"/>
      <p:bldP spid="3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5">
            <a:extLst>
              <a:ext uri="{FF2B5EF4-FFF2-40B4-BE49-F238E27FC236}">
                <a16:creationId xmlns:a16="http://schemas.microsoft.com/office/drawing/2014/main" id="{2E4C4EE8-9E4C-0865-95B1-2AD13AB17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650210" y="7155842"/>
            <a:ext cx="1663254" cy="1800228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53594BA6-53B4-E08F-6C00-AA56EEBDA741}"/>
              </a:ext>
            </a:extLst>
          </p:cNvPr>
          <p:cNvSpPr/>
          <p:nvPr/>
        </p:nvSpPr>
        <p:spPr>
          <a:xfrm>
            <a:off x="11936562" y="5886579"/>
            <a:ext cx="2997131" cy="8347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Flatten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541" y="2484818"/>
            <a:ext cx="5129177" cy="512917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11764524" y="8548647"/>
                <a:ext cx="607859" cy="6463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4524" y="8548647"/>
                <a:ext cx="607859" cy="646331"/>
              </a:xfrm>
              <a:prstGeom prst="rect">
                <a:avLst/>
              </a:prstGeom>
              <a:blipFill>
                <a:blip r:embed="rId4"/>
                <a:stretch>
                  <a:fillRect l="-18367" r="-4082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單箭頭接點 18"/>
          <p:cNvCxnSpPr/>
          <p:nvPr/>
        </p:nvCxnSpPr>
        <p:spPr>
          <a:xfrm flipH="1">
            <a:off x="12344106" y="8685762"/>
            <a:ext cx="748175" cy="27030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598830" y="231360"/>
            <a:ext cx="598914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What does CNN learn?</a:t>
            </a:r>
            <a:endParaRPr lang="zh-TW" altLang="en-US" sz="4200" b="1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3627560" y="1464649"/>
                <a:ext cx="3366050" cy="755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560" y="1464649"/>
                <a:ext cx="3366050" cy="755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/>
          <p:cNvSpPr txBox="1"/>
          <p:nvPr/>
        </p:nvSpPr>
        <p:spPr>
          <a:xfrm>
            <a:off x="7580831" y="1490183"/>
            <a:ext cx="381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Can we see digits?</a:t>
            </a:r>
            <a:endParaRPr lang="zh-TW" altLang="en-US" sz="3600" dirty="0"/>
          </a:p>
        </p:txBody>
      </p:sp>
      <p:sp>
        <p:nvSpPr>
          <p:cNvPr id="26" name="矩形 25"/>
          <p:cNvSpPr/>
          <p:nvPr/>
        </p:nvSpPr>
        <p:spPr>
          <a:xfrm>
            <a:off x="4774541" y="3485786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0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584206" y="3491248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1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372401" y="3491248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2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774540" y="5302106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3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573469" y="5320865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4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372399" y="5302106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5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774538" y="7118426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6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584206" y="7118426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7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372398" y="7055672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8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26409" y="8111616"/>
            <a:ext cx="836799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000000"/>
                </a:solidFill>
                <a:latin typeface="Roboto"/>
              </a:rPr>
              <a:t>Deep Neural Networks are Easily Fooled</a:t>
            </a:r>
          </a:p>
          <a:p>
            <a:r>
              <a:rPr lang="en-US" altLang="zh-TW" dirty="0"/>
              <a:t>https://www.youtube.com/watch?v=M2IebCN9Ht4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504EEA-547E-5B22-DF87-56016A43CCC0}"/>
              </a:ext>
            </a:extLst>
          </p:cNvPr>
          <p:cNvSpPr/>
          <p:nvPr/>
        </p:nvSpPr>
        <p:spPr>
          <a:xfrm>
            <a:off x="11983272" y="1550358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193C3A-E91E-1F29-FAC5-8A208551AF9F}"/>
              </a:ext>
            </a:extLst>
          </p:cNvPr>
          <p:cNvSpPr/>
          <p:nvPr/>
        </p:nvSpPr>
        <p:spPr>
          <a:xfrm>
            <a:off x="11983272" y="2633780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671963-1524-F1A1-137C-B358BBC11937}"/>
              </a:ext>
            </a:extLst>
          </p:cNvPr>
          <p:cNvSpPr/>
          <p:nvPr/>
        </p:nvSpPr>
        <p:spPr>
          <a:xfrm>
            <a:off x="11983272" y="3718891"/>
            <a:ext cx="2997130" cy="83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Convolution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8CBCAE-6830-CAE1-0CA3-50F73FE8A7E7}"/>
              </a:ext>
            </a:extLst>
          </p:cNvPr>
          <p:cNvSpPr/>
          <p:nvPr/>
        </p:nvSpPr>
        <p:spPr>
          <a:xfrm>
            <a:off x="11952135" y="4803157"/>
            <a:ext cx="2997131" cy="8347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Max Pooling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  <p:sp>
        <p:nvSpPr>
          <p:cNvPr id="36" name="文字方塊 55">
            <a:extLst>
              <a:ext uri="{FF2B5EF4-FFF2-40B4-BE49-F238E27FC236}">
                <a16:creationId xmlns:a16="http://schemas.microsoft.com/office/drawing/2014/main" id="{7A76C1D8-FB8A-8D51-708F-9F76E6CC449A}"/>
              </a:ext>
            </a:extLst>
          </p:cNvPr>
          <p:cNvSpPr txBox="1"/>
          <p:nvPr/>
        </p:nvSpPr>
        <p:spPr>
          <a:xfrm>
            <a:off x="12718194" y="814023"/>
            <a:ext cx="1527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input</a:t>
            </a:r>
            <a:endParaRPr lang="zh-TW" altLang="en-US" sz="3600" dirty="0"/>
          </a:p>
        </p:txBody>
      </p:sp>
      <p:sp>
        <p:nvSpPr>
          <p:cNvPr id="37" name="向下箭號 17">
            <a:extLst>
              <a:ext uri="{FF2B5EF4-FFF2-40B4-BE49-F238E27FC236}">
                <a16:creationId xmlns:a16="http://schemas.microsoft.com/office/drawing/2014/main" id="{FD3FC125-FB4F-0109-F391-52F562FE6D13}"/>
              </a:ext>
            </a:extLst>
          </p:cNvPr>
          <p:cNvSpPr/>
          <p:nvPr/>
        </p:nvSpPr>
        <p:spPr>
          <a:xfrm>
            <a:off x="13073504" y="2262924"/>
            <a:ext cx="818535" cy="49133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17">
            <a:extLst>
              <a:ext uri="{FF2B5EF4-FFF2-40B4-BE49-F238E27FC236}">
                <a16:creationId xmlns:a16="http://schemas.microsoft.com/office/drawing/2014/main" id="{FE71E619-D15B-E3FD-4156-E29F56281056}"/>
              </a:ext>
            </a:extLst>
          </p:cNvPr>
          <p:cNvSpPr/>
          <p:nvPr/>
        </p:nvSpPr>
        <p:spPr>
          <a:xfrm>
            <a:off x="13073504" y="3347612"/>
            <a:ext cx="818535" cy="49133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17">
            <a:extLst>
              <a:ext uri="{FF2B5EF4-FFF2-40B4-BE49-F238E27FC236}">
                <a16:creationId xmlns:a16="http://schemas.microsoft.com/office/drawing/2014/main" id="{459852EB-222A-5774-7575-AA4723C67347}"/>
              </a:ext>
            </a:extLst>
          </p:cNvPr>
          <p:cNvSpPr/>
          <p:nvPr/>
        </p:nvSpPr>
        <p:spPr>
          <a:xfrm>
            <a:off x="13073504" y="4471740"/>
            <a:ext cx="818535" cy="49133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向下箭號 17">
            <a:extLst>
              <a:ext uri="{FF2B5EF4-FFF2-40B4-BE49-F238E27FC236}">
                <a16:creationId xmlns:a16="http://schemas.microsoft.com/office/drawing/2014/main" id="{5B4DBD8D-3D2A-C5D1-DA0F-BF47C4FEA6DC}"/>
              </a:ext>
            </a:extLst>
          </p:cNvPr>
          <p:cNvSpPr/>
          <p:nvPr/>
        </p:nvSpPr>
        <p:spPr>
          <a:xfrm>
            <a:off x="13073504" y="5516567"/>
            <a:ext cx="818535" cy="49133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17">
            <a:extLst>
              <a:ext uri="{FF2B5EF4-FFF2-40B4-BE49-F238E27FC236}">
                <a16:creationId xmlns:a16="http://schemas.microsoft.com/office/drawing/2014/main" id="{76084C74-3122-7E20-EF87-1BD2D68CA105}"/>
              </a:ext>
            </a:extLst>
          </p:cNvPr>
          <p:cNvSpPr/>
          <p:nvPr/>
        </p:nvSpPr>
        <p:spPr>
          <a:xfrm>
            <a:off x="13073504" y="6679273"/>
            <a:ext cx="818535" cy="49133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does CNN learn?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667" y="4250387"/>
            <a:ext cx="4842813" cy="4842813"/>
          </a:xfrm>
        </p:spPr>
      </p:pic>
      <p:sp>
        <p:nvSpPr>
          <p:cNvPr id="15" name="矩形 14"/>
          <p:cNvSpPr/>
          <p:nvPr/>
        </p:nvSpPr>
        <p:spPr>
          <a:xfrm>
            <a:off x="9598670" y="5207263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0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408335" y="5212724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1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196530" y="5212724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2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598669" y="7023583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3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397598" y="7042342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4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3196528" y="7023583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5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598667" y="8839903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6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408335" y="8839903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7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196527" y="8777149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8</a:t>
            </a:r>
            <a:endParaRPr lang="zh-TW" altLang="en-US" dirty="0">
              <a:solidFill>
                <a:srgbClr val="FCFCFC"/>
              </a:solidFill>
            </a:endParaRPr>
          </a:p>
        </p:txBody>
      </p:sp>
      <p:pic>
        <p:nvPicPr>
          <p:cNvPr id="25" name="內容版面配置區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754" y="4231451"/>
            <a:ext cx="4861749" cy="4861749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426754" y="5232419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0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236418" y="5237881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1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024613" y="5237881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2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26752" y="7048739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3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225681" y="7067498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4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024612" y="7048739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5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26751" y="8865059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6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236418" y="8865059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7</a:t>
            </a:r>
            <a:endParaRPr lang="zh-TW" altLang="en-US" dirty="0">
              <a:solidFill>
                <a:srgbClr val="FCFCFC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024610" y="8802305"/>
            <a:ext cx="447038" cy="49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CFCFC"/>
                </a:solidFill>
              </a:rPr>
              <a:t>8</a:t>
            </a:r>
            <a:endParaRPr lang="zh-TW" altLang="en-US" dirty="0">
              <a:solidFill>
                <a:srgbClr val="FCFCF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4322037" y="2948836"/>
                <a:ext cx="3366050" cy="755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37" y="2948836"/>
                <a:ext cx="3366050" cy="755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8555930" y="2578342"/>
                <a:ext cx="7219859" cy="14319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930" y="2578342"/>
                <a:ext cx="7219859" cy="14319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36"/>
          <p:cNvSpPr txBox="1"/>
          <p:nvPr/>
        </p:nvSpPr>
        <p:spPr>
          <a:xfrm>
            <a:off x="12733163" y="1400175"/>
            <a:ext cx="2579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Over all pixel values</a:t>
            </a:r>
            <a:endParaRPr lang="zh-TW" altLang="en-US" sz="3600" dirty="0"/>
          </a:p>
        </p:txBody>
      </p:sp>
      <p:sp>
        <p:nvSpPr>
          <p:cNvPr id="38" name="矩形 37"/>
          <p:cNvSpPr/>
          <p:nvPr/>
        </p:nvSpPr>
        <p:spPr>
          <a:xfrm>
            <a:off x="13196526" y="2604830"/>
            <a:ext cx="1652535" cy="140534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6" grpId="0"/>
      <p:bldP spid="37" grpId="0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1"/>
            <a:ext cx="15667355" cy="19812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6600" dirty="0"/>
              <a:t>Applications of CNN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Deep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Given a photo, make its style like famous paintings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157332" y="9467849"/>
            <a:ext cx="2480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https://</a:t>
            </a:r>
            <a:r>
              <a:rPr lang="en-US" altLang="zh-TW" dirty="0" err="1"/>
              <a:t>goart.fotor</a:t>
            </a:r>
            <a:r>
              <a:rPr lang="zh-TW" altLang="en-US" dirty="0"/>
              <a:t>.com/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2D1C5DF-60C7-AD66-9175-DDB9FA978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836" y="3028387"/>
            <a:ext cx="8026000" cy="609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The Starry Night by Van Gogh original oil reproduction on | Etsy in ...">
            <a:extLst>
              <a:ext uri="{FF2B5EF4-FFF2-40B4-BE49-F238E27FC236}">
                <a16:creationId xmlns:a16="http://schemas.microsoft.com/office/drawing/2014/main" id="{2926F9CC-8094-F7B0-25BF-5371FA6F3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0887" y="7141976"/>
            <a:ext cx="2626351" cy="2050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EA05716-362F-006D-53FA-4391502C8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836" y="3028387"/>
            <a:ext cx="8026000" cy="609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Deep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Given a photo, make its style like famous paintings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157332" y="9467849"/>
            <a:ext cx="2480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https://</a:t>
            </a:r>
            <a:r>
              <a:rPr lang="en-US" altLang="zh-TW" dirty="0" err="1"/>
              <a:t>goart.fotor</a:t>
            </a:r>
            <a:r>
              <a:rPr lang="zh-TW" altLang="en-US" dirty="0"/>
              <a:t>.com/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957513B-CFC3-CA59-9810-06FC8CFA9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764" y="3028387"/>
            <a:ext cx="8030351" cy="609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92601" y="-403752"/>
            <a:ext cx="4861832" cy="1988345"/>
          </a:xfrm>
        </p:spPr>
        <p:txBody>
          <a:bodyPr>
            <a:normAutofit/>
          </a:bodyPr>
          <a:lstStyle/>
          <a:p>
            <a:r>
              <a:rPr lang="en-US" altLang="zh-TW" sz="4800" i="1" u="sng" dirty="0"/>
              <a:t>Deep Style</a:t>
            </a:r>
            <a:endParaRPr lang="zh-TW" altLang="en-US" sz="4800" i="1" u="sng" dirty="0"/>
          </a:p>
        </p:txBody>
      </p:sp>
      <p:sp>
        <p:nvSpPr>
          <p:cNvPr id="6" name="文字方塊 5"/>
          <p:cNvSpPr txBox="1"/>
          <p:nvPr/>
        </p:nvSpPr>
        <p:spPr>
          <a:xfrm>
            <a:off x="6625931" y="3595512"/>
            <a:ext cx="2895600" cy="738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CNN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1976719" y="3574025"/>
            <a:ext cx="2895600" cy="738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CNN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947213" y="4880360"/>
            <a:ext cx="2253036" cy="73866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content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2298001" y="4869078"/>
            <a:ext cx="2253036" cy="73866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style</a:t>
            </a:r>
            <a:endParaRPr lang="zh-TW" altLang="en-US" sz="4200" dirty="0"/>
          </a:p>
        </p:txBody>
      </p:sp>
      <p:sp>
        <p:nvSpPr>
          <p:cNvPr id="11" name="向下箭號 10"/>
          <p:cNvSpPr/>
          <p:nvPr/>
        </p:nvSpPr>
        <p:spPr>
          <a:xfrm>
            <a:off x="7453245" y="2986388"/>
            <a:ext cx="1240971" cy="5876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下箭號 11"/>
          <p:cNvSpPr/>
          <p:nvPr/>
        </p:nvSpPr>
        <p:spPr>
          <a:xfrm>
            <a:off x="7453245" y="4365545"/>
            <a:ext cx="1240971" cy="5876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下箭號 12"/>
          <p:cNvSpPr/>
          <p:nvPr/>
        </p:nvSpPr>
        <p:spPr>
          <a:xfrm>
            <a:off x="12846504" y="2986388"/>
            <a:ext cx="1240971" cy="5876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下箭號 13"/>
          <p:cNvSpPr/>
          <p:nvPr/>
        </p:nvSpPr>
        <p:spPr>
          <a:xfrm>
            <a:off x="12846504" y="4365545"/>
            <a:ext cx="1240971" cy="5876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內容版面配置區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405" y="7367678"/>
            <a:ext cx="3893616" cy="2595744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9501645" y="7398633"/>
            <a:ext cx="2895600" cy="738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CNN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0633760" y="8929273"/>
            <a:ext cx="631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FF0000"/>
                </a:solidFill>
              </a:rPr>
              <a:t>?</a:t>
            </a:r>
            <a:endParaRPr lang="zh-TW" altLang="en-US" sz="4800" b="1" dirty="0">
              <a:solidFill>
                <a:srgbClr val="FF0000"/>
              </a:solidFill>
            </a:endParaRPr>
          </a:p>
        </p:txBody>
      </p:sp>
      <p:sp>
        <p:nvSpPr>
          <p:cNvPr id="18" name="向下箭號 17"/>
          <p:cNvSpPr/>
          <p:nvPr/>
        </p:nvSpPr>
        <p:spPr>
          <a:xfrm rot="10800000">
            <a:off x="10328960" y="8259041"/>
            <a:ext cx="1240971" cy="5876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單箭頭接點 19"/>
          <p:cNvCxnSpPr>
            <a:stCxn id="16" idx="0"/>
            <a:endCxn id="8" idx="2"/>
          </p:cNvCxnSpPr>
          <p:nvPr/>
        </p:nvCxnSpPr>
        <p:spPr>
          <a:xfrm flipH="1" flipV="1">
            <a:off x="8073731" y="5619024"/>
            <a:ext cx="2875714" cy="17796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6" idx="0"/>
          </p:cNvCxnSpPr>
          <p:nvPr/>
        </p:nvCxnSpPr>
        <p:spPr>
          <a:xfrm flipV="1">
            <a:off x="10949445" y="5675052"/>
            <a:ext cx="2517546" cy="172358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251193" y="5059514"/>
            <a:ext cx="41327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rgbClr val="000000"/>
                </a:solidFill>
                <a:latin typeface="Lucida Grande"/>
              </a:rPr>
              <a:t>A Neural Algorithm of Artistic Style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Grande"/>
              </a:rPr>
              <a:t>https://arxiv.org/abs/1508.06576</a:t>
            </a:r>
            <a:endParaRPr lang="en-US" altLang="zh-TW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23EC97-07C8-7687-DAC4-BE5E1DF1D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433" y="590421"/>
            <a:ext cx="3291766" cy="249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The Starry Night by Van Gogh original oil reproduction on | Etsy in ...">
            <a:extLst>
              <a:ext uri="{FF2B5EF4-FFF2-40B4-BE49-F238E27FC236}">
                <a16:creationId xmlns:a16="http://schemas.microsoft.com/office/drawing/2014/main" id="{AED11BB3-48AB-2A0E-9EAC-8232628DA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1343" y="966937"/>
            <a:ext cx="2626351" cy="2050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/>
      <p:bldP spid="1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http://lgs.tw/img/xp1.png.pagespeed.ic.NzL0vritb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755279" y="2297370"/>
            <a:ext cx="3849311" cy="4148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More Application: Playing Go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8386061" y="3384892"/>
            <a:ext cx="2579429" cy="18660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Network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7" name="向右箭號 6"/>
          <p:cNvSpPr/>
          <p:nvPr/>
        </p:nvSpPr>
        <p:spPr>
          <a:xfrm>
            <a:off x="7572523" y="3897114"/>
            <a:ext cx="634622" cy="8416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11220442" y="3897114"/>
            <a:ext cx="634622" cy="8416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12018012" y="3412687"/>
            <a:ext cx="2395182" cy="1805979"/>
            <a:chOff x="6737868" y="2183226"/>
            <a:chExt cx="1596788" cy="1203986"/>
          </a:xfrm>
        </p:grpSpPr>
        <p:sp>
          <p:nvSpPr>
            <p:cNvPr id="9" name="文字方塊 8"/>
            <p:cNvSpPr txBox="1"/>
            <p:nvPr/>
          </p:nvSpPr>
          <p:spPr>
            <a:xfrm>
              <a:off x="6824399" y="2586993"/>
              <a:ext cx="14097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(19 x 19 positions)</a:t>
              </a:r>
              <a:endParaRPr lang="zh-TW" altLang="en-US" sz="3600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6737868" y="2183226"/>
              <a:ext cx="159678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Next move</a:t>
              </a:r>
              <a:endParaRPr lang="zh-TW" altLang="en-US" sz="3600" dirty="0"/>
            </a:p>
          </p:txBody>
        </p:sp>
      </p:grpSp>
      <p:sp>
        <p:nvSpPr>
          <p:cNvPr id="13" name="文字方塊 12"/>
          <p:cNvSpPr txBox="1"/>
          <p:nvPr/>
        </p:nvSpPr>
        <p:spPr>
          <a:xfrm>
            <a:off x="3906115" y="6268648"/>
            <a:ext cx="4073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19 x 19 vector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650206" y="7163549"/>
            <a:ext cx="258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Black: 1</a:t>
            </a:r>
            <a:endParaRPr lang="zh-TW" altLang="en-US" sz="3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650206" y="7837297"/>
            <a:ext cx="258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white: -1</a:t>
            </a:r>
            <a:endParaRPr lang="zh-TW" altLang="en-US" sz="36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650206" y="8511044"/>
            <a:ext cx="258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none: 0</a:t>
            </a:r>
            <a:endParaRPr lang="zh-TW" altLang="en-US" sz="3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1128606" y="5753576"/>
            <a:ext cx="4073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19 x 19 vector</a:t>
            </a:r>
            <a:endParaRPr lang="zh-TW" altLang="en-US" sz="36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806903" y="6829203"/>
            <a:ext cx="7845471" cy="13849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Fully-connected feedforward network can be used</a:t>
            </a:r>
            <a:endParaRPr lang="zh-TW" altLang="en-US" sz="42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7806903" y="8340692"/>
            <a:ext cx="7845471" cy="73866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But CNN performs much better.</a:t>
            </a:r>
            <a:endParaRPr lang="zh-TW" altLang="en-US" sz="42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4270216" y="5649522"/>
            <a:ext cx="2965100" cy="1200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CFCFC"/>
                </a:solidFill>
              </a:rPr>
              <a:t>19 x 19 matrix (image)</a:t>
            </a:r>
            <a:endParaRPr lang="zh-TW" altLang="en-US" sz="3600" dirty="0">
              <a:solidFill>
                <a:srgbClr val="FCFCF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More Application: Playing Go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521647" y="4252134"/>
            <a:ext cx="2204115" cy="14347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CNN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558" y="3537083"/>
            <a:ext cx="3243264" cy="294529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738" y="6689555"/>
            <a:ext cx="3285084" cy="286164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516705" y="7402995"/>
            <a:ext cx="2204115" cy="14347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CNN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8198" y="3600711"/>
            <a:ext cx="495164" cy="2559906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193" y="3638601"/>
            <a:ext cx="465137" cy="2534520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193" y="6853115"/>
            <a:ext cx="465137" cy="2534520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8196" y="6873393"/>
            <a:ext cx="495164" cy="2559906"/>
          </a:xfrm>
          <a:prstGeom prst="rect">
            <a:avLst/>
          </a:prstGeom>
        </p:spPr>
      </p:pic>
      <p:sp>
        <p:nvSpPr>
          <p:cNvPr id="15" name="向右箭號 14"/>
          <p:cNvSpPr/>
          <p:nvPr/>
        </p:nvSpPr>
        <p:spPr>
          <a:xfrm>
            <a:off x="7621799" y="4598039"/>
            <a:ext cx="781050" cy="74295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向右箭號 15"/>
          <p:cNvSpPr/>
          <p:nvPr/>
        </p:nvSpPr>
        <p:spPr>
          <a:xfrm>
            <a:off x="10909752" y="4598039"/>
            <a:ext cx="781050" cy="74295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右箭號 16"/>
          <p:cNvSpPr/>
          <p:nvPr/>
        </p:nvSpPr>
        <p:spPr>
          <a:xfrm>
            <a:off x="7573274" y="7781871"/>
            <a:ext cx="781050" cy="74295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右箭號 17"/>
          <p:cNvSpPr/>
          <p:nvPr/>
        </p:nvSpPr>
        <p:spPr>
          <a:xfrm>
            <a:off x="10939067" y="7781871"/>
            <a:ext cx="781050" cy="74295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424545" y="2142516"/>
            <a:ext cx="32602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record of previous plays</a:t>
            </a:r>
            <a:endParaRPr lang="zh-TW" altLang="en-US" sz="36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2500756" y="3733253"/>
            <a:ext cx="30904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Target:</a:t>
            </a:r>
          </a:p>
          <a:p>
            <a:r>
              <a:rPr lang="en-US" altLang="zh-TW" sz="4200" dirty="0"/>
              <a:t>“</a:t>
            </a:r>
            <a:r>
              <a:rPr lang="en-US" altLang="zh-TW" sz="4200" dirty="0" err="1"/>
              <a:t>Tengen</a:t>
            </a:r>
            <a:r>
              <a:rPr lang="en-US" altLang="zh-TW" sz="4200" dirty="0"/>
              <a:t>”</a:t>
            </a:r>
            <a:r>
              <a:rPr lang="zh-TW" altLang="en-US" sz="4200" dirty="0"/>
              <a:t> </a:t>
            </a:r>
            <a:r>
              <a:rPr lang="en-US" altLang="zh-TW" sz="4200" dirty="0"/>
              <a:t>= 1</a:t>
            </a:r>
          </a:p>
          <a:p>
            <a:r>
              <a:rPr lang="en-US" altLang="zh-TW" sz="4200" dirty="0"/>
              <a:t>else = 0</a:t>
            </a:r>
            <a:endParaRPr lang="zh-TW" altLang="en-US" sz="42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2500756" y="7114600"/>
            <a:ext cx="30904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Target:</a:t>
            </a:r>
          </a:p>
          <a:p>
            <a:r>
              <a:rPr lang="en-US" altLang="zh-TW" sz="4200" dirty="0"/>
              <a:t>“</a:t>
            </a:r>
            <a:r>
              <a:rPr lang="en-US" altLang="zh-CN" sz="4200" dirty="0"/>
              <a:t>5</a:t>
            </a:r>
            <a:r>
              <a:rPr lang="zh-TW" altLang="en-US" sz="4200" dirty="0"/>
              <a:t> </a:t>
            </a:r>
            <a:r>
              <a:rPr lang="en-US" altLang="zh-TW" sz="4200" dirty="0"/>
              <a:t>5”</a:t>
            </a:r>
            <a:r>
              <a:rPr lang="zh-TW" altLang="en-US" sz="4200" dirty="0"/>
              <a:t> </a:t>
            </a:r>
            <a:r>
              <a:rPr lang="en-US" altLang="zh-TW" sz="4200" dirty="0"/>
              <a:t>= 1</a:t>
            </a:r>
          </a:p>
          <a:p>
            <a:r>
              <a:rPr lang="en-US" altLang="zh-TW" sz="4200" dirty="0"/>
              <a:t>else = 0</a:t>
            </a:r>
            <a:endParaRPr lang="zh-TW" altLang="en-US" sz="42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3153675" y="2518385"/>
            <a:ext cx="27695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Training:</a:t>
            </a:r>
            <a:endParaRPr lang="zh-TW" altLang="en-US" sz="4200" dirty="0"/>
          </a:p>
        </p:txBody>
      </p:sp>
      <p:grpSp>
        <p:nvGrpSpPr>
          <p:cNvPr id="33" name="群組 32"/>
          <p:cNvGrpSpPr/>
          <p:nvPr/>
        </p:nvGrpSpPr>
        <p:grpSpPr>
          <a:xfrm>
            <a:off x="8450313" y="2440728"/>
            <a:ext cx="7174002" cy="1200330"/>
            <a:chOff x="4153803" y="1610963"/>
            <a:chExt cx="4782668" cy="800220"/>
          </a:xfrm>
        </p:grpSpPr>
        <p:grpSp>
          <p:nvGrpSpPr>
            <p:cNvPr id="12" name="群組 11"/>
            <p:cNvGrpSpPr/>
            <p:nvPr/>
          </p:nvGrpSpPr>
          <p:grpSpPr>
            <a:xfrm>
              <a:off x="4153803" y="1610963"/>
              <a:ext cx="4782668" cy="800220"/>
              <a:chOff x="4153803" y="1610963"/>
              <a:chExt cx="4782668" cy="800220"/>
            </a:xfrm>
          </p:grpSpPr>
          <p:sp>
            <p:nvSpPr>
              <p:cNvPr id="24" name="文字方塊 23"/>
              <p:cNvSpPr txBox="1"/>
              <p:nvPr/>
            </p:nvSpPr>
            <p:spPr>
              <a:xfrm>
                <a:off x="4153803" y="1610964"/>
                <a:ext cx="149923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Black:</a:t>
                </a:r>
                <a:r>
                  <a:rPr lang="zh-TW" altLang="en-US" sz="3600" dirty="0"/>
                  <a:t> </a:t>
                </a:r>
                <a:r>
                  <a:rPr lang="en-US" altLang="zh-TW" sz="3600" dirty="0"/>
                  <a:t>5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5</a:t>
                </a:r>
                <a:endParaRPr lang="zh-TW" altLang="en-US" sz="3600" dirty="0"/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5647973" y="1610964"/>
                <a:ext cx="1499230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White:</a:t>
                </a:r>
                <a:r>
                  <a:rPr lang="zh-TW" altLang="en-US" sz="3600" dirty="0"/>
                  <a:t> </a:t>
                </a:r>
                <a:r>
                  <a:rPr lang="en-US" altLang="zh-TW" sz="3600" dirty="0" err="1"/>
                  <a:t>Tengen</a:t>
                </a:r>
                <a:endParaRPr lang="zh-TW" altLang="en-US" sz="3600" dirty="0"/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7202773" y="1610963"/>
                <a:ext cx="1733698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Black:</a:t>
                </a:r>
                <a:r>
                  <a:rPr lang="zh-TW" altLang="en-US" sz="3600" dirty="0"/>
                  <a:t> </a:t>
                </a:r>
                <a:r>
                  <a:rPr lang="en-US" altLang="zh-CN" sz="3600" dirty="0"/>
                  <a:t>5</a:t>
                </a:r>
                <a:r>
                  <a:rPr lang="zh-CN" altLang="en-US" sz="3600" dirty="0"/>
                  <a:t> </a:t>
                </a:r>
                <a:r>
                  <a:rPr lang="en-US" altLang="zh-TW" sz="3600" dirty="0"/>
                  <a:t>5 …</a:t>
                </a:r>
                <a:endParaRPr lang="zh-TW" altLang="en-US" sz="3600" dirty="0"/>
              </a:p>
            </p:txBody>
          </p:sp>
          <p:cxnSp>
            <p:nvCxnSpPr>
              <p:cNvPr id="27" name="直線單箭頭接點 26"/>
              <p:cNvCxnSpPr/>
              <p:nvPr/>
            </p:nvCxnSpPr>
            <p:spPr>
              <a:xfrm>
                <a:off x="5554582" y="1868789"/>
                <a:ext cx="284916" cy="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直線單箭頭接點 31"/>
            <p:cNvCxnSpPr/>
            <p:nvPr/>
          </p:nvCxnSpPr>
          <p:spPr>
            <a:xfrm>
              <a:off x="7004745" y="1854611"/>
              <a:ext cx="284916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5" grpId="0" animBg="1"/>
      <p:bldP spid="16" grpId="0" animBg="1"/>
      <p:bldP spid="17" grpId="0" animBg="1"/>
      <p:bldP spid="18" grpId="0" animBg="1"/>
      <p:bldP spid="19" grpId="0"/>
      <p:bldP spid="21" grpId="0"/>
      <p:bldP spid="22" grpId="0"/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playing Go?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Some patterns are much smaller than the whole image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same patterns appear in different regions.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628" y="3504095"/>
            <a:ext cx="1959770" cy="19041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434" name="Picture 2" descr="http://e.blog.xuite.net/e/1/b/d/15813770/blog_852349/txt/33202844/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406" y="6312202"/>
            <a:ext cx="3101813" cy="310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e.blog.xuite.net/e/1/b/d/15813770/blog_852349/txt/33202844/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62" y="6312202"/>
            <a:ext cx="3101813" cy="310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513" y="6561905"/>
            <a:ext cx="894699" cy="8692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368" y="8307062"/>
            <a:ext cx="894699" cy="8692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文字方塊 4"/>
          <p:cNvSpPr txBox="1"/>
          <p:nvPr/>
        </p:nvSpPr>
        <p:spPr>
          <a:xfrm>
            <a:off x="3964541" y="4381836"/>
            <a:ext cx="7364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Alpha Go uses 5 x 5 for first layer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playing Go?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8550" y="2337568"/>
            <a:ext cx="16084552" cy="6888006"/>
          </a:xfrm>
        </p:spPr>
        <p:txBody>
          <a:bodyPr/>
          <a:lstStyle/>
          <a:p>
            <a:r>
              <a:rPr lang="en-US" altLang="zh-TW" dirty="0"/>
              <a:t>Subsampling</a:t>
            </a:r>
            <a:r>
              <a:rPr lang="zh-TW" altLang="en-US" dirty="0"/>
              <a:t> </a:t>
            </a:r>
            <a:r>
              <a:rPr lang="en-US" altLang="zh-TW" dirty="0"/>
              <a:t>the pixels will not change the object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512" y="4448570"/>
            <a:ext cx="13432676" cy="5525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文字方塊 4"/>
          <p:cNvSpPr txBox="1"/>
          <p:nvPr/>
        </p:nvSpPr>
        <p:spPr>
          <a:xfrm>
            <a:off x="4150859" y="8233969"/>
            <a:ext cx="9986282" cy="738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Alpha Go does not use Max Pooling ……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76004" y="3424108"/>
            <a:ext cx="3264329" cy="738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CFCFC"/>
                </a:solidFill>
              </a:rPr>
              <a:t>Max Pooling</a:t>
            </a:r>
            <a:endParaRPr lang="zh-TW" altLang="en-US" sz="4200" dirty="0">
              <a:solidFill>
                <a:srgbClr val="FCFCFC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774332" y="3409068"/>
            <a:ext cx="8693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How to explain this???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13635194" y="4958862"/>
            <a:ext cx="19871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2505231" y="5444637"/>
            <a:ext cx="103806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13520894" y="5444637"/>
            <a:ext cx="22096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505231" y="5901837"/>
            <a:ext cx="43241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9411013" y="5917224"/>
            <a:ext cx="44335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4816138" y="5901837"/>
            <a:ext cx="9028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505232" y="6416187"/>
            <a:ext cx="25225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8353738" y="6416187"/>
            <a:ext cx="3462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2419846" y="6916250"/>
            <a:ext cx="3462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5948987" y="6916250"/>
            <a:ext cx="96733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6159816" y="7402025"/>
            <a:ext cx="46258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10967268" y="7402025"/>
            <a:ext cx="20479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向右箭號 33"/>
          <p:cNvSpPr/>
          <p:nvPr/>
        </p:nvSpPr>
        <p:spPr>
          <a:xfrm>
            <a:off x="3974123" y="3424107"/>
            <a:ext cx="1540413" cy="7848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3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圖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258" y="4669127"/>
            <a:ext cx="9817271" cy="398621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28975" y="441740"/>
            <a:ext cx="11830050" cy="1988345"/>
          </a:xfrm>
        </p:spPr>
        <p:txBody>
          <a:bodyPr/>
          <a:lstStyle/>
          <a:p>
            <a:r>
              <a:rPr lang="en-US" altLang="zh-TW" dirty="0"/>
              <a:t>More Application: Speech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372259" y="8666825"/>
            <a:ext cx="99936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4372259" y="4650011"/>
            <a:ext cx="0" cy="40131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7666813" y="8702659"/>
            <a:ext cx="3285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Time</a:t>
            </a:r>
            <a:endParaRPr lang="zh-TW" altLang="en-US" sz="3600" dirty="0"/>
          </a:p>
        </p:txBody>
      </p:sp>
      <p:sp>
        <p:nvSpPr>
          <p:cNvPr id="8" name="文字方塊 7"/>
          <p:cNvSpPr txBox="1"/>
          <p:nvPr/>
        </p:nvSpPr>
        <p:spPr>
          <a:xfrm rot="16200000">
            <a:off x="2240633" y="6328590"/>
            <a:ext cx="3285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Frequency</a:t>
            </a:r>
            <a:endParaRPr lang="zh-TW" altLang="en-US" sz="3600" dirty="0"/>
          </a:p>
        </p:txBody>
      </p:sp>
      <p:sp>
        <p:nvSpPr>
          <p:cNvPr id="9" name="矩形 8"/>
          <p:cNvSpPr/>
          <p:nvPr/>
        </p:nvSpPr>
        <p:spPr>
          <a:xfrm>
            <a:off x="7774040" y="9171374"/>
            <a:ext cx="3507692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dirty="0">
                <a:solidFill>
                  <a:srgbClr val="FF0000"/>
                </a:solidFill>
              </a:rPr>
              <a:t>Spectrogram</a:t>
            </a:r>
            <a:endParaRPr lang="zh-TW" altLang="en-US" sz="4200" b="1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35815" y="4654013"/>
            <a:ext cx="2265620" cy="399948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575473" y="3191094"/>
            <a:ext cx="2519916" cy="8743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CNN</a:t>
            </a:r>
            <a:endParaRPr lang="zh-TW" altLang="en-US" sz="4200" dirty="0"/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6862380" y="2536034"/>
            <a:ext cx="0" cy="65506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endCxn id="13" idx="2"/>
          </p:cNvCxnSpPr>
          <p:nvPr/>
        </p:nvCxnSpPr>
        <p:spPr>
          <a:xfrm flipV="1">
            <a:off x="6835431" y="4065441"/>
            <a:ext cx="0" cy="58457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5641924" y="8545574"/>
            <a:ext cx="238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Image</a:t>
            </a:r>
            <a:endParaRPr lang="zh-TW" altLang="en-US" sz="3600" b="1" dirty="0"/>
          </a:p>
        </p:txBody>
      </p:sp>
      <p:sp>
        <p:nvSpPr>
          <p:cNvPr id="19" name="矩形 18"/>
          <p:cNvSpPr/>
          <p:nvPr/>
        </p:nvSpPr>
        <p:spPr>
          <a:xfrm>
            <a:off x="5817135" y="4720503"/>
            <a:ext cx="2090490" cy="12557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5811114" y="5138816"/>
            <a:ext cx="2090490" cy="12557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5811114" y="5557538"/>
            <a:ext cx="2090490" cy="12557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22"/>
          <p:cNvCxnSpPr/>
          <p:nvPr/>
        </p:nvCxnSpPr>
        <p:spPr>
          <a:xfrm>
            <a:off x="6853682" y="7029450"/>
            <a:ext cx="0" cy="83275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9144001" y="2916800"/>
            <a:ext cx="4776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The filters move in the frequency direction.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  <p:bldP spid="19" grpId="0" animBg="1"/>
      <p:bldP spid="20" grpId="0" animBg="1"/>
      <p:bldP spid="21" grpId="0" animBg="1"/>
      <p:bldP spid="2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More Application: Text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89" y="2936084"/>
            <a:ext cx="12190412" cy="621444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213601" y="8077298"/>
            <a:ext cx="97927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Source of image: </a:t>
            </a:r>
            <a:r>
              <a:rPr lang="zh-TW" altLang="en-US" dirty="0"/>
              <a:t>http://citeseerx.ist.psu.edu/viewdoc/download?doi=10.1.1.703.6858&amp;rep=rep1&amp;type=pdf</a:t>
            </a:r>
          </a:p>
        </p:txBody>
      </p:sp>
      <p:grpSp>
        <p:nvGrpSpPr>
          <p:cNvPr id="11" name="群組 10"/>
          <p:cNvGrpSpPr/>
          <p:nvPr/>
        </p:nvGrpSpPr>
        <p:grpSpPr>
          <a:xfrm>
            <a:off x="3696380" y="4849588"/>
            <a:ext cx="2890157" cy="1445078"/>
            <a:chOff x="940253" y="3233058"/>
            <a:chExt cx="1926771" cy="963385"/>
          </a:xfrm>
        </p:grpSpPr>
        <p:sp>
          <p:nvSpPr>
            <p:cNvPr id="7" name="矩形 6"/>
            <p:cNvSpPr/>
            <p:nvPr/>
          </p:nvSpPr>
          <p:spPr>
            <a:xfrm>
              <a:off x="940253" y="3233058"/>
              <a:ext cx="1926771" cy="9633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" name="直線單箭頭接點 8"/>
            <p:cNvCxnSpPr/>
            <p:nvPr/>
          </p:nvCxnSpPr>
          <p:spPr>
            <a:xfrm>
              <a:off x="1110343" y="3430361"/>
              <a:ext cx="0" cy="63681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146403" y="3517935"/>
              <a:ext cx="342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b="1" dirty="0">
                  <a:solidFill>
                    <a:srgbClr val="FF0000"/>
                  </a:solidFill>
                </a:rPr>
                <a:t>?</a:t>
              </a:r>
              <a:endParaRPr lang="zh-TW" altLang="en-US" sz="36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6A4EEA-2556-441D-B20B-0657893061DE}">
  <ds:schemaRefs/>
</ds:datastoreItem>
</file>

<file path=customXml/itemProps2.xml><?xml version="1.0" encoding="utf-8"?>
<ds:datastoreItem xmlns:ds="http://schemas.openxmlformats.org/officeDocument/2006/customXml" ds:itemID="{9636FAAA-BCD0-4737-B7BF-714C4CFDEB51}">
  <ds:schemaRefs/>
</ds:datastoreItem>
</file>

<file path=customXml/itemProps3.xml><?xml version="1.0" encoding="utf-8"?>
<ds:datastoreItem xmlns:ds="http://schemas.openxmlformats.org/officeDocument/2006/customXml" ds:itemID="{BFA838ED-C12F-4A42-8E88-98BAC73D214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2739</Words>
  <Application>Microsoft Office PowerPoint</Application>
  <PresentationFormat>Custom</PresentationFormat>
  <Paragraphs>1233</Paragraphs>
  <Slides>48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等线</vt:lpstr>
      <vt:lpstr>Lucida Grande</vt:lpstr>
      <vt:lpstr>Arial</vt:lpstr>
      <vt:lpstr>Cambria Math</vt:lpstr>
      <vt:lpstr>Roboto</vt:lpstr>
      <vt:lpstr>Times</vt:lpstr>
      <vt:lpstr>Wingdings</vt:lpstr>
      <vt:lpstr>Wingdings 2</vt:lpstr>
      <vt:lpstr>Breeze</vt:lpstr>
      <vt:lpstr>方程式</vt:lpstr>
      <vt:lpstr>Convolutional Neural Network (CNN)</vt:lpstr>
      <vt:lpstr>Overview</vt:lpstr>
      <vt:lpstr>Convolutional Neural Network</vt:lpstr>
      <vt:lpstr>Why CNN for Image</vt:lpstr>
      <vt:lpstr>Why CNN for Image</vt:lpstr>
      <vt:lpstr>Why CNN for Image</vt:lpstr>
      <vt:lpstr>The whole CNN</vt:lpstr>
      <vt:lpstr>The whole CNN</vt:lpstr>
      <vt:lpstr> CNN - Convolution</vt:lpstr>
      <vt:lpstr>The whole CNN</vt:lpstr>
      <vt:lpstr>CNN – Convolution</vt:lpstr>
      <vt:lpstr>CNN – Convolution</vt:lpstr>
      <vt:lpstr>PowerPoint Presentation</vt:lpstr>
      <vt:lpstr>PowerPoint Presentation</vt:lpstr>
      <vt:lpstr>PowerPoint Presentation</vt:lpstr>
      <vt:lpstr>CNN – Colorful image</vt:lpstr>
      <vt:lpstr>PowerPoint Presentation</vt:lpstr>
      <vt:lpstr>PowerPoint Presentation</vt:lpstr>
      <vt:lpstr>PowerPoint Presentation</vt:lpstr>
      <vt:lpstr>CNN – Max Pooling</vt:lpstr>
      <vt:lpstr>The whole CNN</vt:lpstr>
      <vt:lpstr>CNN – Max Pooling</vt:lpstr>
      <vt:lpstr>CNN – Max Pooling</vt:lpstr>
      <vt:lpstr>PowerPoint Presentation</vt:lpstr>
      <vt:lpstr>The whole CNN</vt:lpstr>
      <vt:lpstr>Flatten</vt:lpstr>
      <vt:lpstr>PowerPoint Presentation</vt:lpstr>
      <vt:lpstr>PowerPoint Presentation</vt:lpstr>
      <vt:lpstr>PowerPoint Presentation</vt:lpstr>
      <vt:lpstr> What does CNN learn?</vt:lpstr>
      <vt:lpstr>What does machine learn?</vt:lpstr>
      <vt:lpstr>First Convolution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does CNN learn?</vt:lpstr>
      <vt:lpstr>Applications of CNN</vt:lpstr>
      <vt:lpstr>Deep Style</vt:lpstr>
      <vt:lpstr>Deep Style</vt:lpstr>
      <vt:lpstr>Deep Style</vt:lpstr>
      <vt:lpstr>More Application: Playing Go</vt:lpstr>
      <vt:lpstr>More Application: Playing Go</vt:lpstr>
      <vt:lpstr>Why CNN for playing Go?</vt:lpstr>
      <vt:lpstr>Why CNN for playing Go?</vt:lpstr>
      <vt:lpstr>More Application: Speech</vt:lpstr>
      <vt:lpstr>More Application: Text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Zehui Bai</cp:lastModifiedBy>
  <cp:revision>23</cp:revision>
  <dcterms:created xsi:type="dcterms:W3CDTF">2019-02-13T16:04:00Z</dcterms:created>
  <dcterms:modified xsi:type="dcterms:W3CDTF">2025-11-18T10:07:42Z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