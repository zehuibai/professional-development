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0"/>
  </p:notesMasterIdLst>
  <p:sldIdLst>
    <p:sldId id="266" r:id="rId5"/>
    <p:sldId id="267" r:id="rId6"/>
    <p:sldId id="268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9" r:id="rId40"/>
    <p:sldId id="310" r:id="rId41"/>
    <p:sldId id="311" r:id="rId42"/>
    <p:sldId id="312" r:id="rId43"/>
    <p:sldId id="306" r:id="rId44"/>
    <p:sldId id="307" r:id="rId45"/>
    <p:sldId id="308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</p:sldIdLst>
  <p:sldSz cx="18288000" cy="10287000"/>
  <p:notesSz cx="6858000" cy="9144000"/>
  <p:custDataLst>
    <p:tags r:id="rId61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5DCE5-B1EE-4333-B127-9388B410F052}" v="154" dt="2024-02-26T04:48:5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3786"/>
  </p:normalViewPr>
  <p:slideViewPr>
    <p:cSldViewPr snapToGrid="0" snapToObjects="1" showGuides="1">
      <p:cViewPr varScale="1">
        <p:scale>
          <a:sx n="70" d="100"/>
          <a:sy n="70" d="100"/>
        </p:scale>
        <p:origin x="774" y="4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tags" Target="tags/tag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7885DCE5-B1EE-4333-B127-9388B410F052}"/>
    <pc:docChg chg="undo custSel addSld delSld modSld">
      <pc:chgData name="Kaiang Wen" userId="a219f04c-ae7d-4ada-9001-a33e528312f1" providerId="ADAL" clId="{7885DCE5-B1EE-4333-B127-9388B410F052}" dt="2024-02-26T05:08:16.681" v="290" actId="47"/>
      <pc:docMkLst>
        <pc:docMk/>
      </pc:docMkLst>
      <pc:sldChg chg="del">
        <pc:chgData name="Kaiang Wen" userId="a219f04c-ae7d-4ada-9001-a33e528312f1" providerId="ADAL" clId="{7885DCE5-B1EE-4333-B127-9388B410F052}" dt="2024-02-26T04:49:05.617" v="287" actId="47"/>
        <pc:sldMkLst>
          <pc:docMk/>
          <pc:sldMk cId="0" sldId="260"/>
        </pc:sldMkLst>
      </pc:sldChg>
      <pc:sldChg chg="del">
        <pc:chgData name="Kaiang Wen" userId="a219f04c-ae7d-4ada-9001-a33e528312f1" providerId="ADAL" clId="{7885DCE5-B1EE-4333-B127-9388B410F052}" dt="2024-02-26T04:49:07.846" v="289" actId="47"/>
        <pc:sldMkLst>
          <pc:docMk/>
          <pc:sldMk cId="0" sldId="261"/>
        </pc:sldMkLst>
      </pc:sldChg>
      <pc:sldChg chg="del">
        <pc:chgData name="Kaiang Wen" userId="a219f04c-ae7d-4ada-9001-a33e528312f1" providerId="ADAL" clId="{7885DCE5-B1EE-4333-B127-9388B410F052}" dt="2024-02-26T04:49:05.060" v="286" actId="47"/>
        <pc:sldMkLst>
          <pc:docMk/>
          <pc:sldMk cId="0" sldId="262"/>
        </pc:sldMkLst>
      </pc:sldChg>
      <pc:sldChg chg="del">
        <pc:chgData name="Kaiang Wen" userId="a219f04c-ae7d-4ada-9001-a33e528312f1" providerId="ADAL" clId="{7885DCE5-B1EE-4333-B127-9388B410F052}" dt="2024-02-26T04:49:05.982" v="288" actId="47"/>
        <pc:sldMkLst>
          <pc:docMk/>
          <pc:sldMk cId="0" sldId="263"/>
        </pc:sldMkLst>
      </pc:sldChg>
      <pc:sldChg chg="modAnim">
        <pc:chgData name="Kaiang Wen" userId="a219f04c-ae7d-4ada-9001-a33e528312f1" providerId="ADAL" clId="{7885DCE5-B1EE-4333-B127-9388B410F052}" dt="2024-02-26T04:31:06.164" v="0"/>
        <pc:sldMkLst>
          <pc:docMk/>
          <pc:sldMk cId="0" sldId="268"/>
        </pc:sldMkLst>
      </pc:sldChg>
      <pc:sldChg chg="addSp delSp modSp mod modAnim">
        <pc:chgData name="Kaiang Wen" userId="a219f04c-ae7d-4ada-9001-a33e528312f1" providerId="ADAL" clId="{7885DCE5-B1EE-4333-B127-9388B410F052}" dt="2024-02-26T04:36:13.254" v="54" actId="1036"/>
        <pc:sldMkLst>
          <pc:docMk/>
          <pc:sldMk cId="0" sldId="269"/>
        </pc:sldMkLst>
        <pc:spChg chg="mod">
          <ac:chgData name="Kaiang Wen" userId="a219f04c-ae7d-4ada-9001-a33e528312f1" providerId="ADAL" clId="{7885DCE5-B1EE-4333-B127-9388B410F052}" dt="2024-02-26T04:32:44.690" v="5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2:22.762" v="1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3:13.893" v="34" actId="103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6:13.254" v="54" actId="1036"/>
          <ac:spMkLst>
            <pc:docMk/>
            <pc:sldMk cId="0" sldId="269"/>
            <ac:spMk id="13" creationId="{00000000-0000-0000-0000-000000000000}"/>
          </ac:spMkLst>
        </pc:spChg>
        <pc:picChg chg="add mod ord">
          <ac:chgData name="Kaiang Wen" userId="a219f04c-ae7d-4ada-9001-a33e528312f1" providerId="ADAL" clId="{7885DCE5-B1EE-4333-B127-9388B410F052}" dt="2024-02-26T04:33:06.602" v="12" actId="14100"/>
          <ac:picMkLst>
            <pc:docMk/>
            <pc:sldMk cId="0" sldId="269"/>
            <ac:picMk id="4" creationId="{84E3485A-6CA0-01F8-E97D-22FC4808ACFD}"/>
          </ac:picMkLst>
        </pc:picChg>
        <pc:picChg chg="add mod ord">
          <ac:chgData name="Kaiang Wen" userId="a219f04c-ae7d-4ada-9001-a33e528312f1" providerId="ADAL" clId="{7885DCE5-B1EE-4333-B127-9388B410F052}" dt="2024-02-26T04:36:06.588" v="40" actId="167"/>
          <ac:picMkLst>
            <pc:docMk/>
            <pc:sldMk cId="0" sldId="269"/>
            <ac:picMk id="14" creationId="{926FC032-8AFF-2019-91F8-01AEA4DC359D}"/>
          </ac:picMkLst>
        </pc:picChg>
        <pc:picChg chg="del">
          <ac:chgData name="Kaiang Wen" userId="a219f04c-ae7d-4ada-9001-a33e528312f1" providerId="ADAL" clId="{7885DCE5-B1EE-4333-B127-9388B410F052}" dt="2024-02-26T04:32:53.952" v="7" actId="478"/>
          <ac:picMkLst>
            <pc:docMk/>
            <pc:sldMk cId="0" sldId="269"/>
            <ac:picMk id="15" creationId="{00000000-0000-0000-0000-000000000000}"/>
          </ac:picMkLst>
        </pc:picChg>
        <pc:picChg chg="del">
          <ac:chgData name="Kaiang Wen" userId="a219f04c-ae7d-4ada-9001-a33e528312f1" providerId="ADAL" clId="{7885DCE5-B1EE-4333-B127-9388B410F052}" dt="2024-02-26T04:35:53.833" v="35" actId="478"/>
          <ac:picMkLst>
            <pc:docMk/>
            <pc:sldMk cId="0" sldId="269"/>
            <ac:picMk id="14340" creationId="{00000000-0000-0000-0000-000000000000}"/>
          </ac:picMkLst>
        </pc:picChg>
      </pc:sldChg>
      <pc:sldChg chg="addSp delSp modSp mod modAnim">
        <pc:chgData name="Kaiang Wen" userId="a219f04c-ae7d-4ada-9001-a33e528312f1" providerId="ADAL" clId="{7885DCE5-B1EE-4333-B127-9388B410F052}" dt="2024-02-26T04:38:32.668" v="87" actId="14100"/>
        <pc:sldMkLst>
          <pc:docMk/>
          <pc:sldMk cId="0" sldId="270"/>
        </pc:sldMkLst>
        <pc:spChg chg="mod">
          <ac:chgData name="Kaiang Wen" userId="a219f04c-ae7d-4ada-9001-a33e528312f1" providerId="ADAL" clId="{7885DCE5-B1EE-4333-B127-9388B410F052}" dt="2024-02-26T04:37:43.789" v="66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7.662" v="83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12.647" v="84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7:48.705" v="6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4.124" v="8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1.730" v="81" actId="1038"/>
          <ac:spMkLst>
            <pc:docMk/>
            <pc:sldMk cId="0" sldId="270"/>
            <ac:spMk id="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7.947" v="86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32.668" v="87" actId="14100"/>
          <ac:spMkLst>
            <pc:docMk/>
            <pc:sldMk cId="0" sldId="270"/>
            <ac:spMk id="13" creationId="{00000000-0000-0000-0000-000000000000}"/>
          </ac:spMkLst>
        </pc:spChg>
        <pc:picChg chg="del">
          <ac:chgData name="Kaiang Wen" userId="a219f04c-ae7d-4ada-9001-a33e528312f1" providerId="ADAL" clId="{7885DCE5-B1EE-4333-B127-9388B410F052}" dt="2024-02-26T04:37:35.266" v="64" actId="478"/>
          <ac:picMkLst>
            <pc:docMk/>
            <pc:sldMk cId="0" sldId="270"/>
            <ac:picMk id="5" creationId="{00000000-0000-0000-0000-000000000000}"/>
          </ac:picMkLst>
        </pc:picChg>
        <pc:picChg chg="add mod">
          <ac:chgData name="Kaiang Wen" userId="a219f04c-ae7d-4ada-9001-a33e528312f1" providerId="ADAL" clId="{7885DCE5-B1EE-4333-B127-9388B410F052}" dt="2024-02-26T04:38:01.730" v="81" actId="1038"/>
          <ac:picMkLst>
            <pc:docMk/>
            <pc:sldMk cId="0" sldId="270"/>
            <ac:picMk id="10" creationId="{2E1070A5-9F94-4506-386F-552D30A3425A}"/>
          </ac:picMkLst>
        </pc:picChg>
        <pc:picChg chg="add mod">
          <ac:chgData name="Kaiang Wen" userId="a219f04c-ae7d-4ada-9001-a33e528312f1" providerId="ADAL" clId="{7885DCE5-B1EE-4333-B127-9388B410F052}" dt="2024-02-26T04:37:27.616" v="60" actId="1076"/>
          <ac:picMkLst>
            <pc:docMk/>
            <pc:sldMk cId="0" sldId="270"/>
            <ac:picMk id="1026" creationId="{EE5AA5A4-3742-3B86-B06B-32BA27E36080}"/>
          </ac:picMkLst>
        </pc:picChg>
        <pc:picChg chg="del">
          <ac:chgData name="Kaiang Wen" userId="a219f04c-ae7d-4ada-9001-a33e528312f1" providerId="ADAL" clId="{7885DCE5-B1EE-4333-B127-9388B410F052}" dt="2024-02-26T04:37:14.825" v="55" actId="478"/>
          <ac:picMkLst>
            <pc:docMk/>
            <pc:sldMk cId="0" sldId="270"/>
            <ac:picMk id="16386" creationId="{00000000-0000-0000-0000-000000000000}"/>
          </ac:picMkLst>
        </pc:picChg>
      </pc:sldChg>
      <pc:sldChg chg="addSp delSp modSp mod delAnim modAnim">
        <pc:chgData name="Kaiang Wen" userId="a219f04c-ae7d-4ada-9001-a33e528312f1" providerId="ADAL" clId="{7885DCE5-B1EE-4333-B127-9388B410F052}" dt="2024-02-26T04:41:55.870" v="179"/>
        <pc:sldMkLst>
          <pc:docMk/>
          <pc:sldMk cId="0" sldId="271"/>
        </pc:sldMkLst>
        <pc:spChg chg="mod">
          <ac:chgData name="Kaiang Wen" userId="a219f04c-ae7d-4ada-9001-a33e528312f1" providerId="ADAL" clId="{7885DCE5-B1EE-4333-B127-9388B410F052}" dt="2024-02-26T04:41:20.226" v="166" actId="14100"/>
          <ac:spMkLst>
            <pc:docMk/>
            <pc:sldMk cId="0" sldId="271"/>
            <ac:spMk id="2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3" creationId="{4EBAECE0-431E-CB2C-3D9E-25C01FD3C49A}"/>
          </ac:spMkLst>
        </pc:spChg>
        <pc:spChg chg="mod">
          <ac:chgData name="Kaiang Wen" userId="a219f04c-ae7d-4ada-9001-a33e528312f1" providerId="ADAL" clId="{7885DCE5-B1EE-4333-B127-9388B410F052}" dt="2024-02-26T04:41:33.121" v="167" actId="13822"/>
          <ac:spMkLst>
            <pc:docMk/>
            <pc:sldMk cId="0" sldId="271"/>
            <ac:spMk id="6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7" creationId="{A4A61319-D239-C1B4-E460-2DE4806826B7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33.647" v="126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44.628" v="129" actId="47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3" creationId="{00000000-0000-0000-0000-000000000000}"/>
          </ac:spMkLst>
        </pc:spChg>
        <pc:picChg chg="mod">
          <ac:chgData name="Kaiang Wen" userId="a219f04c-ae7d-4ada-9001-a33e528312f1" providerId="ADAL" clId="{7885DCE5-B1EE-4333-B127-9388B410F052}" dt="2024-02-26T04:41:13.372" v="164" actId="1038"/>
          <ac:picMkLst>
            <pc:docMk/>
            <pc:sldMk cId="0" sldId="271"/>
            <ac:picMk id="12290" creationId="{00000000-0000-0000-0000-000000000000}"/>
          </ac:picMkLst>
        </pc:picChg>
      </pc:sldChg>
      <pc:sldChg chg="addSp delSp modSp mod addAnim delAnim modAnim">
        <pc:chgData name="Kaiang Wen" userId="a219f04c-ae7d-4ada-9001-a33e528312f1" providerId="ADAL" clId="{7885DCE5-B1EE-4333-B127-9388B410F052}" dt="2024-02-26T04:47:31.825" v="270"/>
        <pc:sldMkLst>
          <pc:docMk/>
          <pc:sldMk cId="0" sldId="272"/>
        </pc:sldMkLst>
        <pc:spChg chg="mod">
          <ac:chgData name="Kaiang Wen" userId="a219f04c-ae7d-4ada-9001-a33e528312f1" providerId="ADAL" clId="{7885DCE5-B1EE-4333-B127-9388B410F052}" dt="2024-02-26T04:46:32.880" v="241" actId="404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5" creationId="{E628D2AA-8C8B-74C1-F283-9846A82B1FED}"/>
          </ac:spMkLst>
        </pc:spChg>
        <pc:spChg chg="mod">
          <ac:chgData name="Kaiang Wen" userId="a219f04c-ae7d-4ada-9001-a33e528312f1" providerId="ADAL" clId="{7885DCE5-B1EE-4333-B127-9388B410F052}" dt="2024-02-26T04:43:07.929" v="194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6:35.071" v="242" actId="404"/>
          <ac:spMkLst>
            <pc:docMk/>
            <pc:sldMk cId="0" sldId="272"/>
            <ac:spMk id="7" creationId="{00000000-0000-0000-0000-000000000000}"/>
          </ac:spMkLst>
        </pc:spChg>
        <pc:spChg chg="add del mod">
          <ac:chgData name="Kaiang Wen" userId="a219f04c-ae7d-4ada-9001-a33e528312f1" providerId="ADAL" clId="{7885DCE5-B1EE-4333-B127-9388B410F052}" dt="2024-02-26T04:45:59.648" v="234" actId="20577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9" creationId="{FB0485FD-97DC-CD21-EF09-B015848204F6}"/>
          </ac:spMkLst>
        </pc:spChg>
        <pc:spChg chg="mod">
          <ac:chgData name="Kaiang Wen" userId="a219f04c-ae7d-4ada-9001-a33e528312f1" providerId="ADAL" clId="{7885DCE5-B1EE-4333-B127-9388B410F052}" dt="2024-02-26T04:46:30.372" v="240" actId="14100"/>
          <ac:spMkLst>
            <pc:docMk/>
            <pc:sldMk cId="0" sldId="272"/>
            <ac:spMk id="10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4.808" v="183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3.087" v="181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6.274" v="185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8.938" v="188" actId="478"/>
          <ac:spMkLst>
            <pc:docMk/>
            <pc:sldMk cId="0" sldId="272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9.975" v="189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4.371" v="192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2.554" v="191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5.425" v="184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8.136" v="187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4" creationId="{38D24A46-604F-7AC0-C0BF-AD69BF7D50AF}"/>
          </ac:spMkLst>
        </pc:spChg>
        <pc:spChg chg="del mod">
          <ac:chgData name="Kaiang Wen" userId="a219f04c-ae7d-4ada-9001-a33e528312f1" providerId="ADAL" clId="{7885DCE5-B1EE-4333-B127-9388B410F052}" dt="2024-02-26T04:44:30.310" v="219" actId="478"/>
          <ac:spMkLst>
            <pc:docMk/>
            <pc:sldMk cId="0" sldId="272"/>
            <ac:spMk id="2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7" creationId="{642FFB74-61F4-4C53-A49F-0D4AEF48F05C}"/>
          </ac:spMkLst>
        </pc:spChg>
        <pc:spChg chg="mod">
          <ac:chgData name="Kaiang Wen" userId="a219f04c-ae7d-4ada-9001-a33e528312f1" providerId="ADAL" clId="{7885DCE5-B1EE-4333-B127-9388B410F052}" dt="2024-02-26T04:43:12.264" v="195" actId="207"/>
          <ac:spMkLst>
            <pc:docMk/>
            <pc:sldMk cId="0" sldId="272"/>
            <ac:spMk id="29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0" creationId="{7F18B519-A71B-ED9E-F517-8C5EB485B8D3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2" creationId="{CC90AAAC-19E8-DE97-96EC-3E107917E23E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3" creationId="{1E37A8F3-BFB1-F170-7E13-7CD6E0E8C45A}"/>
          </ac:spMkLst>
        </pc:spChg>
        <pc:spChg chg="mod">
          <ac:chgData name="Kaiang Wen" userId="a219f04c-ae7d-4ada-9001-a33e528312f1" providerId="ADAL" clId="{7885DCE5-B1EE-4333-B127-9388B410F052}" dt="2024-02-26T04:43:15.128" v="196" actId="207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6" creationId="{CFA0D467-C70B-972A-9A27-983133BBF9A7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7" creationId="{5C5711FB-128E-7C34-B676-371400CC3AB6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8" creationId="{D4368688-BA49-E26F-2533-BB020E04BF6F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9" creationId="{F202AEC2-04A0-4A18-C30B-AC44D98F7E41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40" creationId="{52958F62-C316-F520-5BD0-8FDA11441000}"/>
          </ac:spMkLst>
        </pc:spChg>
        <pc:spChg chg="add mod">
          <ac:chgData name="Kaiang Wen" userId="a219f04c-ae7d-4ada-9001-a33e528312f1" providerId="ADAL" clId="{7885DCE5-B1EE-4333-B127-9388B410F052}" dt="2024-02-26T04:46:37.161" v="243" actId="404"/>
          <ac:spMkLst>
            <pc:docMk/>
            <pc:sldMk cId="0" sldId="272"/>
            <ac:spMk id="41" creationId="{7A2A8E56-D96A-A590-8DB8-180A0682122B}"/>
          </ac:spMkLst>
        </pc:spChg>
        <pc:picChg chg="add mod">
          <ac:chgData name="Kaiang Wen" userId="a219f04c-ae7d-4ada-9001-a33e528312f1" providerId="ADAL" clId="{7885DCE5-B1EE-4333-B127-9388B410F052}" dt="2024-02-26T04:42:55.443" v="193"/>
          <ac:picMkLst>
            <pc:docMk/>
            <pc:sldMk cId="0" sldId="272"/>
            <ac:picMk id="4" creationId="{56E26D14-FAD1-F9D7-E322-B13FE0ECDF23}"/>
          </ac:picMkLst>
        </pc:picChg>
        <pc:picChg chg="del">
          <ac:chgData name="Kaiang Wen" userId="a219f04c-ae7d-4ada-9001-a33e528312f1" providerId="ADAL" clId="{7885DCE5-B1EE-4333-B127-9388B410F052}" dt="2024-02-26T04:42:42.518" v="180" actId="478"/>
          <ac:picMkLst>
            <pc:docMk/>
            <pc:sldMk cId="0" sldId="272"/>
            <ac:picMk id="12290" creationId="{00000000-0000-0000-0000-000000000000}"/>
          </ac:picMkLst>
        </pc:pic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6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8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1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4" creationId="{00000000-0000-0000-0000-000000000000}"/>
          </ac:cxnSpMkLst>
        </pc:cxnChg>
      </pc:sldChg>
      <pc:sldChg chg="del">
        <pc:chgData name="Kaiang Wen" userId="a219f04c-ae7d-4ada-9001-a33e528312f1" providerId="ADAL" clId="{7885DCE5-B1EE-4333-B127-9388B410F052}" dt="2024-02-26T04:49:00.878" v="285" actId="47"/>
        <pc:sldMkLst>
          <pc:docMk/>
          <pc:sldMk cId="0" sldId="273"/>
        </pc:sldMkLst>
      </pc:sldChg>
      <pc:sldChg chg="addSp modSp add del mod modAnim">
        <pc:chgData name="Kaiang Wen" userId="a219f04c-ae7d-4ada-9001-a33e528312f1" providerId="ADAL" clId="{7885DCE5-B1EE-4333-B127-9388B410F052}" dt="2024-02-26T05:08:16.681" v="290" actId="47"/>
        <pc:sldMkLst>
          <pc:docMk/>
          <pc:sldMk cId="4075367127" sldId="274"/>
        </pc:sldMkLst>
        <pc:spChg chg="add mod">
          <ac:chgData name="Kaiang Wen" userId="a219f04c-ae7d-4ada-9001-a33e528312f1" providerId="ADAL" clId="{7885DCE5-B1EE-4333-B127-9388B410F052}" dt="2024-02-26T04:48:43.852" v="282" actId="14100"/>
          <ac:spMkLst>
            <pc:docMk/>
            <pc:sldMk cId="4075367127" sldId="274"/>
            <ac:spMk id="8" creationId="{0B6D0284-59FE-8E24-A08F-1FF98FDCE0AA}"/>
          </ac:spMkLst>
        </pc:spChg>
        <pc:spChg chg="add mod">
          <ac:chgData name="Kaiang Wen" userId="a219f04c-ae7d-4ada-9001-a33e528312f1" providerId="ADAL" clId="{7885DCE5-B1EE-4333-B127-9388B410F052}" dt="2024-02-26T04:48:38.199" v="280" actId="14100"/>
          <ac:spMkLst>
            <pc:docMk/>
            <pc:sldMk cId="4075367127" sldId="274"/>
            <ac:spMk id="10" creationId="{373B0847-250D-0DDD-D804-864B7AC44D7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BBEAF7-C373-4176-BC82-DCCB6D5E3E26}" type="doc">
      <dgm:prSet loTypeId="urn:microsoft.com/office/officeart/2005/8/layout/process4" loCatId="process" qsTypeId="urn:microsoft.com/office/officeart/2005/8/quickstyle/simple4#1" qsCatId="simple" csTypeId="urn:microsoft.com/office/officeart/2005/8/colors/colorful4#1" csCatId="colorful" phldr="1"/>
      <dgm:spPr/>
      <dgm:t>
        <a:bodyPr/>
        <a:lstStyle/>
        <a:p>
          <a:endParaRPr lang="zh-TW" altLang="en-US"/>
        </a:p>
      </dgm:t>
    </dgm:pt>
    <dgm:pt modelId="{801111EC-7761-4006-9B8D-BDD3478D6A0C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1: define a set of function              </a:t>
          </a:r>
          <a:endParaRPr lang="zh-TW" altLang="en-US" sz="2800" dirty="0"/>
        </a:p>
      </dgm:t>
    </dgm:pt>
    <dgm:pt modelId="{741192AF-66D8-44B3-8D71-D609A9576CFF}" type="parTrans" cxnId="{7021B101-6AE5-4EA4-923F-149909DC3C09}">
      <dgm:prSet/>
      <dgm:spPr/>
      <dgm:t>
        <a:bodyPr/>
        <a:lstStyle/>
        <a:p>
          <a:endParaRPr lang="zh-TW" altLang="en-US" sz="2800"/>
        </a:p>
      </dgm:t>
    </dgm:pt>
    <dgm:pt modelId="{E857221A-734F-4396-A642-04F985B7D590}" type="sibTrans" cxnId="{7021B101-6AE5-4EA4-923F-149909DC3C09}">
      <dgm:prSet custT="1"/>
      <dgm:spPr/>
      <dgm:t>
        <a:bodyPr/>
        <a:lstStyle/>
        <a:p>
          <a:endParaRPr lang="zh-TW" altLang="en-US" sz="2800"/>
        </a:p>
      </dgm:t>
    </dgm:pt>
    <dgm:pt modelId="{68AF6AC4-A157-413E-A943-77A2B593809A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2: goodness of function</a:t>
          </a:r>
          <a:endParaRPr lang="zh-TW" altLang="en-US" sz="2800" dirty="0"/>
        </a:p>
      </dgm:t>
    </dgm:pt>
    <dgm:pt modelId="{A0FB97BE-4134-4DB4-88C2-019F601E5B07}" type="parTrans" cxnId="{E0F0CC33-1AFF-4E6F-8A92-7DBADF24B6A2}">
      <dgm:prSet/>
      <dgm:spPr/>
      <dgm:t>
        <a:bodyPr/>
        <a:lstStyle/>
        <a:p>
          <a:endParaRPr lang="zh-TW" altLang="en-US"/>
        </a:p>
      </dgm:t>
    </dgm:pt>
    <dgm:pt modelId="{B74A4E88-AC00-472F-AA92-0C3BFAD673FA}" type="sibTrans" cxnId="{E0F0CC33-1AFF-4E6F-8A92-7DBADF24B6A2}">
      <dgm:prSet/>
      <dgm:spPr/>
      <dgm:t>
        <a:bodyPr/>
        <a:lstStyle/>
        <a:p>
          <a:endParaRPr lang="zh-TW" altLang="en-US"/>
        </a:p>
      </dgm:t>
    </dgm:pt>
    <dgm:pt modelId="{838C9766-C422-41F6-872C-5F3EAAA9A94F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dgm:style>
      </dgm:prSet>
      <dgm:spPr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3: pick the best function</a:t>
          </a:r>
          <a:endParaRPr lang="zh-TW" altLang="en-US" sz="2800" dirty="0"/>
        </a:p>
      </dgm:t>
    </dgm:pt>
    <dgm:pt modelId="{ED85ABCC-1599-46D5-8D79-5F8D47102174}" type="parTrans" cxnId="{5DD8715A-6FCC-48EE-B11F-00E577A24C88}">
      <dgm:prSet/>
      <dgm:spPr/>
      <dgm:t>
        <a:bodyPr/>
        <a:lstStyle/>
        <a:p>
          <a:endParaRPr lang="zh-TW" altLang="en-US"/>
        </a:p>
      </dgm:t>
    </dgm:pt>
    <dgm:pt modelId="{0FA9D5B3-0255-46FC-86B3-C2800C42F094}" type="sibTrans" cxnId="{5DD8715A-6FCC-48EE-B11F-00E577A24C88}">
      <dgm:prSet/>
      <dgm:spPr/>
      <dgm:t>
        <a:bodyPr/>
        <a:lstStyle/>
        <a:p>
          <a:endParaRPr lang="zh-TW" altLang="en-US"/>
        </a:p>
      </dgm:t>
    </dgm:pt>
    <dgm:pt modelId="{6A493627-A8CE-458E-9FA6-3A00EC3686A2}" type="pres">
      <dgm:prSet presAssocID="{7ABBEAF7-C373-4176-BC82-DCCB6D5E3E26}" presName="Name0" presStyleCnt="0">
        <dgm:presLayoutVars>
          <dgm:dir/>
          <dgm:animLvl val="lvl"/>
          <dgm:resizeHandles val="exact"/>
        </dgm:presLayoutVars>
      </dgm:prSet>
      <dgm:spPr/>
    </dgm:pt>
    <dgm:pt modelId="{39CF3BA0-AA23-4949-AFA0-BDD50F26DB42}" type="pres">
      <dgm:prSet presAssocID="{838C9766-C422-41F6-872C-5F3EAAA9A94F}" presName="boxAndChildren" presStyleCnt="0"/>
      <dgm:spPr/>
    </dgm:pt>
    <dgm:pt modelId="{984FAD53-B753-4A58-A177-0DF55E30F75D}" type="pres">
      <dgm:prSet presAssocID="{838C9766-C422-41F6-872C-5F3EAAA9A94F}" presName="parentTextBox" presStyleLbl="node1" presStyleIdx="0" presStyleCnt="3"/>
      <dgm:spPr/>
    </dgm:pt>
    <dgm:pt modelId="{A1663AA5-740E-4FDF-ADD2-27E43D433575}" type="pres">
      <dgm:prSet presAssocID="{B74A4E88-AC00-472F-AA92-0C3BFAD673FA}" presName="sp" presStyleCnt="0"/>
      <dgm:spPr/>
    </dgm:pt>
    <dgm:pt modelId="{5C2994BA-95EC-4AC2-AFA4-1B22FBEBB354}" type="pres">
      <dgm:prSet presAssocID="{68AF6AC4-A157-413E-A943-77A2B593809A}" presName="arrowAndChildren" presStyleCnt="0"/>
      <dgm:spPr/>
    </dgm:pt>
    <dgm:pt modelId="{1E9D90BD-C08F-4B8E-BA1A-67740CDA9EFC}" type="pres">
      <dgm:prSet presAssocID="{68AF6AC4-A157-413E-A943-77A2B593809A}" presName="parentTextArrow" presStyleLbl="node1" presStyleIdx="1" presStyleCnt="3"/>
      <dgm:spPr/>
    </dgm:pt>
    <dgm:pt modelId="{6B7612A3-1F46-4536-B12F-8EF141796DD7}" type="pres">
      <dgm:prSet presAssocID="{E857221A-734F-4396-A642-04F985B7D590}" presName="sp" presStyleCnt="0"/>
      <dgm:spPr/>
    </dgm:pt>
    <dgm:pt modelId="{CF8B7011-CFF3-437B-8D62-509F4A4CAC99}" type="pres">
      <dgm:prSet presAssocID="{801111EC-7761-4006-9B8D-BDD3478D6A0C}" presName="arrowAndChildren" presStyleCnt="0"/>
      <dgm:spPr/>
    </dgm:pt>
    <dgm:pt modelId="{E824EC70-AE1E-4100-B32E-97CD66F66319}" type="pres">
      <dgm:prSet presAssocID="{801111EC-7761-4006-9B8D-BDD3478D6A0C}" presName="parentTextArrow" presStyleLbl="node1" presStyleIdx="2" presStyleCnt="3"/>
      <dgm:spPr/>
    </dgm:pt>
  </dgm:ptLst>
  <dgm:cxnLst>
    <dgm:cxn modelId="{7021B101-6AE5-4EA4-923F-149909DC3C09}" srcId="{7ABBEAF7-C373-4176-BC82-DCCB6D5E3E26}" destId="{801111EC-7761-4006-9B8D-BDD3478D6A0C}" srcOrd="0" destOrd="0" parTransId="{741192AF-66D8-44B3-8D71-D609A9576CFF}" sibTransId="{E857221A-734F-4396-A642-04F985B7D590}"/>
    <dgm:cxn modelId="{E0F0CC33-1AFF-4E6F-8A92-7DBADF24B6A2}" srcId="{7ABBEAF7-C373-4176-BC82-DCCB6D5E3E26}" destId="{68AF6AC4-A157-413E-A943-77A2B593809A}" srcOrd="1" destOrd="0" parTransId="{A0FB97BE-4134-4DB4-88C2-019F601E5B07}" sibTransId="{B74A4E88-AC00-472F-AA92-0C3BFAD673FA}"/>
    <dgm:cxn modelId="{C4C06B3F-5FD2-4A64-824C-3E63187AF6BF}" type="presOf" srcId="{801111EC-7761-4006-9B8D-BDD3478D6A0C}" destId="{E824EC70-AE1E-4100-B32E-97CD66F66319}" srcOrd="0" destOrd="0" presId="urn:microsoft.com/office/officeart/2005/8/layout/process4"/>
    <dgm:cxn modelId="{027E675B-E36E-41CB-AF05-682124408BAC}" type="presOf" srcId="{68AF6AC4-A157-413E-A943-77A2B593809A}" destId="{1E9D90BD-C08F-4B8E-BA1A-67740CDA9EFC}" srcOrd="0" destOrd="0" presId="urn:microsoft.com/office/officeart/2005/8/layout/process4"/>
    <dgm:cxn modelId="{5DD8715A-6FCC-48EE-B11F-00E577A24C88}" srcId="{7ABBEAF7-C373-4176-BC82-DCCB6D5E3E26}" destId="{838C9766-C422-41F6-872C-5F3EAAA9A94F}" srcOrd="2" destOrd="0" parTransId="{ED85ABCC-1599-46D5-8D79-5F8D47102174}" sibTransId="{0FA9D5B3-0255-46FC-86B3-C2800C42F094}"/>
    <dgm:cxn modelId="{B9B3E985-332A-4722-9ADB-FD213F46FD24}" type="presOf" srcId="{7ABBEAF7-C373-4176-BC82-DCCB6D5E3E26}" destId="{6A493627-A8CE-458E-9FA6-3A00EC3686A2}" srcOrd="0" destOrd="0" presId="urn:microsoft.com/office/officeart/2005/8/layout/process4"/>
    <dgm:cxn modelId="{AF6B36D7-D1B2-4822-AE51-2A8BBE43E86B}" type="presOf" srcId="{838C9766-C422-41F6-872C-5F3EAAA9A94F}" destId="{984FAD53-B753-4A58-A177-0DF55E30F75D}" srcOrd="0" destOrd="0" presId="urn:microsoft.com/office/officeart/2005/8/layout/process4"/>
    <dgm:cxn modelId="{37D5568F-2CDE-4094-ACEE-99280B0E7851}" type="presParOf" srcId="{6A493627-A8CE-458E-9FA6-3A00EC3686A2}" destId="{39CF3BA0-AA23-4949-AFA0-BDD50F26DB42}" srcOrd="0" destOrd="0" presId="urn:microsoft.com/office/officeart/2005/8/layout/process4"/>
    <dgm:cxn modelId="{E327B1AA-3D83-4F75-923B-5D9578FCAB83}" type="presParOf" srcId="{39CF3BA0-AA23-4949-AFA0-BDD50F26DB42}" destId="{984FAD53-B753-4A58-A177-0DF55E30F75D}" srcOrd="0" destOrd="0" presId="urn:microsoft.com/office/officeart/2005/8/layout/process4"/>
    <dgm:cxn modelId="{B78FE124-B6A5-4B5A-A82F-0DB8AC56F942}" type="presParOf" srcId="{6A493627-A8CE-458E-9FA6-3A00EC3686A2}" destId="{A1663AA5-740E-4FDF-ADD2-27E43D433575}" srcOrd="1" destOrd="0" presId="urn:microsoft.com/office/officeart/2005/8/layout/process4"/>
    <dgm:cxn modelId="{BA46F452-6351-456C-A882-CC746B8F4780}" type="presParOf" srcId="{6A493627-A8CE-458E-9FA6-3A00EC3686A2}" destId="{5C2994BA-95EC-4AC2-AFA4-1B22FBEBB354}" srcOrd="2" destOrd="0" presId="urn:microsoft.com/office/officeart/2005/8/layout/process4"/>
    <dgm:cxn modelId="{AC365965-F79F-4FB7-A4E8-7D97607DF9A9}" type="presParOf" srcId="{5C2994BA-95EC-4AC2-AFA4-1B22FBEBB354}" destId="{1E9D90BD-C08F-4B8E-BA1A-67740CDA9EFC}" srcOrd="0" destOrd="0" presId="urn:microsoft.com/office/officeart/2005/8/layout/process4"/>
    <dgm:cxn modelId="{C6120EB1-931A-4136-8254-7E9DC3E0FD20}" type="presParOf" srcId="{6A493627-A8CE-458E-9FA6-3A00EC3686A2}" destId="{6B7612A3-1F46-4536-B12F-8EF141796DD7}" srcOrd="3" destOrd="0" presId="urn:microsoft.com/office/officeart/2005/8/layout/process4"/>
    <dgm:cxn modelId="{22EA36C0-78EB-4763-B997-275F1E5B6BDB}" type="presParOf" srcId="{6A493627-A8CE-458E-9FA6-3A00EC3686A2}" destId="{CF8B7011-CFF3-437B-8D62-509F4A4CAC99}" srcOrd="4" destOrd="0" presId="urn:microsoft.com/office/officeart/2005/8/layout/process4"/>
    <dgm:cxn modelId="{5010DCE6-7AA6-43D0-8088-47EA07072850}" type="presParOf" srcId="{CF8B7011-CFF3-437B-8D62-509F4A4CAC99}" destId="{E824EC70-AE1E-4100-B32E-97CD66F6631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BBEAF7-C373-4176-BC82-DCCB6D5E3E26}" type="doc">
      <dgm:prSet loTypeId="urn:microsoft.com/office/officeart/2005/8/layout/process4" loCatId="process" qsTypeId="urn:microsoft.com/office/officeart/2005/8/quickstyle/simple4#1" qsCatId="simple" csTypeId="urn:microsoft.com/office/officeart/2005/8/colors/colorful4#1" csCatId="colorful" phldr="1"/>
      <dgm:spPr/>
      <dgm:t>
        <a:bodyPr/>
        <a:lstStyle/>
        <a:p>
          <a:endParaRPr lang="zh-TW" altLang="en-US"/>
        </a:p>
      </dgm:t>
    </dgm:pt>
    <dgm:pt modelId="{801111EC-7761-4006-9B8D-BDD3478D6A0C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1: define a set of function              </a:t>
          </a:r>
          <a:endParaRPr lang="zh-TW" altLang="en-US" sz="2800" dirty="0"/>
        </a:p>
      </dgm:t>
    </dgm:pt>
    <dgm:pt modelId="{741192AF-66D8-44B3-8D71-D609A9576CFF}" type="parTrans" cxnId="{7021B101-6AE5-4EA4-923F-149909DC3C09}">
      <dgm:prSet/>
      <dgm:spPr/>
      <dgm:t>
        <a:bodyPr/>
        <a:lstStyle/>
        <a:p>
          <a:endParaRPr lang="zh-TW" altLang="en-US" sz="2800"/>
        </a:p>
      </dgm:t>
    </dgm:pt>
    <dgm:pt modelId="{E857221A-734F-4396-A642-04F985B7D590}" type="sibTrans" cxnId="{7021B101-6AE5-4EA4-923F-149909DC3C09}">
      <dgm:prSet custT="1"/>
      <dgm:spPr/>
      <dgm:t>
        <a:bodyPr/>
        <a:lstStyle/>
        <a:p>
          <a:endParaRPr lang="zh-TW" altLang="en-US" sz="2800"/>
        </a:p>
      </dgm:t>
    </dgm:pt>
    <dgm:pt modelId="{68AF6AC4-A157-413E-A943-77A2B593809A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2: goodness of function</a:t>
          </a:r>
          <a:endParaRPr lang="zh-TW" altLang="en-US" sz="2800" dirty="0"/>
        </a:p>
      </dgm:t>
    </dgm:pt>
    <dgm:pt modelId="{A0FB97BE-4134-4DB4-88C2-019F601E5B07}" type="parTrans" cxnId="{E0F0CC33-1AFF-4E6F-8A92-7DBADF24B6A2}">
      <dgm:prSet/>
      <dgm:spPr/>
      <dgm:t>
        <a:bodyPr/>
        <a:lstStyle/>
        <a:p>
          <a:endParaRPr lang="zh-TW" altLang="en-US"/>
        </a:p>
      </dgm:t>
    </dgm:pt>
    <dgm:pt modelId="{B74A4E88-AC00-472F-AA92-0C3BFAD673FA}" type="sibTrans" cxnId="{E0F0CC33-1AFF-4E6F-8A92-7DBADF24B6A2}">
      <dgm:prSet/>
      <dgm:spPr/>
      <dgm:t>
        <a:bodyPr/>
        <a:lstStyle/>
        <a:p>
          <a:endParaRPr lang="zh-TW" altLang="en-US"/>
        </a:p>
      </dgm:t>
    </dgm:pt>
    <dgm:pt modelId="{838C9766-C422-41F6-872C-5F3EAAA9A94F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dgm:style>
      </dgm:prSet>
      <dgm:spPr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3: pick the best function</a:t>
          </a:r>
          <a:endParaRPr lang="zh-TW" altLang="en-US" sz="2800" dirty="0"/>
        </a:p>
      </dgm:t>
    </dgm:pt>
    <dgm:pt modelId="{ED85ABCC-1599-46D5-8D79-5F8D47102174}" type="parTrans" cxnId="{5DD8715A-6FCC-48EE-B11F-00E577A24C88}">
      <dgm:prSet/>
      <dgm:spPr/>
      <dgm:t>
        <a:bodyPr/>
        <a:lstStyle/>
        <a:p>
          <a:endParaRPr lang="zh-TW" altLang="en-US"/>
        </a:p>
      </dgm:t>
    </dgm:pt>
    <dgm:pt modelId="{0FA9D5B3-0255-46FC-86B3-C2800C42F094}" type="sibTrans" cxnId="{5DD8715A-6FCC-48EE-B11F-00E577A24C88}">
      <dgm:prSet/>
      <dgm:spPr/>
      <dgm:t>
        <a:bodyPr/>
        <a:lstStyle/>
        <a:p>
          <a:endParaRPr lang="zh-TW" altLang="en-US"/>
        </a:p>
      </dgm:t>
    </dgm:pt>
    <dgm:pt modelId="{6A493627-A8CE-458E-9FA6-3A00EC3686A2}" type="pres">
      <dgm:prSet presAssocID="{7ABBEAF7-C373-4176-BC82-DCCB6D5E3E26}" presName="Name0" presStyleCnt="0">
        <dgm:presLayoutVars>
          <dgm:dir/>
          <dgm:animLvl val="lvl"/>
          <dgm:resizeHandles val="exact"/>
        </dgm:presLayoutVars>
      </dgm:prSet>
      <dgm:spPr/>
    </dgm:pt>
    <dgm:pt modelId="{39CF3BA0-AA23-4949-AFA0-BDD50F26DB42}" type="pres">
      <dgm:prSet presAssocID="{838C9766-C422-41F6-872C-5F3EAAA9A94F}" presName="boxAndChildren" presStyleCnt="0"/>
      <dgm:spPr/>
    </dgm:pt>
    <dgm:pt modelId="{984FAD53-B753-4A58-A177-0DF55E30F75D}" type="pres">
      <dgm:prSet presAssocID="{838C9766-C422-41F6-872C-5F3EAAA9A94F}" presName="parentTextBox" presStyleLbl="node1" presStyleIdx="0" presStyleCnt="3"/>
      <dgm:spPr/>
    </dgm:pt>
    <dgm:pt modelId="{A1663AA5-740E-4FDF-ADD2-27E43D433575}" type="pres">
      <dgm:prSet presAssocID="{B74A4E88-AC00-472F-AA92-0C3BFAD673FA}" presName="sp" presStyleCnt="0"/>
      <dgm:spPr/>
    </dgm:pt>
    <dgm:pt modelId="{5C2994BA-95EC-4AC2-AFA4-1B22FBEBB354}" type="pres">
      <dgm:prSet presAssocID="{68AF6AC4-A157-413E-A943-77A2B593809A}" presName="arrowAndChildren" presStyleCnt="0"/>
      <dgm:spPr/>
    </dgm:pt>
    <dgm:pt modelId="{1E9D90BD-C08F-4B8E-BA1A-67740CDA9EFC}" type="pres">
      <dgm:prSet presAssocID="{68AF6AC4-A157-413E-A943-77A2B593809A}" presName="parentTextArrow" presStyleLbl="node1" presStyleIdx="1" presStyleCnt="3"/>
      <dgm:spPr/>
    </dgm:pt>
    <dgm:pt modelId="{6B7612A3-1F46-4536-B12F-8EF141796DD7}" type="pres">
      <dgm:prSet presAssocID="{E857221A-734F-4396-A642-04F985B7D590}" presName="sp" presStyleCnt="0"/>
      <dgm:spPr/>
    </dgm:pt>
    <dgm:pt modelId="{CF8B7011-CFF3-437B-8D62-509F4A4CAC99}" type="pres">
      <dgm:prSet presAssocID="{801111EC-7761-4006-9B8D-BDD3478D6A0C}" presName="arrowAndChildren" presStyleCnt="0"/>
      <dgm:spPr/>
    </dgm:pt>
    <dgm:pt modelId="{E824EC70-AE1E-4100-B32E-97CD66F66319}" type="pres">
      <dgm:prSet presAssocID="{801111EC-7761-4006-9B8D-BDD3478D6A0C}" presName="parentTextArrow" presStyleLbl="node1" presStyleIdx="2" presStyleCnt="3"/>
      <dgm:spPr/>
    </dgm:pt>
  </dgm:ptLst>
  <dgm:cxnLst>
    <dgm:cxn modelId="{7021B101-6AE5-4EA4-923F-149909DC3C09}" srcId="{7ABBEAF7-C373-4176-BC82-DCCB6D5E3E26}" destId="{801111EC-7761-4006-9B8D-BDD3478D6A0C}" srcOrd="0" destOrd="0" parTransId="{741192AF-66D8-44B3-8D71-D609A9576CFF}" sibTransId="{E857221A-734F-4396-A642-04F985B7D590}"/>
    <dgm:cxn modelId="{E0F0CC33-1AFF-4E6F-8A92-7DBADF24B6A2}" srcId="{7ABBEAF7-C373-4176-BC82-DCCB6D5E3E26}" destId="{68AF6AC4-A157-413E-A943-77A2B593809A}" srcOrd="1" destOrd="0" parTransId="{A0FB97BE-4134-4DB4-88C2-019F601E5B07}" sibTransId="{B74A4E88-AC00-472F-AA92-0C3BFAD673FA}"/>
    <dgm:cxn modelId="{C4C06B3F-5FD2-4A64-824C-3E63187AF6BF}" type="presOf" srcId="{801111EC-7761-4006-9B8D-BDD3478D6A0C}" destId="{E824EC70-AE1E-4100-B32E-97CD66F66319}" srcOrd="0" destOrd="0" presId="urn:microsoft.com/office/officeart/2005/8/layout/process4"/>
    <dgm:cxn modelId="{027E675B-E36E-41CB-AF05-682124408BAC}" type="presOf" srcId="{68AF6AC4-A157-413E-A943-77A2B593809A}" destId="{1E9D90BD-C08F-4B8E-BA1A-67740CDA9EFC}" srcOrd="0" destOrd="0" presId="urn:microsoft.com/office/officeart/2005/8/layout/process4"/>
    <dgm:cxn modelId="{5DD8715A-6FCC-48EE-B11F-00E577A24C88}" srcId="{7ABBEAF7-C373-4176-BC82-DCCB6D5E3E26}" destId="{838C9766-C422-41F6-872C-5F3EAAA9A94F}" srcOrd="2" destOrd="0" parTransId="{ED85ABCC-1599-46D5-8D79-5F8D47102174}" sibTransId="{0FA9D5B3-0255-46FC-86B3-C2800C42F094}"/>
    <dgm:cxn modelId="{B9B3E985-332A-4722-9ADB-FD213F46FD24}" type="presOf" srcId="{7ABBEAF7-C373-4176-BC82-DCCB6D5E3E26}" destId="{6A493627-A8CE-458E-9FA6-3A00EC3686A2}" srcOrd="0" destOrd="0" presId="urn:microsoft.com/office/officeart/2005/8/layout/process4"/>
    <dgm:cxn modelId="{AF6B36D7-D1B2-4822-AE51-2A8BBE43E86B}" type="presOf" srcId="{838C9766-C422-41F6-872C-5F3EAAA9A94F}" destId="{984FAD53-B753-4A58-A177-0DF55E30F75D}" srcOrd="0" destOrd="0" presId="urn:microsoft.com/office/officeart/2005/8/layout/process4"/>
    <dgm:cxn modelId="{37D5568F-2CDE-4094-ACEE-99280B0E7851}" type="presParOf" srcId="{6A493627-A8CE-458E-9FA6-3A00EC3686A2}" destId="{39CF3BA0-AA23-4949-AFA0-BDD50F26DB42}" srcOrd="0" destOrd="0" presId="urn:microsoft.com/office/officeart/2005/8/layout/process4"/>
    <dgm:cxn modelId="{E327B1AA-3D83-4F75-923B-5D9578FCAB83}" type="presParOf" srcId="{39CF3BA0-AA23-4949-AFA0-BDD50F26DB42}" destId="{984FAD53-B753-4A58-A177-0DF55E30F75D}" srcOrd="0" destOrd="0" presId="urn:microsoft.com/office/officeart/2005/8/layout/process4"/>
    <dgm:cxn modelId="{B78FE124-B6A5-4B5A-A82F-0DB8AC56F942}" type="presParOf" srcId="{6A493627-A8CE-458E-9FA6-3A00EC3686A2}" destId="{A1663AA5-740E-4FDF-ADD2-27E43D433575}" srcOrd="1" destOrd="0" presId="urn:microsoft.com/office/officeart/2005/8/layout/process4"/>
    <dgm:cxn modelId="{BA46F452-6351-456C-A882-CC746B8F4780}" type="presParOf" srcId="{6A493627-A8CE-458E-9FA6-3A00EC3686A2}" destId="{5C2994BA-95EC-4AC2-AFA4-1B22FBEBB354}" srcOrd="2" destOrd="0" presId="urn:microsoft.com/office/officeart/2005/8/layout/process4"/>
    <dgm:cxn modelId="{AC365965-F79F-4FB7-A4E8-7D97607DF9A9}" type="presParOf" srcId="{5C2994BA-95EC-4AC2-AFA4-1B22FBEBB354}" destId="{1E9D90BD-C08F-4B8E-BA1A-67740CDA9EFC}" srcOrd="0" destOrd="0" presId="urn:microsoft.com/office/officeart/2005/8/layout/process4"/>
    <dgm:cxn modelId="{C6120EB1-931A-4136-8254-7E9DC3E0FD20}" type="presParOf" srcId="{6A493627-A8CE-458E-9FA6-3A00EC3686A2}" destId="{6B7612A3-1F46-4536-B12F-8EF141796DD7}" srcOrd="3" destOrd="0" presId="urn:microsoft.com/office/officeart/2005/8/layout/process4"/>
    <dgm:cxn modelId="{22EA36C0-78EB-4763-B997-275F1E5B6BDB}" type="presParOf" srcId="{6A493627-A8CE-458E-9FA6-3A00EC3686A2}" destId="{CF8B7011-CFF3-437B-8D62-509F4A4CAC99}" srcOrd="4" destOrd="0" presId="urn:microsoft.com/office/officeart/2005/8/layout/process4"/>
    <dgm:cxn modelId="{5010DCE6-7AA6-43D0-8088-47EA07072850}" type="presParOf" srcId="{CF8B7011-CFF3-437B-8D62-509F4A4CAC99}" destId="{E824EC70-AE1E-4100-B32E-97CD66F6631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FAD53-B753-4A58-A177-0DF55E30F75D}">
      <dsp:nvSpPr>
        <dsp:cNvPr id="0" name=""/>
        <dsp:cNvSpPr/>
      </dsp:nvSpPr>
      <dsp:spPr>
        <a:xfrm>
          <a:off x="0" y="3804772"/>
          <a:ext cx="4707198" cy="1248811"/>
        </a:xfrm>
        <a:prstGeom prst="rect">
          <a:avLst/>
        </a:prstGeom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6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3: pick the best function</a:t>
          </a:r>
          <a:endParaRPr lang="zh-TW" altLang="en-US" sz="2800" kern="1200" dirty="0"/>
        </a:p>
      </dsp:txBody>
      <dsp:txXfrm>
        <a:off x="0" y="3804772"/>
        <a:ext cx="4707198" cy="1248811"/>
      </dsp:txXfrm>
    </dsp:sp>
    <dsp:sp modelId="{1E9D90BD-C08F-4B8E-BA1A-67740CDA9EFC}">
      <dsp:nvSpPr>
        <dsp:cNvPr id="0" name=""/>
        <dsp:cNvSpPr/>
      </dsp:nvSpPr>
      <dsp:spPr>
        <a:xfrm rot="10800000">
          <a:off x="0" y="1902832"/>
          <a:ext cx="4707198" cy="1920671"/>
        </a:xfrm>
        <a:prstGeom prst="upArrowCallout">
          <a:avLst/>
        </a:pr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2: goodness of function</a:t>
          </a:r>
          <a:endParaRPr lang="zh-TW" altLang="en-US" sz="2800" kern="1200" dirty="0"/>
        </a:p>
      </dsp:txBody>
      <dsp:txXfrm rot="10800000">
        <a:off x="0" y="1902832"/>
        <a:ext cx="4707198" cy="1247994"/>
      </dsp:txXfrm>
    </dsp:sp>
    <dsp:sp modelId="{E824EC70-AE1E-4100-B32E-97CD66F66319}">
      <dsp:nvSpPr>
        <dsp:cNvPr id="0" name=""/>
        <dsp:cNvSpPr/>
      </dsp:nvSpPr>
      <dsp:spPr>
        <a:xfrm rot="10800000">
          <a:off x="0" y="893"/>
          <a:ext cx="4707198" cy="1920671"/>
        </a:xfrm>
        <a:prstGeom prst="upArrowCallou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1: define a set of function              </a:t>
          </a:r>
          <a:endParaRPr lang="zh-TW" altLang="en-US" sz="2800" kern="1200" dirty="0"/>
        </a:p>
      </dsp:txBody>
      <dsp:txXfrm rot="10800000">
        <a:off x="0" y="893"/>
        <a:ext cx="4707198" cy="12479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FAD53-B753-4A58-A177-0DF55E30F75D}">
      <dsp:nvSpPr>
        <dsp:cNvPr id="0" name=""/>
        <dsp:cNvSpPr/>
      </dsp:nvSpPr>
      <dsp:spPr>
        <a:xfrm>
          <a:off x="0" y="3804772"/>
          <a:ext cx="4707198" cy="1248811"/>
        </a:xfrm>
        <a:prstGeom prst="rect">
          <a:avLst/>
        </a:prstGeom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6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3: pick the best function</a:t>
          </a:r>
          <a:endParaRPr lang="zh-TW" altLang="en-US" sz="2800" kern="1200" dirty="0"/>
        </a:p>
      </dsp:txBody>
      <dsp:txXfrm>
        <a:off x="0" y="3804772"/>
        <a:ext cx="4707198" cy="1248811"/>
      </dsp:txXfrm>
    </dsp:sp>
    <dsp:sp modelId="{1E9D90BD-C08F-4B8E-BA1A-67740CDA9EFC}">
      <dsp:nvSpPr>
        <dsp:cNvPr id="0" name=""/>
        <dsp:cNvSpPr/>
      </dsp:nvSpPr>
      <dsp:spPr>
        <a:xfrm rot="10800000">
          <a:off x="0" y="1902832"/>
          <a:ext cx="4707198" cy="1920671"/>
        </a:xfrm>
        <a:prstGeom prst="upArrowCallout">
          <a:avLst/>
        </a:pr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2: goodness of function</a:t>
          </a:r>
          <a:endParaRPr lang="zh-TW" altLang="en-US" sz="2800" kern="1200" dirty="0"/>
        </a:p>
      </dsp:txBody>
      <dsp:txXfrm rot="10800000">
        <a:off x="0" y="1902832"/>
        <a:ext cx="4707198" cy="1247994"/>
      </dsp:txXfrm>
    </dsp:sp>
    <dsp:sp modelId="{E824EC70-AE1E-4100-B32E-97CD66F66319}">
      <dsp:nvSpPr>
        <dsp:cNvPr id="0" name=""/>
        <dsp:cNvSpPr/>
      </dsp:nvSpPr>
      <dsp:spPr>
        <a:xfrm rot="10800000">
          <a:off x="0" y="893"/>
          <a:ext cx="4707198" cy="1920671"/>
        </a:xfrm>
        <a:prstGeom prst="upArrowCallou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1: define a set of function              </a:t>
          </a:r>
          <a:endParaRPr lang="zh-TW" altLang="en-US" sz="2800" kern="1200" dirty="0"/>
        </a:p>
      </dsp:txBody>
      <dsp:txXfrm rot="10800000">
        <a:off x="0" y="893"/>
        <a:ext cx="4707198" cy="1247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45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78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95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449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436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24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459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0441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8183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49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415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208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55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9.wmf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70.png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12" Type="http://schemas.openxmlformats.org/officeDocument/2006/relationships/image" Target="../media/image6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59.png"/><Relationship Id="rId5" Type="http://schemas.openxmlformats.org/officeDocument/2006/relationships/image" Target="../media/image10.wmf"/><Relationship Id="rId10" Type="http://schemas.openxmlformats.org/officeDocument/2006/relationships/image" Target="../media/image410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60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410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4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41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1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90.png"/><Relationship Id="rId18" Type="http://schemas.openxmlformats.org/officeDocument/2006/relationships/image" Target="../media/image24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9.png"/><Relationship Id="rId12" Type="http://schemas.openxmlformats.org/officeDocument/2006/relationships/image" Target="../media/image180.png"/><Relationship Id="rId17" Type="http://schemas.openxmlformats.org/officeDocument/2006/relationships/image" Target="../media/image23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170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210.png"/><Relationship Id="rId10" Type="http://schemas.openxmlformats.org/officeDocument/2006/relationships/image" Target="../media/image120.png"/><Relationship Id="rId4" Type="http://schemas.openxmlformats.org/officeDocument/2006/relationships/image" Target="../media/image9.wmf"/><Relationship Id="rId9" Type="http://schemas.openxmlformats.org/officeDocument/2006/relationships/image" Target="../media/image11.png"/><Relationship Id="rId14" Type="http://schemas.openxmlformats.org/officeDocument/2006/relationships/image" Target="../media/image20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59.png"/><Relationship Id="rId18" Type="http://schemas.openxmlformats.org/officeDocument/2006/relationships/image" Target="../media/image33.png"/><Relationship Id="rId26" Type="http://schemas.openxmlformats.org/officeDocument/2006/relationships/oleObject" Target="../embeddings/oleObject9.bin"/><Relationship Id="rId3" Type="http://schemas.openxmlformats.org/officeDocument/2006/relationships/oleObject" Target="../embeddings/oleObject6.bin"/><Relationship Id="rId21" Type="http://schemas.openxmlformats.org/officeDocument/2006/relationships/image" Target="../media/image17.wmf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8.png"/><Relationship Id="rId17" Type="http://schemas.openxmlformats.org/officeDocument/2006/relationships/image" Target="../media/image32.png"/><Relationship Id="rId25" Type="http://schemas.openxmlformats.org/officeDocument/2006/relationships/image" Target="../media/image18.wmf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1.png"/><Relationship Id="rId20" Type="http://schemas.openxmlformats.org/officeDocument/2006/relationships/oleObject" Target="../embeddings/oleObject8.bin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11" Type="http://schemas.openxmlformats.org/officeDocument/2006/relationships/image" Target="../media/image27.png"/><Relationship Id="rId24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image" Target="../media/image30.png"/><Relationship Id="rId23" Type="http://schemas.openxmlformats.org/officeDocument/2006/relationships/image" Target="../media/image17.wmf"/><Relationship Id="rId28" Type="http://schemas.openxmlformats.org/officeDocument/2006/relationships/image" Target="../media/image410.png"/><Relationship Id="rId10" Type="http://schemas.openxmlformats.org/officeDocument/2006/relationships/image" Target="../media/image16.wmf"/><Relationship Id="rId19" Type="http://schemas.openxmlformats.org/officeDocument/2006/relationships/image" Target="../media/image34.png"/><Relationship Id="rId4" Type="http://schemas.openxmlformats.org/officeDocument/2006/relationships/image" Target="../media/image1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29.png"/><Relationship Id="rId22" Type="http://schemas.openxmlformats.org/officeDocument/2006/relationships/oleObject" Target="../embeddings/oleObject8.bin"/><Relationship Id="rId27" Type="http://schemas.openxmlformats.org/officeDocument/2006/relationships/image" Target="../media/image18.wmf"/><Relationship Id="rId30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15.wmf"/><Relationship Id="rId21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image" Target="../media/image59.png"/><Relationship Id="rId17" Type="http://schemas.openxmlformats.org/officeDocument/2006/relationships/image" Target="../media/image41.png"/><Relationship Id="rId25" Type="http://schemas.openxmlformats.org/officeDocument/2006/relationships/image" Target="../media/image18.wmf"/><Relationship Id="rId2" Type="http://schemas.openxmlformats.org/officeDocument/2006/relationships/oleObject" Target="../embeddings/oleObject6.bin"/><Relationship Id="rId16" Type="http://schemas.openxmlformats.org/officeDocument/2006/relationships/image" Target="../media/image40.png"/><Relationship Id="rId20" Type="http://schemas.openxmlformats.org/officeDocument/2006/relationships/oleObject" Target="../embeddings/oleObject8.bin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8.png"/><Relationship Id="rId24" Type="http://schemas.openxmlformats.org/officeDocument/2006/relationships/oleObject" Target="../embeddings/oleObject9.bin"/><Relationship Id="rId5" Type="http://schemas.openxmlformats.org/officeDocument/2006/relationships/image" Target="../media/image15.wmf"/><Relationship Id="rId15" Type="http://schemas.openxmlformats.org/officeDocument/2006/relationships/image" Target="../media/image31.png"/><Relationship Id="rId23" Type="http://schemas.openxmlformats.org/officeDocument/2006/relationships/image" Target="../media/image17.wmf"/><Relationship Id="rId28" Type="http://schemas.openxmlformats.org/officeDocument/2006/relationships/image" Target="../media/image410.png"/><Relationship Id="rId10" Type="http://schemas.openxmlformats.org/officeDocument/2006/relationships/image" Target="../media/image27.png"/><Relationship Id="rId19" Type="http://schemas.openxmlformats.org/officeDocument/2006/relationships/image" Target="../media/image34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9.wmf"/><Relationship Id="rId14" Type="http://schemas.openxmlformats.org/officeDocument/2006/relationships/image" Target="../media/image30.png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18.wmf"/><Relationship Id="rId30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47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9.wmf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47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9.wmf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1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00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81.png"/><Relationship Id="rId5" Type="http://schemas.openxmlformats.org/officeDocument/2006/relationships/image" Target="../media/image121.png"/><Relationship Id="rId10" Type="http://schemas.openxmlformats.org/officeDocument/2006/relationships/image" Target="../media/image171.png"/><Relationship Id="rId4" Type="http://schemas.openxmlformats.org/officeDocument/2006/relationships/image" Target="../media/image110.png"/><Relationship Id="rId9" Type="http://schemas.openxmlformats.org/officeDocument/2006/relationships/image" Target="../media/image1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0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2.png"/><Relationship Id="rId3" Type="http://schemas.openxmlformats.org/officeDocument/2006/relationships/image" Target="../media/image411.png"/><Relationship Id="rId7" Type="http://schemas.openxmlformats.org/officeDocument/2006/relationships/image" Target="../media/image82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122.png"/><Relationship Id="rId5" Type="http://schemas.openxmlformats.org/officeDocument/2006/relationships/image" Target="../media/image62.png"/><Relationship Id="rId15" Type="http://schemas.openxmlformats.org/officeDocument/2006/relationships/image" Target="../media/image162.png"/><Relationship Id="rId10" Type="http://schemas.openxmlformats.org/officeDocument/2006/relationships/image" Target="../media/image111.png"/><Relationship Id="rId4" Type="http://schemas.openxmlformats.org/officeDocument/2006/relationships/image" Target="../media/image510.png"/><Relationship Id="rId9" Type="http://schemas.openxmlformats.org/officeDocument/2006/relationships/image" Target="../media/image101.png"/><Relationship Id="rId14" Type="http://schemas.openxmlformats.org/officeDocument/2006/relationships/image" Target="../media/image15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image" Target="../media/image122.png"/><Relationship Id="rId3" Type="http://schemas.openxmlformats.org/officeDocument/2006/relationships/image" Target="../media/image182.png"/><Relationship Id="rId7" Type="http://schemas.openxmlformats.org/officeDocument/2006/relationships/image" Target="../media/image212.png"/><Relationship Id="rId12" Type="http://schemas.openxmlformats.org/officeDocument/2006/relationships/image" Target="../media/image111.png"/><Relationship Id="rId17" Type="http://schemas.openxmlformats.org/officeDocument/2006/relationships/image" Target="../media/image162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101.png"/><Relationship Id="rId5" Type="http://schemas.openxmlformats.org/officeDocument/2006/relationships/image" Target="../media/image202.png"/><Relationship Id="rId15" Type="http://schemas.openxmlformats.org/officeDocument/2006/relationships/image" Target="../media/image142.png"/><Relationship Id="rId10" Type="http://schemas.openxmlformats.org/officeDocument/2006/relationships/image" Target="../media/image90.png"/><Relationship Id="rId4" Type="http://schemas.openxmlformats.org/officeDocument/2006/relationships/image" Target="../media/image192.png"/><Relationship Id="rId9" Type="http://schemas.openxmlformats.org/officeDocument/2006/relationships/image" Target="../media/image232.png"/><Relationship Id="rId14" Type="http://schemas.openxmlformats.org/officeDocument/2006/relationships/image" Target="../media/image2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250.png"/><Relationship Id="rId7" Type="http://schemas.openxmlformats.org/officeDocument/2006/relationships/image" Target="../media/image192.png"/><Relationship Id="rId12" Type="http://schemas.openxmlformats.org/officeDocument/2006/relationships/image" Target="../media/image2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221.png"/><Relationship Id="rId5" Type="http://schemas.openxmlformats.org/officeDocument/2006/relationships/image" Target="../media/image270.png"/><Relationship Id="rId10" Type="http://schemas.openxmlformats.org/officeDocument/2006/relationships/image" Target="../media/image212.png"/><Relationship Id="rId4" Type="http://schemas.openxmlformats.org/officeDocument/2006/relationships/image" Target="../media/image260.png"/><Relationship Id="rId9" Type="http://schemas.openxmlformats.org/officeDocument/2006/relationships/image" Target="../media/image7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44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4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9.wmf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48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50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63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143.png"/><Relationship Id="rId5" Type="http://schemas.openxmlformats.org/officeDocument/2006/relationships/image" Target="../media/image83.png"/><Relationship Id="rId10" Type="http://schemas.openxmlformats.org/officeDocument/2006/relationships/image" Target="../media/image133.png"/><Relationship Id="rId4" Type="http://schemas.openxmlformats.org/officeDocument/2006/relationships/image" Target="../media/image73.png"/><Relationship Id="rId9" Type="http://schemas.openxmlformats.org/officeDocument/2006/relationships/image" Target="../media/image12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5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9" y="3347509"/>
            <a:ext cx="12700001" cy="119909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Tips for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4" y="5503333"/>
            <a:ext cx="12998450" cy="77978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xfrm>
            <a:off x="2286000" y="271181"/>
            <a:ext cx="13716000" cy="931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Overview</a:t>
            </a:r>
            <a:endParaRPr dirty="0"/>
          </a:p>
        </p:txBody>
      </p:sp>
      <p:sp>
        <p:nvSpPr>
          <p:cNvPr id="3" name="矩形 8">
            <a:extLst>
              <a:ext uri="{FF2B5EF4-FFF2-40B4-BE49-F238E27FC236}">
                <a16:creationId xmlns:a16="http://schemas.microsoft.com/office/drawing/2014/main" id="{05AD61DC-6438-6892-2BE6-E1F0B521CFB5}"/>
              </a:ext>
            </a:extLst>
          </p:cNvPr>
          <p:cNvSpPr/>
          <p:nvPr/>
        </p:nvSpPr>
        <p:spPr>
          <a:xfrm>
            <a:off x="10546106" y="298386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4" name="矩形 9">
            <a:extLst>
              <a:ext uri="{FF2B5EF4-FFF2-40B4-BE49-F238E27FC236}">
                <a16:creationId xmlns:a16="http://schemas.microsoft.com/office/drawing/2014/main" id="{BC138A49-909F-16D0-DC69-446838848D84}"/>
              </a:ext>
            </a:extLst>
          </p:cNvPr>
          <p:cNvSpPr/>
          <p:nvPr/>
        </p:nvSpPr>
        <p:spPr>
          <a:xfrm>
            <a:off x="10560086" y="629270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5" name="向下箭號 19">
            <a:extLst>
              <a:ext uri="{FF2B5EF4-FFF2-40B4-BE49-F238E27FC236}">
                <a16:creationId xmlns:a16="http://schemas.microsoft.com/office/drawing/2014/main" id="{2F6AEA95-0827-1613-D6AF-FB54BEE471D2}"/>
              </a:ext>
            </a:extLst>
          </p:cNvPr>
          <p:cNvSpPr/>
          <p:nvPr/>
        </p:nvSpPr>
        <p:spPr>
          <a:xfrm rot="10800000">
            <a:off x="12032060" y="192185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向下箭號 20">
            <a:extLst>
              <a:ext uri="{FF2B5EF4-FFF2-40B4-BE49-F238E27FC236}">
                <a16:creationId xmlns:a16="http://schemas.microsoft.com/office/drawing/2014/main" id="{1D53E221-2C50-F368-175B-25DBA806EE2E}"/>
              </a:ext>
            </a:extLst>
          </p:cNvPr>
          <p:cNvSpPr/>
          <p:nvPr/>
        </p:nvSpPr>
        <p:spPr>
          <a:xfrm rot="10800000">
            <a:off x="12046040" y="502963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7" name="圖片 21">
            <a:extLst>
              <a:ext uri="{FF2B5EF4-FFF2-40B4-BE49-F238E27FC236}">
                <a16:creationId xmlns:a16="http://schemas.microsoft.com/office/drawing/2014/main" id="{A38623AD-D521-5956-9253-E82DC5AA9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059" y="1070767"/>
            <a:ext cx="818865" cy="772193"/>
          </a:xfrm>
          <a:prstGeom prst="rect">
            <a:avLst/>
          </a:prstGeom>
        </p:spPr>
      </p:pic>
      <p:sp>
        <p:nvSpPr>
          <p:cNvPr id="8" name="右彎箭號 24">
            <a:extLst>
              <a:ext uri="{FF2B5EF4-FFF2-40B4-BE49-F238E27FC236}">
                <a16:creationId xmlns:a16="http://schemas.microsoft.com/office/drawing/2014/main" id="{E665A78F-DE97-8E9F-D222-4C45AF6F0351}"/>
              </a:ext>
            </a:extLst>
          </p:cNvPr>
          <p:cNvSpPr/>
          <p:nvPr/>
        </p:nvSpPr>
        <p:spPr>
          <a:xfrm rot="16200000" flipV="1">
            <a:off x="10691451" y="7869615"/>
            <a:ext cx="1771177" cy="2460640"/>
          </a:xfrm>
          <a:prstGeom prst="bentArrow">
            <a:avLst>
              <a:gd name="adj1" fmla="val 23088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>
              <a:solidFill>
                <a:schemeClr val="tx1"/>
              </a:solidFill>
            </a:endParaRPr>
          </a:p>
        </p:txBody>
      </p:sp>
      <p:sp>
        <p:nvSpPr>
          <p:cNvPr id="9" name="文字方塊 25">
            <a:extLst>
              <a:ext uri="{FF2B5EF4-FFF2-40B4-BE49-F238E27FC236}">
                <a16:creationId xmlns:a16="http://schemas.microsoft.com/office/drawing/2014/main" id="{E6821C87-7FAB-23F5-A59F-3CE8AD520F30}"/>
              </a:ext>
            </a:extLst>
          </p:cNvPr>
          <p:cNvSpPr txBox="1"/>
          <p:nvPr/>
        </p:nvSpPr>
        <p:spPr>
          <a:xfrm>
            <a:off x="12850924" y="540409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0" name="文字方塊 26">
            <a:extLst>
              <a:ext uri="{FF2B5EF4-FFF2-40B4-BE49-F238E27FC236}">
                <a16:creationId xmlns:a16="http://schemas.microsoft.com/office/drawing/2014/main" id="{E4B5BFAF-054F-4CBF-F27A-E3485B1099C4}"/>
              </a:ext>
            </a:extLst>
          </p:cNvPr>
          <p:cNvSpPr txBox="1"/>
          <p:nvPr/>
        </p:nvSpPr>
        <p:spPr>
          <a:xfrm>
            <a:off x="12850924" y="209525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1" name="矩形 30">
            <a:extLst>
              <a:ext uri="{FF2B5EF4-FFF2-40B4-BE49-F238E27FC236}">
                <a16:creationId xmlns:a16="http://schemas.microsoft.com/office/drawing/2014/main" id="{312558E8-E3E3-D6A6-2F17-189243B32A05}"/>
              </a:ext>
            </a:extLst>
          </p:cNvPr>
          <p:cNvSpPr/>
          <p:nvPr/>
        </p:nvSpPr>
        <p:spPr>
          <a:xfrm>
            <a:off x="10346720" y="614517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31">
            <a:extLst>
              <a:ext uri="{FF2B5EF4-FFF2-40B4-BE49-F238E27FC236}">
                <a16:creationId xmlns:a16="http://schemas.microsoft.com/office/drawing/2014/main" id="{6FA0EE41-C793-47A1-AD23-2888B27E851F}"/>
              </a:ext>
            </a:extLst>
          </p:cNvPr>
          <p:cNvSpPr/>
          <p:nvPr/>
        </p:nvSpPr>
        <p:spPr>
          <a:xfrm>
            <a:off x="10346720" y="289255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向右箭號 10">
            <a:extLst>
              <a:ext uri="{FF2B5EF4-FFF2-40B4-BE49-F238E27FC236}">
                <a16:creationId xmlns:a16="http://schemas.microsoft.com/office/drawing/2014/main" id="{AD436F50-8363-2F06-878B-759313AB53E8}"/>
              </a:ext>
            </a:extLst>
          </p:cNvPr>
          <p:cNvSpPr/>
          <p:nvPr/>
        </p:nvSpPr>
        <p:spPr>
          <a:xfrm flipH="1">
            <a:off x="9194721" y="698457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向右箭號 10">
            <a:extLst>
              <a:ext uri="{FF2B5EF4-FFF2-40B4-BE49-F238E27FC236}">
                <a16:creationId xmlns:a16="http://schemas.microsoft.com/office/drawing/2014/main" id="{6BF38518-9586-4D40-57EA-31B3684FDE3E}"/>
              </a:ext>
            </a:extLst>
          </p:cNvPr>
          <p:cNvSpPr/>
          <p:nvPr/>
        </p:nvSpPr>
        <p:spPr>
          <a:xfrm flipH="1">
            <a:off x="9176663" y="347942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6" name="组合 14">
            <a:extLst>
              <a:ext uri="{FF2B5EF4-FFF2-40B4-BE49-F238E27FC236}">
                <a16:creationId xmlns:a16="http://schemas.microsoft.com/office/drawing/2014/main" id="{2CB9615E-2EC1-7492-A569-D15BF9810863}"/>
              </a:ext>
            </a:extLst>
          </p:cNvPr>
          <p:cNvGrpSpPr/>
          <p:nvPr/>
        </p:nvGrpSpPr>
        <p:grpSpPr>
          <a:xfrm>
            <a:off x="4784651" y="2740413"/>
            <a:ext cx="4359349" cy="2944517"/>
            <a:chOff x="3423684" y="2775098"/>
            <a:chExt cx="4359349" cy="3136604"/>
          </a:xfrm>
        </p:grpSpPr>
        <p:sp>
          <p:nvSpPr>
            <p:cNvPr id="17" name="矩形 13">
              <a:extLst>
                <a:ext uri="{FF2B5EF4-FFF2-40B4-BE49-F238E27FC236}">
                  <a16:creationId xmlns:a16="http://schemas.microsoft.com/office/drawing/2014/main" id="{51AD26B8-DB17-3E67-BB07-59E25D38D789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7">
              <a:extLst>
                <a:ext uri="{FF2B5EF4-FFF2-40B4-BE49-F238E27FC236}">
                  <a16:creationId xmlns:a16="http://schemas.microsoft.com/office/drawing/2014/main" id="{BD92AF8C-E29D-6EA0-8925-E0780BE24842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: 圆角 11">
              <a:extLst>
                <a:ext uri="{FF2B5EF4-FFF2-40B4-BE49-F238E27FC236}">
                  <a16:creationId xmlns:a16="http://schemas.microsoft.com/office/drawing/2014/main" id="{E70D95A7-060D-376B-E045-69CC903403E0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: 圆角 12">
              <a:extLst>
                <a:ext uri="{FF2B5EF4-FFF2-40B4-BE49-F238E27FC236}">
                  <a16:creationId xmlns:a16="http://schemas.microsoft.com/office/drawing/2014/main" id="{1F13A050-A5ED-3DD6-4882-750235D7A4EE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15">
            <a:extLst>
              <a:ext uri="{FF2B5EF4-FFF2-40B4-BE49-F238E27FC236}">
                <a16:creationId xmlns:a16="http://schemas.microsoft.com/office/drawing/2014/main" id="{C87625B9-C5F2-28F4-D6A4-3AE2E450F97C}"/>
              </a:ext>
            </a:extLst>
          </p:cNvPr>
          <p:cNvGrpSpPr/>
          <p:nvPr/>
        </p:nvGrpSpPr>
        <p:grpSpPr>
          <a:xfrm>
            <a:off x="4784651" y="6145178"/>
            <a:ext cx="4359349" cy="2944517"/>
            <a:chOff x="3423684" y="2775098"/>
            <a:chExt cx="4359349" cy="3136604"/>
          </a:xfrm>
        </p:grpSpPr>
        <p:sp>
          <p:nvSpPr>
            <p:cNvPr id="22" name="矩形 23">
              <a:extLst>
                <a:ext uri="{FF2B5EF4-FFF2-40B4-BE49-F238E27FC236}">
                  <a16:creationId xmlns:a16="http://schemas.microsoft.com/office/drawing/2014/main" id="{0DE91881-1683-1EAC-5359-A51DA0DEDCD0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7">
              <a:extLst>
                <a:ext uri="{FF2B5EF4-FFF2-40B4-BE49-F238E27FC236}">
                  <a16:creationId xmlns:a16="http://schemas.microsoft.com/office/drawing/2014/main" id="{76044846-948C-F027-8103-D7D826E54639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: 圆角 29">
              <a:extLst>
                <a:ext uri="{FF2B5EF4-FFF2-40B4-BE49-F238E27FC236}">
                  <a16:creationId xmlns:a16="http://schemas.microsoft.com/office/drawing/2014/main" id="{289A4EB4-6F06-5F3A-1333-73150F031ABC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52DC781-2611-0E6A-48D6-C8FF7B02F874}"/>
              </a:ext>
            </a:extLst>
          </p:cNvPr>
          <p:cNvSpPr txBox="1"/>
          <p:nvPr/>
        </p:nvSpPr>
        <p:spPr>
          <a:xfrm>
            <a:off x="9366876" y="6410320"/>
            <a:ext cx="9291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NO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5">
            <a:extLst>
              <a:ext uri="{FF2B5EF4-FFF2-40B4-BE49-F238E27FC236}">
                <a16:creationId xmlns:a16="http://schemas.microsoft.com/office/drawing/2014/main" id="{2C738CDB-51E0-E475-E9E1-31C5A53F9922}"/>
              </a:ext>
            </a:extLst>
          </p:cNvPr>
          <p:cNvSpPr txBox="1"/>
          <p:nvPr/>
        </p:nvSpPr>
        <p:spPr>
          <a:xfrm>
            <a:off x="9297130" y="2892554"/>
            <a:ext cx="9291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NO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2523067"/>
            <a:ext cx="15667355" cy="184573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Tips for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443009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7352445" y="8051181"/>
            <a:ext cx="4147001" cy="1993013"/>
            <a:chOff x="6018023" y="4983224"/>
            <a:chExt cx="2764667" cy="1328675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018023" y="4983224"/>
              <a:ext cx="2764667" cy="1328675"/>
            </a:xfrm>
            <a:prstGeom prst="rect">
              <a:avLst/>
            </a:prstGeom>
          </p:spPr>
        </p:pic>
        <p:sp>
          <p:nvSpPr>
            <p:cNvPr id="8" name="文字方塊 7"/>
            <p:cNvSpPr txBox="1"/>
            <p:nvPr/>
          </p:nvSpPr>
          <p:spPr>
            <a:xfrm>
              <a:off x="6707786" y="5210235"/>
              <a:ext cx="1837691" cy="718145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Neural Network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graphicFrame>
        <p:nvGraphicFramePr>
          <p:cNvPr id="1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615318" y="2494919"/>
          <a:ext cx="4707198" cy="5054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矩形 14"/>
          <p:cNvSpPr/>
          <p:nvPr/>
        </p:nvSpPr>
        <p:spPr>
          <a:xfrm>
            <a:off x="3348548" y="2228876"/>
            <a:ext cx="5281683" cy="56071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下箭號 17"/>
          <p:cNvSpPr/>
          <p:nvPr/>
        </p:nvSpPr>
        <p:spPr>
          <a:xfrm rot="5400000">
            <a:off x="9536745" y="5514645"/>
            <a:ext cx="818865" cy="2394897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4" name="右彎箭號 23"/>
          <p:cNvSpPr/>
          <p:nvPr/>
        </p:nvSpPr>
        <p:spPr>
          <a:xfrm flipV="1">
            <a:off x="5736179" y="7945110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accent2"/>
                </a:solidFill>
              </a:rPr>
              <a:t>YES</a:t>
            </a:r>
            <a:endParaRPr lang="zh-TW" altLang="en-US" sz="3600" dirty="0">
              <a:solidFill>
                <a:schemeClr val="accent2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accent2"/>
                </a:solidFill>
              </a:rPr>
              <a:t>YES</a:t>
            </a:r>
            <a:endParaRPr lang="zh-TW" altLang="en-US" sz="3600" dirty="0">
              <a:solidFill>
                <a:schemeClr val="accent2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9487413" y="582458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NO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9" name="向下箭號 28"/>
          <p:cNvSpPr/>
          <p:nvPr/>
        </p:nvSpPr>
        <p:spPr>
          <a:xfrm rot="5400000">
            <a:off x="9536745" y="2123666"/>
            <a:ext cx="818865" cy="2394897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9487413" y="2351124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NO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8543994" y="3719160"/>
            <a:ext cx="2911931" cy="7078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Overfitting!</a:t>
            </a:r>
            <a:endParaRPr lang="zh-TW" altLang="en-US" sz="40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127760" y="460375"/>
            <a:ext cx="86372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Graphic spid="14" grpId="0">
        <p:bldAsOne/>
      </p:bldGraphic>
      <p:bldP spid="15" grpId="0" bldLvl="0" animBg="1"/>
      <p:bldP spid="18" grpId="0" bldLvl="0" animBg="1"/>
      <p:bldP spid="20" grpId="0" bldLvl="0" animBg="1"/>
      <p:bldP spid="21" grpId="0" bldLvl="0" animBg="1"/>
      <p:bldP spid="24" grpId="0" bldLvl="0" animBg="1"/>
      <p:bldP spid="25" grpId="0" bldLvl="0" animBg="1"/>
      <p:bldP spid="26" grpId="0"/>
      <p:bldP spid="27" grpId="0"/>
      <p:bldP spid="28" grpId="0"/>
      <p:bldP spid="29" grpId="0" bldLvl="0" animBg="1"/>
      <p:bldP spid="30" grpId="0"/>
      <p:bldP spid="2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 not always blame Overfitting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790859" y="8642196"/>
            <a:ext cx="10881164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rgbClr val="000000"/>
                </a:solidFill>
                <a:latin typeface="Lucida Grande"/>
              </a:rPr>
              <a:t>Deep Residual Learning for Image Recognition</a:t>
            </a:r>
          </a:p>
          <a:p>
            <a:r>
              <a:rPr lang="en-US" altLang="zh-TW" sz="3600" dirty="0">
                <a:solidFill>
                  <a:srgbClr val="000000"/>
                </a:solidFill>
                <a:latin typeface="Lucida Grande"/>
              </a:rPr>
              <a:t>http://arxiv.org/abs/1512.03385</a:t>
            </a:r>
            <a:endParaRPr lang="en-US" altLang="zh-TW" sz="3600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440" y="3247808"/>
            <a:ext cx="6457103" cy="438112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1045216" y="7602641"/>
            <a:ext cx="340535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Testing Data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535411" y="5656302"/>
            <a:ext cx="2938625" cy="73866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4200" dirty="0">
                <a:solidFill>
                  <a:schemeClr val="tx1"/>
                </a:solidFill>
              </a:rPr>
              <a:t>Overfitting?</a:t>
            </a:r>
            <a:endParaRPr lang="zh-TW" altLang="en-US" sz="4200" dirty="0">
              <a:solidFill>
                <a:schemeClr val="tx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165" y="3152369"/>
            <a:ext cx="6772275" cy="4572000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525255" y="7672700"/>
            <a:ext cx="340535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Training Data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1953" y="2853840"/>
            <a:ext cx="3332480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3600" dirty="0"/>
              <a:t>Not well trained</a:t>
            </a:r>
            <a:endParaRPr lang="zh-TW" altLang="en-US" sz="3600" dirty="0"/>
          </a:p>
        </p:txBody>
      </p:sp>
      <p:cxnSp>
        <p:nvCxnSpPr>
          <p:cNvPr id="12" name="直線單箭頭接點 11"/>
          <p:cNvCxnSpPr>
            <a:endCxn id="10" idx="2"/>
          </p:cNvCxnSpPr>
          <p:nvPr/>
        </p:nvCxnSpPr>
        <p:spPr>
          <a:xfrm flipV="1">
            <a:off x="12411561" y="5248455"/>
            <a:ext cx="1511829" cy="12813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http://www.mobanwang.com/icon/UploadFiles_8971/200909/20090903224008317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3360" y="5481105"/>
            <a:ext cx="1177100" cy="11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  <p:bldP spid="9" grpId="0"/>
      <p:bldP spid="1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7352445" y="8051181"/>
            <a:ext cx="4147001" cy="1993013"/>
            <a:chOff x="6018023" y="4983224"/>
            <a:chExt cx="2764667" cy="1328675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018023" y="4983224"/>
              <a:ext cx="2764667" cy="1328675"/>
            </a:xfrm>
            <a:prstGeom prst="rect">
              <a:avLst/>
            </a:prstGeom>
          </p:spPr>
        </p:pic>
        <p:sp>
          <p:nvSpPr>
            <p:cNvPr id="8" name="文字方塊 7"/>
            <p:cNvSpPr txBox="1"/>
            <p:nvPr/>
          </p:nvSpPr>
          <p:spPr>
            <a:xfrm>
              <a:off x="6707786" y="5210235"/>
              <a:ext cx="1837691" cy="79925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Neural Network</a:t>
              </a:r>
              <a:endParaRPr lang="zh-TW" altLang="en-US" sz="36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4" name="右彎箭號 23"/>
          <p:cNvSpPr/>
          <p:nvPr/>
        </p:nvSpPr>
        <p:spPr>
          <a:xfrm flipV="1">
            <a:off x="5736179" y="7945110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234905" y="460556"/>
            <a:ext cx="6530453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" name="文字方塊 2"/>
          <p:cNvSpPr txBox="1"/>
          <p:nvPr/>
        </p:nvSpPr>
        <p:spPr>
          <a:xfrm>
            <a:off x="3555575" y="3157218"/>
            <a:ext cx="5936307" cy="13836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chemeClr val="tx1"/>
                </a:solidFill>
              </a:rPr>
              <a:t>Different approaches for different problems.</a:t>
            </a:r>
            <a:endParaRPr lang="zh-TW" altLang="en-US" sz="4200" dirty="0">
              <a:solidFill>
                <a:schemeClr val="tx1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667816" y="5083176"/>
            <a:ext cx="566462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e.g. dropout for good results on testing data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cxnSp>
        <p:nvCxnSpPr>
          <p:cNvPr id="33" name="直線單箭頭接點 32"/>
          <p:cNvCxnSpPr>
            <a:endCxn id="9" idx="1"/>
          </p:cNvCxnSpPr>
          <p:nvPr/>
        </p:nvCxnSpPr>
        <p:spPr>
          <a:xfrm flipV="1">
            <a:off x="9503639" y="3438939"/>
            <a:ext cx="1778112" cy="4338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cxnSpLocks/>
            <a:endCxn id="10" idx="1"/>
          </p:cNvCxnSpPr>
          <p:nvPr/>
        </p:nvCxnSpPr>
        <p:spPr>
          <a:xfrm>
            <a:off x="9491882" y="3872799"/>
            <a:ext cx="1803849" cy="283929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3234905" y="460556"/>
            <a:ext cx="6530453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599991" y="5683963"/>
            <a:ext cx="4165368" cy="1419877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Hard to get the power of Deep …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223" y="2197421"/>
            <a:ext cx="11952876" cy="778748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326223" y="7728902"/>
            <a:ext cx="11952876" cy="73723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tx1"/>
                </a:solidFill>
              </a:rPr>
              <a:t>Deeper usually does not imply better.</a:t>
            </a:r>
            <a:endParaRPr lang="zh-TW" altLang="en-US" sz="4200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74728" y="5303768"/>
            <a:ext cx="5631473" cy="982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Results on Training Data</a:t>
            </a:r>
            <a:endParaRPr lang="zh-TW" altLang="en-US" sz="3600" dirty="0"/>
          </a:p>
        </p:txBody>
      </p:sp>
      <p:cxnSp>
        <p:nvCxnSpPr>
          <p:cNvPr id="6" name="直線單箭頭接點 5"/>
          <p:cNvCxnSpPr>
            <a:stCxn id="4" idx="0"/>
          </p:cNvCxnSpPr>
          <p:nvPr/>
        </p:nvCxnSpPr>
        <p:spPr>
          <a:xfrm flipV="1">
            <a:off x="8690465" y="4185767"/>
            <a:ext cx="1082186" cy="11180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Vanishing Gradient Problem</a:t>
            </a:r>
            <a:endParaRPr lang="zh-TW" altLang="en-US" dirty="0"/>
          </a:p>
        </p:txBody>
      </p:sp>
      <p:sp>
        <p:nvSpPr>
          <p:cNvPr id="129" name="矩形圖說文字 128"/>
          <p:cNvSpPr/>
          <p:nvPr/>
        </p:nvSpPr>
        <p:spPr>
          <a:xfrm>
            <a:off x="9088058" y="6512994"/>
            <a:ext cx="3964524" cy="803948"/>
          </a:xfrm>
          <a:prstGeom prst="wedgeRectCallout">
            <a:avLst>
              <a:gd name="adj1" fmla="val -190"/>
              <a:gd name="adj2" fmla="val -17915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Larger gradients</a:t>
            </a:r>
            <a:endParaRPr lang="zh-TW" altLang="en-US" sz="3600" dirty="0"/>
          </a:p>
        </p:txBody>
      </p:sp>
      <p:sp>
        <p:nvSpPr>
          <p:cNvPr id="131" name="矩形 130"/>
          <p:cNvSpPr/>
          <p:nvPr/>
        </p:nvSpPr>
        <p:spPr>
          <a:xfrm>
            <a:off x="3790145" y="8524625"/>
            <a:ext cx="3964524" cy="8358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Almost random</a:t>
            </a:r>
            <a:endParaRPr lang="zh-TW" altLang="en-US" sz="3600" dirty="0"/>
          </a:p>
        </p:txBody>
      </p:sp>
      <p:sp>
        <p:nvSpPr>
          <p:cNvPr id="132" name="矩形 131"/>
          <p:cNvSpPr/>
          <p:nvPr/>
        </p:nvSpPr>
        <p:spPr>
          <a:xfrm>
            <a:off x="9099557" y="8516429"/>
            <a:ext cx="3953025" cy="8358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Already converge</a:t>
            </a:r>
            <a:endParaRPr lang="zh-TW" altLang="en-US" sz="3600" dirty="0"/>
          </a:p>
        </p:txBody>
      </p:sp>
      <p:sp>
        <p:nvSpPr>
          <p:cNvPr id="134" name="矩形 133"/>
          <p:cNvSpPr/>
          <p:nvPr/>
        </p:nvSpPr>
        <p:spPr>
          <a:xfrm>
            <a:off x="3790145" y="7533236"/>
            <a:ext cx="3964524" cy="8377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Learn very slow</a:t>
            </a:r>
            <a:endParaRPr lang="zh-TW" altLang="en-US" sz="3600" dirty="0"/>
          </a:p>
        </p:txBody>
      </p:sp>
      <p:sp>
        <p:nvSpPr>
          <p:cNvPr id="136" name="矩形 135"/>
          <p:cNvSpPr/>
          <p:nvPr/>
        </p:nvSpPr>
        <p:spPr>
          <a:xfrm>
            <a:off x="9092994" y="7535138"/>
            <a:ext cx="3959588" cy="8358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Learn very fast</a:t>
            </a:r>
            <a:endParaRPr lang="zh-TW" altLang="en-US" sz="3600" dirty="0"/>
          </a:p>
        </p:txBody>
      </p:sp>
      <p:sp>
        <p:nvSpPr>
          <p:cNvPr id="137" name="矩形 136"/>
          <p:cNvSpPr/>
          <p:nvPr/>
        </p:nvSpPr>
        <p:spPr>
          <a:xfrm>
            <a:off x="6630459" y="228290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8" name="矩形 137"/>
          <p:cNvSpPr/>
          <p:nvPr/>
        </p:nvSpPr>
        <p:spPr>
          <a:xfrm>
            <a:off x="8618838" y="225838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9" name="矩形 138"/>
          <p:cNvSpPr/>
          <p:nvPr/>
        </p:nvSpPr>
        <p:spPr>
          <a:xfrm>
            <a:off x="11668844" y="2299094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1" name="矩形 140"/>
          <p:cNvSpPr/>
          <p:nvPr/>
        </p:nvSpPr>
        <p:spPr>
          <a:xfrm>
            <a:off x="4855805" y="2324363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42" name="直線單箭頭接點 141"/>
          <p:cNvCxnSpPr/>
          <p:nvPr/>
        </p:nvCxnSpPr>
        <p:spPr>
          <a:xfrm>
            <a:off x="12249054" y="3871724"/>
            <a:ext cx="10519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/>
          <p:cNvCxnSpPr/>
          <p:nvPr/>
        </p:nvCxnSpPr>
        <p:spPr>
          <a:xfrm>
            <a:off x="12413028" y="5740559"/>
            <a:ext cx="8879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>
            <a:off x="12213228" y="2703519"/>
            <a:ext cx="10877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4958387" y="3400902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6" name="矩形 145"/>
          <p:cNvSpPr/>
          <p:nvPr/>
        </p:nvSpPr>
        <p:spPr>
          <a:xfrm>
            <a:off x="4967114" y="2545409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47" name="Object 12"/>
          <p:cNvGraphicFramePr>
            <a:graphicFrameLocks noChangeAspect="1"/>
          </p:cNvGraphicFramePr>
          <p:nvPr/>
        </p:nvGraphicFramePr>
        <p:xfrm>
          <a:off x="4986162" y="2402534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657600" imgH="5181600" progId="Equation.3">
                  <p:embed/>
                </p:oleObj>
              </mc:Choice>
              <mc:Fallback>
                <p:oleObj name="方程式" r:id="rId3" imgW="3657600" imgH="5181600" progId="Equation.3">
                  <p:embed/>
                  <p:pic>
                    <p:nvPicPr>
                      <p:cNvPr id="14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162" y="2402534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2"/>
          <p:cNvGraphicFramePr>
            <a:graphicFrameLocks noChangeAspect="1"/>
          </p:cNvGraphicFramePr>
          <p:nvPr/>
        </p:nvGraphicFramePr>
        <p:xfrm>
          <a:off x="4994106" y="3276627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5181600" progId="Equation.3">
                  <p:embed/>
                </p:oleObj>
              </mc:Choice>
              <mc:Fallback>
                <p:oleObj name="方程式" r:id="rId5" imgW="3962400" imgH="5181600" progId="Equation.3">
                  <p:embed/>
                  <p:pic>
                    <p:nvPicPr>
                      <p:cNvPr id="1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106" y="3276627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橢圓 148"/>
          <p:cNvSpPr/>
          <p:nvPr/>
        </p:nvSpPr>
        <p:spPr>
          <a:xfrm>
            <a:off x="6776124" y="229940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0" name="橢圓 149"/>
          <p:cNvSpPr/>
          <p:nvPr/>
        </p:nvSpPr>
        <p:spPr>
          <a:xfrm>
            <a:off x="6779637" y="3467259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1" name="橢圓 150"/>
          <p:cNvSpPr/>
          <p:nvPr/>
        </p:nvSpPr>
        <p:spPr>
          <a:xfrm>
            <a:off x="6762188" y="5309277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2" name="文字方塊 151"/>
          <p:cNvSpPr txBox="1"/>
          <p:nvPr/>
        </p:nvSpPr>
        <p:spPr>
          <a:xfrm rot="5400000">
            <a:off x="6758067" y="4442717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53" name="矩形 152"/>
          <p:cNvSpPr/>
          <p:nvPr/>
        </p:nvSpPr>
        <p:spPr>
          <a:xfrm>
            <a:off x="4972674" y="5497538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54" name="Object 12"/>
          <p:cNvGraphicFramePr>
            <a:graphicFrameLocks noChangeAspect="1"/>
          </p:cNvGraphicFramePr>
          <p:nvPr/>
        </p:nvGraphicFramePr>
        <p:xfrm>
          <a:off x="4968000" y="5353157"/>
          <a:ext cx="61198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572000" imgH="5486400" progId="Equation.3">
                  <p:embed/>
                </p:oleObj>
              </mc:Choice>
              <mc:Fallback>
                <p:oleObj name="方程式" r:id="rId7" imgW="4572000" imgH="5486400" progId="Equation.3">
                  <p:embed/>
                  <p:pic>
                    <p:nvPicPr>
                      <p:cNvPr id="15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000" y="5353157"/>
                        <a:ext cx="61198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文字方塊 154"/>
          <p:cNvSpPr txBox="1"/>
          <p:nvPr/>
        </p:nvSpPr>
        <p:spPr>
          <a:xfrm rot="5400000">
            <a:off x="4786572" y="4424951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56" name="橢圓 155"/>
          <p:cNvSpPr/>
          <p:nvPr/>
        </p:nvSpPr>
        <p:spPr>
          <a:xfrm>
            <a:off x="8749467" y="229940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7" name="橢圓 156"/>
          <p:cNvSpPr/>
          <p:nvPr/>
        </p:nvSpPr>
        <p:spPr>
          <a:xfrm>
            <a:off x="8752980" y="3467259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8" name="橢圓 157"/>
          <p:cNvSpPr/>
          <p:nvPr/>
        </p:nvSpPr>
        <p:spPr>
          <a:xfrm>
            <a:off x="8735531" y="530927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9" name="文字方塊 158"/>
          <p:cNvSpPr txBox="1"/>
          <p:nvPr/>
        </p:nvSpPr>
        <p:spPr>
          <a:xfrm rot="5400000">
            <a:off x="8731410" y="4442717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60" name="橢圓 159"/>
          <p:cNvSpPr/>
          <p:nvPr/>
        </p:nvSpPr>
        <p:spPr>
          <a:xfrm>
            <a:off x="11782610" y="228693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1" name="橢圓 160"/>
          <p:cNvSpPr/>
          <p:nvPr/>
        </p:nvSpPr>
        <p:spPr>
          <a:xfrm>
            <a:off x="11786123" y="3426798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2" name="橢圓 161"/>
          <p:cNvSpPr/>
          <p:nvPr/>
        </p:nvSpPr>
        <p:spPr>
          <a:xfrm>
            <a:off x="11796665" y="5296808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3" name="文字方塊 162"/>
          <p:cNvSpPr txBox="1"/>
          <p:nvPr/>
        </p:nvSpPr>
        <p:spPr>
          <a:xfrm rot="5400000">
            <a:off x="11792544" y="4425503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64" name="文字方塊 163"/>
          <p:cNvSpPr txBox="1"/>
          <p:nvPr/>
        </p:nvSpPr>
        <p:spPr>
          <a:xfrm>
            <a:off x="9607535" y="2211528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65" name="文字方塊 164"/>
          <p:cNvSpPr txBox="1"/>
          <p:nvPr/>
        </p:nvSpPr>
        <p:spPr>
          <a:xfrm>
            <a:off x="9633969" y="3389777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66" name="文字方塊 165"/>
          <p:cNvSpPr txBox="1"/>
          <p:nvPr/>
        </p:nvSpPr>
        <p:spPr>
          <a:xfrm>
            <a:off x="9652239" y="5274215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cxnSp>
        <p:nvCxnSpPr>
          <p:cNvPr id="167" name="直線單箭頭接點 166"/>
          <p:cNvCxnSpPr>
            <a:stCxn id="149" idx="6"/>
            <a:endCxn id="156" idx="2"/>
          </p:cNvCxnSpPr>
          <p:nvPr/>
        </p:nvCxnSpPr>
        <p:spPr>
          <a:xfrm>
            <a:off x="7637361" y="2730023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/>
          <p:cNvCxnSpPr/>
          <p:nvPr/>
        </p:nvCxnSpPr>
        <p:spPr>
          <a:xfrm>
            <a:off x="7637361" y="3917651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/>
          <p:nvPr/>
        </p:nvCxnSpPr>
        <p:spPr>
          <a:xfrm>
            <a:off x="7623425" y="5750604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單箭頭接點 169"/>
          <p:cNvCxnSpPr>
            <a:stCxn id="150" idx="6"/>
            <a:endCxn id="156" idx="2"/>
          </p:cNvCxnSpPr>
          <p:nvPr/>
        </p:nvCxnSpPr>
        <p:spPr>
          <a:xfrm flipV="1">
            <a:off x="7640874" y="2730023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單箭頭接點 170"/>
          <p:cNvCxnSpPr>
            <a:stCxn id="149" idx="6"/>
            <a:endCxn id="157" idx="2"/>
          </p:cNvCxnSpPr>
          <p:nvPr/>
        </p:nvCxnSpPr>
        <p:spPr>
          <a:xfrm>
            <a:off x="7637361" y="2730023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單箭頭接點 171"/>
          <p:cNvCxnSpPr>
            <a:stCxn id="149" idx="6"/>
            <a:endCxn id="158" idx="2"/>
          </p:cNvCxnSpPr>
          <p:nvPr/>
        </p:nvCxnSpPr>
        <p:spPr>
          <a:xfrm>
            <a:off x="7637361" y="2730023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單箭頭接點 172"/>
          <p:cNvCxnSpPr>
            <a:stCxn id="150" idx="6"/>
            <a:endCxn id="158" idx="2"/>
          </p:cNvCxnSpPr>
          <p:nvPr/>
        </p:nvCxnSpPr>
        <p:spPr>
          <a:xfrm>
            <a:off x="7640874" y="3897878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單箭頭接點 173"/>
          <p:cNvCxnSpPr>
            <a:stCxn id="151" idx="6"/>
            <a:endCxn id="156" idx="2"/>
          </p:cNvCxnSpPr>
          <p:nvPr/>
        </p:nvCxnSpPr>
        <p:spPr>
          <a:xfrm flipV="1">
            <a:off x="7623425" y="2730023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單箭頭接點 174"/>
          <p:cNvCxnSpPr>
            <a:stCxn id="151" idx="6"/>
            <a:endCxn id="157" idx="2"/>
          </p:cNvCxnSpPr>
          <p:nvPr/>
        </p:nvCxnSpPr>
        <p:spPr>
          <a:xfrm flipV="1">
            <a:off x="7623425" y="3897878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/>
          <p:cNvCxnSpPr>
            <a:endCxn id="149" idx="2"/>
          </p:cNvCxnSpPr>
          <p:nvPr/>
        </p:nvCxnSpPr>
        <p:spPr>
          <a:xfrm flipV="1">
            <a:off x="5487024" y="2730023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>
            <a:stCxn id="146" idx="3"/>
            <a:endCxn id="150" idx="2"/>
          </p:cNvCxnSpPr>
          <p:nvPr/>
        </p:nvCxnSpPr>
        <p:spPr>
          <a:xfrm>
            <a:off x="5481464" y="2802584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單箭頭接點 177"/>
          <p:cNvCxnSpPr>
            <a:stCxn id="146" idx="3"/>
            <a:endCxn id="151" idx="2"/>
          </p:cNvCxnSpPr>
          <p:nvPr/>
        </p:nvCxnSpPr>
        <p:spPr>
          <a:xfrm>
            <a:off x="5481464" y="2802584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單箭頭接點 178"/>
          <p:cNvCxnSpPr>
            <a:stCxn id="148" idx="3"/>
            <a:endCxn id="149" idx="2"/>
          </p:cNvCxnSpPr>
          <p:nvPr/>
        </p:nvCxnSpPr>
        <p:spPr>
          <a:xfrm flipV="1">
            <a:off x="5522744" y="2730023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單箭頭接點 179"/>
          <p:cNvCxnSpPr>
            <a:stCxn id="145" idx="3"/>
            <a:endCxn id="150" idx="2"/>
          </p:cNvCxnSpPr>
          <p:nvPr/>
        </p:nvCxnSpPr>
        <p:spPr>
          <a:xfrm>
            <a:off x="5472737" y="3658077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單箭頭接點 180"/>
          <p:cNvCxnSpPr>
            <a:stCxn id="145" idx="3"/>
            <a:endCxn id="151" idx="2"/>
          </p:cNvCxnSpPr>
          <p:nvPr/>
        </p:nvCxnSpPr>
        <p:spPr>
          <a:xfrm>
            <a:off x="5472737" y="3658077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單箭頭接點 181"/>
          <p:cNvCxnSpPr>
            <a:stCxn id="154" idx="3"/>
            <a:endCxn id="149" idx="2"/>
          </p:cNvCxnSpPr>
          <p:nvPr/>
        </p:nvCxnSpPr>
        <p:spPr>
          <a:xfrm flipV="1">
            <a:off x="5579982" y="2730023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>
            <a:stCxn id="154" idx="3"/>
            <a:endCxn id="150" idx="2"/>
          </p:cNvCxnSpPr>
          <p:nvPr/>
        </p:nvCxnSpPr>
        <p:spPr>
          <a:xfrm flipV="1">
            <a:off x="5540429" y="3897878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>
            <a:stCxn id="154" idx="3"/>
            <a:endCxn id="151" idx="2"/>
          </p:cNvCxnSpPr>
          <p:nvPr/>
        </p:nvCxnSpPr>
        <p:spPr>
          <a:xfrm>
            <a:off x="5540429" y="5719787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13077560" y="2233853"/>
            <a:ext cx="1383664" cy="3833913"/>
            <a:chOff x="7534121" y="1462486"/>
            <a:chExt cx="922443" cy="2555942"/>
          </a:xfrm>
        </p:grpSpPr>
        <p:sp>
          <p:nvSpPr>
            <p:cNvPr id="185" name="文字方塊 184"/>
            <p:cNvSpPr txBox="1"/>
            <p:nvPr/>
          </p:nvSpPr>
          <p:spPr>
            <a:xfrm rot="5400000">
              <a:off x="7610714" y="2981307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p:sp>
          <p:nvSpPr>
            <p:cNvPr id="186" name="文字方塊 185"/>
            <p:cNvSpPr txBox="1"/>
            <p:nvPr/>
          </p:nvSpPr>
          <p:spPr>
            <a:xfrm>
              <a:off x="7679807" y="1462486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1</a:t>
              </a:r>
              <a:endParaRPr lang="zh-TW" altLang="en-US" sz="4200" baseline="-25000" dirty="0"/>
            </a:p>
          </p:txBody>
        </p:sp>
        <p:sp>
          <p:nvSpPr>
            <p:cNvPr id="187" name="文字方塊 186"/>
            <p:cNvSpPr txBox="1"/>
            <p:nvPr/>
          </p:nvSpPr>
          <p:spPr>
            <a:xfrm>
              <a:off x="7668524" y="2260706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2</a:t>
              </a:r>
              <a:endParaRPr lang="zh-TW" altLang="en-US" sz="4200" baseline="-25000" dirty="0"/>
            </a:p>
          </p:txBody>
        </p:sp>
        <p:sp>
          <p:nvSpPr>
            <p:cNvPr id="188" name="文字方塊 187"/>
            <p:cNvSpPr txBox="1"/>
            <p:nvPr/>
          </p:nvSpPr>
          <p:spPr>
            <a:xfrm>
              <a:off x="7668524" y="3526938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 err="1"/>
                <a:t>y</a:t>
              </a:r>
              <a:r>
                <a:rPr lang="en-US" altLang="zh-TW" sz="4200" baseline="-25000" dirty="0" err="1"/>
                <a:t>M</a:t>
              </a:r>
              <a:endParaRPr lang="zh-TW" altLang="en-US" sz="4200" baseline="-25000" dirty="0"/>
            </a:p>
          </p:txBody>
        </p:sp>
      </p:grpSp>
      <p:cxnSp>
        <p:nvCxnSpPr>
          <p:cNvPr id="189" name="直線單箭頭接點 188"/>
          <p:cNvCxnSpPr/>
          <p:nvPr/>
        </p:nvCxnSpPr>
        <p:spPr>
          <a:xfrm>
            <a:off x="10673510" y="2747397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單箭頭接點 189"/>
          <p:cNvCxnSpPr/>
          <p:nvPr/>
        </p:nvCxnSpPr>
        <p:spPr>
          <a:xfrm>
            <a:off x="10673510" y="3935025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單箭頭接點 190"/>
          <p:cNvCxnSpPr/>
          <p:nvPr/>
        </p:nvCxnSpPr>
        <p:spPr>
          <a:xfrm>
            <a:off x="10659573" y="5767979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/>
          <p:cNvCxnSpPr/>
          <p:nvPr/>
        </p:nvCxnSpPr>
        <p:spPr>
          <a:xfrm flipV="1">
            <a:off x="10677023" y="2747397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單箭頭接點 192"/>
          <p:cNvCxnSpPr/>
          <p:nvPr/>
        </p:nvCxnSpPr>
        <p:spPr>
          <a:xfrm>
            <a:off x="10673510" y="2747397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單箭頭接點 193"/>
          <p:cNvCxnSpPr/>
          <p:nvPr/>
        </p:nvCxnSpPr>
        <p:spPr>
          <a:xfrm>
            <a:off x="10673510" y="2747397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單箭頭接點 194"/>
          <p:cNvCxnSpPr/>
          <p:nvPr/>
        </p:nvCxnSpPr>
        <p:spPr>
          <a:xfrm>
            <a:off x="10677023" y="3915252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單箭頭接點 195"/>
          <p:cNvCxnSpPr/>
          <p:nvPr/>
        </p:nvCxnSpPr>
        <p:spPr>
          <a:xfrm flipV="1">
            <a:off x="10659573" y="2747397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/>
          <p:nvPr/>
        </p:nvCxnSpPr>
        <p:spPr>
          <a:xfrm flipV="1">
            <a:off x="10659573" y="3915252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圖說文字 127"/>
          <p:cNvSpPr/>
          <p:nvPr/>
        </p:nvSpPr>
        <p:spPr>
          <a:xfrm>
            <a:off x="3790145" y="6491334"/>
            <a:ext cx="3964524" cy="847271"/>
          </a:xfrm>
          <a:prstGeom prst="wedgeRectCallout">
            <a:avLst>
              <a:gd name="adj1" fmla="val 4384"/>
              <a:gd name="adj2" fmla="val -20950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Smaller gradients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bldLvl="0" animBg="1"/>
      <p:bldP spid="132" grpId="0" bldLvl="0" animBg="1"/>
      <p:bldP spid="134" grpId="0" bldLvl="0" animBg="1"/>
      <p:bldP spid="13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4225769" y="2814720"/>
            <a:ext cx="865716" cy="4101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9" name="矩形 128"/>
          <p:cNvSpPr/>
          <p:nvPr/>
        </p:nvSpPr>
        <p:spPr>
          <a:xfrm>
            <a:off x="11750147" y="2865675"/>
            <a:ext cx="865716" cy="4101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Vanishing Gradient Problem</a:t>
            </a:r>
            <a:endParaRPr lang="zh-TW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5003630" y="2937048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2" name="矩形 61"/>
          <p:cNvSpPr/>
          <p:nvPr/>
        </p:nvSpPr>
        <p:spPr>
          <a:xfrm>
            <a:off x="6992009" y="2912528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0042014" y="295324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3228975" y="2978510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5" name="直線單箭頭接點 64"/>
          <p:cNvCxnSpPr/>
          <p:nvPr/>
        </p:nvCxnSpPr>
        <p:spPr>
          <a:xfrm>
            <a:off x="10622225" y="4525871"/>
            <a:ext cx="10519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10786199" y="6394706"/>
            <a:ext cx="8879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10586399" y="3357666"/>
            <a:ext cx="10877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3331557" y="4055049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矩形 68"/>
          <p:cNvSpPr/>
          <p:nvPr/>
        </p:nvSpPr>
        <p:spPr>
          <a:xfrm>
            <a:off x="3340284" y="3199556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70" name="Object 12"/>
          <p:cNvGraphicFramePr>
            <a:graphicFrameLocks noChangeAspect="1"/>
          </p:cNvGraphicFramePr>
          <p:nvPr/>
        </p:nvGraphicFramePr>
        <p:xfrm>
          <a:off x="3359333" y="3056681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657600" imgH="5181600" progId="Equation.3">
                  <p:embed/>
                </p:oleObj>
              </mc:Choice>
              <mc:Fallback>
                <p:oleObj name="方程式" r:id="rId3" imgW="3657600" imgH="5181600" progId="Equation.3">
                  <p:embed/>
                  <p:pic>
                    <p:nvPicPr>
                      <p:cNvPr id="7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333" y="3056681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2"/>
          <p:cNvGraphicFramePr>
            <a:graphicFrameLocks noChangeAspect="1"/>
          </p:cNvGraphicFramePr>
          <p:nvPr/>
        </p:nvGraphicFramePr>
        <p:xfrm>
          <a:off x="3367277" y="3930774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5181600" progId="Equation.3">
                  <p:embed/>
                </p:oleObj>
              </mc:Choice>
              <mc:Fallback>
                <p:oleObj name="方程式" r:id="rId5" imgW="3962400" imgH="5181600" progId="Equation.3">
                  <p:embed/>
                  <p:pic>
                    <p:nvPicPr>
                      <p:cNvPr id="7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277" y="3930774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橢圓 71"/>
          <p:cNvSpPr/>
          <p:nvPr/>
        </p:nvSpPr>
        <p:spPr>
          <a:xfrm>
            <a:off x="5149295" y="2953551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橢圓 72"/>
          <p:cNvSpPr/>
          <p:nvPr/>
        </p:nvSpPr>
        <p:spPr>
          <a:xfrm>
            <a:off x="5152808" y="4121406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橢圓 73"/>
          <p:cNvSpPr/>
          <p:nvPr/>
        </p:nvSpPr>
        <p:spPr>
          <a:xfrm>
            <a:off x="5135358" y="596342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5" name="文字方塊 74"/>
          <p:cNvSpPr txBox="1"/>
          <p:nvPr/>
        </p:nvSpPr>
        <p:spPr>
          <a:xfrm rot="5400000">
            <a:off x="5131238" y="5096864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76" name="矩形 75"/>
          <p:cNvSpPr/>
          <p:nvPr/>
        </p:nvSpPr>
        <p:spPr>
          <a:xfrm>
            <a:off x="3345845" y="615168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77" name="Object 12"/>
          <p:cNvGraphicFramePr>
            <a:graphicFrameLocks noChangeAspect="1"/>
          </p:cNvGraphicFramePr>
          <p:nvPr/>
        </p:nvGraphicFramePr>
        <p:xfrm>
          <a:off x="3341171" y="6007304"/>
          <a:ext cx="61198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572000" imgH="5486400" progId="Equation.3">
                  <p:embed/>
                </p:oleObj>
              </mc:Choice>
              <mc:Fallback>
                <p:oleObj name="方程式" r:id="rId7" imgW="4572000" imgH="5486400" progId="Equation.3">
                  <p:embed/>
                  <p:pic>
                    <p:nvPicPr>
                      <p:cNvPr id="7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171" y="6007304"/>
                        <a:ext cx="61198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文字方塊 77"/>
          <p:cNvSpPr txBox="1"/>
          <p:nvPr/>
        </p:nvSpPr>
        <p:spPr>
          <a:xfrm rot="5400000">
            <a:off x="3159743" y="5079098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79" name="橢圓 78"/>
          <p:cNvSpPr/>
          <p:nvPr/>
        </p:nvSpPr>
        <p:spPr>
          <a:xfrm>
            <a:off x="7122638" y="295355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0" name="橢圓 79"/>
          <p:cNvSpPr/>
          <p:nvPr/>
        </p:nvSpPr>
        <p:spPr>
          <a:xfrm>
            <a:off x="7126151" y="4121406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1" name="橢圓 80"/>
          <p:cNvSpPr/>
          <p:nvPr/>
        </p:nvSpPr>
        <p:spPr>
          <a:xfrm>
            <a:off x="7108701" y="596342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2" name="文字方塊 81"/>
          <p:cNvSpPr txBox="1"/>
          <p:nvPr/>
        </p:nvSpPr>
        <p:spPr>
          <a:xfrm rot="5400000">
            <a:off x="7104581" y="5096864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83" name="橢圓 82"/>
          <p:cNvSpPr/>
          <p:nvPr/>
        </p:nvSpPr>
        <p:spPr>
          <a:xfrm>
            <a:off x="10155780" y="2941082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4" name="橢圓 83"/>
          <p:cNvSpPr/>
          <p:nvPr/>
        </p:nvSpPr>
        <p:spPr>
          <a:xfrm>
            <a:off x="10159293" y="408094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5" name="橢圓 84"/>
          <p:cNvSpPr/>
          <p:nvPr/>
        </p:nvSpPr>
        <p:spPr>
          <a:xfrm>
            <a:off x="10169835" y="595095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6" name="文字方塊 85"/>
          <p:cNvSpPr txBox="1"/>
          <p:nvPr/>
        </p:nvSpPr>
        <p:spPr>
          <a:xfrm rot="5400000">
            <a:off x="10165715" y="5079650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7980705" y="2865675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8007140" y="4043924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8025409" y="5928362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cxnSp>
        <p:nvCxnSpPr>
          <p:cNvPr id="90" name="直線單箭頭接點 89"/>
          <p:cNvCxnSpPr>
            <a:stCxn id="72" idx="6"/>
            <a:endCxn id="79" idx="2"/>
          </p:cNvCxnSpPr>
          <p:nvPr/>
        </p:nvCxnSpPr>
        <p:spPr>
          <a:xfrm>
            <a:off x="6010532" y="3384170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>
            <a:off x="6010532" y="4571798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>
            <a:off x="5996595" y="6404751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73" idx="6"/>
            <a:endCxn id="79" idx="2"/>
          </p:cNvCxnSpPr>
          <p:nvPr/>
        </p:nvCxnSpPr>
        <p:spPr>
          <a:xfrm flipV="1">
            <a:off x="6014045" y="3384170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72" idx="6"/>
            <a:endCxn id="80" idx="2"/>
          </p:cNvCxnSpPr>
          <p:nvPr/>
        </p:nvCxnSpPr>
        <p:spPr>
          <a:xfrm>
            <a:off x="6010532" y="3384170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72" idx="6"/>
            <a:endCxn id="81" idx="2"/>
          </p:cNvCxnSpPr>
          <p:nvPr/>
        </p:nvCxnSpPr>
        <p:spPr>
          <a:xfrm>
            <a:off x="6010532" y="3384170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73" idx="6"/>
            <a:endCxn id="81" idx="2"/>
          </p:cNvCxnSpPr>
          <p:nvPr/>
        </p:nvCxnSpPr>
        <p:spPr>
          <a:xfrm>
            <a:off x="6014045" y="4552025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stCxn id="74" idx="6"/>
            <a:endCxn id="79" idx="2"/>
          </p:cNvCxnSpPr>
          <p:nvPr/>
        </p:nvCxnSpPr>
        <p:spPr>
          <a:xfrm flipV="1">
            <a:off x="5996595" y="3384170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stCxn id="74" idx="6"/>
            <a:endCxn id="80" idx="2"/>
          </p:cNvCxnSpPr>
          <p:nvPr/>
        </p:nvCxnSpPr>
        <p:spPr>
          <a:xfrm flipV="1">
            <a:off x="5996595" y="4552025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endCxn id="72" idx="2"/>
          </p:cNvCxnSpPr>
          <p:nvPr/>
        </p:nvCxnSpPr>
        <p:spPr>
          <a:xfrm flipV="1">
            <a:off x="3860195" y="3384170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>
            <a:stCxn id="69" idx="3"/>
            <a:endCxn id="73" idx="2"/>
          </p:cNvCxnSpPr>
          <p:nvPr/>
        </p:nvCxnSpPr>
        <p:spPr>
          <a:xfrm>
            <a:off x="3854634" y="3456731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>
            <a:stCxn id="69" idx="3"/>
            <a:endCxn id="74" idx="2"/>
          </p:cNvCxnSpPr>
          <p:nvPr/>
        </p:nvCxnSpPr>
        <p:spPr>
          <a:xfrm>
            <a:off x="3854634" y="3456731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>
            <a:stCxn id="71" idx="3"/>
            <a:endCxn id="72" idx="2"/>
          </p:cNvCxnSpPr>
          <p:nvPr/>
        </p:nvCxnSpPr>
        <p:spPr>
          <a:xfrm flipV="1">
            <a:off x="3895914" y="3384170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>
            <a:stCxn id="68" idx="3"/>
            <a:endCxn id="73" idx="2"/>
          </p:cNvCxnSpPr>
          <p:nvPr/>
        </p:nvCxnSpPr>
        <p:spPr>
          <a:xfrm>
            <a:off x="3845907" y="4312224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68" idx="3"/>
            <a:endCxn id="74" idx="2"/>
          </p:cNvCxnSpPr>
          <p:nvPr/>
        </p:nvCxnSpPr>
        <p:spPr>
          <a:xfrm>
            <a:off x="3845907" y="4312224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>
            <a:stCxn id="77" idx="3"/>
            <a:endCxn id="72" idx="2"/>
          </p:cNvCxnSpPr>
          <p:nvPr/>
        </p:nvCxnSpPr>
        <p:spPr>
          <a:xfrm flipV="1">
            <a:off x="3953153" y="3384170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stCxn id="77" idx="3"/>
            <a:endCxn id="73" idx="2"/>
          </p:cNvCxnSpPr>
          <p:nvPr/>
        </p:nvCxnSpPr>
        <p:spPr>
          <a:xfrm flipV="1">
            <a:off x="3913599" y="4552025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>
            <a:stCxn id="77" idx="3"/>
            <a:endCxn id="74" idx="2"/>
          </p:cNvCxnSpPr>
          <p:nvPr/>
        </p:nvCxnSpPr>
        <p:spPr>
          <a:xfrm>
            <a:off x="3913599" y="6373934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群組 107"/>
          <p:cNvGrpSpPr/>
          <p:nvPr/>
        </p:nvGrpSpPr>
        <p:grpSpPr>
          <a:xfrm>
            <a:off x="11450730" y="2888000"/>
            <a:ext cx="1383664" cy="3833913"/>
            <a:chOff x="7534121" y="1462486"/>
            <a:chExt cx="922443" cy="2555942"/>
          </a:xfrm>
        </p:grpSpPr>
        <p:sp>
          <p:nvSpPr>
            <p:cNvPr id="109" name="文字方塊 108"/>
            <p:cNvSpPr txBox="1"/>
            <p:nvPr/>
          </p:nvSpPr>
          <p:spPr>
            <a:xfrm rot="5400000">
              <a:off x="7610714" y="2981307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7679807" y="1462486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807" y="1462486"/>
                  <a:ext cx="631069" cy="49149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/>
                <p:cNvSpPr txBox="1"/>
                <p:nvPr/>
              </p:nvSpPr>
              <p:spPr>
                <a:xfrm>
                  <a:off x="7668524" y="2260706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11" name="文字方塊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2260706"/>
                  <a:ext cx="631069" cy="49149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/>
                <p:cNvSpPr txBox="1"/>
                <p:nvPr/>
              </p:nvSpPr>
              <p:spPr>
                <a:xfrm>
                  <a:off x="7668524" y="3526938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12" name="文字方塊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3526938"/>
                  <a:ext cx="631069" cy="49149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3" name="直線單箭頭接點 112"/>
          <p:cNvCxnSpPr/>
          <p:nvPr/>
        </p:nvCxnSpPr>
        <p:spPr>
          <a:xfrm>
            <a:off x="9046680" y="3401544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9046680" y="4589172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9032744" y="6422126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/>
          <p:cNvCxnSpPr/>
          <p:nvPr/>
        </p:nvCxnSpPr>
        <p:spPr>
          <a:xfrm flipV="1">
            <a:off x="9050193" y="3401544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/>
          <p:cNvCxnSpPr/>
          <p:nvPr/>
        </p:nvCxnSpPr>
        <p:spPr>
          <a:xfrm>
            <a:off x="9046680" y="3401544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>
            <a:off x="9046680" y="3401544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9050193" y="4569399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 flipV="1">
            <a:off x="9032744" y="3401544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V="1">
            <a:off x="9032744" y="4569399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群組 123"/>
          <p:cNvGrpSpPr/>
          <p:nvPr/>
        </p:nvGrpSpPr>
        <p:grpSpPr>
          <a:xfrm>
            <a:off x="14007237" y="2937048"/>
            <a:ext cx="1383664" cy="3833913"/>
            <a:chOff x="7534121" y="1462486"/>
            <a:chExt cx="922443" cy="2555942"/>
          </a:xfrm>
        </p:grpSpPr>
        <p:sp>
          <p:nvSpPr>
            <p:cNvPr id="125" name="文字方塊 124"/>
            <p:cNvSpPr txBox="1"/>
            <p:nvPr/>
          </p:nvSpPr>
          <p:spPr>
            <a:xfrm rot="5400000">
              <a:off x="7610714" y="2981307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25"/>
                <p:cNvSpPr txBox="1"/>
                <p:nvPr/>
              </p:nvSpPr>
              <p:spPr>
                <a:xfrm>
                  <a:off x="7679807" y="1462486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26" name="文字方塊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807" y="1462486"/>
                  <a:ext cx="631069" cy="491490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字方塊 126"/>
                <p:cNvSpPr txBox="1"/>
                <p:nvPr/>
              </p:nvSpPr>
              <p:spPr>
                <a:xfrm>
                  <a:off x="7668524" y="2260706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27" name="文字方塊 1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2260706"/>
                  <a:ext cx="631069" cy="49149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7668524" y="3526938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3526938"/>
                  <a:ext cx="631069" cy="49149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1" name="左-右雙向箭號 130"/>
          <p:cNvSpPr/>
          <p:nvPr/>
        </p:nvSpPr>
        <p:spPr>
          <a:xfrm>
            <a:off x="12771434" y="4459602"/>
            <a:ext cx="1395105" cy="669479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13073750" y="5116730"/>
                <a:ext cx="434340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750" y="5116730"/>
                <a:ext cx="434340" cy="645160"/>
              </a:xfrm>
              <a:prstGeom prst="rect">
                <a:avLst/>
              </a:prstGeom>
              <a:blipFill rotWithShape="1">
                <a:blip r:embed="rId15"/>
                <a:stretch>
                  <a:fillRect l="-85" t="-83" r="85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文字方塊 132"/>
          <p:cNvSpPr txBox="1"/>
          <p:nvPr/>
        </p:nvSpPr>
        <p:spPr>
          <a:xfrm>
            <a:off x="3721449" y="8122394"/>
            <a:ext cx="88774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Intuitive way to compute the derivatives …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/>
              <p:cNvSpPr txBox="1"/>
              <p:nvPr/>
            </p:nvSpPr>
            <p:spPr>
              <a:xfrm>
                <a:off x="11742618" y="8814891"/>
                <a:ext cx="1381760" cy="1043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5" name="文字方塊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618" y="8814891"/>
                <a:ext cx="1381760" cy="1043940"/>
              </a:xfrm>
              <a:prstGeom prst="rect">
                <a:avLst/>
              </a:prstGeom>
              <a:blipFill rotWithShape="1">
                <a:blip r:embed="rId16"/>
                <a:stretch>
                  <a:fillRect l="-14" t="-44" r="-7293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/>
              <p:cNvSpPr txBox="1"/>
              <p:nvPr/>
            </p:nvSpPr>
            <p:spPr>
              <a:xfrm>
                <a:off x="3830003" y="7029021"/>
                <a:ext cx="1243965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8" name="文字方塊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003" y="7029021"/>
                <a:ext cx="1243965" cy="645160"/>
              </a:xfrm>
              <a:prstGeom prst="rect">
                <a:avLst/>
              </a:prstGeom>
              <a:blipFill rotWithShape="1">
                <a:blip r:embed="rId17"/>
                <a:stretch>
                  <a:fillRect l="-26" t="-32" r="26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/>
              <p:cNvSpPr txBox="1"/>
              <p:nvPr/>
            </p:nvSpPr>
            <p:spPr>
              <a:xfrm>
                <a:off x="12829776" y="5719973"/>
                <a:ext cx="1050290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9" name="文字方塊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9776" y="5719973"/>
                <a:ext cx="1050290" cy="645160"/>
              </a:xfrm>
              <a:prstGeom prst="rect">
                <a:avLst/>
              </a:prstGeom>
              <a:blipFill rotWithShape="1">
                <a:blip r:embed="rId18"/>
                <a:stretch>
                  <a:fillRect l="-22" t="-82" r="22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/>
              <p:cNvSpPr txBox="1"/>
              <p:nvPr/>
            </p:nvSpPr>
            <p:spPr>
              <a:xfrm>
                <a:off x="13264089" y="8814891"/>
                <a:ext cx="671195" cy="1042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1" name="文字方塊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4089" y="8814891"/>
                <a:ext cx="671195" cy="1042670"/>
              </a:xfrm>
              <a:prstGeom prst="rect">
                <a:avLst/>
              </a:prstGeom>
              <a:blipFill rotWithShape="1">
                <a:blip r:embed="rId19"/>
                <a:stretch>
                  <a:fillRect l="-31" t="-44" r="-10565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左-右雙向箭號 3"/>
          <p:cNvSpPr/>
          <p:nvPr/>
        </p:nvSpPr>
        <p:spPr>
          <a:xfrm rot="5400000">
            <a:off x="3766671" y="6038043"/>
            <a:ext cx="1447922" cy="767141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6" name="左-右雙向箭號 135"/>
          <p:cNvSpPr/>
          <p:nvPr/>
        </p:nvSpPr>
        <p:spPr>
          <a:xfrm rot="5400000">
            <a:off x="5776314" y="6123698"/>
            <a:ext cx="990371" cy="594417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0" name="左-右雙向箭號 139"/>
          <p:cNvSpPr/>
          <p:nvPr/>
        </p:nvSpPr>
        <p:spPr>
          <a:xfrm rot="5400000">
            <a:off x="7763052" y="6146205"/>
            <a:ext cx="723909" cy="400857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2" name="左-右雙向箭號 141"/>
          <p:cNvSpPr>
            <a:spLocks noChangeAspect="1"/>
          </p:cNvSpPr>
          <p:nvPr/>
        </p:nvSpPr>
        <p:spPr>
          <a:xfrm rot="5400000">
            <a:off x="13297188" y="4683963"/>
            <a:ext cx="403155" cy="274641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3" name="手繪多邊形 142"/>
          <p:cNvSpPr/>
          <p:nvPr/>
        </p:nvSpPr>
        <p:spPr>
          <a:xfrm>
            <a:off x="5185590" y="6205476"/>
            <a:ext cx="728663" cy="413925"/>
          </a:xfrm>
          <a:custGeom>
            <a:avLst/>
            <a:gdLst>
              <a:gd name="connsiteX0" fmla="*/ 0 w 485775"/>
              <a:gd name="connsiteY0" fmla="*/ 253953 h 275950"/>
              <a:gd name="connsiteX1" fmla="*/ 190500 w 485775"/>
              <a:gd name="connsiteY1" fmla="*/ 253953 h 275950"/>
              <a:gd name="connsiteX2" fmla="*/ 352425 w 485775"/>
              <a:gd name="connsiteY2" fmla="*/ 25353 h 275950"/>
              <a:gd name="connsiteX3" fmla="*/ 485775 w 485775"/>
              <a:gd name="connsiteY3" fmla="*/ 15828 h 27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775" h="275950">
                <a:moveTo>
                  <a:pt x="0" y="253953"/>
                </a:moveTo>
                <a:cubicBezTo>
                  <a:pt x="65881" y="273003"/>
                  <a:pt x="131762" y="292053"/>
                  <a:pt x="190500" y="253953"/>
                </a:cubicBezTo>
                <a:cubicBezTo>
                  <a:pt x="249238" y="215853"/>
                  <a:pt x="303213" y="65040"/>
                  <a:pt x="352425" y="25353"/>
                </a:cubicBezTo>
                <a:cubicBezTo>
                  <a:pt x="401638" y="-14335"/>
                  <a:pt x="443706" y="746"/>
                  <a:pt x="485775" y="15828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4" name="手繪多邊形 143"/>
          <p:cNvSpPr/>
          <p:nvPr/>
        </p:nvSpPr>
        <p:spPr>
          <a:xfrm>
            <a:off x="7186590" y="6257289"/>
            <a:ext cx="728663" cy="413925"/>
          </a:xfrm>
          <a:custGeom>
            <a:avLst/>
            <a:gdLst>
              <a:gd name="connsiteX0" fmla="*/ 0 w 485775"/>
              <a:gd name="connsiteY0" fmla="*/ 253953 h 275950"/>
              <a:gd name="connsiteX1" fmla="*/ 190500 w 485775"/>
              <a:gd name="connsiteY1" fmla="*/ 253953 h 275950"/>
              <a:gd name="connsiteX2" fmla="*/ 352425 w 485775"/>
              <a:gd name="connsiteY2" fmla="*/ 25353 h 275950"/>
              <a:gd name="connsiteX3" fmla="*/ 485775 w 485775"/>
              <a:gd name="connsiteY3" fmla="*/ 15828 h 27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775" h="275950">
                <a:moveTo>
                  <a:pt x="0" y="253953"/>
                </a:moveTo>
                <a:cubicBezTo>
                  <a:pt x="65881" y="273003"/>
                  <a:pt x="131762" y="292053"/>
                  <a:pt x="190500" y="253953"/>
                </a:cubicBezTo>
                <a:cubicBezTo>
                  <a:pt x="249238" y="215853"/>
                  <a:pt x="303213" y="65040"/>
                  <a:pt x="352425" y="25353"/>
                </a:cubicBezTo>
                <a:cubicBezTo>
                  <a:pt x="401638" y="-14335"/>
                  <a:pt x="443706" y="746"/>
                  <a:pt x="485775" y="15828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4" name="矩形圖說文字 153"/>
          <p:cNvSpPr/>
          <p:nvPr/>
        </p:nvSpPr>
        <p:spPr>
          <a:xfrm>
            <a:off x="3144177" y="1962029"/>
            <a:ext cx="3964524" cy="847271"/>
          </a:xfrm>
          <a:prstGeom prst="wedgeRectCallout">
            <a:avLst>
              <a:gd name="adj1" fmla="val -15935"/>
              <a:gd name="adj2" fmla="val 19392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Smaller gradients</a:t>
            </a:r>
            <a:endParaRPr lang="zh-TW" altLang="en-US" sz="3600" dirty="0"/>
          </a:p>
        </p:txBody>
      </p:sp>
      <p:sp>
        <p:nvSpPr>
          <p:cNvPr id="155" name="左-右雙向箭號 154"/>
          <p:cNvSpPr/>
          <p:nvPr/>
        </p:nvSpPr>
        <p:spPr>
          <a:xfrm rot="5400000">
            <a:off x="10971789" y="6137417"/>
            <a:ext cx="602582" cy="361388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46" name="群組 145"/>
          <p:cNvGrpSpPr/>
          <p:nvPr/>
        </p:nvGrpSpPr>
        <p:grpSpPr>
          <a:xfrm>
            <a:off x="8675604" y="2557805"/>
            <a:ext cx="6501720" cy="5115639"/>
            <a:chOff x="3826273" y="2417879"/>
            <a:chExt cx="4334480" cy="3410426"/>
          </a:xfrm>
        </p:grpSpPr>
        <p:pic>
          <p:nvPicPr>
            <p:cNvPr id="147" name="圖片 146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6273" y="2417879"/>
              <a:ext cx="4334480" cy="3410426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cxnSp>
          <p:nvCxnSpPr>
            <p:cNvPr id="148" name="直線接點 147"/>
            <p:cNvCxnSpPr/>
            <p:nvPr/>
          </p:nvCxnSpPr>
          <p:spPr>
            <a:xfrm>
              <a:off x="6696058" y="3528555"/>
              <a:ext cx="0" cy="1513446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/>
            <p:cNvCxnSpPr/>
            <p:nvPr/>
          </p:nvCxnSpPr>
          <p:spPr>
            <a:xfrm>
              <a:off x="7643303" y="3326101"/>
              <a:ext cx="0" cy="1715900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接點 149"/>
            <p:cNvCxnSpPr/>
            <p:nvPr/>
          </p:nvCxnSpPr>
          <p:spPr>
            <a:xfrm flipH="1">
              <a:off x="5917019" y="3287769"/>
              <a:ext cx="1726284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接點 150"/>
            <p:cNvCxnSpPr/>
            <p:nvPr/>
          </p:nvCxnSpPr>
          <p:spPr>
            <a:xfrm flipH="1">
              <a:off x="5917018" y="3528555"/>
              <a:ext cx="772745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文字方塊 151"/>
            <p:cNvSpPr txBox="1"/>
            <p:nvPr/>
          </p:nvSpPr>
          <p:spPr>
            <a:xfrm>
              <a:off x="6598003" y="4959396"/>
              <a:ext cx="1139472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Large input</a:t>
              </a:r>
              <a:endParaRPr lang="zh-TW" altLang="en-US" sz="3600" dirty="0"/>
            </a:p>
          </p:txBody>
        </p:sp>
        <p:sp>
          <p:nvSpPr>
            <p:cNvPr id="153" name="文字方塊 152"/>
            <p:cNvSpPr txBox="1"/>
            <p:nvPr/>
          </p:nvSpPr>
          <p:spPr>
            <a:xfrm>
              <a:off x="4777545" y="2964063"/>
              <a:ext cx="1139472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Small output</a:t>
              </a:r>
              <a:endParaRPr lang="zh-TW" altLang="en-US" sz="3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5" grpId="0"/>
      <p:bldP spid="138" grpId="0"/>
      <p:bldP spid="139" grpId="0"/>
      <p:bldP spid="141" grpId="0"/>
      <p:bldP spid="136" grpId="0" bldLvl="0" animBg="1"/>
      <p:bldP spid="140" grpId="0" bldLvl="0" animBg="1"/>
      <p:bldP spid="142" grpId="0" bldLvl="0" animBg="1"/>
      <p:bldP spid="15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2621493"/>
            <a:ext cx="15667355" cy="17102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ReLU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Rectified Linear Unit (</a:t>
            </a:r>
            <a:r>
              <a:rPr lang="en-US" altLang="zh-TW" dirty="0" err="1"/>
              <a:t>ReLU</a:t>
            </a:r>
            <a:r>
              <a:rPr lang="en-US" altLang="zh-TW" dirty="0"/>
              <a:t>)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9568394" y="3036848"/>
            <a:ext cx="49720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Reason:</a:t>
            </a:r>
            <a:endParaRPr lang="zh-TW" altLang="en-US" sz="4200" b="1" i="1" u="sng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0071030" y="3896830"/>
            <a:ext cx="49720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1. Fast to compute</a:t>
            </a:r>
            <a:endParaRPr lang="zh-TW" altLang="en-US" sz="4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0092241" y="4853728"/>
            <a:ext cx="49720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2. Biological reason</a:t>
            </a:r>
            <a:endParaRPr lang="zh-TW" altLang="en-US" sz="4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0092241" y="5805455"/>
            <a:ext cx="49720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3. Infinite sigmoid with different biases</a:t>
            </a:r>
            <a:endParaRPr lang="zh-TW" altLang="en-US" sz="4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10092241" y="7322954"/>
            <a:ext cx="49720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4. Vanishing gradient problem</a:t>
            </a:r>
            <a:endParaRPr lang="zh-TW" altLang="en-US" sz="4200" dirty="0"/>
          </a:p>
        </p:txBody>
      </p:sp>
      <p:grpSp>
        <p:nvGrpSpPr>
          <p:cNvPr id="20" name="群組 19"/>
          <p:cNvGrpSpPr/>
          <p:nvPr/>
        </p:nvGrpSpPr>
        <p:grpSpPr>
          <a:xfrm>
            <a:off x="4057840" y="4124214"/>
            <a:ext cx="4598162" cy="4214046"/>
            <a:chOff x="1054530" y="3434696"/>
            <a:chExt cx="3065441" cy="2809364"/>
          </a:xfrm>
        </p:grpSpPr>
        <p:grpSp>
          <p:nvGrpSpPr>
            <p:cNvPr id="21" name="群組 20"/>
            <p:cNvGrpSpPr/>
            <p:nvPr/>
          </p:nvGrpSpPr>
          <p:grpSpPr>
            <a:xfrm>
              <a:off x="1448290" y="3434696"/>
              <a:ext cx="2671681" cy="2809364"/>
              <a:chOff x="6200673" y="3815455"/>
              <a:chExt cx="2671681" cy="2809364"/>
            </a:xfrm>
          </p:grpSpPr>
          <p:cxnSp>
            <p:nvCxnSpPr>
              <p:cNvPr id="25" name="直線單箭頭接點 24"/>
              <p:cNvCxnSpPr/>
              <p:nvPr/>
            </p:nvCxnSpPr>
            <p:spPr>
              <a:xfrm>
                <a:off x="6200673" y="5714500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單箭頭接點 25"/>
              <p:cNvCxnSpPr/>
              <p:nvPr/>
            </p:nvCxnSpPr>
            <p:spPr>
              <a:xfrm rot="16200000">
                <a:off x="6200674" y="5387649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字方塊 30"/>
                  <p:cNvSpPr txBox="1"/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1" name="文字方塊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字方塊 31"/>
                  <p:cNvSpPr txBox="1"/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2" name="文字方塊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直線接點 32"/>
              <p:cNvCxnSpPr/>
              <p:nvPr/>
            </p:nvCxnSpPr>
            <p:spPr>
              <a:xfrm>
                <a:off x="6228958" y="5708803"/>
                <a:ext cx="1237168" cy="0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>
              <a:xfrm flipV="1">
                <a:off x="7427944" y="4629511"/>
                <a:ext cx="959230" cy="1079292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字方塊 34"/>
                  <p:cNvSpPr txBox="1"/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5" name="文字方塊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字方塊 35"/>
                  <p:cNvSpPr txBox="1"/>
                  <p:nvPr/>
                </p:nvSpPr>
                <p:spPr>
                  <a:xfrm>
                    <a:off x="6401952" y="5321208"/>
                    <a:ext cx="777240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6" name="文字方塊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1952" y="5321208"/>
                    <a:ext cx="777240" cy="369147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/>
                <p:cNvSpPr txBox="1"/>
                <p:nvPr/>
              </p:nvSpPr>
              <p:spPr>
                <a:xfrm>
                  <a:off x="1054530" y="3588584"/>
                  <a:ext cx="726017" cy="4305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42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zh-TW" altLang="en-US" sz="4200" dirty="0"/>
                </a:p>
              </p:txBody>
            </p:sp>
          </mc:Choice>
          <mc:Fallback xmlns="">
            <p:sp>
              <p:nvSpPr>
                <p:cNvPr id="23" name="文字方塊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530" y="3588584"/>
                  <a:ext cx="726017" cy="43053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矩形 3"/>
          <p:cNvSpPr/>
          <p:nvPr/>
        </p:nvSpPr>
        <p:spPr>
          <a:xfrm>
            <a:off x="4461023" y="8403903"/>
            <a:ext cx="340995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" dirty="0">
                <a:solidFill>
                  <a:srgbClr val="0000FF"/>
                </a:solidFill>
              </a:rPr>
              <a:t>[Xavier </a:t>
            </a:r>
            <a:r>
              <a:rPr lang="en-US" altLang="zh-TW" sz="100" dirty="0" err="1">
                <a:solidFill>
                  <a:srgbClr val="0000FF"/>
                </a:solidFill>
              </a:rPr>
              <a:t>Glorot</a:t>
            </a:r>
            <a:r>
              <a:rPr lang="en-US" altLang="zh-TW" sz="100" dirty="0">
                <a:solidFill>
                  <a:srgbClr val="0000FF"/>
                </a:solidFill>
              </a:rPr>
              <a:t>, AISTATS’11]</a:t>
            </a:r>
            <a:endParaRPr lang="zh-TW" altLang="en-US" sz="100" dirty="0">
              <a:solidFill>
                <a:srgbClr val="0000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71030" y="7321270"/>
            <a:ext cx="4972050" cy="14503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矩形 21"/>
          <p:cNvSpPr/>
          <p:nvPr/>
        </p:nvSpPr>
        <p:spPr>
          <a:xfrm>
            <a:off x="4479885" y="8753369"/>
            <a:ext cx="337185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" dirty="0">
                <a:solidFill>
                  <a:srgbClr val="0000FF"/>
                </a:solidFill>
              </a:rPr>
              <a:t>[Andrew L. Maas, ICML’13]</a:t>
            </a:r>
            <a:endParaRPr lang="zh-TW" altLang="en-US" sz="100" dirty="0">
              <a:solidFill>
                <a:srgbClr val="0000FF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479885" y="9145905"/>
            <a:ext cx="307975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" dirty="0">
                <a:solidFill>
                  <a:srgbClr val="0000FF"/>
                </a:solidFill>
              </a:rPr>
              <a:t>[Kaiming He, arXiv’15]</a:t>
            </a:r>
            <a:endParaRPr lang="zh-TW" altLang="en-US" sz="1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13336200" y="6565146"/>
            <a:ext cx="105199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13300374" y="5396942"/>
            <a:ext cx="108781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群組 66"/>
          <p:cNvGrpSpPr/>
          <p:nvPr/>
        </p:nvGrpSpPr>
        <p:grpSpPr>
          <a:xfrm>
            <a:off x="3723996" y="4828988"/>
            <a:ext cx="514350" cy="692943"/>
            <a:chOff x="1378935" y="1958800"/>
            <a:chExt cx="342900" cy="461962"/>
          </a:xfrm>
        </p:grpSpPr>
        <p:sp>
          <p:nvSpPr>
            <p:cNvPr id="9" name="矩形 8"/>
            <p:cNvSpPr/>
            <p:nvPr/>
          </p:nvSpPr>
          <p:spPr>
            <a:xfrm>
              <a:off x="1378935" y="205405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0" name="Object 12"/>
            <p:cNvGraphicFramePr>
              <a:graphicFrameLocks noChangeAspect="1"/>
            </p:cNvGraphicFramePr>
            <p:nvPr/>
          </p:nvGraphicFramePr>
          <p:xfrm>
            <a:off x="1391634" y="195880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3657600" imgH="5181600" progId="Equation.3">
                    <p:embed/>
                  </p:oleObj>
                </mc:Choice>
                <mc:Fallback>
                  <p:oleObj name="方程式" r:id="rId2" imgW="3657600" imgH="5181600" progId="Equation.3">
                    <p:embed/>
                    <p:pic>
                      <p:nvPicPr>
                        <p:cNvPr id="1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634" y="195880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群組 67"/>
          <p:cNvGrpSpPr/>
          <p:nvPr/>
        </p:nvGrpSpPr>
        <p:grpSpPr>
          <a:xfrm>
            <a:off x="3758321" y="6532010"/>
            <a:ext cx="564357" cy="692945"/>
            <a:chOff x="1373117" y="2541529"/>
            <a:chExt cx="376238" cy="461963"/>
          </a:xfrm>
        </p:grpSpPr>
        <p:sp>
          <p:nvSpPr>
            <p:cNvPr id="8" name="矩形 7"/>
            <p:cNvSpPr/>
            <p:nvPr/>
          </p:nvSpPr>
          <p:spPr>
            <a:xfrm>
              <a:off x="1373117" y="262437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396930" y="254152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962400" imgH="5181600" progId="Equation.3">
                    <p:embed/>
                  </p:oleObj>
                </mc:Choice>
                <mc:Fallback>
                  <p:oleObj name="方程式" r:id="rId4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930" y="254152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>
            <a:off x="6597768" y="3254888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6601281" y="4793066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>
            <a:off x="6613004" y="637958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14528453" y="4974137"/>
          <a:ext cx="528638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3962400" imgH="5181600" progId="Equation.3">
                  <p:embed/>
                </p:oleObj>
              </mc:Choice>
              <mc:Fallback>
                <p:oleObj name="方程式" r:id="rId6" imgW="3962400" imgH="5181600" progId="Equation.3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8453" y="4974137"/>
                        <a:ext cx="528638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/>
          <p:cNvGraphicFramePr>
            <a:graphicFrameLocks noChangeAspect="1"/>
          </p:cNvGraphicFramePr>
          <p:nvPr/>
        </p:nvGraphicFramePr>
        <p:xfrm>
          <a:off x="14487972" y="6148902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4267200" imgH="5181600" progId="Equation.3">
                  <p:embed/>
                </p:oleObj>
              </mc:Choice>
              <mc:Fallback>
                <p:oleObj name="方程式" r:id="rId8" imgW="4267200" imgH="5181600" progId="Equation.3">
                  <p:embed/>
                  <p:pic>
                    <p:nvPicPr>
                      <p:cNvPr id="2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87972" y="6148902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橢圓 21"/>
          <p:cNvSpPr/>
          <p:nvPr/>
        </p:nvSpPr>
        <p:spPr>
          <a:xfrm>
            <a:off x="10209696" y="3254886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橢圓 22"/>
          <p:cNvSpPr/>
          <p:nvPr/>
        </p:nvSpPr>
        <p:spPr>
          <a:xfrm>
            <a:off x="10229277" y="48172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橢圓 23"/>
          <p:cNvSpPr/>
          <p:nvPr/>
        </p:nvSpPr>
        <p:spPr>
          <a:xfrm>
            <a:off x="10268439" y="637958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12869756" y="498035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橢圓 27"/>
          <p:cNvSpPr/>
          <p:nvPr/>
        </p:nvSpPr>
        <p:spPr>
          <a:xfrm>
            <a:off x="12873269" y="6120221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6" name="直線單箭頭接點 35"/>
          <p:cNvCxnSpPr>
            <a:stCxn id="65" idx="6"/>
            <a:endCxn id="24" idx="2"/>
          </p:cNvCxnSpPr>
          <p:nvPr/>
        </p:nvCxnSpPr>
        <p:spPr>
          <a:xfrm flipV="1">
            <a:off x="7459005" y="6810203"/>
            <a:ext cx="2809434" cy="16091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66" idx="2"/>
          </p:cNvCxnSpPr>
          <p:nvPr/>
        </p:nvCxnSpPr>
        <p:spPr>
          <a:xfrm>
            <a:off x="7488177" y="8419368"/>
            <a:ext cx="27802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13" idx="6"/>
            <a:endCxn id="22" idx="2"/>
          </p:cNvCxnSpPr>
          <p:nvPr/>
        </p:nvCxnSpPr>
        <p:spPr>
          <a:xfrm flipV="1">
            <a:off x="7462518" y="3685505"/>
            <a:ext cx="2747178" cy="15381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12" idx="6"/>
            <a:endCxn id="23" idx="2"/>
          </p:cNvCxnSpPr>
          <p:nvPr/>
        </p:nvCxnSpPr>
        <p:spPr>
          <a:xfrm>
            <a:off x="7459005" y="3685506"/>
            <a:ext cx="2770272" cy="15623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2" idx="6"/>
            <a:endCxn id="24" idx="2"/>
          </p:cNvCxnSpPr>
          <p:nvPr/>
        </p:nvCxnSpPr>
        <p:spPr>
          <a:xfrm>
            <a:off x="7459005" y="3685506"/>
            <a:ext cx="2809434" cy="31246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3" idx="6"/>
            <a:endCxn id="24" idx="2"/>
          </p:cNvCxnSpPr>
          <p:nvPr/>
        </p:nvCxnSpPr>
        <p:spPr>
          <a:xfrm>
            <a:off x="7462518" y="5223684"/>
            <a:ext cx="2805921" cy="15865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4" idx="6"/>
            <a:endCxn id="22" idx="2"/>
          </p:cNvCxnSpPr>
          <p:nvPr/>
        </p:nvCxnSpPr>
        <p:spPr>
          <a:xfrm flipV="1">
            <a:off x="7474241" y="3685505"/>
            <a:ext cx="2735456" cy="31246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4" idx="6"/>
            <a:endCxn id="23" idx="2"/>
          </p:cNvCxnSpPr>
          <p:nvPr/>
        </p:nvCxnSpPr>
        <p:spPr>
          <a:xfrm flipV="1">
            <a:off x="7474241" y="5247854"/>
            <a:ext cx="2755037" cy="15623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0" idx="3"/>
            <a:endCxn id="12" idx="2"/>
          </p:cNvCxnSpPr>
          <p:nvPr/>
        </p:nvCxnSpPr>
        <p:spPr>
          <a:xfrm flipV="1">
            <a:off x="4231202" y="3685506"/>
            <a:ext cx="2366567" cy="14899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9" idx="3"/>
            <a:endCxn id="13" idx="2"/>
          </p:cNvCxnSpPr>
          <p:nvPr/>
        </p:nvCxnSpPr>
        <p:spPr>
          <a:xfrm flipV="1">
            <a:off x="4238346" y="5223684"/>
            <a:ext cx="2362935" cy="53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9" idx="3"/>
            <a:endCxn id="65" idx="2"/>
          </p:cNvCxnSpPr>
          <p:nvPr/>
        </p:nvCxnSpPr>
        <p:spPr>
          <a:xfrm>
            <a:off x="4238346" y="5229038"/>
            <a:ext cx="2359422" cy="31903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1" idx="3"/>
            <a:endCxn id="12" idx="2"/>
          </p:cNvCxnSpPr>
          <p:nvPr/>
        </p:nvCxnSpPr>
        <p:spPr>
          <a:xfrm flipV="1">
            <a:off x="4322678" y="3685506"/>
            <a:ext cx="2275091" cy="3192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8" idx="3"/>
            <a:endCxn id="13" idx="2"/>
          </p:cNvCxnSpPr>
          <p:nvPr/>
        </p:nvCxnSpPr>
        <p:spPr>
          <a:xfrm flipV="1">
            <a:off x="4272671" y="5223684"/>
            <a:ext cx="2328611" cy="1689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8" idx="3"/>
            <a:endCxn id="65" idx="2"/>
          </p:cNvCxnSpPr>
          <p:nvPr/>
        </p:nvCxnSpPr>
        <p:spPr>
          <a:xfrm>
            <a:off x="4272671" y="6913460"/>
            <a:ext cx="2325098" cy="1505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22" idx="6"/>
          </p:cNvCxnSpPr>
          <p:nvPr/>
        </p:nvCxnSpPr>
        <p:spPr>
          <a:xfrm>
            <a:off x="11070933" y="3685505"/>
            <a:ext cx="1748883" cy="172399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23" idx="6"/>
          </p:cNvCxnSpPr>
          <p:nvPr/>
        </p:nvCxnSpPr>
        <p:spPr>
          <a:xfrm>
            <a:off x="11090514" y="5247854"/>
            <a:ext cx="1729302" cy="13492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23" idx="6"/>
          </p:cNvCxnSpPr>
          <p:nvPr/>
        </p:nvCxnSpPr>
        <p:spPr>
          <a:xfrm>
            <a:off x="11090514" y="5247854"/>
            <a:ext cx="1729302" cy="161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22" idx="6"/>
          </p:cNvCxnSpPr>
          <p:nvPr/>
        </p:nvCxnSpPr>
        <p:spPr>
          <a:xfrm>
            <a:off x="11070933" y="3685505"/>
            <a:ext cx="1752396" cy="28918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24" idx="6"/>
          </p:cNvCxnSpPr>
          <p:nvPr/>
        </p:nvCxnSpPr>
        <p:spPr>
          <a:xfrm flipV="1">
            <a:off x="11129676" y="5409495"/>
            <a:ext cx="1690140" cy="14007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24" idx="6"/>
          </p:cNvCxnSpPr>
          <p:nvPr/>
        </p:nvCxnSpPr>
        <p:spPr>
          <a:xfrm flipV="1">
            <a:off x="11129676" y="6577350"/>
            <a:ext cx="1693653" cy="2328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6597768" y="798875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6" name="橢圓 65"/>
          <p:cNvSpPr/>
          <p:nvPr/>
        </p:nvSpPr>
        <p:spPr>
          <a:xfrm>
            <a:off x="10268439" y="7988750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01" name="直線單箭頭接點 100"/>
          <p:cNvCxnSpPr>
            <a:stCxn id="8" idx="3"/>
            <a:endCxn id="14" idx="2"/>
          </p:cNvCxnSpPr>
          <p:nvPr/>
        </p:nvCxnSpPr>
        <p:spPr>
          <a:xfrm flipV="1">
            <a:off x="4272671" y="6810203"/>
            <a:ext cx="2340333" cy="1032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9" idx="3"/>
            <a:endCxn id="14" idx="2"/>
          </p:cNvCxnSpPr>
          <p:nvPr/>
        </p:nvCxnSpPr>
        <p:spPr>
          <a:xfrm>
            <a:off x="4238346" y="5229038"/>
            <a:ext cx="2374658" cy="15811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stCxn id="65" idx="6"/>
            <a:endCxn id="23" idx="2"/>
          </p:cNvCxnSpPr>
          <p:nvPr/>
        </p:nvCxnSpPr>
        <p:spPr>
          <a:xfrm flipV="1">
            <a:off x="7459005" y="5247854"/>
            <a:ext cx="2770272" cy="31715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/>
          <p:cNvCxnSpPr>
            <a:stCxn id="65" idx="6"/>
            <a:endCxn id="22" idx="2"/>
          </p:cNvCxnSpPr>
          <p:nvPr/>
        </p:nvCxnSpPr>
        <p:spPr>
          <a:xfrm flipV="1">
            <a:off x="7459005" y="3685505"/>
            <a:ext cx="2750691" cy="473386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>
            <a:endCxn id="66" idx="2"/>
          </p:cNvCxnSpPr>
          <p:nvPr/>
        </p:nvCxnSpPr>
        <p:spPr>
          <a:xfrm>
            <a:off x="7482099" y="6804681"/>
            <a:ext cx="2786340" cy="16146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4" idx="6"/>
            <a:endCxn id="24" idx="2"/>
          </p:cNvCxnSpPr>
          <p:nvPr/>
        </p:nvCxnSpPr>
        <p:spPr>
          <a:xfrm>
            <a:off x="7474241" y="6810203"/>
            <a:ext cx="27941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>
            <a:off x="7459005" y="5247854"/>
            <a:ext cx="27941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>
            <a:off x="7488177" y="3685505"/>
            <a:ext cx="27941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3" idx="6"/>
            <a:endCxn id="66" idx="2"/>
          </p:cNvCxnSpPr>
          <p:nvPr/>
        </p:nvCxnSpPr>
        <p:spPr>
          <a:xfrm>
            <a:off x="7462518" y="5223684"/>
            <a:ext cx="2805921" cy="31956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12" idx="6"/>
            <a:endCxn id="66" idx="2"/>
          </p:cNvCxnSpPr>
          <p:nvPr/>
        </p:nvCxnSpPr>
        <p:spPr>
          <a:xfrm>
            <a:off x="7459005" y="3685506"/>
            <a:ext cx="2809434" cy="47338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>
            <a:stCxn id="66" idx="6"/>
            <a:endCxn id="28" idx="2"/>
          </p:cNvCxnSpPr>
          <p:nvPr/>
        </p:nvCxnSpPr>
        <p:spPr>
          <a:xfrm flipV="1">
            <a:off x="11129676" y="6550839"/>
            <a:ext cx="1743593" cy="18685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>
            <a:stCxn id="66" idx="6"/>
            <a:endCxn id="27" idx="2"/>
          </p:cNvCxnSpPr>
          <p:nvPr/>
        </p:nvCxnSpPr>
        <p:spPr>
          <a:xfrm flipV="1">
            <a:off x="11129676" y="5410976"/>
            <a:ext cx="1740080" cy="30083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>
            <a:off x="6670067" y="3833702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flipV="1">
            <a:off x="7006571" y="3403088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接點 158"/>
          <p:cNvCxnSpPr/>
          <p:nvPr/>
        </p:nvCxnSpPr>
        <p:spPr>
          <a:xfrm>
            <a:off x="6680499" y="5390763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接點 159"/>
          <p:cNvCxnSpPr/>
          <p:nvPr/>
        </p:nvCxnSpPr>
        <p:spPr>
          <a:xfrm flipV="1">
            <a:off x="7017003" y="4960149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接點 160"/>
          <p:cNvCxnSpPr/>
          <p:nvPr/>
        </p:nvCxnSpPr>
        <p:spPr>
          <a:xfrm>
            <a:off x="6670067" y="6995760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接點 161"/>
          <p:cNvCxnSpPr/>
          <p:nvPr/>
        </p:nvCxnSpPr>
        <p:spPr>
          <a:xfrm flipV="1">
            <a:off x="7006571" y="6565146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接點 162"/>
          <p:cNvCxnSpPr/>
          <p:nvPr/>
        </p:nvCxnSpPr>
        <p:spPr>
          <a:xfrm>
            <a:off x="6680499" y="8587854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接點 163"/>
          <p:cNvCxnSpPr/>
          <p:nvPr/>
        </p:nvCxnSpPr>
        <p:spPr>
          <a:xfrm flipV="1">
            <a:off x="7017003" y="8157240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接點 164"/>
          <p:cNvCxnSpPr/>
          <p:nvPr/>
        </p:nvCxnSpPr>
        <p:spPr>
          <a:xfrm>
            <a:off x="10325627" y="8588103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接點 165"/>
          <p:cNvCxnSpPr/>
          <p:nvPr/>
        </p:nvCxnSpPr>
        <p:spPr>
          <a:xfrm flipV="1">
            <a:off x="10662131" y="8157489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接點 166"/>
          <p:cNvCxnSpPr/>
          <p:nvPr/>
        </p:nvCxnSpPr>
        <p:spPr>
          <a:xfrm>
            <a:off x="10358447" y="6962624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接點 167"/>
          <p:cNvCxnSpPr/>
          <p:nvPr/>
        </p:nvCxnSpPr>
        <p:spPr>
          <a:xfrm flipV="1">
            <a:off x="10694951" y="6532010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接點 168"/>
          <p:cNvCxnSpPr/>
          <p:nvPr/>
        </p:nvCxnSpPr>
        <p:spPr>
          <a:xfrm>
            <a:off x="10282371" y="5406402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/>
          <p:nvPr/>
        </p:nvCxnSpPr>
        <p:spPr>
          <a:xfrm flipV="1">
            <a:off x="10618875" y="4975788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接點 170"/>
          <p:cNvCxnSpPr/>
          <p:nvPr/>
        </p:nvCxnSpPr>
        <p:spPr>
          <a:xfrm>
            <a:off x="10292427" y="3801279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接點 171"/>
          <p:cNvCxnSpPr/>
          <p:nvPr/>
        </p:nvCxnSpPr>
        <p:spPr>
          <a:xfrm flipV="1">
            <a:off x="10628931" y="3370665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字方塊 172"/>
          <p:cNvSpPr txBox="1"/>
          <p:nvPr/>
        </p:nvSpPr>
        <p:spPr>
          <a:xfrm>
            <a:off x="7193810" y="6872375"/>
            <a:ext cx="7716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0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174" name="文字方塊 173"/>
          <p:cNvSpPr txBox="1"/>
          <p:nvPr/>
        </p:nvSpPr>
        <p:spPr>
          <a:xfrm>
            <a:off x="7183457" y="8519744"/>
            <a:ext cx="7716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0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10885482" y="2976693"/>
            <a:ext cx="7716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0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10900052" y="6015303"/>
            <a:ext cx="7716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0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grpSp>
        <p:nvGrpSpPr>
          <p:cNvPr id="76" name="群組 75"/>
          <p:cNvGrpSpPr/>
          <p:nvPr/>
        </p:nvGrpSpPr>
        <p:grpSpPr>
          <a:xfrm>
            <a:off x="11698881" y="28770"/>
            <a:ext cx="4007521" cy="4214046"/>
            <a:chOff x="6200673" y="3815455"/>
            <a:chExt cx="2671681" cy="2809364"/>
          </a:xfrm>
        </p:grpSpPr>
        <p:cxnSp>
          <p:nvCxnSpPr>
            <p:cNvPr id="78" name="直線單箭頭接點 77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/>
                <p:cNvSpPr txBox="1"/>
                <p:nvPr/>
              </p:nvSpPr>
              <p:spPr>
                <a:xfrm>
                  <a:off x="8687357" y="5527718"/>
                  <a:ext cx="18499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0" name="文字方塊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7357" y="5527718"/>
                  <a:ext cx="184997" cy="36914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/>
                <p:cNvSpPr txBox="1"/>
                <p:nvPr/>
              </p:nvSpPr>
              <p:spPr>
                <a:xfrm>
                  <a:off x="7313865" y="3815455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1" name="文字方塊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3865" y="3815455"/>
                  <a:ext cx="208703" cy="36914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直線接點 81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/>
                <p:cNvSpPr txBox="1"/>
                <p:nvPr/>
              </p:nvSpPr>
              <p:spPr>
                <a:xfrm>
                  <a:off x="7985942" y="4252893"/>
                  <a:ext cx="75861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4" name="文字方塊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942" y="4252893"/>
                  <a:ext cx="758613" cy="36914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/>
                <p:cNvSpPr txBox="1"/>
                <p:nvPr/>
              </p:nvSpPr>
              <p:spPr>
                <a:xfrm>
                  <a:off x="6401952" y="5321208"/>
                  <a:ext cx="777240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5" name="文字方塊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952" y="5321208"/>
                  <a:ext cx="777240" cy="36914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6" name="直線接點 85"/>
          <p:cNvCxnSpPr/>
          <p:nvPr/>
        </p:nvCxnSpPr>
        <p:spPr>
          <a:xfrm flipH="1">
            <a:off x="6749076" y="3403088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 flipH="1">
            <a:off x="6736662" y="4959848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 flipH="1">
            <a:off x="10360664" y="4971497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H="1">
            <a:off x="10437149" y="8147225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  <p:bldP spid="175" grpId="0"/>
      <p:bldP spid="17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13336200" y="6565146"/>
            <a:ext cx="105199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13300374" y="5396942"/>
            <a:ext cx="108781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群組 66"/>
          <p:cNvGrpSpPr/>
          <p:nvPr/>
        </p:nvGrpSpPr>
        <p:grpSpPr>
          <a:xfrm>
            <a:off x="3723996" y="4828988"/>
            <a:ext cx="514350" cy="692943"/>
            <a:chOff x="1378935" y="1958800"/>
            <a:chExt cx="342900" cy="461962"/>
          </a:xfrm>
        </p:grpSpPr>
        <p:sp>
          <p:nvSpPr>
            <p:cNvPr id="9" name="矩形 8"/>
            <p:cNvSpPr/>
            <p:nvPr/>
          </p:nvSpPr>
          <p:spPr>
            <a:xfrm>
              <a:off x="1378935" y="205405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0" name="Object 12"/>
            <p:cNvGraphicFramePr>
              <a:graphicFrameLocks noChangeAspect="1"/>
            </p:cNvGraphicFramePr>
            <p:nvPr/>
          </p:nvGraphicFramePr>
          <p:xfrm>
            <a:off x="1391634" y="195880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1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634" y="195880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群組 67"/>
          <p:cNvGrpSpPr/>
          <p:nvPr/>
        </p:nvGrpSpPr>
        <p:grpSpPr>
          <a:xfrm>
            <a:off x="3758321" y="6532010"/>
            <a:ext cx="564357" cy="692945"/>
            <a:chOff x="1373117" y="2541529"/>
            <a:chExt cx="376238" cy="461963"/>
          </a:xfrm>
        </p:grpSpPr>
        <p:sp>
          <p:nvSpPr>
            <p:cNvPr id="8" name="矩形 7"/>
            <p:cNvSpPr/>
            <p:nvPr/>
          </p:nvSpPr>
          <p:spPr>
            <a:xfrm>
              <a:off x="1373117" y="262437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396930" y="254152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930" y="254152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>
            <a:off x="6597768" y="3254888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6601281" y="4793066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14528453" y="4974137"/>
          <a:ext cx="528638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962400" imgH="5181600" progId="Equation.3">
                  <p:embed/>
                </p:oleObj>
              </mc:Choice>
              <mc:Fallback>
                <p:oleObj name="方程式" r:id="rId7" imgW="3962400" imgH="5181600" progId="Equation.3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8453" y="4974137"/>
                        <a:ext cx="528638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/>
          <p:cNvGraphicFramePr>
            <a:graphicFrameLocks noChangeAspect="1"/>
          </p:cNvGraphicFramePr>
          <p:nvPr/>
        </p:nvGraphicFramePr>
        <p:xfrm>
          <a:off x="14487972" y="6148902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4267200" imgH="5181600" progId="Equation.3">
                  <p:embed/>
                </p:oleObj>
              </mc:Choice>
              <mc:Fallback>
                <p:oleObj name="方程式" r:id="rId9" imgW="4267200" imgH="5181600" progId="Equation.3">
                  <p:embed/>
                  <p:pic>
                    <p:nvPicPr>
                      <p:cNvPr id="2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87972" y="6148902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橢圓 22"/>
          <p:cNvSpPr/>
          <p:nvPr/>
        </p:nvSpPr>
        <p:spPr>
          <a:xfrm>
            <a:off x="10229277" y="48172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12869756" y="498035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橢圓 27"/>
          <p:cNvSpPr/>
          <p:nvPr/>
        </p:nvSpPr>
        <p:spPr>
          <a:xfrm>
            <a:off x="12873269" y="6120221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9" name="直線單箭頭接點 38"/>
          <p:cNvCxnSpPr>
            <a:stCxn id="12" idx="6"/>
            <a:endCxn id="23" idx="2"/>
          </p:cNvCxnSpPr>
          <p:nvPr/>
        </p:nvCxnSpPr>
        <p:spPr>
          <a:xfrm>
            <a:off x="7459005" y="3685506"/>
            <a:ext cx="2770272" cy="15623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0" idx="3"/>
            <a:endCxn id="12" idx="2"/>
          </p:cNvCxnSpPr>
          <p:nvPr/>
        </p:nvCxnSpPr>
        <p:spPr>
          <a:xfrm flipV="1">
            <a:off x="4231202" y="3685506"/>
            <a:ext cx="2366567" cy="14899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9" idx="3"/>
            <a:endCxn id="13" idx="2"/>
          </p:cNvCxnSpPr>
          <p:nvPr/>
        </p:nvCxnSpPr>
        <p:spPr>
          <a:xfrm flipV="1">
            <a:off x="4238346" y="5223684"/>
            <a:ext cx="2362935" cy="53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1" idx="3"/>
            <a:endCxn id="12" idx="2"/>
          </p:cNvCxnSpPr>
          <p:nvPr/>
        </p:nvCxnSpPr>
        <p:spPr>
          <a:xfrm flipV="1">
            <a:off x="4322678" y="3685506"/>
            <a:ext cx="2275091" cy="3192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8" idx="3"/>
            <a:endCxn id="13" idx="2"/>
          </p:cNvCxnSpPr>
          <p:nvPr/>
        </p:nvCxnSpPr>
        <p:spPr>
          <a:xfrm flipV="1">
            <a:off x="4272671" y="5223684"/>
            <a:ext cx="2328611" cy="1689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23" idx="6"/>
          </p:cNvCxnSpPr>
          <p:nvPr/>
        </p:nvCxnSpPr>
        <p:spPr>
          <a:xfrm>
            <a:off x="11090514" y="5247854"/>
            <a:ext cx="1729302" cy="13492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23" idx="6"/>
          </p:cNvCxnSpPr>
          <p:nvPr/>
        </p:nvCxnSpPr>
        <p:spPr>
          <a:xfrm>
            <a:off x="11090514" y="5247854"/>
            <a:ext cx="1729302" cy="161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10268439" y="7988750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24" name="直線單箭頭接點 123"/>
          <p:cNvCxnSpPr/>
          <p:nvPr/>
        </p:nvCxnSpPr>
        <p:spPr>
          <a:xfrm>
            <a:off x="7459005" y="5247854"/>
            <a:ext cx="27941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3" idx="6"/>
            <a:endCxn id="66" idx="2"/>
          </p:cNvCxnSpPr>
          <p:nvPr/>
        </p:nvCxnSpPr>
        <p:spPr>
          <a:xfrm>
            <a:off x="7462518" y="5223684"/>
            <a:ext cx="2805921" cy="31956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12" idx="6"/>
            <a:endCxn id="66" idx="2"/>
          </p:cNvCxnSpPr>
          <p:nvPr/>
        </p:nvCxnSpPr>
        <p:spPr>
          <a:xfrm>
            <a:off x="7459005" y="3685506"/>
            <a:ext cx="2809434" cy="47338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>
            <a:stCxn id="66" idx="6"/>
            <a:endCxn id="28" idx="2"/>
          </p:cNvCxnSpPr>
          <p:nvPr/>
        </p:nvCxnSpPr>
        <p:spPr>
          <a:xfrm flipV="1">
            <a:off x="11129676" y="6550839"/>
            <a:ext cx="1743593" cy="18685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>
            <a:stCxn id="66" idx="6"/>
            <a:endCxn id="27" idx="2"/>
          </p:cNvCxnSpPr>
          <p:nvPr/>
        </p:nvCxnSpPr>
        <p:spPr>
          <a:xfrm flipV="1">
            <a:off x="11129676" y="5410976"/>
            <a:ext cx="1740080" cy="30083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>
            <a:off x="6670067" y="3833702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flipV="1">
            <a:off x="7006571" y="3403088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接點 158"/>
          <p:cNvCxnSpPr/>
          <p:nvPr/>
        </p:nvCxnSpPr>
        <p:spPr>
          <a:xfrm>
            <a:off x="6680499" y="5390763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接點 159"/>
          <p:cNvCxnSpPr/>
          <p:nvPr/>
        </p:nvCxnSpPr>
        <p:spPr>
          <a:xfrm flipV="1">
            <a:off x="7017003" y="4960149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接點 164"/>
          <p:cNvCxnSpPr/>
          <p:nvPr/>
        </p:nvCxnSpPr>
        <p:spPr>
          <a:xfrm>
            <a:off x="10325627" y="8588103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接點 165"/>
          <p:cNvCxnSpPr/>
          <p:nvPr/>
        </p:nvCxnSpPr>
        <p:spPr>
          <a:xfrm flipV="1">
            <a:off x="10662131" y="8157489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接點 168"/>
          <p:cNvCxnSpPr/>
          <p:nvPr/>
        </p:nvCxnSpPr>
        <p:spPr>
          <a:xfrm>
            <a:off x="10282371" y="5406402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/>
          <p:nvPr/>
        </p:nvCxnSpPr>
        <p:spPr>
          <a:xfrm flipV="1">
            <a:off x="10618875" y="4975788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5"/>
          <p:cNvCxnSpPr/>
          <p:nvPr/>
        </p:nvCxnSpPr>
        <p:spPr>
          <a:xfrm flipH="1">
            <a:off x="6749076" y="3403088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 flipH="1">
            <a:off x="6736662" y="4959848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 flipH="1">
            <a:off x="10360664" y="4971497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H="1">
            <a:off x="10437149" y="8147225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圖說文字 14"/>
          <p:cNvSpPr/>
          <p:nvPr/>
        </p:nvSpPr>
        <p:spPr>
          <a:xfrm>
            <a:off x="4602254" y="7365264"/>
            <a:ext cx="4293645" cy="1524000"/>
          </a:xfrm>
          <a:prstGeom prst="wedgeRectCallout">
            <a:avLst>
              <a:gd name="adj1" fmla="val -27942"/>
              <a:gd name="adj2" fmla="val -1375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Do not have smaller gradients</a:t>
            </a:r>
            <a:endParaRPr lang="zh-TW" altLang="en-US" sz="4200" dirty="0"/>
          </a:p>
        </p:txBody>
      </p:sp>
      <p:grpSp>
        <p:nvGrpSpPr>
          <p:cNvPr id="45" name="群組 44"/>
          <p:cNvGrpSpPr/>
          <p:nvPr/>
        </p:nvGrpSpPr>
        <p:grpSpPr>
          <a:xfrm>
            <a:off x="11698881" y="28770"/>
            <a:ext cx="4007521" cy="4214046"/>
            <a:chOff x="6200673" y="3815455"/>
            <a:chExt cx="2671681" cy="2809364"/>
          </a:xfrm>
        </p:grpSpPr>
        <p:cxnSp>
          <p:nvCxnSpPr>
            <p:cNvPr id="46" name="直線單箭頭接點 45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51"/>
                <p:cNvSpPr txBox="1"/>
                <p:nvPr/>
              </p:nvSpPr>
              <p:spPr>
                <a:xfrm>
                  <a:off x="8687357" y="5527718"/>
                  <a:ext cx="18499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2" name="文字方塊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7357" y="5527718"/>
                  <a:ext cx="184997" cy="36914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/>
                <p:cNvSpPr txBox="1"/>
                <p:nvPr/>
              </p:nvSpPr>
              <p:spPr>
                <a:xfrm>
                  <a:off x="7313865" y="3815455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3" name="文字方塊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3865" y="3815455"/>
                  <a:ext cx="208703" cy="36914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線接點 53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/>
                <p:cNvSpPr txBox="1"/>
                <p:nvPr/>
              </p:nvSpPr>
              <p:spPr>
                <a:xfrm>
                  <a:off x="7985942" y="4252893"/>
                  <a:ext cx="75861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6" name="文字方塊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942" y="4252893"/>
                  <a:ext cx="758613" cy="36914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/>
                <p:cNvSpPr txBox="1"/>
                <p:nvPr/>
              </p:nvSpPr>
              <p:spPr>
                <a:xfrm>
                  <a:off x="6401952" y="5321208"/>
                  <a:ext cx="777240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8" name="文字方塊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952" y="5321208"/>
                  <a:ext cx="777240" cy="369147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字方塊 2"/>
          <p:cNvSpPr txBox="1"/>
          <p:nvPr/>
        </p:nvSpPr>
        <p:spPr>
          <a:xfrm>
            <a:off x="4571888" y="2252606"/>
            <a:ext cx="5791200" cy="1383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A Thinner linear network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r>
              <a:rPr lang="en-US" altLang="zh-TW" dirty="0"/>
              <a:t> - variant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3934738" y="3207195"/>
            <a:ext cx="4541502" cy="4901769"/>
            <a:chOff x="7326642" y="417698"/>
            <a:chExt cx="3027668" cy="3267846"/>
          </a:xfrm>
        </p:grpSpPr>
        <p:grpSp>
          <p:nvGrpSpPr>
            <p:cNvPr id="5" name="群組 4"/>
            <p:cNvGrpSpPr/>
            <p:nvPr/>
          </p:nvGrpSpPr>
          <p:grpSpPr>
            <a:xfrm>
              <a:off x="7326642" y="876180"/>
              <a:ext cx="3027668" cy="2809364"/>
              <a:chOff x="5844686" y="3815455"/>
              <a:chExt cx="3027668" cy="2809364"/>
            </a:xfrm>
          </p:grpSpPr>
          <p:cxnSp>
            <p:nvCxnSpPr>
              <p:cNvPr id="7" name="直線單箭頭接點 6"/>
              <p:cNvCxnSpPr/>
              <p:nvPr/>
            </p:nvCxnSpPr>
            <p:spPr>
              <a:xfrm>
                <a:off x="6200673" y="5714500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單箭頭接點 7"/>
              <p:cNvCxnSpPr/>
              <p:nvPr/>
            </p:nvCxnSpPr>
            <p:spPr>
              <a:xfrm rot="16200000">
                <a:off x="6200674" y="5387649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文字方塊 8"/>
                  <p:cNvSpPr txBox="1"/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9" name="文字方塊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字方塊 9"/>
                  <p:cNvSpPr txBox="1"/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0" name="文字方塊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直線接點 10"/>
              <p:cNvCxnSpPr/>
              <p:nvPr/>
            </p:nvCxnSpPr>
            <p:spPr>
              <a:xfrm flipV="1">
                <a:off x="6200673" y="5708803"/>
                <a:ext cx="1265453" cy="333850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接點 11"/>
              <p:cNvCxnSpPr/>
              <p:nvPr/>
            </p:nvCxnSpPr>
            <p:spPr>
              <a:xfrm flipV="1">
                <a:off x="7427944" y="4629511"/>
                <a:ext cx="959230" cy="1079292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字方塊 12"/>
                  <p:cNvSpPr txBox="1"/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3" name="文字方塊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13"/>
                  <p:cNvSpPr txBox="1"/>
                  <p:nvPr/>
                </p:nvSpPr>
                <p:spPr>
                  <a:xfrm>
                    <a:off x="5844686" y="6082863"/>
                    <a:ext cx="1329267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=0.01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4" name="文字方塊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4686" y="6082863"/>
                    <a:ext cx="1329267" cy="369147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7926576" y="417698"/>
                  <a:ext cx="1930400" cy="4305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20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𝑒𝑎𝑘𝑦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𝑅𝑒𝐿𝑈</m:t>
                        </m:r>
                      </m:oMath>
                    </m:oMathPara>
                  </a14:m>
                  <a:endParaRPr lang="zh-TW" altLang="en-US" sz="4200" dirty="0"/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576" y="417698"/>
                  <a:ext cx="1930400" cy="43053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群組 14"/>
          <p:cNvGrpSpPr/>
          <p:nvPr/>
        </p:nvGrpSpPr>
        <p:grpSpPr>
          <a:xfrm>
            <a:off x="9674654" y="3252453"/>
            <a:ext cx="4484025" cy="4993052"/>
            <a:chOff x="7434636" y="356843"/>
            <a:chExt cx="2989350" cy="3328701"/>
          </a:xfrm>
        </p:grpSpPr>
        <p:grpSp>
          <p:nvGrpSpPr>
            <p:cNvPr id="16" name="群組 15"/>
            <p:cNvGrpSpPr/>
            <p:nvPr/>
          </p:nvGrpSpPr>
          <p:grpSpPr>
            <a:xfrm>
              <a:off x="7434636" y="876180"/>
              <a:ext cx="2919674" cy="2809364"/>
              <a:chOff x="5952680" y="3815455"/>
              <a:chExt cx="2919674" cy="2809364"/>
            </a:xfrm>
          </p:grpSpPr>
          <p:cxnSp>
            <p:nvCxnSpPr>
              <p:cNvPr id="18" name="直線單箭頭接點 17"/>
              <p:cNvCxnSpPr/>
              <p:nvPr/>
            </p:nvCxnSpPr>
            <p:spPr>
              <a:xfrm>
                <a:off x="6200673" y="5714500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/>
              <p:nvPr/>
            </p:nvCxnSpPr>
            <p:spPr>
              <a:xfrm rot="16200000">
                <a:off x="6200674" y="5387649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字方塊 19"/>
                  <p:cNvSpPr txBox="1"/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0" name="文字方塊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字方塊 20"/>
                  <p:cNvSpPr txBox="1"/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1" name="文字方塊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線接點 21"/>
              <p:cNvCxnSpPr/>
              <p:nvPr/>
            </p:nvCxnSpPr>
            <p:spPr>
              <a:xfrm flipV="1">
                <a:off x="6200673" y="5708803"/>
                <a:ext cx="1265453" cy="333850"/>
              </a:xfrm>
              <a:prstGeom prst="line">
                <a:avLst/>
              </a:prstGeom>
              <a:ln w="76200">
                <a:solidFill>
                  <a:srgbClr val="00B050"/>
                </a:solidFill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/>
              <p:cNvCxnSpPr/>
              <p:nvPr/>
            </p:nvCxnSpPr>
            <p:spPr>
              <a:xfrm flipV="1">
                <a:off x="7427944" y="4629511"/>
                <a:ext cx="959230" cy="1079292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/>
                  <p:cNvSpPr txBox="1"/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4" name="文字方塊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/>
                  <p:cNvSpPr txBox="1"/>
                  <p:nvPr/>
                </p:nvSpPr>
                <p:spPr>
                  <a:xfrm>
                    <a:off x="5952680" y="6055863"/>
                    <a:ext cx="942340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3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5" name="文字方塊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2680" y="6055863"/>
                    <a:ext cx="942340" cy="369147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7599083" y="356843"/>
                  <a:ext cx="2824903" cy="4305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2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𝑎𝑟𝑎𝑚𝑒𝑡𝑟𝑖𝑐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𝑅𝑒𝐿𝑈</m:t>
                        </m:r>
                      </m:oMath>
                    </m:oMathPara>
                  </a14:m>
                  <a:endParaRPr lang="zh-TW" altLang="en-US" sz="4200" dirty="0"/>
                </a:p>
              </p:txBody>
            </p:sp>
          </mc:Choice>
          <mc:Fallback xmlns="">
            <p:sp>
              <p:nvSpPr>
                <p:cNvPr id="17" name="文字方塊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9083" y="356843"/>
                  <a:ext cx="2824903" cy="43053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文字方塊 25"/>
          <p:cNvSpPr txBox="1"/>
          <p:nvPr/>
        </p:nvSpPr>
        <p:spPr>
          <a:xfrm>
            <a:off x="9921324" y="8637422"/>
            <a:ext cx="4083498" cy="11988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l-GR" altLang="zh-TW" sz="3600" dirty="0"/>
              <a:t>α</a:t>
            </a:r>
            <a:r>
              <a:rPr lang="en-US" altLang="zh-TW" sz="3600" dirty="0"/>
              <a:t> also learned by gradient descent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 141"/>
          <p:cNvSpPr/>
          <p:nvPr/>
        </p:nvSpPr>
        <p:spPr>
          <a:xfrm>
            <a:off x="11884859" y="3780890"/>
            <a:ext cx="676169" cy="47747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6" name="橢圓 225"/>
          <p:cNvSpPr/>
          <p:nvPr/>
        </p:nvSpPr>
        <p:spPr>
          <a:xfrm>
            <a:off x="11705748" y="638942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7" name="橢圓 226"/>
          <p:cNvSpPr/>
          <p:nvPr/>
        </p:nvSpPr>
        <p:spPr>
          <a:xfrm>
            <a:off x="11692473" y="374078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0" name="矩形 139"/>
          <p:cNvSpPr/>
          <p:nvPr/>
        </p:nvSpPr>
        <p:spPr>
          <a:xfrm>
            <a:off x="6151568" y="3800025"/>
            <a:ext cx="676169" cy="478939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5" name="橢圓 224"/>
          <p:cNvSpPr/>
          <p:nvPr/>
        </p:nvSpPr>
        <p:spPr>
          <a:xfrm>
            <a:off x="5969448" y="639554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4" name="橢圓 223"/>
          <p:cNvSpPr/>
          <p:nvPr/>
        </p:nvSpPr>
        <p:spPr>
          <a:xfrm>
            <a:off x="5956173" y="374690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3" name="矩形 142"/>
          <p:cNvSpPr/>
          <p:nvPr/>
        </p:nvSpPr>
        <p:spPr>
          <a:xfrm>
            <a:off x="14746770" y="4316163"/>
            <a:ext cx="676169" cy="36249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1" name="矩形 140"/>
          <p:cNvSpPr/>
          <p:nvPr/>
        </p:nvSpPr>
        <p:spPr>
          <a:xfrm>
            <a:off x="9016433" y="4302821"/>
            <a:ext cx="676169" cy="364026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9" name="矩形 138"/>
          <p:cNvSpPr/>
          <p:nvPr/>
        </p:nvSpPr>
        <p:spPr>
          <a:xfrm>
            <a:off x="3016368" y="5060436"/>
            <a:ext cx="676169" cy="22157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22474" y="161365"/>
            <a:ext cx="15460628" cy="1551434"/>
          </a:xfrm>
        </p:spPr>
        <p:txBody>
          <a:bodyPr/>
          <a:lstStyle/>
          <a:p>
            <a:pPr algn="l"/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Learnable activation function </a:t>
            </a:r>
            <a:r>
              <a:rPr lang="en-US" altLang="zh-TW" sz="2700" dirty="0">
                <a:solidFill>
                  <a:srgbClr val="0000FF"/>
                </a:solidFill>
              </a:rPr>
              <a:t>[Ian J. </a:t>
            </a:r>
            <a:r>
              <a:rPr lang="en-US" altLang="zh-TW" sz="2700" dirty="0" err="1">
                <a:solidFill>
                  <a:srgbClr val="0000FF"/>
                </a:solidFill>
              </a:rPr>
              <a:t>Goodfellow</a:t>
            </a:r>
            <a:r>
              <a:rPr lang="en-US" altLang="zh-TW" sz="2700" dirty="0">
                <a:solidFill>
                  <a:srgbClr val="0000FF"/>
                </a:solidFill>
              </a:rPr>
              <a:t>, ICML’13]</a:t>
            </a:r>
            <a:endParaRPr lang="zh-TW" altLang="en-US" sz="2700" dirty="0">
              <a:solidFill>
                <a:srgbClr val="0000FF"/>
              </a:solidFill>
            </a:endParaRPr>
          </a:p>
          <a:p>
            <a:endParaRPr lang="en-US" altLang="zh-TW" dirty="0"/>
          </a:p>
        </p:txBody>
      </p:sp>
      <p:sp>
        <p:nvSpPr>
          <p:cNvPr id="8" name="橢圓 7"/>
          <p:cNvSpPr/>
          <p:nvPr/>
        </p:nvSpPr>
        <p:spPr>
          <a:xfrm>
            <a:off x="7504781" y="4403712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</a:rPr>
              <a:t>Max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grpSp>
        <p:nvGrpSpPr>
          <p:cNvPr id="75" name="群組 74"/>
          <p:cNvGrpSpPr/>
          <p:nvPr/>
        </p:nvGrpSpPr>
        <p:grpSpPr>
          <a:xfrm>
            <a:off x="3079781" y="5082509"/>
            <a:ext cx="514350" cy="692943"/>
            <a:chOff x="600453" y="3988847"/>
            <a:chExt cx="342900" cy="461962"/>
          </a:xfrm>
        </p:grpSpPr>
        <p:sp>
          <p:nvSpPr>
            <p:cNvPr id="30" name="矩形 29"/>
            <p:cNvSpPr/>
            <p:nvPr/>
          </p:nvSpPr>
          <p:spPr>
            <a:xfrm>
              <a:off x="600453" y="408409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31" name="Object 12"/>
            <p:cNvGraphicFramePr>
              <a:graphicFrameLocks noChangeAspect="1"/>
            </p:cNvGraphicFramePr>
            <p:nvPr/>
          </p:nvGraphicFramePr>
          <p:xfrm>
            <a:off x="613152" y="3988847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3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152" y="3988847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6" name="群組 75"/>
          <p:cNvGrpSpPr/>
          <p:nvPr/>
        </p:nvGrpSpPr>
        <p:grpSpPr>
          <a:xfrm>
            <a:off x="3083178" y="6357092"/>
            <a:ext cx="564357" cy="692945"/>
            <a:chOff x="594635" y="4571576"/>
            <a:chExt cx="376238" cy="461963"/>
          </a:xfrm>
        </p:grpSpPr>
        <p:sp>
          <p:nvSpPr>
            <p:cNvPr id="29" name="矩形 28"/>
            <p:cNvSpPr/>
            <p:nvPr/>
          </p:nvSpPr>
          <p:spPr>
            <a:xfrm>
              <a:off x="594635" y="465442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32" name="Object 12"/>
            <p:cNvGraphicFramePr>
              <a:graphicFrameLocks noChangeAspect="1"/>
            </p:cNvGraphicFramePr>
            <p:nvPr/>
          </p:nvGraphicFramePr>
          <p:xfrm>
            <a:off x="618448" y="4571576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3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448" y="4571576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字方塊 34"/>
          <p:cNvSpPr txBox="1"/>
          <p:nvPr/>
        </p:nvSpPr>
        <p:spPr>
          <a:xfrm>
            <a:off x="2502423" y="4101717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</a:p>
        </p:txBody>
      </p:sp>
      <p:sp>
        <p:nvSpPr>
          <p:cNvPr id="52" name="橢圓 51"/>
          <p:cNvSpPr/>
          <p:nvPr/>
        </p:nvSpPr>
        <p:spPr>
          <a:xfrm>
            <a:off x="7516562" y="7143545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</a:rPr>
              <a:t>Max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grpSp>
        <p:nvGrpSpPr>
          <p:cNvPr id="85" name="群組 84"/>
          <p:cNvGrpSpPr/>
          <p:nvPr/>
        </p:nvGrpSpPr>
        <p:grpSpPr>
          <a:xfrm>
            <a:off x="5252184" y="3797598"/>
            <a:ext cx="1413896" cy="737235"/>
            <a:chOff x="3518823" y="2481252"/>
            <a:chExt cx="942597" cy="491490"/>
          </a:xfrm>
        </p:grpSpPr>
        <p:grpSp>
          <p:nvGrpSpPr>
            <p:cNvPr id="36" name="群組 35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/>
                <p:cNvSpPr txBox="1"/>
                <p:nvPr/>
              </p:nvSpPr>
              <p:spPr>
                <a:xfrm>
                  <a:off x="4206008" y="2571873"/>
                  <a:ext cx="255412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TW" altLang="en-US" sz="3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文字方塊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008" y="2571873"/>
                  <a:ext cx="255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線單箭頭接點 82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5269483" y="5096570"/>
            <a:ext cx="1414102" cy="737235"/>
            <a:chOff x="3518823" y="2481252"/>
            <a:chExt cx="942734" cy="491490"/>
          </a:xfrm>
        </p:grpSpPr>
        <p:grpSp>
          <p:nvGrpSpPr>
            <p:cNvPr id="87" name="群組 86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91" name="文字方塊 90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/>
                <p:cNvSpPr txBox="1"/>
                <p:nvPr/>
              </p:nvSpPr>
              <p:spPr>
                <a:xfrm>
                  <a:off x="4206145" y="2546534"/>
                  <a:ext cx="255412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8" name="文字方塊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145" y="2546534"/>
                  <a:ext cx="2554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直線單箭頭接點 88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群組 91"/>
          <p:cNvGrpSpPr/>
          <p:nvPr/>
        </p:nvGrpSpPr>
        <p:grpSpPr>
          <a:xfrm>
            <a:off x="5267952" y="6395541"/>
            <a:ext cx="1759122" cy="737235"/>
            <a:chOff x="3518823" y="2481252"/>
            <a:chExt cx="1172748" cy="491490"/>
          </a:xfrm>
        </p:grpSpPr>
        <p:grpSp>
          <p:nvGrpSpPr>
            <p:cNvPr id="93" name="群組 92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97" name="文字方塊 96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p:cxnSp>
          <p:nvCxnSpPr>
            <p:cNvPr id="95" name="直線單箭頭接點 94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/>
                <p:cNvSpPr txBox="1"/>
                <p:nvPr/>
              </p:nvSpPr>
              <p:spPr>
                <a:xfrm>
                  <a:off x="4206396" y="2533432"/>
                  <a:ext cx="485175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3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字方塊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396" y="2533432"/>
                  <a:ext cx="48517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群組 97"/>
          <p:cNvGrpSpPr/>
          <p:nvPr/>
        </p:nvGrpSpPr>
        <p:grpSpPr>
          <a:xfrm>
            <a:off x="5265224" y="7808787"/>
            <a:ext cx="1413896" cy="737235"/>
            <a:chOff x="3518823" y="2481252"/>
            <a:chExt cx="942597" cy="491490"/>
          </a:xfrm>
        </p:grpSpPr>
        <p:grpSp>
          <p:nvGrpSpPr>
            <p:cNvPr id="99" name="群組 98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02" name="矩形 101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03" name="文字方塊 102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/>
                <p:cNvSpPr txBox="1"/>
                <p:nvPr/>
              </p:nvSpPr>
              <p:spPr>
                <a:xfrm>
                  <a:off x="4206008" y="2545696"/>
                  <a:ext cx="255412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3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008" y="2545696"/>
                  <a:ext cx="25541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直線單箭頭接點 100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/>
              <p:cNvSpPr txBox="1"/>
              <p:nvPr/>
            </p:nvSpPr>
            <p:spPr>
              <a:xfrm>
                <a:off x="9103557" y="4554686"/>
                <a:ext cx="305435" cy="553720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4" name="文字方塊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557" y="4554686"/>
                <a:ext cx="305435" cy="5537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9083967" y="7271444"/>
                <a:ext cx="383118" cy="553998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967" y="7271444"/>
                <a:ext cx="383118" cy="553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橢圓 105"/>
          <p:cNvSpPr/>
          <p:nvPr/>
        </p:nvSpPr>
        <p:spPr>
          <a:xfrm>
            <a:off x="13259304" y="4403712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sp>
        <p:nvSpPr>
          <p:cNvPr id="107" name="橢圓 106"/>
          <p:cNvSpPr/>
          <p:nvPr/>
        </p:nvSpPr>
        <p:spPr>
          <a:xfrm>
            <a:off x="13271085" y="7143545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grpSp>
        <p:nvGrpSpPr>
          <p:cNvPr id="108" name="群組 107"/>
          <p:cNvGrpSpPr/>
          <p:nvPr/>
        </p:nvGrpSpPr>
        <p:grpSpPr>
          <a:xfrm>
            <a:off x="11006708" y="3797598"/>
            <a:ext cx="1319012" cy="737235"/>
            <a:chOff x="3518823" y="2481252"/>
            <a:chExt cx="879341" cy="491490"/>
          </a:xfrm>
        </p:grpSpPr>
        <p:grpSp>
          <p:nvGrpSpPr>
            <p:cNvPr id="109" name="群組 108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13" name="文字方塊 112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線單箭頭接點 110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群組 113"/>
          <p:cNvGrpSpPr/>
          <p:nvPr/>
        </p:nvGrpSpPr>
        <p:grpSpPr>
          <a:xfrm>
            <a:off x="11024006" y="5096570"/>
            <a:ext cx="1319012" cy="737235"/>
            <a:chOff x="3518823" y="2481252"/>
            <a:chExt cx="879341" cy="491490"/>
          </a:xfrm>
        </p:grpSpPr>
        <p:grpSp>
          <p:nvGrpSpPr>
            <p:cNvPr id="115" name="群組 114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19" name="文字方塊 118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/>
                <p:cNvSpPr txBox="1"/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16" name="文字方塊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直線單箭頭接點 116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群組 119"/>
          <p:cNvGrpSpPr/>
          <p:nvPr/>
        </p:nvGrpSpPr>
        <p:grpSpPr>
          <a:xfrm>
            <a:off x="11022478" y="6395541"/>
            <a:ext cx="1319012" cy="737235"/>
            <a:chOff x="3518823" y="2481252"/>
            <a:chExt cx="879341" cy="491490"/>
          </a:xfrm>
        </p:grpSpPr>
        <p:grpSp>
          <p:nvGrpSpPr>
            <p:cNvPr id="121" name="群組 120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25" name="文字方塊 124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字方塊 121"/>
                <p:cNvSpPr txBox="1"/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22" name="文字方塊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直線單箭頭接點 122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群組 125"/>
          <p:cNvGrpSpPr/>
          <p:nvPr/>
        </p:nvGrpSpPr>
        <p:grpSpPr>
          <a:xfrm>
            <a:off x="11019748" y="7808787"/>
            <a:ext cx="1340783" cy="737235"/>
            <a:chOff x="3518823" y="2481252"/>
            <a:chExt cx="893855" cy="491490"/>
          </a:xfrm>
        </p:grpSpPr>
        <p:grpSp>
          <p:nvGrpSpPr>
            <p:cNvPr id="127" name="群組 126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30" name="矩形 129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31" name="文字方塊 130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4157266" y="2545696"/>
                  <a:ext cx="25541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7266" y="2545696"/>
                  <a:ext cx="255412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直線單箭頭接點 128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14896698" y="4597031"/>
                <a:ext cx="383118" cy="55399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6698" y="4597031"/>
                <a:ext cx="383118" cy="5539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/>
              <p:cNvSpPr txBox="1"/>
              <p:nvPr/>
            </p:nvSpPr>
            <p:spPr>
              <a:xfrm>
                <a:off x="14902167" y="7317788"/>
                <a:ext cx="383118" cy="55399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3" name="文字方塊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67" y="7317788"/>
                <a:ext cx="383118" cy="5539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直線單箭頭接點 143"/>
          <p:cNvCxnSpPr/>
          <p:nvPr/>
        </p:nvCxnSpPr>
        <p:spPr>
          <a:xfrm>
            <a:off x="8725839" y="489041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/>
          <p:cNvCxnSpPr/>
          <p:nvPr/>
        </p:nvCxnSpPr>
        <p:spPr>
          <a:xfrm>
            <a:off x="8739335" y="760503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/>
          <p:cNvCxnSpPr/>
          <p:nvPr/>
        </p:nvCxnSpPr>
        <p:spPr>
          <a:xfrm>
            <a:off x="14491104" y="488735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/>
          <p:cNvCxnSpPr/>
          <p:nvPr/>
        </p:nvCxnSpPr>
        <p:spPr>
          <a:xfrm>
            <a:off x="14504600" y="760197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單箭頭接點 199"/>
          <p:cNvCxnSpPr>
            <a:cxnSpLocks/>
            <a:stCxn id="116" idx="3"/>
            <a:endCxn id="106" idx="2"/>
          </p:cNvCxnSpPr>
          <p:nvPr/>
        </p:nvCxnSpPr>
        <p:spPr>
          <a:xfrm flipV="1">
            <a:off x="12343018" y="4834331"/>
            <a:ext cx="916286" cy="635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單箭頭接點 205"/>
          <p:cNvCxnSpPr>
            <a:cxnSpLocks/>
            <a:stCxn id="122" idx="3"/>
            <a:endCxn id="107" idx="2"/>
          </p:cNvCxnSpPr>
          <p:nvPr/>
        </p:nvCxnSpPr>
        <p:spPr>
          <a:xfrm>
            <a:off x="12341490" y="6769206"/>
            <a:ext cx="929595" cy="804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單箭頭接點 218"/>
          <p:cNvCxnSpPr/>
          <p:nvPr/>
        </p:nvCxnSpPr>
        <p:spPr>
          <a:xfrm>
            <a:off x="6754230" y="4189383"/>
            <a:ext cx="753281" cy="659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單箭頭接點 219"/>
          <p:cNvCxnSpPr/>
          <p:nvPr/>
        </p:nvCxnSpPr>
        <p:spPr>
          <a:xfrm flipV="1">
            <a:off x="6703002" y="4849229"/>
            <a:ext cx="804509" cy="681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單箭頭接點 220"/>
          <p:cNvCxnSpPr/>
          <p:nvPr/>
        </p:nvCxnSpPr>
        <p:spPr>
          <a:xfrm>
            <a:off x="6734189" y="6851234"/>
            <a:ext cx="785103" cy="737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單箭頭接點 221"/>
          <p:cNvCxnSpPr/>
          <p:nvPr/>
        </p:nvCxnSpPr>
        <p:spPr>
          <a:xfrm flipV="1">
            <a:off x="6767270" y="7589061"/>
            <a:ext cx="752022" cy="611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411999" y="1146335"/>
            <a:ext cx="8986885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4200" dirty="0" err="1"/>
              <a:t>ReLU</a:t>
            </a:r>
            <a:r>
              <a:rPr lang="en-US" altLang="zh-TW" sz="4200" dirty="0"/>
              <a:t> is a special case of </a:t>
            </a:r>
            <a:r>
              <a:rPr lang="en-US" altLang="zh-TW" sz="4200" dirty="0" err="1"/>
              <a:t>Maxout</a:t>
            </a:r>
            <a:endParaRPr lang="en-US" altLang="zh-TW" sz="4200" dirty="0"/>
          </a:p>
        </p:txBody>
      </p:sp>
      <p:sp>
        <p:nvSpPr>
          <p:cNvPr id="145" name="矩形 144"/>
          <p:cNvSpPr/>
          <p:nvPr/>
        </p:nvSpPr>
        <p:spPr>
          <a:xfrm>
            <a:off x="3264195" y="8996112"/>
            <a:ext cx="11637972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You can have more than 2 elements in a group.</a:t>
            </a:r>
          </a:p>
        </p:txBody>
      </p:sp>
      <p:sp>
        <p:nvSpPr>
          <p:cNvPr id="6" name="矩形 5"/>
          <p:cNvSpPr/>
          <p:nvPr/>
        </p:nvSpPr>
        <p:spPr>
          <a:xfrm>
            <a:off x="5997896" y="3809760"/>
            <a:ext cx="2821787" cy="1998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文字方塊 5"/>
          <p:cNvSpPr txBox="1"/>
          <p:nvPr/>
        </p:nvSpPr>
        <p:spPr>
          <a:xfrm>
            <a:off x="7117113" y="3661455"/>
            <a:ext cx="170950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neuron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cxnSp>
        <p:nvCxnSpPr>
          <p:cNvPr id="14" name="直線單箭頭接點 219">
            <a:extLst>
              <a:ext uri="{FF2B5EF4-FFF2-40B4-BE49-F238E27FC236}">
                <a16:creationId xmlns:a16="http://schemas.microsoft.com/office/drawing/2014/main" id="{D4313A1A-ED90-F073-5FE9-DC92B15C2826}"/>
              </a:ext>
            </a:extLst>
          </p:cNvPr>
          <p:cNvCxnSpPr>
            <a:cxnSpLocks/>
            <a:stCxn id="104" idx="3"/>
            <a:endCxn id="113" idx="1"/>
          </p:cNvCxnSpPr>
          <p:nvPr/>
        </p:nvCxnSpPr>
        <p:spPr>
          <a:xfrm flipV="1">
            <a:off x="9408992" y="4166216"/>
            <a:ext cx="1615014" cy="6653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219">
            <a:extLst>
              <a:ext uri="{FF2B5EF4-FFF2-40B4-BE49-F238E27FC236}">
                <a16:creationId xmlns:a16="http://schemas.microsoft.com/office/drawing/2014/main" id="{94DF5F0F-B9F2-8441-6EBC-22D7D4E4EF1A}"/>
              </a:ext>
            </a:extLst>
          </p:cNvPr>
          <p:cNvCxnSpPr>
            <a:cxnSpLocks/>
            <a:stCxn id="104" idx="3"/>
            <a:endCxn id="119" idx="1"/>
          </p:cNvCxnSpPr>
          <p:nvPr/>
        </p:nvCxnSpPr>
        <p:spPr>
          <a:xfrm>
            <a:off x="9408992" y="4831546"/>
            <a:ext cx="1632312" cy="6336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219">
            <a:extLst>
              <a:ext uri="{FF2B5EF4-FFF2-40B4-BE49-F238E27FC236}">
                <a16:creationId xmlns:a16="http://schemas.microsoft.com/office/drawing/2014/main" id="{7E02F658-8617-2FD7-9A6C-5EA08D6E54AC}"/>
              </a:ext>
            </a:extLst>
          </p:cNvPr>
          <p:cNvCxnSpPr>
            <a:cxnSpLocks/>
            <a:stCxn id="104" idx="3"/>
            <a:endCxn id="124" idx="1"/>
          </p:cNvCxnSpPr>
          <p:nvPr/>
        </p:nvCxnSpPr>
        <p:spPr>
          <a:xfrm>
            <a:off x="9408992" y="4831546"/>
            <a:ext cx="1613486" cy="19753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19">
            <a:extLst>
              <a:ext uri="{FF2B5EF4-FFF2-40B4-BE49-F238E27FC236}">
                <a16:creationId xmlns:a16="http://schemas.microsoft.com/office/drawing/2014/main" id="{DBF81D82-494F-08D9-CC1E-FF3474918F34}"/>
              </a:ext>
            </a:extLst>
          </p:cNvPr>
          <p:cNvCxnSpPr>
            <a:cxnSpLocks/>
            <a:stCxn id="104" idx="3"/>
            <a:endCxn id="130" idx="1"/>
          </p:cNvCxnSpPr>
          <p:nvPr/>
        </p:nvCxnSpPr>
        <p:spPr>
          <a:xfrm>
            <a:off x="9408992" y="4831546"/>
            <a:ext cx="1610756" cy="33885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19">
            <a:extLst>
              <a:ext uri="{FF2B5EF4-FFF2-40B4-BE49-F238E27FC236}">
                <a16:creationId xmlns:a16="http://schemas.microsoft.com/office/drawing/2014/main" id="{29CE516C-9E36-B917-B5D0-AEF826CCAFDB}"/>
              </a:ext>
            </a:extLst>
          </p:cNvPr>
          <p:cNvCxnSpPr>
            <a:cxnSpLocks/>
            <a:stCxn id="105" idx="3"/>
            <a:endCxn id="113" idx="1"/>
          </p:cNvCxnSpPr>
          <p:nvPr/>
        </p:nvCxnSpPr>
        <p:spPr>
          <a:xfrm flipV="1">
            <a:off x="9467085" y="4166216"/>
            <a:ext cx="1556921" cy="33822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219">
            <a:extLst>
              <a:ext uri="{FF2B5EF4-FFF2-40B4-BE49-F238E27FC236}">
                <a16:creationId xmlns:a16="http://schemas.microsoft.com/office/drawing/2014/main" id="{CF6EBB8A-6E7C-DF21-7241-48C2EB27CF79}"/>
              </a:ext>
            </a:extLst>
          </p:cNvPr>
          <p:cNvCxnSpPr>
            <a:cxnSpLocks/>
            <a:stCxn id="105" idx="3"/>
            <a:endCxn id="119" idx="1"/>
          </p:cNvCxnSpPr>
          <p:nvPr/>
        </p:nvCxnSpPr>
        <p:spPr>
          <a:xfrm flipV="1">
            <a:off x="9467085" y="5465188"/>
            <a:ext cx="1574219" cy="20832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219">
            <a:extLst>
              <a:ext uri="{FF2B5EF4-FFF2-40B4-BE49-F238E27FC236}">
                <a16:creationId xmlns:a16="http://schemas.microsoft.com/office/drawing/2014/main" id="{74AA1630-B4E3-6E08-2719-2141EB69953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9467085" y="6764159"/>
            <a:ext cx="1572691" cy="784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219">
            <a:extLst>
              <a:ext uri="{FF2B5EF4-FFF2-40B4-BE49-F238E27FC236}">
                <a16:creationId xmlns:a16="http://schemas.microsoft.com/office/drawing/2014/main" id="{159CCBD0-3E6E-C4AD-570C-250BD9201CAD}"/>
              </a:ext>
            </a:extLst>
          </p:cNvPr>
          <p:cNvCxnSpPr>
            <a:cxnSpLocks/>
            <a:stCxn id="105" idx="3"/>
            <a:endCxn id="131" idx="1"/>
          </p:cNvCxnSpPr>
          <p:nvPr/>
        </p:nvCxnSpPr>
        <p:spPr>
          <a:xfrm>
            <a:off x="9467085" y="7548443"/>
            <a:ext cx="1569961" cy="628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219">
            <a:extLst>
              <a:ext uri="{FF2B5EF4-FFF2-40B4-BE49-F238E27FC236}">
                <a16:creationId xmlns:a16="http://schemas.microsoft.com/office/drawing/2014/main" id="{CF845B50-278F-5696-FBCD-D3A4AAEFBB86}"/>
              </a:ext>
            </a:extLst>
          </p:cNvPr>
          <p:cNvCxnSpPr>
            <a:cxnSpLocks/>
            <a:stCxn id="110" idx="3"/>
            <a:endCxn id="106" idx="2"/>
          </p:cNvCxnSpPr>
          <p:nvPr/>
        </p:nvCxnSpPr>
        <p:spPr>
          <a:xfrm>
            <a:off x="12325720" y="4171263"/>
            <a:ext cx="933584" cy="663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219">
            <a:extLst>
              <a:ext uri="{FF2B5EF4-FFF2-40B4-BE49-F238E27FC236}">
                <a16:creationId xmlns:a16="http://schemas.microsoft.com/office/drawing/2014/main" id="{A181629A-E026-E31A-9442-B4AE38C81DCD}"/>
              </a:ext>
            </a:extLst>
          </p:cNvPr>
          <p:cNvCxnSpPr>
            <a:cxnSpLocks/>
            <a:stCxn id="128" idx="3"/>
            <a:endCxn id="107" idx="2"/>
          </p:cNvCxnSpPr>
          <p:nvPr/>
        </p:nvCxnSpPr>
        <p:spPr>
          <a:xfrm flipV="1">
            <a:off x="12360531" y="7574164"/>
            <a:ext cx="910554" cy="608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219">
            <a:extLst>
              <a:ext uri="{FF2B5EF4-FFF2-40B4-BE49-F238E27FC236}">
                <a16:creationId xmlns:a16="http://schemas.microsoft.com/office/drawing/2014/main" id="{78A2FAD6-719A-D577-2EAC-6A6C1342AB96}"/>
              </a:ext>
            </a:extLst>
          </p:cNvPr>
          <p:cNvCxnSpPr>
            <a:cxnSpLocks/>
            <a:stCxn id="31" idx="3"/>
            <a:endCxn id="12" idx="1"/>
          </p:cNvCxnSpPr>
          <p:nvPr/>
        </p:nvCxnSpPr>
        <p:spPr>
          <a:xfrm flipV="1">
            <a:off x="3586987" y="4166216"/>
            <a:ext cx="1682495" cy="12627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219">
            <a:extLst>
              <a:ext uri="{FF2B5EF4-FFF2-40B4-BE49-F238E27FC236}">
                <a16:creationId xmlns:a16="http://schemas.microsoft.com/office/drawing/2014/main" id="{23538AF7-50B8-6584-9151-F380C380F737}"/>
              </a:ext>
            </a:extLst>
          </p:cNvPr>
          <p:cNvCxnSpPr>
            <a:cxnSpLocks/>
            <a:stCxn id="30" idx="3"/>
            <a:endCxn id="91" idx="1"/>
          </p:cNvCxnSpPr>
          <p:nvPr/>
        </p:nvCxnSpPr>
        <p:spPr>
          <a:xfrm flipV="1">
            <a:off x="3594131" y="5465188"/>
            <a:ext cx="1692650" cy="173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219">
            <a:extLst>
              <a:ext uri="{FF2B5EF4-FFF2-40B4-BE49-F238E27FC236}">
                <a16:creationId xmlns:a16="http://schemas.microsoft.com/office/drawing/2014/main" id="{76B18C07-0603-F9C5-C0BB-2B8E1A1D4135}"/>
              </a:ext>
            </a:extLst>
          </p:cNvPr>
          <p:cNvCxnSpPr>
            <a:cxnSpLocks/>
            <a:stCxn id="30" idx="3"/>
            <a:endCxn id="97" idx="1"/>
          </p:cNvCxnSpPr>
          <p:nvPr/>
        </p:nvCxnSpPr>
        <p:spPr>
          <a:xfrm>
            <a:off x="3594131" y="5482559"/>
            <a:ext cx="1691119" cy="1281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219">
            <a:extLst>
              <a:ext uri="{FF2B5EF4-FFF2-40B4-BE49-F238E27FC236}">
                <a16:creationId xmlns:a16="http://schemas.microsoft.com/office/drawing/2014/main" id="{DB4D6615-BFCE-722C-90BA-346ACAB4615B}"/>
              </a:ext>
            </a:extLst>
          </p:cNvPr>
          <p:cNvCxnSpPr>
            <a:cxnSpLocks/>
            <a:stCxn id="30" idx="3"/>
            <a:endCxn id="103" idx="1"/>
          </p:cNvCxnSpPr>
          <p:nvPr/>
        </p:nvCxnSpPr>
        <p:spPr>
          <a:xfrm>
            <a:off x="3594131" y="5482559"/>
            <a:ext cx="1688391" cy="2694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219">
            <a:extLst>
              <a:ext uri="{FF2B5EF4-FFF2-40B4-BE49-F238E27FC236}">
                <a16:creationId xmlns:a16="http://schemas.microsoft.com/office/drawing/2014/main" id="{43EC6E43-5BA7-063E-02C6-EC69D6BF3336}"/>
              </a:ext>
            </a:extLst>
          </p:cNvPr>
          <p:cNvCxnSpPr>
            <a:cxnSpLocks/>
            <a:stCxn id="32" idx="3"/>
            <a:endCxn id="12" idx="1"/>
          </p:cNvCxnSpPr>
          <p:nvPr/>
        </p:nvCxnSpPr>
        <p:spPr>
          <a:xfrm flipV="1">
            <a:off x="3647536" y="4166216"/>
            <a:ext cx="1621946" cy="2537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219">
            <a:extLst>
              <a:ext uri="{FF2B5EF4-FFF2-40B4-BE49-F238E27FC236}">
                <a16:creationId xmlns:a16="http://schemas.microsoft.com/office/drawing/2014/main" id="{2B915ABB-C164-1A28-9551-F5BE631BC37F}"/>
              </a:ext>
            </a:extLst>
          </p:cNvPr>
          <p:cNvCxnSpPr>
            <a:cxnSpLocks/>
            <a:stCxn id="32" idx="3"/>
            <a:endCxn id="91" idx="1"/>
          </p:cNvCxnSpPr>
          <p:nvPr/>
        </p:nvCxnSpPr>
        <p:spPr>
          <a:xfrm flipV="1">
            <a:off x="3647536" y="5465188"/>
            <a:ext cx="1639245" cy="12383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219">
            <a:extLst>
              <a:ext uri="{FF2B5EF4-FFF2-40B4-BE49-F238E27FC236}">
                <a16:creationId xmlns:a16="http://schemas.microsoft.com/office/drawing/2014/main" id="{3F68B972-2069-2AD5-CD05-A9328400D2DD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3647536" y="6703564"/>
            <a:ext cx="1637714" cy="60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219">
            <a:extLst>
              <a:ext uri="{FF2B5EF4-FFF2-40B4-BE49-F238E27FC236}">
                <a16:creationId xmlns:a16="http://schemas.microsoft.com/office/drawing/2014/main" id="{8D203C2F-C19B-6AAC-D02C-DFA42DE0F9AA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647536" y="6703564"/>
            <a:ext cx="1617688" cy="15165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bldLvl="0" animBg="1"/>
      <p:bldP spid="226" grpId="0" bldLvl="0" animBg="1"/>
      <p:bldP spid="227" grpId="0" bldLvl="0" animBg="1"/>
      <p:bldP spid="140" grpId="0" bldLvl="0" animBg="1"/>
      <p:bldP spid="225" grpId="0" bldLvl="0" animBg="1"/>
      <p:bldP spid="224" grpId="0" bldLvl="0" animBg="1"/>
      <p:bldP spid="143" grpId="0" bldLvl="0" animBg="1"/>
      <p:bldP spid="141" grpId="0" bldLvl="0" animBg="1"/>
      <p:bldP spid="139" grpId="0" bldLvl="0" animBg="1"/>
      <p:bldP spid="8" grpId="0" bldLvl="0" animBg="1"/>
      <p:bldP spid="35" grpId="0"/>
      <p:bldP spid="52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32" grpId="0" bldLvl="0" animBg="1"/>
      <p:bldP spid="133" grpId="0" bldLvl="0" animBg="1"/>
      <p:bldP spid="145" grpId="0" bldLvl="0" animBg="1"/>
      <p:bldP spid="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群組 99"/>
          <p:cNvGrpSpPr/>
          <p:nvPr/>
        </p:nvGrpSpPr>
        <p:grpSpPr>
          <a:xfrm>
            <a:off x="8412363" y="2334702"/>
            <a:ext cx="6955931" cy="3529239"/>
            <a:chOff x="116454" y="2497936"/>
            <a:chExt cx="4637287" cy="2352826"/>
          </a:xfrm>
        </p:grpSpPr>
        <p:sp>
          <p:nvSpPr>
            <p:cNvPr id="6" name="橢圓 5"/>
            <p:cNvSpPr/>
            <p:nvPr/>
          </p:nvSpPr>
          <p:spPr>
            <a:xfrm>
              <a:off x="2446782" y="2497936"/>
              <a:ext cx="671512" cy="1407194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" name="矩形 7"/>
            <p:cNvSpPr/>
            <p:nvPr/>
          </p:nvSpPr>
          <p:spPr>
            <a:xfrm>
              <a:off x="486912" y="3373624"/>
              <a:ext cx="450779" cy="147713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橢圓 8"/>
            <p:cNvSpPr/>
            <p:nvPr/>
          </p:nvSpPr>
          <p:spPr>
            <a:xfrm>
              <a:off x="3479187" y="2935808"/>
              <a:ext cx="840932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" dirty="0"/>
                <a:t>Max</a:t>
              </a:r>
              <a:endParaRPr lang="zh-TW" altLang="en-US" sz="100" dirty="0"/>
            </a:p>
          </p:txBody>
        </p:sp>
        <p:grpSp>
          <p:nvGrpSpPr>
            <p:cNvPr id="10" name="群組 9"/>
            <p:cNvGrpSpPr/>
            <p:nvPr/>
          </p:nvGrpSpPr>
          <p:grpSpPr>
            <a:xfrm>
              <a:off x="529187" y="3469485"/>
              <a:ext cx="342900" cy="357004"/>
              <a:chOff x="600453" y="4069993"/>
              <a:chExt cx="342900" cy="357004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600453" y="4084097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39400" y="4069993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3" imgW="3048000" imgH="3352800" progId="Equation.3">
                          <p:embed/>
                        </p:oleObj>
                      </mc:Choice>
                      <mc:Fallback>
                        <p:oleObj name="方程式" r:id="rId3" imgW="3048000" imgH="3352800" progId="Equation.3">
                          <p:embed/>
                          <p:pic>
                            <p:nvPicPr>
                              <p:cNvPr id="1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9400" y="4069993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39400" y="4069993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5" imgW="3048000" imgH="3352800" progId="Equation.3">
                          <p:embed/>
                        </p:oleObj>
                      </mc:Choice>
                      <mc:Fallback>
                        <p:oleObj name="方程式" r:id="rId5" imgW="3048000" imgH="3352800" progId="Equation.3">
                          <p:embed/>
                          <p:pic>
                            <p:nvPicPr>
                              <p:cNvPr id="1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9400" y="4069993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13" name="群組 12"/>
            <p:cNvGrpSpPr/>
            <p:nvPr/>
          </p:nvGrpSpPr>
          <p:grpSpPr>
            <a:xfrm>
              <a:off x="531452" y="4319668"/>
              <a:ext cx="342900" cy="352425"/>
              <a:chOff x="594635" y="4653183"/>
              <a:chExt cx="342900" cy="35242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594635" y="4654426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86445" y="4653183"/>
                  <a:ext cx="188913" cy="3524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7" imgW="2133600" imgH="3962400" progId="Equation.3">
                          <p:embed/>
                        </p:oleObj>
                      </mc:Choice>
                      <mc:Fallback>
                        <p:oleObj name="方程式" r:id="rId7" imgW="2133600" imgH="3962400" progId="Equation.3">
                          <p:embed/>
                          <p:pic>
                            <p:nvPicPr>
                              <p:cNvPr id="1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6445" y="4653183"/>
                                <a:ext cx="188913" cy="35242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86445" y="4653183"/>
                  <a:ext cx="188913" cy="3524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9" imgW="2133600" imgH="3962400" progId="Equation.3">
                          <p:embed/>
                        </p:oleObj>
                      </mc:Choice>
                      <mc:Fallback>
                        <p:oleObj name="方程式" r:id="rId9" imgW="2133600" imgH="3962400" progId="Equation.3">
                          <p:embed/>
                          <p:pic>
                            <p:nvPicPr>
                              <p:cNvPr id="1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6445" y="4653183"/>
                                <a:ext cx="188913" cy="35242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16" name="文字方塊 15"/>
            <p:cNvSpPr txBox="1"/>
            <p:nvPr/>
          </p:nvSpPr>
          <p:spPr>
            <a:xfrm>
              <a:off x="116454" y="2922416"/>
              <a:ext cx="1134648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Input</a:t>
              </a:r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1977455" y="2531732"/>
              <a:ext cx="1060857" cy="491490"/>
              <a:chOff x="3518823" y="2481252"/>
              <a:chExt cx="1060857" cy="491490"/>
            </a:xfrm>
          </p:grpSpPr>
          <p:grpSp>
            <p:nvGrpSpPr>
              <p:cNvPr id="20" name="群組 19"/>
              <p:cNvGrpSpPr/>
              <p:nvPr/>
            </p:nvGrpSpPr>
            <p:grpSpPr>
              <a:xfrm>
                <a:off x="3518823" y="2481252"/>
                <a:ext cx="311569" cy="491490"/>
                <a:chOff x="3518823" y="2481252"/>
                <a:chExt cx="311569" cy="491490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3518823" y="2611915"/>
                  <a:ext cx="287079" cy="28707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24" name="文字方塊 23"/>
                <p:cNvSpPr txBox="1"/>
                <p:nvPr/>
              </p:nvSpPr>
              <p:spPr>
                <a:xfrm>
                  <a:off x="3530355" y="2481252"/>
                  <a:ext cx="300037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4200" dirty="0"/>
                    <a:t>+</a:t>
                  </a:r>
                  <a:endParaRPr lang="zh-TW" altLang="en-US" sz="4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字方塊 20"/>
                  <p:cNvSpPr txBox="1"/>
                  <p:nvPr/>
                </p:nvSpPr>
                <p:spPr>
                  <a:xfrm>
                    <a:off x="4173280" y="2513104"/>
                    <a:ext cx="406400" cy="3757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1" name="文字方塊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3280" y="2513104"/>
                    <a:ext cx="406400" cy="375789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線單箭頭接點 21"/>
              <p:cNvCxnSpPr/>
              <p:nvPr/>
            </p:nvCxnSpPr>
            <p:spPr>
              <a:xfrm>
                <a:off x="3805902" y="2755454"/>
                <a:ext cx="35584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/>
            <p:cNvGrpSpPr/>
            <p:nvPr/>
          </p:nvGrpSpPr>
          <p:grpSpPr>
            <a:xfrm>
              <a:off x="1988987" y="3397713"/>
              <a:ext cx="1049188" cy="491490"/>
              <a:chOff x="3518823" y="2481252"/>
              <a:chExt cx="1049188" cy="491490"/>
            </a:xfrm>
          </p:grpSpPr>
          <p:grpSp>
            <p:nvGrpSpPr>
              <p:cNvPr id="26" name="群組 25"/>
              <p:cNvGrpSpPr/>
              <p:nvPr/>
            </p:nvGrpSpPr>
            <p:grpSpPr>
              <a:xfrm>
                <a:off x="3518823" y="2481252"/>
                <a:ext cx="311569" cy="491490"/>
                <a:chOff x="3518823" y="2481252"/>
                <a:chExt cx="311569" cy="491490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3518823" y="2611915"/>
                  <a:ext cx="287079" cy="28707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30" name="文字方塊 29"/>
                <p:cNvSpPr txBox="1"/>
                <p:nvPr/>
              </p:nvSpPr>
              <p:spPr>
                <a:xfrm>
                  <a:off x="3530355" y="2481252"/>
                  <a:ext cx="300037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4200" dirty="0"/>
                    <a:t>+</a:t>
                  </a:r>
                  <a:endParaRPr lang="zh-TW" altLang="en-US" sz="4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字方塊 26"/>
                  <p:cNvSpPr txBox="1"/>
                  <p:nvPr/>
                </p:nvSpPr>
                <p:spPr>
                  <a:xfrm>
                    <a:off x="4161611" y="2516174"/>
                    <a:ext cx="406400" cy="3761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7" name="文字方塊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1611" y="2516174"/>
                    <a:ext cx="406400" cy="376187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直線單箭頭接點 27"/>
              <p:cNvCxnSpPr/>
              <p:nvPr/>
            </p:nvCxnSpPr>
            <p:spPr>
              <a:xfrm>
                <a:off x="3805902" y="2755454"/>
                <a:ext cx="35584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/>
                <p:cNvSpPr txBox="1"/>
                <p:nvPr/>
              </p:nvSpPr>
              <p:spPr>
                <a:xfrm>
                  <a:off x="4545038" y="3036457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43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5038" y="3036457"/>
                  <a:ext cx="208703" cy="36914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線單箭頭接點 46"/>
            <p:cNvCxnSpPr/>
            <p:nvPr/>
          </p:nvCxnSpPr>
          <p:spPr>
            <a:xfrm>
              <a:off x="4293226" y="3260273"/>
              <a:ext cx="2551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/>
                <p:cNvSpPr txBox="1"/>
                <p:nvPr/>
              </p:nvSpPr>
              <p:spPr>
                <a:xfrm>
                  <a:off x="3255793" y="3579480"/>
                  <a:ext cx="1434253" cy="3568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/>
                            </m:sSub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/>
                            </m:sSubSup>
                          </m:e>
                        </m:d>
                      </m:oMath>
                    </m:oMathPara>
                  </a14:m>
                  <a:endParaRPr lang="zh-TW" altLang="en-US" sz="3000" dirty="0"/>
                </a:p>
              </p:txBody>
            </p:sp>
          </mc:Choice>
          <mc:Fallback xmlns="">
            <p:sp>
              <p:nvSpPr>
                <p:cNvPr id="49" name="文字方塊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793" y="3579480"/>
                  <a:ext cx="1434253" cy="35687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線單箭頭接點 49"/>
            <p:cNvCxnSpPr/>
            <p:nvPr/>
          </p:nvCxnSpPr>
          <p:spPr>
            <a:xfrm flipV="1">
              <a:off x="838676" y="2805935"/>
              <a:ext cx="1138779" cy="843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867324" y="3619320"/>
              <a:ext cx="1133195" cy="400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V="1">
              <a:off x="907690" y="2805935"/>
              <a:ext cx="1069765" cy="16631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flipV="1">
              <a:off x="907690" y="3671916"/>
              <a:ext cx="1081297" cy="797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>
              <a:off x="2978820" y="2792922"/>
              <a:ext cx="502187" cy="4398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 flipV="1">
              <a:off x="2944668" y="3232819"/>
              <a:ext cx="536339" cy="4544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10064394" y="2840573"/>
                <a:ext cx="3975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394" y="2840573"/>
                <a:ext cx="397510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70" t="-39" r="-1798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/>
              <p:cNvSpPr txBox="1"/>
              <p:nvPr/>
            </p:nvSpPr>
            <p:spPr>
              <a:xfrm>
                <a:off x="10733001" y="3312860"/>
                <a:ext cx="30480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7" name="文字方塊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001" y="3312860"/>
                <a:ext cx="304800" cy="553720"/>
              </a:xfrm>
              <a:prstGeom prst="rect">
                <a:avLst/>
              </a:prstGeom>
              <a:blipFill rotWithShape="1">
                <a:blip r:embed="rId16"/>
                <a:stretch>
                  <a:fillRect l="-76" t="-12" r="-2367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/>
              <p:cNvSpPr txBox="1"/>
              <p:nvPr/>
            </p:nvSpPr>
            <p:spPr>
              <a:xfrm>
                <a:off x="9821118" y="3769296"/>
                <a:ext cx="3054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" name="文字方塊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1118" y="3769296"/>
                <a:ext cx="305435" cy="553720"/>
              </a:xfrm>
              <a:prstGeom prst="rect">
                <a:avLst/>
              </a:prstGeom>
              <a:blipFill rotWithShape="1">
                <a:blip r:embed="rId17"/>
                <a:stretch>
                  <a:fillRect l="-68" t="-103" r="-24672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10072938" y="4576004"/>
                <a:ext cx="3054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938" y="4576004"/>
                <a:ext cx="305435" cy="553720"/>
              </a:xfrm>
              <a:prstGeom prst="rect">
                <a:avLst/>
              </a:prstGeom>
              <a:blipFill rotWithShape="1">
                <a:blip r:embed="rId17"/>
                <a:stretch>
                  <a:fillRect l="-186" t="-35" r="-24554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單箭頭接點 89"/>
          <p:cNvCxnSpPr/>
          <p:nvPr/>
        </p:nvCxnSpPr>
        <p:spPr>
          <a:xfrm>
            <a:off x="3769521" y="8081034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rot="16200000">
            <a:off x="3769523" y="7590758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/>
              <p:cNvSpPr txBox="1"/>
              <p:nvPr/>
            </p:nvSpPr>
            <p:spPr>
              <a:xfrm>
                <a:off x="7499547" y="7800861"/>
                <a:ext cx="302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2" name="文字方塊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547" y="7800861"/>
                <a:ext cx="302895" cy="553720"/>
              </a:xfrm>
              <a:prstGeom prst="rect">
                <a:avLst/>
              </a:prstGeom>
              <a:blipFill rotWithShape="1">
                <a:blip r:embed="rId18"/>
                <a:stretch>
                  <a:fillRect l="-65" t="-94" r="-236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接點 94"/>
          <p:cNvCxnSpPr/>
          <p:nvPr/>
        </p:nvCxnSpPr>
        <p:spPr>
          <a:xfrm>
            <a:off x="4225629" y="8006474"/>
            <a:ext cx="185575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 flipV="1">
            <a:off x="6004733" y="6426156"/>
            <a:ext cx="1438845" cy="161893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7103321" y="6956204"/>
                <a:ext cx="22688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321" y="6956204"/>
                <a:ext cx="2268855" cy="553720"/>
              </a:xfrm>
              <a:prstGeom prst="rect">
                <a:avLst/>
              </a:prstGeom>
              <a:blipFill rotWithShape="1">
                <a:blip r:embed="rId19"/>
                <a:stretch>
                  <a:fillRect l="-9" t="-75" r="-2789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6537902" y="6403151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02" y="6403151"/>
                <a:ext cx="31305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184" t="-81" r="-22939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/>
          <p:cNvGrpSpPr/>
          <p:nvPr/>
        </p:nvGrpSpPr>
        <p:grpSpPr>
          <a:xfrm>
            <a:off x="2959761" y="2609247"/>
            <a:ext cx="4926284" cy="3112046"/>
            <a:chOff x="275481" y="2091614"/>
            <a:chExt cx="3284189" cy="2074697"/>
          </a:xfrm>
        </p:grpSpPr>
        <p:sp>
          <p:nvSpPr>
            <p:cNvPr id="78" name="矩形 77"/>
            <p:cNvSpPr/>
            <p:nvPr/>
          </p:nvSpPr>
          <p:spPr>
            <a:xfrm>
              <a:off x="617452" y="2689173"/>
              <a:ext cx="450779" cy="147713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79" name="群組 78"/>
            <p:cNvGrpSpPr/>
            <p:nvPr/>
          </p:nvGrpSpPr>
          <p:grpSpPr>
            <a:xfrm>
              <a:off x="659727" y="2784960"/>
              <a:ext cx="342900" cy="357078"/>
              <a:chOff x="600453" y="4069919"/>
              <a:chExt cx="342900" cy="357078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600453" y="4084097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40112" y="4069919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0" imgW="3048000" imgH="3352800" progId="Equation.3">
                          <p:embed/>
                        </p:oleObj>
                      </mc:Choice>
                      <mc:Fallback>
                        <p:oleObj name="方程式" r:id="rId20" imgW="3048000" imgH="3352800" progId="Equation.3">
                          <p:embed/>
                          <p:pic>
                            <p:nvPicPr>
                              <p:cNvPr id="8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112" y="4069919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40112" y="4069919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2" imgW="3048000" imgH="3352800" progId="Equation.3">
                          <p:embed/>
                        </p:oleObj>
                      </mc:Choice>
                      <mc:Fallback>
                        <p:oleObj name="方程式" r:id="rId22" imgW="3048000" imgH="3352800" progId="Equation.3">
                          <p:embed/>
                          <p:pic>
                            <p:nvPicPr>
                              <p:cNvPr id="8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112" y="4069919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82" name="群組 81"/>
            <p:cNvGrpSpPr/>
            <p:nvPr/>
          </p:nvGrpSpPr>
          <p:grpSpPr>
            <a:xfrm>
              <a:off x="661992" y="3606800"/>
              <a:ext cx="342900" cy="372560"/>
              <a:chOff x="594635" y="4624766"/>
              <a:chExt cx="342900" cy="3725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594635" y="4654426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68926" y="4624766"/>
                  <a:ext cx="188912" cy="3540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4" imgW="2133600" imgH="3962400" progId="Equation.3">
                          <p:embed/>
                        </p:oleObj>
                      </mc:Choice>
                      <mc:Fallback>
                        <p:oleObj name="方程式" r:id="rId24" imgW="2133600" imgH="3962400" progId="Equation.3">
                          <p:embed/>
                          <p:pic>
                            <p:nvPicPr>
                              <p:cNvPr id="84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68926" y="4624766"/>
                                <a:ext cx="188912" cy="35401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68926" y="4624766"/>
                  <a:ext cx="188912" cy="3540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6" imgW="2133600" imgH="3962400" progId="Equation.3">
                          <p:embed/>
                        </p:oleObj>
                      </mc:Choice>
                      <mc:Fallback>
                        <p:oleObj name="方程式" r:id="rId26" imgW="2133600" imgH="3962400" progId="Equation.3">
                          <p:embed/>
                          <p:pic>
                            <p:nvPicPr>
                              <p:cNvPr id="84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68926" y="4624766"/>
                                <a:ext cx="188912" cy="35401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85" name="文字方塊 84"/>
            <p:cNvSpPr txBox="1"/>
            <p:nvPr/>
          </p:nvSpPr>
          <p:spPr>
            <a:xfrm>
              <a:off x="275481" y="2265205"/>
              <a:ext cx="1134648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Input</a:t>
              </a:r>
            </a:p>
          </p:txBody>
        </p:sp>
        <p:sp>
          <p:nvSpPr>
            <p:cNvPr id="86" name="橢圓 85"/>
            <p:cNvSpPr/>
            <p:nvPr/>
          </p:nvSpPr>
          <p:spPr>
            <a:xfrm>
              <a:off x="2057743" y="2221946"/>
              <a:ext cx="981595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" dirty="0" err="1"/>
                <a:t>ReLU</a:t>
              </a:r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/>
                <p:cNvSpPr txBox="1"/>
                <p:nvPr/>
              </p:nvSpPr>
              <p:spPr>
                <a:xfrm>
                  <a:off x="1827699" y="2091614"/>
                  <a:ext cx="18499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7" name="文字方塊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699" y="2091614"/>
                  <a:ext cx="184997" cy="369147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單箭頭接點 87"/>
            <p:cNvCxnSpPr/>
            <p:nvPr/>
          </p:nvCxnSpPr>
          <p:spPr>
            <a:xfrm>
              <a:off x="3046881" y="2543513"/>
              <a:ext cx="2551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>
              <a:stCxn id="81" idx="3"/>
              <a:endCxn id="86" idx="2"/>
            </p:cNvCxnSpPr>
            <p:nvPr/>
          </p:nvCxnSpPr>
          <p:spPr>
            <a:xfrm flipV="1">
              <a:off x="997864" y="2509025"/>
              <a:ext cx="1059879" cy="4258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>
              <a:stCxn id="83" idx="3"/>
              <a:endCxn id="86" idx="2"/>
            </p:cNvCxnSpPr>
            <p:nvPr/>
          </p:nvCxnSpPr>
          <p:spPr>
            <a:xfrm flipV="1">
              <a:off x="1004892" y="2509025"/>
              <a:ext cx="1052851" cy="12988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1417289" y="2318726"/>
                  <a:ext cx="26500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TW" altLang="en-US" sz="3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289" y="2318726"/>
                  <a:ext cx="265007" cy="369147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/>
                <p:cNvSpPr txBox="1"/>
                <p:nvPr/>
              </p:nvSpPr>
              <p:spPr>
                <a:xfrm>
                  <a:off x="1444771" y="3236981"/>
                  <a:ext cx="203200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sz="3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文字方塊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771" y="3236981"/>
                  <a:ext cx="203200" cy="369147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/>
                <p:cNvSpPr txBox="1"/>
                <p:nvPr/>
              </p:nvSpPr>
              <p:spPr>
                <a:xfrm>
                  <a:off x="3350967" y="2318726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6" name="文字方塊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0967" y="2318726"/>
                  <a:ext cx="208703" cy="36914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" name="直線接點 69"/>
          <p:cNvCxnSpPr/>
          <p:nvPr/>
        </p:nvCxnSpPr>
        <p:spPr>
          <a:xfrm flipV="1">
            <a:off x="4739825" y="6480872"/>
            <a:ext cx="2769393" cy="311602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群組 35"/>
          <p:cNvGrpSpPr/>
          <p:nvPr/>
        </p:nvGrpSpPr>
        <p:grpSpPr>
          <a:xfrm>
            <a:off x="5828022" y="3712283"/>
            <a:ext cx="1117785" cy="615015"/>
            <a:chOff x="2696326" y="2924634"/>
            <a:chExt cx="745190" cy="410010"/>
          </a:xfrm>
        </p:grpSpPr>
        <p:cxnSp>
          <p:nvCxnSpPr>
            <p:cNvPr id="74" name="直線接點 73"/>
            <p:cNvCxnSpPr/>
            <p:nvPr/>
          </p:nvCxnSpPr>
          <p:spPr>
            <a:xfrm>
              <a:off x="2696326" y="3308897"/>
              <a:ext cx="431888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/>
            <p:nvPr/>
          </p:nvCxnSpPr>
          <p:spPr>
            <a:xfrm flipV="1">
              <a:off x="3077115" y="2924634"/>
              <a:ext cx="364401" cy="41001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直線單箭頭接點 88"/>
          <p:cNvCxnSpPr/>
          <p:nvPr/>
        </p:nvCxnSpPr>
        <p:spPr>
          <a:xfrm>
            <a:off x="10208865" y="8209971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rot="16200000">
            <a:off x="10208867" y="7719695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13938891" y="7929798"/>
                <a:ext cx="302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8891" y="7929798"/>
                <a:ext cx="302895" cy="553720"/>
              </a:xfrm>
              <a:prstGeom prst="rect">
                <a:avLst/>
              </a:prstGeom>
              <a:blipFill rotWithShape="1">
                <a:blip r:embed="rId18"/>
                <a:stretch>
                  <a:fillRect l="-2" t="-100" r="-23688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直線接點 103"/>
          <p:cNvCxnSpPr/>
          <p:nvPr/>
        </p:nvCxnSpPr>
        <p:spPr>
          <a:xfrm flipV="1">
            <a:off x="12444077" y="6555093"/>
            <a:ext cx="1438845" cy="161893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13163210" y="7300580"/>
                <a:ext cx="24644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3210" y="7300580"/>
                <a:ext cx="2464435" cy="553720"/>
              </a:xfrm>
              <a:prstGeom prst="rect">
                <a:avLst/>
              </a:prstGeom>
              <a:blipFill rotWithShape="1">
                <a:blip r:embed="rId29"/>
                <a:stretch>
                  <a:fillRect l="-12" t="-112" r="-282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12977246" y="6532088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7246" y="6532088"/>
                <a:ext cx="31305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123" t="-86" r="-23000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直線接點 112"/>
          <p:cNvCxnSpPr/>
          <p:nvPr/>
        </p:nvCxnSpPr>
        <p:spPr>
          <a:xfrm flipV="1">
            <a:off x="11179169" y="6609809"/>
            <a:ext cx="2769393" cy="311602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/>
          <p:cNvCxnSpPr/>
          <p:nvPr/>
        </p:nvCxnSpPr>
        <p:spPr>
          <a:xfrm>
            <a:off x="10208865" y="8021582"/>
            <a:ext cx="2367434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>
            <a:off x="10208865" y="8122940"/>
            <a:ext cx="347827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/>
              <p:cNvSpPr txBox="1"/>
              <p:nvPr/>
            </p:nvSpPr>
            <p:spPr>
              <a:xfrm>
                <a:off x="12563865" y="8302771"/>
                <a:ext cx="11525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3600" dirty="0"/>
                  <a:t>0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18" name="文字方塊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865" y="8302771"/>
                <a:ext cx="1152525" cy="553720"/>
              </a:xfrm>
              <a:prstGeom prst="rect">
                <a:avLst/>
              </a:prstGeom>
              <a:blipFill rotWithShape="1">
                <a:blip r:embed="rId30"/>
                <a:stretch>
                  <a:fillRect l="-34" t="-26" r="-878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id="{A840CC65-4392-F185-DEAB-84E958DDF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474" y="161365"/>
            <a:ext cx="15460628" cy="1551434"/>
          </a:xfrm>
        </p:spPr>
        <p:txBody>
          <a:bodyPr/>
          <a:lstStyle/>
          <a:p>
            <a:pPr algn="l"/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402C3B-D94A-FB55-B117-97856E9ACE65}"/>
              </a:ext>
            </a:extLst>
          </p:cNvPr>
          <p:cNvSpPr/>
          <p:nvPr/>
        </p:nvSpPr>
        <p:spPr>
          <a:xfrm>
            <a:off x="7411999" y="1146335"/>
            <a:ext cx="8986885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4200" dirty="0" err="1"/>
              <a:t>ReLU</a:t>
            </a:r>
            <a:r>
              <a:rPr lang="en-US" altLang="zh-TW" sz="4200" dirty="0"/>
              <a:t> is a </a:t>
            </a:r>
            <a:r>
              <a:rPr lang="en-US" altLang="zh-TW" sz="4200"/>
              <a:t>special case </a:t>
            </a:r>
            <a:r>
              <a:rPr lang="en-US" altLang="zh-TW" sz="4200" dirty="0"/>
              <a:t>of </a:t>
            </a:r>
            <a:r>
              <a:rPr lang="en-US" altLang="zh-TW" sz="4200" dirty="0" err="1"/>
              <a:t>Maxout</a:t>
            </a:r>
            <a:endParaRPr lang="en-US" altLang="zh-TW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107" grpId="0"/>
      <p:bldP spid="108" grpId="0"/>
      <p:bldP spid="109" grpId="0"/>
      <p:bldP spid="92" grpId="0"/>
      <p:bldP spid="98" grpId="0"/>
      <p:bldP spid="99" grpId="0"/>
      <p:bldP spid="97" grpId="0"/>
      <p:bldP spid="105" grpId="0"/>
      <p:bldP spid="112" grpId="0"/>
      <p:bldP spid="1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群組 99"/>
          <p:cNvGrpSpPr/>
          <p:nvPr/>
        </p:nvGrpSpPr>
        <p:grpSpPr>
          <a:xfrm>
            <a:off x="8412363" y="2334702"/>
            <a:ext cx="6955931" cy="3529239"/>
            <a:chOff x="116454" y="2497936"/>
            <a:chExt cx="4637287" cy="2352826"/>
          </a:xfrm>
        </p:grpSpPr>
        <p:sp>
          <p:nvSpPr>
            <p:cNvPr id="6" name="橢圓 5"/>
            <p:cNvSpPr/>
            <p:nvPr/>
          </p:nvSpPr>
          <p:spPr>
            <a:xfrm>
              <a:off x="2446782" y="2497936"/>
              <a:ext cx="671512" cy="1407194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" name="矩形 7"/>
            <p:cNvSpPr/>
            <p:nvPr/>
          </p:nvSpPr>
          <p:spPr>
            <a:xfrm>
              <a:off x="486912" y="3373624"/>
              <a:ext cx="450779" cy="147713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橢圓 8"/>
            <p:cNvSpPr/>
            <p:nvPr/>
          </p:nvSpPr>
          <p:spPr>
            <a:xfrm>
              <a:off x="3479187" y="2935808"/>
              <a:ext cx="840932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" dirty="0"/>
                <a:t>Max</a:t>
              </a:r>
              <a:endParaRPr lang="zh-TW" altLang="en-US" sz="100" dirty="0"/>
            </a:p>
          </p:txBody>
        </p:sp>
        <p:grpSp>
          <p:nvGrpSpPr>
            <p:cNvPr id="10" name="群組 9"/>
            <p:cNvGrpSpPr/>
            <p:nvPr/>
          </p:nvGrpSpPr>
          <p:grpSpPr>
            <a:xfrm>
              <a:off x="529187" y="3469485"/>
              <a:ext cx="342900" cy="357004"/>
              <a:chOff x="600453" y="4069993"/>
              <a:chExt cx="342900" cy="357004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600453" y="4084097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39400" y="4069993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" imgW="3048000" imgH="3352800" progId="Equation.3">
                          <p:embed/>
                        </p:oleObj>
                      </mc:Choice>
                      <mc:Fallback>
                        <p:oleObj name="方程式" r:id="rId2" imgW="3048000" imgH="3352800" progId="Equation.3">
                          <p:embed/>
                          <p:pic>
                            <p:nvPicPr>
                              <p:cNvPr id="1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9400" y="4069993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39400" y="4069993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4" imgW="3048000" imgH="3352800" progId="Equation.3">
                          <p:embed/>
                        </p:oleObj>
                      </mc:Choice>
                      <mc:Fallback>
                        <p:oleObj name="方程式" r:id="rId4" imgW="3048000" imgH="3352800" progId="Equation.3">
                          <p:embed/>
                          <p:pic>
                            <p:nvPicPr>
                              <p:cNvPr id="1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9400" y="4069993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13" name="群組 12"/>
            <p:cNvGrpSpPr/>
            <p:nvPr/>
          </p:nvGrpSpPr>
          <p:grpSpPr>
            <a:xfrm>
              <a:off x="531452" y="4319668"/>
              <a:ext cx="342900" cy="352425"/>
              <a:chOff x="594635" y="4653183"/>
              <a:chExt cx="342900" cy="35242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594635" y="4654426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86445" y="4653183"/>
                  <a:ext cx="188913" cy="3524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6" imgW="2133600" imgH="3962400" progId="Equation.3">
                          <p:embed/>
                        </p:oleObj>
                      </mc:Choice>
                      <mc:Fallback>
                        <p:oleObj name="方程式" r:id="rId6" imgW="2133600" imgH="3962400" progId="Equation.3">
                          <p:embed/>
                          <p:pic>
                            <p:nvPicPr>
                              <p:cNvPr id="1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6445" y="4653183"/>
                                <a:ext cx="188913" cy="35242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86445" y="4653183"/>
                  <a:ext cx="188913" cy="3524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8" imgW="2133600" imgH="3962400" progId="Equation.3">
                          <p:embed/>
                        </p:oleObj>
                      </mc:Choice>
                      <mc:Fallback>
                        <p:oleObj name="方程式" r:id="rId8" imgW="2133600" imgH="3962400" progId="Equation.3">
                          <p:embed/>
                          <p:pic>
                            <p:nvPicPr>
                              <p:cNvPr id="1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6445" y="4653183"/>
                                <a:ext cx="188913" cy="35242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16" name="文字方塊 15"/>
            <p:cNvSpPr txBox="1"/>
            <p:nvPr/>
          </p:nvSpPr>
          <p:spPr>
            <a:xfrm>
              <a:off x="116454" y="2922416"/>
              <a:ext cx="1134648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Input</a:t>
              </a:r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1977455" y="2531732"/>
              <a:ext cx="1060857" cy="491490"/>
              <a:chOff x="3518823" y="2481252"/>
              <a:chExt cx="1060857" cy="491490"/>
            </a:xfrm>
          </p:grpSpPr>
          <p:grpSp>
            <p:nvGrpSpPr>
              <p:cNvPr id="20" name="群組 19"/>
              <p:cNvGrpSpPr/>
              <p:nvPr/>
            </p:nvGrpSpPr>
            <p:grpSpPr>
              <a:xfrm>
                <a:off x="3518823" y="2481252"/>
                <a:ext cx="311569" cy="491490"/>
                <a:chOff x="3518823" y="2481252"/>
                <a:chExt cx="311569" cy="491490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3518823" y="2611915"/>
                  <a:ext cx="287079" cy="28707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24" name="文字方塊 23"/>
                <p:cNvSpPr txBox="1"/>
                <p:nvPr/>
              </p:nvSpPr>
              <p:spPr>
                <a:xfrm>
                  <a:off x="3530355" y="2481252"/>
                  <a:ext cx="300037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4200" dirty="0"/>
                    <a:t>+</a:t>
                  </a:r>
                  <a:endParaRPr lang="zh-TW" altLang="en-US" sz="4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字方塊 20"/>
                  <p:cNvSpPr txBox="1"/>
                  <p:nvPr/>
                </p:nvSpPr>
                <p:spPr>
                  <a:xfrm>
                    <a:off x="4173280" y="2513104"/>
                    <a:ext cx="406400" cy="3757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1" name="文字方塊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3280" y="2513104"/>
                    <a:ext cx="406400" cy="375789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線單箭頭接點 21"/>
              <p:cNvCxnSpPr/>
              <p:nvPr/>
            </p:nvCxnSpPr>
            <p:spPr>
              <a:xfrm>
                <a:off x="3805902" y="2755454"/>
                <a:ext cx="35584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/>
            <p:cNvGrpSpPr/>
            <p:nvPr/>
          </p:nvGrpSpPr>
          <p:grpSpPr>
            <a:xfrm>
              <a:off x="1988987" y="3397713"/>
              <a:ext cx="1049188" cy="491490"/>
              <a:chOff x="3518823" y="2481252"/>
              <a:chExt cx="1049188" cy="491490"/>
            </a:xfrm>
          </p:grpSpPr>
          <p:grpSp>
            <p:nvGrpSpPr>
              <p:cNvPr id="26" name="群組 25"/>
              <p:cNvGrpSpPr/>
              <p:nvPr/>
            </p:nvGrpSpPr>
            <p:grpSpPr>
              <a:xfrm>
                <a:off x="3518823" y="2481252"/>
                <a:ext cx="311569" cy="491490"/>
                <a:chOff x="3518823" y="2481252"/>
                <a:chExt cx="311569" cy="491490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3518823" y="2611915"/>
                  <a:ext cx="287079" cy="28707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30" name="文字方塊 29"/>
                <p:cNvSpPr txBox="1"/>
                <p:nvPr/>
              </p:nvSpPr>
              <p:spPr>
                <a:xfrm>
                  <a:off x="3530355" y="2481252"/>
                  <a:ext cx="300037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4200" dirty="0"/>
                    <a:t>+</a:t>
                  </a:r>
                  <a:endParaRPr lang="zh-TW" altLang="en-US" sz="4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字方塊 26"/>
                  <p:cNvSpPr txBox="1"/>
                  <p:nvPr/>
                </p:nvSpPr>
                <p:spPr>
                  <a:xfrm>
                    <a:off x="4161611" y="2516174"/>
                    <a:ext cx="406400" cy="3761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7" name="文字方塊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1611" y="2516174"/>
                    <a:ext cx="406400" cy="376187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直線單箭頭接點 27"/>
              <p:cNvCxnSpPr/>
              <p:nvPr/>
            </p:nvCxnSpPr>
            <p:spPr>
              <a:xfrm>
                <a:off x="3805902" y="2755454"/>
                <a:ext cx="35584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/>
                <p:cNvSpPr txBox="1"/>
                <p:nvPr/>
              </p:nvSpPr>
              <p:spPr>
                <a:xfrm>
                  <a:off x="4545038" y="3036457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43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5038" y="3036457"/>
                  <a:ext cx="208703" cy="36914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線單箭頭接點 46"/>
            <p:cNvCxnSpPr/>
            <p:nvPr/>
          </p:nvCxnSpPr>
          <p:spPr>
            <a:xfrm>
              <a:off x="4293226" y="3260273"/>
              <a:ext cx="2551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/>
                <p:cNvSpPr txBox="1"/>
                <p:nvPr/>
              </p:nvSpPr>
              <p:spPr>
                <a:xfrm>
                  <a:off x="3255793" y="3579480"/>
                  <a:ext cx="1434253" cy="3568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/>
                            </m:sSub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/>
                            </m:sSubSup>
                          </m:e>
                        </m:d>
                      </m:oMath>
                    </m:oMathPara>
                  </a14:m>
                  <a:endParaRPr lang="zh-TW" altLang="en-US" sz="3000" dirty="0"/>
                </a:p>
              </p:txBody>
            </p:sp>
          </mc:Choice>
          <mc:Fallback xmlns="">
            <p:sp>
              <p:nvSpPr>
                <p:cNvPr id="49" name="文字方塊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793" y="3579480"/>
                  <a:ext cx="1434253" cy="35687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線單箭頭接點 49"/>
            <p:cNvCxnSpPr/>
            <p:nvPr/>
          </p:nvCxnSpPr>
          <p:spPr>
            <a:xfrm flipV="1">
              <a:off x="838676" y="2805935"/>
              <a:ext cx="1138779" cy="843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867324" y="3619320"/>
              <a:ext cx="1133195" cy="400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V="1">
              <a:off x="907690" y="2805935"/>
              <a:ext cx="1069765" cy="16631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flipV="1">
              <a:off x="907690" y="3671916"/>
              <a:ext cx="1081297" cy="797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>
              <a:off x="2978820" y="2792922"/>
              <a:ext cx="502187" cy="4398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 flipV="1">
              <a:off x="2944668" y="3232819"/>
              <a:ext cx="536339" cy="4544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10064394" y="2840573"/>
                <a:ext cx="3975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394" y="2840573"/>
                <a:ext cx="397510" cy="553720"/>
              </a:xfrm>
              <a:prstGeom prst="rect">
                <a:avLst/>
              </a:prstGeom>
              <a:blipFill rotWithShape="1">
                <a:blip r:embed="rId14"/>
                <a:stretch>
                  <a:fillRect l="-70" t="-39" r="-1798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/>
              <p:cNvSpPr txBox="1"/>
              <p:nvPr/>
            </p:nvSpPr>
            <p:spPr>
              <a:xfrm>
                <a:off x="10733001" y="3312860"/>
                <a:ext cx="30480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7" name="文字方塊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001" y="3312860"/>
                <a:ext cx="304800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76" t="-12" r="-2367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/>
              <p:cNvSpPr txBox="1"/>
              <p:nvPr/>
            </p:nvSpPr>
            <p:spPr>
              <a:xfrm>
                <a:off x="9668343" y="4075140"/>
                <a:ext cx="54229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" name="文字方塊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343" y="4075140"/>
                <a:ext cx="542290" cy="553720"/>
              </a:xfrm>
              <a:prstGeom prst="rect">
                <a:avLst/>
              </a:prstGeom>
              <a:blipFill rotWithShape="1">
                <a:blip r:embed="rId16"/>
                <a:stretch>
                  <a:fillRect l="-86" t="-62" r="-12209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10162010" y="4727286"/>
                <a:ext cx="44450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010" y="4727286"/>
                <a:ext cx="444500" cy="553720"/>
              </a:xfrm>
              <a:prstGeom prst="rect">
                <a:avLst/>
              </a:prstGeom>
              <a:blipFill rotWithShape="1">
                <a:blip r:embed="rId17"/>
                <a:stretch>
                  <a:fillRect l="-24" t="-62" r="-1569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單箭頭接點 89"/>
          <p:cNvCxnSpPr/>
          <p:nvPr/>
        </p:nvCxnSpPr>
        <p:spPr>
          <a:xfrm>
            <a:off x="3769521" y="8081034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rot="16200000">
            <a:off x="3769523" y="7590758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/>
              <p:cNvSpPr txBox="1"/>
              <p:nvPr/>
            </p:nvSpPr>
            <p:spPr>
              <a:xfrm>
                <a:off x="7499547" y="7800861"/>
                <a:ext cx="302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2" name="文字方塊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547" y="7800861"/>
                <a:ext cx="302895" cy="553720"/>
              </a:xfrm>
              <a:prstGeom prst="rect">
                <a:avLst/>
              </a:prstGeom>
              <a:blipFill rotWithShape="1">
                <a:blip r:embed="rId18"/>
                <a:stretch>
                  <a:fillRect l="-65" t="-94" r="-236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接點 94"/>
          <p:cNvCxnSpPr/>
          <p:nvPr/>
        </p:nvCxnSpPr>
        <p:spPr>
          <a:xfrm>
            <a:off x="4225629" y="8006474"/>
            <a:ext cx="185575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 flipV="1">
            <a:off x="6004733" y="6426156"/>
            <a:ext cx="1438845" cy="161893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7103321" y="6956204"/>
                <a:ext cx="22688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321" y="6956204"/>
                <a:ext cx="2268855" cy="553720"/>
              </a:xfrm>
              <a:prstGeom prst="rect">
                <a:avLst/>
              </a:prstGeom>
              <a:blipFill rotWithShape="1">
                <a:blip r:embed="rId19"/>
                <a:stretch>
                  <a:fillRect l="-9" t="-75" r="-2789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6537902" y="6403151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02" y="6403151"/>
                <a:ext cx="313055" cy="553720"/>
              </a:xfrm>
              <a:prstGeom prst="rect">
                <a:avLst/>
              </a:prstGeom>
              <a:blipFill rotWithShape="1">
                <a:blip r:embed="rId12"/>
                <a:stretch>
                  <a:fillRect l="-184" t="-81" r="-22939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/>
          <p:cNvGrpSpPr/>
          <p:nvPr/>
        </p:nvGrpSpPr>
        <p:grpSpPr>
          <a:xfrm>
            <a:off x="2959761" y="2609247"/>
            <a:ext cx="4926284" cy="3112046"/>
            <a:chOff x="275481" y="2091614"/>
            <a:chExt cx="3284189" cy="2074697"/>
          </a:xfrm>
        </p:grpSpPr>
        <p:sp>
          <p:nvSpPr>
            <p:cNvPr id="78" name="矩形 77"/>
            <p:cNvSpPr/>
            <p:nvPr/>
          </p:nvSpPr>
          <p:spPr>
            <a:xfrm>
              <a:off x="617452" y="2689173"/>
              <a:ext cx="450779" cy="147713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79" name="群組 78"/>
            <p:cNvGrpSpPr/>
            <p:nvPr/>
          </p:nvGrpSpPr>
          <p:grpSpPr>
            <a:xfrm>
              <a:off x="659727" y="2784960"/>
              <a:ext cx="342900" cy="357078"/>
              <a:chOff x="600453" y="4069919"/>
              <a:chExt cx="342900" cy="357078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600453" y="4084097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40112" y="4069919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0" imgW="3048000" imgH="3352800" progId="Equation.3">
                          <p:embed/>
                        </p:oleObj>
                      </mc:Choice>
                      <mc:Fallback>
                        <p:oleObj name="方程式" r:id="rId20" imgW="3048000" imgH="3352800" progId="Equation.3">
                          <p:embed/>
                          <p:pic>
                            <p:nvPicPr>
                              <p:cNvPr id="8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112" y="4069919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40112" y="4069919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2" imgW="3048000" imgH="3352800" progId="Equation.3">
                          <p:embed/>
                        </p:oleObj>
                      </mc:Choice>
                      <mc:Fallback>
                        <p:oleObj name="方程式" r:id="rId22" imgW="3048000" imgH="3352800" progId="Equation.3">
                          <p:embed/>
                          <p:pic>
                            <p:nvPicPr>
                              <p:cNvPr id="8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112" y="4069919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82" name="群組 81"/>
            <p:cNvGrpSpPr/>
            <p:nvPr/>
          </p:nvGrpSpPr>
          <p:grpSpPr>
            <a:xfrm>
              <a:off x="661992" y="3606800"/>
              <a:ext cx="342900" cy="372560"/>
              <a:chOff x="594635" y="4624766"/>
              <a:chExt cx="342900" cy="3725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594635" y="4654426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68926" y="4624766"/>
                  <a:ext cx="188912" cy="3540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4" imgW="2133600" imgH="3962400" progId="Equation.3">
                          <p:embed/>
                        </p:oleObj>
                      </mc:Choice>
                      <mc:Fallback>
                        <p:oleObj name="方程式" r:id="rId24" imgW="2133600" imgH="3962400" progId="Equation.3">
                          <p:embed/>
                          <p:pic>
                            <p:nvPicPr>
                              <p:cNvPr id="84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68926" y="4624766"/>
                                <a:ext cx="188912" cy="35401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68926" y="4624766"/>
                  <a:ext cx="188912" cy="3540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6" imgW="2133600" imgH="3962400" progId="Equation.3">
                          <p:embed/>
                        </p:oleObj>
                      </mc:Choice>
                      <mc:Fallback>
                        <p:oleObj name="方程式" r:id="rId26" imgW="2133600" imgH="3962400" progId="Equation.3">
                          <p:embed/>
                          <p:pic>
                            <p:nvPicPr>
                              <p:cNvPr id="84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68926" y="4624766"/>
                                <a:ext cx="188912" cy="35401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85" name="文字方塊 84"/>
            <p:cNvSpPr txBox="1"/>
            <p:nvPr/>
          </p:nvSpPr>
          <p:spPr>
            <a:xfrm>
              <a:off x="275481" y="2265205"/>
              <a:ext cx="1134648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Input</a:t>
              </a:r>
            </a:p>
          </p:txBody>
        </p:sp>
        <p:sp>
          <p:nvSpPr>
            <p:cNvPr id="86" name="橢圓 85"/>
            <p:cNvSpPr/>
            <p:nvPr/>
          </p:nvSpPr>
          <p:spPr>
            <a:xfrm>
              <a:off x="2057743" y="2221946"/>
              <a:ext cx="981595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" dirty="0" err="1"/>
                <a:t>ReLU</a:t>
              </a:r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/>
                <p:cNvSpPr txBox="1"/>
                <p:nvPr/>
              </p:nvSpPr>
              <p:spPr>
                <a:xfrm>
                  <a:off x="1827699" y="2091614"/>
                  <a:ext cx="18499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7" name="文字方塊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699" y="2091614"/>
                  <a:ext cx="184997" cy="369147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單箭頭接點 87"/>
            <p:cNvCxnSpPr/>
            <p:nvPr/>
          </p:nvCxnSpPr>
          <p:spPr>
            <a:xfrm>
              <a:off x="3046881" y="2543513"/>
              <a:ext cx="2551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>
              <a:stCxn id="81" idx="3"/>
              <a:endCxn id="86" idx="2"/>
            </p:cNvCxnSpPr>
            <p:nvPr/>
          </p:nvCxnSpPr>
          <p:spPr>
            <a:xfrm flipV="1">
              <a:off x="997864" y="2509025"/>
              <a:ext cx="1059879" cy="4258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>
              <a:stCxn id="83" idx="3"/>
              <a:endCxn id="86" idx="2"/>
            </p:cNvCxnSpPr>
            <p:nvPr/>
          </p:nvCxnSpPr>
          <p:spPr>
            <a:xfrm flipV="1">
              <a:off x="1004892" y="2509025"/>
              <a:ext cx="1052851" cy="12988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1417289" y="2318726"/>
                  <a:ext cx="26500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TW" altLang="en-US" sz="3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289" y="2318726"/>
                  <a:ext cx="265007" cy="369147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/>
                <p:cNvSpPr txBox="1"/>
                <p:nvPr/>
              </p:nvSpPr>
              <p:spPr>
                <a:xfrm>
                  <a:off x="1444771" y="3236981"/>
                  <a:ext cx="203200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sz="3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文字方塊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771" y="3236981"/>
                  <a:ext cx="203200" cy="369147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/>
                <p:cNvSpPr txBox="1"/>
                <p:nvPr/>
              </p:nvSpPr>
              <p:spPr>
                <a:xfrm>
                  <a:off x="3350967" y="2318726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6" name="文字方塊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0967" y="2318726"/>
                  <a:ext cx="208703" cy="36914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" name="直線接點 69"/>
          <p:cNvCxnSpPr/>
          <p:nvPr/>
        </p:nvCxnSpPr>
        <p:spPr>
          <a:xfrm flipV="1">
            <a:off x="4739825" y="6480872"/>
            <a:ext cx="2769393" cy="311602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群組 35"/>
          <p:cNvGrpSpPr/>
          <p:nvPr/>
        </p:nvGrpSpPr>
        <p:grpSpPr>
          <a:xfrm>
            <a:off x="5828022" y="3712283"/>
            <a:ext cx="1117785" cy="615015"/>
            <a:chOff x="2696326" y="2924634"/>
            <a:chExt cx="745190" cy="410010"/>
          </a:xfrm>
        </p:grpSpPr>
        <p:cxnSp>
          <p:nvCxnSpPr>
            <p:cNvPr id="74" name="直線接點 73"/>
            <p:cNvCxnSpPr/>
            <p:nvPr/>
          </p:nvCxnSpPr>
          <p:spPr>
            <a:xfrm>
              <a:off x="2696326" y="3308897"/>
              <a:ext cx="431888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/>
            <p:nvPr/>
          </p:nvCxnSpPr>
          <p:spPr>
            <a:xfrm flipV="1">
              <a:off x="3077115" y="2924634"/>
              <a:ext cx="364401" cy="41001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直線單箭頭接點 88"/>
          <p:cNvCxnSpPr/>
          <p:nvPr/>
        </p:nvCxnSpPr>
        <p:spPr>
          <a:xfrm>
            <a:off x="10208865" y="8209971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rot="16200000">
            <a:off x="10208867" y="7719695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13938891" y="7929798"/>
                <a:ext cx="302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8891" y="7929798"/>
                <a:ext cx="302895" cy="553720"/>
              </a:xfrm>
              <a:prstGeom prst="rect">
                <a:avLst/>
              </a:prstGeom>
              <a:blipFill rotWithShape="1">
                <a:blip r:embed="rId18"/>
                <a:stretch>
                  <a:fillRect l="-2" t="-100" r="-23688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直線接點 103"/>
          <p:cNvCxnSpPr/>
          <p:nvPr/>
        </p:nvCxnSpPr>
        <p:spPr>
          <a:xfrm flipV="1">
            <a:off x="12107163" y="6555093"/>
            <a:ext cx="1775759" cy="199802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13163210" y="7300580"/>
                <a:ext cx="24644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3210" y="7300580"/>
                <a:ext cx="2464435" cy="553720"/>
              </a:xfrm>
              <a:prstGeom prst="rect">
                <a:avLst/>
              </a:prstGeom>
              <a:blipFill rotWithShape="1">
                <a:blip r:embed="rId29"/>
                <a:stretch>
                  <a:fillRect l="-12" t="-112" r="-282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12977246" y="6532088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7246" y="6532088"/>
                <a:ext cx="313055" cy="553720"/>
              </a:xfrm>
              <a:prstGeom prst="rect">
                <a:avLst/>
              </a:prstGeom>
              <a:blipFill rotWithShape="1">
                <a:blip r:embed="rId12"/>
                <a:stretch>
                  <a:fillRect l="-123" t="-86" r="-23000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直線接點 112"/>
          <p:cNvCxnSpPr/>
          <p:nvPr/>
        </p:nvCxnSpPr>
        <p:spPr>
          <a:xfrm flipV="1">
            <a:off x="11179169" y="6609809"/>
            <a:ext cx="2769393" cy="311602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/>
          <p:cNvCxnSpPr/>
          <p:nvPr/>
        </p:nvCxnSpPr>
        <p:spPr>
          <a:xfrm>
            <a:off x="10349780" y="7649622"/>
            <a:ext cx="1709166" cy="91574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>
            <a:off x="10162010" y="7659699"/>
            <a:ext cx="2815236" cy="15278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12977246" y="9091403"/>
                <a:ext cx="27609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7246" y="9091403"/>
                <a:ext cx="2760980" cy="553720"/>
              </a:xfrm>
              <a:prstGeom prst="rect">
                <a:avLst/>
              </a:prstGeom>
              <a:blipFill rotWithShape="1">
                <a:blip r:embed="rId30"/>
                <a:stretch>
                  <a:fillRect l="-14" t="-20" r="-203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10669457" y="4995368"/>
            <a:ext cx="5159051" cy="1383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Learnable Activation Function</a:t>
            </a:r>
            <a:endParaRPr lang="zh-TW" altLang="en-US" sz="4200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808DD24F-C001-F177-B502-594BAA42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474" y="161365"/>
            <a:ext cx="15460628" cy="1551434"/>
          </a:xfrm>
        </p:spPr>
        <p:txBody>
          <a:bodyPr/>
          <a:lstStyle/>
          <a:p>
            <a:pPr algn="l"/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A0A006-86D1-9A13-5BF5-76C10A312DBA}"/>
              </a:ext>
            </a:extLst>
          </p:cNvPr>
          <p:cNvSpPr/>
          <p:nvPr/>
        </p:nvSpPr>
        <p:spPr>
          <a:xfrm>
            <a:off x="9940036" y="1082307"/>
            <a:ext cx="4491029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More than </a:t>
            </a:r>
            <a:r>
              <a:rPr lang="en-US" altLang="zh-TW" sz="4200" dirty="0" err="1"/>
              <a:t>ReLU</a:t>
            </a:r>
            <a:endParaRPr lang="en-US" altLang="zh-TW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  <p:bldP spid="97" grpId="0"/>
      <p:bldP spid="105" grpId="0"/>
      <p:bldP spid="112" grpId="0"/>
      <p:bldP spid="93" grpId="0"/>
      <p:bldP spid="32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Learnable activation function </a:t>
            </a:r>
            <a:r>
              <a:rPr lang="en-US" altLang="zh-TW" sz="2700" dirty="0">
                <a:solidFill>
                  <a:srgbClr val="0000FF"/>
                </a:solidFill>
              </a:rPr>
              <a:t>[Ian J. </a:t>
            </a:r>
            <a:r>
              <a:rPr lang="en-US" altLang="zh-TW" sz="2700" dirty="0" err="1">
                <a:solidFill>
                  <a:srgbClr val="0000FF"/>
                </a:solidFill>
              </a:rPr>
              <a:t>Goodfellow</a:t>
            </a:r>
            <a:r>
              <a:rPr lang="en-US" altLang="zh-TW" sz="2700" dirty="0">
                <a:solidFill>
                  <a:srgbClr val="0000FF"/>
                </a:solidFill>
              </a:rPr>
              <a:t>, ICML’13]</a:t>
            </a:r>
          </a:p>
          <a:p>
            <a:pPr lvl="1"/>
            <a:r>
              <a:rPr lang="en-US" altLang="zh-TW" sz="4200" dirty="0"/>
              <a:t>Activation function in </a:t>
            </a:r>
            <a:r>
              <a:rPr lang="en-US" altLang="zh-TW" sz="4200" dirty="0" err="1"/>
              <a:t>maxout</a:t>
            </a:r>
            <a:r>
              <a:rPr lang="en-US" altLang="zh-TW" sz="4200" dirty="0"/>
              <a:t> network can be any piecewise linear convex function</a:t>
            </a:r>
          </a:p>
          <a:p>
            <a:pPr lvl="1"/>
            <a:r>
              <a:rPr lang="en-US" altLang="zh-TW" sz="4200" dirty="0"/>
              <a:t>How many pieces depending on how many elements in a group </a:t>
            </a:r>
            <a:endParaRPr lang="zh-TW" altLang="en-US" sz="4200" dirty="0"/>
          </a:p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955851" y="6332811"/>
            <a:ext cx="5690366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2 elements in a group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3190307" y="7375416"/>
            <a:ext cx="2401248" cy="2401248"/>
            <a:chOff x="6200673" y="4150479"/>
            <a:chExt cx="2474339" cy="2474339"/>
          </a:xfrm>
        </p:grpSpPr>
        <p:cxnSp>
          <p:nvCxnSpPr>
            <p:cNvPr id="7" name="直線單箭頭接點 6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6408455" y="7417506"/>
            <a:ext cx="2401248" cy="2401248"/>
            <a:chOff x="6200673" y="4150479"/>
            <a:chExt cx="2474339" cy="2474339"/>
          </a:xfrm>
        </p:grpSpPr>
        <p:cxnSp>
          <p:nvCxnSpPr>
            <p:cNvPr id="22" name="直線單箭頭接點 21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>
              <a:off x="6377382" y="4785491"/>
              <a:ext cx="1088745" cy="92331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群組 47"/>
          <p:cNvGrpSpPr/>
          <p:nvPr/>
        </p:nvGrpSpPr>
        <p:grpSpPr>
          <a:xfrm>
            <a:off x="9993095" y="7405091"/>
            <a:ext cx="2401248" cy="2401248"/>
            <a:chOff x="6200673" y="4150479"/>
            <a:chExt cx="2474339" cy="2474339"/>
          </a:xfrm>
        </p:grpSpPr>
        <p:cxnSp>
          <p:nvCxnSpPr>
            <p:cNvPr id="49" name="直線單箭頭接點 48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>
              <a:off x="6266972" y="4841656"/>
              <a:ext cx="283410" cy="87854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/>
          <p:cNvGrpSpPr/>
          <p:nvPr/>
        </p:nvGrpSpPr>
        <p:grpSpPr>
          <a:xfrm>
            <a:off x="12755007" y="7375416"/>
            <a:ext cx="2401248" cy="2430923"/>
            <a:chOff x="6200673" y="4119901"/>
            <a:chExt cx="2474339" cy="2504917"/>
          </a:xfrm>
        </p:grpSpPr>
        <p:cxnSp>
          <p:nvCxnSpPr>
            <p:cNvPr id="54" name="直線單箭頭接點 53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 flipV="1">
              <a:off x="7720924" y="5239126"/>
              <a:ext cx="583675" cy="68394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/>
            <p:nvPr/>
          </p:nvCxnSpPr>
          <p:spPr>
            <a:xfrm flipV="1">
              <a:off x="8270564" y="4119901"/>
              <a:ext cx="148372" cy="1143305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矩形 57"/>
          <p:cNvSpPr/>
          <p:nvPr/>
        </p:nvSpPr>
        <p:spPr>
          <a:xfrm>
            <a:off x="9906330" y="6337149"/>
            <a:ext cx="5690363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3 elements in a group</a:t>
            </a:r>
          </a:p>
        </p:txBody>
      </p:sp>
      <p:cxnSp>
        <p:nvCxnSpPr>
          <p:cNvPr id="61" name="直線接點 60"/>
          <p:cNvCxnSpPr/>
          <p:nvPr/>
        </p:nvCxnSpPr>
        <p:spPr>
          <a:xfrm>
            <a:off x="10257819" y="8881316"/>
            <a:ext cx="904349" cy="8859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3087350" y="9090101"/>
            <a:ext cx="1208505" cy="17534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ldLvl="0" animBg="1"/>
      <p:bldP spid="58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Maxout</a:t>
            </a:r>
            <a:r>
              <a:rPr lang="en-US" altLang="zh-TW" dirty="0"/>
              <a:t> - Training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Given a training data x, we know which z would be the max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884859" y="3780890"/>
            <a:ext cx="676169" cy="47747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橢圓 4"/>
          <p:cNvSpPr/>
          <p:nvPr/>
        </p:nvSpPr>
        <p:spPr>
          <a:xfrm>
            <a:off x="11705748" y="638942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橢圓 5"/>
          <p:cNvSpPr/>
          <p:nvPr/>
        </p:nvSpPr>
        <p:spPr>
          <a:xfrm>
            <a:off x="11692473" y="374078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6151568" y="3800025"/>
            <a:ext cx="676169" cy="478939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橢圓 7"/>
          <p:cNvSpPr/>
          <p:nvPr/>
        </p:nvSpPr>
        <p:spPr>
          <a:xfrm>
            <a:off x="5969448" y="639554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5956173" y="374690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14746770" y="4316163"/>
            <a:ext cx="676169" cy="36249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9016433" y="4302821"/>
            <a:ext cx="676169" cy="364026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3016368" y="5060436"/>
            <a:ext cx="676169" cy="22157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7504781" y="4403712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3079781" y="5082509"/>
            <a:ext cx="514350" cy="692943"/>
            <a:chOff x="600453" y="3988847"/>
            <a:chExt cx="342900" cy="461962"/>
          </a:xfrm>
        </p:grpSpPr>
        <p:sp>
          <p:nvSpPr>
            <p:cNvPr id="15" name="矩形 14"/>
            <p:cNvSpPr/>
            <p:nvPr/>
          </p:nvSpPr>
          <p:spPr>
            <a:xfrm>
              <a:off x="600453" y="408409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613152" y="3988847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152" y="3988847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群組 16"/>
          <p:cNvGrpSpPr/>
          <p:nvPr/>
        </p:nvGrpSpPr>
        <p:grpSpPr>
          <a:xfrm>
            <a:off x="3083178" y="6357092"/>
            <a:ext cx="564357" cy="692945"/>
            <a:chOff x="594635" y="4571576"/>
            <a:chExt cx="376238" cy="461963"/>
          </a:xfrm>
        </p:grpSpPr>
        <p:sp>
          <p:nvSpPr>
            <p:cNvPr id="18" name="矩形 17"/>
            <p:cNvSpPr/>
            <p:nvPr/>
          </p:nvSpPr>
          <p:spPr>
            <a:xfrm>
              <a:off x="594635" y="465442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9" name="Object 12"/>
            <p:cNvGraphicFramePr>
              <a:graphicFrameLocks noChangeAspect="1"/>
            </p:cNvGraphicFramePr>
            <p:nvPr/>
          </p:nvGraphicFramePr>
          <p:xfrm>
            <a:off x="618448" y="4571576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448" y="4571576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字方塊 19"/>
          <p:cNvSpPr txBox="1"/>
          <p:nvPr/>
        </p:nvSpPr>
        <p:spPr>
          <a:xfrm>
            <a:off x="2502423" y="4101717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</a:p>
        </p:txBody>
      </p:sp>
      <p:sp>
        <p:nvSpPr>
          <p:cNvPr id="22" name="橢圓 20"/>
          <p:cNvSpPr/>
          <p:nvPr/>
        </p:nvSpPr>
        <p:spPr>
          <a:xfrm>
            <a:off x="7516562" y="7143545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1"/>
              <p:cNvSpPr txBox="1"/>
              <p:nvPr/>
            </p:nvSpPr>
            <p:spPr>
              <a:xfrm>
                <a:off x="3118898" y="7358451"/>
                <a:ext cx="35433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898" y="7358451"/>
                <a:ext cx="354330" cy="645795"/>
              </a:xfrm>
              <a:prstGeom prst="rect">
                <a:avLst/>
              </a:prstGeom>
              <a:blipFill rotWithShape="1">
                <a:blip r:embed="rId7"/>
                <a:stretch>
                  <a:fillRect l="-117" t="-11" r="-2336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2"/>
          <p:cNvGrpSpPr/>
          <p:nvPr/>
        </p:nvGrpSpPr>
        <p:grpSpPr>
          <a:xfrm>
            <a:off x="5252182" y="3797598"/>
            <a:ext cx="1427384" cy="737235"/>
            <a:chOff x="3518823" y="2481252"/>
            <a:chExt cx="951589" cy="491490"/>
          </a:xfrm>
        </p:grpSpPr>
        <p:grpSp>
          <p:nvGrpSpPr>
            <p:cNvPr id="25" name="群組 23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4"/>
                <p:cNvSpPr txBox="1"/>
                <p:nvPr/>
              </p:nvSpPr>
              <p:spPr>
                <a:xfrm>
                  <a:off x="4142752" y="2545696"/>
                  <a:ext cx="327660" cy="3653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6" name="文字方塊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533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線單箭頭接點 25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8"/>
          <p:cNvGrpSpPr/>
          <p:nvPr/>
        </p:nvGrpSpPr>
        <p:grpSpPr>
          <a:xfrm>
            <a:off x="5269481" y="5096570"/>
            <a:ext cx="1427384" cy="737235"/>
            <a:chOff x="3518823" y="2481252"/>
            <a:chExt cx="951589" cy="491490"/>
          </a:xfrm>
        </p:grpSpPr>
        <p:grpSp>
          <p:nvGrpSpPr>
            <p:cNvPr id="31" name="群組 29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4" name="文字方塊 33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0"/>
                <p:cNvSpPr txBox="1"/>
                <p:nvPr/>
              </p:nvSpPr>
              <p:spPr>
                <a:xfrm>
                  <a:off x="4142752" y="2545696"/>
                  <a:ext cx="327660" cy="365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2" name="文字方塊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576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線單箭頭接點 31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4"/>
          <p:cNvGrpSpPr/>
          <p:nvPr/>
        </p:nvGrpSpPr>
        <p:grpSpPr>
          <a:xfrm>
            <a:off x="5267952" y="6395541"/>
            <a:ext cx="1427384" cy="737235"/>
            <a:chOff x="3518823" y="2481252"/>
            <a:chExt cx="951589" cy="491490"/>
          </a:xfrm>
        </p:grpSpPr>
        <p:grpSp>
          <p:nvGrpSpPr>
            <p:cNvPr id="37" name="群組 35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6"/>
                <p:cNvSpPr txBox="1"/>
                <p:nvPr/>
              </p:nvSpPr>
              <p:spPr>
                <a:xfrm>
                  <a:off x="4142752" y="2545696"/>
                  <a:ext cx="327660" cy="3678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8" name="文字方塊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787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直線單箭頭接點 37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群組 40"/>
          <p:cNvGrpSpPr/>
          <p:nvPr/>
        </p:nvGrpSpPr>
        <p:grpSpPr>
          <a:xfrm>
            <a:off x="5265222" y="7808787"/>
            <a:ext cx="1427384" cy="737235"/>
            <a:chOff x="3518823" y="2481252"/>
            <a:chExt cx="951589" cy="491490"/>
          </a:xfrm>
        </p:grpSpPr>
        <p:grpSp>
          <p:nvGrpSpPr>
            <p:cNvPr id="43" name="群組 41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6" name="文字方塊 45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2"/>
                <p:cNvSpPr txBox="1"/>
                <p:nvPr/>
              </p:nvSpPr>
              <p:spPr>
                <a:xfrm>
                  <a:off x="4142752" y="2545696"/>
                  <a:ext cx="327660" cy="3644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44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449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線單箭頭接點 43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6"/>
              <p:cNvSpPr txBox="1"/>
              <p:nvPr/>
            </p:nvSpPr>
            <p:spPr>
              <a:xfrm>
                <a:off x="9103557" y="4554686"/>
                <a:ext cx="519430" cy="548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557" y="4554686"/>
                <a:ext cx="519430" cy="548005"/>
              </a:xfrm>
              <a:prstGeom prst="rect">
                <a:avLst/>
              </a:prstGeom>
              <a:blipFill rotWithShape="1">
                <a:blip r:embed="rId12"/>
                <a:stretch>
                  <a:fillRect l="-38" t="-85" r="-14143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7"/>
              <p:cNvSpPr txBox="1"/>
              <p:nvPr/>
            </p:nvSpPr>
            <p:spPr>
              <a:xfrm>
                <a:off x="9083967" y="7271444"/>
                <a:ext cx="519430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967" y="7271444"/>
                <a:ext cx="519430" cy="548640"/>
              </a:xfrm>
              <a:prstGeom prst="rect">
                <a:avLst/>
              </a:prstGeom>
              <a:blipFill rotWithShape="1">
                <a:blip r:embed="rId13"/>
                <a:stretch>
                  <a:fillRect l="-56" t="-11" r="-1412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橢圓 48"/>
          <p:cNvSpPr/>
          <p:nvPr/>
        </p:nvSpPr>
        <p:spPr>
          <a:xfrm>
            <a:off x="13259304" y="4403712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sp>
        <p:nvSpPr>
          <p:cNvPr id="51" name="橢圓 49"/>
          <p:cNvSpPr/>
          <p:nvPr/>
        </p:nvSpPr>
        <p:spPr>
          <a:xfrm>
            <a:off x="13271085" y="7143545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grpSp>
        <p:nvGrpSpPr>
          <p:cNvPr id="52" name="群組 50"/>
          <p:cNvGrpSpPr/>
          <p:nvPr/>
        </p:nvGrpSpPr>
        <p:grpSpPr>
          <a:xfrm>
            <a:off x="11006706" y="3797598"/>
            <a:ext cx="1432464" cy="737235"/>
            <a:chOff x="3518823" y="2481252"/>
            <a:chExt cx="954976" cy="491490"/>
          </a:xfrm>
        </p:grpSpPr>
        <p:grpSp>
          <p:nvGrpSpPr>
            <p:cNvPr id="53" name="群組 51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文字方塊 55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2"/>
                <p:cNvSpPr txBox="1"/>
                <p:nvPr/>
              </p:nvSpPr>
              <p:spPr>
                <a:xfrm>
                  <a:off x="4142752" y="2545696"/>
                  <a:ext cx="331047" cy="365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4" name="文字方塊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576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線單箭頭接點 53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群組 56"/>
          <p:cNvGrpSpPr/>
          <p:nvPr/>
        </p:nvGrpSpPr>
        <p:grpSpPr>
          <a:xfrm>
            <a:off x="11024004" y="5096570"/>
            <a:ext cx="1432464" cy="737235"/>
            <a:chOff x="3518823" y="2481252"/>
            <a:chExt cx="954976" cy="491490"/>
          </a:xfrm>
        </p:grpSpPr>
        <p:grpSp>
          <p:nvGrpSpPr>
            <p:cNvPr id="59" name="群組 57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2" name="文字方塊 61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8"/>
                <p:cNvSpPr txBox="1"/>
                <p:nvPr/>
              </p:nvSpPr>
              <p:spPr>
                <a:xfrm>
                  <a:off x="4142752" y="2545696"/>
                  <a:ext cx="331047" cy="3661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0" name="文字方塊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618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線單箭頭接點 59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62"/>
          <p:cNvGrpSpPr/>
          <p:nvPr/>
        </p:nvGrpSpPr>
        <p:grpSpPr>
          <a:xfrm>
            <a:off x="11022476" y="6395541"/>
            <a:ext cx="1432464" cy="737235"/>
            <a:chOff x="3518823" y="2481252"/>
            <a:chExt cx="954976" cy="491490"/>
          </a:xfrm>
        </p:grpSpPr>
        <p:grpSp>
          <p:nvGrpSpPr>
            <p:cNvPr id="65" name="群組 63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4"/>
                <p:cNvSpPr txBox="1"/>
                <p:nvPr/>
              </p:nvSpPr>
              <p:spPr>
                <a:xfrm>
                  <a:off x="4142752" y="2545696"/>
                  <a:ext cx="331047" cy="368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6" name="文字方塊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8300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線單箭頭接點 65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8"/>
          <p:cNvGrpSpPr/>
          <p:nvPr/>
        </p:nvGrpSpPr>
        <p:grpSpPr>
          <a:xfrm>
            <a:off x="11019746" y="7808787"/>
            <a:ext cx="1432464" cy="737235"/>
            <a:chOff x="3518823" y="2481252"/>
            <a:chExt cx="954976" cy="491490"/>
          </a:xfrm>
        </p:grpSpPr>
        <p:grpSp>
          <p:nvGrpSpPr>
            <p:cNvPr id="71" name="群組 69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4" name="文字方塊 73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0"/>
                <p:cNvSpPr txBox="1"/>
                <p:nvPr/>
              </p:nvSpPr>
              <p:spPr>
                <a:xfrm>
                  <a:off x="4142752" y="2545696"/>
                  <a:ext cx="331047" cy="364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2" name="文字方塊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491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線單箭頭接點 71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4"/>
              <p:cNvSpPr txBox="1"/>
              <p:nvPr/>
            </p:nvSpPr>
            <p:spPr>
              <a:xfrm>
                <a:off x="14858081" y="4554686"/>
                <a:ext cx="524510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081" y="4554686"/>
                <a:ext cx="524510" cy="548640"/>
              </a:xfrm>
              <a:prstGeom prst="rect">
                <a:avLst/>
              </a:prstGeom>
              <a:blipFill rotWithShape="1">
                <a:blip r:embed="rId18"/>
                <a:stretch>
                  <a:fillRect l="-67" t="-85" r="-13492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5"/>
              <p:cNvSpPr txBox="1"/>
              <p:nvPr/>
            </p:nvSpPr>
            <p:spPr>
              <a:xfrm>
                <a:off x="14838490" y="7271444"/>
                <a:ext cx="524510" cy="549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7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8490" y="7271444"/>
                <a:ext cx="524510" cy="549275"/>
              </a:xfrm>
              <a:prstGeom prst="rect">
                <a:avLst/>
              </a:prstGeom>
              <a:blipFill rotWithShape="1">
                <a:blip r:embed="rId19"/>
                <a:stretch>
                  <a:fillRect l="-85" t="-11" r="-1347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6"/>
              <p:cNvSpPr txBox="1"/>
              <p:nvPr/>
            </p:nvSpPr>
            <p:spPr>
              <a:xfrm>
                <a:off x="9068316" y="8004782"/>
                <a:ext cx="608330" cy="674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8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316" y="8004782"/>
                <a:ext cx="608330" cy="674370"/>
              </a:xfrm>
              <a:prstGeom prst="rect">
                <a:avLst/>
              </a:prstGeom>
              <a:blipFill rotWithShape="1">
                <a:blip r:embed="rId20"/>
                <a:stretch>
                  <a:fillRect l="-85" t="-90" r="-14007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7"/>
              <p:cNvSpPr txBox="1"/>
              <p:nvPr/>
            </p:nvSpPr>
            <p:spPr>
              <a:xfrm>
                <a:off x="14771294" y="7943086"/>
                <a:ext cx="614680" cy="6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9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1294" y="7943086"/>
                <a:ext cx="614680" cy="633095"/>
              </a:xfrm>
              <a:prstGeom prst="rect">
                <a:avLst/>
              </a:prstGeom>
              <a:blipFill rotWithShape="1">
                <a:blip r:embed="rId21"/>
                <a:stretch>
                  <a:fillRect l="-91" t="-80" r="-13339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單箭頭接點 78"/>
          <p:cNvCxnSpPr/>
          <p:nvPr/>
        </p:nvCxnSpPr>
        <p:spPr>
          <a:xfrm>
            <a:off x="8725839" y="489041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79"/>
          <p:cNvCxnSpPr/>
          <p:nvPr/>
        </p:nvCxnSpPr>
        <p:spPr>
          <a:xfrm>
            <a:off x="8739335" y="760503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0"/>
          <p:cNvCxnSpPr/>
          <p:nvPr/>
        </p:nvCxnSpPr>
        <p:spPr>
          <a:xfrm>
            <a:off x="14491104" y="488735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1"/>
          <p:cNvCxnSpPr/>
          <p:nvPr/>
        </p:nvCxnSpPr>
        <p:spPr>
          <a:xfrm>
            <a:off x="14504600" y="760197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2"/>
              <p:cNvSpPr txBox="1"/>
              <p:nvPr/>
            </p:nvSpPr>
            <p:spPr>
              <a:xfrm>
                <a:off x="7169690" y="5369220"/>
                <a:ext cx="1957705" cy="454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84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690" y="5369220"/>
                <a:ext cx="1957705" cy="454025"/>
              </a:xfrm>
              <a:prstGeom prst="rect">
                <a:avLst/>
              </a:prstGeom>
              <a:blipFill rotWithShape="1">
                <a:blip r:embed="rId22"/>
                <a:stretch>
                  <a:fillRect l="-28" t="-65" r="-2438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線單箭頭接點 91"/>
          <p:cNvCxnSpPr>
            <a:stCxn id="47" idx="3"/>
          </p:cNvCxnSpPr>
          <p:nvPr/>
        </p:nvCxnSpPr>
        <p:spPr>
          <a:xfrm flipV="1">
            <a:off x="9679484" y="4203453"/>
            <a:ext cx="1287944" cy="6308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2"/>
          <p:cNvCxnSpPr>
            <a:stCxn id="47" idx="3"/>
          </p:cNvCxnSpPr>
          <p:nvPr/>
        </p:nvCxnSpPr>
        <p:spPr>
          <a:xfrm>
            <a:off x="9679484" y="4834331"/>
            <a:ext cx="1322540" cy="6492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3"/>
          <p:cNvCxnSpPr>
            <a:stCxn id="47" idx="3"/>
          </p:cNvCxnSpPr>
          <p:nvPr/>
        </p:nvCxnSpPr>
        <p:spPr>
          <a:xfrm>
            <a:off x="9679484" y="4834331"/>
            <a:ext cx="1303713" cy="1967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4"/>
          <p:cNvCxnSpPr>
            <a:stCxn id="47" idx="3"/>
          </p:cNvCxnSpPr>
          <p:nvPr/>
        </p:nvCxnSpPr>
        <p:spPr>
          <a:xfrm>
            <a:off x="9679484" y="4834331"/>
            <a:ext cx="1318281" cy="33614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5"/>
          <p:cNvCxnSpPr>
            <a:cxnSpLocks/>
          </p:cNvCxnSpPr>
          <p:nvPr/>
        </p:nvCxnSpPr>
        <p:spPr>
          <a:xfrm flipV="1">
            <a:off x="9650537" y="4240900"/>
            <a:ext cx="1307534" cy="33481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6"/>
          <p:cNvCxnSpPr>
            <a:cxnSpLocks/>
          </p:cNvCxnSpPr>
          <p:nvPr/>
        </p:nvCxnSpPr>
        <p:spPr>
          <a:xfrm flipV="1">
            <a:off x="9650537" y="5539870"/>
            <a:ext cx="1324832" cy="20491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7"/>
          <p:cNvCxnSpPr>
            <a:cxnSpLocks/>
          </p:cNvCxnSpPr>
          <p:nvPr/>
        </p:nvCxnSpPr>
        <p:spPr>
          <a:xfrm>
            <a:off x="9650537" y="7589062"/>
            <a:ext cx="1320573" cy="663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8"/>
          <p:cNvCxnSpPr>
            <a:cxnSpLocks/>
          </p:cNvCxnSpPr>
          <p:nvPr/>
        </p:nvCxnSpPr>
        <p:spPr>
          <a:xfrm flipV="1">
            <a:off x="9650537" y="6838842"/>
            <a:ext cx="1323303" cy="7502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99"/>
          <p:cNvCxnSpPr>
            <a:stCxn id="53" idx="3"/>
            <a:endCxn id="49" idx="2"/>
          </p:cNvCxnSpPr>
          <p:nvPr/>
        </p:nvCxnSpPr>
        <p:spPr>
          <a:xfrm>
            <a:off x="15547356" y="11070585"/>
            <a:ext cx="753281" cy="659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0"/>
          <p:cNvCxnSpPr>
            <a:endCxn id="49" idx="2"/>
          </p:cNvCxnSpPr>
          <p:nvPr/>
        </p:nvCxnSpPr>
        <p:spPr>
          <a:xfrm flipV="1">
            <a:off x="15496128" y="11730431"/>
            <a:ext cx="804509" cy="681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1"/>
          <p:cNvCxnSpPr>
            <a:endCxn id="50" idx="2"/>
          </p:cNvCxnSpPr>
          <p:nvPr/>
        </p:nvCxnSpPr>
        <p:spPr>
          <a:xfrm>
            <a:off x="12485982" y="6836336"/>
            <a:ext cx="785103" cy="737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2"/>
          <p:cNvCxnSpPr>
            <a:stCxn id="71" idx="3"/>
            <a:endCxn id="50" idx="2"/>
          </p:cNvCxnSpPr>
          <p:nvPr/>
        </p:nvCxnSpPr>
        <p:spPr>
          <a:xfrm flipV="1">
            <a:off x="12519063" y="7574163"/>
            <a:ext cx="752022" cy="611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3"/>
          <p:cNvCxnSpPr/>
          <p:nvPr/>
        </p:nvCxnSpPr>
        <p:spPr>
          <a:xfrm>
            <a:off x="6754230" y="4189383"/>
            <a:ext cx="753281" cy="659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4"/>
          <p:cNvCxnSpPr/>
          <p:nvPr/>
        </p:nvCxnSpPr>
        <p:spPr>
          <a:xfrm flipV="1">
            <a:off x="6703002" y="4849229"/>
            <a:ext cx="804509" cy="681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5"/>
          <p:cNvCxnSpPr/>
          <p:nvPr/>
        </p:nvCxnSpPr>
        <p:spPr>
          <a:xfrm>
            <a:off x="6734189" y="6851234"/>
            <a:ext cx="785103" cy="737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6"/>
          <p:cNvCxnSpPr/>
          <p:nvPr/>
        </p:nvCxnSpPr>
        <p:spPr>
          <a:xfrm flipV="1">
            <a:off x="6767270" y="7589061"/>
            <a:ext cx="752022" cy="611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6162503" y="3883353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矩形 109"/>
          <p:cNvSpPr/>
          <p:nvPr/>
        </p:nvSpPr>
        <p:spPr>
          <a:xfrm>
            <a:off x="6171606" y="7878959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矩形 110"/>
          <p:cNvSpPr/>
          <p:nvPr/>
        </p:nvSpPr>
        <p:spPr>
          <a:xfrm>
            <a:off x="11974755" y="5191569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2" name="矩形 111"/>
          <p:cNvSpPr/>
          <p:nvPr/>
        </p:nvSpPr>
        <p:spPr>
          <a:xfrm>
            <a:off x="11946228" y="6485831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0" name="直線單箭頭接點 95">
            <a:extLst>
              <a:ext uri="{FF2B5EF4-FFF2-40B4-BE49-F238E27FC236}">
                <a16:creationId xmlns:a16="http://schemas.microsoft.com/office/drawing/2014/main" id="{5ED980AD-C361-4696-01AA-3E152E569009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647536" y="4159724"/>
            <a:ext cx="1562257" cy="25438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96">
            <a:extLst>
              <a:ext uri="{FF2B5EF4-FFF2-40B4-BE49-F238E27FC236}">
                <a16:creationId xmlns:a16="http://schemas.microsoft.com/office/drawing/2014/main" id="{A436B586-C22F-D462-CB4F-473AF198360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647536" y="5458694"/>
            <a:ext cx="1579555" cy="12448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97">
            <a:extLst>
              <a:ext uri="{FF2B5EF4-FFF2-40B4-BE49-F238E27FC236}">
                <a16:creationId xmlns:a16="http://schemas.microsoft.com/office/drawing/2014/main" id="{4D847E63-F559-AB81-1367-C9DFEC08771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647536" y="6703564"/>
            <a:ext cx="1575296" cy="1467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98">
            <a:extLst>
              <a:ext uri="{FF2B5EF4-FFF2-40B4-BE49-F238E27FC236}">
                <a16:creationId xmlns:a16="http://schemas.microsoft.com/office/drawing/2014/main" id="{FB6956FE-D221-4F24-DDE9-845DED486383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647536" y="6703564"/>
            <a:ext cx="1578026" cy="541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95">
            <a:extLst>
              <a:ext uri="{FF2B5EF4-FFF2-40B4-BE49-F238E27FC236}">
                <a16:creationId xmlns:a16="http://schemas.microsoft.com/office/drawing/2014/main" id="{3843344B-892B-E8A8-B8CE-AC4F83DC61A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594131" y="4159678"/>
            <a:ext cx="1615662" cy="13228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96">
            <a:extLst>
              <a:ext uri="{FF2B5EF4-FFF2-40B4-BE49-F238E27FC236}">
                <a16:creationId xmlns:a16="http://schemas.microsoft.com/office/drawing/2014/main" id="{9B21F924-3B45-67AE-5C63-845670063FE8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594131" y="5458648"/>
            <a:ext cx="1632960" cy="239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97">
            <a:extLst>
              <a:ext uri="{FF2B5EF4-FFF2-40B4-BE49-F238E27FC236}">
                <a16:creationId xmlns:a16="http://schemas.microsoft.com/office/drawing/2014/main" id="{816FAAC2-996B-CDE0-40BA-5D2C283AAF8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94131" y="5482559"/>
            <a:ext cx="1628701" cy="26883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98">
            <a:extLst>
              <a:ext uri="{FF2B5EF4-FFF2-40B4-BE49-F238E27FC236}">
                <a16:creationId xmlns:a16="http://schemas.microsoft.com/office/drawing/2014/main" id="{35E44133-E110-1B38-C952-AF87BBF60F92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94131" y="5482559"/>
            <a:ext cx="1631431" cy="12750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bldLvl="0" animBg="1"/>
      <p:bldP spid="109" grpId="0" bldLvl="0" animBg="1"/>
      <p:bldP spid="110" grpId="0" bldLvl="0" animBg="1"/>
      <p:bldP spid="11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Maxout</a:t>
            </a:r>
            <a:r>
              <a:rPr lang="en-US" altLang="zh-TW" dirty="0"/>
              <a:t> - Training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58974" y="2437048"/>
            <a:ext cx="11830050" cy="7777163"/>
          </a:xfrm>
        </p:spPr>
        <p:txBody>
          <a:bodyPr/>
          <a:lstStyle/>
          <a:p>
            <a:r>
              <a:rPr lang="en-US" altLang="zh-TW" dirty="0"/>
              <a:t>Given a training data x, we know which z would be the max</a:t>
            </a:r>
            <a:endParaRPr lang="zh-TW" altLang="en-US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Train this thin and linear network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884859" y="3780890"/>
            <a:ext cx="676169" cy="47747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橢圓 4"/>
          <p:cNvSpPr/>
          <p:nvPr/>
        </p:nvSpPr>
        <p:spPr>
          <a:xfrm>
            <a:off x="11705748" y="638942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橢圓 5"/>
          <p:cNvSpPr/>
          <p:nvPr/>
        </p:nvSpPr>
        <p:spPr>
          <a:xfrm>
            <a:off x="11692473" y="374078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6151568" y="3800025"/>
            <a:ext cx="676169" cy="478939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橢圓 7"/>
          <p:cNvSpPr/>
          <p:nvPr/>
        </p:nvSpPr>
        <p:spPr>
          <a:xfrm>
            <a:off x="5969448" y="639554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5956173" y="374690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14746770" y="4316163"/>
            <a:ext cx="676169" cy="36249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9016433" y="4302821"/>
            <a:ext cx="676169" cy="364026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3016368" y="5060436"/>
            <a:ext cx="676169" cy="22157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7504781" y="4403712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3079781" y="5082509"/>
            <a:ext cx="514350" cy="692943"/>
            <a:chOff x="600453" y="3988847"/>
            <a:chExt cx="342900" cy="461962"/>
          </a:xfrm>
        </p:grpSpPr>
        <p:sp>
          <p:nvSpPr>
            <p:cNvPr id="15" name="矩形 14"/>
            <p:cNvSpPr/>
            <p:nvPr/>
          </p:nvSpPr>
          <p:spPr>
            <a:xfrm>
              <a:off x="600453" y="408409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613152" y="3988847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152" y="3988847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群組 16"/>
          <p:cNvGrpSpPr/>
          <p:nvPr/>
        </p:nvGrpSpPr>
        <p:grpSpPr>
          <a:xfrm>
            <a:off x="3083178" y="6357092"/>
            <a:ext cx="564357" cy="692945"/>
            <a:chOff x="594635" y="4571576"/>
            <a:chExt cx="376238" cy="461963"/>
          </a:xfrm>
        </p:grpSpPr>
        <p:sp>
          <p:nvSpPr>
            <p:cNvPr id="18" name="矩形 17"/>
            <p:cNvSpPr/>
            <p:nvPr/>
          </p:nvSpPr>
          <p:spPr>
            <a:xfrm>
              <a:off x="594635" y="465442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9" name="Object 12"/>
            <p:cNvGraphicFramePr>
              <a:graphicFrameLocks noChangeAspect="1"/>
            </p:cNvGraphicFramePr>
            <p:nvPr/>
          </p:nvGraphicFramePr>
          <p:xfrm>
            <a:off x="618448" y="4571576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448" y="4571576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字方塊 19"/>
          <p:cNvSpPr txBox="1"/>
          <p:nvPr/>
        </p:nvSpPr>
        <p:spPr>
          <a:xfrm>
            <a:off x="2502423" y="4101717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</a:p>
        </p:txBody>
      </p:sp>
      <p:sp>
        <p:nvSpPr>
          <p:cNvPr id="22" name="橢圓 20"/>
          <p:cNvSpPr/>
          <p:nvPr/>
        </p:nvSpPr>
        <p:spPr>
          <a:xfrm>
            <a:off x="7516562" y="7143545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1"/>
              <p:cNvSpPr txBox="1"/>
              <p:nvPr/>
            </p:nvSpPr>
            <p:spPr>
              <a:xfrm>
                <a:off x="3118898" y="7358451"/>
                <a:ext cx="35433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898" y="7358451"/>
                <a:ext cx="354330" cy="645795"/>
              </a:xfrm>
              <a:prstGeom prst="rect">
                <a:avLst/>
              </a:prstGeom>
              <a:blipFill rotWithShape="1">
                <a:blip r:embed="rId7"/>
                <a:stretch>
                  <a:fillRect l="-117" t="-11" r="-2336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2"/>
          <p:cNvGrpSpPr/>
          <p:nvPr/>
        </p:nvGrpSpPr>
        <p:grpSpPr>
          <a:xfrm>
            <a:off x="5252182" y="3797598"/>
            <a:ext cx="1427384" cy="737235"/>
            <a:chOff x="3518823" y="2481252"/>
            <a:chExt cx="951589" cy="491490"/>
          </a:xfrm>
        </p:grpSpPr>
        <p:grpSp>
          <p:nvGrpSpPr>
            <p:cNvPr id="25" name="群組 23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4"/>
                <p:cNvSpPr txBox="1"/>
                <p:nvPr/>
              </p:nvSpPr>
              <p:spPr>
                <a:xfrm>
                  <a:off x="4142752" y="2545696"/>
                  <a:ext cx="327660" cy="3653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6" name="文字方塊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533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線單箭頭接點 25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8"/>
          <p:cNvGrpSpPr/>
          <p:nvPr/>
        </p:nvGrpSpPr>
        <p:grpSpPr>
          <a:xfrm>
            <a:off x="5269481" y="5096570"/>
            <a:ext cx="1427384" cy="737235"/>
            <a:chOff x="3518823" y="2481252"/>
            <a:chExt cx="951589" cy="491490"/>
          </a:xfrm>
        </p:grpSpPr>
        <p:grpSp>
          <p:nvGrpSpPr>
            <p:cNvPr id="31" name="群組 29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4" name="文字方塊 33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0"/>
                <p:cNvSpPr txBox="1"/>
                <p:nvPr/>
              </p:nvSpPr>
              <p:spPr>
                <a:xfrm>
                  <a:off x="4142752" y="2545696"/>
                  <a:ext cx="327660" cy="365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2" name="文字方塊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576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線單箭頭接點 31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4"/>
          <p:cNvGrpSpPr/>
          <p:nvPr/>
        </p:nvGrpSpPr>
        <p:grpSpPr>
          <a:xfrm>
            <a:off x="5267952" y="6395541"/>
            <a:ext cx="1427384" cy="737235"/>
            <a:chOff x="3518823" y="2481252"/>
            <a:chExt cx="951589" cy="491490"/>
          </a:xfrm>
        </p:grpSpPr>
        <p:grpSp>
          <p:nvGrpSpPr>
            <p:cNvPr id="37" name="群組 35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6"/>
                <p:cNvSpPr txBox="1"/>
                <p:nvPr/>
              </p:nvSpPr>
              <p:spPr>
                <a:xfrm>
                  <a:off x="4142752" y="2545696"/>
                  <a:ext cx="327660" cy="3678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8" name="文字方塊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787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直線單箭頭接點 37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群組 40"/>
          <p:cNvGrpSpPr/>
          <p:nvPr/>
        </p:nvGrpSpPr>
        <p:grpSpPr>
          <a:xfrm>
            <a:off x="5265222" y="7808787"/>
            <a:ext cx="1427384" cy="737235"/>
            <a:chOff x="3518823" y="2481252"/>
            <a:chExt cx="951589" cy="491490"/>
          </a:xfrm>
        </p:grpSpPr>
        <p:grpSp>
          <p:nvGrpSpPr>
            <p:cNvPr id="43" name="群組 41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6" name="文字方塊 45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2"/>
                <p:cNvSpPr txBox="1"/>
                <p:nvPr/>
              </p:nvSpPr>
              <p:spPr>
                <a:xfrm>
                  <a:off x="4142752" y="2545696"/>
                  <a:ext cx="327660" cy="3644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44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449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線單箭頭接點 43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6"/>
              <p:cNvSpPr txBox="1"/>
              <p:nvPr/>
            </p:nvSpPr>
            <p:spPr>
              <a:xfrm>
                <a:off x="9103557" y="4554686"/>
                <a:ext cx="519430" cy="548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557" y="4554686"/>
                <a:ext cx="519430" cy="548005"/>
              </a:xfrm>
              <a:prstGeom prst="rect">
                <a:avLst/>
              </a:prstGeom>
              <a:blipFill rotWithShape="1">
                <a:blip r:embed="rId12"/>
                <a:stretch>
                  <a:fillRect l="-38" t="-85" r="-14143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7"/>
              <p:cNvSpPr txBox="1"/>
              <p:nvPr/>
            </p:nvSpPr>
            <p:spPr>
              <a:xfrm>
                <a:off x="9083967" y="7271444"/>
                <a:ext cx="519430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967" y="7271444"/>
                <a:ext cx="519430" cy="548640"/>
              </a:xfrm>
              <a:prstGeom prst="rect">
                <a:avLst/>
              </a:prstGeom>
              <a:blipFill rotWithShape="1">
                <a:blip r:embed="rId13"/>
                <a:stretch>
                  <a:fillRect l="-56" t="-11" r="-1412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橢圓 48"/>
          <p:cNvSpPr/>
          <p:nvPr/>
        </p:nvSpPr>
        <p:spPr>
          <a:xfrm>
            <a:off x="13259304" y="4403712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51" name="橢圓 49"/>
          <p:cNvSpPr/>
          <p:nvPr/>
        </p:nvSpPr>
        <p:spPr>
          <a:xfrm>
            <a:off x="13271085" y="7143545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grpSp>
        <p:nvGrpSpPr>
          <p:cNvPr id="52" name="群組 50"/>
          <p:cNvGrpSpPr/>
          <p:nvPr/>
        </p:nvGrpSpPr>
        <p:grpSpPr>
          <a:xfrm>
            <a:off x="11006706" y="3797598"/>
            <a:ext cx="1432464" cy="737235"/>
            <a:chOff x="3518823" y="2481252"/>
            <a:chExt cx="954976" cy="491490"/>
          </a:xfrm>
        </p:grpSpPr>
        <p:grpSp>
          <p:nvGrpSpPr>
            <p:cNvPr id="53" name="群組 51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文字方塊 55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2"/>
                <p:cNvSpPr txBox="1"/>
                <p:nvPr/>
              </p:nvSpPr>
              <p:spPr>
                <a:xfrm>
                  <a:off x="4142752" y="2545696"/>
                  <a:ext cx="331047" cy="365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4" name="文字方塊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576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線單箭頭接點 53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群組 56"/>
          <p:cNvGrpSpPr/>
          <p:nvPr/>
        </p:nvGrpSpPr>
        <p:grpSpPr>
          <a:xfrm>
            <a:off x="11024004" y="5096570"/>
            <a:ext cx="1432464" cy="737235"/>
            <a:chOff x="3518823" y="2481252"/>
            <a:chExt cx="954976" cy="491490"/>
          </a:xfrm>
        </p:grpSpPr>
        <p:grpSp>
          <p:nvGrpSpPr>
            <p:cNvPr id="59" name="群組 57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2" name="文字方塊 61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8"/>
                <p:cNvSpPr txBox="1"/>
                <p:nvPr/>
              </p:nvSpPr>
              <p:spPr>
                <a:xfrm>
                  <a:off x="4142752" y="2545696"/>
                  <a:ext cx="331047" cy="3661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0" name="文字方塊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618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線單箭頭接點 59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62"/>
          <p:cNvGrpSpPr/>
          <p:nvPr/>
        </p:nvGrpSpPr>
        <p:grpSpPr>
          <a:xfrm>
            <a:off x="11022476" y="6395541"/>
            <a:ext cx="1432464" cy="737235"/>
            <a:chOff x="3518823" y="2481252"/>
            <a:chExt cx="954976" cy="491490"/>
          </a:xfrm>
        </p:grpSpPr>
        <p:grpSp>
          <p:nvGrpSpPr>
            <p:cNvPr id="65" name="群組 63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4"/>
                <p:cNvSpPr txBox="1"/>
                <p:nvPr/>
              </p:nvSpPr>
              <p:spPr>
                <a:xfrm>
                  <a:off x="4142752" y="2545696"/>
                  <a:ext cx="331047" cy="368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6" name="文字方塊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8300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線單箭頭接點 65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8"/>
          <p:cNvGrpSpPr/>
          <p:nvPr/>
        </p:nvGrpSpPr>
        <p:grpSpPr>
          <a:xfrm>
            <a:off x="11019746" y="7808787"/>
            <a:ext cx="1432464" cy="737235"/>
            <a:chOff x="3518823" y="2481252"/>
            <a:chExt cx="954976" cy="491490"/>
          </a:xfrm>
        </p:grpSpPr>
        <p:grpSp>
          <p:nvGrpSpPr>
            <p:cNvPr id="71" name="群組 69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4" name="文字方塊 73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0"/>
                <p:cNvSpPr txBox="1"/>
                <p:nvPr/>
              </p:nvSpPr>
              <p:spPr>
                <a:xfrm>
                  <a:off x="4142752" y="2545696"/>
                  <a:ext cx="331047" cy="364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2" name="文字方塊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491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線單箭頭接點 71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4"/>
              <p:cNvSpPr txBox="1"/>
              <p:nvPr/>
            </p:nvSpPr>
            <p:spPr>
              <a:xfrm>
                <a:off x="14858081" y="4554686"/>
                <a:ext cx="524510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081" y="4554686"/>
                <a:ext cx="524510" cy="548640"/>
              </a:xfrm>
              <a:prstGeom prst="rect">
                <a:avLst/>
              </a:prstGeom>
              <a:blipFill rotWithShape="1">
                <a:blip r:embed="rId18"/>
                <a:stretch>
                  <a:fillRect l="-67" t="-85" r="-13492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5"/>
              <p:cNvSpPr txBox="1"/>
              <p:nvPr/>
            </p:nvSpPr>
            <p:spPr>
              <a:xfrm>
                <a:off x="14838490" y="7271444"/>
                <a:ext cx="524510" cy="549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7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8490" y="7271444"/>
                <a:ext cx="524510" cy="549275"/>
              </a:xfrm>
              <a:prstGeom prst="rect">
                <a:avLst/>
              </a:prstGeom>
              <a:blipFill rotWithShape="1">
                <a:blip r:embed="rId19"/>
                <a:stretch>
                  <a:fillRect l="-85" t="-11" r="-1347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6"/>
              <p:cNvSpPr txBox="1"/>
              <p:nvPr/>
            </p:nvSpPr>
            <p:spPr>
              <a:xfrm>
                <a:off x="9068316" y="8004782"/>
                <a:ext cx="608330" cy="674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8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316" y="8004782"/>
                <a:ext cx="608330" cy="674370"/>
              </a:xfrm>
              <a:prstGeom prst="rect">
                <a:avLst/>
              </a:prstGeom>
              <a:blipFill rotWithShape="1">
                <a:blip r:embed="rId20"/>
                <a:stretch>
                  <a:fillRect l="-85" t="-90" r="-14007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7"/>
              <p:cNvSpPr txBox="1"/>
              <p:nvPr/>
            </p:nvSpPr>
            <p:spPr>
              <a:xfrm>
                <a:off x="14771294" y="7943086"/>
                <a:ext cx="614680" cy="6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9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1294" y="7943086"/>
                <a:ext cx="614680" cy="633095"/>
              </a:xfrm>
              <a:prstGeom prst="rect">
                <a:avLst/>
              </a:prstGeom>
              <a:blipFill rotWithShape="1">
                <a:blip r:embed="rId21"/>
                <a:stretch>
                  <a:fillRect l="-91" t="-80" r="-13339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單箭頭接點 78"/>
          <p:cNvCxnSpPr/>
          <p:nvPr/>
        </p:nvCxnSpPr>
        <p:spPr>
          <a:xfrm>
            <a:off x="8725839" y="489041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79"/>
          <p:cNvCxnSpPr/>
          <p:nvPr/>
        </p:nvCxnSpPr>
        <p:spPr>
          <a:xfrm>
            <a:off x="8739335" y="760503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0"/>
          <p:cNvCxnSpPr/>
          <p:nvPr/>
        </p:nvCxnSpPr>
        <p:spPr>
          <a:xfrm>
            <a:off x="14491104" y="488735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1"/>
          <p:cNvCxnSpPr/>
          <p:nvPr/>
        </p:nvCxnSpPr>
        <p:spPr>
          <a:xfrm>
            <a:off x="14504600" y="760197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cxnSpLocks/>
            <a:stCxn id="16" idx="3"/>
            <a:endCxn id="28" idx="1"/>
          </p:cNvCxnSpPr>
          <p:nvPr/>
        </p:nvCxnSpPr>
        <p:spPr>
          <a:xfrm flipV="1">
            <a:off x="3586987" y="4166216"/>
            <a:ext cx="1682493" cy="12627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cxnSpLocks/>
            <a:stCxn id="16" idx="3"/>
            <a:endCxn id="34" idx="1"/>
          </p:cNvCxnSpPr>
          <p:nvPr/>
        </p:nvCxnSpPr>
        <p:spPr>
          <a:xfrm>
            <a:off x="3586987" y="5428980"/>
            <a:ext cx="1699792" cy="362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cxnSpLocks/>
            <a:stCxn id="19" idx="3"/>
            <a:endCxn id="40" idx="1"/>
          </p:cNvCxnSpPr>
          <p:nvPr/>
        </p:nvCxnSpPr>
        <p:spPr>
          <a:xfrm>
            <a:off x="3647536" y="6703564"/>
            <a:ext cx="1637714" cy="60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cxnSpLocks/>
            <a:endCxn id="45" idx="1"/>
          </p:cNvCxnSpPr>
          <p:nvPr/>
        </p:nvCxnSpPr>
        <p:spPr>
          <a:xfrm>
            <a:off x="3627872" y="5443876"/>
            <a:ext cx="1637350" cy="27762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cxnSpLocks/>
            <a:stCxn id="19" idx="3"/>
            <a:endCxn id="28" idx="1"/>
          </p:cNvCxnSpPr>
          <p:nvPr/>
        </p:nvCxnSpPr>
        <p:spPr>
          <a:xfrm flipV="1">
            <a:off x="3647536" y="4166216"/>
            <a:ext cx="1621944" cy="2537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cxnSpLocks/>
            <a:endCxn id="33" idx="1"/>
          </p:cNvCxnSpPr>
          <p:nvPr/>
        </p:nvCxnSpPr>
        <p:spPr>
          <a:xfrm flipV="1">
            <a:off x="3692537" y="5507875"/>
            <a:ext cx="1576944" cy="12106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cxnSpLocks/>
            <a:stCxn id="19" idx="3"/>
            <a:endCxn id="45" idx="1"/>
          </p:cNvCxnSpPr>
          <p:nvPr/>
        </p:nvCxnSpPr>
        <p:spPr>
          <a:xfrm>
            <a:off x="3647536" y="6703564"/>
            <a:ext cx="1617686" cy="15165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cxnSpLocks/>
            <a:endCxn id="40" idx="1"/>
          </p:cNvCxnSpPr>
          <p:nvPr/>
        </p:nvCxnSpPr>
        <p:spPr>
          <a:xfrm>
            <a:off x="3617331" y="5449755"/>
            <a:ext cx="1667919" cy="13144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47" idx="3"/>
          </p:cNvCxnSpPr>
          <p:nvPr/>
        </p:nvCxnSpPr>
        <p:spPr>
          <a:xfrm flipV="1">
            <a:off x="9679484" y="4203453"/>
            <a:ext cx="1287944" cy="6308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47" idx="3"/>
          </p:cNvCxnSpPr>
          <p:nvPr/>
        </p:nvCxnSpPr>
        <p:spPr>
          <a:xfrm>
            <a:off x="9679484" y="4834331"/>
            <a:ext cx="1322540" cy="6492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47" idx="3"/>
          </p:cNvCxnSpPr>
          <p:nvPr/>
        </p:nvCxnSpPr>
        <p:spPr>
          <a:xfrm>
            <a:off x="9679484" y="4834331"/>
            <a:ext cx="1303713" cy="1967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47" idx="3"/>
          </p:cNvCxnSpPr>
          <p:nvPr/>
        </p:nvCxnSpPr>
        <p:spPr>
          <a:xfrm>
            <a:off x="9679484" y="4834331"/>
            <a:ext cx="1318281" cy="33614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cxnSpLocks/>
          </p:cNvCxnSpPr>
          <p:nvPr/>
        </p:nvCxnSpPr>
        <p:spPr>
          <a:xfrm flipV="1">
            <a:off x="9638448" y="4167877"/>
            <a:ext cx="1307534" cy="33481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cxnSpLocks/>
          </p:cNvCxnSpPr>
          <p:nvPr/>
        </p:nvCxnSpPr>
        <p:spPr>
          <a:xfrm flipV="1">
            <a:off x="9638448" y="5466847"/>
            <a:ext cx="1324832" cy="20491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cxnSpLocks/>
          </p:cNvCxnSpPr>
          <p:nvPr/>
        </p:nvCxnSpPr>
        <p:spPr>
          <a:xfrm>
            <a:off x="9638448" y="7516039"/>
            <a:ext cx="1320573" cy="663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cxnSpLocks/>
          </p:cNvCxnSpPr>
          <p:nvPr/>
        </p:nvCxnSpPr>
        <p:spPr>
          <a:xfrm flipV="1">
            <a:off x="9638448" y="6765819"/>
            <a:ext cx="1323303" cy="7502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>
            <a:cxnSpLocks/>
          </p:cNvCxnSpPr>
          <p:nvPr/>
        </p:nvCxnSpPr>
        <p:spPr>
          <a:xfrm flipV="1">
            <a:off x="12510093" y="4785170"/>
            <a:ext cx="804509" cy="681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>
            <a:endCxn id="50" idx="2"/>
          </p:cNvCxnSpPr>
          <p:nvPr/>
        </p:nvCxnSpPr>
        <p:spPr>
          <a:xfrm>
            <a:off x="12485982" y="6836336"/>
            <a:ext cx="785103" cy="737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6754230" y="4189383"/>
            <a:ext cx="753281" cy="659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 flipV="1">
            <a:off x="6767270" y="7589061"/>
            <a:ext cx="752022" cy="611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6162503" y="3883353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9" name="矩形 108"/>
          <p:cNvSpPr/>
          <p:nvPr/>
        </p:nvSpPr>
        <p:spPr>
          <a:xfrm>
            <a:off x="6171606" y="7878959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矩形 109"/>
          <p:cNvSpPr/>
          <p:nvPr/>
        </p:nvSpPr>
        <p:spPr>
          <a:xfrm>
            <a:off x="11974755" y="5191569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矩形 110"/>
          <p:cNvSpPr/>
          <p:nvPr/>
        </p:nvSpPr>
        <p:spPr>
          <a:xfrm>
            <a:off x="11946228" y="6485831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3" name="直線接點 112"/>
          <p:cNvCxnSpPr/>
          <p:nvPr/>
        </p:nvCxnSpPr>
        <p:spPr>
          <a:xfrm flipH="1">
            <a:off x="7817943" y="4584483"/>
            <a:ext cx="667001" cy="490265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 flipH="1">
            <a:off x="13598040" y="4596023"/>
            <a:ext cx="667001" cy="490265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 flipH="1">
            <a:off x="7817843" y="7327881"/>
            <a:ext cx="667001" cy="490265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/>
          <p:nvPr/>
        </p:nvCxnSpPr>
        <p:spPr>
          <a:xfrm flipH="1">
            <a:off x="13554342" y="7359687"/>
            <a:ext cx="667001" cy="490265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字方塊 82"/>
          <p:cNvSpPr txBox="1"/>
          <p:nvPr/>
        </p:nvSpPr>
        <p:spPr>
          <a:xfrm>
            <a:off x="3228975" y="9399138"/>
            <a:ext cx="12372508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Different thin and linear network for different examples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2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indefinite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5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6" dur="indefinite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ldLvl="0" animBg="1"/>
      <p:bldP spid="6" grpId="0" bldLvl="0" animBg="1"/>
      <p:bldP spid="8" grpId="0" bldLvl="0" animBg="1"/>
      <p:bldP spid="9" grpId="0" bldLvl="0" animBg="1"/>
      <p:bldP spid="83" grpId="0" bldLvl="0" animBg="1"/>
      <p:bldP spid="10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19134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Adaptive Learning 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2201333" y="460556"/>
            <a:ext cx="7564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599991" y="7091350"/>
            <a:ext cx="4165368" cy="1419877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/>
        </p:nvGrpSpPr>
        <p:grpSpPr>
          <a:xfrm>
            <a:off x="7364918" y="193053"/>
            <a:ext cx="8338237" cy="6433859"/>
            <a:chOff x="773413" y="2230720"/>
            <a:chExt cx="5558825" cy="4289239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13" y="2230720"/>
              <a:ext cx="5558825" cy="416911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3552825" y="6150812"/>
                  <a:ext cx="39285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2825" y="6150812"/>
                  <a:ext cx="392853" cy="36914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/>
                <p:cNvSpPr txBox="1"/>
                <p:nvPr/>
              </p:nvSpPr>
              <p:spPr>
                <a:xfrm>
                  <a:off x="843326" y="4119935"/>
                  <a:ext cx="39666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396663" cy="36914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30496" y="161365"/>
            <a:ext cx="14152606" cy="1551434"/>
          </a:xfrm>
        </p:spPr>
        <p:txBody>
          <a:bodyPr/>
          <a:lstStyle/>
          <a:p>
            <a:pPr algn="l"/>
            <a:r>
              <a:rPr lang="en-US" altLang="zh-TW" dirty="0"/>
              <a:t>Review</a:t>
            </a:r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 flipH="1">
            <a:off x="8113233" y="3303875"/>
            <a:ext cx="7040697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1644143" y="467103"/>
            <a:ext cx="0" cy="5673543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12307844" y="4096541"/>
            <a:ext cx="3124842" cy="12095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Larger Learning Rate</a:t>
            </a:r>
            <a:endParaRPr lang="zh-TW" altLang="en-US" sz="3600" dirty="0"/>
          </a:p>
        </p:txBody>
      </p:sp>
      <p:cxnSp>
        <p:nvCxnSpPr>
          <p:cNvPr id="43" name="直線單箭頭接點 42"/>
          <p:cNvCxnSpPr/>
          <p:nvPr/>
        </p:nvCxnSpPr>
        <p:spPr>
          <a:xfrm>
            <a:off x="9307469" y="4762155"/>
            <a:ext cx="3000375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164044" y="1027581"/>
            <a:ext cx="3124842" cy="120958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Smaller Learning Rate</a:t>
            </a:r>
            <a:endParaRPr lang="zh-TW" altLang="en-US" sz="3600" dirty="0"/>
          </a:p>
        </p:txBody>
      </p:sp>
      <p:cxnSp>
        <p:nvCxnSpPr>
          <p:cNvPr id="45" name="直線單箭頭接點 44"/>
          <p:cNvCxnSpPr/>
          <p:nvPr/>
        </p:nvCxnSpPr>
        <p:spPr>
          <a:xfrm rot="5400000" flipH="1">
            <a:off x="8226278" y="3742742"/>
            <a:ext cx="30003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3030496" y="5590484"/>
            <a:ext cx="285291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 err="1"/>
              <a:t>Adagrad</a:t>
            </a:r>
            <a:endParaRPr lang="zh-TW" altLang="en-US" sz="4200" b="1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6053752" y="6861647"/>
                <a:ext cx="6464300" cy="1899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sz="4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4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42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4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752" y="6861647"/>
                <a:ext cx="6464300" cy="1899920"/>
              </a:xfrm>
              <a:prstGeom prst="rect">
                <a:avLst/>
              </a:prstGeom>
              <a:blipFill rotWithShape="1">
                <a:blip r:embed="rId6"/>
                <a:stretch>
                  <a:fillRect l="-5" t="-25" r="-821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 47"/>
          <p:cNvSpPr/>
          <p:nvPr/>
        </p:nvSpPr>
        <p:spPr>
          <a:xfrm>
            <a:off x="3629237" y="8992029"/>
            <a:ext cx="10443608" cy="7587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Use first derivative to estimate second derivative</a:t>
            </a:r>
            <a:endParaRPr lang="zh-TW" altLang="en-US" sz="3600" dirty="0"/>
          </a:p>
        </p:txBody>
      </p:sp>
      <p:cxnSp>
        <p:nvCxnSpPr>
          <p:cNvPr id="51" name="直線接點 50"/>
          <p:cNvCxnSpPr/>
          <p:nvPr/>
        </p:nvCxnSpPr>
        <p:spPr>
          <a:xfrm>
            <a:off x="9547893" y="8560029"/>
            <a:ext cx="2465607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10683993" y="8531330"/>
            <a:ext cx="2" cy="4320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4" grpId="0" bldLvl="0" animBg="1"/>
      <p:bldP spid="3" grpId="0"/>
      <p:bldP spid="46" grpId="0"/>
      <p:bldP spid="4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RMSProp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610" y="3597593"/>
            <a:ext cx="10744200" cy="5286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9045324" y="8883968"/>
                <a:ext cx="5892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324" y="8883968"/>
                <a:ext cx="589280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65" t="-57" r="-1351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446685" y="5963781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685" y="5963781"/>
                <a:ext cx="5949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91" t="-90" r="-12930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3604883" y="2594693"/>
            <a:ext cx="119559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Error Surface can be very complex when training NN.</a:t>
            </a:r>
            <a:endParaRPr lang="zh-TW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7866642" y="7053578"/>
            <a:ext cx="3124842" cy="12095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Larger Learning Rate</a:t>
            </a:r>
            <a:endParaRPr lang="zh-TW" altLang="en-US" sz="3600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7928876" y="6761249"/>
            <a:ext cx="300037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927377" y="4468223"/>
            <a:ext cx="3124842" cy="120958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>
                    <a:lumMod val="90000"/>
                  </a:schemeClr>
                </a:solidFill>
              </a:rPr>
              <a:t>Smaller Learning Rate</a:t>
            </a:r>
            <a:endParaRPr lang="zh-TW" altLang="en-US" sz="36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3989610" y="4175894"/>
            <a:ext cx="30003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RMSProp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3217761" y="2271654"/>
                <a:ext cx="4069715" cy="1111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761" y="2271654"/>
                <a:ext cx="4069715" cy="1111250"/>
              </a:xfrm>
              <a:prstGeom prst="rect">
                <a:avLst/>
              </a:prstGeom>
              <a:blipFill rotWithShape="1">
                <a:blip r:embed="rId3"/>
                <a:stretch>
                  <a:fillRect l="-5" t="-23" r="-57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 rot="5400000">
                <a:off x="5029055" y="6398078"/>
                <a:ext cx="719067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029055" y="6398078"/>
                <a:ext cx="719067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5054" t="-5675" r="5136" b="-18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217761" y="3619883"/>
                <a:ext cx="4069715" cy="11099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761" y="3619883"/>
                <a:ext cx="4069715" cy="1109980"/>
              </a:xfrm>
              <a:prstGeom prst="rect">
                <a:avLst/>
              </a:prstGeom>
              <a:blipFill rotWithShape="1">
                <a:blip r:embed="rId5"/>
                <a:stretch>
                  <a:fillRect l="-5" t="-35" r="-57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2879844" y="7367370"/>
                <a:ext cx="4323715" cy="1103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844" y="7367370"/>
                <a:ext cx="4323715" cy="1103630"/>
              </a:xfrm>
              <a:prstGeom prst="rect">
                <a:avLst/>
              </a:prstGeom>
              <a:blipFill rotWithShape="1">
                <a:blip r:embed="rId6"/>
                <a:stretch>
                  <a:fillRect l="-3" t="-9" r="-98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8010631" y="2547361"/>
                <a:ext cx="1917065" cy="630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631" y="2547361"/>
                <a:ext cx="1917065" cy="630555"/>
              </a:xfrm>
              <a:prstGeom prst="rect">
                <a:avLst/>
              </a:prstGeom>
              <a:blipFill rotWithShape="1">
                <a:blip r:embed="rId7"/>
                <a:stretch>
                  <a:fillRect l="-6" t="-60" r="-3771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8010632" y="3721853"/>
                <a:ext cx="6944995" cy="772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4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632" y="3721853"/>
                <a:ext cx="6944995" cy="772160"/>
              </a:xfrm>
              <a:prstGeom prst="rect">
                <a:avLst/>
              </a:prstGeom>
              <a:blipFill rotWithShape="1">
                <a:blip r:embed="rId8"/>
                <a:stretch>
                  <a:fillRect l="-2" t="-15" r="-71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3252236" y="5038778"/>
                <a:ext cx="4075430" cy="1111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236" y="5038778"/>
                <a:ext cx="4075430" cy="1111250"/>
              </a:xfrm>
              <a:prstGeom prst="rect">
                <a:avLst/>
              </a:prstGeom>
              <a:blipFill rotWithShape="1">
                <a:blip r:embed="rId9"/>
                <a:stretch>
                  <a:fillRect l="-10" t="-5" r="-489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7957382" y="5202752"/>
                <a:ext cx="7016750" cy="772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4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82" y="5202752"/>
                <a:ext cx="7016750" cy="772160"/>
              </a:xfrm>
              <a:prstGeom prst="rect">
                <a:avLst/>
              </a:prstGeom>
              <a:blipFill rotWithShape="1">
                <a:blip r:embed="rId10"/>
                <a:stretch>
                  <a:fillRect l="-3" t="-26" r="-187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8010632" y="7430634"/>
                <a:ext cx="7336155" cy="772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4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632" y="7430634"/>
                <a:ext cx="7336155" cy="772160"/>
              </a:xfrm>
              <a:prstGeom prst="rect">
                <a:avLst/>
              </a:prstGeom>
              <a:blipFill rotWithShape="1">
                <a:blip r:embed="rId11"/>
                <a:stretch>
                  <a:fillRect l="-1" t="-65" r="-362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5680378" y="8471000"/>
            <a:ext cx="8494636" cy="13974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Root Mean Square of the gradients with previous gradients being decayed</a:t>
            </a:r>
            <a:endParaRPr lang="zh-TW" altLang="en-US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30" grpId="0"/>
      <p:bldP spid="12" grpId="0"/>
      <p:bldP spid="13" grpId="0"/>
      <p:bldP spid="1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接點 42"/>
          <p:cNvCxnSpPr/>
          <p:nvPr/>
        </p:nvCxnSpPr>
        <p:spPr>
          <a:xfrm>
            <a:off x="12002871" y="7672883"/>
            <a:ext cx="0" cy="109063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11506316" y="7198098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2" name="直線接點 41"/>
          <p:cNvCxnSpPr/>
          <p:nvPr/>
        </p:nvCxnSpPr>
        <p:spPr>
          <a:xfrm>
            <a:off x="9099993" y="6137156"/>
            <a:ext cx="0" cy="264392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6497691" y="6119603"/>
            <a:ext cx="0" cy="264392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4239402" y="4490273"/>
            <a:ext cx="0" cy="432009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4401491" y="8763522"/>
            <a:ext cx="1015466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Hard to find </a:t>
            </a:r>
            <a:br>
              <a:rPr lang="en-US" altLang="zh-TW" dirty="0"/>
            </a:br>
            <a:r>
              <a:rPr lang="en-US" altLang="zh-TW" dirty="0"/>
              <a:t>optimal network parameters</a:t>
            </a:r>
            <a:endParaRPr lang="zh-TW" altLang="en-US" dirty="0"/>
          </a:p>
        </p:txBody>
      </p:sp>
      <p:sp>
        <p:nvSpPr>
          <p:cNvPr id="6" name="手繪多邊形 5"/>
          <p:cNvSpPr/>
          <p:nvPr/>
        </p:nvSpPr>
        <p:spPr>
          <a:xfrm>
            <a:off x="3187214" y="2907846"/>
            <a:ext cx="11871813" cy="6312401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-1" fmla="*/ 0 w 7754816"/>
              <a:gd name="connsiteY0-2" fmla="*/ 0 h 4208267"/>
              <a:gd name="connsiteX1-3" fmla="*/ 1019908 w 7754816"/>
              <a:gd name="connsiteY1-4" fmla="*/ 2356339 h 4208267"/>
              <a:gd name="connsiteX2-5" fmla="*/ 3499339 w 7754816"/>
              <a:gd name="connsiteY2-6" fmla="*/ 2760785 h 4208267"/>
              <a:gd name="connsiteX3-7" fmla="*/ 5732254 w 7754816"/>
              <a:gd name="connsiteY3-8" fmla="*/ 3511062 h 4208267"/>
              <a:gd name="connsiteX4-9" fmla="*/ 5820508 w 7754816"/>
              <a:gd name="connsiteY4-10" fmla="*/ 2602523 h 4208267"/>
              <a:gd name="connsiteX5-11" fmla="*/ 6664570 w 7754816"/>
              <a:gd name="connsiteY5-12" fmla="*/ 2391508 h 4208267"/>
              <a:gd name="connsiteX6-13" fmla="*/ 7561385 w 7754816"/>
              <a:gd name="connsiteY6-14" fmla="*/ 3991708 h 4208267"/>
              <a:gd name="connsiteX7-15" fmla="*/ 7754816 w 7754816"/>
              <a:gd name="connsiteY7-16" fmla="*/ 4149970 h 4208267"/>
              <a:gd name="connsiteX0-17" fmla="*/ 0 w 7754816"/>
              <a:gd name="connsiteY0-18" fmla="*/ 0 h 4208267"/>
              <a:gd name="connsiteX1-19" fmla="*/ 1019908 w 7754816"/>
              <a:gd name="connsiteY1-20" fmla="*/ 2356339 h 4208267"/>
              <a:gd name="connsiteX2-21" fmla="*/ 3499339 w 7754816"/>
              <a:gd name="connsiteY2-22" fmla="*/ 2760785 h 4208267"/>
              <a:gd name="connsiteX3-23" fmla="*/ 5732254 w 7754816"/>
              <a:gd name="connsiteY3-24" fmla="*/ 3511062 h 4208267"/>
              <a:gd name="connsiteX4-25" fmla="*/ 6289268 w 7754816"/>
              <a:gd name="connsiteY4-26" fmla="*/ 2754923 h 4208267"/>
              <a:gd name="connsiteX5-27" fmla="*/ 6664570 w 7754816"/>
              <a:gd name="connsiteY5-28" fmla="*/ 2391508 h 4208267"/>
              <a:gd name="connsiteX6-29" fmla="*/ 7561385 w 7754816"/>
              <a:gd name="connsiteY6-30" fmla="*/ 3991708 h 4208267"/>
              <a:gd name="connsiteX7-31" fmla="*/ 7754816 w 7754816"/>
              <a:gd name="connsiteY7-32" fmla="*/ 4149970 h 4208267"/>
              <a:gd name="connsiteX0-33" fmla="*/ 0 w 7754816"/>
              <a:gd name="connsiteY0-34" fmla="*/ 0 h 4208267"/>
              <a:gd name="connsiteX1-35" fmla="*/ 1019908 w 7754816"/>
              <a:gd name="connsiteY1-36" fmla="*/ 2356339 h 4208267"/>
              <a:gd name="connsiteX2-37" fmla="*/ 3941312 w 7754816"/>
              <a:gd name="connsiteY2-38" fmla="*/ 2760785 h 4208267"/>
              <a:gd name="connsiteX3-39" fmla="*/ 5732254 w 7754816"/>
              <a:gd name="connsiteY3-40" fmla="*/ 3511062 h 4208267"/>
              <a:gd name="connsiteX4-41" fmla="*/ 6289268 w 7754816"/>
              <a:gd name="connsiteY4-42" fmla="*/ 2754923 h 4208267"/>
              <a:gd name="connsiteX5-43" fmla="*/ 6664570 w 7754816"/>
              <a:gd name="connsiteY5-44" fmla="*/ 2391508 h 4208267"/>
              <a:gd name="connsiteX6-45" fmla="*/ 7561385 w 7754816"/>
              <a:gd name="connsiteY6-46" fmla="*/ 3991708 h 4208267"/>
              <a:gd name="connsiteX7-47" fmla="*/ 7754816 w 7754816"/>
              <a:gd name="connsiteY7-48" fmla="*/ 4149970 h 4208267"/>
              <a:gd name="connsiteX0-49" fmla="*/ 0 w 7754816"/>
              <a:gd name="connsiteY0-50" fmla="*/ 0 h 4208267"/>
              <a:gd name="connsiteX1-51" fmla="*/ 1019908 w 7754816"/>
              <a:gd name="connsiteY1-52" fmla="*/ 2356339 h 4208267"/>
              <a:gd name="connsiteX2-53" fmla="*/ 3941312 w 7754816"/>
              <a:gd name="connsiteY2-54" fmla="*/ 2760785 h 4208267"/>
              <a:gd name="connsiteX3-55" fmla="*/ 5732254 w 7754816"/>
              <a:gd name="connsiteY3-56" fmla="*/ 3511062 h 4208267"/>
              <a:gd name="connsiteX4-57" fmla="*/ 6289268 w 7754816"/>
              <a:gd name="connsiteY4-58" fmla="*/ 2754923 h 4208267"/>
              <a:gd name="connsiteX5-59" fmla="*/ 6664570 w 7754816"/>
              <a:gd name="connsiteY5-60" fmla="*/ 2391508 h 4208267"/>
              <a:gd name="connsiteX6-61" fmla="*/ 7561385 w 7754816"/>
              <a:gd name="connsiteY6-62" fmla="*/ 3991708 h 4208267"/>
              <a:gd name="connsiteX7-63" fmla="*/ 7754816 w 7754816"/>
              <a:gd name="connsiteY7-64" fmla="*/ 4149970 h 4208267"/>
              <a:gd name="connsiteX0-65" fmla="*/ 0 w 7754816"/>
              <a:gd name="connsiteY0-66" fmla="*/ 0 h 4208267"/>
              <a:gd name="connsiteX1-67" fmla="*/ 1314558 w 7754816"/>
              <a:gd name="connsiteY1-68" fmla="*/ 2225710 h 4208267"/>
              <a:gd name="connsiteX2-69" fmla="*/ 3941312 w 7754816"/>
              <a:gd name="connsiteY2-70" fmla="*/ 2760785 h 4208267"/>
              <a:gd name="connsiteX3-71" fmla="*/ 5732254 w 7754816"/>
              <a:gd name="connsiteY3-72" fmla="*/ 3511062 h 4208267"/>
              <a:gd name="connsiteX4-73" fmla="*/ 6289268 w 7754816"/>
              <a:gd name="connsiteY4-74" fmla="*/ 2754923 h 4208267"/>
              <a:gd name="connsiteX5-75" fmla="*/ 6664570 w 7754816"/>
              <a:gd name="connsiteY5-76" fmla="*/ 2391508 h 4208267"/>
              <a:gd name="connsiteX6-77" fmla="*/ 7561385 w 7754816"/>
              <a:gd name="connsiteY6-78" fmla="*/ 3991708 h 4208267"/>
              <a:gd name="connsiteX7-79" fmla="*/ 7754816 w 7754816"/>
              <a:gd name="connsiteY7-80" fmla="*/ 4149970 h 4208267"/>
              <a:gd name="connsiteX0-81" fmla="*/ 0 w 7754816"/>
              <a:gd name="connsiteY0-82" fmla="*/ 0 h 4208267"/>
              <a:gd name="connsiteX1-83" fmla="*/ 1314558 w 7754816"/>
              <a:gd name="connsiteY1-84" fmla="*/ 2225710 h 4208267"/>
              <a:gd name="connsiteX2-85" fmla="*/ 3767202 w 7754816"/>
              <a:gd name="connsiteY2-86" fmla="*/ 2717243 h 4208267"/>
              <a:gd name="connsiteX3-87" fmla="*/ 5732254 w 7754816"/>
              <a:gd name="connsiteY3-88" fmla="*/ 3511062 h 4208267"/>
              <a:gd name="connsiteX4-89" fmla="*/ 6289268 w 7754816"/>
              <a:gd name="connsiteY4-90" fmla="*/ 2754923 h 4208267"/>
              <a:gd name="connsiteX5-91" fmla="*/ 6664570 w 7754816"/>
              <a:gd name="connsiteY5-92" fmla="*/ 2391508 h 4208267"/>
              <a:gd name="connsiteX6-93" fmla="*/ 7561385 w 7754816"/>
              <a:gd name="connsiteY6-94" fmla="*/ 3991708 h 4208267"/>
              <a:gd name="connsiteX7-95" fmla="*/ 7754816 w 7754816"/>
              <a:gd name="connsiteY7-96" fmla="*/ 4149970 h 4208267"/>
              <a:gd name="connsiteX0-97" fmla="*/ 0 w 7754816"/>
              <a:gd name="connsiteY0-98" fmla="*/ 0 h 4208267"/>
              <a:gd name="connsiteX1-99" fmla="*/ 1314558 w 7754816"/>
              <a:gd name="connsiteY1-100" fmla="*/ 2225710 h 4208267"/>
              <a:gd name="connsiteX2-101" fmla="*/ 3767202 w 7754816"/>
              <a:gd name="connsiteY2-102" fmla="*/ 2717243 h 4208267"/>
              <a:gd name="connsiteX3-103" fmla="*/ 5732254 w 7754816"/>
              <a:gd name="connsiteY3-104" fmla="*/ 3511062 h 4208267"/>
              <a:gd name="connsiteX4-105" fmla="*/ 6289268 w 7754816"/>
              <a:gd name="connsiteY4-106" fmla="*/ 2754923 h 4208267"/>
              <a:gd name="connsiteX5-107" fmla="*/ 6664570 w 7754816"/>
              <a:gd name="connsiteY5-108" fmla="*/ 2391508 h 4208267"/>
              <a:gd name="connsiteX6-109" fmla="*/ 7561385 w 7754816"/>
              <a:gd name="connsiteY6-110" fmla="*/ 3991708 h 4208267"/>
              <a:gd name="connsiteX7-111" fmla="*/ 7754816 w 7754816"/>
              <a:gd name="connsiteY7-112" fmla="*/ 4149970 h 4208267"/>
              <a:gd name="connsiteX0-113" fmla="*/ 0 w 7754816"/>
              <a:gd name="connsiteY0-114" fmla="*/ 0 h 4208267"/>
              <a:gd name="connsiteX1-115" fmla="*/ 1314558 w 7754816"/>
              <a:gd name="connsiteY1-116" fmla="*/ 2225710 h 4208267"/>
              <a:gd name="connsiteX2-117" fmla="*/ 3823199 w 7754816"/>
              <a:gd name="connsiteY2-118" fmla="*/ 2698193 h 4208267"/>
              <a:gd name="connsiteX3-119" fmla="*/ 5732254 w 7754816"/>
              <a:gd name="connsiteY3-120" fmla="*/ 3511062 h 4208267"/>
              <a:gd name="connsiteX4-121" fmla="*/ 6289268 w 7754816"/>
              <a:gd name="connsiteY4-122" fmla="*/ 2754923 h 4208267"/>
              <a:gd name="connsiteX5-123" fmla="*/ 6664570 w 7754816"/>
              <a:gd name="connsiteY5-124" fmla="*/ 2391508 h 4208267"/>
              <a:gd name="connsiteX6-125" fmla="*/ 7561385 w 7754816"/>
              <a:gd name="connsiteY6-126" fmla="*/ 3991708 h 4208267"/>
              <a:gd name="connsiteX7-127" fmla="*/ 7754816 w 7754816"/>
              <a:gd name="connsiteY7-128" fmla="*/ 4149970 h 42082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8625210" y="6002309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2902764" y="8976090"/>
            <a:ext cx="1264203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3530112" y="2745627"/>
            <a:ext cx="0" cy="65442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3456814" y="2610867"/>
            <a:ext cx="145240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Total</a:t>
            </a:r>
          </a:p>
          <a:p>
            <a:pPr algn="ctr"/>
            <a:r>
              <a:rPr lang="en-US" altLang="zh-TW" sz="3600" dirty="0"/>
              <a:t>Loss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583796" y="9235022"/>
            <a:ext cx="779366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The value of a network parameter w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606085" y="2961408"/>
            <a:ext cx="4054749" cy="1383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Very slow at the </a:t>
            </a:r>
            <a:r>
              <a:rPr lang="en-US" altLang="zh-TW" sz="4200" b="1" dirty="0">
                <a:solidFill>
                  <a:schemeClr val="bg2"/>
                </a:solidFill>
              </a:rPr>
              <a:t>plateau</a:t>
            </a:r>
            <a:endParaRPr lang="zh-TW" altLang="en-US" sz="4200" dirty="0">
              <a:solidFill>
                <a:schemeClr val="bg2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864778" y="5455683"/>
            <a:ext cx="5658032" cy="73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chemeClr val="bg2"/>
                </a:solidFill>
              </a:rPr>
              <a:t>Stuck at local minima</a:t>
            </a:r>
            <a:endParaRPr lang="zh-TW" altLang="en-US" sz="4200" dirty="0">
              <a:solidFill>
                <a:schemeClr val="bg2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3800207" y="4015488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12179265" y="7558976"/>
                <a:ext cx="1933037" cy="119888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9265" y="7558976"/>
                <a:ext cx="1933037" cy="1198880"/>
              </a:xfrm>
              <a:prstGeom prst="rect">
                <a:avLst/>
              </a:prstGeom>
              <a:blipFill rotWithShape="1">
                <a:blip r:embed="rId3"/>
                <a:stretch>
                  <a:fillRect l="-360" t="-577" r="-325" b="-291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橢圓 29"/>
          <p:cNvSpPr/>
          <p:nvPr/>
        </p:nvSpPr>
        <p:spPr>
          <a:xfrm>
            <a:off x="6022907" y="5814513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文字方塊 32"/>
          <p:cNvSpPr txBox="1"/>
          <p:nvPr/>
        </p:nvSpPr>
        <p:spPr>
          <a:xfrm>
            <a:off x="8767382" y="4272063"/>
            <a:ext cx="5433647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Stuck at saddle point</a:t>
            </a:r>
            <a:endParaRPr lang="zh-TW" altLang="en-US" sz="4200" dirty="0">
              <a:solidFill>
                <a:schemeClr val="bg2"/>
              </a:solidFill>
            </a:endParaRPr>
          </a:p>
        </p:txBody>
      </p:sp>
      <p:cxnSp>
        <p:nvCxnSpPr>
          <p:cNvPr id="34" name="直線單箭頭接點 33"/>
          <p:cNvCxnSpPr>
            <a:stCxn id="24" idx="7"/>
          </p:cNvCxnSpPr>
          <p:nvPr/>
        </p:nvCxnSpPr>
        <p:spPr>
          <a:xfrm flipV="1">
            <a:off x="12316824" y="6240515"/>
            <a:ext cx="513351" cy="10966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9341819" y="4965057"/>
            <a:ext cx="517410" cy="115454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cxnSpLocks/>
            <a:stCxn id="30" idx="7"/>
            <a:endCxn id="11" idx="2"/>
          </p:cNvCxnSpPr>
          <p:nvPr/>
        </p:nvCxnSpPr>
        <p:spPr>
          <a:xfrm flipV="1">
            <a:off x="6833415" y="4345073"/>
            <a:ext cx="800045" cy="160850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9255437" y="7547372"/>
                <a:ext cx="1939027" cy="119888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437" y="7547372"/>
                <a:ext cx="1939027" cy="1198880"/>
              </a:xfrm>
              <a:prstGeom prst="rect">
                <a:avLst/>
              </a:prstGeom>
              <a:blipFill rotWithShape="1">
                <a:blip r:embed="rId4"/>
                <a:stretch>
                  <a:fillRect l="-344" t="-563" r="-325" b="-2933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6596258" y="7558788"/>
                <a:ext cx="1954788" cy="119888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258" y="7558788"/>
                <a:ext cx="1954788" cy="1198880"/>
              </a:xfrm>
              <a:prstGeom prst="rect">
                <a:avLst/>
              </a:prstGeom>
              <a:blipFill rotWithShape="1">
                <a:blip r:embed="rId5"/>
                <a:stretch>
                  <a:fillRect l="-351" t="-562" r="-318" b="-2934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橢圓 34"/>
          <p:cNvSpPr/>
          <p:nvPr/>
        </p:nvSpPr>
        <p:spPr>
          <a:xfrm>
            <a:off x="4077315" y="8814002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橢圓 37"/>
          <p:cNvSpPr/>
          <p:nvPr/>
        </p:nvSpPr>
        <p:spPr>
          <a:xfrm>
            <a:off x="6345207" y="8805453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橢圓 38"/>
          <p:cNvSpPr/>
          <p:nvPr/>
        </p:nvSpPr>
        <p:spPr>
          <a:xfrm>
            <a:off x="8937906" y="8768781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橢圓 39"/>
          <p:cNvSpPr/>
          <p:nvPr/>
        </p:nvSpPr>
        <p:spPr>
          <a:xfrm>
            <a:off x="11849774" y="8781075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9" grpId="0" bldLvl="0" animBg="1"/>
      <p:bldP spid="11" grpId="0" bldLvl="0" animBg="1"/>
      <p:bldP spid="22" grpId="0" bldLvl="0" animBg="1"/>
      <p:bldP spid="28" grpId="0" bldLvl="0" animBg="1"/>
      <p:bldP spid="30" grpId="0" bldLvl="0" animBg="1"/>
      <p:bldP spid="33" grpId="0" bldLvl="0" animBg="1"/>
      <p:bldP spid="26" grpId="0" bldLvl="0" animBg="1"/>
      <p:bldP spid="29" grpId="0" bldLvl="0" animBg="1"/>
      <p:bldP spid="38" grpId="0" bldLvl="0" animBg="1"/>
      <p:bldP spid="39" grpId="0" bldLvl="0" animBg="1"/>
      <p:bldP spid="4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 physical world</a:t>
            </a:r>
            <a:r>
              <a:rPr lang="zh-TW" altLang="en-US" dirty="0"/>
              <a:t> </a:t>
            </a:r>
            <a:r>
              <a:rPr lang="en-US" altLang="zh-TW" dirty="0"/>
              <a:t>……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p:sp>
        <p:nvSpPr>
          <p:cNvPr id="6" name="手繪多邊形 5"/>
          <p:cNvSpPr/>
          <p:nvPr/>
        </p:nvSpPr>
        <p:spPr>
          <a:xfrm>
            <a:off x="3631223" y="3778704"/>
            <a:ext cx="11632224" cy="6312401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436685" y="1896208"/>
                  <a:pt x="1019908" y="2356339"/>
                </a:cubicBezTo>
                <a:cubicBezTo>
                  <a:pt x="1603131" y="2816470"/>
                  <a:pt x="2872154" y="2631831"/>
                  <a:pt x="3499339" y="2760785"/>
                </a:cubicBezTo>
                <a:cubicBezTo>
                  <a:pt x="4126524" y="2889739"/>
                  <a:pt x="4396154" y="3156439"/>
                  <a:pt x="4783016" y="3130062"/>
                </a:cubicBezTo>
                <a:cubicBezTo>
                  <a:pt x="5169878" y="3103685"/>
                  <a:pt x="5506916" y="2725615"/>
                  <a:pt x="5820508" y="2602523"/>
                </a:cubicBezTo>
                <a:cubicBezTo>
                  <a:pt x="6134100" y="2479431"/>
                  <a:pt x="6374424" y="2159977"/>
                  <a:pt x="6664570" y="2391508"/>
                </a:cubicBezTo>
                <a:cubicBezTo>
                  <a:pt x="6954716" y="26230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橢圓 6"/>
          <p:cNvSpPr/>
          <p:nvPr/>
        </p:nvSpPr>
        <p:spPr>
          <a:xfrm>
            <a:off x="3868614" y="3576300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橢圓 7"/>
          <p:cNvSpPr/>
          <p:nvPr/>
        </p:nvSpPr>
        <p:spPr>
          <a:xfrm>
            <a:off x="6180992" y="6706362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10769475" y="6934904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4580790" y="4728273"/>
            <a:ext cx="474785" cy="166174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7429494" y="7338642"/>
            <a:ext cx="1200969" cy="9724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11857517" y="7040414"/>
            <a:ext cx="743763" cy="21910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429494" y="4218681"/>
            <a:ext cx="7629531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How about put this phenomenon in gradient descent?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17102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Adaptive Learning 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Review: Vanilla Gradient Descent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4419261" y="4075841"/>
            <a:ext cx="2563508" cy="934872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6965786" y="5006237"/>
            <a:ext cx="1362750" cy="1025099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H="1">
            <a:off x="8226873" y="5988435"/>
            <a:ext cx="73916" cy="164405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H="1">
            <a:off x="7079670" y="7468731"/>
            <a:ext cx="1170503" cy="146120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3579317" y="7226945"/>
            <a:ext cx="1035294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3592791" y="6479706"/>
            <a:ext cx="1035294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2997102" y="3502490"/>
            <a:ext cx="1422159" cy="57335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10177562" y="3048516"/>
                <a:ext cx="4582989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Start at position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562" y="3048516"/>
                <a:ext cx="4582989" cy="669290"/>
              </a:xfrm>
              <a:prstGeom prst="rect">
                <a:avLst/>
              </a:prstGeom>
              <a:blipFill rotWithShape="1">
                <a:blip r:embed="rId3"/>
                <a:stretch>
                  <a:fillRect l="-9" t="-77" r="13" b="-5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10177562" y="3929742"/>
                <a:ext cx="6590937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562" y="3929742"/>
                <a:ext cx="6590937" cy="669290"/>
              </a:xfrm>
              <a:prstGeom prst="rect">
                <a:avLst/>
              </a:prstGeom>
              <a:blipFill rotWithShape="1">
                <a:blip r:embed="rId4"/>
                <a:stretch>
                  <a:fillRect l="-6" t="-54" r="1" b="-6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10179758" y="4831569"/>
                <a:ext cx="6253528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758" y="4831569"/>
                <a:ext cx="6253528" cy="669290"/>
              </a:xfrm>
              <a:prstGeom prst="rect">
                <a:avLst/>
              </a:prstGeom>
              <a:blipFill rotWithShape="1">
                <a:blip r:embed="rId5"/>
                <a:stretch>
                  <a:fillRect l="-1" t="-73" r="2" b="-5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0202499" y="5668677"/>
                <a:ext cx="5989758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499" y="5668677"/>
                <a:ext cx="5989758" cy="668020"/>
              </a:xfrm>
              <a:prstGeom prst="rect">
                <a:avLst/>
              </a:prstGeom>
              <a:blipFill rotWithShape="1">
                <a:blip r:embed="rId6"/>
                <a:stretch>
                  <a:fillRect l="-10" t="-5" r="7" b="-6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0204695" y="6534104"/>
                <a:ext cx="6253528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–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695" y="6534104"/>
                <a:ext cx="6253528" cy="668655"/>
              </a:xfrm>
              <a:prstGeom prst="rect">
                <a:avLst/>
              </a:prstGeom>
              <a:blipFill rotWithShape="1">
                <a:blip r:embed="rId7"/>
                <a:stretch>
                  <a:fillRect l="-4" t="-88" r="5" b="-5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 flipH="1" flipV="1">
            <a:off x="6264569" y="4462457"/>
            <a:ext cx="750506" cy="524514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8300789" y="5168357"/>
            <a:ext cx="27747" cy="80405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8266581" y="6621045"/>
            <a:ext cx="618530" cy="84932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4614611" y="6864702"/>
            <a:ext cx="28849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</a:t>
            </a:r>
            <a:endParaRPr lang="zh-TW" altLang="en-US" sz="3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628085" y="6165089"/>
            <a:ext cx="28849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Gradient</a:t>
            </a:r>
            <a:endParaRPr lang="zh-TW" altLang="en-US" sz="3600" dirty="0"/>
          </a:p>
        </p:txBody>
      </p:sp>
      <p:sp>
        <p:nvSpPr>
          <p:cNvPr id="40" name="文字方塊 39"/>
          <p:cNvSpPr txBox="1"/>
          <p:nvPr/>
        </p:nvSpPr>
        <p:spPr>
          <a:xfrm rot="5400000">
            <a:off x="12208737" y="7346154"/>
            <a:ext cx="1163823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3920279" y="4188232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79" y="4188232"/>
                <a:ext cx="1033632" cy="669290"/>
              </a:xfrm>
              <a:prstGeom prst="rect">
                <a:avLst/>
              </a:prstGeom>
              <a:blipFill rotWithShape="1">
                <a:blip r:embed="rId8"/>
                <a:stretch>
                  <a:fillRect l="-41" t="-61" r="27" b="-60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6232244" y="5000997"/>
                <a:ext cx="103363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244" y="5000997"/>
                <a:ext cx="1033632" cy="668020"/>
              </a:xfrm>
              <a:prstGeom prst="rect">
                <a:avLst/>
              </a:prstGeom>
              <a:blipFill rotWithShape="1">
                <a:blip r:embed="rId9"/>
                <a:stretch>
                  <a:fillRect l="-34" t="-56" r="20" b="-6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7392971" y="5942798"/>
                <a:ext cx="103363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971" y="5942798"/>
                <a:ext cx="1033632" cy="668655"/>
              </a:xfrm>
              <a:prstGeom prst="rect">
                <a:avLst/>
              </a:prstGeom>
              <a:blipFill rotWithShape="1">
                <a:blip r:embed="rId10"/>
                <a:stretch>
                  <a:fillRect l="-29" t="-70" r="15" b="-6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7278666" y="7200308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666" y="7200308"/>
                <a:ext cx="1033632" cy="669290"/>
              </a:xfrm>
              <a:prstGeom prst="rect">
                <a:avLst/>
              </a:prstGeom>
              <a:blipFill rotWithShape="1">
                <a:blip r:embed="rId11"/>
                <a:stretch>
                  <a:fillRect l="-29" t="-6" r="14" b="-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3287932" y="2992178"/>
                <a:ext cx="1618060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932" y="2992178"/>
                <a:ext cx="1618060" cy="669290"/>
              </a:xfrm>
              <a:prstGeom prst="rect">
                <a:avLst/>
              </a:prstGeom>
              <a:blipFill rotWithShape="1">
                <a:blip r:embed="rId12"/>
                <a:stretch>
                  <a:fillRect l="-33" t="-9" r="38" b="-6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6578258" y="4017351"/>
                <a:ext cx="103363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258" y="4017351"/>
                <a:ext cx="1033632" cy="668020"/>
              </a:xfrm>
              <a:prstGeom prst="rect">
                <a:avLst/>
              </a:prstGeom>
              <a:blipFill rotWithShape="1">
                <a:blip r:embed="rId13"/>
                <a:stretch>
                  <a:fillRect l="-28" t="-51" r="-41208" b="-6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8386032" y="5193044"/>
                <a:ext cx="103363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032" y="5193044"/>
                <a:ext cx="1033632" cy="668655"/>
              </a:xfrm>
              <a:prstGeom prst="rect">
                <a:avLst/>
              </a:prstGeom>
              <a:blipFill rotWithShape="1">
                <a:blip r:embed="rId14"/>
                <a:stretch>
                  <a:fillRect l="-21" t="-2" r="-41215" b="-6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8535141" y="6777869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141" y="6777869"/>
                <a:ext cx="1033632" cy="669290"/>
              </a:xfrm>
              <a:prstGeom prst="rect">
                <a:avLst/>
              </a:prstGeom>
              <a:blipFill rotWithShape="1">
                <a:blip r:embed="rId15"/>
                <a:stretch>
                  <a:fillRect l="-10" t="-77" r="-41226" b="-5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橢圓 51"/>
          <p:cNvSpPr/>
          <p:nvPr/>
        </p:nvSpPr>
        <p:spPr>
          <a:xfrm>
            <a:off x="4256084" y="3935555"/>
            <a:ext cx="270000" cy="27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0179758" y="8136888"/>
                <a:ext cx="6253528" cy="661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Stop until 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zh-TW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758" y="8136888"/>
                <a:ext cx="6253528" cy="661035"/>
              </a:xfrm>
              <a:prstGeom prst="rect">
                <a:avLst/>
              </a:prstGeom>
              <a:blipFill rotWithShape="1">
                <a:blip r:embed="rId16"/>
                <a:stretch>
                  <a:fillRect l="-1" t="-96" r="2" b="-6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28" grpId="0"/>
      <p:bldP spid="29" grpId="0"/>
      <p:bldP spid="20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8" grpId="0"/>
      <p:bldP spid="49" grpId="0"/>
      <p:bldP spid="50" grpId="0"/>
      <p:bldP spid="51" grpId="0"/>
      <p:bldP spid="52" grpId="0" bldLvl="0" animBg="1"/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9923481" y="2203374"/>
                <a:ext cx="3870813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Start at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481" y="2203374"/>
                <a:ext cx="3870813" cy="669290"/>
              </a:xfrm>
              <a:prstGeom prst="rect">
                <a:avLst/>
              </a:prstGeom>
              <a:blipFill rotWithShape="1">
                <a:blip r:embed="rId3"/>
                <a:stretch>
                  <a:fillRect l="-9" t="-84" r="5" b="-5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9938864" y="3603429"/>
                <a:ext cx="5989758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864" y="3603429"/>
                <a:ext cx="5989758" cy="669290"/>
              </a:xfrm>
              <a:prstGeom prst="rect">
                <a:avLst/>
              </a:prstGeom>
              <a:blipFill rotWithShape="1">
                <a:blip r:embed="rId4"/>
                <a:stretch>
                  <a:fillRect l="-8" t="-66" r="5" b="-60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9917304" y="5164379"/>
                <a:ext cx="5040189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3600" dirty="0"/>
                  <a:t> + v</a:t>
                </a:r>
                <a:r>
                  <a:rPr lang="en-US" altLang="zh-TW" sz="3600" baseline="30000" dirty="0"/>
                  <a:t>1</a:t>
                </a:r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304" y="5164379"/>
                <a:ext cx="5040189" cy="669290"/>
              </a:xfrm>
              <a:prstGeom prst="rect">
                <a:avLst/>
              </a:prstGeom>
              <a:blipFill rotWithShape="1">
                <a:blip r:embed="rId5"/>
                <a:stretch>
                  <a:fillRect l="-10" t="-10330" r="1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9966876" y="5940836"/>
                <a:ext cx="5989758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876" y="5940836"/>
                <a:ext cx="5989758" cy="668020"/>
              </a:xfrm>
              <a:prstGeom prst="rect">
                <a:avLst/>
              </a:prstGeom>
              <a:blipFill rotWithShape="1">
                <a:blip r:embed="rId6"/>
                <a:stretch>
                  <a:fillRect l="-9" t="-62" r="6" b="-6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/>
          <p:cNvSpPr txBox="1"/>
          <p:nvPr/>
        </p:nvSpPr>
        <p:spPr>
          <a:xfrm>
            <a:off x="9938864" y="2895872"/>
            <a:ext cx="3870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 v</a:t>
            </a:r>
            <a:r>
              <a:rPr lang="en-US" altLang="zh-TW" sz="3600" baseline="30000" dirty="0"/>
              <a:t>0</a:t>
            </a:r>
            <a:r>
              <a:rPr lang="en-US" altLang="zh-TW" sz="3600" dirty="0"/>
              <a:t>=0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9917303" y="4388468"/>
                <a:ext cx="6088907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Movement 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= </a:t>
                </a:r>
                <a:r>
                  <a:rPr lang="el-GR" altLang="zh-TW" sz="3600" dirty="0"/>
                  <a:t>λ</a:t>
                </a:r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0</a:t>
                </a:r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303" y="4388468"/>
                <a:ext cx="6088907" cy="669290"/>
              </a:xfrm>
              <a:prstGeom prst="rect">
                <a:avLst/>
              </a:prstGeom>
              <a:blipFill rotWithShape="1">
                <a:blip r:embed="rId7"/>
                <a:stretch>
                  <a:fillRect l="-8" t="-10339" r="7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9928709" y="6738600"/>
                <a:ext cx="6066093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Movement v</a:t>
                </a:r>
                <a:r>
                  <a:rPr lang="en-US" altLang="zh-TW" sz="3600" baseline="30000" dirty="0"/>
                  <a:t>2</a:t>
                </a:r>
                <a:r>
                  <a:rPr lang="en-US" altLang="zh-TW" sz="3600" dirty="0"/>
                  <a:t> = </a:t>
                </a:r>
                <a:r>
                  <a:rPr lang="el-GR" altLang="zh-TW" sz="3600" dirty="0"/>
                  <a:t>λ</a:t>
                </a:r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709" y="6738600"/>
                <a:ext cx="6066093" cy="668020"/>
              </a:xfrm>
              <a:prstGeom prst="rect">
                <a:avLst/>
              </a:prstGeom>
              <a:blipFill rotWithShape="1">
                <a:blip r:embed="rId8"/>
                <a:stretch>
                  <a:fillRect l="-8" t="-10358" r="7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9938864" y="7432491"/>
                <a:ext cx="5040189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+ v</a:t>
                </a:r>
                <a:r>
                  <a:rPr lang="en-US" altLang="zh-TW" sz="3600" baseline="30000" dirty="0"/>
                  <a:t>2</a:t>
                </a:r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864" y="7432491"/>
                <a:ext cx="5040189" cy="668655"/>
              </a:xfrm>
              <a:prstGeom prst="rect">
                <a:avLst/>
              </a:prstGeom>
              <a:blipFill>
                <a:blip r:embed="rId9"/>
                <a:stretch>
                  <a:fillRect l="-3628" t="-13636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>
            <a:off x="4509078" y="4566584"/>
            <a:ext cx="1929396" cy="70362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6420602" y="5268851"/>
            <a:ext cx="1319720" cy="148711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7736076" y="6691041"/>
            <a:ext cx="41583" cy="186932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H="1">
            <a:off x="7128465" y="8560362"/>
            <a:ext cx="583817" cy="1572764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2964650" y="7916709"/>
            <a:ext cx="1035294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2964650" y="7120148"/>
            <a:ext cx="1035294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 flipV="1">
            <a:off x="2951372" y="3910850"/>
            <a:ext cx="1422159" cy="57335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 flipV="1">
            <a:off x="6343317" y="4557053"/>
            <a:ext cx="49290" cy="664902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V="1">
            <a:off x="7736076" y="6089127"/>
            <a:ext cx="675026" cy="59044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7840848" y="8462310"/>
            <a:ext cx="485535" cy="51399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3999944" y="7554466"/>
            <a:ext cx="28849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</a:t>
            </a:r>
            <a:endParaRPr lang="zh-TW" altLang="en-US" sz="36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3999944" y="6805530"/>
            <a:ext cx="28849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Gradient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3868529" y="4467149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29" y="4467149"/>
                <a:ext cx="1033632" cy="669290"/>
              </a:xfrm>
              <a:prstGeom prst="rect">
                <a:avLst/>
              </a:prstGeom>
              <a:blipFill rotWithShape="1">
                <a:blip r:embed="rId10"/>
                <a:stretch>
                  <a:fillRect l="-11" t="-84" r="58" b="-5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501979" y="5305296"/>
                <a:ext cx="103363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979" y="5305296"/>
                <a:ext cx="1033632" cy="668020"/>
              </a:xfrm>
              <a:prstGeom prst="rect">
                <a:avLst/>
              </a:prstGeom>
              <a:blipFill rotWithShape="1">
                <a:blip r:embed="rId11"/>
                <a:stretch>
                  <a:fillRect l="-33" t="-76" r="18" b="-6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6646808" y="6287903"/>
                <a:ext cx="103363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808" y="6287903"/>
                <a:ext cx="1033632" cy="668655"/>
              </a:xfrm>
              <a:prstGeom prst="rect">
                <a:avLst/>
              </a:prstGeom>
              <a:blipFill rotWithShape="1">
                <a:blip r:embed="rId12"/>
                <a:stretch>
                  <a:fillRect l="-25" t="-20" r="11" b="-6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6856077" y="7778741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077" y="7778741"/>
                <a:ext cx="1033632" cy="669290"/>
              </a:xfrm>
              <a:prstGeom prst="rect">
                <a:avLst/>
              </a:prstGeom>
              <a:blipFill rotWithShape="1">
                <a:blip r:embed="rId13"/>
                <a:stretch>
                  <a:fillRect l="-60" t="-94" r="45" b="-5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3700824" y="3600449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824" y="3600449"/>
                <a:ext cx="1033632" cy="669290"/>
              </a:xfrm>
              <a:prstGeom prst="rect">
                <a:avLst/>
              </a:prstGeom>
              <a:blipFill rotWithShape="1">
                <a:blip r:embed="rId14"/>
                <a:stretch>
                  <a:fillRect l="-4" t="-95" r="-41232" b="-5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6042521" y="3858806"/>
                <a:ext cx="103363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521" y="3858806"/>
                <a:ext cx="1033632" cy="668020"/>
              </a:xfrm>
              <a:prstGeom prst="rect">
                <a:avLst/>
              </a:prstGeom>
              <a:blipFill rotWithShape="1">
                <a:blip r:embed="rId15"/>
                <a:stretch>
                  <a:fillRect l="-48" t="-82" r="-41188" b="-60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8269466" y="5459697"/>
                <a:ext cx="103363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466" y="5459697"/>
                <a:ext cx="1033632" cy="668655"/>
              </a:xfrm>
              <a:prstGeom prst="rect">
                <a:avLst/>
              </a:prstGeom>
              <a:blipFill rotWithShape="1">
                <a:blip r:embed="rId16"/>
                <a:stretch>
                  <a:fillRect l="-48" t="-90" r="-41188" b="-5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8258780" y="8071940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80" y="8071940"/>
                <a:ext cx="1033632" cy="669290"/>
              </a:xfrm>
              <a:prstGeom prst="rect">
                <a:avLst/>
              </a:prstGeom>
              <a:blipFill rotWithShape="1">
                <a:blip r:embed="rId17"/>
                <a:stretch>
                  <a:fillRect l="-59" t="-68" r="-41178" b="-60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橢圓 53"/>
          <p:cNvSpPr/>
          <p:nvPr/>
        </p:nvSpPr>
        <p:spPr>
          <a:xfrm>
            <a:off x="4210353" y="4343915"/>
            <a:ext cx="270000" cy="27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9" name="直線單箭頭接點 58"/>
          <p:cNvCxnSpPr/>
          <p:nvPr/>
        </p:nvCxnSpPr>
        <p:spPr>
          <a:xfrm>
            <a:off x="6439685" y="5243796"/>
            <a:ext cx="1512462" cy="586107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379392" y="5269031"/>
            <a:ext cx="118166" cy="1121576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7755605" y="6755961"/>
            <a:ext cx="1141557" cy="1298622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H="1">
            <a:off x="6743421" y="6738600"/>
            <a:ext cx="935135" cy="660705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H="1" flipV="1">
            <a:off x="7210988" y="8427050"/>
            <a:ext cx="467570" cy="35261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>
            <a:off x="7786886" y="8560362"/>
            <a:ext cx="46200" cy="1566725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9917303" y="8590487"/>
            <a:ext cx="7126688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ysClr val="windowText" lastClr="000000"/>
                </a:solidFill>
              </a:rPr>
              <a:t>Movement not just based on gradient, but previous movement.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cxnSp>
        <p:nvCxnSpPr>
          <p:cNvPr id="55" name="直線單箭頭接點 54"/>
          <p:cNvCxnSpPr/>
          <p:nvPr/>
        </p:nvCxnSpPr>
        <p:spPr>
          <a:xfrm>
            <a:off x="2944322" y="8664729"/>
            <a:ext cx="1035294" cy="0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999944" y="8303403"/>
            <a:ext cx="454655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</a:t>
            </a:r>
          </a:p>
          <a:p>
            <a:r>
              <a:rPr lang="en-US" altLang="zh-TW" sz="3600" dirty="0"/>
              <a:t>of last step</a:t>
            </a:r>
            <a:endParaRPr lang="zh-TW" altLang="en-US" sz="36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3200064" y="2313130"/>
            <a:ext cx="6335794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tx1"/>
                </a:solidFill>
              </a:rPr>
              <a:t>Movement: movement of last step minus gradient at present 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28" grpId="0"/>
      <p:bldP spid="29" grpId="0"/>
      <p:bldP spid="30" grpId="0"/>
      <p:bldP spid="31" grpId="0"/>
      <p:bldP spid="32" grpId="0"/>
      <p:bldP spid="3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bldLvl="0" animBg="1"/>
      <p:bldP spid="85" grpId="0" bldLvl="0" animBg="1"/>
      <p:bldP spid="57" grpId="0"/>
      <p:bldP spid="5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114398" y="3951055"/>
                <a:ext cx="6456540" cy="1867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i</a:t>
                </a:r>
                <a:r>
                  <a:rPr lang="en-US" altLang="zh-TW" sz="3600" dirty="0"/>
                  <a:t> is actually the weighted sum of all the previous gradient: 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600" dirty="0"/>
                  <a:t>,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, …</m:t>
                    </m:r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398" y="3951055"/>
                <a:ext cx="6456540" cy="1867535"/>
              </a:xfrm>
              <a:prstGeom prst="rect">
                <a:avLst/>
              </a:prstGeom>
              <a:blipFill rotWithShape="1">
                <a:blip r:embed="rId3"/>
                <a:stretch>
                  <a:fillRect l="-6" t="-3677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57"/>
          <p:cNvSpPr txBox="1"/>
          <p:nvPr/>
        </p:nvSpPr>
        <p:spPr>
          <a:xfrm>
            <a:off x="3697412" y="5937609"/>
            <a:ext cx="3870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v</a:t>
            </a:r>
            <a:r>
              <a:rPr lang="en-US" altLang="zh-TW" sz="3600" baseline="30000" dirty="0"/>
              <a:t>0 </a:t>
            </a:r>
            <a:r>
              <a:rPr lang="en-US" altLang="zh-TW" sz="3600" dirty="0"/>
              <a:t>= 0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3697412" y="6853761"/>
                <a:ext cx="4018738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=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412" y="6853761"/>
                <a:ext cx="4018738" cy="669290"/>
              </a:xfrm>
              <a:prstGeom prst="rect">
                <a:avLst/>
              </a:prstGeom>
              <a:blipFill rotWithShape="1">
                <a:blip r:embed="rId4"/>
                <a:stretch>
                  <a:fillRect l="-11" t="-10277" r="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3701294" y="7871555"/>
                <a:ext cx="6066093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2</a:t>
                </a:r>
                <a:r>
                  <a:rPr lang="en-US" altLang="zh-TW" sz="3600" dirty="0"/>
                  <a:t> = - </a:t>
                </a:r>
                <a:r>
                  <a:rPr lang="el-GR" altLang="zh-TW" sz="3600" dirty="0"/>
                  <a:t>λ 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294" y="7871555"/>
                <a:ext cx="6066093" cy="669290"/>
              </a:xfrm>
              <a:prstGeom prst="rect">
                <a:avLst/>
              </a:prstGeom>
              <a:blipFill rotWithShape="1">
                <a:blip r:embed="rId5"/>
                <a:stretch>
                  <a:fillRect l="-8" t="-10261" r="7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/>
          <p:cNvSpPr txBox="1"/>
          <p:nvPr/>
        </p:nvSpPr>
        <p:spPr>
          <a:xfrm rot="5400000">
            <a:off x="3947416" y="8931590"/>
            <a:ext cx="1197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……</a:t>
            </a:r>
            <a:endParaRPr lang="zh-TW" altLang="en-US" sz="3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9923481" y="2203374"/>
                <a:ext cx="3870813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Start at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481" y="2203374"/>
                <a:ext cx="3870813" cy="669290"/>
              </a:xfrm>
              <a:prstGeom prst="rect">
                <a:avLst/>
              </a:prstGeom>
              <a:blipFill rotWithShape="1">
                <a:blip r:embed="rId6"/>
                <a:stretch>
                  <a:fillRect l="-9" t="-84" r="5" b="-5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9938864" y="3603429"/>
                <a:ext cx="5989758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864" y="3603429"/>
                <a:ext cx="5989758" cy="669290"/>
              </a:xfrm>
              <a:prstGeom prst="rect">
                <a:avLst/>
              </a:prstGeom>
              <a:blipFill rotWithShape="1">
                <a:blip r:embed="rId7"/>
                <a:stretch>
                  <a:fillRect l="-8" t="-66" r="5" b="-60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9917304" y="5164379"/>
                <a:ext cx="5040189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3600" dirty="0"/>
                  <a:t> + v</a:t>
                </a:r>
                <a:r>
                  <a:rPr lang="en-US" altLang="zh-TW" sz="3600" baseline="30000" dirty="0"/>
                  <a:t>1</a:t>
                </a:r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304" y="5164379"/>
                <a:ext cx="5040189" cy="669290"/>
              </a:xfrm>
              <a:prstGeom prst="rect">
                <a:avLst/>
              </a:prstGeom>
              <a:blipFill rotWithShape="1">
                <a:blip r:embed="rId8"/>
                <a:stretch>
                  <a:fillRect l="-10" t="-10330" r="1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9966876" y="5940836"/>
                <a:ext cx="5989758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876" y="5940836"/>
                <a:ext cx="5989758" cy="668020"/>
              </a:xfrm>
              <a:prstGeom prst="rect">
                <a:avLst/>
              </a:prstGeom>
              <a:blipFill rotWithShape="1">
                <a:blip r:embed="rId9"/>
                <a:stretch>
                  <a:fillRect l="-9" t="-62" r="6" b="-6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/>
          <p:cNvSpPr txBox="1"/>
          <p:nvPr/>
        </p:nvSpPr>
        <p:spPr>
          <a:xfrm>
            <a:off x="9938864" y="2895872"/>
            <a:ext cx="3870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 v</a:t>
            </a:r>
            <a:r>
              <a:rPr lang="en-US" altLang="zh-TW" sz="3600" baseline="30000" dirty="0"/>
              <a:t>0</a:t>
            </a:r>
            <a:r>
              <a:rPr lang="en-US" altLang="zh-TW" sz="3600" dirty="0"/>
              <a:t>=0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9917303" y="4388468"/>
                <a:ext cx="6088907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Movement 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= </a:t>
                </a:r>
                <a:r>
                  <a:rPr lang="el-GR" altLang="zh-TW" sz="3600" dirty="0"/>
                  <a:t>λ</a:t>
                </a:r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0</a:t>
                </a:r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303" y="4388468"/>
                <a:ext cx="6088907" cy="669290"/>
              </a:xfrm>
              <a:prstGeom prst="rect">
                <a:avLst/>
              </a:prstGeom>
              <a:blipFill rotWithShape="1">
                <a:blip r:embed="rId10"/>
                <a:stretch>
                  <a:fillRect l="-8" t="-10339" r="7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9928709" y="6738600"/>
                <a:ext cx="6066093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Movement v</a:t>
                </a:r>
                <a:r>
                  <a:rPr lang="en-US" altLang="zh-TW" sz="3600" baseline="30000" dirty="0"/>
                  <a:t>2</a:t>
                </a:r>
                <a:r>
                  <a:rPr lang="en-US" altLang="zh-TW" sz="3600" dirty="0"/>
                  <a:t> = </a:t>
                </a:r>
                <a:r>
                  <a:rPr lang="el-GR" altLang="zh-TW" sz="3600" dirty="0"/>
                  <a:t>λ</a:t>
                </a:r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709" y="6738600"/>
                <a:ext cx="6066093" cy="668020"/>
              </a:xfrm>
              <a:prstGeom prst="rect">
                <a:avLst/>
              </a:prstGeom>
              <a:blipFill rotWithShape="1">
                <a:blip r:embed="rId11"/>
                <a:stretch>
                  <a:fillRect l="-8" t="-10358" r="7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9938864" y="7432491"/>
                <a:ext cx="5040189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+ v</a:t>
                </a:r>
                <a:r>
                  <a:rPr lang="en-US" altLang="zh-TW" sz="3600" baseline="30000" dirty="0"/>
                  <a:t>2</a:t>
                </a:r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864" y="7432491"/>
                <a:ext cx="5040189" cy="668655"/>
              </a:xfrm>
              <a:prstGeom prst="rect">
                <a:avLst/>
              </a:prstGeom>
              <a:blipFill rotWithShape="1">
                <a:blip r:embed="rId12"/>
                <a:stretch>
                  <a:fillRect l="-10" t="-10324" r="1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84">
            <a:extLst>
              <a:ext uri="{FF2B5EF4-FFF2-40B4-BE49-F238E27FC236}">
                <a16:creationId xmlns:a16="http://schemas.microsoft.com/office/drawing/2014/main" id="{30C39824-561D-19AB-EF1A-8F2B994608E0}"/>
              </a:ext>
            </a:extLst>
          </p:cNvPr>
          <p:cNvSpPr txBox="1"/>
          <p:nvPr/>
        </p:nvSpPr>
        <p:spPr>
          <a:xfrm>
            <a:off x="9917303" y="8590487"/>
            <a:ext cx="7126688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ysClr val="windowText" lastClr="000000"/>
                </a:solidFill>
              </a:rPr>
              <a:t>Movement not just based on gradient, but previous movement.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9" name="文字方塊 57">
            <a:extLst>
              <a:ext uri="{FF2B5EF4-FFF2-40B4-BE49-F238E27FC236}">
                <a16:creationId xmlns:a16="http://schemas.microsoft.com/office/drawing/2014/main" id="{13191D62-EBE8-AD9D-E318-652E0D43C08C}"/>
              </a:ext>
            </a:extLst>
          </p:cNvPr>
          <p:cNvSpPr txBox="1"/>
          <p:nvPr/>
        </p:nvSpPr>
        <p:spPr>
          <a:xfrm>
            <a:off x="3200064" y="2313130"/>
            <a:ext cx="6335794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tx1"/>
                </a:solidFill>
              </a:rPr>
              <a:t>Movement: movement of last step minus gradient at present 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8" grpId="0"/>
      <p:bldP spid="60" grpId="0"/>
      <p:bldP spid="62" grpId="0"/>
      <p:bldP spid="6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960964" y="3440497"/>
            <a:ext cx="2446152" cy="6403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7657096" y="2863239"/>
            <a:ext cx="751242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 = </a:t>
            </a:r>
          </a:p>
          <a:p>
            <a:r>
              <a:rPr lang="en-US" altLang="zh-TW" sz="3600" dirty="0"/>
              <a:t>Negative of </a:t>
            </a:r>
            <a:r>
              <a:rPr lang="zh-TW" alt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𝜕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𝐿</a:t>
            </a:r>
            <a:r>
              <a:rPr lang="zh-TW" alt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∕𝜕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𝑤</a:t>
            </a:r>
            <a:r>
              <a:rPr lang="en-US" altLang="zh-TW" sz="3600" dirty="0"/>
              <a:t> + Momentum </a:t>
            </a:r>
            <a:endParaRPr lang="zh-TW" altLang="en-US" sz="3600" dirty="0"/>
          </a:p>
        </p:txBody>
      </p:sp>
      <p:cxnSp>
        <p:nvCxnSpPr>
          <p:cNvPr id="52" name="直線接點 51"/>
          <p:cNvCxnSpPr/>
          <p:nvPr/>
        </p:nvCxnSpPr>
        <p:spPr>
          <a:xfrm>
            <a:off x="13153736" y="6461759"/>
            <a:ext cx="0" cy="1980624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7307313" y="6461759"/>
            <a:ext cx="0" cy="1998545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10453623" y="7552626"/>
            <a:ext cx="0" cy="90767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p:sp>
        <p:nvSpPr>
          <p:cNvPr id="4" name="手繪多邊形 3"/>
          <p:cNvSpPr/>
          <p:nvPr/>
        </p:nvSpPr>
        <p:spPr>
          <a:xfrm>
            <a:off x="4023110" y="3169104"/>
            <a:ext cx="11632224" cy="6312401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-1" fmla="*/ 0 w 7754816"/>
              <a:gd name="connsiteY0-2" fmla="*/ 0 h 4208267"/>
              <a:gd name="connsiteX1-3" fmla="*/ 1019908 w 7754816"/>
              <a:gd name="connsiteY1-4" fmla="*/ 2356339 h 4208267"/>
              <a:gd name="connsiteX2-5" fmla="*/ 3499339 w 7754816"/>
              <a:gd name="connsiteY2-6" fmla="*/ 2760785 h 4208267"/>
              <a:gd name="connsiteX3-7" fmla="*/ 4245987 w 7754816"/>
              <a:gd name="connsiteY3-8" fmla="*/ 3072005 h 4208267"/>
              <a:gd name="connsiteX4-9" fmla="*/ 5820508 w 7754816"/>
              <a:gd name="connsiteY4-10" fmla="*/ 2602523 h 4208267"/>
              <a:gd name="connsiteX5-11" fmla="*/ 6664570 w 7754816"/>
              <a:gd name="connsiteY5-12" fmla="*/ 2391508 h 4208267"/>
              <a:gd name="connsiteX6-13" fmla="*/ 7561385 w 7754816"/>
              <a:gd name="connsiteY6-14" fmla="*/ 3991708 h 4208267"/>
              <a:gd name="connsiteX7-15" fmla="*/ 7754816 w 7754816"/>
              <a:gd name="connsiteY7-16" fmla="*/ 4149970 h 4208267"/>
              <a:gd name="connsiteX0-17" fmla="*/ 0 w 7754816"/>
              <a:gd name="connsiteY0-18" fmla="*/ 0 h 4208267"/>
              <a:gd name="connsiteX1-19" fmla="*/ 1019908 w 7754816"/>
              <a:gd name="connsiteY1-20" fmla="*/ 2356339 h 4208267"/>
              <a:gd name="connsiteX2-21" fmla="*/ 3499339 w 7754816"/>
              <a:gd name="connsiteY2-22" fmla="*/ 2760785 h 4208267"/>
              <a:gd name="connsiteX3-23" fmla="*/ 4245987 w 7754816"/>
              <a:gd name="connsiteY3-24" fmla="*/ 3072005 h 4208267"/>
              <a:gd name="connsiteX4-25" fmla="*/ 5820508 w 7754816"/>
              <a:gd name="connsiteY4-26" fmla="*/ 2602523 h 4208267"/>
              <a:gd name="connsiteX5-27" fmla="*/ 6664570 w 7754816"/>
              <a:gd name="connsiteY5-28" fmla="*/ 2391508 h 4208267"/>
              <a:gd name="connsiteX6-29" fmla="*/ 7561385 w 7754816"/>
              <a:gd name="connsiteY6-30" fmla="*/ 3991708 h 4208267"/>
              <a:gd name="connsiteX7-31" fmla="*/ 7754816 w 7754816"/>
              <a:gd name="connsiteY7-32" fmla="*/ 4149970 h 4208267"/>
              <a:gd name="connsiteX0-33" fmla="*/ 0 w 7754816"/>
              <a:gd name="connsiteY0-34" fmla="*/ 0 h 4208267"/>
              <a:gd name="connsiteX1-35" fmla="*/ 1019908 w 7754816"/>
              <a:gd name="connsiteY1-36" fmla="*/ 2356339 h 4208267"/>
              <a:gd name="connsiteX2-37" fmla="*/ 3296139 w 7754816"/>
              <a:gd name="connsiteY2-38" fmla="*/ 2804328 h 4208267"/>
              <a:gd name="connsiteX3-39" fmla="*/ 4245987 w 7754816"/>
              <a:gd name="connsiteY3-40" fmla="*/ 3072005 h 4208267"/>
              <a:gd name="connsiteX4-41" fmla="*/ 5820508 w 7754816"/>
              <a:gd name="connsiteY4-42" fmla="*/ 2602523 h 4208267"/>
              <a:gd name="connsiteX5-43" fmla="*/ 6664570 w 7754816"/>
              <a:gd name="connsiteY5-44" fmla="*/ 2391508 h 4208267"/>
              <a:gd name="connsiteX6-45" fmla="*/ 7561385 w 7754816"/>
              <a:gd name="connsiteY6-46" fmla="*/ 3991708 h 4208267"/>
              <a:gd name="connsiteX7-47" fmla="*/ 7754816 w 7754816"/>
              <a:gd name="connsiteY7-48" fmla="*/ 4149970 h 4208267"/>
              <a:gd name="connsiteX0-49" fmla="*/ 0 w 7754816"/>
              <a:gd name="connsiteY0-50" fmla="*/ 0 h 4208267"/>
              <a:gd name="connsiteX1-51" fmla="*/ 1019908 w 7754816"/>
              <a:gd name="connsiteY1-52" fmla="*/ 2356339 h 4208267"/>
              <a:gd name="connsiteX2-53" fmla="*/ 3296139 w 7754816"/>
              <a:gd name="connsiteY2-54" fmla="*/ 2804328 h 4208267"/>
              <a:gd name="connsiteX3-55" fmla="*/ 4245987 w 7754816"/>
              <a:gd name="connsiteY3-56" fmla="*/ 3072005 h 4208267"/>
              <a:gd name="connsiteX4-57" fmla="*/ 5820508 w 7754816"/>
              <a:gd name="connsiteY4-58" fmla="*/ 2602523 h 4208267"/>
              <a:gd name="connsiteX5-59" fmla="*/ 6664570 w 7754816"/>
              <a:gd name="connsiteY5-60" fmla="*/ 2391508 h 4208267"/>
              <a:gd name="connsiteX6-61" fmla="*/ 7561385 w 7754816"/>
              <a:gd name="connsiteY6-62" fmla="*/ 3991708 h 4208267"/>
              <a:gd name="connsiteX7-63" fmla="*/ 7754816 w 7754816"/>
              <a:gd name="connsiteY7-64" fmla="*/ 4149970 h 4208267"/>
              <a:gd name="connsiteX0-65" fmla="*/ 0 w 7754816"/>
              <a:gd name="connsiteY0-66" fmla="*/ 0 h 4208267"/>
              <a:gd name="connsiteX1-67" fmla="*/ 1019908 w 7754816"/>
              <a:gd name="connsiteY1-68" fmla="*/ 2356339 h 4208267"/>
              <a:gd name="connsiteX2-69" fmla="*/ 3296139 w 7754816"/>
              <a:gd name="connsiteY2-70" fmla="*/ 2804328 h 4208267"/>
              <a:gd name="connsiteX3-71" fmla="*/ 4304044 w 7754816"/>
              <a:gd name="connsiteY3-72" fmla="*/ 3202633 h 4208267"/>
              <a:gd name="connsiteX4-73" fmla="*/ 5820508 w 7754816"/>
              <a:gd name="connsiteY4-74" fmla="*/ 2602523 h 4208267"/>
              <a:gd name="connsiteX5-75" fmla="*/ 6664570 w 7754816"/>
              <a:gd name="connsiteY5-76" fmla="*/ 2391508 h 4208267"/>
              <a:gd name="connsiteX6-77" fmla="*/ 7561385 w 7754816"/>
              <a:gd name="connsiteY6-78" fmla="*/ 3991708 h 4208267"/>
              <a:gd name="connsiteX7-79" fmla="*/ 7754816 w 7754816"/>
              <a:gd name="connsiteY7-80" fmla="*/ 4149970 h 4208267"/>
              <a:gd name="connsiteX0-81" fmla="*/ 0 w 7754816"/>
              <a:gd name="connsiteY0-82" fmla="*/ 0 h 4208267"/>
              <a:gd name="connsiteX1-83" fmla="*/ 1019908 w 7754816"/>
              <a:gd name="connsiteY1-84" fmla="*/ 2356339 h 4208267"/>
              <a:gd name="connsiteX2-85" fmla="*/ 3296139 w 7754816"/>
              <a:gd name="connsiteY2-86" fmla="*/ 2804328 h 4208267"/>
              <a:gd name="connsiteX3-87" fmla="*/ 4304044 w 7754816"/>
              <a:gd name="connsiteY3-88" fmla="*/ 3202633 h 4208267"/>
              <a:gd name="connsiteX4-89" fmla="*/ 5820508 w 7754816"/>
              <a:gd name="connsiteY4-90" fmla="*/ 2602523 h 4208267"/>
              <a:gd name="connsiteX5-91" fmla="*/ 6664570 w 7754816"/>
              <a:gd name="connsiteY5-92" fmla="*/ 2391508 h 4208267"/>
              <a:gd name="connsiteX6-93" fmla="*/ 7561385 w 7754816"/>
              <a:gd name="connsiteY6-94" fmla="*/ 3991708 h 4208267"/>
              <a:gd name="connsiteX7-95" fmla="*/ 7754816 w 7754816"/>
              <a:gd name="connsiteY7-96" fmla="*/ 4149970 h 42082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470552" y="1888951"/>
                  <a:pt x="1019908" y="2356339"/>
                </a:cubicBezTo>
                <a:cubicBezTo>
                  <a:pt x="1569264" y="2823727"/>
                  <a:pt x="2748783" y="2663279"/>
                  <a:pt x="3296139" y="2804328"/>
                </a:cubicBezTo>
                <a:cubicBezTo>
                  <a:pt x="3843495" y="2945377"/>
                  <a:pt x="3781716" y="3192725"/>
                  <a:pt x="4304044" y="3202633"/>
                </a:cubicBezTo>
                <a:cubicBezTo>
                  <a:pt x="4826372" y="3212541"/>
                  <a:pt x="5427087" y="2737711"/>
                  <a:pt x="5820508" y="2602523"/>
                </a:cubicBezTo>
                <a:cubicBezTo>
                  <a:pt x="6213929" y="2467335"/>
                  <a:pt x="6374424" y="2159977"/>
                  <a:pt x="6664570" y="2391508"/>
                </a:cubicBezTo>
                <a:cubicBezTo>
                  <a:pt x="6954716" y="26230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579099" y="8482920"/>
            <a:ext cx="1207623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3579099" y="3216351"/>
            <a:ext cx="0" cy="52665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958905" y="2547486"/>
            <a:ext cx="1143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cost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9986651" y="7077842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4180700" y="3216351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4822109" y="8728188"/>
            <a:ext cx="887561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4822109" y="8247762"/>
            <a:ext cx="928497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橢圓 54"/>
          <p:cNvSpPr/>
          <p:nvPr/>
        </p:nvSpPr>
        <p:spPr>
          <a:xfrm>
            <a:off x="12665795" y="5864520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8" name="直線單箭頭接點 57"/>
          <p:cNvCxnSpPr/>
          <p:nvPr/>
        </p:nvCxnSpPr>
        <p:spPr>
          <a:xfrm flipH="1">
            <a:off x="12409863" y="8219255"/>
            <a:ext cx="688683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13257588" y="8702091"/>
            <a:ext cx="514062" cy="6297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8995149" y="9050571"/>
            <a:ext cx="28735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𝜕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𝐿</a:t>
            </a:r>
            <a:r>
              <a:rPr lang="zh-TW" altLang="en-US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∕𝜕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𝑤</a:t>
            </a:r>
            <a:r>
              <a:rPr lang="en-US" altLang="zh-TW" sz="3600" dirty="0">
                <a:solidFill>
                  <a:srgbClr val="FF0000"/>
                </a:solidFill>
              </a:rPr>
              <a:t> = 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6810483" y="6224139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7511285" y="8223333"/>
            <a:ext cx="509745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8021030" y="8219255"/>
            <a:ext cx="1272680" cy="23543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10650003" y="8750552"/>
            <a:ext cx="1165869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4626746" y="4097658"/>
            <a:ext cx="0" cy="455818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4497933" y="8328665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橢圓 46"/>
          <p:cNvSpPr/>
          <p:nvPr/>
        </p:nvSpPr>
        <p:spPr>
          <a:xfrm>
            <a:off x="7145226" y="8328164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橢圓 48"/>
          <p:cNvSpPr/>
          <p:nvPr/>
        </p:nvSpPr>
        <p:spPr>
          <a:xfrm>
            <a:off x="10325828" y="8354102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橢圓 49"/>
          <p:cNvSpPr/>
          <p:nvPr/>
        </p:nvSpPr>
        <p:spPr>
          <a:xfrm>
            <a:off x="13005659" y="8300664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3" name="文字方塊 52"/>
          <p:cNvSpPr txBox="1"/>
          <p:nvPr/>
        </p:nvSpPr>
        <p:spPr>
          <a:xfrm>
            <a:off x="9014723" y="1649351"/>
            <a:ext cx="9018096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Still not guarantee reaching global minima, but give some hope ……</a:t>
            </a:r>
            <a:endParaRPr lang="zh-TW" altLang="en-US" sz="3600" dirty="0"/>
          </a:p>
        </p:txBody>
      </p:sp>
      <p:grpSp>
        <p:nvGrpSpPr>
          <p:cNvPr id="78" name="群組 77"/>
          <p:cNvGrpSpPr/>
          <p:nvPr/>
        </p:nvGrpSpPr>
        <p:grpSpPr>
          <a:xfrm>
            <a:off x="7959855" y="4220733"/>
            <a:ext cx="5952729" cy="1998333"/>
            <a:chOff x="4244734" y="2308754"/>
            <a:chExt cx="3968486" cy="1332222"/>
          </a:xfrm>
        </p:grpSpPr>
        <p:cxnSp>
          <p:nvCxnSpPr>
            <p:cNvPr id="28" name="直線單箭頭接點 27"/>
            <p:cNvCxnSpPr/>
            <p:nvPr/>
          </p:nvCxnSpPr>
          <p:spPr>
            <a:xfrm>
              <a:off x="4257783" y="3482737"/>
              <a:ext cx="690196" cy="0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/>
            <p:nvPr/>
          </p:nvCxnSpPr>
          <p:spPr>
            <a:xfrm>
              <a:off x="4244734" y="2561247"/>
              <a:ext cx="690196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/>
                <p:cNvSpPr txBox="1"/>
                <p:nvPr/>
              </p:nvSpPr>
              <p:spPr>
                <a:xfrm>
                  <a:off x="4947979" y="2308754"/>
                  <a:ext cx="326524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3600" dirty="0"/>
                    <a:t>Negative of </a:t>
                  </a:r>
                  <a14:m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1" name="文字方塊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7979" y="2308754"/>
                  <a:ext cx="3265241" cy="43010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線單箭頭接點 31"/>
            <p:cNvCxnSpPr/>
            <p:nvPr/>
          </p:nvCxnSpPr>
          <p:spPr>
            <a:xfrm>
              <a:off x="4257783" y="3038871"/>
              <a:ext cx="690196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4955188" y="2754441"/>
              <a:ext cx="2561545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Momentum</a:t>
              </a:r>
              <a:endParaRPr lang="zh-TW" altLang="en-US" sz="3600" dirty="0"/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4947979" y="3210869"/>
              <a:ext cx="2561545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Real Movement</a:t>
              </a:r>
              <a:endParaRPr lang="zh-TW" altLang="en-US" sz="3600" dirty="0"/>
            </a:p>
          </p:txBody>
        </p:sp>
      </p:grpSp>
      <p:cxnSp>
        <p:nvCxnSpPr>
          <p:cNvPr id="62" name="直線單箭頭接點 61"/>
          <p:cNvCxnSpPr/>
          <p:nvPr/>
        </p:nvCxnSpPr>
        <p:spPr>
          <a:xfrm>
            <a:off x="10650003" y="8288975"/>
            <a:ext cx="1165869" cy="0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13221483" y="8214888"/>
            <a:ext cx="978636" cy="16797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7557417" y="8735307"/>
            <a:ext cx="1736292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5" grpId="0" bldLvl="0" animBg="1"/>
      <p:bldP spid="18" grpId="0" bldLvl="0" animBg="1"/>
      <p:bldP spid="55" grpId="0" bldLvl="0" animBg="1"/>
      <p:bldP spid="68" grpId="0"/>
      <p:bldP spid="37" grpId="0" bldLvl="0" animBg="1"/>
      <p:bldP spid="46" grpId="0" bldLvl="0" animBg="1"/>
      <p:bldP spid="47" grpId="0" bldLvl="0" animBg="1"/>
      <p:bldP spid="49" grpId="0" bldLvl="0" animBg="1"/>
      <p:bldP spid="50" grpId="0" bldLvl="0" animBg="1"/>
      <p:bldP spid="53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Adam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2337447"/>
            <a:ext cx="10876492" cy="68508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文字方塊 5"/>
          <p:cNvSpPr txBox="1"/>
          <p:nvPr/>
        </p:nvSpPr>
        <p:spPr>
          <a:xfrm>
            <a:off x="16397654" y="8018584"/>
            <a:ext cx="309880" cy="1066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1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360164" y="1155388"/>
            <a:ext cx="6037490" cy="7372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 err="1"/>
              <a:t>RMSProp</a:t>
            </a:r>
            <a:r>
              <a:rPr lang="en-US" altLang="zh-TW" sz="4200" dirty="0"/>
              <a:t> + Momentum </a:t>
            </a:r>
            <a:endParaRPr lang="zh-TW" altLang="en-US" sz="42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8267147" y="5099771"/>
            <a:ext cx="42141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for momentum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267147" y="5829876"/>
            <a:ext cx="2842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for </a:t>
            </a:r>
            <a:r>
              <a:rPr lang="en-US" altLang="zh-TW" sz="3600" dirty="0" err="1"/>
              <a:t>RMSprop</a:t>
            </a:r>
            <a:endParaRPr lang="zh-TW" altLang="en-US" sz="3600" dirty="0"/>
          </a:p>
        </p:txBody>
      </p:sp>
      <p:cxnSp>
        <p:nvCxnSpPr>
          <p:cNvPr id="10" name="直線單箭頭接點 9"/>
          <p:cNvCxnSpPr>
            <a:cxnSpLocks/>
          </p:cNvCxnSpPr>
          <p:nvPr/>
        </p:nvCxnSpPr>
        <p:spPr>
          <a:xfrm>
            <a:off x="7749086" y="5385052"/>
            <a:ext cx="437322" cy="74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cxnSpLocks/>
          </p:cNvCxnSpPr>
          <p:nvPr/>
        </p:nvCxnSpPr>
        <p:spPr>
          <a:xfrm>
            <a:off x="7749086" y="5762875"/>
            <a:ext cx="437322" cy="277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19134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Early Stopping &amp; Regularization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2015067" y="460556"/>
            <a:ext cx="77502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647247" y="2276250"/>
            <a:ext cx="4165368" cy="86827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Early Stopping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55" y="2346858"/>
            <a:ext cx="8736288" cy="567319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944274" y="7906197"/>
            <a:ext cx="6419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Epochs</a:t>
            </a:r>
            <a:endParaRPr lang="zh-TW" altLang="en-US" sz="36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914650" y="2765169"/>
            <a:ext cx="261129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Total</a:t>
            </a:r>
          </a:p>
          <a:p>
            <a:pPr algn="ctr"/>
            <a:r>
              <a:rPr lang="en-US" altLang="zh-TW" sz="3600" dirty="0"/>
              <a:t>Loss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1828601" y="6762459"/>
            <a:ext cx="29160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Training set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823321" y="4568348"/>
            <a:ext cx="29160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Testing set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9" name="向下箭號 8"/>
          <p:cNvSpPr/>
          <p:nvPr/>
        </p:nvSpPr>
        <p:spPr>
          <a:xfrm>
            <a:off x="9573299" y="5183454"/>
            <a:ext cx="239574" cy="2550846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8765976" y="3851010"/>
            <a:ext cx="1854218" cy="11988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Stop at here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1714235" y="3989705"/>
            <a:ext cx="29160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Validation set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11823321" y="4682202"/>
            <a:ext cx="2275802" cy="501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3">
            <a:extLst>
              <a:ext uri="{FF2B5EF4-FFF2-40B4-BE49-F238E27FC236}">
                <a16:creationId xmlns:a16="http://schemas.microsoft.com/office/drawing/2014/main" id="{52B59C0E-0D6E-5441-E4ED-478931B93433}"/>
              </a:ext>
            </a:extLst>
          </p:cNvPr>
          <p:cNvGrpSpPr/>
          <p:nvPr/>
        </p:nvGrpSpPr>
        <p:grpSpPr>
          <a:xfrm>
            <a:off x="4772682" y="9078557"/>
            <a:ext cx="8736288" cy="646331"/>
            <a:chOff x="732194" y="6112116"/>
            <a:chExt cx="8125048" cy="64633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9BB3AA6-E97E-51CF-4B57-A3EECE2158D9}"/>
                </a:ext>
              </a:extLst>
            </p:cNvPr>
            <p:cNvSpPr/>
            <p:nvPr/>
          </p:nvSpPr>
          <p:spPr>
            <a:xfrm>
              <a:off x="1694182" y="6112116"/>
              <a:ext cx="716306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http://keras.io/getting-started/faq/#how-can-i-interrupt-training-when-the-validation-loss-isnt-decreasing-anymore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CD97BD9-F4C7-769D-AAD8-2259810A55D0}"/>
                </a:ext>
              </a:extLst>
            </p:cNvPr>
            <p:cNvSpPr/>
            <p:nvPr/>
          </p:nvSpPr>
          <p:spPr>
            <a:xfrm>
              <a:off x="732194" y="6155404"/>
              <a:ext cx="105839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800" dirty="0" err="1"/>
                <a:t>Keras</a:t>
              </a:r>
              <a:r>
                <a:rPr lang="en-US" altLang="zh-TW" sz="2800" dirty="0"/>
                <a:t>:</a:t>
              </a:r>
              <a:endParaRPr lang="zh-TW" alt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2099733" y="460556"/>
            <a:ext cx="7665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599990" y="3252074"/>
            <a:ext cx="4165368" cy="86827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loss function to be minimized</a:t>
            </a:r>
          </a:p>
          <a:p>
            <a:pPr lvl="1"/>
            <a:r>
              <a:rPr lang="en-US" altLang="zh-TW" sz="4200" dirty="0">
                <a:solidFill>
                  <a:srgbClr val="0000FF"/>
                </a:solidFill>
              </a:rPr>
              <a:t>Find a set of weight not only minimizing original cost but also close to zero</a:t>
            </a:r>
            <a:endParaRPr lang="zh-TW" altLang="en-US" sz="4200" dirty="0">
              <a:solidFill>
                <a:srgbClr val="0000FF"/>
              </a:solidFill>
            </a:endParaRPr>
          </a:p>
          <a:p>
            <a:endParaRPr lang="zh-TW" altLang="en-US" dirty="0"/>
          </a:p>
        </p:txBody>
      </p:sp>
      <p:graphicFrame>
        <p:nvGraphicFramePr>
          <p:cNvPr id="4" name="Object 12"/>
          <p:cNvGraphicFramePr>
            <a:graphicFrameLocks noChangeAspect="1"/>
          </p:cNvGraphicFramePr>
          <p:nvPr/>
        </p:nvGraphicFramePr>
        <p:xfrm>
          <a:off x="3228975" y="4818857"/>
          <a:ext cx="5672138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2613600" imgH="9448800" progId="Equation.3">
                  <p:embed/>
                </p:oleObj>
              </mc:Choice>
              <mc:Fallback>
                <p:oleObj name="方程式" r:id="rId3" imgW="32613600" imgH="9448800" progId="Equation.3">
                  <p:embed/>
                  <p:pic>
                    <p:nvPicPr>
                      <p:cNvPr id="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4818857"/>
                        <a:ext cx="5672138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438402" y="7507208"/>
            <a:ext cx="61707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Original loss</a:t>
            </a:r>
          </a:p>
          <a:p>
            <a:r>
              <a:rPr lang="en-US" altLang="zh-TW" sz="4200" dirty="0"/>
              <a:t>(e.g. minimize square error, cross entropy …)</a:t>
            </a:r>
            <a:endParaRPr lang="zh-TW" altLang="en-US" sz="4200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5851163" y="5999037"/>
            <a:ext cx="0" cy="150780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8762864" y="6429270"/>
          <a:ext cx="386953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22250400" imgH="5181600" progId="Equation.3">
                  <p:embed/>
                </p:oleObj>
              </mc:Choice>
              <mc:Fallback>
                <p:oleObj name="方程式" r:id="rId5" imgW="22250400" imgH="5181600" progId="Equation.3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2864" y="6429270"/>
                        <a:ext cx="3869532" cy="890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7837873" y="9024454"/>
            <a:ext cx="6572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(usually not consider biases)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9360051" y="8000342"/>
          <a:ext cx="604599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4747200" imgH="6400800" progId="Equation.3">
                  <p:embed/>
                </p:oleObj>
              </mc:Choice>
              <mc:Fallback>
                <p:oleObj name="方程式" r:id="rId7" imgW="34747200" imgH="6400800" progId="Equation.3">
                  <p:embed/>
                  <p:pic>
                    <p:nvPicPr>
                      <p:cNvPr id="1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051" y="8000342"/>
                        <a:ext cx="6045995" cy="1104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9718980" y="5245850"/>
            <a:ext cx="532813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Regularization term</a:t>
            </a:r>
            <a:endParaRPr lang="zh-TW" altLang="en-US" sz="4200" dirty="0"/>
          </a:p>
        </p:txBody>
      </p:sp>
      <p:cxnSp>
        <p:nvCxnSpPr>
          <p:cNvPr id="17" name="直線接點 16"/>
          <p:cNvCxnSpPr/>
          <p:nvPr/>
        </p:nvCxnSpPr>
        <p:spPr>
          <a:xfrm>
            <a:off x="5097083" y="5998400"/>
            <a:ext cx="1377536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7911684" y="6085170"/>
            <a:ext cx="832019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9060315" y="5612006"/>
            <a:ext cx="589218" cy="172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8743703" y="7421060"/>
            <a:ext cx="5666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L2 regularization: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4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loss function to be minimized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8813429" y="4201859"/>
            <a:ext cx="246601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Gradient:</a:t>
            </a:r>
            <a:endParaRPr lang="zh-TW" altLang="en-US" sz="4200" dirty="0"/>
          </a:p>
        </p:txBody>
      </p:sp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11289507" y="3800475"/>
          <a:ext cx="3921918" cy="1626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2555200" imgH="9448800" progId="Equation.3">
                  <p:embed/>
                </p:oleObj>
              </mc:Choice>
              <mc:Fallback>
                <p:oleObj name="方程式" r:id="rId3" imgW="22555200" imgH="9448800" progId="Equation.3">
                  <p:embed/>
                  <p:pic>
                    <p:nvPicPr>
                      <p:cNvPr id="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9507" y="3800475"/>
                        <a:ext cx="3921918" cy="16263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2903784" y="6154773"/>
            <a:ext cx="246601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Update:</a:t>
            </a:r>
            <a:endParaRPr lang="zh-TW" altLang="en-US" sz="4200" dirty="0"/>
          </a:p>
        </p:txBody>
      </p: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5205413" y="5800725"/>
          <a:ext cx="466725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26822400" imgH="9448800" progId="Equation.3">
                  <p:embed/>
                </p:oleObj>
              </mc:Choice>
              <mc:Fallback>
                <p:oleObj name="方程式" r:id="rId5" imgW="26822400" imgH="94488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5800725"/>
                        <a:ext cx="4667250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10027574" y="5737967"/>
          <a:ext cx="5250656" cy="178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0175200" imgH="10363200" progId="Equation.3">
                  <p:embed/>
                </p:oleObj>
              </mc:Choice>
              <mc:Fallback>
                <p:oleObj name="方程式" r:id="rId7" imgW="30175200" imgH="10363200" progId="Equation.3">
                  <p:embed/>
                  <p:pic>
                    <p:nvPicPr>
                      <p:cNvPr id="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7574" y="5737967"/>
                        <a:ext cx="5250656" cy="1785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6322220" y="7234238"/>
          <a:ext cx="4983956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28651200" imgH="9448800" progId="Equation.3">
                  <p:embed/>
                </p:oleObj>
              </mc:Choice>
              <mc:Fallback>
                <p:oleObj name="方程式" r:id="rId9" imgW="28651200" imgH="9448800" progId="Equation.3">
                  <p:embed/>
                  <p:pic>
                    <p:nvPicPr>
                      <p:cNvPr id="2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2220" y="7234238"/>
                        <a:ext cx="4983956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線單箭頭接點 28"/>
          <p:cNvCxnSpPr/>
          <p:nvPr/>
        </p:nvCxnSpPr>
        <p:spPr>
          <a:xfrm flipH="1">
            <a:off x="8112855" y="8459337"/>
            <a:ext cx="6378" cy="62532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6907463" y="8459337"/>
            <a:ext cx="2410785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10300055" y="8791907"/>
            <a:ext cx="1031546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5800685" y="9020175"/>
            <a:ext cx="46243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Closer to zero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2995613" y="3812382"/>
          <a:ext cx="5672138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32613600" imgH="9448800" progId="Equation.3">
                  <p:embed/>
                </p:oleObj>
              </mc:Choice>
              <mc:Fallback>
                <p:oleObj name="方程式" r:id="rId11" imgW="32613600" imgH="9448800" progId="Equation.3">
                  <p:embed/>
                  <p:pic>
                    <p:nvPicPr>
                      <p:cNvPr id="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3812382"/>
                        <a:ext cx="5672138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786687" y="7609844"/>
            <a:ext cx="3492500" cy="73723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4200" dirty="0"/>
              <a:t>Weight Decay</a:t>
            </a:r>
            <a:endParaRPr lang="zh-TW" altLang="en-US" sz="4200" dirty="0"/>
          </a:p>
        </p:txBody>
      </p:sp>
      <p:grpSp>
        <p:nvGrpSpPr>
          <p:cNvPr id="10" name="群組 5"/>
          <p:cNvGrpSpPr/>
          <p:nvPr/>
        </p:nvGrpSpPr>
        <p:grpSpPr>
          <a:xfrm>
            <a:off x="12044713" y="1677317"/>
            <a:ext cx="5250656" cy="1531531"/>
            <a:chOff x="4305135" y="4947373"/>
            <a:chExt cx="4039600" cy="986853"/>
          </a:xfrm>
        </p:grpSpPr>
        <p:graphicFrame>
          <p:nvGraphicFramePr>
            <p:cNvPr id="20" name="Object 12"/>
            <p:cNvGraphicFramePr>
              <a:graphicFrameLocks noChangeAspect="1"/>
            </p:cNvGraphicFramePr>
            <p:nvPr/>
          </p:nvGraphicFramePr>
          <p:xfrm>
            <a:off x="4314650" y="5307984"/>
            <a:ext cx="4030085" cy="626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34747200" imgH="6400800" progId="Equation.3">
                    <p:embed/>
                  </p:oleObj>
                </mc:Choice>
                <mc:Fallback>
                  <p:oleObj name="方程式" r:id="rId13" imgW="34747200" imgH="6400800" progId="Equation.3">
                    <p:embed/>
                    <p:pic>
                      <p:nvPicPr>
                        <p:cNvPr id="2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4650" y="5307984"/>
                          <a:ext cx="4030085" cy="62624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字方塊 23"/>
            <p:cNvSpPr txBox="1"/>
            <p:nvPr/>
          </p:nvSpPr>
          <p:spPr>
            <a:xfrm>
              <a:off x="4305135" y="4947373"/>
              <a:ext cx="3777730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>
                  <a:solidFill>
                    <a:srgbClr val="0000FF"/>
                  </a:solidFill>
                </a:rPr>
                <a:t>L2 regularization:</a:t>
              </a:r>
              <a:endParaRPr lang="zh-TW" altLang="en-US" sz="3600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loss function to be minimized</a:t>
            </a:r>
          </a:p>
        </p:txBody>
      </p:sp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9437442" y="3603356"/>
          <a:ext cx="5355432" cy="1626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0784800" imgH="9448800" progId="Equation.3">
                  <p:embed/>
                </p:oleObj>
              </mc:Choice>
              <mc:Fallback>
                <p:oleObj name="方程式" r:id="rId3" imgW="30784800" imgH="9448800" progId="Equation.3">
                  <p:embed/>
                  <p:pic>
                    <p:nvPicPr>
                      <p:cNvPr id="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7442" y="3603356"/>
                        <a:ext cx="5355432" cy="16263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2927104" y="5007903"/>
            <a:ext cx="246601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Update:</a:t>
            </a:r>
            <a:endParaRPr lang="zh-TW" altLang="en-US" sz="4200" dirty="0"/>
          </a:p>
        </p:txBody>
      </p: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4122009" y="5480135"/>
          <a:ext cx="466725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26822400" imgH="9448800" progId="Equation.3">
                  <p:embed/>
                </p:oleObj>
              </mc:Choice>
              <mc:Fallback>
                <p:oleObj name="方程式" r:id="rId5" imgW="26822400" imgH="94488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009" y="5480135"/>
                        <a:ext cx="4667250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8872602" y="5454714"/>
          <a:ext cx="6577013" cy="178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7795200" imgH="10363200" progId="Equation.3">
                  <p:embed/>
                </p:oleObj>
              </mc:Choice>
              <mc:Fallback>
                <p:oleObj name="方程式" r:id="rId7" imgW="37795200" imgH="10363200" progId="Equation.3">
                  <p:embed/>
                  <p:pic>
                    <p:nvPicPr>
                      <p:cNvPr id="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2602" y="5454714"/>
                        <a:ext cx="6577013" cy="1785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4045698" y="6888621"/>
          <a:ext cx="63627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6576000" imgH="9448800" progId="Equation.3">
                  <p:embed/>
                </p:oleObj>
              </mc:Choice>
              <mc:Fallback>
                <p:oleObj name="方程式" r:id="rId9" imgW="36576000" imgH="9448800" progId="Equation.3">
                  <p:embed/>
                  <p:pic>
                    <p:nvPicPr>
                      <p:cNvPr id="2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698" y="6888621"/>
                        <a:ext cx="6362700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線接點 29"/>
          <p:cNvCxnSpPr/>
          <p:nvPr/>
        </p:nvCxnSpPr>
        <p:spPr>
          <a:xfrm>
            <a:off x="7610573" y="8066207"/>
            <a:ext cx="2797826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0459425" y="7354640"/>
            <a:ext cx="43334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Always delete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2999250" y="3637800"/>
          <a:ext cx="561737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32308800" imgH="9448800" progId="Equation.3">
                  <p:embed/>
                </p:oleObj>
              </mc:Choice>
              <mc:Fallback>
                <p:oleObj name="方程式" r:id="rId11" imgW="32308800" imgH="9448800" progId="Equation.3">
                  <p:embed/>
                  <p:pic>
                    <p:nvPicPr>
                      <p:cNvPr id="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250" y="3637800"/>
                        <a:ext cx="5617370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群組 5"/>
          <p:cNvGrpSpPr/>
          <p:nvPr/>
        </p:nvGrpSpPr>
        <p:grpSpPr>
          <a:xfrm>
            <a:off x="12277189" y="1548695"/>
            <a:ext cx="5666595" cy="1697534"/>
            <a:chOff x="4305135" y="4947373"/>
            <a:chExt cx="3777730" cy="1131689"/>
          </a:xfrm>
        </p:grpSpPr>
        <p:graphicFrame>
          <p:nvGraphicFramePr>
            <p:cNvPr id="20" name="Object 12"/>
            <p:cNvGraphicFramePr>
              <a:graphicFrameLocks noChangeAspect="1"/>
            </p:cNvGraphicFramePr>
            <p:nvPr/>
          </p:nvGraphicFramePr>
          <p:xfrm>
            <a:off x="4649574" y="5377387"/>
            <a:ext cx="3357563" cy="701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28956000" imgH="6096000" progId="Equation.3">
                    <p:embed/>
                  </p:oleObj>
                </mc:Choice>
                <mc:Fallback>
                  <p:oleObj name="方程式" r:id="rId13" imgW="28956000" imgH="6096000" progId="Equation.3">
                    <p:embed/>
                    <p:pic>
                      <p:nvPicPr>
                        <p:cNvPr id="2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574" y="5377387"/>
                          <a:ext cx="3357563" cy="7016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字方塊 23"/>
            <p:cNvSpPr txBox="1"/>
            <p:nvPr/>
          </p:nvSpPr>
          <p:spPr>
            <a:xfrm>
              <a:off x="4305135" y="4947373"/>
              <a:ext cx="3777730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>
                  <a:solidFill>
                    <a:srgbClr val="0000FF"/>
                  </a:solidFill>
                </a:rPr>
                <a:t>L1 regularization:</a:t>
              </a:r>
              <a:endParaRPr lang="zh-TW" altLang="en-US" sz="3600" dirty="0">
                <a:solidFill>
                  <a:srgbClr val="0000FF"/>
                </a:solidFill>
              </a:endParaRPr>
            </a:p>
          </p:txBody>
        </p:sp>
      </p:grpSp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4045698" y="8269221"/>
          <a:ext cx="4983956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28651200" imgH="9448800" progId="Equation.3">
                  <p:embed/>
                </p:oleObj>
              </mc:Choice>
              <mc:Fallback>
                <p:oleObj name="方程式" r:id="rId15" imgW="28651200" imgH="94488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698" y="8269221"/>
                        <a:ext cx="4983956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字方塊 7"/>
          <p:cNvSpPr txBox="1"/>
          <p:nvPr/>
        </p:nvSpPr>
        <p:spPr>
          <a:xfrm>
            <a:off x="9226866" y="8572611"/>
            <a:ext cx="24932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…… L2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8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Regularization - Weight Decay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Our brain prunes out the useless link between neurons.</a:t>
            </a:r>
            <a:endParaRPr lang="zh-TW" altLang="en-US" dirty="0"/>
          </a:p>
        </p:txBody>
      </p:sp>
      <p:pic>
        <p:nvPicPr>
          <p:cNvPr id="46082" name="Picture 2" descr="http://www.3kirikou.org/manager/upload/day_140203/20140203230837519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447" y="3057584"/>
            <a:ext cx="5975047" cy="534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994456" y="6361084"/>
            <a:ext cx="16084551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/>
              <a:t>Doing the same thing to machine’s brain improves the performance.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18118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Dropout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401733"/>
            <a:ext cx="12998450" cy="111844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2353733" y="460556"/>
            <a:ext cx="7411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599990" y="4198299"/>
            <a:ext cx="4165368" cy="86827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953146" y="2250856"/>
            <a:ext cx="3481754" cy="737235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4200" b="1" u="sng" dirty="0">
                <a:solidFill>
                  <a:srgbClr val="0000FF"/>
                </a:solidFill>
              </a:rPr>
              <a:t>Training:</a:t>
            </a:r>
            <a:endParaRPr lang="zh-TW" altLang="en-US" sz="4200" b="1" u="sng" dirty="0">
              <a:solidFill>
                <a:srgbClr val="0000FF"/>
              </a:solidFill>
            </a:endParaRPr>
          </a:p>
        </p:txBody>
      </p:sp>
      <p:sp>
        <p:nvSpPr>
          <p:cNvPr id="63" name="橢圓 62"/>
          <p:cNvSpPr/>
          <p:nvPr/>
        </p:nvSpPr>
        <p:spPr>
          <a:xfrm>
            <a:off x="8128608" y="2310165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橢圓 63"/>
          <p:cNvSpPr/>
          <p:nvPr/>
        </p:nvSpPr>
        <p:spPr>
          <a:xfrm>
            <a:off x="8128608" y="3361394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5" name="橢圓 64"/>
          <p:cNvSpPr/>
          <p:nvPr/>
        </p:nvSpPr>
        <p:spPr>
          <a:xfrm>
            <a:off x="8128608" y="4408775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6" name="橢圓 65"/>
          <p:cNvSpPr/>
          <p:nvPr/>
        </p:nvSpPr>
        <p:spPr>
          <a:xfrm>
            <a:off x="8128608" y="545615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7" name="橢圓 66"/>
          <p:cNvSpPr/>
          <p:nvPr/>
        </p:nvSpPr>
        <p:spPr>
          <a:xfrm>
            <a:off x="12938630" y="322950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8" name="橢圓 67"/>
          <p:cNvSpPr/>
          <p:nvPr/>
        </p:nvSpPr>
        <p:spPr>
          <a:xfrm>
            <a:off x="12938630" y="4487907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9" name="矩形 68"/>
          <p:cNvSpPr/>
          <p:nvPr/>
        </p:nvSpPr>
        <p:spPr>
          <a:xfrm>
            <a:off x="5840877" y="2460443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70" name="直線單箭頭接點 69"/>
          <p:cNvCxnSpPr>
            <a:stCxn id="69" idx="3"/>
            <a:endCxn id="63" idx="2"/>
          </p:cNvCxnSpPr>
          <p:nvPr/>
        </p:nvCxnSpPr>
        <p:spPr>
          <a:xfrm>
            <a:off x="6240380" y="2660195"/>
            <a:ext cx="1888229" cy="32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69" idx="3"/>
            <a:endCxn id="64" idx="2"/>
          </p:cNvCxnSpPr>
          <p:nvPr/>
        </p:nvCxnSpPr>
        <p:spPr>
          <a:xfrm>
            <a:off x="6240380" y="2660195"/>
            <a:ext cx="1888229" cy="10836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stCxn id="69" idx="3"/>
            <a:endCxn id="65" idx="2"/>
          </p:cNvCxnSpPr>
          <p:nvPr/>
        </p:nvCxnSpPr>
        <p:spPr>
          <a:xfrm>
            <a:off x="6240380" y="2660195"/>
            <a:ext cx="1888229" cy="213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69" idx="3"/>
            <a:endCxn id="66" idx="2"/>
          </p:cNvCxnSpPr>
          <p:nvPr/>
        </p:nvCxnSpPr>
        <p:spPr>
          <a:xfrm>
            <a:off x="6240380" y="2660195"/>
            <a:ext cx="1888229" cy="31784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2"/>
          </p:cNvCxnSpPr>
          <p:nvPr/>
        </p:nvCxnSpPr>
        <p:spPr>
          <a:xfrm flipV="1">
            <a:off x="11540652" y="3611972"/>
            <a:ext cx="1397978" cy="1596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2"/>
          </p:cNvCxnSpPr>
          <p:nvPr/>
        </p:nvCxnSpPr>
        <p:spPr>
          <a:xfrm>
            <a:off x="11540651" y="2626686"/>
            <a:ext cx="1397979" cy="9852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68" idx="2"/>
          </p:cNvCxnSpPr>
          <p:nvPr/>
        </p:nvCxnSpPr>
        <p:spPr>
          <a:xfrm>
            <a:off x="11540652" y="2692631"/>
            <a:ext cx="1397978" cy="21777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68" idx="2"/>
          </p:cNvCxnSpPr>
          <p:nvPr/>
        </p:nvCxnSpPr>
        <p:spPr>
          <a:xfrm>
            <a:off x="11540651" y="3824907"/>
            <a:ext cx="1397979" cy="10454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endCxn id="67" idx="2"/>
          </p:cNvCxnSpPr>
          <p:nvPr/>
        </p:nvCxnSpPr>
        <p:spPr>
          <a:xfrm flipV="1">
            <a:off x="11540652" y="3611972"/>
            <a:ext cx="1397978" cy="117926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endCxn id="68" idx="2"/>
          </p:cNvCxnSpPr>
          <p:nvPr/>
        </p:nvCxnSpPr>
        <p:spPr>
          <a:xfrm>
            <a:off x="11540652" y="4791240"/>
            <a:ext cx="1397978" cy="791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67" idx="2"/>
          </p:cNvCxnSpPr>
          <p:nvPr/>
        </p:nvCxnSpPr>
        <p:spPr>
          <a:xfrm flipV="1">
            <a:off x="11540651" y="3611972"/>
            <a:ext cx="1397979" cy="21851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68" idx="2"/>
          </p:cNvCxnSpPr>
          <p:nvPr/>
        </p:nvCxnSpPr>
        <p:spPr>
          <a:xfrm flipV="1">
            <a:off x="11540652" y="4870373"/>
            <a:ext cx="1397978" cy="9682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86" idx="3"/>
            <a:endCxn id="63" idx="2"/>
          </p:cNvCxnSpPr>
          <p:nvPr/>
        </p:nvCxnSpPr>
        <p:spPr>
          <a:xfrm flipV="1">
            <a:off x="6240380" y="2692631"/>
            <a:ext cx="1888229" cy="9991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86" idx="3"/>
            <a:endCxn id="64" idx="2"/>
          </p:cNvCxnSpPr>
          <p:nvPr/>
        </p:nvCxnSpPr>
        <p:spPr>
          <a:xfrm>
            <a:off x="6240380" y="3691785"/>
            <a:ext cx="1888229" cy="520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stCxn id="86" idx="3"/>
            <a:endCxn id="65" idx="2"/>
          </p:cNvCxnSpPr>
          <p:nvPr/>
        </p:nvCxnSpPr>
        <p:spPr>
          <a:xfrm>
            <a:off x="6240380" y="3691785"/>
            <a:ext cx="1888229" cy="10994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86" idx="3"/>
            <a:endCxn id="66" idx="2"/>
          </p:cNvCxnSpPr>
          <p:nvPr/>
        </p:nvCxnSpPr>
        <p:spPr>
          <a:xfrm>
            <a:off x="6240380" y="3691785"/>
            <a:ext cx="1888229" cy="2146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5840877" y="3492033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7" name="橢圓 86"/>
          <p:cNvSpPr/>
          <p:nvPr/>
        </p:nvSpPr>
        <p:spPr>
          <a:xfrm>
            <a:off x="10775720" y="2258091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橢圓 87"/>
          <p:cNvSpPr/>
          <p:nvPr/>
        </p:nvSpPr>
        <p:spPr>
          <a:xfrm>
            <a:off x="10775720" y="3309320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89" name="橢圓 88"/>
          <p:cNvSpPr/>
          <p:nvPr/>
        </p:nvSpPr>
        <p:spPr>
          <a:xfrm>
            <a:off x="10775720" y="4356701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90" name="橢圓 89"/>
          <p:cNvSpPr/>
          <p:nvPr/>
        </p:nvSpPr>
        <p:spPr>
          <a:xfrm>
            <a:off x="10775720" y="5404082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91" name="矩形 90"/>
          <p:cNvSpPr/>
          <p:nvPr/>
        </p:nvSpPr>
        <p:spPr>
          <a:xfrm>
            <a:off x="5840877" y="4623924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2" name="矩形 91"/>
          <p:cNvSpPr/>
          <p:nvPr/>
        </p:nvSpPr>
        <p:spPr>
          <a:xfrm>
            <a:off x="5840877" y="5643027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4" name="直線單箭頭接點 93"/>
          <p:cNvCxnSpPr>
            <a:stCxn id="91" idx="3"/>
            <a:endCxn id="66" idx="2"/>
          </p:cNvCxnSpPr>
          <p:nvPr/>
        </p:nvCxnSpPr>
        <p:spPr>
          <a:xfrm>
            <a:off x="6240380" y="4823676"/>
            <a:ext cx="1888229" cy="10149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92" idx="3"/>
            <a:endCxn id="65" idx="2"/>
          </p:cNvCxnSpPr>
          <p:nvPr/>
        </p:nvCxnSpPr>
        <p:spPr>
          <a:xfrm flipV="1">
            <a:off x="6240380" y="4791240"/>
            <a:ext cx="1888229" cy="10515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92" idx="3"/>
            <a:endCxn id="64" idx="2"/>
          </p:cNvCxnSpPr>
          <p:nvPr/>
        </p:nvCxnSpPr>
        <p:spPr>
          <a:xfrm flipV="1">
            <a:off x="6240380" y="3743859"/>
            <a:ext cx="1888229" cy="209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stCxn id="92" idx="3"/>
            <a:endCxn id="63" idx="2"/>
          </p:cNvCxnSpPr>
          <p:nvPr/>
        </p:nvCxnSpPr>
        <p:spPr>
          <a:xfrm flipV="1">
            <a:off x="6240380" y="2692631"/>
            <a:ext cx="1888229" cy="31501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stCxn id="91" idx="3"/>
            <a:endCxn id="64" idx="2"/>
          </p:cNvCxnSpPr>
          <p:nvPr/>
        </p:nvCxnSpPr>
        <p:spPr>
          <a:xfrm flipV="1">
            <a:off x="6240380" y="3743859"/>
            <a:ext cx="1888229" cy="1079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stCxn id="91" idx="3"/>
            <a:endCxn id="63" idx="2"/>
          </p:cNvCxnSpPr>
          <p:nvPr/>
        </p:nvCxnSpPr>
        <p:spPr>
          <a:xfrm flipV="1">
            <a:off x="6240380" y="2692631"/>
            <a:ext cx="1888229" cy="213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>
            <a:off x="8893539" y="2660195"/>
            <a:ext cx="1888229" cy="32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>
            <a:off x="8893539" y="2660195"/>
            <a:ext cx="1888229" cy="10836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8893539" y="2660195"/>
            <a:ext cx="1888229" cy="213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>
            <a:off x="8893539" y="2660195"/>
            <a:ext cx="1888229" cy="31784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8893539" y="3691785"/>
            <a:ext cx="1888229" cy="520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/>
          <p:nvPr/>
        </p:nvCxnSpPr>
        <p:spPr>
          <a:xfrm>
            <a:off x="8893539" y="3691785"/>
            <a:ext cx="1888229" cy="10994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/>
          <p:nvPr/>
        </p:nvCxnSpPr>
        <p:spPr>
          <a:xfrm>
            <a:off x="8893539" y="3691785"/>
            <a:ext cx="1888229" cy="2146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/>
          <p:nvPr/>
        </p:nvCxnSpPr>
        <p:spPr>
          <a:xfrm>
            <a:off x="8893539" y="4823676"/>
            <a:ext cx="1888229" cy="10149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 flipV="1">
            <a:off x="8893539" y="4791240"/>
            <a:ext cx="1888229" cy="10515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 flipV="1">
            <a:off x="8893539" y="3743859"/>
            <a:ext cx="1888229" cy="209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 flipV="1">
            <a:off x="8893539" y="2692631"/>
            <a:ext cx="1888229" cy="31501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/>
          <p:nvPr/>
        </p:nvCxnSpPr>
        <p:spPr>
          <a:xfrm flipV="1">
            <a:off x="8893539" y="3743859"/>
            <a:ext cx="1888229" cy="10798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/>
          <p:nvPr/>
        </p:nvCxnSpPr>
        <p:spPr>
          <a:xfrm flipV="1">
            <a:off x="8893539" y="2692631"/>
            <a:ext cx="1888229" cy="2131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13727210" y="3630828"/>
            <a:ext cx="69899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13727210" y="4892144"/>
            <a:ext cx="69899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群組 126"/>
          <p:cNvGrpSpPr/>
          <p:nvPr/>
        </p:nvGrpSpPr>
        <p:grpSpPr>
          <a:xfrm>
            <a:off x="8234055" y="2400900"/>
            <a:ext cx="547989" cy="551024"/>
            <a:chOff x="-1866900" y="1906630"/>
            <a:chExt cx="365326" cy="367349"/>
          </a:xfrm>
        </p:grpSpPr>
        <p:cxnSp>
          <p:nvCxnSpPr>
            <p:cNvPr id="125" name="直線接點 12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群組 127"/>
          <p:cNvGrpSpPr/>
          <p:nvPr/>
        </p:nvGrpSpPr>
        <p:grpSpPr>
          <a:xfrm>
            <a:off x="8241903" y="4515728"/>
            <a:ext cx="547989" cy="551024"/>
            <a:chOff x="-1866900" y="1906630"/>
            <a:chExt cx="365326" cy="367349"/>
          </a:xfrm>
        </p:grpSpPr>
        <p:cxnSp>
          <p:nvCxnSpPr>
            <p:cNvPr id="129" name="直線接點 128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接點 129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群組 130"/>
          <p:cNvGrpSpPr/>
          <p:nvPr/>
        </p:nvGrpSpPr>
        <p:grpSpPr>
          <a:xfrm>
            <a:off x="10884191" y="4472403"/>
            <a:ext cx="547989" cy="551024"/>
            <a:chOff x="-1866900" y="1906630"/>
            <a:chExt cx="365326" cy="367349"/>
          </a:xfrm>
        </p:grpSpPr>
        <p:cxnSp>
          <p:nvCxnSpPr>
            <p:cNvPr id="132" name="直線接點 131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接點 132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群組 133"/>
          <p:cNvGrpSpPr/>
          <p:nvPr/>
        </p:nvGrpSpPr>
        <p:grpSpPr>
          <a:xfrm>
            <a:off x="10898327" y="5511035"/>
            <a:ext cx="547989" cy="551024"/>
            <a:chOff x="-1866900" y="1906630"/>
            <a:chExt cx="365326" cy="367349"/>
          </a:xfrm>
        </p:grpSpPr>
        <p:cxnSp>
          <p:nvCxnSpPr>
            <p:cNvPr id="135" name="直線接點 13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群組 136"/>
          <p:cNvGrpSpPr/>
          <p:nvPr/>
        </p:nvGrpSpPr>
        <p:grpSpPr>
          <a:xfrm>
            <a:off x="5760231" y="4535528"/>
            <a:ext cx="547989" cy="551024"/>
            <a:chOff x="-1866900" y="1906630"/>
            <a:chExt cx="365326" cy="367349"/>
          </a:xfrm>
        </p:grpSpPr>
        <p:cxnSp>
          <p:nvCxnSpPr>
            <p:cNvPr id="138" name="直線接點 137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接點 138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群組 139"/>
          <p:cNvGrpSpPr/>
          <p:nvPr/>
        </p:nvGrpSpPr>
        <p:grpSpPr>
          <a:xfrm>
            <a:off x="5795828" y="3441956"/>
            <a:ext cx="547989" cy="551024"/>
            <a:chOff x="-1866900" y="1906630"/>
            <a:chExt cx="365326" cy="367349"/>
          </a:xfrm>
        </p:grpSpPr>
        <p:cxnSp>
          <p:nvCxnSpPr>
            <p:cNvPr id="141" name="直線接點 140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直線單箭頭接點 147"/>
          <p:cNvCxnSpPr/>
          <p:nvPr/>
        </p:nvCxnSpPr>
        <p:spPr>
          <a:xfrm flipV="1">
            <a:off x="6260156" y="4810290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/>
          <p:nvPr/>
        </p:nvCxnSpPr>
        <p:spPr>
          <a:xfrm flipV="1">
            <a:off x="8945580" y="4789269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單箭頭接點 150"/>
          <p:cNvCxnSpPr/>
          <p:nvPr/>
        </p:nvCxnSpPr>
        <p:spPr>
          <a:xfrm flipV="1">
            <a:off x="8893539" y="2640557"/>
            <a:ext cx="1882181" cy="11033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方塊 118"/>
          <p:cNvSpPr txBox="1"/>
          <p:nvPr/>
        </p:nvSpPr>
        <p:spPr>
          <a:xfrm>
            <a:off x="3659220" y="6391286"/>
            <a:ext cx="11279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b="1" dirty="0"/>
              <a:t>Each time before updating the parameters</a:t>
            </a:r>
          </a:p>
        </p:txBody>
      </p:sp>
      <p:sp>
        <p:nvSpPr>
          <p:cNvPr id="120" name="文字方塊 119"/>
          <p:cNvSpPr txBox="1"/>
          <p:nvPr/>
        </p:nvSpPr>
        <p:spPr>
          <a:xfrm>
            <a:off x="4465544" y="7022360"/>
            <a:ext cx="9637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3600" dirty="0"/>
              <a:t>Each neuron has p% to dropout</a:t>
            </a:r>
            <a:endParaRPr lang="zh-TW" altLang="en-US" sz="3600" dirty="0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6257540" y="5869086"/>
            <a:ext cx="1888229" cy="32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>
            <a:off x="8910699" y="5869086"/>
            <a:ext cx="1888229" cy="32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3" grpId="0" bldLvl="0" animBg="1"/>
      <p:bldP spid="65" grpId="0" bldLvl="0" animBg="1"/>
      <p:bldP spid="86" grpId="0" bldLvl="0" animBg="1"/>
      <p:bldP spid="89" grpId="0" bldLvl="0" animBg="1"/>
      <p:bldP spid="90" grpId="0" bldLvl="0" animBg="1"/>
      <p:bldP spid="91" grpId="0" bldLvl="0" animBg="1"/>
      <p:bldP spid="119" grpId="0"/>
      <p:bldP spid="1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953146" y="2250856"/>
            <a:ext cx="3481754" cy="737235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4200" b="1" u="sng" dirty="0">
                <a:solidFill>
                  <a:srgbClr val="0000FF"/>
                </a:solidFill>
              </a:rPr>
              <a:t>Training:</a:t>
            </a:r>
            <a:endParaRPr lang="zh-TW" altLang="en-US" sz="4200" b="1" u="sng" dirty="0">
              <a:solidFill>
                <a:srgbClr val="0000FF"/>
              </a:solidFill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8128608" y="3361394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6" name="橢圓 65"/>
          <p:cNvSpPr/>
          <p:nvPr/>
        </p:nvSpPr>
        <p:spPr>
          <a:xfrm>
            <a:off x="8128608" y="545615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7" name="橢圓 66"/>
          <p:cNvSpPr/>
          <p:nvPr/>
        </p:nvSpPr>
        <p:spPr>
          <a:xfrm>
            <a:off x="12938630" y="322950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8" name="橢圓 67"/>
          <p:cNvSpPr/>
          <p:nvPr/>
        </p:nvSpPr>
        <p:spPr>
          <a:xfrm>
            <a:off x="12938630" y="4487907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69" name="矩形 68"/>
          <p:cNvSpPr/>
          <p:nvPr/>
        </p:nvSpPr>
        <p:spPr>
          <a:xfrm>
            <a:off x="5840877" y="2460443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71" name="直線單箭頭接點 70"/>
          <p:cNvCxnSpPr>
            <a:stCxn id="69" idx="3"/>
            <a:endCxn id="64" idx="2"/>
          </p:cNvCxnSpPr>
          <p:nvPr/>
        </p:nvCxnSpPr>
        <p:spPr>
          <a:xfrm>
            <a:off x="6240380" y="2660195"/>
            <a:ext cx="1888229" cy="10836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69" idx="3"/>
            <a:endCxn id="66" idx="2"/>
          </p:cNvCxnSpPr>
          <p:nvPr/>
        </p:nvCxnSpPr>
        <p:spPr>
          <a:xfrm>
            <a:off x="6240380" y="2660195"/>
            <a:ext cx="1888229" cy="31784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2"/>
          </p:cNvCxnSpPr>
          <p:nvPr/>
        </p:nvCxnSpPr>
        <p:spPr>
          <a:xfrm flipV="1">
            <a:off x="11540652" y="3611972"/>
            <a:ext cx="1397978" cy="1596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2"/>
          </p:cNvCxnSpPr>
          <p:nvPr/>
        </p:nvCxnSpPr>
        <p:spPr>
          <a:xfrm>
            <a:off x="11540651" y="2626686"/>
            <a:ext cx="1397979" cy="9852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68" idx="2"/>
          </p:cNvCxnSpPr>
          <p:nvPr/>
        </p:nvCxnSpPr>
        <p:spPr>
          <a:xfrm>
            <a:off x="11540652" y="2692631"/>
            <a:ext cx="1397978" cy="21777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68" idx="2"/>
          </p:cNvCxnSpPr>
          <p:nvPr/>
        </p:nvCxnSpPr>
        <p:spPr>
          <a:xfrm>
            <a:off x="11540651" y="3824907"/>
            <a:ext cx="1397979" cy="10454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10775720" y="2258091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橢圓 87"/>
          <p:cNvSpPr/>
          <p:nvPr/>
        </p:nvSpPr>
        <p:spPr>
          <a:xfrm>
            <a:off x="10775720" y="3309320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92" name="矩形 91"/>
          <p:cNvSpPr/>
          <p:nvPr/>
        </p:nvSpPr>
        <p:spPr>
          <a:xfrm>
            <a:off x="5840877" y="5643027"/>
            <a:ext cx="399503" cy="39950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3" name="直線單箭頭接點 92"/>
          <p:cNvCxnSpPr>
            <a:stCxn id="92" idx="3"/>
            <a:endCxn id="66" idx="2"/>
          </p:cNvCxnSpPr>
          <p:nvPr/>
        </p:nvCxnSpPr>
        <p:spPr>
          <a:xfrm flipV="1">
            <a:off x="6240380" y="5838621"/>
            <a:ext cx="1888229" cy="41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92" idx="3"/>
            <a:endCxn id="64" idx="2"/>
          </p:cNvCxnSpPr>
          <p:nvPr/>
        </p:nvCxnSpPr>
        <p:spPr>
          <a:xfrm flipV="1">
            <a:off x="6240380" y="3743859"/>
            <a:ext cx="1888229" cy="209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8893539" y="3691785"/>
            <a:ext cx="1888229" cy="520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 flipV="1">
            <a:off x="8893539" y="3743859"/>
            <a:ext cx="1888229" cy="2098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 flipV="1">
            <a:off x="8893539" y="2692631"/>
            <a:ext cx="1888229" cy="31501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13727210" y="3630828"/>
            <a:ext cx="69899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13727210" y="4892144"/>
            <a:ext cx="69899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字方塊 116"/>
          <p:cNvSpPr txBox="1"/>
          <p:nvPr/>
        </p:nvSpPr>
        <p:spPr>
          <a:xfrm>
            <a:off x="3659219" y="6391286"/>
            <a:ext cx="1099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b="1" dirty="0"/>
              <a:t>Each time before updating the parameters</a:t>
            </a:r>
          </a:p>
        </p:txBody>
      </p:sp>
      <p:sp>
        <p:nvSpPr>
          <p:cNvPr id="118" name="文字方塊 117"/>
          <p:cNvSpPr txBox="1"/>
          <p:nvPr/>
        </p:nvSpPr>
        <p:spPr>
          <a:xfrm>
            <a:off x="4465544" y="7022360"/>
            <a:ext cx="9637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3600" dirty="0"/>
              <a:t>Each neuron has p% to dropout</a:t>
            </a:r>
            <a:endParaRPr lang="zh-TW" altLang="en-US" sz="3600" dirty="0"/>
          </a:p>
        </p:txBody>
      </p:sp>
      <p:sp>
        <p:nvSpPr>
          <p:cNvPr id="120" name="文字方塊 119"/>
          <p:cNvSpPr txBox="1"/>
          <p:nvPr/>
        </p:nvSpPr>
        <p:spPr>
          <a:xfrm>
            <a:off x="4465544" y="8300622"/>
            <a:ext cx="92616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3600" dirty="0"/>
              <a:t>Using the new network for training</a:t>
            </a:r>
            <a:endParaRPr lang="zh-TW" altLang="en-US" sz="3600" dirty="0"/>
          </a:p>
        </p:txBody>
      </p:sp>
      <p:sp>
        <p:nvSpPr>
          <p:cNvPr id="122" name="向右箭號 121"/>
          <p:cNvSpPr/>
          <p:nvPr/>
        </p:nvSpPr>
        <p:spPr>
          <a:xfrm>
            <a:off x="5297784" y="7716467"/>
            <a:ext cx="944114" cy="5633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3" name="文字方塊 122"/>
          <p:cNvSpPr txBox="1"/>
          <p:nvPr/>
        </p:nvSpPr>
        <p:spPr>
          <a:xfrm>
            <a:off x="6305971" y="7677034"/>
            <a:ext cx="9823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The structure of the network is changed.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cxnSp>
        <p:nvCxnSpPr>
          <p:cNvPr id="124" name="直線單箭頭接點 123"/>
          <p:cNvCxnSpPr/>
          <p:nvPr/>
        </p:nvCxnSpPr>
        <p:spPr>
          <a:xfrm flipV="1">
            <a:off x="8893539" y="2640557"/>
            <a:ext cx="1882181" cy="11033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0422457" y="5440259"/>
            <a:ext cx="25161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Thinner!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2175610" y="8912927"/>
            <a:ext cx="11901095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For each mini-batch, we resample the dropout neurons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3" grpId="0"/>
      <p:bldP spid="40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</a:t>
            </a:r>
            <a:endParaRPr lang="zh-TW" altLang="en-US" dirty="0"/>
          </a:p>
        </p:txBody>
      </p:sp>
      <p:grpSp>
        <p:nvGrpSpPr>
          <p:cNvPr id="111" name="群組 110"/>
          <p:cNvGrpSpPr/>
          <p:nvPr/>
        </p:nvGrpSpPr>
        <p:grpSpPr>
          <a:xfrm>
            <a:off x="5840877" y="2258091"/>
            <a:ext cx="8585322" cy="3962996"/>
            <a:chOff x="1904899" y="2535995"/>
            <a:chExt cx="5723548" cy="2641997"/>
          </a:xfrm>
        </p:grpSpPr>
        <p:sp>
          <p:nvSpPr>
            <p:cNvPr id="4" name="橢圓 3"/>
            <p:cNvSpPr/>
            <p:nvPr/>
          </p:nvSpPr>
          <p:spPr>
            <a:xfrm>
              <a:off x="3430053" y="2570711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" name="橢圓 4"/>
            <p:cNvSpPr/>
            <p:nvPr/>
          </p:nvSpPr>
          <p:spPr>
            <a:xfrm>
              <a:off x="3430053" y="3271530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6" name="橢圓 5"/>
            <p:cNvSpPr/>
            <p:nvPr/>
          </p:nvSpPr>
          <p:spPr>
            <a:xfrm>
              <a:off x="3430053" y="396978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430053" y="466803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6636734" y="318360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6636734" y="4022539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1904899" y="2670896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1" name="直線單箭頭接點 10"/>
            <p:cNvCxnSpPr>
              <a:stCxn id="10" idx="3"/>
              <a:endCxn id="4" idx="2"/>
            </p:cNvCxnSpPr>
            <p:nvPr/>
          </p:nvCxnSpPr>
          <p:spPr>
            <a:xfrm>
              <a:off x="2171234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>
              <a:stCxn id="10" idx="3"/>
              <a:endCxn id="5" idx="2"/>
            </p:cNvCxnSpPr>
            <p:nvPr/>
          </p:nvCxnSpPr>
          <p:spPr>
            <a:xfrm>
              <a:off x="2171234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10" idx="3"/>
              <a:endCxn id="6" idx="2"/>
            </p:cNvCxnSpPr>
            <p:nvPr/>
          </p:nvCxnSpPr>
          <p:spPr>
            <a:xfrm>
              <a:off x="2171234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10" idx="3"/>
              <a:endCxn id="7" idx="2"/>
            </p:cNvCxnSpPr>
            <p:nvPr/>
          </p:nvCxnSpPr>
          <p:spPr>
            <a:xfrm>
              <a:off x="2171234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>
              <a:endCxn id="8" idx="2"/>
            </p:cNvCxnSpPr>
            <p:nvPr/>
          </p:nvCxnSpPr>
          <p:spPr>
            <a:xfrm flipV="1">
              <a:off x="5704749" y="3438582"/>
              <a:ext cx="931985" cy="1064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endCxn id="8" idx="2"/>
            </p:cNvCxnSpPr>
            <p:nvPr/>
          </p:nvCxnSpPr>
          <p:spPr>
            <a:xfrm>
              <a:off x="5704748" y="2781725"/>
              <a:ext cx="931986" cy="6568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endCxn id="9" idx="2"/>
            </p:cNvCxnSpPr>
            <p:nvPr/>
          </p:nvCxnSpPr>
          <p:spPr>
            <a:xfrm>
              <a:off x="5704749" y="2825688"/>
              <a:ext cx="931985" cy="14518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endCxn id="9" idx="2"/>
            </p:cNvCxnSpPr>
            <p:nvPr/>
          </p:nvCxnSpPr>
          <p:spPr>
            <a:xfrm>
              <a:off x="5704748" y="3580539"/>
              <a:ext cx="931986" cy="6969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8" idx="2"/>
            </p:cNvCxnSpPr>
            <p:nvPr/>
          </p:nvCxnSpPr>
          <p:spPr>
            <a:xfrm flipV="1">
              <a:off x="5704749" y="3438582"/>
              <a:ext cx="931985" cy="7861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9" idx="2"/>
            </p:cNvCxnSpPr>
            <p:nvPr/>
          </p:nvCxnSpPr>
          <p:spPr>
            <a:xfrm>
              <a:off x="5704749" y="4224761"/>
              <a:ext cx="931985" cy="527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8" idx="2"/>
            </p:cNvCxnSpPr>
            <p:nvPr/>
          </p:nvCxnSpPr>
          <p:spPr>
            <a:xfrm flipV="1">
              <a:off x="5704748" y="3438582"/>
              <a:ext cx="931986" cy="14567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9" idx="2"/>
            </p:cNvCxnSpPr>
            <p:nvPr/>
          </p:nvCxnSpPr>
          <p:spPr>
            <a:xfrm flipV="1">
              <a:off x="5704749" y="4277516"/>
              <a:ext cx="931985" cy="6454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27" idx="2"/>
              <a:endCxn id="4" idx="2"/>
            </p:cNvCxnSpPr>
            <p:nvPr/>
          </p:nvCxnSpPr>
          <p:spPr>
            <a:xfrm flipV="1">
              <a:off x="2038067" y="2825688"/>
              <a:ext cx="1391986" cy="7992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7" idx="3"/>
              <a:endCxn id="5" idx="2"/>
            </p:cNvCxnSpPr>
            <p:nvPr/>
          </p:nvCxnSpPr>
          <p:spPr>
            <a:xfrm>
              <a:off x="2171234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27" idx="3"/>
              <a:endCxn id="6" idx="2"/>
            </p:cNvCxnSpPr>
            <p:nvPr/>
          </p:nvCxnSpPr>
          <p:spPr>
            <a:xfrm>
              <a:off x="2171234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27" idx="3"/>
              <a:endCxn id="7" idx="2"/>
            </p:cNvCxnSpPr>
            <p:nvPr/>
          </p:nvCxnSpPr>
          <p:spPr>
            <a:xfrm>
              <a:off x="2171234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1904899" y="3358623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4" name="橢圓 33"/>
            <p:cNvSpPr/>
            <p:nvPr/>
          </p:nvSpPr>
          <p:spPr>
            <a:xfrm>
              <a:off x="5194794" y="253599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5" name="橢圓 34"/>
            <p:cNvSpPr/>
            <p:nvPr/>
          </p:nvSpPr>
          <p:spPr>
            <a:xfrm>
              <a:off x="5194794" y="323681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" name="橢圓 35"/>
            <p:cNvSpPr/>
            <p:nvPr/>
          </p:nvSpPr>
          <p:spPr>
            <a:xfrm>
              <a:off x="5194794" y="393506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7" name="橢圓 36"/>
            <p:cNvSpPr/>
            <p:nvPr/>
          </p:nvSpPr>
          <p:spPr>
            <a:xfrm>
              <a:off x="5194794" y="4633322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904899" y="4113217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904899" y="4792619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66" name="直線單箭頭接點 65"/>
            <p:cNvCxnSpPr>
              <a:stCxn id="57" idx="3"/>
              <a:endCxn id="7" idx="2"/>
            </p:cNvCxnSpPr>
            <p:nvPr/>
          </p:nvCxnSpPr>
          <p:spPr>
            <a:xfrm flipV="1">
              <a:off x="2171234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68"/>
            <p:cNvCxnSpPr>
              <a:stCxn id="56" idx="3"/>
              <a:endCxn id="7" idx="2"/>
            </p:cNvCxnSpPr>
            <p:nvPr/>
          </p:nvCxnSpPr>
          <p:spPr>
            <a:xfrm>
              <a:off x="2171234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>
              <a:stCxn id="57" idx="3"/>
              <a:endCxn id="6" idx="2"/>
            </p:cNvCxnSpPr>
            <p:nvPr/>
          </p:nvCxnSpPr>
          <p:spPr>
            <a:xfrm flipV="1">
              <a:off x="2171234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>
              <a:stCxn id="57" idx="3"/>
              <a:endCxn id="5" idx="2"/>
            </p:cNvCxnSpPr>
            <p:nvPr/>
          </p:nvCxnSpPr>
          <p:spPr>
            <a:xfrm flipV="1">
              <a:off x="2171234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單箭頭接點 77"/>
            <p:cNvCxnSpPr>
              <a:stCxn id="57" idx="3"/>
              <a:endCxn id="4" idx="2"/>
            </p:cNvCxnSpPr>
            <p:nvPr/>
          </p:nvCxnSpPr>
          <p:spPr>
            <a:xfrm flipV="1">
              <a:off x="2171234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>
              <a:stCxn id="56" idx="3"/>
              <a:endCxn id="5" idx="2"/>
            </p:cNvCxnSpPr>
            <p:nvPr/>
          </p:nvCxnSpPr>
          <p:spPr>
            <a:xfrm flipV="1">
              <a:off x="2171234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>
              <a:stCxn id="56" idx="3"/>
              <a:endCxn id="4" idx="2"/>
            </p:cNvCxnSpPr>
            <p:nvPr/>
          </p:nvCxnSpPr>
          <p:spPr>
            <a:xfrm flipV="1">
              <a:off x="2171234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>
              <a:off x="3940007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/>
            <p:nvPr/>
          </p:nvCxnSpPr>
          <p:spPr>
            <a:xfrm>
              <a:off x="3940007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/>
            <p:cNvCxnSpPr/>
            <p:nvPr/>
          </p:nvCxnSpPr>
          <p:spPr>
            <a:xfrm>
              <a:off x="3940007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/>
            <p:nvPr/>
          </p:nvCxnSpPr>
          <p:spPr>
            <a:xfrm>
              <a:off x="3940007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/>
            <p:nvPr/>
          </p:nvCxnSpPr>
          <p:spPr>
            <a:xfrm>
              <a:off x="3940007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單箭頭接點 91"/>
            <p:cNvCxnSpPr/>
            <p:nvPr/>
          </p:nvCxnSpPr>
          <p:spPr>
            <a:xfrm>
              <a:off x="3940007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92"/>
            <p:cNvCxnSpPr/>
            <p:nvPr/>
          </p:nvCxnSpPr>
          <p:spPr>
            <a:xfrm>
              <a:off x="3940007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單箭頭接點 93"/>
            <p:cNvCxnSpPr/>
            <p:nvPr/>
          </p:nvCxnSpPr>
          <p:spPr>
            <a:xfrm flipV="1">
              <a:off x="3940007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單箭頭接點 94"/>
            <p:cNvCxnSpPr/>
            <p:nvPr/>
          </p:nvCxnSpPr>
          <p:spPr>
            <a:xfrm>
              <a:off x="3940007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/>
            <p:cNvCxnSpPr/>
            <p:nvPr/>
          </p:nvCxnSpPr>
          <p:spPr>
            <a:xfrm flipV="1">
              <a:off x="3940007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單箭頭接點 96"/>
            <p:cNvCxnSpPr/>
            <p:nvPr/>
          </p:nvCxnSpPr>
          <p:spPr>
            <a:xfrm flipV="1">
              <a:off x="3940007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單箭頭接點 97"/>
            <p:cNvCxnSpPr/>
            <p:nvPr/>
          </p:nvCxnSpPr>
          <p:spPr>
            <a:xfrm flipV="1">
              <a:off x="3940007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/>
            <p:nvPr/>
          </p:nvCxnSpPr>
          <p:spPr>
            <a:xfrm flipV="1">
              <a:off x="3940007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/>
            <p:cNvCxnSpPr/>
            <p:nvPr/>
          </p:nvCxnSpPr>
          <p:spPr>
            <a:xfrm flipV="1">
              <a:off x="3940007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>
              <a:off x="7162454" y="3451153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>
              <a:off x="7162454" y="4292030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直線單箭頭接點 120"/>
          <p:cNvCxnSpPr/>
          <p:nvPr/>
        </p:nvCxnSpPr>
        <p:spPr>
          <a:xfrm flipV="1">
            <a:off x="6260156" y="4810290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/>
          <p:cNvCxnSpPr/>
          <p:nvPr/>
        </p:nvCxnSpPr>
        <p:spPr>
          <a:xfrm flipV="1">
            <a:off x="8945580" y="4789269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>
            <a:stCxn id="5" idx="6"/>
            <a:endCxn id="34" idx="2"/>
          </p:cNvCxnSpPr>
          <p:nvPr/>
        </p:nvCxnSpPr>
        <p:spPr>
          <a:xfrm flipV="1">
            <a:off x="8893539" y="2640557"/>
            <a:ext cx="1882181" cy="11033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2953146" y="2250856"/>
            <a:ext cx="3481754" cy="737235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4200" b="1" u="sng" dirty="0">
                <a:solidFill>
                  <a:srgbClr val="0000FF"/>
                </a:solidFill>
              </a:rPr>
              <a:t>Testing:</a:t>
            </a:r>
            <a:endParaRPr lang="zh-TW" altLang="en-US" sz="4200" b="1" u="sng" dirty="0">
              <a:solidFill>
                <a:srgbClr val="0000FF"/>
              </a:solidFill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3314067" y="6236299"/>
            <a:ext cx="50536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b="1" dirty="0">
                <a:solidFill>
                  <a:srgbClr val="FF0000"/>
                </a:solidFill>
              </a:rPr>
              <a:t>No dropout</a:t>
            </a:r>
          </a:p>
        </p:txBody>
      </p:sp>
      <p:sp>
        <p:nvSpPr>
          <p:cNvPr id="73" name="文字方塊 72"/>
          <p:cNvSpPr txBox="1"/>
          <p:nvPr/>
        </p:nvSpPr>
        <p:spPr>
          <a:xfrm>
            <a:off x="4221314" y="7025813"/>
            <a:ext cx="76947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0000FF"/>
                </a:solidFill>
              </a:rPr>
              <a:t>If the dropout rate at training is p%, all the weights times 1-p%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4221314" y="8120034"/>
                <a:ext cx="11514872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TW" sz="3600" dirty="0">
                    <a:solidFill>
                      <a:srgbClr val="0000FF"/>
                    </a:solidFill>
                  </a:rPr>
                  <a:t>Assume that the dropout rate is 50%. </a:t>
                </a:r>
              </a:p>
              <a:p>
                <a:r>
                  <a:rPr lang="en-US" altLang="zh-TW" sz="3600" dirty="0">
                    <a:solidFill>
                      <a:srgbClr val="0000FF"/>
                    </a:solidFill>
                  </a:rPr>
                  <a:t>     If a weight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6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TW" sz="3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TW" altLang="en-US" sz="36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3600" dirty="0">
                    <a:solidFill>
                      <a:srgbClr val="0000FF"/>
                    </a:solidFill>
                  </a:rPr>
                  <a:t>by training, set </a:t>
                </a:r>
                <a14:m>
                  <m:oMath xmlns:m="http://schemas.openxmlformats.org/officeDocument/2006/math">
                    <m:r>
                      <a:rPr lang="en-US" altLang="zh-TW" sz="36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3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zh-TW" altLang="en-US" sz="36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3600" dirty="0">
                    <a:solidFill>
                      <a:srgbClr val="0000FF"/>
                    </a:solidFill>
                  </a:rPr>
                  <a:t>for testing.</a:t>
                </a:r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314" y="8120034"/>
                <a:ext cx="11514872" cy="1198880"/>
              </a:xfrm>
              <a:prstGeom prst="rect">
                <a:avLst/>
              </a:prstGeom>
              <a:blipFill>
                <a:blip r:embed="rId3"/>
                <a:stretch>
                  <a:fillRect l="-1429" t="-7614" r="-688" b="-18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3" grpId="0"/>
      <p:bldP spid="7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- Intuitive Reason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5840877" y="2258091"/>
            <a:ext cx="8585322" cy="3962996"/>
            <a:chOff x="1904899" y="2535995"/>
            <a:chExt cx="5723548" cy="2641997"/>
          </a:xfrm>
        </p:grpSpPr>
        <p:sp>
          <p:nvSpPr>
            <p:cNvPr id="5" name="橢圓 4"/>
            <p:cNvSpPr/>
            <p:nvPr/>
          </p:nvSpPr>
          <p:spPr>
            <a:xfrm>
              <a:off x="3430053" y="2570711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" name="橢圓 5"/>
            <p:cNvSpPr/>
            <p:nvPr/>
          </p:nvSpPr>
          <p:spPr>
            <a:xfrm>
              <a:off x="3430053" y="3271530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3430053" y="396978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3430053" y="466803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6636734" y="318360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0" name="橢圓 9"/>
            <p:cNvSpPr/>
            <p:nvPr/>
          </p:nvSpPr>
          <p:spPr>
            <a:xfrm>
              <a:off x="6636734" y="4022539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904899" y="2670896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" name="直線單箭頭接點 11"/>
            <p:cNvCxnSpPr>
              <a:stCxn id="11" idx="3"/>
              <a:endCxn id="5" idx="2"/>
            </p:cNvCxnSpPr>
            <p:nvPr/>
          </p:nvCxnSpPr>
          <p:spPr>
            <a:xfrm>
              <a:off x="2171234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11" idx="3"/>
              <a:endCxn id="6" idx="2"/>
            </p:cNvCxnSpPr>
            <p:nvPr/>
          </p:nvCxnSpPr>
          <p:spPr>
            <a:xfrm>
              <a:off x="2171234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11" idx="3"/>
              <a:endCxn id="7" idx="2"/>
            </p:cNvCxnSpPr>
            <p:nvPr/>
          </p:nvCxnSpPr>
          <p:spPr>
            <a:xfrm>
              <a:off x="2171234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>
              <a:stCxn id="11" idx="3"/>
              <a:endCxn id="8" idx="2"/>
            </p:cNvCxnSpPr>
            <p:nvPr/>
          </p:nvCxnSpPr>
          <p:spPr>
            <a:xfrm>
              <a:off x="2171234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endCxn id="9" idx="2"/>
            </p:cNvCxnSpPr>
            <p:nvPr/>
          </p:nvCxnSpPr>
          <p:spPr>
            <a:xfrm flipV="1">
              <a:off x="5704749" y="3438582"/>
              <a:ext cx="931985" cy="1064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endCxn id="9" idx="2"/>
            </p:cNvCxnSpPr>
            <p:nvPr/>
          </p:nvCxnSpPr>
          <p:spPr>
            <a:xfrm>
              <a:off x="5704748" y="2781725"/>
              <a:ext cx="931986" cy="6568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endCxn id="10" idx="2"/>
            </p:cNvCxnSpPr>
            <p:nvPr/>
          </p:nvCxnSpPr>
          <p:spPr>
            <a:xfrm>
              <a:off x="5704749" y="2825688"/>
              <a:ext cx="931985" cy="14518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0" idx="2"/>
            </p:cNvCxnSpPr>
            <p:nvPr/>
          </p:nvCxnSpPr>
          <p:spPr>
            <a:xfrm>
              <a:off x="5704748" y="3580539"/>
              <a:ext cx="931986" cy="6969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9" idx="2"/>
            </p:cNvCxnSpPr>
            <p:nvPr/>
          </p:nvCxnSpPr>
          <p:spPr>
            <a:xfrm flipV="1">
              <a:off x="5704749" y="3438582"/>
              <a:ext cx="931985" cy="7861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0" idx="2"/>
            </p:cNvCxnSpPr>
            <p:nvPr/>
          </p:nvCxnSpPr>
          <p:spPr>
            <a:xfrm>
              <a:off x="5704749" y="4224761"/>
              <a:ext cx="931985" cy="527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9" idx="2"/>
            </p:cNvCxnSpPr>
            <p:nvPr/>
          </p:nvCxnSpPr>
          <p:spPr>
            <a:xfrm flipV="1">
              <a:off x="5704748" y="3438582"/>
              <a:ext cx="931986" cy="14567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0" idx="2"/>
            </p:cNvCxnSpPr>
            <p:nvPr/>
          </p:nvCxnSpPr>
          <p:spPr>
            <a:xfrm flipV="1">
              <a:off x="5704749" y="4277516"/>
              <a:ext cx="931985" cy="6454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8" idx="2"/>
              <a:endCxn id="5" idx="2"/>
            </p:cNvCxnSpPr>
            <p:nvPr/>
          </p:nvCxnSpPr>
          <p:spPr>
            <a:xfrm flipV="1">
              <a:off x="2038067" y="2825688"/>
              <a:ext cx="1391986" cy="7992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28" idx="3"/>
              <a:endCxn id="6" idx="2"/>
            </p:cNvCxnSpPr>
            <p:nvPr/>
          </p:nvCxnSpPr>
          <p:spPr>
            <a:xfrm>
              <a:off x="2171234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28" idx="3"/>
              <a:endCxn id="7" idx="2"/>
            </p:cNvCxnSpPr>
            <p:nvPr/>
          </p:nvCxnSpPr>
          <p:spPr>
            <a:xfrm>
              <a:off x="2171234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28" idx="3"/>
              <a:endCxn id="8" idx="2"/>
            </p:cNvCxnSpPr>
            <p:nvPr/>
          </p:nvCxnSpPr>
          <p:spPr>
            <a:xfrm>
              <a:off x="2171234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1904899" y="3358623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9" name="橢圓 28"/>
            <p:cNvSpPr/>
            <p:nvPr/>
          </p:nvSpPr>
          <p:spPr>
            <a:xfrm>
              <a:off x="5194794" y="2535995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" name="橢圓 29"/>
            <p:cNvSpPr/>
            <p:nvPr/>
          </p:nvSpPr>
          <p:spPr>
            <a:xfrm>
              <a:off x="5194794" y="3236814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1" name="橢圓 30"/>
            <p:cNvSpPr/>
            <p:nvPr/>
          </p:nvSpPr>
          <p:spPr>
            <a:xfrm>
              <a:off x="5194794" y="3935068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2" name="橢圓 31"/>
            <p:cNvSpPr/>
            <p:nvPr/>
          </p:nvSpPr>
          <p:spPr>
            <a:xfrm>
              <a:off x="5194794" y="4633322"/>
              <a:ext cx="509954" cy="5099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904899" y="4113217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4" name="矩形 33"/>
            <p:cNvSpPr/>
            <p:nvPr/>
          </p:nvSpPr>
          <p:spPr>
            <a:xfrm>
              <a:off x="1904899" y="4792619"/>
              <a:ext cx="266335" cy="2663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5" name="直線單箭頭接點 34"/>
            <p:cNvCxnSpPr>
              <a:stCxn id="34" idx="3"/>
              <a:endCxn id="8" idx="2"/>
            </p:cNvCxnSpPr>
            <p:nvPr/>
          </p:nvCxnSpPr>
          <p:spPr>
            <a:xfrm flipV="1">
              <a:off x="2171234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>
              <a:stCxn id="33" idx="3"/>
              <a:endCxn id="8" idx="2"/>
            </p:cNvCxnSpPr>
            <p:nvPr/>
          </p:nvCxnSpPr>
          <p:spPr>
            <a:xfrm>
              <a:off x="2171234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34" idx="3"/>
              <a:endCxn id="7" idx="2"/>
            </p:cNvCxnSpPr>
            <p:nvPr/>
          </p:nvCxnSpPr>
          <p:spPr>
            <a:xfrm flipV="1">
              <a:off x="2171234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>
              <a:stCxn id="34" idx="3"/>
              <a:endCxn id="6" idx="2"/>
            </p:cNvCxnSpPr>
            <p:nvPr/>
          </p:nvCxnSpPr>
          <p:spPr>
            <a:xfrm flipV="1">
              <a:off x="2171234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34" idx="3"/>
              <a:endCxn id="5" idx="2"/>
            </p:cNvCxnSpPr>
            <p:nvPr/>
          </p:nvCxnSpPr>
          <p:spPr>
            <a:xfrm flipV="1">
              <a:off x="2171234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33" idx="3"/>
              <a:endCxn id="6" idx="2"/>
            </p:cNvCxnSpPr>
            <p:nvPr/>
          </p:nvCxnSpPr>
          <p:spPr>
            <a:xfrm flipV="1">
              <a:off x="2171234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3" idx="3"/>
              <a:endCxn id="5" idx="2"/>
            </p:cNvCxnSpPr>
            <p:nvPr/>
          </p:nvCxnSpPr>
          <p:spPr>
            <a:xfrm flipV="1">
              <a:off x="2171234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/>
            <p:nvPr/>
          </p:nvCxnSpPr>
          <p:spPr>
            <a:xfrm>
              <a:off x="3940007" y="2804064"/>
              <a:ext cx="1258819" cy="216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/>
            <p:nvPr/>
          </p:nvCxnSpPr>
          <p:spPr>
            <a:xfrm>
              <a:off x="3940007" y="2804064"/>
              <a:ext cx="1258819" cy="722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/>
            <p:nvPr/>
          </p:nvCxnSpPr>
          <p:spPr>
            <a:xfrm>
              <a:off x="3940007" y="2804064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3940007" y="2804064"/>
              <a:ext cx="1258819" cy="21189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3940007" y="3491791"/>
              <a:ext cx="1258819" cy="3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單箭頭接點 46"/>
            <p:cNvCxnSpPr/>
            <p:nvPr/>
          </p:nvCxnSpPr>
          <p:spPr>
            <a:xfrm>
              <a:off x="3940007" y="3491791"/>
              <a:ext cx="1258819" cy="7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單箭頭接點 47"/>
            <p:cNvCxnSpPr/>
            <p:nvPr/>
          </p:nvCxnSpPr>
          <p:spPr>
            <a:xfrm>
              <a:off x="3940007" y="3491791"/>
              <a:ext cx="1258819" cy="14312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 flipV="1">
              <a:off x="3940007" y="4923015"/>
              <a:ext cx="1258819" cy="277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3940007" y="4246385"/>
              <a:ext cx="1258819" cy="6766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 flipV="1">
              <a:off x="3940007" y="4224761"/>
              <a:ext cx="1258819" cy="7010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/>
            <p:cNvCxnSpPr/>
            <p:nvPr/>
          </p:nvCxnSpPr>
          <p:spPr>
            <a:xfrm flipV="1">
              <a:off x="3940007" y="3526507"/>
              <a:ext cx="1258819" cy="13992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 flipV="1">
              <a:off x="3940007" y="2825688"/>
              <a:ext cx="1258819" cy="21000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V="1">
              <a:off x="3940007" y="3526507"/>
              <a:ext cx="1258819" cy="7198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flipV="1">
              <a:off x="3940007" y="2825688"/>
              <a:ext cx="1258819" cy="14206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>
              <a:off x="7162454" y="3451153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>
              <a:off x="7162454" y="4292030"/>
              <a:ext cx="4659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線單箭頭接點 57"/>
          <p:cNvCxnSpPr/>
          <p:nvPr/>
        </p:nvCxnSpPr>
        <p:spPr>
          <a:xfrm flipV="1">
            <a:off x="6260156" y="4810290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V="1">
            <a:off x="8945580" y="4789269"/>
            <a:ext cx="1868453" cy="80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6" idx="6"/>
            <a:endCxn id="29" idx="2"/>
          </p:cNvCxnSpPr>
          <p:nvPr/>
        </p:nvCxnSpPr>
        <p:spPr>
          <a:xfrm flipV="1">
            <a:off x="8893539" y="2640557"/>
            <a:ext cx="1882181" cy="11033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3474850" y="6315427"/>
            <a:ext cx="10951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dirty="0"/>
              <a:t>When teams up, if everyone expect the partner will do the work, nothing will be done finally.</a:t>
            </a:r>
          </a:p>
        </p:txBody>
      </p:sp>
      <p:sp>
        <p:nvSpPr>
          <p:cNvPr id="65" name="文字方塊 64"/>
          <p:cNvSpPr txBox="1"/>
          <p:nvPr/>
        </p:nvSpPr>
        <p:spPr>
          <a:xfrm>
            <a:off x="3426712" y="7598302"/>
            <a:ext cx="105890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dirty="0"/>
              <a:t>However, if you know your partner will dropout, you will do better.</a:t>
            </a:r>
          </a:p>
        </p:txBody>
      </p:sp>
      <p:sp>
        <p:nvSpPr>
          <p:cNvPr id="66" name="雲朵形圖說文字 65"/>
          <p:cNvSpPr/>
          <p:nvPr/>
        </p:nvSpPr>
        <p:spPr>
          <a:xfrm>
            <a:off x="9913400" y="1961297"/>
            <a:ext cx="4839465" cy="2236751"/>
          </a:xfrm>
          <a:prstGeom prst="cloudCallout">
            <a:avLst>
              <a:gd name="adj1" fmla="val -80009"/>
              <a:gd name="adj2" fmla="val 2998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My teammate will not work hard on project. I need to work hard.</a:t>
            </a:r>
          </a:p>
        </p:txBody>
      </p:sp>
      <p:grpSp>
        <p:nvGrpSpPr>
          <p:cNvPr id="82" name="群組 81"/>
          <p:cNvGrpSpPr/>
          <p:nvPr/>
        </p:nvGrpSpPr>
        <p:grpSpPr>
          <a:xfrm>
            <a:off x="8234055" y="2400900"/>
            <a:ext cx="547989" cy="551024"/>
            <a:chOff x="-1866900" y="1906630"/>
            <a:chExt cx="365326" cy="367349"/>
          </a:xfrm>
        </p:grpSpPr>
        <p:cxnSp>
          <p:nvCxnSpPr>
            <p:cNvPr id="83" name="直線接點 82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群組 84"/>
          <p:cNvGrpSpPr/>
          <p:nvPr/>
        </p:nvGrpSpPr>
        <p:grpSpPr>
          <a:xfrm>
            <a:off x="8241903" y="4515728"/>
            <a:ext cx="547989" cy="551024"/>
            <a:chOff x="-1866900" y="1906630"/>
            <a:chExt cx="365326" cy="367349"/>
          </a:xfrm>
        </p:grpSpPr>
        <p:cxnSp>
          <p:nvCxnSpPr>
            <p:cNvPr id="86" name="直線接點 85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群組 87"/>
          <p:cNvGrpSpPr/>
          <p:nvPr/>
        </p:nvGrpSpPr>
        <p:grpSpPr>
          <a:xfrm>
            <a:off x="10884191" y="4472403"/>
            <a:ext cx="547989" cy="551024"/>
            <a:chOff x="-1866900" y="1906630"/>
            <a:chExt cx="365326" cy="367349"/>
          </a:xfrm>
        </p:grpSpPr>
        <p:cxnSp>
          <p:nvCxnSpPr>
            <p:cNvPr id="89" name="直線接點 88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接點 89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群組 90"/>
          <p:cNvGrpSpPr/>
          <p:nvPr/>
        </p:nvGrpSpPr>
        <p:grpSpPr>
          <a:xfrm>
            <a:off x="10898327" y="5511035"/>
            <a:ext cx="547989" cy="551024"/>
            <a:chOff x="-1866900" y="1906630"/>
            <a:chExt cx="365326" cy="367349"/>
          </a:xfrm>
        </p:grpSpPr>
        <p:cxnSp>
          <p:nvCxnSpPr>
            <p:cNvPr id="92" name="直線接點 91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93"/>
          <p:cNvGrpSpPr/>
          <p:nvPr/>
        </p:nvGrpSpPr>
        <p:grpSpPr>
          <a:xfrm>
            <a:off x="5760231" y="4535528"/>
            <a:ext cx="547989" cy="551024"/>
            <a:chOff x="-1866900" y="1906630"/>
            <a:chExt cx="365326" cy="367349"/>
          </a:xfrm>
        </p:grpSpPr>
        <p:cxnSp>
          <p:nvCxnSpPr>
            <p:cNvPr id="95" name="直線接點 94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96"/>
          <p:cNvGrpSpPr/>
          <p:nvPr/>
        </p:nvGrpSpPr>
        <p:grpSpPr>
          <a:xfrm>
            <a:off x="5795828" y="3441956"/>
            <a:ext cx="547989" cy="551024"/>
            <a:chOff x="-1866900" y="1906630"/>
            <a:chExt cx="365326" cy="367349"/>
          </a:xfrm>
        </p:grpSpPr>
        <p:cxnSp>
          <p:nvCxnSpPr>
            <p:cNvPr id="98" name="直線接點 97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文字方塊 99"/>
          <p:cNvSpPr txBox="1"/>
          <p:nvPr/>
        </p:nvSpPr>
        <p:spPr>
          <a:xfrm>
            <a:off x="3426712" y="8804719"/>
            <a:ext cx="1099948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dirty="0"/>
              <a:t>When testing, no one dropout actually, so obtaining good results eventually.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5" grpId="0"/>
      <p:bldP spid="66" grpId="0" bldLvl="0" animBg="1"/>
      <p:bldP spid="10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- Intuitive Reason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Why the weights should multiply (1-p)% (dropout rate) when testing?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97828" y="3954554"/>
            <a:ext cx="444119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1" u="sng" dirty="0"/>
              <a:t>Training of Dropout</a:t>
            </a:r>
            <a:endParaRPr lang="en-US" altLang="zh-TW" sz="3600" dirty="0"/>
          </a:p>
        </p:txBody>
      </p:sp>
      <p:sp>
        <p:nvSpPr>
          <p:cNvPr id="5" name="矩形 4"/>
          <p:cNvSpPr/>
          <p:nvPr/>
        </p:nvSpPr>
        <p:spPr>
          <a:xfrm>
            <a:off x="9122229" y="3925800"/>
            <a:ext cx="425513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i="1" u="sng" dirty="0"/>
              <a:t>Testing of Dropout</a:t>
            </a:r>
            <a:endParaRPr lang="en-US" altLang="zh-TW" sz="3600" dirty="0"/>
          </a:p>
        </p:txBody>
      </p:sp>
      <p:sp>
        <p:nvSpPr>
          <p:cNvPr id="6" name="橢圓 5"/>
          <p:cNvSpPr/>
          <p:nvPr/>
        </p:nvSpPr>
        <p:spPr>
          <a:xfrm>
            <a:off x="7061454" y="7073870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7" name="橢圓 6"/>
          <p:cNvSpPr/>
          <p:nvPr/>
        </p:nvSpPr>
        <p:spPr>
          <a:xfrm>
            <a:off x="4278924" y="5488211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8" name="橢圓 7"/>
          <p:cNvSpPr/>
          <p:nvPr/>
        </p:nvSpPr>
        <p:spPr>
          <a:xfrm>
            <a:off x="4278924" y="6665595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9" name="橢圓 8"/>
          <p:cNvSpPr/>
          <p:nvPr/>
        </p:nvSpPr>
        <p:spPr>
          <a:xfrm>
            <a:off x="4284305" y="7838801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0" name="橢圓 9"/>
          <p:cNvSpPr/>
          <p:nvPr/>
        </p:nvSpPr>
        <p:spPr>
          <a:xfrm>
            <a:off x="4278924" y="9085274"/>
            <a:ext cx="764931" cy="7490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1" name="橢圓 20"/>
          <p:cNvSpPr/>
          <p:nvPr/>
        </p:nvSpPr>
        <p:spPr>
          <a:xfrm>
            <a:off x="12300324" y="7144986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2" name="橢圓 21"/>
          <p:cNvSpPr/>
          <p:nvPr/>
        </p:nvSpPr>
        <p:spPr>
          <a:xfrm>
            <a:off x="9517794" y="5559327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3" name="橢圓 22"/>
          <p:cNvSpPr/>
          <p:nvPr/>
        </p:nvSpPr>
        <p:spPr>
          <a:xfrm>
            <a:off x="9517794" y="6736712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4" name="橢圓 23"/>
          <p:cNvSpPr/>
          <p:nvPr/>
        </p:nvSpPr>
        <p:spPr>
          <a:xfrm>
            <a:off x="9523175" y="7909917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5" name="橢圓 24"/>
          <p:cNvSpPr/>
          <p:nvPr/>
        </p:nvSpPr>
        <p:spPr>
          <a:xfrm>
            <a:off x="9517794" y="9156390"/>
            <a:ext cx="764931" cy="7649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12" name="直線單箭頭接點 11"/>
          <p:cNvCxnSpPr>
            <a:stCxn id="7" idx="6"/>
            <a:endCxn id="6" idx="2"/>
          </p:cNvCxnSpPr>
          <p:nvPr/>
        </p:nvCxnSpPr>
        <p:spPr>
          <a:xfrm>
            <a:off x="5043855" y="5862740"/>
            <a:ext cx="2017599" cy="1585659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8" idx="6"/>
            <a:endCxn id="6" idx="2"/>
          </p:cNvCxnSpPr>
          <p:nvPr/>
        </p:nvCxnSpPr>
        <p:spPr>
          <a:xfrm>
            <a:off x="5043855" y="7040124"/>
            <a:ext cx="2017599" cy="408275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9" idx="6"/>
            <a:endCxn id="6" idx="2"/>
          </p:cNvCxnSpPr>
          <p:nvPr/>
        </p:nvCxnSpPr>
        <p:spPr>
          <a:xfrm flipV="1">
            <a:off x="5049236" y="7448399"/>
            <a:ext cx="2012219" cy="76493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6" idx="2"/>
          </p:cNvCxnSpPr>
          <p:nvPr/>
        </p:nvCxnSpPr>
        <p:spPr>
          <a:xfrm flipV="1">
            <a:off x="5049236" y="7448399"/>
            <a:ext cx="2012219" cy="197488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10288106" y="5941793"/>
            <a:ext cx="2017599" cy="1585659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10288106" y="7119177"/>
            <a:ext cx="2017599" cy="408275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10293486" y="7527452"/>
            <a:ext cx="2012219" cy="76493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10293486" y="7527452"/>
            <a:ext cx="2012219" cy="196694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5575515" y="5834298"/>
                <a:ext cx="5892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515" y="5834298"/>
                <a:ext cx="589280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36" t="-100" r="-13541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5604740" y="6604199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740" y="6604199"/>
                <a:ext cx="5949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39" t="-36" r="-12982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5604740" y="7263663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740" y="7263663"/>
                <a:ext cx="59499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39" t="-96" r="-12982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5611761" y="7944267"/>
                <a:ext cx="5880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761" y="7944267"/>
                <a:ext cx="588010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5" t="-75" r="-13670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6769646" y="6707207"/>
                <a:ext cx="2774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646" y="6707207"/>
                <a:ext cx="27749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97" t="-61" r="-26119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10803074" y="5895803"/>
                <a:ext cx="5892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074" y="5895803"/>
                <a:ext cx="589280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77" t="-84" r="-13501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0832298" y="6665703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298" y="6665703"/>
                <a:ext cx="5949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79" t="-20" r="-12942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10832298" y="7325168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298" y="7325168"/>
                <a:ext cx="59499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79" t="-80" r="-12942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10839319" y="8005772"/>
                <a:ext cx="5880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9319" y="8005772"/>
                <a:ext cx="588010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86" t="-59" r="-13629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12017298" y="6665703"/>
                <a:ext cx="42227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7298" y="6665703"/>
                <a:ext cx="422275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132" t="-20" r="-16108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/>
          <p:cNvGrpSpPr/>
          <p:nvPr/>
        </p:nvGrpSpPr>
        <p:grpSpPr>
          <a:xfrm>
            <a:off x="4344503" y="6720420"/>
            <a:ext cx="547989" cy="539588"/>
            <a:chOff x="-1866900" y="1906630"/>
            <a:chExt cx="365326" cy="367349"/>
          </a:xfrm>
        </p:grpSpPr>
        <p:cxnSp>
          <p:nvCxnSpPr>
            <p:cNvPr id="64" name="直線接點 63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群組 65"/>
          <p:cNvGrpSpPr/>
          <p:nvPr/>
        </p:nvGrpSpPr>
        <p:grpSpPr>
          <a:xfrm>
            <a:off x="4387395" y="9254016"/>
            <a:ext cx="547989" cy="539588"/>
            <a:chOff x="-1866900" y="1906630"/>
            <a:chExt cx="365326" cy="367349"/>
          </a:xfrm>
        </p:grpSpPr>
        <p:cxnSp>
          <p:nvCxnSpPr>
            <p:cNvPr id="67" name="直線接點 66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5107362" y="6863777"/>
            <a:ext cx="398127" cy="392024"/>
            <a:chOff x="-1866900" y="1906630"/>
            <a:chExt cx="365326" cy="367349"/>
          </a:xfrm>
        </p:grpSpPr>
        <p:cxnSp>
          <p:nvCxnSpPr>
            <p:cNvPr id="70" name="直線接點 69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5215619" y="8864052"/>
            <a:ext cx="398127" cy="392024"/>
            <a:chOff x="-1866900" y="1906630"/>
            <a:chExt cx="365326" cy="367349"/>
          </a:xfrm>
        </p:grpSpPr>
        <p:cxnSp>
          <p:nvCxnSpPr>
            <p:cNvPr id="73" name="直線接點 72"/>
            <p:cNvCxnSpPr/>
            <p:nvPr/>
          </p:nvCxnSpPr>
          <p:spPr>
            <a:xfrm>
              <a:off x="-1866900" y="1906630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/>
            <p:cNvCxnSpPr/>
            <p:nvPr/>
          </p:nvCxnSpPr>
          <p:spPr>
            <a:xfrm rot="5400000">
              <a:off x="-1863524" y="1912029"/>
              <a:ext cx="361950" cy="36195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字方塊 74"/>
          <p:cNvSpPr txBox="1"/>
          <p:nvPr/>
        </p:nvSpPr>
        <p:spPr>
          <a:xfrm>
            <a:off x="3319601" y="4624574"/>
            <a:ext cx="574041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Assume dropout rate is 50%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9670152" y="5928693"/>
                <a:ext cx="1083945" cy="553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152" y="5928693"/>
                <a:ext cx="108394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444" t="-863" r="-6820" b="-85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/>
              <p:cNvSpPr txBox="1"/>
              <p:nvPr/>
            </p:nvSpPr>
            <p:spPr>
              <a:xfrm>
                <a:off x="9685314" y="6682092"/>
                <a:ext cx="1083945" cy="553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4" name="文字方塊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314" y="6682092"/>
                <a:ext cx="108394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496" t="-915" r="-6827" b="-80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9670152" y="7346658"/>
                <a:ext cx="1083945" cy="553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152" y="7346658"/>
                <a:ext cx="108394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444" t="-865" r="-6820" b="-85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9705209" y="8027543"/>
                <a:ext cx="1083945" cy="553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5209" y="8027543"/>
                <a:ext cx="108394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457" t="-894" r="-6808" b="-82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 88"/>
          <p:cNvSpPr/>
          <p:nvPr/>
        </p:nvSpPr>
        <p:spPr>
          <a:xfrm>
            <a:off x="9216729" y="4559196"/>
            <a:ext cx="2443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No dropout</a:t>
            </a:r>
            <a:endParaRPr lang="zh-TW" altLang="en-US" sz="3600" dirty="0"/>
          </a:p>
        </p:txBody>
      </p:sp>
      <p:grpSp>
        <p:nvGrpSpPr>
          <p:cNvPr id="92" name="群組 91"/>
          <p:cNvGrpSpPr/>
          <p:nvPr/>
        </p:nvGrpSpPr>
        <p:grpSpPr>
          <a:xfrm>
            <a:off x="11588768" y="5174033"/>
            <a:ext cx="4491990" cy="1271429"/>
            <a:chOff x="6201845" y="3487455"/>
            <a:chExt cx="2994660" cy="847619"/>
          </a:xfrm>
        </p:grpSpPr>
        <p:sp>
          <p:nvSpPr>
            <p:cNvPr id="87" name="矩形 86"/>
            <p:cNvSpPr/>
            <p:nvPr/>
          </p:nvSpPr>
          <p:spPr>
            <a:xfrm>
              <a:off x="6201845" y="3487455"/>
              <a:ext cx="2994660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600" dirty="0"/>
                <a:t>Weights from training</a:t>
              </a:r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/>
                <p:cNvSpPr txBox="1"/>
                <p:nvPr/>
              </p:nvSpPr>
              <p:spPr>
                <a:xfrm>
                  <a:off x="6991194" y="3896034"/>
                  <a:ext cx="1625065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8" name="文字方塊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194" y="3896034"/>
                  <a:ext cx="1625065" cy="43010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向右箭號 89"/>
            <p:cNvSpPr/>
            <p:nvPr/>
          </p:nvSpPr>
          <p:spPr>
            <a:xfrm>
              <a:off x="6575506" y="3949120"/>
              <a:ext cx="585426" cy="38595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11800702" y="8018978"/>
            <a:ext cx="4695191" cy="1323402"/>
            <a:chOff x="5942302" y="5744613"/>
            <a:chExt cx="3130127" cy="882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/>
                <p:cNvSpPr txBox="1"/>
                <p:nvPr/>
              </p:nvSpPr>
              <p:spPr>
                <a:xfrm>
                  <a:off x="6962599" y="6196774"/>
                  <a:ext cx="1625065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7" name="文字方塊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599" y="6196774"/>
                  <a:ext cx="1625065" cy="43010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矩形 77"/>
            <p:cNvSpPr/>
            <p:nvPr/>
          </p:nvSpPr>
          <p:spPr>
            <a:xfrm>
              <a:off x="5942302" y="5744613"/>
              <a:ext cx="313012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600" dirty="0"/>
                <a:t>Weights multiply 1-p%</a:t>
              </a:r>
              <a:endParaRPr lang="zh-TW" altLang="en-US" sz="3600" dirty="0"/>
            </a:p>
          </p:txBody>
        </p:sp>
        <p:sp>
          <p:nvSpPr>
            <p:cNvPr id="91" name="向右箭號 90"/>
            <p:cNvSpPr/>
            <p:nvPr/>
          </p:nvSpPr>
          <p:spPr>
            <a:xfrm>
              <a:off x="6648268" y="6231691"/>
              <a:ext cx="585426" cy="385954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cxnSp>
        <p:nvCxnSpPr>
          <p:cNvPr id="95" name="直線接點 94"/>
          <p:cNvCxnSpPr/>
          <p:nvPr/>
        </p:nvCxnSpPr>
        <p:spPr>
          <a:xfrm>
            <a:off x="8920532" y="3954554"/>
            <a:ext cx="0" cy="6332447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40" grpId="0"/>
      <p:bldP spid="41" grpId="0"/>
      <p:bldP spid="42" grpId="0"/>
      <p:bldP spid="43" grpId="0"/>
      <p:bldP spid="44" grpId="0"/>
      <p:bldP spid="54" grpId="0"/>
      <p:bldP spid="55" grpId="0"/>
      <p:bldP spid="56" grpId="0"/>
      <p:bldP spid="57" grpId="0"/>
      <p:bldP spid="58" grpId="0"/>
      <p:bldP spid="75" grpId="0"/>
      <p:bldP spid="79" grpId="0" bldLvl="0" animBg="1"/>
      <p:bldP spid="84" grpId="0" bldLvl="0" animBg="1"/>
      <p:bldP spid="85" grpId="0" bldLvl="0" animBg="1"/>
      <p:bldP spid="86" grpId="0" bldLvl="0" animBg="1"/>
      <p:bldP spid="8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3251578" y="2753331"/>
            <a:ext cx="333102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Ensemble</a:t>
            </a:r>
            <a:endParaRPr lang="zh-TW" altLang="en-US" sz="4200" b="1" i="1" u="sng" dirty="0"/>
          </a:p>
        </p:txBody>
      </p:sp>
      <p:sp>
        <p:nvSpPr>
          <p:cNvPr id="4" name="矩形 3"/>
          <p:cNvSpPr/>
          <p:nvPr/>
        </p:nvSpPr>
        <p:spPr>
          <a:xfrm>
            <a:off x="4197770" y="5681132"/>
            <a:ext cx="2028825" cy="1685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53" name="矩形 252"/>
          <p:cNvSpPr/>
          <p:nvPr/>
        </p:nvSpPr>
        <p:spPr>
          <a:xfrm>
            <a:off x="6877697" y="5674284"/>
            <a:ext cx="2028825" cy="16859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254" name="矩形 253"/>
          <p:cNvSpPr/>
          <p:nvPr/>
        </p:nvSpPr>
        <p:spPr>
          <a:xfrm>
            <a:off x="9635183" y="5647086"/>
            <a:ext cx="2028825" cy="16859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255" name="矩形 254"/>
          <p:cNvSpPr/>
          <p:nvPr/>
        </p:nvSpPr>
        <p:spPr>
          <a:xfrm>
            <a:off x="12392669" y="5674284"/>
            <a:ext cx="2028825" cy="16859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401798" y="7657805"/>
            <a:ext cx="1047666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Train a bunch of networks with different structures</a:t>
            </a:r>
            <a:endParaRPr lang="zh-TW" altLang="en-US" sz="3600" dirty="0"/>
          </a:p>
        </p:txBody>
      </p:sp>
      <p:sp>
        <p:nvSpPr>
          <p:cNvPr id="10" name="橢圓 9"/>
          <p:cNvSpPr/>
          <p:nvPr/>
        </p:nvSpPr>
        <p:spPr>
          <a:xfrm>
            <a:off x="8167499" y="1959083"/>
            <a:ext cx="2612016" cy="157162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Training Set</a:t>
            </a:r>
            <a:endParaRPr lang="zh-TW" altLang="en-US" sz="3600" dirty="0"/>
          </a:p>
        </p:txBody>
      </p:sp>
      <p:sp>
        <p:nvSpPr>
          <p:cNvPr id="256" name="橢圓 255"/>
          <p:cNvSpPr/>
          <p:nvPr/>
        </p:nvSpPr>
        <p:spPr>
          <a:xfrm>
            <a:off x="4267182" y="3948764"/>
            <a:ext cx="1890000" cy="108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Set</a:t>
            </a:r>
            <a:r>
              <a:rPr lang="zh-TW" altLang="en-US" sz="3600" dirty="0"/>
              <a:t> </a:t>
            </a:r>
            <a:r>
              <a:rPr lang="en-US" altLang="zh-TW" sz="3600" dirty="0"/>
              <a:t>1</a:t>
            </a:r>
          </a:p>
        </p:txBody>
      </p:sp>
      <p:sp>
        <p:nvSpPr>
          <p:cNvPr id="257" name="橢圓 256"/>
          <p:cNvSpPr/>
          <p:nvPr/>
        </p:nvSpPr>
        <p:spPr>
          <a:xfrm>
            <a:off x="6940256" y="3948764"/>
            <a:ext cx="1890000" cy="10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Set 2</a:t>
            </a:r>
            <a:endParaRPr lang="zh-TW" altLang="en-US" sz="3600" dirty="0"/>
          </a:p>
        </p:txBody>
      </p:sp>
      <p:sp>
        <p:nvSpPr>
          <p:cNvPr id="258" name="橢圓 257"/>
          <p:cNvSpPr/>
          <p:nvPr/>
        </p:nvSpPr>
        <p:spPr>
          <a:xfrm>
            <a:off x="9704595" y="3963977"/>
            <a:ext cx="1890000" cy="1080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Set 3</a:t>
            </a:r>
            <a:endParaRPr lang="zh-TW" altLang="en-US" sz="3600" dirty="0"/>
          </a:p>
        </p:txBody>
      </p:sp>
      <p:sp>
        <p:nvSpPr>
          <p:cNvPr id="259" name="橢圓 258"/>
          <p:cNvSpPr/>
          <p:nvPr/>
        </p:nvSpPr>
        <p:spPr>
          <a:xfrm>
            <a:off x="12462081" y="3963977"/>
            <a:ext cx="1890000" cy="1080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Set 4</a:t>
            </a:r>
            <a:endParaRPr lang="zh-TW" altLang="en-US" sz="3600" dirty="0"/>
          </a:p>
        </p:txBody>
      </p:sp>
      <p:cxnSp>
        <p:nvCxnSpPr>
          <p:cNvPr id="260" name="直線單箭頭接點 259"/>
          <p:cNvCxnSpPr/>
          <p:nvPr/>
        </p:nvCxnSpPr>
        <p:spPr>
          <a:xfrm flipH="1">
            <a:off x="5743577" y="2946636"/>
            <a:ext cx="2543939" cy="10173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線單箭頭接點 260"/>
          <p:cNvCxnSpPr/>
          <p:nvPr/>
        </p:nvCxnSpPr>
        <p:spPr>
          <a:xfrm flipH="1">
            <a:off x="7990175" y="3425352"/>
            <a:ext cx="718080" cy="6446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線單箭頭接點 261"/>
          <p:cNvCxnSpPr/>
          <p:nvPr/>
        </p:nvCxnSpPr>
        <p:spPr>
          <a:xfrm>
            <a:off x="10166033" y="3385544"/>
            <a:ext cx="249114" cy="7093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線單箭頭接點 262"/>
          <p:cNvCxnSpPr/>
          <p:nvPr/>
        </p:nvCxnSpPr>
        <p:spPr>
          <a:xfrm>
            <a:off x="10532675" y="2946636"/>
            <a:ext cx="2299014" cy="10920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線單箭頭接點 263"/>
          <p:cNvCxnSpPr/>
          <p:nvPr/>
        </p:nvCxnSpPr>
        <p:spPr>
          <a:xfrm flipH="1">
            <a:off x="13407081" y="4921019"/>
            <a:ext cx="0" cy="81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線單箭頭接點 264"/>
          <p:cNvCxnSpPr/>
          <p:nvPr/>
        </p:nvCxnSpPr>
        <p:spPr>
          <a:xfrm flipH="1">
            <a:off x="7885257" y="4908441"/>
            <a:ext cx="0" cy="81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線單箭頭接點 265"/>
          <p:cNvCxnSpPr/>
          <p:nvPr/>
        </p:nvCxnSpPr>
        <p:spPr>
          <a:xfrm flipH="1">
            <a:off x="10668264" y="4921019"/>
            <a:ext cx="0" cy="81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線單箭頭接點 266"/>
          <p:cNvCxnSpPr/>
          <p:nvPr/>
        </p:nvCxnSpPr>
        <p:spPr>
          <a:xfrm flipH="1">
            <a:off x="5212182" y="4864284"/>
            <a:ext cx="0" cy="81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bldLvl="0" animBg="1"/>
      <p:bldP spid="253" grpId="0" bldLvl="0" animBg="1"/>
      <p:bldP spid="254" grpId="0" bldLvl="0" animBg="1"/>
      <p:bldP spid="255" grpId="0" bldLvl="0" animBg="1"/>
      <p:bldP spid="5" grpId="0"/>
      <p:bldP spid="10" grpId="0" bldLvl="0" animBg="1"/>
      <p:bldP spid="256" grpId="0" bldLvl="0" animBg="1"/>
      <p:bldP spid="257" grpId="0" bldLvl="0" animBg="1"/>
      <p:bldP spid="258" grpId="0" bldLvl="0" animBg="1"/>
      <p:bldP spid="259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3251578" y="2753331"/>
            <a:ext cx="333102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Ensemble</a:t>
            </a:r>
            <a:endParaRPr lang="zh-TW" altLang="en-US" sz="4200" b="1" i="1" u="sng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02424" y="7817409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r>
              <a:rPr lang="en-US" altLang="zh-TW" sz="4200" baseline="-25000" dirty="0"/>
              <a:t>1</a:t>
            </a:r>
            <a:endParaRPr lang="zh-TW" altLang="en-US" sz="4200" baseline="-25000" dirty="0"/>
          </a:p>
        </p:txBody>
      </p:sp>
      <p:sp>
        <p:nvSpPr>
          <p:cNvPr id="27" name="矩形 26"/>
          <p:cNvSpPr/>
          <p:nvPr/>
        </p:nvSpPr>
        <p:spPr>
          <a:xfrm>
            <a:off x="4197770" y="5681132"/>
            <a:ext cx="2028825" cy="16859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6877697" y="5674284"/>
            <a:ext cx="2028825" cy="16859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29" name="矩形 28"/>
          <p:cNvSpPr/>
          <p:nvPr/>
        </p:nvSpPr>
        <p:spPr>
          <a:xfrm>
            <a:off x="9635183" y="5647086"/>
            <a:ext cx="2028825" cy="16859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30" name="矩形 29"/>
          <p:cNvSpPr/>
          <p:nvPr/>
        </p:nvSpPr>
        <p:spPr>
          <a:xfrm>
            <a:off x="12392669" y="5674284"/>
            <a:ext cx="2028825" cy="16859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Network</a:t>
            </a:r>
          </a:p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615541" y="3593652"/>
            <a:ext cx="36915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Testing data x</a:t>
            </a:r>
            <a:endParaRPr lang="zh-TW" altLang="en-US" sz="42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382350" y="7817409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r>
              <a:rPr lang="en-US" altLang="zh-TW" sz="4200" baseline="-25000" dirty="0"/>
              <a:t>2</a:t>
            </a:r>
            <a:endParaRPr lang="zh-TW" altLang="en-US" sz="4200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0158717" y="7817409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r>
              <a:rPr lang="en-US" altLang="zh-TW" sz="4200" baseline="-25000" dirty="0"/>
              <a:t>3</a:t>
            </a:r>
            <a:endParaRPr lang="zh-TW" altLang="en-US" sz="4200" baseline="-25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2935084" y="7817409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r>
              <a:rPr lang="en-US" altLang="zh-TW" sz="4200" baseline="-25000" dirty="0"/>
              <a:t>4</a:t>
            </a:r>
            <a:endParaRPr lang="zh-TW" altLang="en-US" sz="4200" baseline="-25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325200" y="9258087"/>
            <a:ext cx="369158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average</a:t>
            </a:r>
            <a:endParaRPr lang="zh-TW" altLang="en-US" sz="4200" dirty="0"/>
          </a:p>
        </p:txBody>
      </p:sp>
      <p:cxnSp>
        <p:nvCxnSpPr>
          <p:cNvPr id="36" name="直線單箭頭接點 35"/>
          <p:cNvCxnSpPr/>
          <p:nvPr/>
        </p:nvCxnSpPr>
        <p:spPr>
          <a:xfrm flipH="1">
            <a:off x="5543756" y="4430741"/>
            <a:ext cx="2915261" cy="11960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7814652" y="4487912"/>
            <a:ext cx="1091870" cy="13103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endCxn id="29" idx="0"/>
          </p:cNvCxnSpPr>
          <p:nvPr/>
        </p:nvCxnSpPr>
        <p:spPr>
          <a:xfrm>
            <a:off x="9635183" y="4549881"/>
            <a:ext cx="1014413" cy="10972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endCxn id="30" idx="0"/>
          </p:cNvCxnSpPr>
          <p:nvPr/>
        </p:nvCxnSpPr>
        <p:spPr>
          <a:xfrm>
            <a:off x="10101567" y="4430741"/>
            <a:ext cx="3305514" cy="12435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>
            <a:off x="13378506" y="7390161"/>
            <a:ext cx="0" cy="67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7856682" y="7377584"/>
            <a:ext cx="0" cy="67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>
            <a:off x="10639689" y="7390161"/>
            <a:ext cx="0" cy="67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>
            <a:off x="5183607" y="7333427"/>
            <a:ext cx="0" cy="67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269331" y="8632743"/>
            <a:ext cx="2783535" cy="10177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32" idx="2"/>
          </p:cNvCxnSpPr>
          <p:nvPr/>
        </p:nvCxnSpPr>
        <p:spPr>
          <a:xfrm>
            <a:off x="14210042" y="12832292"/>
            <a:ext cx="743022" cy="8304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34" idx="2"/>
          </p:cNvCxnSpPr>
          <p:nvPr/>
        </p:nvCxnSpPr>
        <p:spPr>
          <a:xfrm flipH="1">
            <a:off x="19156892" y="12832292"/>
            <a:ext cx="3382421" cy="10482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9521567" y="8545430"/>
            <a:ext cx="987791" cy="8872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/>
      <p:bldP spid="32" grpId="0"/>
      <p:bldP spid="33" grpId="0"/>
      <p:bldP spid="34" grpId="0"/>
      <p:bldP spid="3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grpSp>
        <p:nvGrpSpPr>
          <p:cNvPr id="448" name="群組 447"/>
          <p:cNvGrpSpPr/>
          <p:nvPr/>
        </p:nvGrpSpPr>
        <p:grpSpPr>
          <a:xfrm rot="5400000">
            <a:off x="1735937" y="5330615"/>
            <a:ext cx="4224843" cy="1924568"/>
            <a:chOff x="1660188" y="3148756"/>
            <a:chExt cx="2816562" cy="1283045"/>
          </a:xfrm>
        </p:grpSpPr>
        <p:sp>
          <p:nvSpPr>
            <p:cNvPr id="9" name="橢圓 8"/>
            <p:cNvSpPr/>
            <p:nvPr/>
          </p:nvSpPr>
          <p:spPr>
            <a:xfrm>
              <a:off x="2410717" y="3510713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3988727" y="346744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3988727" y="388028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60188" y="321514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6" name="直線單箭頭接點 15"/>
            <p:cNvCxnSpPr>
              <a:stCxn id="14" idx="3"/>
              <a:endCxn id="9" idx="2"/>
            </p:cNvCxnSpPr>
            <p:nvPr/>
          </p:nvCxnSpPr>
          <p:spPr>
            <a:xfrm>
              <a:off x="1791252" y="3280673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14" idx="3"/>
            </p:cNvCxnSpPr>
            <p:nvPr/>
          </p:nvCxnSpPr>
          <p:spPr>
            <a:xfrm>
              <a:off x="1791252" y="3280673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523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12" idx="2"/>
            </p:cNvCxnSpPr>
            <p:nvPr/>
          </p:nvCxnSpPr>
          <p:spPr>
            <a:xfrm>
              <a:off x="3530096" y="3269680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3" idx="2"/>
            </p:cNvCxnSpPr>
            <p:nvPr/>
          </p:nvCxnSpPr>
          <p:spPr>
            <a:xfrm>
              <a:off x="3530097" y="3291314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13" idx="2"/>
            </p:cNvCxnSpPr>
            <p:nvPr/>
          </p:nvCxnSpPr>
          <p:spPr>
            <a:xfrm>
              <a:off x="3530096" y="3662777"/>
              <a:ext cx="458631" cy="34298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endCxn id="13" idx="2"/>
            </p:cNvCxnSpPr>
            <p:nvPr/>
          </p:nvCxnSpPr>
          <p:spPr>
            <a:xfrm>
              <a:off x="3530097" y="3979799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endCxn id="12" idx="2"/>
            </p:cNvCxnSpPr>
            <p:nvPr/>
          </p:nvCxnSpPr>
          <p:spPr>
            <a:xfrm flipV="1">
              <a:off x="3530096" y="3592920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endCxn id="13" idx="2"/>
            </p:cNvCxnSpPr>
            <p:nvPr/>
          </p:nvCxnSpPr>
          <p:spPr>
            <a:xfrm flipV="1">
              <a:off x="3530097" y="4005760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橢圓 31"/>
            <p:cNvSpPr/>
            <p:nvPr/>
          </p:nvSpPr>
          <p:spPr>
            <a:xfrm>
              <a:off x="3279148" y="314875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3" name="橢圓 32"/>
            <p:cNvSpPr/>
            <p:nvPr/>
          </p:nvSpPr>
          <p:spPr>
            <a:xfrm>
              <a:off x="3279148" y="349363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3279148" y="38372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3279148" y="41808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1660188" y="392490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7" name="矩形 36"/>
            <p:cNvSpPr/>
            <p:nvPr/>
          </p:nvSpPr>
          <p:spPr>
            <a:xfrm>
              <a:off x="1660188" y="42592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0" name="直線單箭頭接點 39"/>
            <p:cNvCxnSpPr>
              <a:stCxn id="37" idx="3"/>
            </p:cNvCxnSpPr>
            <p:nvPr/>
          </p:nvCxnSpPr>
          <p:spPr>
            <a:xfrm flipV="1">
              <a:off x="1791252" y="3979799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7" idx="3"/>
              <a:endCxn id="9" idx="2"/>
            </p:cNvCxnSpPr>
            <p:nvPr/>
          </p:nvCxnSpPr>
          <p:spPr>
            <a:xfrm flipV="1">
              <a:off x="1791252" y="3636188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6" idx="3"/>
              <a:endCxn id="9" idx="2"/>
            </p:cNvCxnSpPr>
            <p:nvPr/>
          </p:nvCxnSpPr>
          <p:spPr>
            <a:xfrm flipV="1">
              <a:off x="1791252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>
              <a:off x="2661666" y="3619104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2661666" y="3619104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2661666" y="3619104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2661666" y="3990440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 flipV="1">
              <a:off x="2661666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 flipV="1">
              <a:off x="2661666" y="3291314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>
              <a:off x="4247435" y="359910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4247435" y="40129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/>
            <p:nvPr/>
          </p:nvCxnSpPr>
          <p:spPr>
            <a:xfrm flipV="1">
              <a:off x="1797739" y="3986049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V="1">
              <a:off x="2678739" y="397915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9" idx="6"/>
              <a:endCxn id="32" idx="2"/>
            </p:cNvCxnSpPr>
            <p:nvPr/>
          </p:nvCxnSpPr>
          <p:spPr>
            <a:xfrm flipV="1">
              <a:off x="2661666" y="3274230"/>
              <a:ext cx="617482" cy="361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橢圓 248"/>
            <p:cNvSpPr/>
            <p:nvPr/>
          </p:nvSpPr>
          <p:spPr>
            <a:xfrm>
              <a:off x="2406838" y="383557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sp>
        <p:nvSpPr>
          <p:cNvPr id="269" name="矩形 268"/>
          <p:cNvSpPr/>
          <p:nvPr/>
        </p:nvSpPr>
        <p:spPr>
          <a:xfrm>
            <a:off x="12661677" y="2658818"/>
            <a:ext cx="3289072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4200" b="1" i="1" u="sng" dirty="0"/>
              <a:t>Training of Dropout</a:t>
            </a:r>
            <a:endParaRPr lang="en-US" altLang="zh-TW" sz="4200" dirty="0"/>
          </a:p>
        </p:txBody>
      </p:sp>
      <p:grpSp>
        <p:nvGrpSpPr>
          <p:cNvPr id="451" name="群組 450"/>
          <p:cNvGrpSpPr/>
          <p:nvPr/>
        </p:nvGrpSpPr>
        <p:grpSpPr>
          <a:xfrm rot="5400000">
            <a:off x="6572954" y="5343429"/>
            <a:ext cx="4224843" cy="1898942"/>
            <a:chOff x="5222538" y="3182974"/>
            <a:chExt cx="2816562" cy="1265961"/>
          </a:xfrm>
        </p:grpSpPr>
        <p:sp>
          <p:nvSpPr>
            <p:cNvPr id="278" name="橢圓 277"/>
            <p:cNvSpPr/>
            <p:nvPr/>
          </p:nvSpPr>
          <p:spPr>
            <a:xfrm>
              <a:off x="5973067" y="318297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9" name="橢圓 278"/>
            <p:cNvSpPr/>
            <p:nvPr/>
          </p:nvSpPr>
          <p:spPr>
            <a:xfrm>
              <a:off x="5973067" y="352784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0" name="橢圓 279"/>
            <p:cNvSpPr/>
            <p:nvPr/>
          </p:nvSpPr>
          <p:spPr>
            <a:xfrm>
              <a:off x="7551077" y="348457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1" name="橢圓 280"/>
            <p:cNvSpPr/>
            <p:nvPr/>
          </p:nvSpPr>
          <p:spPr>
            <a:xfrm>
              <a:off x="7551077" y="389741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2" name="矩形 281"/>
            <p:cNvSpPr/>
            <p:nvPr/>
          </p:nvSpPr>
          <p:spPr>
            <a:xfrm>
              <a:off x="5222538" y="323227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283" name="直線單箭頭接點 282"/>
            <p:cNvCxnSpPr>
              <a:stCxn id="282" idx="3"/>
              <a:endCxn id="278" idx="2"/>
            </p:cNvCxnSpPr>
            <p:nvPr/>
          </p:nvCxnSpPr>
          <p:spPr>
            <a:xfrm>
              <a:off x="5353602" y="3297807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線單箭頭接點 283"/>
            <p:cNvCxnSpPr>
              <a:stCxn id="282" idx="3"/>
              <a:endCxn id="279" idx="2"/>
            </p:cNvCxnSpPr>
            <p:nvPr/>
          </p:nvCxnSpPr>
          <p:spPr>
            <a:xfrm>
              <a:off x="5353602" y="3297807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線單箭頭接點 284"/>
            <p:cNvCxnSpPr>
              <a:stCxn id="282" idx="3"/>
            </p:cNvCxnSpPr>
            <p:nvPr/>
          </p:nvCxnSpPr>
          <p:spPr>
            <a:xfrm>
              <a:off x="5353602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線單箭頭接點 290"/>
            <p:cNvCxnSpPr>
              <a:endCxn id="280" idx="2"/>
            </p:cNvCxnSpPr>
            <p:nvPr/>
          </p:nvCxnSpPr>
          <p:spPr>
            <a:xfrm flipV="1">
              <a:off x="7092447" y="3610054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線單箭頭接點 291"/>
            <p:cNvCxnSpPr>
              <a:endCxn id="281" idx="2"/>
            </p:cNvCxnSpPr>
            <p:nvPr/>
          </p:nvCxnSpPr>
          <p:spPr>
            <a:xfrm>
              <a:off x="7092447" y="3996933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線單箭頭接點 292"/>
            <p:cNvCxnSpPr>
              <a:endCxn id="280" idx="2"/>
            </p:cNvCxnSpPr>
            <p:nvPr/>
          </p:nvCxnSpPr>
          <p:spPr>
            <a:xfrm flipV="1">
              <a:off x="7092446" y="3610054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線單箭頭接點 293"/>
            <p:cNvCxnSpPr>
              <a:endCxn id="281" idx="2"/>
            </p:cNvCxnSpPr>
            <p:nvPr/>
          </p:nvCxnSpPr>
          <p:spPr>
            <a:xfrm flipV="1">
              <a:off x="7092447" y="4022894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線單箭頭接點 294"/>
            <p:cNvCxnSpPr>
              <a:stCxn id="299" idx="2"/>
              <a:endCxn id="278" idx="2"/>
            </p:cNvCxnSpPr>
            <p:nvPr/>
          </p:nvCxnSpPr>
          <p:spPr>
            <a:xfrm flipV="1">
              <a:off x="5288070" y="3308448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線單箭頭接點 295"/>
            <p:cNvCxnSpPr>
              <a:stCxn id="299" idx="3"/>
              <a:endCxn id="279" idx="2"/>
            </p:cNvCxnSpPr>
            <p:nvPr/>
          </p:nvCxnSpPr>
          <p:spPr>
            <a:xfrm>
              <a:off x="5353602" y="3636238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線單箭頭接點 296"/>
            <p:cNvCxnSpPr>
              <a:stCxn id="299" idx="3"/>
            </p:cNvCxnSpPr>
            <p:nvPr/>
          </p:nvCxnSpPr>
          <p:spPr>
            <a:xfrm>
              <a:off x="5353602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矩形 298"/>
            <p:cNvSpPr/>
            <p:nvPr/>
          </p:nvSpPr>
          <p:spPr>
            <a:xfrm>
              <a:off x="5222538" y="357070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2" name="橢圓 301"/>
            <p:cNvSpPr/>
            <p:nvPr/>
          </p:nvSpPr>
          <p:spPr>
            <a:xfrm>
              <a:off x="6841498" y="385437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03" name="橢圓 302"/>
            <p:cNvSpPr/>
            <p:nvPr/>
          </p:nvSpPr>
          <p:spPr>
            <a:xfrm>
              <a:off x="6841498" y="419798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04" name="矩形 303"/>
            <p:cNvSpPr/>
            <p:nvPr/>
          </p:nvSpPr>
          <p:spPr>
            <a:xfrm>
              <a:off x="5222538" y="39420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5" name="矩形 304"/>
            <p:cNvSpPr/>
            <p:nvPr/>
          </p:nvSpPr>
          <p:spPr>
            <a:xfrm>
              <a:off x="5222538" y="427637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08" name="直線單箭頭接點 307"/>
            <p:cNvCxnSpPr>
              <a:stCxn id="305" idx="3"/>
            </p:cNvCxnSpPr>
            <p:nvPr/>
          </p:nvCxnSpPr>
          <p:spPr>
            <a:xfrm flipV="1">
              <a:off x="5353602" y="3996933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線單箭頭接點 308"/>
            <p:cNvCxnSpPr>
              <a:stCxn id="305" idx="3"/>
              <a:endCxn id="279" idx="2"/>
            </p:cNvCxnSpPr>
            <p:nvPr/>
          </p:nvCxnSpPr>
          <p:spPr>
            <a:xfrm flipV="1">
              <a:off x="5353602" y="3653322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線單箭頭接點 309"/>
            <p:cNvCxnSpPr>
              <a:stCxn id="305" idx="3"/>
              <a:endCxn id="278" idx="2"/>
            </p:cNvCxnSpPr>
            <p:nvPr/>
          </p:nvCxnSpPr>
          <p:spPr>
            <a:xfrm flipV="1">
              <a:off x="5353602" y="3308448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線單箭頭接點 310"/>
            <p:cNvCxnSpPr>
              <a:stCxn id="304" idx="3"/>
              <a:endCxn id="279" idx="2"/>
            </p:cNvCxnSpPr>
            <p:nvPr/>
          </p:nvCxnSpPr>
          <p:spPr>
            <a:xfrm flipV="1">
              <a:off x="5353602" y="3653322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線單箭頭接點 311"/>
            <p:cNvCxnSpPr>
              <a:stCxn id="304" idx="3"/>
              <a:endCxn id="278" idx="2"/>
            </p:cNvCxnSpPr>
            <p:nvPr/>
          </p:nvCxnSpPr>
          <p:spPr>
            <a:xfrm flipV="1">
              <a:off x="5353602" y="3308448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線單箭頭接點 314"/>
            <p:cNvCxnSpPr/>
            <p:nvPr/>
          </p:nvCxnSpPr>
          <p:spPr>
            <a:xfrm>
              <a:off x="6224016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線單箭頭接點 315"/>
            <p:cNvCxnSpPr/>
            <p:nvPr/>
          </p:nvCxnSpPr>
          <p:spPr>
            <a:xfrm>
              <a:off x="6224016" y="3297807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線單箭頭接點 317"/>
            <p:cNvCxnSpPr/>
            <p:nvPr/>
          </p:nvCxnSpPr>
          <p:spPr>
            <a:xfrm>
              <a:off x="6224016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線單箭頭接點 318"/>
            <p:cNvCxnSpPr/>
            <p:nvPr/>
          </p:nvCxnSpPr>
          <p:spPr>
            <a:xfrm>
              <a:off x="6224016" y="3636238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線單箭頭接點 320"/>
            <p:cNvCxnSpPr/>
            <p:nvPr/>
          </p:nvCxnSpPr>
          <p:spPr>
            <a:xfrm>
              <a:off x="6224016" y="4007574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線單箭頭接點 326"/>
            <p:cNvCxnSpPr/>
            <p:nvPr/>
          </p:nvCxnSpPr>
          <p:spPr>
            <a:xfrm>
              <a:off x="7809785" y="3616240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線單箭頭接點 327"/>
            <p:cNvCxnSpPr/>
            <p:nvPr/>
          </p:nvCxnSpPr>
          <p:spPr>
            <a:xfrm>
              <a:off x="7809785" y="403003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線單箭頭接點 274"/>
            <p:cNvCxnSpPr/>
            <p:nvPr/>
          </p:nvCxnSpPr>
          <p:spPr>
            <a:xfrm flipV="1">
              <a:off x="5360089" y="4003183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線單箭頭接點 275"/>
            <p:cNvCxnSpPr/>
            <p:nvPr/>
          </p:nvCxnSpPr>
          <p:spPr>
            <a:xfrm flipV="1">
              <a:off x="6241089" y="3996286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橢圓 271"/>
            <p:cNvSpPr/>
            <p:nvPr/>
          </p:nvSpPr>
          <p:spPr>
            <a:xfrm>
              <a:off x="5969188" y="385271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grpSp>
        <p:nvGrpSpPr>
          <p:cNvPr id="450" name="群組 449"/>
          <p:cNvGrpSpPr/>
          <p:nvPr/>
        </p:nvGrpSpPr>
        <p:grpSpPr>
          <a:xfrm rot="5400000">
            <a:off x="4364963" y="5545103"/>
            <a:ext cx="4224843" cy="1448427"/>
            <a:chOff x="1660188" y="5222258"/>
            <a:chExt cx="2816562" cy="965618"/>
          </a:xfrm>
        </p:grpSpPr>
        <p:sp>
          <p:nvSpPr>
            <p:cNvPr id="339" name="橢圓 338"/>
            <p:cNvSpPr/>
            <p:nvPr/>
          </p:nvSpPr>
          <p:spPr>
            <a:xfrm>
              <a:off x="3988727" y="522225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40" name="橢圓 339"/>
            <p:cNvSpPr/>
            <p:nvPr/>
          </p:nvSpPr>
          <p:spPr>
            <a:xfrm>
              <a:off x="3988727" y="563509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cxnSp>
          <p:nvCxnSpPr>
            <p:cNvPr id="350" name="直線單箭頭接點 349"/>
            <p:cNvCxnSpPr>
              <a:endCxn id="339" idx="2"/>
            </p:cNvCxnSpPr>
            <p:nvPr/>
          </p:nvCxnSpPr>
          <p:spPr>
            <a:xfrm flipV="1">
              <a:off x="3530097" y="5347733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線單箭頭接點 350"/>
            <p:cNvCxnSpPr>
              <a:endCxn id="340" idx="2"/>
            </p:cNvCxnSpPr>
            <p:nvPr/>
          </p:nvCxnSpPr>
          <p:spPr>
            <a:xfrm>
              <a:off x="3530097" y="5734612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線單箭頭接點 351"/>
            <p:cNvCxnSpPr>
              <a:endCxn id="339" idx="2"/>
            </p:cNvCxnSpPr>
            <p:nvPr/>
          </p:nvCxnSpPr>
          <p:spPr>
            <a:xfrm flipV="1">
              <a:off x="3530096" y="5347733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線單箭頭接點 352"/>
            <p:cNvCxnSpPr>
              <a:endCxn id="340" idx="2"/>
            </p:cNvCxnSpPr>
            <p:nvPr/>
          </p:nvCxnSpPr>
          <p:spPr>
            <a:xfrm flipV="1">
              <a:off x="3530097" y="5760573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橢圓 360"/>
            <p:cNvSpPr/>
            <p:nvPr/>
          </p:nvSpPr>
          <p:spPr>
            <a:xfrm>
              <a:off x="3279148" y="559205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2" name="橢圓 361"/>
            <p:cNvSpPr/>
            <p:nvPr/>
          </p:nvSpPr>
          <p:spPr>
            <a:xfrm>
              <a:off x="3279148" y="593566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3" name="矩形 362"/>
            <p:cNvSpPr/>
            <p:nvPr/>
          </p:nvSpPr>
          <p:spPr>
            <a:xfrm>
              <a:off x="1660188" y="567972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64" name="矩形 363"/>
            <p:cNvSpPr/>
            <p:nvPr/>
          </p:nvSpPr>
          <p:spPr>
            <a:xfrm>
              <a:off x="1660188" y="601405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65" name="直線單箭頭接點 364"/>
            <p:cNvCxnSpPr>
              <a:stCxn id="364" idx="3"/>
            </p:cNvCxnSpPr>
            <p:nvPr/>
          </p:nvCxnSpPr>
          <p:spPr>
            <a:xfrm flipV="1">
              <a:off x="1791252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線單箭頭接點 365"/>
            <p:cNvCxnSpPr>
              <a:stCxn id="363" idx="3"/>
            </p:cNvCxnSpPr>
            <p:nvPr/>
          </p:nvCxnSpPr>
          <p:spPr>
            <a:xfrm>
              <a:off x="1791252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線單箭頭接點 366"/>
            <p:cNvCxnSpPr>
              <a:stCxn id="364" idx="3"/>
            </p:cNvCxnSpPr>
            <p:nvPr/>
          </p:nvCxnSpPr>
          <p:spPr>
            <a:xfrm flipV="1">
              <a:off x="1791252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線單箭頭接點 378"/>
            <p:cNvCxnSpPr/>
            <p:nvPr/>
          </p:nvCxnSpPr>
          <p:spPr>
            <a:xfrm flipV="1">
              <a:off x="2661666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線單箭頭接點 379"/>
            <p:cNvCxnSpPr/>
            <p:nvPr/>
          </p:nvCxnSpPr>
          <p:spPr>
            <a:xfrm>
              <a:off x="2661666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線單箭頭接點 380"/>
            <p:cNvCxnSpPr/>
            <p:nvPr/>
          </p:nvCxnSpPr>
          <p:spPr>
            <a:xfrm flipV="1">
              <a:off x="2661666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線單箭頭接點 385"/>
            <p:cNvCxnSpPr/>
            <p:nvPr/>
          </p:nvCxnSpPr>
          <p:spPr>
            <a:xfrm>
              <a:off x="4247435" y="5353919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線單箭頭接點 386"/>
            <p:cNvCxnSpPr/>
            <p:nvPr/>
          </p:nvCxnSpPr>
          <p:spPr>
            <a:xfrm>
              <a:off x="4247435" y="5767715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線單箭頭接點 333"/>
            <p:cNvCxnSpPr/>
            <p:nvPr/>
          </p:nvCxnSpPr>
          <p:spPr>
            <a:xfrm flipV="1">
              <a:off x="1797739" y="574086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線單箭頭接點 334"/>
            <p:cNvCxnSpPr/>
            <p:nvPr/>
          </p:nvCxnSpPr>
          <p:spPr>
            <a:xfrm flipV="1">
              <a:off x="2678739" y="5733965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橢圓 330"/>
            <p:cNvSpPr/>
            <p:nvPr/>
          </p:nvSpPr>
          <p:spPr>
            <a:xfrm>
              <a:off x="2406838" y="559039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32" name="橢圓 331"/>
            <p:cNvSpPr/>
            <p:nvPr/>
          </p:nvSpPr>
          <p:spPr>
            <a:xfrm>
              <a:off x="2405946" y="593692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sp>
        <p:nvSpPr>
          <p:cNvPr id="447" name="文字方塊 446"/>
          <p:cNvSpPr txBox="1"/>
          <p:nvPr/>
        </p:nvSpPr>
        <p:spPr>
          <a:xfrm>
            <a:off x="2774237" y="2778198"/>
            <a:ext cx="2160000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chemeClr val="tx1"/>
                </a:solidFill>
              </a:rPr>
              <a:t>minibatch</a:t>
            </a:r>
            <a:r>
              <a:rPr lang="en-US" altLang="zh-TW" sz="3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1</a:t>
            </a:r>
            <a:endParaRPr lang="zh-TW" altLang="en-US" sz="3600" baseline="-25000" dirty="0">
              <a:solidFill>
                <a:schemeClr val="tx1"/>
              </a:solidFill>
            </a:endParaRPr>
          </a:p>
        </p:txBody>
      </p:sp>
      <p:grpSp>
        <p:nvGrpSpPr>
          <p:cNvPr id="452" name="群組 451"/>
          <p:cNvGrpSpPr/>
          <p:nvPr/>
        </p:nvGrpSpPr>
        <p:grpSpPr>
          <a:xfrm rot="5400000">
            <a:off x="9758963" y="4802190"/>
            <a:ext cx="4224843" cy="3039425"/>
            <a:chOff x="5238336" y="4137476"/>
            <a:chExt cx="2816562" cy="2026283"/>
          </a:xfrm>
        </p:grpSpPr>
        <p:sp>
          <p:nvSpPr>
            <p:cNvPr id="396" name="橢圓 395"/>
            <p:cNvSpPr/>
            <p:nvPr/>
          </p:nvSpPr>
          <p:spPr>
            <a:xfrm>
              <a:off x="5988865" y="489653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98" name="橢圓 397"/>
            <p:cNvSpPr/>
            <p:nvPr/>
          </p:nvSpPr>
          <p:spPr>
            <a:xfrm>
              <a:off x="7566875" y="51981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99" name="橢圓 398"/>
            <p:cNvSpPr/>
            <p:nvPr/>
          </p:nvSpPr>
          <p:spPr>
            <a:xfrm>
              <a:off x="7566875" y="561098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400" name="矩形 399"/>
            <p:cNvSpPr/>
            <p:nvPr/>
          </p:nvSpPr>
          <p:spPr>
            <a:xfrm>
              <a:off x="5238336" y="4945837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01" name="直線單箭頭接點 400"/>
            <p:cNvCxnSpPr>
              <a:stCxn id="400" idx="3"/>
              <a:endCxn id="396" idx="2"/>
            </p:cNvCxnSpPr>
            <p:nvPr/>
          </p:nvCxnSpPr>
          <p:spPr>
            <a:xfrm>
              <a:off x="5369400" y="5011369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線單箭頭接點 403"/>
            <p:cNvCxnSpPr>
              <a:stCxn id="400" idx="3"/>
            </p:cNvCxnSpPr>
            <p:nvPr/>
          </p:nvCxnSpPr>
          <p:spPr>
            <a:xfrm>
              <a:off x="5369400" y="5011369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線單箭頭接點 405"/>
            <p:cNvCxnSpPr>
              <a:endCxn id="398" idx="2"/>
            </p:cNvCxnSpPr>
            <p:nvPr/>
          </p:nvCxnSpPr>
          <p:spPr>
            <a:xfrm>
              <a:off x="7108244" y="5000376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線單箭頭接點 406"/>
            <p:cNvCxnSpPr>
              <a:endCxn id="399" idx="2"/>
            </p:cNvCxnSpPr>
            <p:nvPr/>
          </p:nvCxnSpPr>
          <p:spPr>
            <a:xfrm>
              <a:off x="7108245" y="5022010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線單箭頭接點 410"/>
            <p:cNvCxnSpPr>
              <a:endCxn id="398" idx="2"/>
            </p:cNvCxnSpPr>
            <p:nvPr/>
          </p:nvCxnSpPr>
          <p:spPr>
            <a:xfrm flipV="1">
              <a:off x="7108244" y="5323616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線單箭頭接點 411"/>
            <p:cNvCxnSpPr>
              <a:endCxn id="399" idx="2"/>
            </p:cNvCxnSpPr>
            <p:nvPr/>
          </p:nvCxnSpPr>
          <p:spPr>
            <a:xfrm flipV="1">
              <a:off x="7108245" y="5736456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線單箭頭接點 412"/>
            <p:cNvCxnSpPr>
              <a:stCxn id="417" idx="2"/>
              <a:endCxn id="396" idx="2"/>
            </p:cNvCxnSpPr>
            <p:nvPr/>
          </p:nvCxnSpPr>
          <p:spPr>
            <a:xfrm flipV="1">
              <a:off x="5303868" y="5022010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線單箭頭接點 415"/>
            <p:cNvCxnSpPr>
              <a:stCxn id="417" idx="3"/>
            </p:cNvCxnSpPr>
            <p:nvPr/>
          </p:nvCxnSpPr>
          <p:spPr>
            <a:xfrm>
              <a:off x="5369400" y="5349800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矩形 416"/>
            <p:cNvSpPr/>
            <p:nvPr/>
          </p:nvSpPr>
          <p:spPr>
            <a:xfrm>
              <a:off x="5238336" y="528426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18" name="橢圓 417"/>
            <p:cNvSpPr/>
            <p:nvPr/>
          </p:nvSpPr>
          <p:spPr>
            <a:xfrm>
              <a:off x="6857296" y="48794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21" name="橢圓 420"/>
            <p:cNvSpPr/>
            <p:nvPr/>
          </p:nvSpPr>
          <p:spPr>
            <a:xfrm>
              <a:off x="6857296" y="591154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422" name="矩形 421"/>
            <p:cNvSpPr/>
            <p:nvPr/>
          </p:nvSpPr>
          <p:spPr>
            <a:xfrm>
              <a:off x="5238336" y="5655604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23" name="矩形 422"/>
            <p:cNvSpPr/>
            <p:nvPr/>
          </p:nvSpPr>
          <p:spPr>
            <a:xfrm>
              <a:off x="5238336" y="598993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24" name="直線單箭頭接點 423"/>
            <p:cNvCxnSpPr>
              <a:stCxn id="423" idx="3"/>
            </p:cNvCxnSpPr>
            <p:nvPr/>
          </p:nvCxnSpPr>
          <p:spPr>
            <a:xfrm flipV="1">
              <a:off x="5369400" y="6054106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線單箭頭接點 424"/>
            <p:cNvCxnSpPr>
              <a:stCxn id="422" idx="3"/>
            </p:cNvCxnSpPr>
            <p:nvPr/>
          </p:nvCxnSpPr>
          <p:spPr>
            <a:xfrm>
              <a:off x="5369400" y="5721136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線單箭頭接點 427"/>
            <p:cNvCxnSpPr>
              <a:stCxn id="423" idx="3"/>
              <a:endCxn id="396" idx="2"/>
            </p:cNvCxnSpPr>
            <p:nvPr/>
          </p:nvCxnSpPr>
          <p:spPr>
            <a:xfrm flipV="1">
              <a:off x="5369400" y="5022010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線單箭頭接點 429"/>
            <p:cNvCxnSpPr>
              <a:stCxn id="422" idx="3"/>
              <a:endCxn id="396" idx="2"/>
            </p:cNvCxnSpPr>
            <p:nvPr/>
          </p:nvCxnSpPr>
          <p:spPr>
            <a:xfrm flipV="1">
              <a:off x="5369400" y="5022010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線單箭頭接點 430"/>
            <p:cNvCxnSpPr/>
            <p:nvPr/>
          </p:nvCxnSpPr>
          <p:spPr>
            <a:xfrm>
              <a:off x="6239814" y="5011369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線單箭頭接點 433"/>
            <p:cNvCxnSpPr/>
            <p:nvPr/>
          </p:nvCxnSpPr>
          <p:spPr>
            <a:xfrm>
              <a:off x="6239814" y="5011369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線單箭頭接點 437"/>
            <p:cNvCxnSpPr/>
            <p:nvPr/>
          </p:nvCxnSpPr>
          <p:spPr>
            <a:xfrm flipV="1">
              <a:off x="6239814" y="6054106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線單箭頭接點 441"/>
            <p:cNvCxnSpPr/>
            <p:nvPr/>
          </p:nvCxnSpPr>
          <p:spPr>
            <a:xfrm flipV="1">
              <a:off x="6239814" y="5022010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線單箭頭接點 444"/>
            <p:cNvCxnSpPr/>
            <p:nvPr/>
          </p:nvCxnSpPr>
          <p:spPr>
            <a:xfrm>
              <a:off x="7825583" y="53298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線單箭頭接點 445"/>
            <p:cNvCxnSpPr/>
            <p:nvPr/>
          </p:nvCxnSpPr>
          <p:spPr>
            <a:xfrm>
              <a:off x="7825583" y="5743598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橢圓 390"/>
            <p:cNvSpPr/>
            <p:nvPr/>
          </p:nvSpPr>
          <p:spPr>
            <a:xfrm>
              <a:off x="5984094" y="591281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449" name="文字方塊 448"/>
            <p:cNvSpPr txBox="1"/>
            <p:nvPr/>
          </p:nvSpPr>
          <p:spPr>
            <a:xfrm>
              <a:off x="6063855" y="4137476"/>
              <a:ext cx="964273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</p:grpSp>
      <p:sp>
        <p:nvSpPr>
          <p:cNvPr id="453" name="文字方塊 452"/>
          <p:cNvSpPr txBox="1"/>
          <p:nvPr/>
        </p:nvSpPr>
        <p:spPr>
          <a:xfrm>
            <a:off x="3063050" y="8612939"/>
            <a:ext cx="11027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4200" dirty="0"/>
              <a:t>Using one mini-batch to train one network</a:t>
            </a:r>
            <a:endParaRPr lang="zh-TW" altLang="en-US" sz="4200" dirty="0"/>
          </a:p>
        </p:txBody>
      </p:sp>
      <p:sp>
        <p:nvSpPr>
          <p:cNvPr id="454" name="文字方塊 453"/>
          <p:cNvSpPr txBox="1"/>
          <p:nvPr/>
        </p:nvSpPr>
        <p:spPr>
          <a:xfrm>
            <a:off x="3025154" y="9308379"/>
            <a:ext cx="112756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4200" dirty="0"/>
              <a:t>Some parameters in the network are shared</a:t>
            </a:r>
            <a:endParaRPr lang="zh-TW" altLang="en-US" sz="4200" dirty="0"/>
          </a:p>
        </p:txBody>
      </p:sp>
      <p:sp>
        <p:nvSpPr>
          <p:cNvPr id="455" name="文字方塊 454"/>
          <p:cNvSpPr txBox="1"/>
          <p:nvPr/>
        </p:nvSpPr>
        <p:spPr>
          <a:xfrm>
            <a:off x="5260386" y="2771706"/>
            <a:ext cx="2160000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chemeClr val="tx1"/>
                </a:solidFill>
              </a:rPr>
              <a:t>minibatch</a:t>
            </a:r>
            <a:r>
              <a:rPr lang="en-US" altLang="zh-TW" sz="3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2</a:t>
            </a:r>
            <a:endParaRPr lang="zh-TW" altLang="en-US" sz="3600" baseline="-25000" dirty="0">
              <a:solidFill>
                <a:schemeClr val="tx1"/>
              </a:solidFill>
            </a:endParaRPr>
          </a:p>
        </p:txBody>
      </p:sp>
      <p:sp>
        <p:nvSpPr>
          <p:cNvPr id="456" name="文字方塊 455"/>
          <p:cNvSpPr txBox="1"/>
          <p:nvPr/>
        </p:nvSpPr>
        <p:spPr>
          <a:xfrm>
            <a:off x="7737987" y="2778198"/>
            <a:ext cx="2160000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chemeClr val="tx1"/>
                </a:solidFill>
              </a:rPr>
              <a:t>minibatch</a:t>
            </a:r>
            <a:r>
              <a:rPr lang="en-US" altLang="zh-TW" sz="3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3</a:t>
            </a:r>
            <a:endParaRPr lang="zh-TW" altLang="en-US" sz="3600" baseline="-25000" dirty="0">
              <a:solidFill>
                <a:schemeClr val="tx1"/>
              </a:solidFill>
            </a:endParaRPr>
          </a:p>
        </p:txBody>
      </p:sp>
      <p:sp>
        <p:nvSpPr>
          <p:cNvPr id="457" name="文字方塊 456"/>
          <p:cNvSpPr txBox="1"/>
          <p:nvPr/>
        </p:nvSpPr>
        <p:spPr>
          <a:xfrm>
            <a:off x="10211424" y="2751152"/>
            <a:ext cx="2160000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chemeClr val="tx1"/>
                </a:solidFill>
              </a:rPr>
              <a:t>minibatch</a:t>
            </a:r>
            <a:r>
              <a:rPr lang="en-US" altLang="zh-TW" sz="3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4</a:t>
            </a:r>
            <a:endParaRPr lang="zh-TW" altLang="en-US" sz="3600" baseline="-25000" dirty="0">
              <a:solidFill>
                <a:schemeClr val="tx1"/>
              </a:solidFill>
            </a:endParaRPr>
          </a:p>
        </p:txBody>
      </p:sp>
      <p:sp>
        <p:nvSpPr>
          <p:cNvPr id="515" name="文字方塊 514"/>
          <p:cNvSpPr txBox="1"/>
          <p:nvPr/>
        </p:nvSpPr>
        <p:spPr>
          <a:xfrm>
            <a:off x="12987248" y="4469795"/>
            <a:ext cx="27432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M neurons</a:t>
            </a:r>
            <a:endParaRPr lang="zh-TW" altLang="en-US" sz="4200" dirty="0"/>
          </a:p>
        </p:txBody>
      </p:sp>
      <p:sp>
        <p:nvSpPr>
          <p:cNvPr id="516" name="文字方塊 515"/>
          <p:cNvSpPr txBox="1"/>
          <p:nvPr/>
        </p:nvSpPr>
        <p:spPr>
          <a:xfrm>
            <a:off x="12987248" y="6585335"/>
            <a:ext cx="27432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2</a:t>
            </a:r>
            <a:r>
              <a:rPr lang="en-US" altLang="zh-TW" sz="4200" baseline="30000" dirty="0"/>
              <a:t>M </a:t>
            </a:r>
            <a:r>
              <a:rPr lang="en-US" altLang="zh-TW" sz="4200" dirty="0"/>
              <a:t>possible networks</a:t>
            </a:r>
            <a:endParaRPr lang="zh-TW" altLang="en-US" sz="4200" baseline="30000" dirty="0"/>
          </a:p>
        </p:txBody>
      </p:sp>
      <p:sp>
        <p:nvSpPr>
          <p:cNvPr id="517" name="向下箭號 516"/>
          <p:cNvSpPr/>
          <p:nvPr/>
        </p:nvSpPr>
        <p:spPr>
          <a:xfrm>
            <a:off x="13962864" y="5254625"/>
            <a:ext cx="752811" cy="133071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/>
      <p:bldP spid="447" grpId="0" bldLvl="0" animBg="1"/>
      <p:bldP spid="453" grpId="0"/>
      <p:bldP spid="454" grpId="0"/>
      <p:bldP spid="455" grpId="0" bldLvl="0" animBg="1"/>
      <p:bldP spid="456" grpId="0" bldLvl="0" animBg="1"/>
      <p:bldP spid="457" grpId="0" bldLvl="0" animBg="1"/>
      <p:bldP spid="515" grpId="0"/>
      <p:bldP spid="516" grpId="0"/>
      <p:bldP spid="517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0629284" y="3773873"/>
            <a:ext cx="4996116" cy="48731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Dropout is a kind of ensemble.</a:t>
            </a:r>
            <a:endParaRPr lang="zh-TW" altLang="en-US" dirty="0"/>
          </a:p>
        </p:txBody>
      </p:sp>
      <p:grpSp>
        <p:nvGrpSpPr>
          <p:cNvPr id="448" name="群組 447"/>
          <p:cNvGrpSpPr/>
          <p:nvPr/>
        </p:nvGrpSpPr>
        <p:grpSpPr>
          <a:xfrm rot="5400000">
            <a:off x="1735937" y="5330615"/>
            <a:ext cx="4224843" cy="1924568"/>
            <a:chOff x="1660188" y="3148756"/>
            <a:chExt cx="2816562" cy="1283045"/>
          </a:xfrm>
        </p:grpSpPr>
        <p:sp>
          <p:nvSpPr>
            <p:cNvPr id="9" name="橢圓 8"/>
            <p:cNvSpPr/>
            <p:nvPr/>
          </p:nvSpPr>
          <p:spPr>
            <a:xfrm>
              <a:off x="2410717" y="3510713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3988727" y="346744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3988727" y="388028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60188" y="321514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6" name="直線單箭頭接點 15"/>
            <p:cNvCxnSpPr>
              <a:stCxn id="14" idx="3"/>
              <a:endCxn id="9" idx="2"/>
            </p:cNvCxnSpPr>
            <p:nvPr/>
          </p:nvCxnSpPr>
          <p:spPr>
            <a:xfrm>
              <a:off x="1791252" y="3280673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14" idx="3"/>
            </p:cNvCxnSpPr>
            <p:nvPr/>
          </p:nvCxnSpPr>
          <p:spPr>
            <a:xfrm>
              <a:off x="1791252" y="3280673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523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12" idx="2"/>
            </p:cNvCxnSpPr>
            <p:nvPr/>
          </p:nvCxnSpPr>
          <p:spPr>
            <a:xfrm>
              <a:off x="3530096" y="3269680"/>
              <a:ext cx="458631" cy="3232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3" idx="2"/>
            </p:cNvCxnSpPr>
            <p:nvPr/>
          </p:nvCxnSpPr>
          <p:spPr>
            <a:xfrm>
              <a:off x="3530097" y="3291314"/>
              <a:ext cx="458630" cy="7144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endCxn id="13" idx="2"/>
            </p:cNvCxnSpPr>
            <p:nvPr/>
          </p:nvCxnSpPr>
          <p:spPr>
            <a:xfrm>
              <a:off x="3530096" y="3662777"/>
              <a:ext cx="458631" cy="34298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endCxn id="12" idx="2"/>
            </p:cNvCxnSpPr>
            <p:nvPr/>
          </p:nvCxnSpPr>
          <p:spPr>
            <a:xfrm flipV="1">
              <a:off x="3530097" y="3592920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endCxn id="13" idx="2"/>
            </p:cNvCxnSpPr>
            <p:nvPr/>
          </p:nvCxnSpPr>
          <p:spPr>
            <a:xfrm>
              <a:off x="3530097" y="3979799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endCxn id="12" idx="2"/>
            </p:cNvCxnSpPr>
            <p:nvPr/>
          </p:nvCxnSpPr>
          <p:spPr>
            <a:xfrm flipV="1">
              <a:off x="3530096" y="3592920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endCxn id="13" idx="2"/>
            </p:cNvCxnSpPr>
            <p:nvPr/>
          </p:nvCxnSpPr>
          <p:spPr>
            <a:xfrm flipV="1">
              <a:off x="3530097" y="4005760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橢圓 31"/>
            <p:cNvSpPr/>
            <p:nvPr/>
          </p:nvSpPr>
          <p:spPr>
            <a:xfrm>
              <a:off x="3279148" y="314875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3" name="橢圓 32"/>
            <p:cNvSpPr/>
            <p:nvPr/>
          </p:nvSpPr>
          <p:spPr>
            <a:xfrm>
              <a:off x="3279148" y="3493630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3279148" y="383724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3279148" y="418085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1660188" y="3924908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7" name="矩形 36"/>
            <p:cNvSpPr/>
            <p:nvPr/>
          </p:nvSpPr>
          <p:spPr>
            <a:xfrm>
              <a:off x="1660188" y="42592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0" name="直線單箭頭接點 39"/>
            <p:cNvCxnSpPr>
              <a:stCxn id="37" idx="3"/>
            </p:cNvCxnSpPr>
            <p:nvPr/>
          </p:nvCxnSpPr>
          <p:spPr>
            <a:xfrm flipV="1">
              <a:off x="1791252" y="3979799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7" idx="3"/>
              <a:endCxn id="9" idx="2"/>
            </p:cNvCxnSpPr>
            <p:nvPr/>
          </p:nvCxnSpPr>
          <p:spPr>
            <a:xfrm flipV="1">
              <a:off x="1791252" y="3636188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6" idx="3"/>
              <a:endCxn id="9" idx="2"/>
            </p:cNvCxnSpPr>
            <p:nvPr/>
          </p:nvCxnSpPr>
          <p:spPr>
            <a:xfrm flipV="1">
              <a:off x="1791252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>
              <a:off x="2661666" y="3619104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2661666" y="3619104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2661666" y="3619104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2661666" y="3990440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 flipV="1">
              <a:off x="2661666" y="3636188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 flipV="1">
              <a:off x="2661666" y="3291314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>
              <a:off x="4247435" y="359910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4247435" y="4012902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/>
            <p:nvPr/>
          </p:nvCxnSpPr>
          <p:spPr>
            <a:xfrm flipV="1">
              <a:off x="1797739" y="3986049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V="1">
              <a:off x="2678739" y="397915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9" idx="6"/>
              <a:endCxn id="32" idx="2"/>
            </p:cNvCxnSpPr>
            <p:nvPr/>
          </p:nvCxnSpPr>
          <p:spPr>
            <a:xfrm flipV="1">
              <a:off x="2661666" y="3274230"/>
              <a:ext cx="617482" cy="361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橢圓 248"/>
            <p:cNvSpPr/>
            <p:nvPr/>
          </p:nvSpPr>
          <p:spPr>
            <a:xfrm>
              <a:off x="2406838" y="383557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grpSp>
        <p:nvGrpSpPr>
          <p:cNvPr id="451" name="群組 450"/>
          <p:cNvGrpSpPr/>
          <p:nvPr/>
        </p:nvGrpSpPr>
        <p:grpSpPr>
          <a:xfrm rot="5400000">
            <a:off x="6572954" y="5343429"/>
            <a:ext cx="4224843" cy="1898942"/>
            <a:chOff x="5222538" y="3182974"/>
            <a:chExt cx="2816562" cy="1265961"/>
          </a:xfrm>
        </p:grpSpPr>
        <p:sp>
          <p:nvSpPr>
            <p:cNvPr id="278" name="橢圓 277"/>
            <p:cNvSpPr/>
            <p:nvPr/>
          </p:nvSpPr>
          <p:spPr>
            <a:xfrm>
              <a:off x="5973067" y="318297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9" name="橢圓 278"/>
            <p:cNvSpPr/>
            <p:nvPr/>
          </p:nvSpPr>
          <p:spPr>
            <a:xfrm>
              <a:off x="5973067" y="352784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0" name="橢圓 279"/>
            <p:cNvSpPr/>
            <p:nvPr/>
          </p:nvSpPr>
          <p:spPr>
            <a:xfrm>
              <a:off x="7551077" y="348457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1" name="橢圓 280"/>
            <p:cNvSpPr/>
            <p:nvPr/>
          </p:nvSpPr>
          <p:spPr>
            <a:xfrm>
              <a:off x="7551077" y="3897419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282" name="矩形 281"/>
            <p:cNvSpPr/>
            <p:nvPr/>
          </p:nvSpPr>
          <p:spPr>
            <a:xfrm>
              <a:off x="5222538" y="323227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283" name="直線單箭頭接點 282"/>
            <p:cNvCxnSpPr>
              <a:stCxn id="282" idx="3"/>
              <a:endCxn id="278" idx="2"/>
            </p:cNvCxnSpPr>
            <p:nvPr/>
          </p:nvCxnSpPr>
          <p:spPr>
            <a:xfrm>
              <a:off x="5353602" y="3297807"/>
              <a:ext cx="619466" cy="106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線單箭頭接點 283"/>
            <p:cNvCxnSpPr>
              <a:stCxn id="282" idx="3"/>
              <a:endCxn id="279" idx="2"/>
            </p:cNvCxnSpPr>
            <p:nvPr/>
          </p:nvCxnSpPr>
          <p:spPr>
            <a:xfrm>
              <a:off x="5353602" y="3297807"/>
              <a:ext cx="619466" cy="3555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線單箭頭接點 284"/>
            <p:cNvCxnSpPr>
              <a:stCxn id="282" idx="3"/>
            </p:cNvCxnSpPr>
            <p:nvPr/>
          </p:nvCxnSpPr>
          <p:spPr>
            <a:xfrm>
              <a:off x="5353602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線單箭頭接點 290"/>
            <p:cNvCxnSpPr>
              <a:endCxn id="280" idx="2"/>
            </p:cNvCxnSpPr>
            <p:nvPr/>
          </p:nvCxnSpPr>
          <p:spPr>
            <a:xfrm flipV="1">
              <a:off x="7092447" y="3610054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線單箭頭接點 291"/>
            <p:cNvCxnSpPr>
              <a:endCxn id="281" idx="2"/>
            </p:cNvCxnSpPr>
            <p:nvPr/>
          </p:nvCxnSpPr>
          <p:spPr>
            <a:xfrm>
              <a:off x="7092447" y="3996933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線單箭頭接點 292"/>
            <p:cNvCxnSpPr>
              <a:endCxn id="280" idx="2"/>
            </p:cNvCxnSpPr>
            <p:nvPr/>
          </p:nvCxnSpPr>
          <p:spPr>
            <a:xfrm flipV="1">
              <a:off x="7092446" y="3610054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線單箭頭接點 293"/>
            <p:cNvCxnSpPr>
              <a:endCxn id="281" idx="2"/>
            </p:cNvCxnSpPr>
            <p:nvPr/>
          </p:nvCxnSpPr>
          <p:spPr>
            <a:xfrm flipV="1">
              <a:off x="7092447" y="4022894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線單箭頭接點 294"/>
            <p:cNvCxnSpPr>
              <a:stCxn id="299" idx="2"/>
              <a:endCxn id="278" idx="2"/>
            </p:cNvCxnSpPr>
            <p:nvPr/>
          </p:nvCxnSpPr>
          <p:spPr>
            <a:xfrm flipV="1">
              <a:off x="5288070" y="3308448"/>
              <a:ext cx="684997" cy="3933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線單箭頭接點 295"/>
            <p:cNvCxnSpPr>
              <a:stCxn id="299" idx="3"/>
              <a:endCxn id="279" idx="2"/>
            </p:cNvCxnSpPr>
            <p:nvPr/>
          </p:nvCxnSpPr>
          <p:spPr>
            <a:xfrm>
              <a:off x="5353602" y="3636238"/>
              <a:ext cx="619466" cy="170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線單箭頭接點 296"/>
            <p:cNvCxnSpPr>
              <a:stCxn id="299" idx="3"/>
            </p:cNvCxnSpPr>
            <p:nvPr/>
          </p:nvCxnSpPr>
          <p:spPr>
            <a:xfrm>
              <a:off x="5353602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矩形 298"/>
            <p:cNvSpPr/>
            <p:nvPr/>
          </p:nvSpPr>
          <p:spPr>
            <a:xfrm>
              <a:off x="5222538" y="357070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2" name="橢圓 301"/>
            <p:cNvSpPr/>
            <p:nvPr/>
          </p:nvSpPr>
          <p:spPr>
            <a:xfrm>
              <a:off x="6841498" y="385437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03" name="橢圓 302"/>
            <p:cNvSpPr/>
            <p:nvPr/>
          </p:nvSpPr>
          <p:spPr>
            <a:xfrm>
              <a:off x="6841498" y="4197986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04" name="矩形 303"/>
            <p:cNvSpPr/>
            <p:nvPr/>
          </p:nvSpPr>
          <p:spPr>
            <a:xfrm>
              <a:off x="5222538" y="3942042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5" name="矩形 304"/>
            <p:cNvSpPr/>
            <p:nvPr/>
          </p:nvSpPr>
          <p:spPr>
            <a:xfrm>
              <a:off x="5222538" y="4276376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08" name="直線單箭頭接點 307"/>
            <p:cNvCxnSpPr>
              <a:stCxn id="305" idx="3"/>
            </p:cNvCxnSpPr>
            <p:nvPr/>
          </p:nvCxnSpPr>
          <p:spPr>
            <a:xfrm flipV="1">
              <a:off x="5353602" y="3996933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線單箭頭接點 308"/>
            <p:cNvCxnSpPr>
              <a:stCxn id="305" idx="3"/>
              <a:endCxn id="279" idx="2"/>
            </p:cNvCxnSpPr>
            <p:nvPr/>
          </p:nvCxnSpPr>
          <p:spPr>
            <a:xfrm flipV="1">
              <a:off x="5353602" y="3653322"/>
              <a:ext cx="619466" cy="688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線單箭頭接點 309"/>
            <p:cNvCxnSpPr>
              <a:stCxn id="305" idx="3"/>
              <a:endCxn id="278" idx="2"/>
            </p:cNvCxnSpPr>
            <p:nvPr/>
          </p:nvCxnSpPr>
          <p:spPr>
            <a:xfrm flipV="1">
              <a:off x="5353602" y="3308448"/>
              <a:ext cx="619466" cy="10334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線單箭頭接點 310"/>
            <p:cNvCxnSpPr>
              <a:stCxn id="304" idx="3"/>
              <a:endCxn id="279" idx="2"/>
            </p:cNvCxnSpPr>
            <p:nvPr/>
          </p:nvCxnSpPr>
          <p:spPr>
            <a:xfrm flipV="1">
              <a:off x="5353602" y="3653322"/>
              <a:ext cx="619466" cy="354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線單箭頭接點 311"/>
            <p:cNvCxnSpPr>
              <a:stCxn id="304" idx="3"/>
              <a:endCxn id="278" idx="2"/>
            </p:cNvCxnSpPr>
            <p:nvPr/>
          </p:nvCxnSpPr>
          <p:spPr>
            <a:xfrm flipV="1">
              <a:off x="5353602" y="3308448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線單箭頭接點 314"/>
            <p:cNvCxnSpPr/>
            <p:nvPr/>
          </p:nvCxnSpPr>
          <p:spPr>
            <a:xfrm>
              <a:off x="6224016" y="3297807"/>
              <a:ext cx="619466" cy="6991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線單箭頭接點 315"/>
            <p:cNvCxnSpPr/>
            <p:nvPr/>
          </p:nvCxnSpPr>
          <p:spPr>
            <a:xfrm>
              <a:off x="6224016" y="3297807"/>
              <a:ext cx="619466" cy="104273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線單箭頭接點 317"/>
            <p:cNvCxnSpPr/>
            <p:nvPr/>
          </p:nvCxnSpPr>
          <p:spPr>
            <a:xfrm>
              <a:off x="6224016" y="3636238"/>
              <a:ext cx="619466" cy="3606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線單箭頭接點 318"/>
            <p:cNvCxnSpPr/>
            <p:nvPr/>
          </p:nvCxnSpPr>
          <p:spPr>
            <a:xfrm>
              <a:off x="6224016" y="3636238"/>
              <a:ext cx="619466" cy="7043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線單箭頭接點 320"/>
            <p:cNvCxnSpPr/>
            <p:nvPr/>
          </p:nvCxnSpPr>
          <p:spPr>
            <a:xfrm>
              <a:off x="6224016" y="4007574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線單箭頭接點 326"/>
            <p:cNvCxnSpPr/>
            <p:nvPr/>
          </p:nvCxnSpPr>
          <p:spPr>
            <a:xfrm>
              <a:off x="7809785" y="3616240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線單箭頭接點 327"/>
            <p:cNvCxnSpPr/>
            <p:nvPr/>
          </p:nvCxnSpPr>
          <p:spPr>
            <a:xfrm>
              <a:off x="7809785" y="4030036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線單箭頭接點 274"/>
            <p:cNvCxnSpPr/>
            <p:nvPr/>
          </p:nvCxnSpPr>
          <p:spPr>
            <a:xfrm flipV="1">
              <a:off x="5360089" y="4003183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線單箭頭接點 275"/>
            <p:cNvCxnSpPr/>
            <p:nvPr/>
          </p:nvCxnSpPr>
          <p:spPr>
            <a:xfrm flipV="1">
              <a:off x="6241089" y="3996286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橢圓 271"/>
            <p:cNvSpPr/>
            <p:nvPr/>
          </p:nvSpPr>
          <p:spPr>
            <a:xfrm>
              <a:off x="5969188" y="3852712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grpSp>
        <p:nvGrpSpPr>
          <p:cNvPr id="450" name="群組 449"/>
          <p:cNvGrpSpPr/>
          <p:nvPr/>
        </p:nvGrpSpPr>
        <p:grpSpPr>
          <a:xfrm rot="5400000">
            <a:off x="4364963" y="5545103"/>
            <a:ext cx="4224843" cy="1448427"/>
            <a:chOff x="1660188" y="5222258"/>
            <a:chExt cx="2816562" cy="965618"/>
          </a:xfrm>
        </p:grpSpPr>
        <p:sp>
          <p:nvSpPr>
            <p:cNvPr id="339" name="橢圓 338"/>
            <p:cNvSpPr/>
            <p:nvPr/>
          </p:nvSpPr>
          <p:spPr>
            <a:xfrm>
              <a:off x="3988727" y="522225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40" name="橢圓 339"/>
            <p:cNvSpPr/>
            <p:nvPr/>
          </p:nvSpPr>
          <p:spPr>
            <a:xfrm>
              <a:off x="3988727" y="5635098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cxnSp>
          <p:nvCxnSpPr>
            <p:cNvPr id="350" name="直線單箭頭接點 349"/>
            <p:cNvCxnSpPr>
              <a:endCxn id="339" idx="2"/>
            </p:cNvCxnSpPr>
            <p:nvPr/>
          </p:nvCxnSpPr>
          <p:spPr>
            <a:xfrm flipV="1">
              <a:off x="3530097" y="5347733"/>
              <a:ext cx="458630" cy="386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線單箭頭接點 350"/>
            <p:cNvCxnSpPr>
              <a:endCxn id="340" idx="2"/>
            </p:cNvCxnSpPr>
            <p:nvPr/>
          </p:nvCxnSpPr>
          <p:spPr>
            <a:xfrm>
              <a:off x="3530097" y="5734612"/>
              <a:ext cx="458630" cy="259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線單箭頭接點 351"/>
            <p:cNvCxnSpPr>
              <a:endCxn id="339" idx="2"/>
            </p:cNvCxnSpPr>
            <p:nvPr/>
          </p:nvCxnSpPr>
          <p:spPr>
            <a:xfrm flipV="1">
              <a:off x="3530096" y="5347733"/>
              <a:ext cx="458631" cy="7168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線單箭頭接點 352"/>
            <p:cNvCxnSpPr>
              <a:endCxn id="340" idx="2"/>
            </p:cNvCxnSpPr>
            <p:nvPr/>
          </p:nvCxnSpPr>
          <p:spPr>
            <a:xfrm flipV="1">
              <a:off x="3530097" y="5760573"/>
              <a:ext cx="458630" cy="3176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橢圓 360"/>
            <p:cNvSpPr/>
            <p:nvPr/>
          </p:nvSpPr>
          <p:spPr>
            <a:xfrm>
              <a:off x="3279148" y="5592054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2" name="橢圓 361"/>
            <p:cNvSpPr/>
            <p:nvPr/>
          </p:nvSpPr>
          <p:spPr>
            <a:xfrm>
              <a:off x="3279148" y="5935665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63" name="矩形 362"/>
            <p:cNvSpPr/>
            <p:nvPr/>
          </p:nvSpPr>
          <p:spPr>
            <a:xfrm>
              <a:off x="1660188" y="5679721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64" name="矩形 363"/>
            <p:cNvSpPr/>
            <p:nvPr/>
          </p:nvSpPr>
          <p:spPr>
            <a:xfrm>
              <a:off x="1660188" y="6014055"/>
              <a:ext cx="131064" cy="13106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65" name="直線單箭頭接點 364"/>
            <p:cNvCxnSpPr>
              <a:stCxn id="364" idx="3"/>
            </p:cNvCxnSpPr>
            <p:nvPr/>
          </p:nvCxnSpPr>
          <p:spPr>
            <a:xfrm flipV="1">
              <a:off x="1791252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線單箭頭接點 365"/>
            <p:cNvCxnSpPr>
              <a:stCxn id="363" idx="3"/>
            </p:cNvCxnSpPr>
            <p:nvPr/>
          </p:nvCxnSpPr>
          <p:spPr>
            <a:xfrm>
              <a:off x="1791252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線單箭頭接點 366"/>
            <p:cNvCxnSpPr>
              <a:stCxn id="364" idx="3"/>
            </p:cNvCxnSpPr>
            <p:nvPr/>
          </p:nvCxnSpPr>
          <p:spPr>
            <a:xfrm flipV="1">
              <a:off x="1791252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線單箭頭接點 378"/>
            <p:cNvCxnSpPr/>
            <p:nvPr/>
          </p:nvCxnSpPr>
          <p:spPr>
            <a:xfrm flipV="1">
              <a:off x="2661666" y="6078223"/>
              <a:ext cx="619466" cy="13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線單箭頭接點 379"/>
            <p:cNvCxnSpPr/>
            <p:nvPr/>
          </p:nvCxnSpPr>
          <p:spPr>
            <a:xfrm>
              <a:off x="2661666" y="5745253"/>
              <a:ext cx="619466" cy="3329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線單箭頭接點 380"/>
            <p:cNvCxnSpPr/>
            <p:nvPr/>
          </p:nvCxnSpPr>
          <p:spPr>
            <a:xfrm flipV="1">
              <a:off x="2661666" y="5734612"/>
              <a:ext cx="619466" cy="3449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線單箭頭接點 385"/>
            <p:cNvCxnSpPr/>
            <p:nvPr/>
          </p:nvCxnSpPr>
          <p:spPr>
            <a:xfrm>
              <a:off x="4247435" y="5353919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線單箭頭接點 386"/>
            <p:cNvCxnSpPr/>
            <p:nvPr/>
          </p:nvCxnSpPr>
          <p:spPr>
            <a:xfrm>
              <a:off x="4247435" y="5767715"/>
              <a:ext cx="2293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線單箭頭接點 333"/>
            <p:cNvCxnSpPr/>
            <p:nvPr/>
          </p:nvCxnSpPr>
          <p:spPr>
            <a:xfrm flipV="1">
              <a:off x="1797739" y="5740862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線單箭頭接點 334"/>
            <p:cNvCxnSpPr/>
            <p:nvPr/>
          </p:nvCxnSpPr>
          <p:spPr>
            <a:xfrm flipV="1">
              <a:off x="2678739" y="5733965"/>
              <a:ext cx="612978" cy="26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橢圓 330"/>
            <p:cNvSpPr/>
            <p:nvPr/>
          </p:nvSpPr>
          <p:spPr>
            <a:xfrm>
              <a:off x="2406838" y="5590391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332" name="橢圓 331"/>
            <p:cNvSpPr/>
            <p:nvPr/>
          </p:nvSpPr>
          <p:spPr>
            <a:xfrm>
              <a:off x="2405946" y="5936927"/>
              <a:ext cx="250949" cy="25094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</p:grpSp>
      <p:sp>
        <p:nvSpPr>
          <p:cNvPr id="456" name="文字方塊 455"/>
          <p:cNvSpPr txBox="1"/>
          <p:nvPr/>
        </p:nvSpPr>
        <p:spPr>
          <a:xfrm>
            <a:off x="7612143" y="2702924"/>
            <a:ext cx="30637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testing data x</a:t>
            </a:r>
            <a:endParaRPr lang="zh-TW" altLang="en-US" sz="3600" baseline="-25000" dirty="0"/>
          </a:p>
        </p:txBody>
      </p:sp>
      <p:sp>
        <p:nvSpPr>
          <p:cNvPr id="139" name="矩形 138"/>
          <p:cNvSpPr/>
          <p:nvPr/>
        </p:nvSpPr>
        <p:spPr>
          <a:xfrm>
            <a:off x="2728263" y="2383544"/>
            <a:ext cx="4932045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Testing of Dropout</a:t>
            </a:r>
            <a:endParaRPr lang="en-US" altLang="zh-TW" sz="4200" dirty="0"/>
          </a:p>
        </p:txBody>
      </p:sp>
      <p:sp>
        <p:nvSpPr>
          <p:cNvPr id="140" name="文字方塊 139"/>
          <p:cNvSpPr txBox="1"/>
          <p:nvPr/>
        </p:nvSpPr>
        <p:spPr>
          <a:xfrm rot="5400000">
            <a:off x="9416445" y="5916866"/>
            <a:ext cx="144640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4600515" y="9351453"/>
            <a:ext cx="369158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average</a:t>
            </a:r>
            <a:endParaRPr lang="zh-TW" altLang="en-US" sz="3600" dirty="0"/>
          </a:p>
        </p:txBody>
      </p:sp>
      <p:cxnSp>
        <p:nvCxnSpPr>
          <p:cNvPr id="142" name="直線單箭頭接點 141"/>
          <p:cNvCxnSpPr/>
          <p:nvPr/>
        </p:nvCxnSpPr>
        <p:spPr>
          <a:xfrm flipH="1">
            <a:off x="4177790" y="3398369"/>
            <a:ext cx="3712512" cy="69952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 flipH="1">
            <a:off x="6582338" y="3434022"/>
            <a:ext cx="1307966" cy="63986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/>
          <p:nvPr/>
        </p:nvCxnSpPr>
        <p:spPr>
          <a:xfrm>
            <a:off x="7852184" y="3434022"/>
            <a:ext cx="851883" cy="67970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文字方塊 150"/>
          <p:cNvSpPr txBox="1"/>
          <p:nvPr/>
        </p:nvSpPr>
        <p:spPr>
          <a:xfrm>
            <a:off x="3324375" y="8233334"/>
            <a:ext cx="11338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152" name="文字方塊 151"/>
          <p:cNvSpPr txBox="1"/>
          <p:nvPr/>
        </p:nvSpPr>
        <p:spPr>
          <a:xfrm>
            <a:off x="6183773" y="8300784"/>
            <a:ext cx="11338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153" name="文字方塊 152"/>
          <p:cNvSpPr txBox="1"/>
          <p:nvPr/>
        </p:nvSpPr>
        <p:spPr>
          <a:xfrm>
            <a:off x="8239106" y="8274107"/>
            <a:ext cx="11338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cxnSp>
        <p:nvCxnSpPr>
          <p:cNvPr id="154" name="直線單箭頭接點 153"/>
          <p:cNvCxnSpPr/>
          <p:nvPr/>
        </p:nvCxnSpPr>
        <p:spPr>
          <a:xfrm>
            <a:off x="4105121" y="8993282"/>
            <a:ext cx="1365326" cy="56697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>
            <a:stCxn id="152" idx="2"/>
          </p:cNvCxnSpPr>
          <p:nvPr/>
        </p:nvCxnSpPr>
        <p:spPr>
          <a:xfrm flipH="1">
            <a:off x="12327927" y="13418597"/>
            <a:ext cx="84414" cy="5295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/>
          <p:nvPr/>
        </p:nvCxnSpPr>
        <p:spPr>
          <a:xfrm flipH="1">
            <a:off x="7412913" y="8964558"/>
            <a:ext cx="1250723" cy="59569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群組 163"/>
          <p:cNvGrpSpPr/>
          <p:nvPr/>
        </p:nvGrpSpPr>
        <p:grpSpPr>
          <a:xfrm rot="5400000">
            <a:off x="9671189" y="5319642"/>
            <a:ext cx="4339629" cy="2003178"/>
            <a:chOff x="7997554" y="1461721"/>
            <a:chExt cx="5723548" cy="2641997"/>
          </a:xfrm>
        </p:grpSpPr>
        <p:grpSp>
          <p:nvGrpSpPr>
            <p:cNvPr id="165" name="群組 164"/>
            <p:cNvGrpSpPr/>
            <p:nvPr/>
          </p:nvGrpSpPr>
          <p:grpSpPr>
            <a:xfrm>
              <a:off x="7997554" y="1461721"/>
              <a:ext cx="5723548" cy="2641997"/>
              <a:chOff x="1904899" y="2535995"/>
              <a:chExt cx="5723548" cy="2641997"/>
            </a:xfrm>
          </p:grpSpPr>
          <p:sp>
            <p:nvSpPr>
              <p:cNvPr id="169" name="橢圓 168"/>
              <p:cNvSpPr/>
              <p:nvPr/>
            </p:nvSpPr>
            <p:spPr>
              <a:xfrm>
                <a:off x="3430053" y="2570711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70" name="橢圓 169"/>
              <p:cNvSpPr/>
              <p:nvPr/>
            </p:nvSpPr>
            <p:spPr>
              <a:xfrm>
                <a:off x="3430053" y="3271530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1" name="橢圓 170"/>
              <p:cNvSpPr/>
              <p:nvPr/>
            </p:nvSpPr>
            <p:spPr>
              <a:xfrm>
                <a:off x="3430053" y="3969784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2" name="橢圓 171"/>
              <p:cNvSpPr/>
              <p:nvPr/>
            </p:nvSpPr>
            <p:spPr>
              <a:xfrm>
                <a:off x="3430053" y="4668038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3" name="橢圓 172"/>
              <p:cNvSpPr/>
              <p:nvPr/>
            </p:nvSpPr>
            <p:spPr>
              <a:xfrm>
                <a:off x="6636734" y="3183605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4" name="橢圓 173"/>
              <p:cNvSpPr/>
              <p:nvPr/>
            </p:nvSpPr>
            <p:spPr>
              <a:xfrm>
                <a:off x="6636734" y="4022539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1904899" y="2670896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176" name="直線單箭頭接點 175"/>
              <p:cNvCxnSpPr>
                <a:stCxn id="175" idx="3"/>
                <a:endCxn id="169" idx="2"/>
              </p:cNvCxnSpPr>
              <p:nvPr/>
            </p:nvCxnSpPr>
            <p:spPr>
              <a:xfrm>
                <a:off x="2171234" y="2804064"/>
                <a:ext cx="1258819" cy="21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線單箭頭接點 176"/>
              <p:cNvCxnSpPr>
                <a:stCxn id="175" idx="3"/>
                <a:endCxn id="170" idx="2"/>
              </p:cNvCxnSpPr>
              <p:nvPr/>
            </p:nvCxnSpPr>
            <p:spPr>
              <a:xfrm>
                <a:off x="2171234" y="2804064"/>
                <a:ext cx="1258819" cy="7224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線單箭頭接點 177"/>
              <p:cNvCxnSpPr>
                <a:stCxn id="175" idx="3"/>
                <a:endCxn id="171" idx="2"/>
              </p:cNvCxnSpPr>
              <p:nvPr/>
            </p:nvCxnSpPr>
            <p:spPr>
              <a:xfrm>
                <a:off x="2171234" y="2804064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線單箭頭接點 178"/>
              <p:cNvCxnSpPr>
                <a:stCxn id="175" idx="3"/>
                <a:endCxn id="172" idx="2"/>
              </p:cNvCxnSpPr>
              <p:nvPr/>
            </p:nvCxnSpPr>
            <p:spPr>
              <a:xfrm>
                <a:off x="2171234" y="2804064"/>
                <a:ext cx="1258819" cy="211895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線單箭頭接點 179"/>
              <p:cNvCxnSpPr>
                <a:endCxn id="173" idx="2"/>
              </p:cNvCxnSpPr>
              <p:nvPr/>
            </p:nvCxnSpPr>
            <p:spPr>
              <a:xfrm flipV="1">
                <a:off x="5704749" y="3438582"/>
                <a:ext cx="931985" cy="1064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線單箭頭接點 180"/>
              <p:cNvCxnSpPr>
                <a:endCxn id="173" idx="2"/>
              </p:cNvCxnSpPr>
              <p:nvPr/>
            </p:nvCxnSpPr>
            <p:spPr>
              <a:xfrm>
                <a:off x="5704748" y="2781725"/>
                <a:ext cx="931986" cy="6568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單箭頭接點 181"/>
              <p:cNvCxnSpPr>
                <a:endCxn id="174" idx="2"/>
              </p:cNvCxnSpPr>
              <p:nvPr/>
            </p:nvCxnSpPr>
            <p:spPr>
              <a:xfrm>
                <a:off x="5704749" y="2825688"/>
                <a:ext cx="931985" cy="145182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單箭頭接點 182"/>
              <p:cNvCxnSpPr>
                <a:endCxn id="174" idx="2"/>
              </p:cNvCxnSpPr>
              <p:nvPr/>
            </p:nvCxnSpPr>
            <p:spPr>
              <a:xfrm>
                <a:off x="5704748" y="3580539"/>
                <a:ext cx="931986" cy="6969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線單箭頭接點 183"/>
              <p:cNvCxnSpPr>
                <a:endCxn id="173" idx="2"/>
              </p:cNvCxnSpPr>
              <p:nvPr/>
            </p:nvCxnSpPr>
            <p:spPr>
              <a:xfrm flipV="1">
                <a:off x="5704749" y="3438582"/>
                <a:ext cx="931985" cy="7861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線單箭頭接點 184"/>
              <p:cNvCxnSpPr>
                <a:endCxn id="174" idx="2"/>
              </p:cNvCxnSpPr>
              <p:nvPr/>
            </p:nvCxnSpPr>
            <p:spPr>
              <a:xfrm>
                <a:off x="5704749" y="4224761"/>
                <a:ext cx="931985" cy="527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線單箭頭接點 185"/>
              <p:cNvCxnSpPr>
                <a:endCxn id="173" idx="2"/>
              </p:cNvCxnSpPr>
              <p:nvPr/>
            </p:nvCxnSpPr>
            <p:spPr>
              <a:xfrm flipV="1">
                <a:off x="5704748" y="3438582"/>
                <a:ext cx="931986" cy="14567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單箭頭接點 186"/>
              <p:cNvCxnSpPr>
                <a:endCxn id="174" idx="2"/>
              </p:cNvCxnSpPr>
              <p:nvPr/>
            </p:nvCxnSpPr>
            <p:spPr>
              <a:xfrm flipV="1">
                <a:off x="5704749" y="4277516"/>
                <a:ext cx="931985" cy="6454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單箭頭接點 187"/>
              <p:cNvCxnSpPr>
                <a:stCxn id="192" idx="2"/>
                <a:endCxn id="169" idx="2"/>
              </p:cNvCxnSpPr>
              <p:nvPr/>
            </p:nvCxnSpPr>
            <p:spPr>
              <a:xfrm flipV="1">
                <a:off x="2038067" y="2825688"/>
                <a:ext cx="1391986" cy="7992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單箭頭接點 188"/>
              <p:cNvCxnSpPr>
                <a:stCxn id="192" idx="3"/>
                <a:endCxn id="170" idx="2"/>
              </p:cNvCxnSpPr>
              <p:nvPr/>
            </p:nvCxnSpPr>
            <p:spPr>
              <a:xfrm>
                <a:off x="2171234" y="3491791"/>
                <a:ext cx="1258819" cy="347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線單箭頭接點 189"/>
              <p:cNvCxnSpPr>
                <a:stCxn id="192" idx="3"/>
                <a:endCxn id="171" idx="2"/>
              </p:cNvCxnSpPr>
              <p:nvPr/>
            </p:nvCxnSpPr>
            <p:spPr>
              <a:xfrm>
                <a:off x="2171234" y="3491791"/>
                <a:ext cx="1258819" cy="7329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單箭頭接點 190"/>
              <p:cNvCxnSpPr>
                <a:stCxn id="192" idx="3"/>
                <a:endCxn id="172" idx="2"/>
              </p:cNvCxnSpPr>
              <p:nvPr/>
            </p:nvCxnSpPr>
            <p:spPr>
              <a:xfrm>
                <a:off x="2171234" y="3491791"/>
                <a:ext cx="1258819" cy="14312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矩形 191"/>
              <p:cNvSpPr/>
              <p:nvPr/>
            </p:nvSpPr>
            <p:spPr>
              <a:xfrm>
                <a:off x="1904899" y="3358623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93" name="橢圓 192"/>
              <p:cNvSpPr/>
              <p:nvPr/>
            </p:nvSpPr>
            <p:spPr>
              <a:xfrm>
                <a:off x="5194794" y="2535995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94" name="橢圓 193"/>
              <p:cNvSpPr/>
              <p:nvPr/>
            </p:nvSpPr>
            <p:spPr>
              <a:xfrm>
                <a:off x="5194794" y="3236814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95" name="橢圓 194"/>
              <p:cNvSpPr/>
              <p:nvPr/>
            </p:nvSpPr>
            <p:spPr>
              <a:xfrm>
                <a:off x="5194794" y="3935068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96" name="橢圓 195"/>
              <p:cNvSpPr/>
              <p:nvPr/>
            </p:nvSpPr>
            <p:spPr>
              <a:xfrm>
                <a:off x="5194794" y="4633322"/>
                <a:ext cx="509954" cy="50995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1904899" y="4113217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1904899" y="4792619"/>
                <a:ext cx="266335" cy="26633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199" name="直線單箭頭接點 198"/>
              <p:cNvCxnSpPr>
                <a:stCxn id="198" idx="3"/>
                <a:endCxn id="172" idx="2"/>
              </p:cNvCxnSpPr>
              <p:nvPr/>
            </p:nvCxnSpPr>
            <p:spPr>
              <a:xfrm flipV="1">
                <a:off x="2171234" y="4923015"/>
                <a:ext cx="1258819" cy="277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線單箭頭接點 199"/>
              <p:cNvCxnSpPr>
                <a:stCxn id="197" idx="3"/>
                <a:endCxn id="172" idx="2"/>
              </p:cNvCxnSpPr>
              <p:nvPr/>
            </p:nvCxnSpPr>
            <p:spPr>
              <a:xfrm>
                <a:off x="2171234" y="4246385"/>
                <a:ext cx="1258819" cy="67663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線單箭頭接點 200"/>
              <p:cNvCxnSpPr>
                <a:stCxn id="198" idx="3"/>
                <a:endCxn id="171" idx="2"/>
              </p:cNvCxnSpPr>
              <p:nvPr/>
            </p:nvCxnSpPr>
            <p:spPr>
              <a:xfrm flipV="1">
                <a:off x="2171234" y="4224761"/>
                <a:ext cx="1258819" cy="7010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線單箭頭接點 201"/>
              <p:cNvCxnSpPr>
                <a:stCxn id="198" idx="3"/>
                <a:endCxn id="170" idx="2"/>
              </p:cNvCxnSpPr>
              <p:nvPr/>
            </p:nvCxnSpPr>
            <p:spPr>
              <a:xfrm flipV="1">
                <a:off x="2171234" y="3526507"/>
                <a:ext cx="1258819" cy="13992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線單箭頭接點 202"/>
              <p:cNvCxnSpPr>
                <a:stCxn id="198" idx="3"/>
                <a:endCxn id="169" idx="2"/>
              </p:cNvCxnSpPr>
              <p:nvPr/>
            </p:nvCxnSpPr>
            <p:spPr>
              <a:xfrm flipV="1">
                <a:off x="2171234" y="2825688"/>
                <a:ext cx="1258819" cy="21000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線單箭頭接點 203"/>
              <p:cNvCxnSpPr>
                <a:stCxn id="197" idx="3"/>
                <a:endCxn id="170" idx="2"/>
              </p:cNvCxnSpPr>
              <p:nvPr/>
            </p:nvCxnSpPr>
            <p:spPr>
              <a:xfrm flipV="1">
                <a:off x="2171234" y="3526507"/>
                <a:ext cx="1258819" cy="7198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線單箭頭接點 204"/>
              <p:cNvCxnSpPr>
                <a:stCxn id="197" idx="3"/>
                <a:endCxn id="169" idx="2"/>
              </p:cNvCxnSpPr>
              <p:nvPr/>
            </p:nvCxnSpPr>
            <p:spPr>
              <a:xfrm flipV="1">
                <a:off x="2171234" y="2825688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單箭頭接點 205"/>
              <p:cNvCxnSpPr/>
              <p:nvPr/>
            </p:nvCxnSpPr>
            <p:spPr>
              <a:xfrm>
                <a:off x="3940007" y="2804064"/>
                <a:ext cx="1258819" cy="21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線單箭頭接點 206"/>
              <p:cNvCxnSpPr/>
              <p:nvPr/>
            </p:nvCxnSpPr>
            <p:spPr>
              <a:xfrm>
                <a:off x="3940007" y="2804064"/>
                <a:ext cx="1258819" cy="7224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單箭頭接點 207"/>
              <p:cNvCxnSpPr/>
              <p:nvPr/>
            </p:nvCxnSpPr>
            <p:spPr>
              <a:xfrm>
                <a:off x="3940007" y="2804064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線單箭頭接點 208"/>
              <p:cNvCxnSpPr/>
              <p:nvPr/>
            </p:nvCxnSpPr>
            <p:spPr>
              <a:xfrm>
                <a:off x="3940007" y="2804064"/>
                <a:ext cx="1258819" cy="211895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線單箭頭接點 209"/>
              <p:cNvCxnSpPr/>
              <p:nvPr/>
            </p:nvCxnSpPr>
            <p:spPr>
              <a:xfrm>
                <a:off x="3940007" y="3491791"/>
                <a:ext cx="1258819" cy="347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線單箭頭接點 210"/>
              <p:cNvCxnSpPr/>
              <p:nvPr/>
            </p:nvCxnSpPr>
            <p:spPr>
              <a:xfrm>
                <a:off x="3940007" y="3491791"/>
                <a:ext cx="1258819" cy="7329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線單箭頭接點 211"/>
              <p:cNvCxnSpPr/>
              <p:nvPr/>
            </p:nvCxnSpPr>
            <p:spPr>
              <a:xfrm>
                <a:off x="3940007" y="3491791"/>
                <a:ext cx="1258819" cy="14312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線單箭頭接點 212"/>
              <p:cNvCxnSpPr/>
              <p:nvPr/>
            </p:nvCxnSpPr>
            <p:spPr>
              <a:xfrm flipV="1">
                <a:off x="3940007" y="4923015"/>
                <a:ext cx="1258819" cy="277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線單箭頭接點 213"/>
              <p:cNvCxnSpPr/>
              <p:nvPr/>
            </p:nvCxnSpPr>
            <p:spPr>
              <a:xfrm>
                <a:off x="3940007" y="4246385"/>
                <a:ext cx="1258819" cy="67663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線單箭頭接點 214"/>
              <p:cNvCxnSpPr/>
              <p:nvPr/>
            </p:nvCxnSpPr>
            <p:spPr>
              <a:xfrm flipV="1">
                <a:off x="3940007" y="4224761"/>
                <a:ext cx="1258819" cy="70102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線單箭頭接點 215"/>
              <p:cNvCxnSpPr/>
              <p:nvPr/>
            </p:nvCxnSpPr>
            <p:spPr>
              <a:xfrm flipV="1">
                <a:off x="3940007" y="3526507"/>
                <a:ext cx="1258819" cy="13992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線單箭頭接點 216"/>
              <p:cNvCxnSpPr/>
              <p:nvPr/>
            </p:nvCxnSpPr>
            <p:spPr>
              <a:xfrm flipV="1">
                <a:off x="3940007" y="2825688"/>
                <a:ext cx="1258819" cy="21000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線單箭頭接點 217"/>
              <p:cNvCxnSpPr/>
              <p:nvPr/>
            </p:nvCxnSpPr>
            <p:spPr>
              <a:xfrm flipV="1">
                <a:off x="3940007" y="3526507"/>
                <a:ext cx="1258819" cy="7198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線單箭頭接點 218"/>
              <p:cNvCxnSpPr/>
              <p:nvPr/>
            </p:nvCxnSpPr>
            <p:spPr>
              <a:xfrm flipV="1">
                <a:off x="3940007" y="2825688"/>
                <a:ext cx="1258819" cy="14206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線單箭頭接點 219"/>
              <p:cNvCxnSpPr/>
              <p:nvPr/>
            </p:nvCxnSpPr>
            <p:spPr>
              <a:xfrm>
                <a:off x="7162454" y="3451153"/>
                <a:ext cx="46599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線單箭頭接點 220"/>
              <p:cNvCxnSpPr/>
              <p:nvPr/>
            </p:nvCxnSpPr>
            <p:spPr>
              <a:xfrm>
                <a:off x="7162454" y="4292030"/>
                <a:ext cx="46599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" name="直線單箭頭接點 165"/>
            <p:cNvCxnSpPr/>
            <p:nvPr/>
          </p:nvCxnSpPr>
          <p:spPr>
            <a:xfrm flipV="1">
              <a:off x="8277073" y="3163187"/>
              <a:ext cx="1245635" cy="53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單箭頭接點 166"/>
            <p:cNvCxnSpPr/>
            <p:nvPr/>
          </p:nvCxnSpPr>
          <p:spPr>
            <a:xfrm flipV="1">
              <a:off x="10067356" y="3149173"/>
              <a:ext cx="1245635" cy="53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線單箭頭接點 167"/>
            <p:cNvCxnSpPr>
              <a:stCxn id="170" idx="6"/>
              <a:endCxn id="193" idx="2"/>
            </p:cNvCxnSpPr>
            <p:nvPr/>
          </p:nvCxnSpPr>
          <p:spPr>
            <a:xfrm flipV="1">
              <a:off x="10032662" y="1716698"/>
              <a:ext cx="1254787" cy="73553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字方塊 29"/>
          <p:cNvSpPr txBox="1"/>
          <p:nvPr/>
        </p:nvSpPr>
        <p:spPr>
          <a:xfrm>
            <a:off x="13329995" y="5015732"/>
            <a:ext cx="1938599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All the weights multiply 1-p%</a:t>
            </a:r>
            <a:endParaRPr lang="zh-TW" altLang="en-US" sz="36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356177" y="9241709"/>
            <a:ext cx="14001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000" b="1" dirty="0">
                <a:solidFill>
                  <a:srgbClr val="FF0000"/>
                </a:solidFill>
              </a:rPr>
              <a:t>≈</a:t>
            </a:r>
          </a:p>
        </p:txBody>
      </p:sp>
      <p:sp>
        <p:nvSpPr>
          <p:cNvPr id="226" name="文字方塊 225"/>
          <p:cNvSpPr txBox="1"/>
          <p:nvPr/>
        </p:nvSpPr>
        <p:spPr>
          <a:xfrm>
            <a:off x="11269131" y="9252170"/>
            <a:ext cx="113381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y</a:t>
            </a:r>
            <a:endParaRPr lang="zh-TW" altLang="en-US" sz="4200" baseline="-25000" dirty="0"/>
          </a:p>
        </p:txBody>
      </p:sp>
      <p:cxnSp>
        <p:nvCxnSpPr>
          <p:cNvPr id="229" name="直線單箭頭接點 228"/>
          <p:cNvCxnSpPr/>
          <p:nvPr/>
        </p:nvCxnSpPr>
        <p:spPr>
          <a:xfrm>
            <a:off x="10524840" y="3404579"/>
            <a:ext cx="1304634" cy="675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單箭頭接點 229"/>
          <p:cNvCxnSpPr/>
          <p:nvPr/>
        </p:nvCxnSpPr>
        <p:spPr>
          <a:xfrm>
            <a:off x="11840031" y="8653431"/>
            <a:ext cx="0" cy="6797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9452685" y="8930517"/>
            <a:ext cx="130366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>
                <a:solidFill>
                  <a:srgbClr val="FF0000"/>
                </a:solidFill>
              </a:rPr>
              <a:t>?????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0" grpId="0"/>
      <p:bldP spid="226" grpId="0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83970" y="296730"/>
            <a:ext cx="4932045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Testing of Dropout</a:t>
            </a:r>
            <a:endParaRPr lang="en-US" altLang="zh-TW" sz="4200" dirty="0"/>
          </a:p>
        </p:txBody>
      </p:sp>
      <p:grpSp>
        <p:nvGrpSpPr>
          <p:cNvPr id="91" name="群組 90"/>
          <p:cNvGrpSpPr/>
          <p:nvPr/>
        </p:nvGrpSpPr>
        <p:grpSpPr>
          <a:xfrm>
            <a:off x="3063461" y="1565585"/>
            <a:ext cx="3328716" cy="3355829"/>
            <a:chOff x="518307" y="1043723"/>
            <a:chExt cx="2219144" cy="2237219"/>
          </a:xfrm>
        </p:grpSpPr>
        <p:sp>
          <p:nvSpPr>
            <p:cNvPr id="23" name="橢圓 22"/>
            <p:cNvSpPr/>
            <p:nvPr/>
          </p:nvSpPr>
          <p:spPr>
            <a:xfrm>
              <a:off x="1297764" y="2216925"/>
              <a:ext cx="655982" cy="6559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24" name="直線接點 23"/>
            <p:cNvCxnSpPr/>
            <p:nvPr/>
          </p:nvCxnSpPr>
          <p:spPr>
            <a:xfrm flipV="1">
              <a:off x="1429812" y="2348973"/>
              <a:ext cx="391886" cy="39188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/>
            <p:nvPr/>
          </p:nvCxnSpPr>
          <p:spPr>
            <a:xfrm>
              <a:off x="1642506" y="2872907"/>
              <a:ext cx="0" cy="408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518307" y="1692459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2069794" y="1708985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cxnSp>
          <p:nvCxnSpPr>
            <p:cNvPr id="28" name="直線單箭頭接點 27"/>
            <p:cNvCxnSpPr>
              <a:endCxn id="23" idx="1"/>
            </p:cNvCxnSpPr>
            <p:nvPr/>
          </p:nvCxnSpPr>
          <p:spPr>
            <a:xfrm>
              <a:off x="822832" y="1510481"/>
              <a:ext cx="570998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endCxn id="23" idx="7"/>
            </p:cNvCxnSpPr>
            <p:nvPr/>
          </p:nvCxnSpPr>
          <p:spPr>
            <a:xfrm flipH="1">
              <a:off x="1857680" y="1510481"/>
              <a:ext cx="459544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/>
            <p:cNvSpPr/>
            <p:nvPr/>
          </p:nvSpPr>
          <p:spPr>
            <a:xfrm>
              <a:off x="630834" y="1043723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2133061" y="1065495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</p:grpSp>
      <p:grpSp>
        <p:nvGrpSpPr>
          <p:cNvPr id="92" name="群組 91"/>
          <p:cNvGrpSpPr/>
          <p:nvPr/>
        </p:nvGrpSpPr>
        <p:grpSpPr>
          <a:xfrm>
            <a:off x="6960180" y="1556478"/>
            <a:ext cx="3328716" cy="3364935"/>
            <a:chOff x="3116120" y="1037652"/>
            <a:chExt cx="2219144" cy="2243290"/>
          </a:xfrm>
        </p:grpSpPr>
        <p:sp>
          <p:nvSpPr>
            <p:cNvPr id="30" name="橢圓 29"/>
            <p:cNvSpPr/>
            <p:nvPr/>
          </p:nvSpPr>
          <p:spPr>
            <a:xfrm>
              <a:off x="3895577" y="2216925"/>
              <a:ext cx="655982" cy="6559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1" name="直線接點 30"/>
            <p:cNvCxnSpPr/>
            <p:nvPr/>
          </p:nvCxnSpPr>
          <p:spPr>
            <a:xfrm flipV="1">
              <a:off x="4027625" y="2348973"/>
              <a:ext cx="391886" cy="39188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/>
            <p:nvPr/>
          </p:nvCxnSpPr>
          <p:spPr>
            <a:xfrm>
              <a:off x="4240319" y="2872907"/>
              <a:ext cx="0" cy="408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3116120" y="1692459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667607" y="1708985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cxnSp>
          <p:nvCxnSpPr>
            <p:cNvPr id="35" name="直線單箭頭接點 34"/>
            <p:cNvCxnSpPr>
              <a:endCxn id="30" idx="1"/>
            </p:cNvCxnSpPr>
            <p:nvPr/>
          </p:nvCxnSpPr>
          <p:spPr>
            <a:xfrm>
              <a:off x="3420645" y="1510481"/>
              <a:ext cx="570998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>
              <a:endCxn id="30" idx="7"/>
            </p:cNvCxnSpPr>
            <p:nvPr/>
          </p:nvCxnSpPr>
          <p:spPr>
            <a:xfrm flipH="1">
              <a:off x="4455493" y="1510481"/>
              <a:ext cx="459544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/>
          </p:nvSpPr>
          <p:spPr>
            <a:xfrm>
              <a:off x="3151006" y="1037652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57" name="矩形 56"/>
            <p:cNvSpPr/>
            <p:nvPr/>
          </p:nvSpPr>
          <p:spPr>
            <a:xfrm>
              <a:off x="4653233" y="1059424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grpSp>
          <p:nvGrpSpPr>
            <p:cNvPr id="51" name="群組 50"/>
            <p:cNvGrpSpPr/>
            <p:nvPr/>
          </p:nvGrpSpPr>
          <p:grpSpPr>
            <a:xfrm>
              <a:off x="3183188" y="1085048"/>
              <a:ext cx="365326" cy="367349"/>
              <a:chOff x="-1866900" y="1906630"/>
              <a:chExt cx="365326" cy="367349"/>
            </a:xfrm>
          </p:grpSpPr>
          <p:cxnSp>
            <p:nvCxnSpPr>
              <p:cNvPr id="52" name="直線接點 51"/>
              <p:cNvCxnSpPr/>
              <p:nvPr/>
            </p:nvCxnSpPr>
            <p:spPr>
              <a:xfrm>
                <a:off x="-1866900" y="1906630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/>
              <p:cNvCxnSpPr/>
              <p:nvPr/>
            </p:nvCxnSpPr>
            <p:spPr>
              <a:xfrm rot="5400000">
                <a:off x="-1863524" y="1912029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3" name="群組 92"/>
          <p:cNvGrpSpPr/>
          <p:nvPr/>
        </p:nvGrpSpPr>
        <p:grpSpPr>
          <a:xfrm>
            <a:off x="3061008" y="5930631"/>
            <a:ext cx="3328716" cy="3188042"/>
            <a:chOff x="516672" y="3953754"/>
            <a:chExt cx="2219144" cy="2125361"/>
          </a:xfrm>
        </p:grpSpPr>
        <p:sp>
          <p:nvSpPr>
            <p:cNvPr id="37" name="橢圓 36"/>
            <p:cNvSpPr/>
            <p:nvPr/>
          </p:nvSpPr>
          <p:spPr>
            <a:xfrm>
              <a:off x="1296129" y="5015098"/>
              <a:ext cx="655982" cy="6559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8" name="直線接點 37"/>
            <p:cNvCxnSpPr/>
            <p:nvPr/>
          </p:nvCxnSpPr>
          <p:spPr>
            <a:xfrm flipV="1">
              <a:off x="1428177" y="5147146"/>
              <a:ext cx="391886" cy="39188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/>
            <p:nvPr/>
          </p:nvCxnSpPr>
          <p:spPr>
            <a:xfrm>
              <a:off x="1640871" y="5671080"/>
              <a:ext cx="0" cy="408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字方塊 39"/>
            <p:cNvSpPr txBox="1"/>
            <p:nvPr/>
          </p:nvSpPr>
          <p:spPr>
            <a:xfrm>
              <a:off x="516672" y="4490632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2068159" y="4507158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cxnSp>
          <p:nvCxnSpPr>
            <p:cNvPr id="42" name="直線單箭頭接點 41"/>
            <p:cNvCxnSpPr>
              <a:endCxn id="37" idx="1"/>
            </p:cNvCxnSpPr>
            <p:nvPr/>
          </p:nvCxnSpPr>
          <p:spPr>
            <a:xfrm>
              <a:off x="821197" y="4308654"/>
              <a:ext cx="570998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endCxn id="37" idx="7"/>
            </p:cNvCxnSpPr>
            <p:nvPr/>
          </p:nvCxnSpPr>
          <p:spPr>
            <a:xfrm flipH="1">
              <a:off x="1856045" y="4308654"/>
              <a:ext cx="459544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625354" y="3953754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2127581" y="3975526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grpSp>
          <p:nvGrpSpPr>
            <p:cNvPr id="62" name="群組 61"/>
            <p:cNvGrpSpPr/>
            <p:nvPr/>
          </p:nvGrpSpPr>
          <p:grpSpPr>
            <a:xfrm>
              <a:off x="2160376" y="4016851"/>
              <a:ext cx="365326" cy="367349"/>
              <a:chOff x="-1866900" y="1906630"/>
              <a:chExt cx="365326" cy="367349"/>
            </a:xfrm>
          </p:grpSpPr>
          <p:cxnSp>
            <p:nvCxnSpPr>
              <p:cNvPr id="63" name="直線接點 62"/>
              <p:cNvCxnSpPr/>
              <p:nvPr/>
            </p:nvCxnSpPr>
            <p:spPr>
              <a:xfrm>
                <a:off x="-1866900" y="1906630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接點 63"/>
              <p:cNvCxnSpPr/>
              <p:nvPr/>
            </p:nvCxnSpPr>
            <p:spPr>
              <a:xfrm rot="5400000">
                <a:off x="-1863524" y="1912029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4" name="群組 93"/>
          <p:cNvGrpSpPr/>
          <p:nvPr/>
        </p:nvGrpSpPr>
        <p:grpSpPr>
          <a:xfrm>
            <a:off x="6960180" y="5949857"/>
            <a:ext cx="3328716" cy="3168816"/>
            <a:chOff x="3116120" y="3966571"/>
            <a:chExt cx="2219144" cy="2112544"/>
          </a:xfrm>
        </p:grpSpPr>
        <p:sp>
          <p:nvSpPr>
            <p:cNvPr id="44" name="橢圓 43"/>
            <p:cNvSpPr/>
            <p:nvPr/>
          </p:nvSpPr>
          <p:spPr>
            <a:xfrm>
              <a:off x="3895577" y="5015098"/>
              <a:ext cx="655982" cy="6559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45" name="直線接點 44"/>
            <p:cNvCxnSpPr/>
            <p:nvPr/>
          </p:nvCxnSpPr>
          <p:spPr>
            <a:xfrm flipV="1">
              <a:off x="4027625" y="5147146"/>
              <a:ext cx="391886" cy="39188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4240319" y="5671080"/>
              <a:ext cx="0" cy="4080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3116120" y="4490632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4667607" y="4507158"/>
              <a:ext cx="667657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w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cxnSp>
          <p:nvCxnSpPr>
            <p:cNvPr id="49" name="直線單箭頭接點 48"/>
            <p:cNvCxnSpPr>
              <a:endCxn id="44" idx="1"/>
            </p:cNvCxnSpPr>
            <p:nvPr/>
          </p:nvCxnSpPr>
          <p:spPr>
            <a:xfrm>
              <a:off x="3420645" y="4308654"/>
              <a:ext cx="570998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>
              <a:endCxn id="44" idx="7"/>
            </p:cNvCxnSpPr>
            <p:nvPr/>
          </p:nvCxnSpPr>
          <p:spPr>
            <a:xfrm flipH="1">
              <a:off x="4455493" y="4308654"/>
              <a:ext cx="459544" cy="8025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3249189" y="3966571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1</a:t>
              </a:r>
              <a:endParaRPr lang="zh-TW" altLang="en-US" sz="3600" baseline="-25000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4751416" y="3988343"/>
              <a:ext cx="450000" cy="45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-25000" dirty="0"/>
                <a:t>2</a:t>
              </a:r>
              <a:endParaRPr lang="zh-TW" altLang="en-US" sz="3600" baseline="-25000" dirty="0"/>
            </a:p>
          </p:txBody>
        </p:sp>
        <p:grpSp>
          <p:nvGrpSpPr>
            <p:cNvPr id="65" name="群組 64"/>
            <p:cNvGrpSpPr/>
            <p:nvPr/>
          </p:nvGrpSpPr>
          <p:grpSpPr>
            <a:xfrm>
              <a:off x="3287458" y="4011452"/>
              <a:ext cx="365326" cy="367349"/>
              <a:chOff x="-1866900" y="1906630"/>
              <a:chExt cx="365326" cy="367349"/>
            </a:xfrm>
          </p:grpSpPr>
          <p:cxnSp>
            <p:nvCxnSpPr>
              <p:cNvPr id="66" name="直線接點 65"/>
              <p:cNvCxnSpPr/>
              <p:nvPr/>
            </p:nvCxnSpPr>
            <p:spPr>
              <a:xfrm>
                <a:off x="-1866900" y="1906630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/>
              <p:cNvCxnSpPr/>
              <p:nvPr/>
            </p:nvCxnSpPr>
            <p:spPr>
              <a:xfrm rot="5400000">
                <a:off x="-1863524" y="1912029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群組 67"/>
            <p:cNvGrpSpPr/>
            <p:nvPr/>
          </p:nvGrpSpPr>
          <p:grpSpPr>
            <a:xfrm>
              <a:off x="4829126" y="4065141"/>
              <a:ext cx="365326" cy="367349"/>
              <a:chOff x="-1866900" y="1906630"/>
              <a:chExt cx="365326" cy="367349"/>
            </a:xfrm>
          </p:grpSpPr>
          <p:cxnSp>
            <p:nvCxnSpPr>
              <p:cNvPr id="69" name="直線接點 68"/>
              <p:cNvCxnSpPr/>
              <p:nvPr/>
            </p:nvCxnSpPr>
            <p:spPr>
              <a:xfrm>
                <a:off x="-1866900" y="1906630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接點 69"/>
              <p:cNvCxnSpPr/>
              <p:nvPr/>
            </p:nvCxnSpPr>
            <p:spPr>
              <a:xfrm rot="5400000">
                <a:off x="-1863524" y="1912029"/>
                <a:ext cx="361950" cy="36195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1" name="文字方塊 70"/>
          <p:cNvSpPr txBox="1"/>
          <p:nvPr/>
        </p:nvSpPr>
        <p:spPr>
          <a:xfrm>
            <a:off x="3061008" y="4846557"/>
            <a:ext cx="3372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z=w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+w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6916301" y="4850048"/>
            <a:ext cx="3372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z=w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3035882" y="9065789"/>
            <a:ext cx="3372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z=w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6960180" y="9125424"/>
            <a:ext cx="3372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z=0</a:t>
            </a:r>
            <a:endParaRPr lang="zh-TW" altLang="en-US" sz="3600" baseline="-25000" dirty="0"/>
          </a:p>
        </p:txBody>
      </p:sp>
      <p:sp>
        <p:nvSpPr>
          <p:cNvPr id="75" name="橢圓 74"/>
          <p:cNvSpPr/>
          <p:nvPr/>
        </p:nvSpPr>
        <p:spPr>
          <a:xfrm>
            <a:off x="12763748" y="7318557"/>
            <a:ext cx="983973" cy="9839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76" name="直線接點 75"/>
          <p:cNvCxnSpPr/>
          <p:nvPr/>
        </p:nvCxnSpPr>
        <p:spPr>
          <a:xfrm flipV="1">
            <a:off x="12961820" y="7516629"/>
            <a:ext cx="587829" cy="58782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13280861" y="8302530"/>
            <a:ext cx="0" cy="6120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11718720" y="5551233"/>
            <a:ext cx="675000" cy="67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79" name="矩形 78"/>
          <p:cNvSpPr/>
          <p:nvPr/>
        </p:nvSpPr>
        <p:spPr>
          <a:xfrm>
            <a:off x="13972061" y="5583891"/>
            <a:ext cx="675000" cy="67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1594562" y="6531858"/>
            <a:ext cx="10014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4282207" y="6586464"/>
            <a:ext cx="10014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cxnSp>
        <p:nvCxnSpPr>
          <p:cNvPr id="83" name="直線單箭頭接點 82"/>
          <p:cNvCxnSpPr>
            <a:endCxn id="75" idx="1"/>
          </p:cNvCxnSpPr>
          <p:nvPr/>
        </p:nvCxnSpPr>
        <p:spPr>
          <a:xfrm>
            <a:off x="12051350" y="6258891"/>
            <a:ext cx="856497" cy="12037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75" idx="7"/>
          </p:cNvCxnSpPr>
          <p:nvPr/>
        </p:nvCxnSpPr>
        <p:spPr>
          <a:xfrm flipH="1">
            <a:off x="13603622" y="6258891"/>
            <a:ext cx="689316" cy="12037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11474355" y="6351709"/>
                <a:ext cx="305435" cy="1028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4355" y="6351709"/>
                <a:ext cx="305435" cy="1028065"/>
              </a:xfrm>
              <a:prstGeom prst="rect">
                <a:avLst/>
              </a:prstGeom>
              <a:blipFill rotWithShape="1">
                <a:blip r:embed="rId3"/>
                <a:stretch>
                  <a:fillRect l="-177" t="-43" r="-24563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14144858" y="6414108"/>
                <a:ext cx="305435" cy="1028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4858" y="6414108"/>
                <a:ext cx="305435" cy="1028065"/>
              </a:xfrm>
              <a:prstGeom prst="rect">
                <a:avLst/>
              </a:prstGeom>
              <a:blipFill rotWithShape="1">
                <a:blip r:embed="rId3"/>
                <a:stretch>
                  <a:fillRect l="-76" t="-59" r="-24664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群組 89"/>
          <p:cNvGrpSpPr/>
          <p:nvPr/>
        </p:nvGrpSpPr>
        <p:grpSpPr>
          <a:xfrm>
            <a:off x="11431262" y="433364"/>
            <a:ext cx="3648945" cy="4310654"/>
            <a:chOff x="6096841" y="288909"/>
            <a:chExt cx="2432630" cy="2873769"/>
          </a:xfrm>
        </p:grpSpPr>
        <p:grpSp>
          <p:nvGrpSpPr>
            <p:cNvPr id="87" name="群組 86"/>
            <p:cNvGrpSpPr/>
            <p:nvPr/>
          </p:nvGrpSpPr>
          <p:grpSpPr>
            <a:xfrm>
              <a:off x="6205708" y="468942"/>
              <a:ext cx="2248397" cy="2573555"/>
              <a:chOff x="6310492" y="287501"/>
              <a:chExt cx="2248397" cy="2573555"/>
            </a:xfrm>
          </p:grpSpPr>
          <p:sp>
            <p:nvSpPr>
              <p:cNvPr id="6" name="橢圓 5"/>
              <p:cNvSpPr/>
              <p:nvPr/>
            </p:nvSpPr>
            <p:spPr>
              <a:xfrm>
                <a:off x="7089949" y="1465717"/>
                <a:ext cx="655982" cy="65598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cxnSp>
            <p:nvCxnSpPr>
              <p:cNvPr id="10" name="直線接點 9"/>
              <p:cNvCxnSpPr/>
              <p:nvPr/>
            </p:nvCxnSpPr>
            <p:spPr>
              <a:xfrm flipV="1">
                <a:off x="7221997" y="1597765"/>
                <a:ext cx="391886" cy="391886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線單箭頭接點 11"/>
              <p:cNvCxnSpPr/>
              <p:nvPr/>
            </p:nvCxnSpPr>
            <p:spPr>
              <a:xfrm>
                <a:off x="7434691" y="2121699"/>
                <a:ext cx="0" cy="4080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 12"/>
              <p:cNvSpPr/>
              <p:nvPr/>
            </p:nvSpPr>
            <p:spPr>
              <a:xfrm>
                <a:off x="6393264" y="287501"/>
                <a:ext cx="450000" cy="4500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-25000" dirty="0"/>
                  <a:t>1</a:t>
                </a:r>
                <a:endParaRPr lang="zh-TW" altLang="en-US" sz="3600" baseline="-25000" dirty="0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7895491" y="309273"/>
                <a:ext cx="450000" cy="4500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600" dirty="0"/>
                  <a:t>x</a:t>
                </a:r>
                <a:r>
                  <a:rPr lang="en-US" altLang="zh-TW" sz="3600" baseline="-25000" dirty="0"/>
                  <a:t>2</a:t>
                </a:r>
                <a:endParaRPr lang="zh-TW" altLang="en-US" sz="3600" baseline="-25000" dirty="0"/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6310492" y="941251"/>
                <a:ext cx="667657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w</a:t>
                </a:r>
                <a:r>
                  <a:rPr lang="en-US" altLang="zh-TW" sz="3600" baseline="-25000" dirty="0"/>
                  <a:t>1</a:t>
                </a:r>
                <a:endParaRPr lang="zh-TW" altLang="en-US" sz="3600" baseline="-25000" dirty="0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7861979" y="957777"/>
                <a:ext cx="667657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w</a:t>
                </a:r>
                <a:r>
                  <a:rPr lang="en-US" altLang="zh-TW" sz="3600" baseline="-25000" dirty="0"/>
                  <a:t>2</a:t>
                </a:r>
                <a:endParaRPr lang="zh-TW" altLang="en-US" sz="3600" baseline="-25000" dirty="0"/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6310492" y="2430949"/>
                <a:ext cx="2248397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z=w</a:t>
                </a:r>
                <a:r>
                  <a:rPr lang="en-US" altLang="zh-TW" sz="3600" baseline="-25000" dirty="0"/>
                  <a:t>1</a:t>
                </a:r>
                <a:r>
                  <a:rPr lang="en-US" altLang="zh-TW" sz="3600" dirty="0"/>
                  <a:t>x</a:t>
                </a:r>
                <a:r>
                  <a:rPr lang="en-US" altLang="zh-TW" sz="3600" baseline="-25000" dirty="0"/>
                  <a:t>1</a:t>
                </a:r>
                <a:r>
                  <a:rPr lang="en-US" altLang="zh-TW" sz="3600" dirty="0"/>
                  <a:t>+w</a:t>
                </a:r>
                <a:r>
                  <a:rPr lang="en-US" altLang="zh-TW" sz="3600" baseline="-25000" dirty="0"/>
                  <a:t>2</a:t>
                </a:r>
                <a:r>
                  <a:rPr lang="en-US" altLang="zh-TW" sz="3600" dirty="0"/>
                  <a:t>x</a:t>
                </a:r>
                <a:r>
                  <a:rPr lang="en-US" altLang="zh-TW" sz="3600" baseline="-25000" dirty="0"/>
                  <a:t>2</a:t>
                </a:r>
                <a:endParaRPr lang="zh-TW" altLang="en-US" sz="3600" baseline="-25000" dirty="0"/>
              </a:p>
            </p:txBody>
          </p:sp>
          <p:cxnSp>
            <p:nvCxnSpPr>
              <p:cNvPr id="19" name="直線單箭頭接點 18"/>
              <p:cNvCxnSpPr>
                <a:endCxn id="6" idx="1"/>
              </p:cNvCxnSpPr>
              <p:nvPr/>
            </p:nvCxnSpPr>
            <p:spPr>
              <a:xfrm>
                <a:off x="6615017" y="759273"/>
                <a:ext cx="570998" cy="8025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>
                <a:endCxn id="6" idx="7"/>
              </p:cNvCxnSpPr>
              <p:nvPr/>
            </p:nvCxnSpPr>
            <p:spPr>
              <a:xfrm flipH="1">
                <a:off x="7649865" y="759273"/>
                <a:ext cx="459544" cy="8025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矩形 87"/>
            <p:cNvSpPr/>
            <p:nvPr/>
          </p:nvSpPr>
          <p:spPr>
            <a:xfrm>
              <a:off x="6096841" y="288909"/>
              <a:ext cx="2432630" cy="2873769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/>
              <p:cNvSpPr txBox="1"/>
              <p:nvPr/>
            </p:nvSpPr>
            <p:spPr>
              <a:xfrm>
                <a:off x="13437968" y="8137656"/>
                <a:ext cx="4069715" cy="1028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9" name="文字方塊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7968" y="8137656"/>
                <a:ext cx="4069715" cy="1028065"/>
              </a:xfrm>
              <a:prstGeom prst="rect">
                <a:avLst/>
              </a:prstGeom>
              <a:blipFill>
                <a:blip r:embed="rId4"/>
                <a:stretch>
                  <a:fillRect l="-1242" r="-932"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  <p:bldP spid="74" grpId="0"/>
      <p:bldP spid="75" grpId="0" bldLvl="0" animBg="1"/>
      <p:bldP spid="78" grpId="0" bldLvl="0" animBg="1"/>
      <p:bldP spid="79" grpId="0" bldLvl="0" animBg="1"/>
      <p:bldP spid="80" grpId="0"/>
      <p:bldP spid="81" grpId="0"/>
      <p:bldP spid="85" grpId="0"/>
      <p:bldP spid="86" grpId="0"/>
      <p:bldP spid="8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7352445" y="8051181"/>
            <a:ext cx="4147001" cy="1993013"/>
            <a:chOff x="6018023" y="4983224"/>
            <a:chExt cx="2764667" cy="1328675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018023" y="4983224"/>
              <a:ext cx="2764667" cy="1328675"/>
            </a:xfrm>
            <a:prstGeom prst="rect">
              <a:avLst/>
            </a:prstGeom>
          </p:spPr>
        </p:pic>
        <p:sp>
          <p:nvSpPr>
            <p:cNvPr id="8" name="文字方塊 7"/>
            <p:cNvSpPr txBox="1"/>
            <p:nvPr/>
          </p:nvSpPr>
          <p:spPr>
            <a:xfrm>
              <a:off x="6707786" y="5210235"/>
              <a:ext cx="1837691" cy="718145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Neural Network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graphicFrame>
        <p:nvGraphicFramePr>
          <p:cNvPr id="1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615318" y="2494919"/>
          <a:ext cx="4707198" cy="5054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矩形 14"/>
          <p:cNvSpPr/>
          <p:nvPr/>
        </p:nvSpPr>
        <p:spPr>
          <a:xfrm>
            <a:off x="3348548" y="2228876"/>
            <a:ext cx="5281683" cy="56071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下箭號 17"/>
          <p:cNvSpPr/>
          <p:nvPr/>
        </p:nvSpPr>
        <p:spPr>
          <a:xfrm rot="5400000">
            <a:off x="9536745" y="5514645"/>
            <a:ext cx="818865" cy="2394897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4" name="右彎箭號 23"/>
          <p:cNvSpPr/>
          <p:nvPr/>
        </p:nvSpPr>
        <p:spPr>
          <a:xfrm flipV="1">
            <a:off x="5736179" y="7945110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accent2"/>
                </a:solidFill>
              </a:rPr>
              <a:t>YES</a:t>
            </a:r>
            <a:endParaRPr lang="zh-TW" altLang="en-US" sz="3600" dirty="0">
              <a:solidFill>
                <a:schemeClr val="accent2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accent2"/>
                </a:solidFill>
              </a:rPr>
              <a:t>YES</a:t>
            </a:r>
            <a:endParaRPr lang="zh-TW" altLang="en-US" sz="3600" dirty="0">
              <a:solidFill>
                <a:schemeClr val="accent2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9487413" y="582458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NO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9" name="向下箭號 28"/>
          <p:cNvSpPr/>
          <p:nvPr/>
        </p:nvSpPr>
        <p:spPr>
          <a:xfrm rot="5400000">
            <a:off x="9536745" y="2123666"/>
            <a:ext cx="818865" cy="2394897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9487413" y="2351124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NO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8543994" y="3719160"/>
            <a:ext cx="2911931" cy="7078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Overfitting!</a:t>
            </a:r>
            <a:endParaRPr lang="zh-TW" altLang="en-US" sz="40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127760" y="460375"/>
            <a:ext cx="86372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Graphic spid="14" grpId="0">
        <p:bldAsOne/>
      </p:bldGraphic>
      <p:bldP spid="15" grpId="0" bldLvl="0" animBg="1"/>
      <p:bldP spid="18" grpId="0" bldLvl="0" animBg="1"/>
      <p:bldP spid="20" grpId="0" bldLvl="0" animBg="1"/>
      <p:bldP spid="21" grpId="0" bldLvl="0" animBg="1"/>
      <p:bldP spid="24" grpId="0" bldLvl="0" animBg="1"/>
      <p:bldP spid="25" grpId="0" bldLvl="0" animBg="1"/>
      <p:bldP spid="26" grpId="0"/>
      <p:bldP spid="27" grpId="0"/>
      <p:bldP spid="28" grpId="0"/>
      <p:bldP spid="29" grpId="0" bldLvl="0" animBg="1"/>
      <p:bldP spid="30" grpId="0"/>
      <p:bldP spid="23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BFA838ED-C12F-4A42-8E88-98BAC73D2147}">
  <ds:schemaRefs/>
</ds:datastoreItem>
</file>

<file path=customXml/itemProps3.xml><?xml version="1.0" encoding="utf-8"?>
<ds:datastoreItem xmlns:ds="http://schemas.openxmlformats.org/officeDocument/2006/customXml" ds:itemID="{9636FAAA-BCD0-4737-B7BF-714C4CFDEB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2063</Words>
  <Application>Microsoft Office PowerPoint</Application>
  <PresentationFormat>Custom</PresentationFormat>
  <Paragraphs>688</Paragraphs>
  <Slides>55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等线</vt:lpstr>
      <vt:lpstr>Lucida Grande</vt:lpstr>
      <vt:lpstr>Arial</vt:lpstr>
      <vt:lpstr>Cambria Math</vt:lpstr>
      <vt:lpstr>Wingdings</vt:lpstr>
      <vt:lpstr>Wingdings 2</vt:lpstr>
      <vt:lpstr>Breeze</vt:lpstr>
      <vt:lpstr>方程式</vt:lpstr>
      <vt:lpstr>Tips for Deep Learning</vt:lpstr>
      <vt:lpstr>Overview</vt:lpstr>
      <vt:lpstr>Tips for Deep Learning</vt:lpstr>
      <vt:lpstr>PowerPoint Presentation</vt:lpstr>
      <vt:lpstr>Do not always blame Overfitting</vt:lpstr>
      <vt:lpstr>PowerPoint Presentation</vt:lpstr>
      <vt:lpstr>PowerPoint Presentation</vt:lpstr>
      <vt:lpstr>Hard to get the power of Deep …</vt:lpstr>
      <vt:lpstr>Vanishing Gradient Problem</vt:lpstr>
      <vt:lpstr>Vanishing Gradient Problem</vt:lpstr>
      <vt:lpstr> ReLU</vt:lpstr>
      <vt:lpstr>ReLU</vt:lpstr>
      <vt:lpstr>ReLU</vt:lpstr>
      <vt:lpstr>ReLU</vt:lpstr>
      <vt:lpstr>ReLU - variant</vt:lpstr>
      <vt:lpstr>Maxout </vt:lpstr>
      <vt:lpstr>Maxout </vt:lpstr>
      <vt:lpstr>Maxout </vt:lpstr>
      <vt:lpstr>Maxout </vt:lpstr>
      <vt:lpstr>Maxout - Training</vt:lpstr>
      <vt:lpstr>Maxout - Training</vt:lpstr>
      <vt:lpstr>Adaptive Learning Rate</vt:lpstr>
      <vt:lpstr>PowerPoint Presentation</vt:lpstr>
      <vt:lpstr>Review</vt:lpstr>
      <vt:lpstr>RMSProp</vt:lpstr>
      <vt:lpstr>RMSProp</vt:lpstr>
      <vt:lpstr>Hard to find  optimal network parameters</vt:lpstr>
      <vt:lpstr>In physical world ……</vt:lpstr>
      <vt:lpstr> Adaptive Learning Rate</vt:lpstr>
      <vt:lpstr>Review: Vanilla Gradient Descent</vt:lpstr>
      <vt:lpstr>Momentum</vt:lpstr>
      <vt:lpstr>Momentum</vt:lpstr>
      <vt:lpstr>Momentum</vt:lpstr>
      <vt:lpstr>Adam</vt:lpstr>
      <vt:lpstr> Early Stopping &amp; Regularization</vt:lpstr>
      <vt:lpstr>PowerPoint Presentation</vt:lpstr>
      <vt:lpstr>Early Stopping</vt:lpstr>
      <vt:lpstr>PowerPoint Presentation</vt:lpstr>
      <vt:lpstr>Regularization</vt:lpstr>
      <vt:lpstr>Regularization</vt:lpstr>
      <vt:lpstr>Regularization</vt:lpstr>
      <vt:lpstr>Regularization - Weight Decay</vt:lpstr>
      <vt:lpstr> Dropout</vt:lpstr>
      <vt:lpstr>PowerPoint Presentation</vt:lpstr>
      <vt:lpstr>Dropout</vt:lpstr>
      <vt:lpstr>Dropout</vt:lpstr>
      <vt:lpstr>Dropout</vt:lpstr>
      <vt:lpstr>Dropout - Intuitive Reason</vt:lpstr>
      <vt:lpstr>Dropout - Intuitive Reason</vt:lpstr>
      <vt:lpstr>Dropout is a kind of ensemble.</vt:lpstr>
      <vt:lpstr>Dropout is a kind of ensemble.</vt:lpstr>
      <vt:lpstr>Dropout is a kind of ensemble.</vt:lpstr>
      <vt:lpstr>Dropout is a kind of ensemble.</vt:lpstr>
      <vt:lpstr>PowerPoint Presentation</vt:lpstr>
      <vt:lpstr>PowerPoint Presentation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Zehui Bai</cp:lastModifiedBy>
  <cp:revision>26</cp:revision>
  <dcterms:created xsi:type="dcterms:W3CDTF">2019-02-13T16:04:00Z</dcterms:created>
  <dcterms:modified xsi:type="dcterms:W3CDTF">2025-11-19T12:55:37Z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