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notesMasterIdLst>
    <p:notesMasterId r:id="rId40"/>
  </p:notesMasterIdLst>
  <p:sldIdLst>
    <p:sldId id="259" r:id="rId4"/>
    <p:sldId id="305" r:id="rId5"/>
    <p:sldId id="306" r:id="rId6"/>
    <p:sldId id="262" r:id="rId7"/>
    <p:sldId id="266" r:id="rId8"/>
    <p:sldId id="304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9" r:id="rId17"/>
    <p:sldId id="281" r:id="rId18"/>
    <p:sldId id="280" r:id="rId19"/>
    <p:sldId id="282" r:id="rId20"/>
    <p:sldId id="307" r:id="rId21"/>
    <p:sldId id="283" r:id="rId22"/>
    <p:sldId id="285" r:id="rId23"/>
    <p:sldId id="286" r:id="rId24"/>
    <p:sldId id="287" r:id="rId25"/>
    <p:sldId id="288" r:id="rId26"/>
    <p:sldId id="289" r:id="rId27"/>
    <p:sldId id="293" r:id="rId28"/>
    <p:sldId id="294" r:id="rId29"/>
    <p:sldId id="295" r:id="rId30"/>
    <p:sldId id="296" r:id="rId31"/>
    <p:sldId id="297" r:id="rId32"/>
    <p:sldId id="308" r:id="rId33"/>
    <p:sldId id="298" r:id="rId34"/>
    <p:sldId id="299" r:id="rId35"/>
    <p:sldId id="300" r:id="rId36"/>
    <p:sldId id="301" r:id="rId37"/>
    <p:sldId id="302" r:id="rId38"/>
    <p:sldId id="267" r:id="rId3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6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3786"/>
  </p:normalViewPr>
  <p:slideViewPr>
    <p:cSldViewPr snapToGrid="0" snapToObjects="1">
      <p:cViewPr varScale="1">
        <p:scale>
          <a:sx n="70" d="100"/>
          <a:sy n="70" d="100"/>
        </p:scale>
        <p:origin x="774" y="78"/>
      </p:cViewPr>
      <p:guideLst>
        <p:guide orient="horz" pos="3116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B7F0FA-1BD4-4383-A8C5-5F618E7F929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B7F0FA-1BD4-4383-A8C5-5F618E7F929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B7F0FA-1BD4-4383-A8C5-5F618E7F929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32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86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B7F0FA-1BD4-4383-A8C5-5F618E7F929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810.05270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9.png"/><Relationship Id="rId5" Type="http://schemas.openxmlformats.org/officeDocument/2006/relationships/image" Target="../media/image230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0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8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9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9.png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72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3007744"/>
            <a:ext cx="12998450" cy="152657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Network Compression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9124315" y="588391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073995"/>
          </a:xfrm>
        </p:spPr>
        <p:txBody>
          <a:bodyPr/>
          <a:lstStyle/>
          <a:p>
            <a:r>
              <a:rPr lang="en-US" sz="6000" dirty="0"/>
              <a:t>Overview</a:t>
            </a:r>
          </a:p>
        </p:txBody>
      </p:sp>
      <p:pic>
        <p:nvPicPr>
          <p:cNvPr id="102" name="Picture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9124315" y="588391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Picture 4" descr="ãsmart watchãçåçæå°çµæ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1300" y="1971486"/>
            <a:ext cx="1997075" cy="199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"/>
          <p:cNvSpPr txBox="1"/>
          <p:nvPr/>
        </p:nvSpPr>
        <p:spPr>
          <a:xfrm>
            <a:off x="1805269" y="1369729"/>
            <a:ext cx="1501623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sz="2800" dirty="0">
                <a:sym typeface="+mn-ea"/>
              </a:rPr>
              <a:t>Deploying DL models in resource-constrained environments with Lower latency, Privacy, etc. </a:t>
            </a:r>
            <a:endParaRPr lang="zh-TW" alt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BE067D-1590-1BA6-5355-8B0C752EA712}"/>
              </a:ext>
            </a:extLst>
          </p:cNvPr>
          <p:cNvSpPr txBox="1">
            <a:spLocks/>
          </p:cNvSpPr>
          <p:nvPr/>
        </p:nvSpPr>
        <p:spPr bwMode="auto">
          <a:xfrm>
            <a:off x="776377" y="4047098"/>
            <a:ext cx="5184923" cy="503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Bold Oblique" pitchFamily="2" charset="0"/>
              </a:rPr>
              <a:t>Model Compression</a:t>
            </a:r>
            <a:endParaRPr lang="en-US" sz="3200" dirty="0">
              <a:solidFill>
                <a:srgbClr val="FF0000"/>
              </a:solidFill>
              <a:latin typeface="Helvetica Bold Oblique" pitchFamily="2" charset="0"/>
            </a:endParaRPr>
          </a:p>
        </p:txBody>
      </p:sp>
      <p:pic>
        <p:nvPicPr>
          <p:cNvPr id="9" name="图片占位符 15" descr="图示&#10;&#10;描述已自动生成">
            <a:extLst>
              <a:ext uri="{FF2B5EF4-FFF2-40B4-BE49-F238E27FC236}">
                <a16:creationId xmlns:a16="http://schemas.microsoft.com/office/drawing/2014/main" id="{8B7B53D7-9A4F-7A10-98B3-0421EAE0E8D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" r="315"/>
          <a:stretch/>
        </p:blipFill>
        <p:spPr>
          <a:xfrm>
            <a:off x="5631340" y="4956472"/>
            <a:ext cx="4040819" cy="2255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E2830A-295D-B3DA-5918-57AC2A478649}"/>
              </a:ext>
            </a:extLst>
          </p:cNvPr>
          <p:cNvSpPr txBox="1"/>
          <p:nvPr/>
        </p:nvSpPr>
        <p:spPr>
          <a:xfrm>
            <a:off x="1683749" y="6096302"/>
            <a:ext cx="3029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Model Pruning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C7791-230B-22F7-C3DA-E564279FA0D7}"/>
              </a:ext>
            </a:extLst>
          </p:cNvPr>
          <p:cNvSpPr txBox="1"/>
          <p:nvPr/>
        </p:nvSpPr>
        <p:spPr>
          <a:xfrm>
            <a:off x="9799321" y="5453917"/>
            <a:ext cx="79733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Set individual </a:t>
            </a:r>
            <a:r>
              <a:rPr lang="en-US" altLang="zh-CN" sz="2800" b="1" dirty="0"/>
              <a:t>parameters to zero </a:t>
            </a:r>
            <a:r>
              <a:rPr lang="en-US" altLang="zh-CN" sz="2800" dirty="0"/>
              <a:t>and make the network sparse.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/>
              <a:t>Remove</a:t>
            </a:r>
            <a:r>
              <a:rPr lang="en-US" altLang="zh-CN" sz="2800" dirty="0"/>
              <a:t> entire nodes from the network.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FACC8-FE05-A712-B329-5DB293D74403}"/>
              </a:ext>
            </a:extLst>
          </p:cNvPr>
          <p:cNvSpPr txBox="1"/>
          <p:nvPr/>
        </p:nvSpPr>
        <p:spPr>
          <a:xfrm>
            <a:off x="1179606" y="8528420"/>
            <a:ext cx="4038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Knowledge Distillation</a:t>
            </a:r>
          </a:p>
        </p:txBody>
      </p:sp>
      <p:pic>
        <p:nvPicPr>
          <p:cNvPr id="13" name="内容占位符 4" descr="图示&#10;&#10;描述已自动生成">
            <a:extLst>
              <a:ext uri="{FF2B5EF4-FFF2-40B4-BE49-F238E27FC236}">
                <a16:creationId xmlns:a16="http://schemas.microsoft.com/office/drawing/2014/main" id="{6356A5CA-9382-5753-453D-19FD8D61B92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r="-147"/>
          <a:stretch/>
        </p:blipFill>
        <p:spPr>
          <a:xfrm>
            <a:off x="5664493" y="7364171"/>
            <a:ext cx="4007666" cy="25829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948A93-D469-FF89-CBD3-2BB09E4466C5}"/>
              </a:ext>
            </a:extLst>
          </p:cNvPr>
          <p:cNvSpPr txBox="1"/>
          <p:nvPr/>
        </p:nvSpPr>
        <p:spPr>
          <a:xfrm>
            <a:off x="9799319" y="7963164"/>
            <a:ext cx="79733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Transfer the knowledge from a large model or set of models to a single smaller model. </a:t>
            </a:r>
          </a:p>
        </p:txBody>
      </p:sp>
      <p:pic>
        <p:nvPicPr>
          <p:cNvPr id="2" name="图片 4" descr="图片包含 游戏机, 体育, 桌子&#10;&#10;描述已自动生成">
            <a:extLst>
              <a:ext uri="{FF2B5EF4-FFF2-40B4-BE49-F238E27FC236}">
                <a16:creationId xmlns:a16="http://schemas.microsoft.com/office/drawing/2014/main" id="{100F5F79-F0F2-8472-8FBD-3482CFD8C1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217" y="2076873"/>
            <a:ext cx="4040819" cy="169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5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/>
      <p:bldP spid="10" grpId="0"/>
      <p:bldP spid="11" grpId="0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9124315" y="588391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Picture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9124315" y="588391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内容占位符 7" descr="图表, 瀑布图&#10;&#10;描述已自动生成">
            <a:extLst>
              <a:ext uri="{FF2B5EF4-FFF2-40B4-BE49-F238E27FC236}">
                <a16:creationId xmlns:a16="http://schemas.microsoft.com/office/drawing/2014/main" id="{DD7A777A-3826-0011-1A36-948843217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68"/>
          <a:stretch/>
        </p:blipFill>
        <p:spPr>
          <a:xfrm>
            <a:off x="531074" y="2682859"/>
            <a:ext cx="4553310" cy="22502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D858AC-FF27-9C46-A72C-8B5A1B7B81E0}"/>
              </a:ext>
            </a:extLst>
          </p:cNvPr>
          <p:cNvSpPr txBox="1"/>
          <p:nvPr/>
        </p:nvSpPr>
        <p:spPr>
          <a:xfrm>
            <a:off x="376160" y="1902373"/>
            <a:ext cx="30661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Quantization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49975-9072-339E-4DA5-91421C8F02BF}"/>
              </a:ext>
            </a:extLst>
          </p:cNvPr>
          <p:cNvSpPr txBox="1"/>
          <p:nvPr/>
        </p:nvSpPr>
        <p:spPr>
          <a:xfrm>
            <a:off x="5291418" y="2682859"/>
            <a:ext cx="12996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/>
              <a:t>Reduce the precision </a:t>
            </a:r>
            <a:r>
              <a:rPr lang="en-US" altLang="zh-CN" sz="2800" dirty="0"/>
              <a:t>of the weights, biases, and activations such that they consume less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Going from 32-bit to 8-bit, for example, would reduce the model size by a factor of 4, so one obvious benefit of quantization is a significant reduction in memory.</a:t>
            </a: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2C4F4A1-FEB1-4D0B-5689-4B48E908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52937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831466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Network Pruning</a:t>
            </a:r>
            <a:br>
              <a:rPr lang="en-US" dirty="0"/>
            </a:br>
            <a:endParaRPr lang="en-US" sz="44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76DFE-0A38-0EFE-CAC4-3A451908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Network can be pruned</a:t>
            </a:r>
            <a:endParaRPr lang="en-US" altLang="en-US"/>
          </a:p>
        </p:txBody>
      </p:sp>
      <p:sp>
        <p:nvSpPr>
          <p:cNvPr id="6146" name="Content Placeholder 2"/>
          <p:cNvSpPr>
            <a:spLocks noGrp="1"/>
          </p:cNvSpPr>
          <p:nvPr>
            <p:ph idx="1"/>
          </p:nvPr>
        </p:nvSpPr>
        <p:spPr>
          <a:xfrm>
            <a:off x="1098550" y="2051050"/>
            <a:ext cx="16084550" cy="3517265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Networks are typically over-parameterized (there is significant redundant weights or neurons)</a:t>
            </a:r>
            <a:endParaRPr lang="en-US" altLang="zh-TW" dirty="0"/>
          </a:p>
          <a:p>
            <a:endParaRPr lang="en-US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810125" y="934974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4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485" y="5450205"/>
            <a:ext cx="7877175" cy="2647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Box 6"/>
          <p:cNvSpPr txBox="1"/>
          <p:nvPr/>
        </p:nvSpPr>
        <p:spPr>
          <a:xfrm>
            <a:off x="1594485" y="3694430"/>
            <a:ext cx="439547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sz="5600" b="1" dirty="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Prune </a:t>
            </a:r>
            <a:r>
              <a:rPr lang="en-US" altLang="zh-TW" sz="5600" b="1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them!</a:t>
            </a:r>
            <a:endParaRPr lang="en-US" dirty="0"/>
          </a:p>
        </p:txBody>
      </p:sp>
      <p:pic>
        <p:nvPicPr>
          <p:cNvPr id="8" name="Picture 2" descr="http://www.3kirikou.org/manager/upload/day_140203/20140203230837519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8010" y="3364230"/>
            <a:ext cx="5946775" cy="531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3"/>
          <p:cNvSpPr txBox="1"/>
          <p:nvPr/>
        </p:nvSpPr>
        <p:spPr>
          <a:xfrm>
            <a:off x="1594302" y="8312570"/>
            <a:ext cx="1707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(NIPS, 1989)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Pruning </a:t>
            </a:r>
            <a:endParaRPr lang="zh-TW" altLang="en-US" dirty="0"/>
          </a:p>
        </p:txBody>
      </p:sp>
      <p:sp>
        <p:nvSpPr>
          <p:cNvPr id="4" name="矩形: 圓角 3"/>
          <p:cNvSpPr/>
          <p:nvPr/>
        </p:nvSpPr>
        <p:spPr>
          <a:xfrm>
            <a:off x="11209656" y="1891910"/>
            <a:ext cx="2958029" cy="1080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Pre-trained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5" name="矩形: 圓角 4"/>
          <p:cNvSpPr/>
          <p:nvPr/>
        </p:nvSpPr>
        <p:spPr>
          <a:xfrm>
            <a:off x="11209659" y="3574605"/>
            <a:ext cx="2958029" cy="1080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Evaluate the Importance</a:t>
            </a:r>
            <a:endParaRPr lang="zh-TW" altLang="en-US" sz="3600" dirty="0"/>
          </a:p>
        </p:txBody>
      </p:sp>
      <p:sp>
        <p:nvSpPr>
          <p:cNvPr id="6" name="矩形: 圓角 5"/>
          <p:cNvSpPr/>
          <p:nvPr/>
        </p:nvSpPr>
        <p:spPr>
          <a:xfrm>
            <a:off x="11209658" y="5257301"/>
            <a:ext cx="2958029" cy="1080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Remove</a:t>
            </a:r>
            <a:endParaRPr lang="zh-TW" altLang="en-US" sz="3600" dirty="0"/>
          </a:p>
        </p:txBody>
      </p:sp>
      <p:sp>
        <p:nvSpPr>
          <p:cNvPr id="7" name="矩形: 圓角 6"/>
          <p:cNvSpPr/>
          <p:nvPr/>
        </p:nvSpPr>
        <p:spPr>
          <a:xfrm>
            <a:off x="11209658" y="6939996"/>
            <a:ext cx="2958029" cy="1080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Fine-tune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0267023" y="9043856"/>
            <a:ext cx="3899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Smaller Network</a:t>
            </a:r>
            <a:endParaRPr lang="zh-TW" altLang="en-US" sz="3600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12696939" y="3018080"/>
            <a:ext cx="0" cy="54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2702440" y="4671131"/>
            <a:ext cx="0" cy="54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12702440" y="6337301"/>
            <a:ext cx="0" cy="54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12702438" y="8019996"/>
            <a:ext cx="2" cy="108872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9945812" y="4076134"/>
            <a:ext cx="0" cy="3442089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9860087" y="7508063"/>
            <a:ext cx="1333044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9895809" y="4065974"/>
            <a:ext cx="133304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474239" y="2207158"/>
            <a:ext cx="60336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Importance of a weight: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773139" y="2999466"/>
            <a:ext cx="6559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absolute values, life long …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474239" y="3792336"/>
            <a:ext cx="5715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Importance of a neuron:</a:t>
            </a:r>
            <a:endParaRPr lang="zh-TW" altLang="en-US" sz="3600" dirty="0"/>
          </a:p>
        </p:txBody>
      </p:sp>
      <p:sp>
        <p:nvSpPr>
          <p:cNvPr id="29" name="矩形 28"/>
          <p:cNvSpPr/>
          <p:nvPr/>
        </p:nvSpPr>
        <p:spPr>
          <a:xfrm>
            <a:off x="2525395" y="4507865"/>
            <a:ext cx="676338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rgbClr val="333333"/>
                </a:solidFill>
              </a:rPr>
              <a:t>the number of times it wasn’t zero on a given data set ……</a:t>
            </a:r>
            <a:endParaRPr lang="zh-TW" altLang="en-US" sz="3600" dirty="0"/>
          </a:p>
        </p:txBody>
      </p:sp>
      <p:sp>
        <p:nvSpPr>
          <p:cNvPr id="30" name="矩形 29"/>
          <p:cNvSpPr/>
          <p:nvPr/>
        </p:nvSpPr>
        <p:spPr>
          <a:xfrm>
            <a:off x="1474470" y="5888355"/>
            <a:ext cx="720788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>
                <a:solidFill>
                  <a:srgbClr val="333333"/>
                </a:solidFill>
              </a:rPr>
              <a:t>After pruning, the accuracy will drop (hopefully not too much)</a:t>
            </a:r>
            <a:endParaRPr lang="zh-TW" altLang="en-US" sz="3600" dirty="0"/>
          </a:p>
        </p:txBody>
      </p:sp>
      <p:sp>
        <p:nvSpPr>
          <p:cNvPr id="31" name="矩形 30"/>
          <p:cNvSpPr/>
          <p:nvPr/>
        </p:nvSpPr>
        <p:spPr>
          <a:xfrm>
            <a:off x="1474240" y="7230620"/>
            <a:ext cx="6858000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>
                <a:solidFill>
                  <a:srgbClr val="333333"/>
                </a:solidFill>
              </a:rPr>
              <a:t>Fine-tuning on training data for recover</a:t>
            </a:r>
            <a:endParaRPr lang="zh-TW" altLang="en-US" sz="3600" dirty="0"/>
          </a:p>
        </p:txBody>
      </p:sp>
      <p:sp>
        <p:nvSpPr>
          <p:cNvPr id="32" name="矩形 31"/>
          <p:cNvSpPr/>
          <p:nvPr/>
        </p:nvSpPr>
        <p:spPr>
          <a:xfrm>
            <a:off x="1474240" y="8528062"/>
            <a:ext cx="6858000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>
                <a:solidFill>
                  <a:srgbClr val="333333"/>
                </a:solidFill>
              </a:rPr>
              <a:t>Don’t prune too much at once, or the network won’t recover.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13859696" y="2466065"/>
            <a:ext cx="1489031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large</a:t>
            </a:r>
            <a:endParaRPr lang="zh-TW" altLang="en-US" sz="36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3671438" y="5893869"/>
            <a:ext cx="1778112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smaller</a:t>
            </a:r>
            <a:endParaRPr lang="zh-TW" altLang="en-US" sz="36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2826944" y="8209172"/>
            <a:ext cx="34671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Small enough?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9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 bldLvl="0" animBg="1"/>
      <p:bldP spid="34" grpId="0" bldLvl="0" animBg="1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Pruning - Practical Issue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Weight pruning 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5624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橢圓 4"/>
          <p:cNvSpPr/>
          <p:nvPr/>
        </p:nvSpPr>
        <p:spPr>
          <a:xfrm>
            <a:off x="58959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2294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橢圓 6"/>
          <p:cNvSpPr/>
          <p:nvPr/>
        </p:nvSpPr>
        <p:spPr>
          <a:xfrm>
            <a:off x="32289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45624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8959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2294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2289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1339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64674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8004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箭號: 向右 14"/>
          <p:cNvSpPr/>
          <p:nvPr/>
        </p:nvSpPr>
        <p:spPr>
          <a:xfrm>
            <a:off x="8404224" y="5856017"/>
            <a:ext cx="1670429" cy="124649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6" name="直線單箭頭接點 15"/>
          <p:cNvCxnSpPr>
            <a:stCxn id="7" idx="0"/>
          </p:cNvCxnSpPr>
          <p:nvPr/>
        </p:nvCxnSpPr>
        <p:spPr>
          <a:xfrm flipH="1" flipV="1">
            <a:off x="3597275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49752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 flipV="1">
            <a:off x="62960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76295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3581400" y="6671517"/>
            <a:ext cx="1330326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7" idx="0"/>
          </p:cNvCxnSpPr>
          <p:nvPr/>
        </p:nvCxnSpPr>
        <p:spPr>
          <a:xfrm flipV="1">
            <a:off x="3609975" y="6709617"/>
            <a:ext cx="2686049" cy="647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7" idx="0"/>
            <a:endCxn id="10" idx="4"/>
          </p:cNvCxnSpPr>
          <p:nvPr/>
        </p:nvCxnSpPr>
        <p:spPr>
          <a:xfrm flipV="1">
            <a:off x="3609975" y="6671517"/>
            <a:ext cx="4000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4" idx="0"/>
            <a:endCxn id="11" idx="4"/>
          </p:cNvCxnSpPr>
          <p:nvPr/>
        </p:nvCxnSpPr>
        <p:spPr>
          <a:xfrm flipH="1" flipV="1">
            <a:off x="3609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4997451" y="6709617"/>
            <a:ext cx="1311273" cy="6286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4" idx="0"/>
            <a:endCxn id="10" idx="4"/>
          </p:cNvCxnSpPr>
          <p:nvPr/>
        </p:nvCxnSpPr>
        <p:spPr>
          <a:xfrm flipV="1">
            <a:off x="49434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5" idx="0"/>
            <a:endCxn id="11" idx="4"/>
          </p:cNvCxnSpPr>
          <p:nvPr/>
        </p:nvCxnSpPr>
        <p:spPr>
          <a:xfrm flipH="1" flipV="1">
            <a:off x="36099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5" idx="0"/>
            <a:endCxn id="8" idx="4"/>
          </p:cNvCxnSpPr>
          <p:nvPr/>
        </p:nvCxnSpPr>
        <p:spPr>
          <a:xfrm flipH="1" flipV="1">
            <a:off x="49434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5" idx="0"/>
            <a:endCxn id="10" idx="4"/>
          </p:cNvCxnSpPr>
          <p:nvPr/>
        </p:nvCxnSpPr>
        <p:spPr>
          <a:xfrm flipV="1">
            <a:off x="6276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6" idx="0"/>
          </p:cNvCxnSpPr>
          <p:nvPr/>
        </p:nvCxnSpPr>
        <p:spPr>
          <a:xfrm flipH="1" flipV="1">
            <a:off x="3663951" y="6690567"/>
            <a:ext cx="3946524" cy="666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6" idx="0"/>
            <a:endCxn id="8" idx="4"/>
          </p:cNvCxnSpPr>
          <p:nvPr/>
        </p:nvCxnSpPr>
        <p:spPr>
          <a:xfrm flipH="1" flipV="1">
            <a:off x="49434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6" idx="0"/>
            <a:endCxn id="9" idx="4"/>
          </p:cNvCxnSpPr>
          <p:nvPr/>
        </p:nvCxnSpPr>
        <p:spPr>
          <a:xfrm flipH="1" flipV="1">
            <a:off x="6276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11" idx="0"/>
            <a:endCxn id="14" idx="4"/>
          </p:cNvCxnSpPr>
          <p:nvPr/>
        </p:nvCxnSpPr>
        <p:spPr>
          <a:xfrm flipV="1">
            <a:off x="36099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11" idx="0"/>
            <a:endCxn id="12" idx="4"/>
          </p:cNvCxnSpPr>
          <p:nvPr/>
        </p:nvCxnSpPr>
        <p:spPr>
          <a:xfrm flipV="1">
            <a:off x="3609975" y="5223717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1" idx="0"/>
            <a:endCxn id="13" idx="4"/>
          </p:cNvCxnSpPr>
          <p:nvPr/>
        </p:nvCxnSpPr>
        <p:spPr>
          <a:xfrm flipV="1">
            <a:off x="3609975" y="5223717"/>
            <a:ext cx="3238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8" idx="0"/>
            <a:endCxn id="14" idx="4"/>
          </p:cNvCxnSpPr>
          <p:nvPr/>
        </p:nvCxnSpPr>
        <p:spPr>
          <a:xfrm flipH="1" flipV="1">
            <a:off x="41814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8" idx="0"/>
            <a:endCxn id="12" idx="4"/>
          </p:cNvCxnSpPr>
          <p:nvPr/>
        </p:nvCxnSpPr>
        <p:spPr>
          <a:xfrm flipV="1">
            <a:off x="49434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0"/>
            <a:endCxn id="13" idx="4"/>
          </p:cNvCxnSpPr>
          <p:nvPr/>
        </p:nvCxnSpPr>
        <p:spPr>
          <a:xfrm flipV="1">
            <a:off x="4943475" y="5223717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9" idx="0"/>
            <a:endCxn id="14" idx="4"/>
          </p:cNvCxnSpPr>
          <p:nvPr/>
        </p:nvCxnSpPr>
        <p:spPr>
          <a:xfrm flipH="1" flipV="1">
            <a:off x="4181475" y="5223717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9" idx="0"/>
            <a:endCxn id="12" idx="4"/>
          </p:cNvCxnSpPr>
          <p:nvPr/>
        </p:nvCxnSpPr>
        <p:spPr>
          <a:xfrm flipH="1" flipV="1">
            <a:off x="55149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9" idx="0"/>
            <a:endCxn id="13" idx="4"/>
          </p:cNvCxnSpPr>
          <p:nvPr/>
        </p:nvCxnSpPr>
        <p:spPr>
          <a:xfrm flipV="1">
            <a:off x="62769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0" idx="0"/>
            <a:endCxn id="14" idx="4"/>
          </p:cNvCxnSpPr>
          <p:nvPr/>
        </p:nvCxnSpPr>
        <p:spPr>
          <a:xfrm flipH="1" flipV="1">
            <a:off x="4181475" y="5223717"/>
            <a:ext cx="3429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0" idx="0"/>
            <a:endCxn id="12" idx="4"/>
          </p:cNvCxnSpPr>
          <p:nvPr/>
        </p:nvCxnSpPr>
        <p:spPr>
          <a:xfrm flipH="1" flipV="1">
            <a:off x="5514975" y="5223717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0" idx="0"/>
            <a:endCxn id="13" idx="4"/>
          </p:cNvCxnSpPr>
          <p:nvPr/>
        </p:nvCxnSpPr>
        <p:spPr>
          <a:xfrm flipH="1" flipV="1">
            <a:off x="68484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3609975" y="8050572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4968876" y="8089946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6296022" y="807454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7635873" y="8082956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4181475" y="4085793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5527676" y="4081982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6848475" y="4086113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橢圓 50"/>
          <p:cNvSpPr/>
          <p:nvPr/>
        </p:nvSpPr>
        <p:spPr>
          <a:xfrm>
            <a:off x="11674854" y="745505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3008354" y="745505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3" name="橢圓 52"/>
          <p:cNvSpPr/>
          <p:nvPr/>
        </p:nvSpPr>
        <p:spPr>
          <a:xfrm>
            <a:off x="14341854" y="745505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10341354" y="745505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3008354" y="600725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6" name="橢圓 55"/>
          <p:cNvSpPr/>
          <p:nvPr/>
        </p:nvSpPr>
        <p:spPr>
          <a:xfrm>
            <a:off x="10341354" y="600725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7" name="橢圓 56"/>
          <p:cNvSpPr/>
          <p:nvPr/>
        </p:nvSpPr>
        <p:spPr>
          <a:xfrm>
            <a:off x="12246354" y="455945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3579854" y="455945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10912854" y="455945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60" name="直線單箭頭接點 59"/>
          <p:cNvCxnSpPr>
            <a:stCxn id="54" idx="0"/>
          </p:cNvCxnSpPr>
          <p:nvPr/>
        </p:nvCxnSpPr>
        <p:spPr>
          <a:xfrm flipH="1" flipV="1">
            <a:off x="10709654" y="676925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H="1" flipV="1">
            <a:off x="13408403" y="676925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54" idx="0"/>
          </p:cNvCxnSpPr>
          <p:nvPr/>
        </p:nvCxnSpPr>
        <p:spPr>
          <a:xfrm flipV="1">
            <a:off x="10722354" y="6807353"/>
            <a:ext cx="2686049" cy="647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12109830" y="6807353"/>
            <a:ext cx="1311273" cy="6286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52" idx="0"/>
            <a:endCxn id="56" idx="4"/>
          </p:cNvCxnSpPr>
          <p:nvPr/>
        </p:nvCxnSpPr>
        <p:spPr>
          <a:xfrm flipH="1" flipV="1">
            <a:off x="10722354" y="6769253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3" idx="0"/>
            <a:endCxn id="55" idx="4"/>
          </p:cNvCxnSpPr>
          <p:nvPr/>
        </p:nvCxnSpPr>
        <p:spPr>
          <a:xfrm flipH="1" flipV="1">
            <a:off x="13389354" y="6769253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56" idx="0"/>
            <a:endCxn id="59" idx="4"/>
          </p:cNvCxnSpPr>
          <p:nvPr/>
        </p:nvCxnSpPr>
        <p:spPr>
          <a:xfrm flipV="1">
            <a:off x="10722354" y="5321453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6" idx="0"/>
            <a:endCxn id="57" idx="4"/>
          </p:cNvCxnSpPr>
          <p:nvPr/>
        </p:nvCxnSpPr>
        <p:spPr>
          <a:xfrm flipV="1">
            <a:off x="10722354" y="5321453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56" idx="0"/>
            <a:endCxn id="58" idx="4"/>
          </p:cNvCxnSpPr>
          <p:nvPr/>
        </p:nvCxnSpPr>
        <p:spPr>
          <a:xfrm flipV="1">
            <a:off x="10722354" y="5321453"/>
            <a:ext cx="3238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5" idx="0"/>
            <a:endCxn id="59" idx="4"/>
          </p:cNvCxnSpPr>
          <p:nvPr/>
        </p:nvCxnSpPr>
        <p:spPr>
          <a:xfrm flipH="1" flipV="1">
            <a:off x="11293854" y="5321453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55" idx="0"/>
            <a:endCxn id="58" idx="4"/>
          </p:cNvCxnSpPr>
          <p:nvPr/>
        </p:nvCxnSpPr>
        <p:spPr>
          <a:xfrm flipV="1">
            <a:off x="13389354" y="5321453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10722354" y="814830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V="1">
            <a:off x="12081255" y="8187681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13408401" y="8172284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V="1">
            <a:off x="14748252" y="8180691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V="1">
            <a:off x="11293854" y="4183529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V="1">
            <a:off x="12640055" y="4179717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V="1">
            <a:off x="13960854" y="418384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7818665" y="4414130"/>
            <a:ext cx="309244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Prune some weights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10341354" y="2738438"/>
            <a:ext cx="50490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The network architecture becomes irregular.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4489293" y="8904345"/>
            <a:ext cx="95888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1" i="0" u="none" strike="noStrike" kern="1200" cap="none" spc="0" normalizeH="0" baseline="0" dirty="0">
                <a:solidFill>
                  <a:schemeClr val="accent1"/>
                </a:solidFill>
                <a:latin typeface="+mj-lt"/>
                <a:cs typeface="+mj-cs"/>
              </a:rPr>
              <a:t>Hard to implement, hard to speedup ……</a:t>
            </a:r>
          </a:p>
        </p:txBody>
      </p:sp>
      <p:cxnSp>
        <p:nvCxnSpPr>
          <p:cNvPr id="81" name="直線單箭頭接點 80"/>
          <p:cNvCxnSpPr/>
          <p:nvPr/>
        </p:nvCxnSpPr>
        <p:spPr>
          <a:xfrm flipH="1" flipV="1">
            <a:off x="10747755" y="6817719"/>
            <a:ext cx="1333500" cy="685800"/>
          </a:xfrm>
          <a:prstGeom prst="straightConnector1">
            <a:avLst/>
          </a:prstGeom>
          <a:ln w="381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11139867" y="7153386"/>
            <a:ext cx="676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Pruning - Practical Issue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Weight pruning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9948282" y="7488128"/>
            <a:ext cx="5374640" cy="506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https://arxiv.org/pdf/1608.03665.pdf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055" y="3926840"/>
            <a:ext cx="13105130" cy="338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Pruning - Practical Issue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Neuron pruning 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5624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橢圓 4"/>
          <p:cNvSpPr/>
          <p:nvPr/>
        </p:nvSpPr>
        <p:spPr>
          <a:xfrm>
            <a:off x="58959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2294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橢圓 6"/>
          <p:cNvSpPr/>
          <p:nvPr/>
        </p:nvSpPr>
        <p:spPr>
          <a:xfrm>
            <a:off x="32289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45624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8959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2294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2289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1339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64674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8004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箭號: 向右 14"/>
          <p:cNvSpPr/>
          <p:nvPr/>
        </p:nvSpPr>
        <p:spPr>
          <a:xfrm>
            <a:off x="8404224" y="5856017"/>
            <a:ext cx="1670429" cy="124649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6" name="直線單箭頭接點 15"/>
          <p:cNvCxnSpPr>
            <a:stCxn id="7" idx="0"/>
          </p:cNvCxnSpPr>
          <p:nvPr/>
        </p:nvCxnSpPr>
        <p:spPr>
          <a:xfrm flipH="1" flipV="1">
            <a:off x="3597275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49752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 flipV="1">
            <a:off x="62960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76295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3581400" y="6671517"/>
            <a:ext cx="1330326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7" idx="0"/>
          </p:cNvCxnSpPr>
          <p:nvPr/>
        </p:nvCxnSpPr>
        <p:spPr>
          <a:xfrm flipV="1">
            <a:off x="3609975" y="6709617"/>
            <a:ext cx="2686049" cy="647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7" idx="0"/>
            <a:endCxn id="10" idx="4"/>
          </p:cNvCxnSpPr>
          <p:nvPr/>
        </p:nvCxnSpPr>
        <p:spPr>
          <a:xfrm flipV="1">
            <a:off x="3609975" y="6671517"/>
            <a:ext cx="4000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4" idx="0"/>
            <a:endCxn id="11" idx="4"/>
          </p:cNvCxnSpPr>
          <p:nvPr/>
        </p:nvCxnSpPr>
        <p:spPr>
          <a:xfrm flipH="1" flipV="1">
            <a:off x="3609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4997451" y="6709617"/>
            <a:ext cx="1311273" cy="6286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4" idx="0"/>
            <a:endCxn id="10" idx="4"/>
          </p:cNvCxnSpPr>
          <p:nvPr/>
        </p:nvCxnSpPr>
        <p:spPr>
          <a:xfrm flipV="1">
            <a:off x="49434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5" idx="0"/>
            <a:endCxn id="11" idx="4"/>
          </p:cNvCxnSpPr>
          <p:nvPr/>
        </p:nvCxnSpPr>
        <p:spPr>
          <a:xfrm flipH="1" flipV="1">
            <a:off x="36099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5" idx="0"/>
            <a:endCxn id="8" idx="4"/>
          </p:cNvCxnSpPr>
          <p:nvPr/>
        </p:nvCxnSpPr>
        <p:spPr>
          <a:xfrm flipH="1" flipV="1">
            <a:off x="49434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5" idx="0"/>
            <a:endCxn id="10" idx="4"/>
          </p:cNvCxnSpPr>
          <p:nvPr/>
        </p:nvCxnSpPr>
        <p:spPr>
          <a:xfrm flipV="1">
            <a:off x="6276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6" idx="0"/>
          </p:cNvCxnSpPr>
          <p:nvPr/>
        </p:nvCxnSpPr>
        <p:spPr>
          <a:xfrm flipH="1" flipV="1">
            <a:off x="3663951" y="6690567"/>
            <a:ext cx="3946524" cy="666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6" idx="0"/>
            <a:endCxn id="8" idx="4"/>
          </p:cNvCxnSpPr>
          <p:nvPr/>
        </p:nvCxnSpPr>
        <p:spPr>
          <a:xfrm flipH="1" flipV="1">
            <a:off x="49434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6" idx="0"/>
            <a:endCxn id="9" idx="4"/>
          </p:cNvCxnSpPr>
          <p:nvPr/>
        </p:nvCxnSpPr>
        <p:spPr>
          <a:xfrm flipH="1" flipV="1">
            <a:off x="6276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11" idx="0"/>
            <a:endCxn id="14" idx="4"/>
          </p:cNvCxnSpPr>
          <p:nvPr/>
        </p:nvCxnSpPr>
        <p:spPr>
          <a:xfrm flipV="1">
            <a:off x="36099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11" idx="0"/>
            <a:endCxn id="12" idx="4"/>
          </p:cNvCxnSpPr>
          <p:nvPr/>
        </p:nvCxnSpPr>
        <p:spPr>
          <a:xfrm flipV="1">
            <a:off x="3609975" y="5223717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1" idx="0"/>
            <a:endCxn id="13" idx="4"/>
          </p:cNvCxnSpPr>
          <p:nvPr/>
        </p:nvCxnSpPr>
        <p:spPr>
          <a:xfrm flipV="1">
            <a:off x="3609975" y="5223717"/>
            <a:ext cx="3238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8" idx="0"/>
            <a:endCxn id="14" idx="4"/>
          </p:cNvCxnSpPr>
          <p:nvPr/>
        </p:nvCxnSpPr>
        <p:spPr>
          <a:xfrm flipH="1" flipV="1">
            <a:off x="41814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8" idx="0"/>
            <a:endCxn id="12" idx="4"/>
          </p:cNvCxnSpPr>
          <p:nvPr/>
        </p:nvCxnSpPr>
        <p:spPr>
          <a:xfrm flipV="1">
            <a:off x="49434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0"/>
            <a:endCxn id="13" idx="4"/>
          </p:cNvCxnSpPr>
          <p:nvPr/>
        </p:nvCxnSpPr>
        <p:spPr>
          <a:xfrm flipV="1">
            <a:off x="4943475" y="5223717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9" idx="0"/>
            <a:endCxn id="14" idx="4"/>
          </p:cNvCxnSpPr>
          <p:nvPr/>
        </p:nvCxnSpPr>
        <p:spPr>
          <a:xfrm flipH="1" flipV="1">
            <a:off x="4181475" y="5223717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9" idx="0"/>
            <a:endCxn id="12" idx="4"/>
          </p:cNvCxnSpPr>
          <p:nvPr/>
        </p:nvCxnSpPr>
        <p:spPr>
          <a:xfrm flipH="1" flipV="1">
            <a:off x="55149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9" idx="0"/>
            <a:endCxn id="13" idx="4"/>
          </p:cNvCxnSpPr>
          <p:nvPr/>
        </p:nvCxnSpPr>
        <p:spPr>
          <a:xfrm flipV="1">
            <a:off x="62769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0" idx="0"/>
            <a:endCxn id="14" idx="4"/>
          </p:cNvCxnSpPr>
          <p:nvPr/>
        </p:nvCxnSpPr>
        <p:spPr>
          <a:xfrm flipH="1" flipV="1">
            <a:off x="4181475" y="5223717"/>
            <a:ext cx="3429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0" idx="0"/>
            <a:endCxn id="12" idx="4"/>
          </p:cNvCxnSpPr>
          <p:nvPr/>
        </p:nvCxnSpPr>
        <p:spPr>
          <a:xfrm flipH="1" flipV="1">
            <a:off x="5514975" y="5223717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0" idx="0"/>
            <a:endCxn id="13" idx="4"/>
          </p:cNvCxnSpPr>
          <p:nvPr/>
        </p:nvCxnSpPr>
        <p:spPr>
          <a:xfrm flipH="1" flipV="1">
            <a:off x="68484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3609975" y="8050572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4968876" y="8089946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6296022" y="807454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7635873" y="8082956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4181475" y="4085793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5527676" y="4081982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6848475" y="4086113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7818665" y="4414130"/>
            <a:ext cx="309244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Prune some neurons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9795510" y="3045460"/>
            <a:ext cx="6731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The network architecture is regular.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4489293" y="8904345"/>
            <a:ext cx="95888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1" i="0" u="none" strike="noStrike" kern="1200" cap="none" spc="0" normalizeH="0" baseline="0" dirty="0">
                <a:solidFill>
                  <a:schemeClr val="accent1"/>
                </a:solidFill>
                <a:latin typeface="+mj-lt"/>
                <a:cs typeface="+mj-cs"/>
              </a:rPr>
              <a:t>Easy to implement, easy to speedup ……</a:t>
            </a:r>
          </a:p>
        </p:txBody>
      </p:sp>
      <p:sp>
        <p:nvSpPr>
          <p:cNvPr id="81" name="矩形 80"/>
          <p:cNvSpPr/>
          <p:nvPr/>
        </p:nvSpPr>
        <p:spPr>
          <a:xfrm>
            <a:off x="5841083" y="5877209"/>
            <a:ext cx="880391" cy="8324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2" name="橢圓 81"/>
          <p:cNvSpPr/>
          <p:nvPr/>
        </p:nvSpPr>
        <p:spPr>
          <a:xfrm>
            <a:off x="11827374" y="746267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3" name="橢圓 82"/>
          <p:cNvSpPr/>
          <p:nvPr/>
        </p:nvSpPr>
        <p:spPr>
          <a:xfrm>
            <a:off x="13160874" y="746267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14494374" y="746267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5" name="橢圓 84"/>
          <p:cNvSpPr/>
          <p:nvPr/>
        </p:nvSpPr>
        <p:spPr>
          <a:xfrm>
            <a:off x="10493874" y="746267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6" name="橢圓 85"/>
          <p:cNvSpPr/>
          <p:nvPr/>
        </p:nvSpPr>
        <p:spPr>
          <a:xfrm>
            <a:off x="11827374" y="601487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14494374" y="601487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10493874" y="601487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0" name="橢圓 89"/>
          <p:cNvSpPr/>
          <p:nvPr/>
        </p:nvSpPr>
        <p:spPr>
          <a:xfrm>
            <a:off x="12398874" y="456707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1" name="橢圓 90"/>
          <p:cNvSpPr/>
          <p:nvPr/>
        </p:nvSpPr>
        <p:spPr>
          <a:xfrm>
            <a:off x="13732374" y="456707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2" name="橢圓 91"/>
          <p:cNvSpPr/>
          <p:nvPr/>
        </p:nvSpPr>
        <p:spPr>
          <a:xfrm>
            <a:off x="11065374" y="456707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93" name="直線單箭頭接點 92"/>
          <p:cNvCxnSpPr>
            <a:stCxn id="85" idx="0"/>
          </p:cNvCxnSpPr>
          <p:nvPr/>
        </p:nvCxnSpPr>
        <p:spPr>
          <a:xfrm flipH="1" flipV="1">
            <a:off x="10862174" y="677687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flipH="1" flipV="1">
            <a:off x="12240123" y="677687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flipH="1" flipV="1">
            <a:off x="14894423" y="677687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flipV="1">
            <a:off x="10846299" y="6776873"/>
            <a:ext cx="1330326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stCxn id="85" idx="0"/>
            <a:endCxn id="88" idx="4"/>
          </p:cNvCxnSpPr>
          <p:nvPr/>
        </p:nvCxnSpPr>
        <p:spPr>
          <a:xfrm flipV="1">
            <a:off x="10874874" y="6776873"/>
            <a:ext cx="4000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>
            <a:stCxn id="82" idx="0"/>
            <a:endCxn id="89" idx="4"/>
          </p:cNvCxnSpPr>
          <p:nvPr/>
        </p:nvCxnSpPr>
        <p:spPr>
          <a:xfrm flipH="1" flipV="1">
            <a:off x="10874874" y="6776873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>
            <a:stCxn id="82" idx="0"/>
            <a:endCxn id="88" idx="4"/>
          </p:cNvCxnSpPr>
          <p:nvPr/>
        </p:nvCxnSpPr>
        <p:spPr>
          <a:xfrm flipV="1">
            <a:off x="12208374" y="6776873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>
            <a:stCxn id="83" idx="0"/>
            <a:endCxn id="89" idx="4"/>
          </p:cNvCxnSpPr>
          <p:nvPr/>
        </p:nvCxnSpPr>
        <p:spPr>
          <a:xfrm flipH="1" flipV="1">
            <a:off x="10874874" y="6776873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83" idx="0"/>
            <a:endCxn id="86" idx="4"/>
          </p:cNvCxnSpPr>
          <p:nvPr/>
        </p:nvCxnSpPr>
        <p:spPr>
          <a:xfrm flipH="1" flipV="1">
            <a:off x="12208374" y="6776873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>
            <a:stCxn id="83" idx="0"/>
            <a:endCxn id="88" idx="4"/>
          </p:cNvCxnSpPr>
          <p:nvPr/>
        </p:nvCxnSpPr>
        <p:spPr>
          <a:xfrm flipV="1">
            <a:off x="13541874" y="6776873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stCxn id="84" idx="0"/>
          </p:cNvCxnSpPr>
          <p:nvPr/>
        </p:nvCxnSpPr>
        <p:spPr>
          <a:xfrm flipH="1" flipV="1">
            <a:off x="10928850" y="6795923"/>
            <a:ext cx="3946524" cy="666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>
            <a:stCxn id="84" idx="0"/>
            <a:endCxn id="86" idx="4"/>
          </p:cNvCxnSpPr>
          <p:nvPr/>
        </p:nvCxnSpPr>
        <p:spPr>
          <a:xfrm flipH="1" flipV="1">
            <a:off x="12208374" y="6776873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stCxn id="89" idx="0"/>
            <a:endCxn id="92" idx="4"/>
          </p:cNvCxnSpPr>
          <p:nvPr/>
        </p:nvCxnSpPr>
        <p:spPr>
          <a:xfrm flipV="1">
            <a:off x="10874874" y="5329073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89" idx="0"/>
            <a:endCxn id="90" idx="4"/>
          </p:cNvCxnSpPr>
          <p:nvPr/>
        </p:nvCxnSpPr>
        <p:spPr>
          <a:xfrm flipV="1">
            <a:off x="10874874" y="5329073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89" idx="0"/>
            <a:endCxn id="91" idx="4"/>
          </p:cNvCxnSpPr>
          <p:nvPr/>
        </p:nvCxnSpPr>
        <p:spPr>
          <a:xfrm flipV="1">
            <a:off x="10874874" y="5329073"/>
            <a:ext cx="3238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stCxn id="86" idx="0"/>
            <a:endCxn id="92" idx="4"/>
          </p:cNvCxnSpPr>
          <p:nvPr/>
        </p:nvCxnSpPr>
        <p:spPr>
          <a:xfrm flipH="1" flipV="1">
            <a:off x="11446374" y="5329073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stCxn id="86" idx="0"/>
            <a:endCxn id="90" idx="4"/>
          </p:cNvCxnSpPr>
          <p:nvPr/>
        </p:nvCxnSpPr>
        <p:spPr>
          <a:xfrm flipV="1">
            <a:off x="12208374" y="5329073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stCxn id="86" idx="0"/>
            <a:endCxn id="91" idx="4"/>
          </p:cNvCxnSpPr>
          <p:nvPr/>
        </p:nvCxnSpPr>
        <p:spPr>
          <a:xfrm flipV="1">
            <a:off x="12208374" y="5329073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>
            <a:stCxn id="88" idx="0"/>
            <a:endCxn id="92" idx="4"/>
          </p:cNvCxnSpPr>
          <p:nvPr/>
        </p:nvCxnSpPr>
        <p:spPr>
          <a:xfrm flipH="1" flipV="1">
            <a:off x="11446374" y="5329073"/>
            <a:ext cx="3429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>
            <a:stCxn id="88" idx="0"/>
            <a:endCxn id="90" idx="4"/>
          </p:cNvCxnSpPr>
          <p:nvPr/>
        </p:nvCxnSpPr>
        <p:spPr>
          <a:xfrm flipH="1" flipV="1">
            <a:off x="12779874" y="5329073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88" idx="0"/>
            <a:endCxn id="91" idx="4"/>
          </p:cNvCxnSpPr>
          <p:nvPr/>
        </p:nvCxnSpPr>
        <p:spPr>
          <a:xfrm flipH="1" flipV="1">
            <a:off x="14113374" y="5329073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V="1">
            <a:off x="10874874" y="815592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/>
          <p:nvPr/>
        </p:nvCxnSpPr>
        <p:spPr>
          <a:xfrm flipV="1">
            <a:off x="12233775" y="8195301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/>
          <p:nvPr/>
        </p:nvCxnSpPr>
        <p:spPr>
          <a:xfrm flipV="1">
            <a:off x="13560921" y="8179904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 flipV="1">
            <a:off x="14900772" y="8188311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 flipV="1">
            <a:off x="11446374" y="4191149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/>
          <p:nvPr/>
        </p:nvCxnSpPr>
        <p:spPr>
          <a:xfrm flipV="1">
            <a:off x="12792575" y="4187337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/>
          <p:nvPr/>
        </p:nvCxnSpPr>
        <p:spPr>
          <a:xfrm flipV="1">
            <a:off x="14113374" y="419146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78" grpId="0"/>
      <p:bldP spid="79" grpId="0"/>
      <p:bldP spid="80" grpId="0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8" grpId="0" bldLvl="0" animBg="1"/>
      <p:bldP spid="89" grpId="0" bldLvl="0" animBg="1"/>
      <p:bldP spid="90" grpId="0" bldLvl="0" animBg="1"/>
      <p:bldP spid="91" grpId="0" bldLvl="0" animBg="1"/>
      <p:bldP spid="9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Pruning? </a:t>
            </a:r>
            <a:endParaRPr lang="zh-TW" altLang="en-US" dirty="0"/>
          </a:p>
        </p:txBody>
      </p:sp>
      <p:sp>
        <p:nvSpPr>
          <p:cNvPr id="9" name="矩形: 圓角 8"/>
          <p:cNvSpPr/>
          <p:nvPr/>
        </p:nvSpPr>
        <p:spPr>
          <a:xfrm>
            <a:off x="6144986" y="3313433"/>
            <a:ext cx="2345874" cy="20029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Large Network</a:t>
            </a:r>
            <a:endParaRPr lang="zh-TW" altLang="en-US" sz="4200" dirty="0"/>
          </a:p>
        </p:txBody>
      </p:sp>
      <p:sp>
        <p:nvSpPr>
          <p:cNvPr id="10" name="矩形: 圓角 9"/>
          <p:cNvSpPr/>
          <p:nvPr/>
        </p:nvSpPr>
        <p:spPr>
          <a:xfrm>
            <a:off x="6193790" y="6259830"/>
            <a:ext cx="2231390" cy="11055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Sub-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11" name="矩形: 圓角 10"/>
          <p:cNvSpPr/>
          <p:nvPr/>
        </p:nvSpPr>
        <p:spPr>
          <a:xfrm>
            <a:off x="6193974" y="7469900"/>
            <a:ext cx="2231573" cy="122115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Sub-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13" name="矩形: 圓角 12"/>
          <p:cNvSpPr/>
          <p:nvPr/>
        </p:nvSpPr>
        <p:spPr>
          <a:xfrm>
            <a:off x="11335950" y="3253562"/>
            <a:ext cx="2345874" cy="200297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Large Network</a:t>
            </a:r>
            <a:endParaRPr lang="zh-TW" altLang="en-US" sz="4200" dirty="0"/>
          </a:p>
        </p:txBody>
      </p:sp>
      <p:sp>
        <p:nvSpPr>
          <p:cNvPr id="14" name="文字方塊 13"/>
          <p:cNvSpPr txBox="1"/>
          <p:nvPr/>
        </p:nvSpPr>
        <p:spPr>
          <a:xfrm rot="5400000">
            <a:off x="6985275" y="8805993"/>
            <a:ext cx="1014702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707" y="3013851"/>
            <a:ext cx="1878171" cy="245951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149" y="6259628"/>
            <a:ext cx="1878171" cy="2459510"/>
          </a:xfrm>
          <a:prstGeom prst="rect">
            <a:avLst/>
          </a:prstGeom>
        </p:spPr>
      </p:pic>
      <p:sp>
        <p:nvSpPr>
          <p:cNvPr id="17" name="矩形: 圓角 16"/>
          <p:cNvSpPr/>
          <p:nvPr/>
        </p:nvSpPr>
        <p:spPr>
          <a:xfrm>
            <a:off x="11406505" y="6259830"/>
            <a:ext cx="2231390" cy="113220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Sub-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18" name="矩形: 圓角 17"/>
          <p:cNvSpPr/>
          <p:nvPr/>
        </p:nvSpPr>
        <p:spPr>
          <a:xfrm>
            <a:off x="11406711" y="7469900"/>
            <a:ext cx="2231573" cy="122115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Sub-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19" name="文字方塊 18"/>
          <p:cNvSpPr txBox="1"/>
          <p:nvPr/>
        </p:nvSpPr>
        <p:spPr>
          <a:xfrm rot="5400000">
            <a:off x="12198012" y="8805993"/>
            <a:ext cx="1014702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21" name="箭號: 向右 20"/>
          <p:cNvSpPr/>
          <p:nvPr/>
        </p:nvSpPr>
        <p:spPr>
          <a:xfrm>
            <a:off x="8752115" y="3905126"/>
            <a:ext cx="2345874" cy="7848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文字方塊 21"/>
          <p:cNvSpPr txBox="1"/>
          <p:nvPr/>
        </p:nvSpPr>
        <p:spPr>
          <a:xfrm>
            <a:off x="8871096" y="3386246"/>
            <a:ext cx="18781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Train</a:t>
            </a:r>
            <a:endParaRPr lang="zh-TW" altLang="en-US" sz="3600" dirty="0"/>
          </a:p>
        </p:txBody>
      </p:sp>
      <p:sp>
        <p:nvSpPr>
          <p:cNvPr id="23" name="箭號: 向下 22"/>
          <p:cNvSpPr/>
          <p:nvPr/>
        </p:nvSpPr>
        <p:spPr>
          <a:xfrm>
            <a:off x="6832151" y="5430621"/>
            <a:ext cx="955218" cy="786267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箭號: 向右 23"/>
          <p:cNvSpPr/>
          <p:nvPr/>
        </p:nvSpPr>
        <p:spPr>
          <a:xfrm>
            <a:off x="8771381" y="6432258"/>
            <a:ext cx="2345874" cy="7848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文字方塊 24"/>
          <p:cNvSpPr txBox="1"/>
          <p:nvPr/>
        </p:nvSpPr>
        <p:spPr>
          <a:xfrm>
            <a:off x="8890362" y="5913378"/>
            <a:ext cx="18781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Train</a:t>
            </a:r>
            <a:endParaRPr lang="zh-TW" altLang="en-US" sz="3600" dirty="0"/>
          </a:p>
        </p:txBody>
      </p:sp>
      <p:sp>
        <p:nvSpPr>
          <p:cNvPr id="26" name="箭號: 向右 25"/>
          <p:cNvSpPr/>
          <p:nvPr/>
        </p:nvSpPr>
        <p:spPr>
          <a:xfrm>
            <a:off x="8754485" y="7906227"/>
            <a:ext cx="2345874" cy="7848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文字方塊 26"/>
          <p:cNvSpPr txBox="1"/>
          <p:nvPr/>
        </p:nvSpPr>
        <p:spPr>
          <a:xfrm>
            <a:off x="8873466" y="7387347"/>
            <a:ext cx="18781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Train</a:t>
            </a:r>
            <a:endParaRPr lang="zh-TW" altLang="en-US" sz="3600" dirty="0"/>
          </a:p>
        </p:txBody>
      </p:sp>
      <p:sp>
        <p:nvSpPr>
          <p:cNvPr id="28" name="箭號: 向下 27"/>
          <p:cNvSpPr/>
          <p:nvPr/>
        </p:nvSpPr>
        <p:spPr>
          <a:xfrm flipV="1">
            <a:off x="12016517" y="5399954"/>
            <a:ext cx="955218" cy="786267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文字方塊 28"/>
          <p:cNvSpPr txBox="1"/>
          <p:nvPr/>
        </p:nvSpPr>
        <p:spPr>
          <a:xfrm>
            <a:off x="13710404" y="6523956"/>
            <a:ext cx="11321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Win!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3702449" y="3835190"/>
            <a:ext cx="11321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Win!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ym typeface="+mn-ea"/>
              </a:rPr>
              <a:t>Lottery Ticket Hypothesis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4" grpId="0"/>
      <p:bldP spid="17" grpId="0" bldLvl="0" animBg="1"/>
      <p:bldP spid="18" grpId="0" bldLvl="0" animBg="1"/>
      <p:bldP spid="19" grpId="0"/>
      <p:bldP spid="23" grpId="0" bldLvl="0" animBg="1"/>
      <p:bldP spid="24" grpId="0" bldLvl="0" animBg="1"/>
      <p:bldP spid="25" grpId="0"/>
      <p:bldP spid="26" grpId="0" bldLvl="0" animBg="1"/>
      <p:bldP spid="27" grpId="0"/>
      <p:bldP spid="28" grpId="0" bldLvl="0" animBg="1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文字方塊 140"/>
          <p:cNvSpPr txBox="1"/>
          <p:nvPr/>
        </p:nvSpPr>
        <p:spPr>
          <a:xfrm>
            <a:off x="7901056" y="6436000"/>
            <a:ext cx="3162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Pruned</a:t>
            </a:r>
            <a:endParaRPr lang="zh-TW" altLang="en-US" sz="36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Why Pruning? 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68" y="2952633"/>
            <a:ext cx="2700000" cy="353571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14" y="2952630"/>
            <a:ext cx="2700000" cy="353571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6509" y="2930385"/>
            <a:ext cx="2700000" cy="353571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0055" y="292495"/>
            <a:ext cx="2700000" cy="353571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6748" y="6458792"/>
            <a:ext cx="2700000" cy="3535715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733683" y="6408492"/>
            <a:ext cx="3162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Random </a:t>
            </a:r>
            <a:r>
              <a:rPr lang="en-US" altLang="zh-TW" sz="3600" dirty="0" err="1"/>
              <a:t>init</a:t>
            </a:r>
            <a:endParaRPr lang="zh-TW" altLang="en-US" sz="3600" dirty="0"/>
          </a:p>
        </p:txBody>
      </p:sp>
      <p:sp>
        <p:nvSpPr>
          <p:cNvPr id="140" name="文字方塊 139"/>
          <p:cNvSpPr txBox="1"/>
          <p:nvPr/>
        </p:nvSpPr>
        <p:spPr>
          <a:xfrm>
            <a:off x="4292820" y="6502929"/>
            <a:ext cx="3162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Trained </a:t>
            </a:r>
            <a:endParaRPr lang="zh-TW" altLang="en-US" sz="360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11122677" y="5278431"/>
            <a:ext cx="31623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Original</a:t>
            </a:r>
          </a:p>
          <a:p>
            <a:pPr algn="ctr"/>
            <a:r>
              <a:rPr lang="en-US" altLang="zh-TW" sz="3600" dirty="0"/>
              <a:t>Random </a:t>
            </a:r>
            <a:r>
              <a:rPr lang="en-US" altLang="zh-TW" sz="3600" dirty="0" err="1"/>
              <a:t>init</a:t>
            </a:r>
            <a:endParaRPr lang="zh-TW" altLang="en-US" sz="36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11122677" y="3856038"/>
            <a:ext cx="31623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Random </a:t>
            </a:r>
            <a:r>
              <a:rPr lang="en-US" altLang="zh-TW" sz="3600" dirty="0" err="1"/>
              <a:t>init</a:t>
            </a:r>
            <a:endParaRPr lang="en-US" altLang="zh-TW" sz="3600" dirty="0"/>
          </a:p>
          <a:p>
            <a:pPr algn="ctr"/>
            <a:r>
              <a:rPr lang="en-US" altLang="zh-TW" sz="3600" b="1" dirty="0"/>
              <a:t>Again</a:t>
            </a:r>
            <a:endParaRPr lang="zh-TW" altLang="en-US" sz="3600" b="1" dirty="0"/>
          </a:p>
        </p:txBody>
      </p:sp>
      <p:cxnSp>
        <p:nvCxnSpPr>
          <p:cNvPr id="25" name="直線單箭頭接點 24"/>
          <p:cNvCxnSpPr/>
          <p:nvPr/>
        </p:nvCxnSpPr>
        <p:spPr>
          <a:xfrm>
            <a:off x="1535735" y="7891087"/>
            <a:ext cx="108585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/>
          <p:nvPr/>
        </p:nvCxnSpPr>
        <p:spPr>
          <a:xfrm>
            <a:off x="1535735" y="8729288"/>
            <a:ext cx="1085850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>
            <a:off x="1535735" y="9586538"/>
            <a:ext cx="108585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2876953" y="7549490"/>
            <a:ext cx="490635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Random Init weights</a:t>
            </a:r>
            <a:endParaRPr lang="zh-TW" altLang="en-US" sz="3600" dirty="0"/>
          </a:p>
        </p:txBody>
      </p:sp>
      <p:sp>
        <p:nvSpPr>
          <p:cNvPr id="154" name="文字方塊 153"/>
          <p:cNvSpPr txBox="1"/>
          <p:nvPr/>
        </p:nvSpPr>
        <p:spPr>
          <a:xfrm>
            <a:off x="2876953" y="8348205"/>
            <a:ext cx="490635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Trained weight</a:t>
            </a:r>
            <a:endParaRPr lang="zh-TW" altLang="en-US" sz="3600" dirty="0"/>
          </a:p>
        </p:txBody>
      </p:sp>
      <p:sp>
        <p:nvSpPr>
          <p:cNvPr id="156" name="文字方塊 155"/>
          <p:cNvSpPr txBox="1"/>
          <p:nvPr/>
        </p:nvSpPr>
        <p:spPr>
          <a:xfrm>
            <a:off x="2877185" y="9241155"/>
            <a:ext cx="67659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Another random Init weights</a:t>
            </a:r>
            <a:endParaRPr lang="zh-TW" altLang="en-US" sz="3600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ym typeface="+mn-ea"/>
              </a:rPr>
              <a:t>Lottery Ticket Hypothesis</a:t>
            </a:r>
            <a:endParaRPr lang="zh-TW" altLang="en-US" dirty="0"/>
          </a:p>
        </p:txBody>
      </p:sp>
      <p:sp>
        <p:nvSpPr>
          <p:cNvPr id="7" name="Right Arrow 6"/>
          <p:cNvSpPr/>
          <p:nvPr/>
        </p:nvSpPr>
        <p:spPr>
          <a:xfrm>
            <a:off x="3726180" y="4269105"/>
            <a:ext cx="657860" cy="7239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7287260" y="4358640"/>
            <a:ext cx="657860" cy="7239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9140000">
            <a:off x="9856470" y="2559050"/>
            <a:ext cx="1340485" cy="7239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3240000">
            <a:off x="9765665" y="7446645"/>
            <a:ext cx="1340485" cy="7239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19" grpId="0"/>
      <p:bldP spid="140" grpId="0"/>
      <p:bldP spid="145" grpId="0"/>
      <p:bldP spid="145" grpId="1"/>
      <p:bldP spid="146" grpId="0"/>
      <p:bldP spid="146" grpId="1"/>
      <p:bldP spid="9" grpId="0" animBg="1"/>
      <p:bldP spid="9" grpId="1" animBg="1"/>
      <p:bldP spid="11" grpId="0" animBg="1"/>
      <p:bldP spid="1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Pruning?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28975" y="6167435"/>
            <a:ext cx="11830050" cy="3098009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8" name="文字方塊 7"/>
          <p:cNvSpPr txBox="1"/>
          <p:nvPr/>
        </p:nvSpPr>
        <p:spPr>
          <a:xfrm>
            <a:off x="8813394" y="744557"/>
            <a:ext cx="6858000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sz="100" dirty="0"/>
              <a:t>https://arxiv.org/abs/1905.01067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671474"/>
            <a:ext cx="1371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: 圓角 8"/>
          <p:cNvSpPr/>
          <p:nvPr/>
        </p:nvSpPr>
        <p:spPr>
          <a:xfrm>
            <a:off x="12510652" y="4012017"/>
            <a:ext cx="1487003" cy="24662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: 圓角 9"/>
          <p:cNvSpPr/>
          <p:nvPr/>
        </p:nvSpPr>
        <p:spPr>
          <a:xfrm>
            <a:off x="2651443" y="4046194"/>
            <a:ext cx="1487003" cy="24662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2286000" y="7393305"/>
            <a:ext cx="1313815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“sign</a:t>
            </a:r>
            <a:r>
              <a:rPr lang="en-US" altLang="zh-TW" sz="3600" dirty="0" err="1"/>
              <a:t>ificance</a:t>
            </a:r>
            <a:r>
              <a:rPr lang="en-US" altLang="zh-TW" sz="3600" dirty="0"/>
              <a:t>” of initial weights: Keeping the sign is critical</a:t>
            </a:r>
          </a:p>
        </p:txBody>
      </p:sp>
      <p:sp>
        <p:nvSpPr>
          <p:cNvPr id="13" name="矩形 12"/>
          <p:cNvSpPr/>
          <p:nvPr/>
        </p:nvSpPr>
        <p:spPr>
          <a:xfrm>
            <a:off x="2263140" y="9088755"/>
            <a:ext cx="13161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Pruning weights from a network with random weights  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10710230" y="9639083"/>
            <a:ext cx="5088135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" dirty="0"/>
              <a:t>https://arxiv.org/abs/1906.04358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3556820" y="8206824"/>
            <a:ext cx="4800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0.9, 3.1, -9.1, 8.5 ……  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9509067" y="8158445"/>
                <a:ext cx="480060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+</a:t>
                </a:r>
                <a14:m>
                  <m:oMath xmlns:m="http://schemas.openxmlformats.org/officeDocument/2006/math">
                    <m:r>
                      <a:rPr lang="zh-TW" altLang="en-US" sz="36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3600" dirty="0"/>
                  <a:t>, +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3600" dirty="0"/>
                  <a:t>, - 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3600" dirty="0"/>
                  <a:t>, +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3600" dirty="0"/>
                  <a:t> ……  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067" y="8158445"/>
                <a:ext cx="4800600" cy="645160"/>
              </a:xfrm>
              <a:prstGeom prst="rect">
                <a:avLst/>
              </a:prstGeom>
              <a:blipFill rotWithShape="1">
                <a:blip r:embed="rId4"/>
                <a:stretch>
                  <a:fillRect l="-12" t="-93" r="12" b="9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內容版面配置區 2"/>
          <p:cNvSpPr>
            <a:spLocks noGrp="1"/>
          </p:cNvSpPr>
          <p:nvPr/>
        </p:nvSpPr>
        <p:spPr>
          <a:xfrm>
            <a:off x="1098550" y="2050415"/>
            <a:ext cx="16084550" cy="16579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5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ym typeface="+mn-ea"/>
              </a:rPr>
              <a:t>Lottery Ticket Hypothesis</a:t>
            </a:r>
          </a:p>
          <a:p>
            <a:pPr lvl="1"/>
            <a:r>
              <a:rPr lang="en-US" altLang="zh-TW" dirty="0">
                <a:sym typeface="+mn-ea"/>
              </a:rPr>
              <a:t>Different pruning strategy </a:t>
            </a:r>
            <a:endParaRPr lang="zh-TW" altLang="en-US" dirty="0"/>
          </a:p>
        </p:txBody>
      </p:sp>
      <p:sp>
        <p:nvSpPr>
          <p:cNvPr id="14" name="Text Box 13"/>
          <p:cNvSpPr txBox="1"/>
          <p:nvPr/>
        </p:nvSpPr>
        <p:spPr>
          <a:xfrm>
            <a:off x="12368530" y="6953885"/>
            <a:ext cx="3429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lang="zh-TW" altLang="en-US" dirty="0">
                <a:sym typeface="+mn-ea"/>
              </a:rPr>
              <a:t>https://arxiv.org/abs/1905.01067</a:t>
            </a:r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4984750" y="6856730"/>
            <a:ext cx="73837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TW" dirty="0">
                <a:solidFill>
                  <a:srgbClr val="000000"/>
                </a:solidFill>
                <a:effectLst/>
                <a:latin typeface="Lucida Grande"/>
                <a:sym typeface="+mn-ea"/>
              </a:rPr>
              <a:t>Deconstructing Lottery Tickets: Zeros, Signs, and the </a:t>
            </a:r>
            <a:r>
              <a:rPr lang="en-US" altLang="zh-TW" dirty="0" err="1">
                <a:solidFill>
                  <a:srgbClr val="000000"/>
                </a:solidFill>
                <a:effectLst/>
                <a:latin typeface="Lucida Grande"/>
                <a:sym typeface="+mn-ea"/>
              </a:rPr>
              <a:t>Supermask</a:t>
            </a:r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8357235" y="8206740"/>
            <a:ext cx="996315" cy="5994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Pruning?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1725" y="2050699"/>
            <a:ext cx="16084552" cy="6888006"/>
          </a:xfrm>
        </p:spPr>
        <p:txBody>
          <a:bodyPr>
            <a:normAutofit/>
          </a:bodyPr>
          <a:lstStyle/>
          <a:p>
            <a:r>
              <a:rPr lang="en-US" altLang="zh-TW" sz="4500" dirty="0"/>
              <a:t>Rethinking the Value of Network Pruning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489022"/>
            <a:ext cx="13716000" cy="330922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82190" y="7385050"/>
            <a:ext cx="1365821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b="1" dirty="0">
                <a:solidFill>
                  <a:schemeClr val="accent1"/>
                </a:solidFill>
                <a:latin typeface="+mj-lt"/>
                <a:cs typeface="+mj-cs"/>
              </a:rPr>
              <a:t>New</a:t>
            </a:r>
            <a:r>
              <a:rPr lang="en-US" altLang="zh-TW" sz="3600" dirty="0"/>
              <a:t> random initialization, not </a:t>
            </a:r>
            <a:r>
              <a:rPr lang="en-US" altLang="zh-TW" sz="3600" b="1" dirty="0">
                <a:solidFill>
                  <a:schemeClr val="accent1"/>
                </a:solidFill>
                <a:latin typeface="+mj-lt"/>
                <a:cs typeface="+mj-cs"/>
              </a:rPr>
              <a:t>original</a:t>
            </a:r>
            <a:r>
              <a:rPr lang="en-US" altLang="zh-TW" sz="3600" dirty="0"/>
              <a:t> random initialization in “Lottery Ticket Hypothesis”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Limitation of “Lottery Ticket Hypothesis” (small </a:t>
            </a:r>
            <a:r>
              <a:rPr lang="en-US" altLang="zh-TW" sz="3600" dirty="0" err="1"/>
              <a:t>lr</a:t>
            </a:r>
            <a:r>
              <a:rPr lang="en-US" altLang="zh-TW" sz="3600" dirty="0"/>
              <a:t>, unstructured)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412220" y="6798310"/>
            <a:ext cx="43440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1"/>
            <a:r>
              <a:rPr lang="en-US" altLang="zh-TW" dirty="0">
                <a:sym typeface="+mn-ea"/>
                <a:hlinkClick r:id="rId4"/>
              </a:rPr>
              <a:t>https://arxiv.org/abs/1810.05270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2825747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Knowledge Distillation</a:t>
            </a:r>
            <a:br>
              <a:rPr lang="en-US" dirty="0"/>
            </a:br>
            <a:endParaRPr lang="en-US" sz="44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6348E-E768-DC8C-D997-92B2B08DA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Knowledge Distillation</a:t>
            </a:r>
            <a:endParaRPr lang="zh-TW" altLang="en-US" dirty="0"/>
          </a:p>
        </p:txBody>
      </p:sp>
      <p:pic>
        <p:nvPicPr>
          <p:cNvPr id="107" name="Content Placeholder 10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4615" y="2439670"/>
            <a:ext cx="9657715" cy="6003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字方塊 18"/>
          <p:cNvSpPr txBox="1"/>
          <p:nvPr/>
        </p:nvSpPr>
        <p:spPr>
          <a:xfrm>
            <a:off x="14553044" y="5131914"/>
            <a:ext cx="33050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PMingLiU" panose="02020500000000000000" pitchFamily="18" charset="-120"/>
                <a:cs typeface="+mn-cs"/>
              </a:rPr>
              <a:t>Cross-entropy minimization</a:t>
            </a:r>
          </a:p>
        </p:txBody>
      </p:sp>
      <p:pic>
        <p:nvPicPr>
          <p:cNvPr id="7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97" y="3242674"/>
            <a:ext cx="946724" cy="964042"/>
          </a:xfrm>
          <a:prstGeom prst="rect">
            <a:avLst/>
          </a:prstGeom>
        </p:spPr>
      </p:pic>
      <p:pic>
        <p:nvPicPr>
          <p:cNvPr id="11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97" y="7129509"/>
            <a:ext cx="946724" cy="964042"/>
          </a:xfrm>
          <a:prstGeom prst="rect">
            <a:avLst/>
          </a:prstGeom>
        </p:spPr>
      </p:pic>
      <p:sp>
        <p:nvSpPr>
          <p:cNvPr id="12" name="文字方塊 2"/>
          <p:cNvSpPr txBox="1"/>
          <p:nvPr/>
        </p:nvSpPr>
        <p:spPr>
          <a:xfrm>
            <a:off x="1780540" y="5193665"/>
            <a:ext cx="4006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Providing the information that “1” is similar to “7”</a:t>
            </a:r>
            <a:endParaRPr lang="zh-TW" altLang="en-US" sz="2400" dirty="0"/>
          </a:p>
        </p:txBody>
      </p:sp>
      <p:sp>
        <p:nvSpPr>
          <p:cNvPr id="22" name="文字方塊 17"/>
          <p:cNvSpPr txBox="1"/>
          <p:nvPr/>
        </p:nvSpPr>
        <p:spPr>
          <a:xfrm>
            <a:off x="11882559" y="3493680"/>
            <a:ext cx="2157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 target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1698605" y="3955415"/>
            <a:ext cx="2526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“1”: 0.7, “7”: 0.2, “9”: 0.1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5975350" y="9918700"/>
            <a:ext cx="85775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https://towardsdatascience.com/knowledge-distillation-simplified-dd4973dbc764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11193145" y="8443595"/>
            <a:ext cx="36391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https://arxiv.org/pdf/1503.02531.pdf</a:t>
            </a:r>
            <a:endParaRPr lang="en-US"/>
          </a:p>
        </p:txBody>
      </p:sp>
      <p:sp>
        <p:nvSpPr>
          <p:cNvPr id="30" name="Rectangles 29"/>
          <p:cNvSpPr/>
          <p:nvPr/>
        </p:nvSpPr>
        <p:spPr>
          <a:xfrm>
            <a:off x="7599680" y="3039110"/>
            <a:ext cx="3844290" cy="2752090"/>
          </a:xfrm>
          <a:prstGeom prst="rect">
            <a:avLst/>
          </a:prstGeom>
          <a:solidFill>
            <a:schemeClr val="bg2"/>
          </a:solidFill>
          <a:ln cmpd="sng">
            <a:noFill/>
          </a:ln>
          <a:effectLst/>
          <a:scene3d>
            <a:camera prst="orthographicFront"/>
            <a:lightRig rig="threePt" dir="t"/>
          </a:scene3d>
          <a:sp3d prstMaterial="powder">
            <a:bevelT w="50800" h="88900" prst="convex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群組 2"/>
          <p:cNvGrpSpPr/>
          <p:nvPr/>
        </p:nvGrpSpPr>
        <p:grpSpPr>
          <a:xfrm>
            <a:off x="8197215" y="3341370"/>
            <a:ext cx="2664460" cy="1955165"/>
            <a:chOff x="-624711" y="3947305"/>
            <a:chExt cx="2688114" cy="1596412"/>
          </a:xfrm>
        </p:grpSpPr>
        <p:sp>
          <p:nvSpPr>
            <p:cNvPr id="27" name="矩形 19"/>
            <p:cNvSpPr/>
            <p:nvPr/>
          </p:nvSpPr>
          <p:spPr>
            <a:xfrm>
              <a:off x="-624711" y="3947305"/>
              <a:ext cx="2267376" cy="130419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Model 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8" name="矩形 20"/>
            <p:cNvSpPr/>
            <p:nvPr/>
          </p:nvSpPr>
          <p:spPr>
            <a:xfrm>
              <a:off x="-450513" y="4088905"/>
              <a:ext cx="2267376" cy="13041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Model 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9" name="矩形 21"/>
            <p:cNvSpPr/>
            <p:nvPr/>
          </p:nvSpPr>
          <p:spPr>
            <a:xfrm>
              <a:off x="-203973" y="4239518"/>
              <a:ext cx="2267376" cy="130419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TW" sz="2400" dirty="0">
                  <a:solidFill>
                    <a:prstClr val="white"/>
                  </a:solidFill>
                  <a:latin typeface="Calibri" panose="020F0502020204030204"/>
                  <a:ea typeface="PMingLiU" panose="02020500000000000000" pitchFamily="18" charset="-120"/>
                </a:rPr>
                <a:t>N Networks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2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Knowledge Distillation</a:t>
            </a:r>
            <a:endParaRPr lang="zh-TW" altLang="en-US" dirty="0"/>
          </a:p>
        </p:txBody>
      </p:sp>
      <p:pic>
        <p:nvPicPr>
          <p:cNvPr id="107" name="Content Placeholder 10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4615" y="2439670"/>
            <a:ext cx="9657715" cy="6003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字方塊 18"/>
          <p:cNvSpPr txBox="1"/>
          <p:nvPr/>
        </p:nvSpPr>
        <p:spPr>
          <a:xfrm>
            <a:off x="14553044" y="5131914"/>
            <a:ext cx="33050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PMingLiU" panose="02020500000000000000" pitchFamily="18" charset="-120"/>
                <a:cs typeface="+mn-cs"/>
              </a:rPr>
              <a:t>Cross-entropy minimization</a:t>
            </a:r>
          </a:p>
        </p:txBody>
      </p:sp>
      <p:pic>
        <p:nvPicPr>
          <p:cNvPr id="7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97" y="3242674"/>
            <a:ext cx="946724" cy="964042"/>
          </a:xfrm>
          <a:prstGeom prst="rect">
            <a:avLst/>
          </a:prstGeom>
        </p:spPr>
      </p:pic>
      <p:pic>
        <p:nvPicPr>
          <p:cNvPr id="11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97" y="7129509"/>
            <a:ext cx="946724" cy="964042"/>
          </a:xfrm>
          <a:prstGeom prst="rect">
            <a:avLst/>
          </a:prstGeom>
        </p:spPr>
      </p:pic>
      <p:sp>
        <p:nvSpPr>
          <p:cNvPr id="12" name="文字方塊 2"/>
          <p:cNvSpPr txBox="1"/>
          <p:nvPr/>
        </p:nvSpPr>
        <p:spPr>
          <a:xfrm>
            <a:off x="1780540" y="5193665"/>
            <a:ext cx="4006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Providing the information that “1” is similar to “7”</a:t>
            </a:r>
            <a:endParaRPr lang="zh-TW" altLang="en-US" sz="2400" dirty="0"/>
          </a:p>
        </p:txBody>
      </p:sp>
      <p:sp>
        <p:nvSpPr>
          <p:cNvPr id="22" name="文字方塊 17"/>
          <p:cNvSpPr txBox="1"/>
          <p:nvPr/>
        </p:nvSpPr>
        <p:spPr>
          <a:xfrm>
            <a:off x="11882559" y="3493680"/>
            <a:ext cx="2157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 target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1698605" y="3955415"/>
            <a:ext cx="2526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“1”: 0.7, “7”: 0.2, “9”: 0.1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5975350" y="9918700"/>
            <a:ext cx="85775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https://towardsdatascience.com/knowledge-distillation-simplified-dd4973dbc764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11193145" y="8443595"/>
            <a:ext cx="36391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https://arxiv.org/pdf/1503.02531.pdf</a:t>
            </a:r>
            <a:endParaRPr lang="en-US"/>
          </a:p>
        </p:txBody>
      </p:sp>
      <p:sp>
        <p:nvSpPr>
          <p:cNvPr id="30" name="Rectangles 29"/>
          <p:cNvSpPr/>
          <p:nvPr/>
        </p:nvSpPr>
        <p:spPr>
          <a:xfrm>
            <a:off x="7599680" y="3039110"/>
            <a:ext cx="3844290" cy="2752090"/>
          </a:xfrm>
          <a:prstGeom prst="rect">
            <a:avLst/>
          </a:prstGeom>
          <a:solidFill>
            <a:schemeClr val="bg2"/>
          </a:solidFill>
          <a:ln cmpd="sng">
            <a:noFill/>
          </a:ln>
          <a:effectLst/>
          <a:scene3d>
            <a:camera prst="orthographicFront"/>
            <a:lightRig rig="threePt" dir="t"/>
          </a:scene3d>
          <a:sp3d prstMaterial="powder">
            <a:bevelT w="50800" h="88900" prst="convex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群組 2"/>
          <p:cNvGrpSpPr/>
          <p:nvPr/>
        </p:nvGrpSpPr>
        <p:grpSpPr>
          <a:xfrm>
            <a:off x="8197215" y="3341370"/>
            <a:ext cx="2664460" cy="1955165"/>
            <a:chOff x="-624711" y="3947305"/>
            <a:chExt cx="2688114" cy="1596412"/>
          </a:xfrm>
        </p:grpSpPr>
        <p:sp>
          <p:nvSpPr>
            <p:cNvPr id="27" name="矩形 19"/>
            <p:cNvSpPr/>
            <p:nvPr/>
          </p:nvSpPr>
          <p:spPr>
            <a:xfrm>
              <a:off x="-624711" y="3947305"/>
              <a:ext cx="2267376" cy="130419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Model 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8" name="矩形 20"/>
            <p:cNvSpPr/>
            <p:nvPr/>
          </p:nvSpPr>
          <p:spPr>
            <a:xfrm>
              <a:off x="-450513" y="4088905"/>
              <a:ext cx="2267376" cy="13041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Model 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9" name="矩形 21"/>
            <p:cNvSpPr/>
            <p:nvPr/>
          </p:nvSpPr>
          <p:spPr>
            <a:xfrm>
              <a:off x="-203973" y="4239518"/>
              <a:ext cx="2267376" cy="130419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TW" sz="2400" dirty="0">
                  <a:solidFill>
                    <a:prstClr val="white"/>
                  </a:solidFill>
                  <a:latin typeface="Calibri" panose="020F0502020204030204"/>
                  <a:ea typeface="PMingLiU" panose="02020500000000000000" pitchFamily="18" charset="-120"/>
                </a:rPr>
                <a:t>N Networks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31" name="矩形 10"/>
          <p:cNvSpPr/>
          <p:nvPr/>
        </p:nvSpPr>
        <p:spPr>
          <a:xfrm>
            <a:off x="11418570" y="4015105"/>
            <a:ext cx="3149600" cy="30797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5"/>
          <p:cNvSpPr txBox="1"/>
          <p:nvPr/>
        </p:nvSpPr>
        <p:spPr>
          <a:xfrm>
            <a:off x="14832330" y="3699510"/>
            <a:ext cx="34423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Ensemble</a:t>
            </a:r>
          </a:p>
          <a:p>
            <a:r>
              <a:rPr lang="en-US" altLang="zh-TW" sz="2400" dirty="0">
                <a:sym typeface="+mn-ea"/>
              </a:rPr>
              <a:t>Average many models</a:t>
            </a:r>
            <a:endParaRPr lang="zh-TW" altLang="en-US" sz="2400" dirty="0"/>
          </a:p>
          <a:p>
            <a:endParaRPr lang="zh-TW" altLang="en-US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Knowledge Distillation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Temperature for </a:t>
            </a:r>
            <a:r>
              <a:rPr lang="en-US" altLang="zh-TW" dirty="0" err="1"/>
              <a:t>softmax</a:t>
            </a:r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913680" y="3414938"/>
                <a:ext cx="3676650" cy="1575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80" y="3414938"/>
                <a:ext cx="3676650" cy="1575435"/>
              </a:xfrm>
              <a:prstGeom prst="rect">
                <a:avLst/>
              </a:prstGeom>
              <a:blipFill rotWithShape="1">
                <a:blip r:embed="rId3"/>
                <a:stretch>
                  <a:fillRect l="-8" t="-34" r="-1978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857280" y="3414938"/>
                <a:ext cx="4264025" cy="1575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280" y="3414938"/>
                <a:ext cx="4264025" cy="1575435"/>
              </a:xfrm>
              <a:prstGeom prst="rect">
                <a:avLst/>
              </a:prstGeom>
              <a:blipFill rotWithShape="1">
                <a:blip r:embed="rId4"/>
                <a:stretch>
                  <a:fillRect l="-7" t="-34" r="-1601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號: 向右 5"/>
          <p:cNvSpPr/>
          <p:nvPr/>
        </p:nvSpPr>
        <p:spPr>
          <a:xfrm>
            <a:off x="7154280" y="3757838"/>
            <a:ext cx="1210638" cy="8953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728155" y="7127266"/>
                <a:ext cx="18675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55" y="7127266"/>
                <a:ext cx="186753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10" t="-5" r="-4172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728155" y="7949630"/>
                <a:ext cx="16186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55" y="7949630"/>
                <a:ext cx="161861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12" t="-12" r="-4696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728155" y="8771995"/>
                <a:ext cx="13646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55" y="8771995"/>
                <a:ext cx="136461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4" t="-19" r="-5570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5432513" y="7127266"/>
                <a:ext cx="13595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13" y="7127266"/>
                <a:ext cx="1359535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6" t="-5" r="-5785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432513" y="7949630"/>
                <a:ext cx="13595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13" y="7949630"/>
                <a:ext cx="135953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6" t="-12" r="-5598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432513" y="8771995"/>
                <a:ext cx="1359535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13" y="8771995"/>
                <a:ext cx="1359535" cy="556260"/>
              </a:xfrm>
              <a:prstGeom prst="rect">
                <a:avLst/>
              </a:prstGeom>
              <a:blipFill rotWithShape="1">
                <a:blip r:embed="rId10"/>
                <a:stretch>
                  <a:fillRect l="-6" t="-19" r="-5598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8811960" y="7214362"/>
                <a:ext cx="186309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960" y="7214362"/>
                <a:ext cx="1863090" cy="553720"/>
              </a:xfrm>
              <a:prstGeom prst="rect">
                <a:avLst/>
              </a:prstGeom>
              <a:blipFill rotWithShape="1">
                <a:blip r:embed="rId11"/>
                <a:stretch>
                  <a:fillRect l="-3" t="-23" r="-4052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8811960" y="8036726"/>
                <a:ext cx="2216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960" y="8036726"/>
                <a:ext cx="2216785" cy="553720"/>
              </a:xfrm>
              <a:prstGeom prst="rect">
                <a:avLst/>
              </a:prstGeom>
              <a:blipFill rotWithShape="1">
                <a:blip r:embed="rId12"/>
                <a:stretch>
                  <a:fillRect l="-3" t="-30" r="-3263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8811960" y="8859091"/>
                <a:ext cx="2470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960" y="8859091"/>
                <a:ext cx="247078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3" t="-37" r="-2927" b="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11723367" y="7209482"/>
                <a:ext cx="19615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=0.56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367" y="7209482"/>
                <a:ext cx="1961515" cy="553720"/>
              </a:xfrm>
              <a:prstGeom prst="rect">
                <a:avLst/>
              </a:prstGeom>
              <a:blipFill rotWithShape="1">
                <a:blip r:embed="rId14"/>
                <a:stretch>
                  <a:fillRect l="-32" t="-59" r="-3950" b="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11723367" y="8031847"/>
                <a:ext cx="196723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=0.23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367" y="8031847"/>
                <a:ext cx="1967230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32" t="-66" r="-3809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11723367" y="8854211"/>
                <a:ext cx="196723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.21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367" y="8854211"/>
                <a:ext cx="1967230" cy="556260"/>
              </a:xfrm>
              <a:prstGeom prst="rect">
                <a:avLst/>
              </a:prstGeom>
              <a:blipFill rotWithShape="1">
                <a:blip r:embed="rId16"/>
                <a:stretch>
                  <a:fillRect l="-32" t="-73" r="-3809" b="7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6914756" y="4709981"/>
                <a:ext cx="169037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756" y="4709981"/>
                <a:ext cx="1690370" cy="553720"/>
              </a:xfrm>
              <a:prstGeom prst="rect">
                <a:avLst/>
              </a:prstGeom>
              <a:blipFill rotWithShape="1">
                <a:blip r:embed="rId17"/>
                <a:stretch>
                  <a:fillRect l="-14" t="-34" r="-4193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/>
          <p:cNvGrpSpPr/>
          <p:nvPr/>
        </p:nvGrpSpPr>
        <p:grpSpPr>
          <a:xfrm>
            <a:off x="3255645" y="5286958"/>
            <a:ext cx="3426566" cy="1204403"/>
            <a:chOff x="1524000" y="3755355"/>
            <a:chExt cx="2284377" cy="802935"/>
          </a:xfrm>
        </p:grpSpPr>
        <p:sp>
          <p:nvSpPr>
            <p:cNvPr id="9" name="矩形 8"/>
            <p:cNvSpPr/>
            <p:nvPr/>
          </p:nvSpPr>
          <p:spPr>
            <a:xfrm>
              <a:off x="1971628" y="3755355"/>
              <a:ext cx="285656" cy="8029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" name="矩形 26"/>
            <p:cNvSpPr/>
            <p:nvPr/>
          </p:nvSpPr>
          <p:spPr>
            <a:xfrm>
              <a:off x="2562084" y="4397833"/>
              <a:ext cx="285656" cy="1604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8" name="矩形 27"/>
            <p:cNvSpPr/>
            <p:nvPr/>
          </p:nvSpPr>
          <p:spPr>
            <a:xfrm>
              <a:off x="3185230" y="4470403"/>
              <a:ext cx="285656" cy="7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8" name="直線接點 7"/>
            <p:cNvCxnSpPr/>
            <p:nvPr/>
          </p:nvCxnSpPr>
          <p:spPr>
            <a:xfrm>
              <a:off x="1524000" y="4542971"/>
              <a:ext cx="228437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群組 28"/>
          <p:cNvGrpSpPr/>
          <p:nvPr/>
        </p:nvGrpSpPr>
        <p:grpSpPr>
          <a:xfrm>
            <a:off x="9414284" y="5323448"/>
            <a:ext cx="3426566" cy="1204403"/>
            <a:chOff x="1524000" y="3755355"/>
            <a:chExt cx="2284377" cy="802935"/>
          </a:xfrm>
        </p:grpSpPr>
        <p:sp>
          <p:nvSpPr>
            <p:cNvPr id="30" name="矩形 29"/>
            <p:cNvSpPr/>
            <p:nvPr/>
          </p:nvSpPr>
          <p:spPr>
            <a:xfrm>
              <a:off x="1971628" y="3755355"/>
              <a:ext cx="285656" cy="8029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1" name="矩形 30"/>
            <p:cNvSpPr/>
            <p:nvPr/>
          </p:nvSpPr>
          <p:spPr>
            <a:xfrm>
              <a:off x="2562084" y="4194634"/>
              <a:ext cx="285656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2" name="矩形 31"/>
            <p:cNvSpPr/>
            <p:nvPr/>
          </p:nvSpPr>
          <p:spPr>
            <a:xfrm>
              <a:off x="3185230" y="4354289"/>
              <a:ext cx="285656" cy="1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3" name="直線接點 32"/>
            <p:cNvCxnSpPr/>
            <p:nvPr/>
          </p:nvCxnSpPr>
          <p:spPr>
            <a:xfrm>
              <a:off x="1524000" y="4542971"/>
              <a:ext cx="228437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Parameter Quantization</a:t>
            </a:r>
            <a:endParaRPr lang="en-US" sz="44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6348E-E768-DC8C-D997-92B2B08DA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Parameter Quantization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73530" y="2322830"/>
            <a:ext cx="11830050" cy="2470785"/>
          </a:xfrm>
        </p:spPr>
        <p:txBody>
          <a:bodyPr>
            <a:noAutofit/>
          </a:bodyPr>
          <a:lstStyle/>
          <a:p>
            <a:r>
              <a:rPr lang="en-US" altLang="zh-TW" dirty="0"/>
              <a:t>1. Using less bits to represent a value</a:t>
            </a:r>
          </a:p>
          <a:p>
            <a:r>
              <a:rPr lang="en-US" altLang="zh-TW" dirty="0"/>
              <a:t>2. Weight clustering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083425" y="4810125"/>
          <a:ext cx="4721225" cy="3226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6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3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0.5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1.3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4.3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-0.1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0.1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-0.2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-1.2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0.3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1.0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3.0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-0.4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0.1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-0.5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-0.1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-3.4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-5.0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831590" y="5935980"/>
            <a:ext cx="37833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dirty="0">
                <a:cs typeface="+mn-cs"/>
              </a:rPr>
              <a:t>weights in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dirty="0">
                <a:cs typeface="+mn-cs"/>
              </a:rPr>
              <a:t>a network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220848" y="8197727"/>
            <a:ext cx="24457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Clustering 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Parameter Quantization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98550" y="1885950"/>
            <a:ext cx="15024100" cy="6515100"/>
          </a:xfrm>
        </p:spPr>
        <p:txBody>
          <a:bodyPr>
            <a:noAutofit/>
          </a:bodyPr>
          <a:lstStyle/>
          <a:p>
            <a:r>
              <a:rPr lang="en-US" altLang="zh-TW" dirty="0"/>
              <a:t>1. Using less bits to represent a value</a:t>
            </a:r>
          </a:p>
          <a:p>
            <a:r>
              <a:rPr lang="en-US" altLang="zh-TW" dirty="0"/>
              <a:t>2. Weight clustering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3. Represent frequent clusters by less bits, represent rare clusters by more bits </a:t>
            </a:r>
          </a:p>
          <a:p>
            <a:pPr lvl="1"/>
            <a:r>
              <a:rPr lang="en-US" altLang="zh-TW" dirty="0"/>
              <a:t>e.g. Huffman encoding</a:t>
            </a:r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185" y="3976370"/>
            <a:ext cx="5394325" cy="323913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271510" y="3976370"/>
            <a:ext cx="6212840" cy="3286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Weights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Binary Connect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4584203" y="4206584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橢圓 5"/>
          <p:cNvSpPr/>
          <p:nvPr/>
        </p:nvSpPr>
        <p:spPr>
          <a:xfrm>
            <a:off x="6864102" y="4206584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橢圓 6"/>
          <p:cNvSpPr/>
          <p:nvPr/>
        </p:nvSpPr>
        <p:spPr>
          <a:xfrm>
            <a:off x="9144002" y="4206584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橢圓 11"/>
          <p:cNvSpPr/>
          <p:nvPr/>
        </p:nvSpPr>
        <p:spPr>
          <a:xfrm>
            <a:off x="4584203" y="5757870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6864102" y="5757870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>
            <a:off x="9144002" y="5757870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4584203" y="7309157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橢圓 18"/>
          <p:cNvSpPr/>
          <p:nvPr/>
        </p:nvSpPr>
        <p:spPr>
          <a:xfrm>
            <a:off x="6864102" y="7309157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橢圓 19"/>
          <p:cNvSpPr/>
          <p:nvPr/>
        </p:nvSpPr>
        <p:spPr>
          <a:xfrm>
            <a:off x="9144002" y="7309157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橢圓 23"/>
          <p:cNvSpPr/>
          <p:nvPr/>
        </p:nvSpPr>
        <p:spPr>
          <a:xfrm>
            <a:off x="4584203" y="8860445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橢圓 24"/>
          <p:cNvSpPr/>
          <p:nvPr/>
        </p:nvSpPr>
        <p:spPr>
          <a:xfrm>
            <a:off x="6864102" y="8860445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橢圓 25"/>
          <p:cNvSpPr/>
          <p:nvPr/>
        </p:nvSpPr>
        <p:spPr>
          <a:xfrm>
            <a:off x="9144002" y="8860445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文字方塊 28"/>
          <p:cNvSpPr txBox="1"/>
          <p:nvPr/>
        </p:nvSpPr>
        <p:spPr>
          <a:xfrm>
            <a:off x="9166331" y="3211598"/>
            <a:ext cx="7543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network with binary weights</a:t>
            </a:r>
            <a:endParaRPr lang="zh-TW" altLang="en-US" sz="3600" dirty="0"/>
          </a:p>
        </p:txBody>
      </p:sp>
      <p:cxnSp>
        <p:nvCxnSpPr>
          <p:cNvPr id="31" name="直線單箭頭接點 30"/>
          <p:cNvCxnSpPr/>
          <p:nvPr/>
        </p:nvCxnSpPr>
        <p:spPr>
          <a:xfrm flipV="1">
            <a:off x="9414002" y="3853127"/>
            <a:ext cx="542130" cy="4044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6105972" y="4476584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5" name="直線單箭頭接點 34"/>
          <p:cNvCxnSpPr/>
          <p:nvPr/>
        </p:nvCxnSpPr>
        <p:spPr>
          <a:xfrm>
            <a:off x="7134102" y="4369646"/>
            <a:ext cx="867693" cy="3849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6537972" y="4783598"/>
            <a:ext cx="1519280" cy="69623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8002541" y="5354015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0" name="直線單箭頭接點 39"/>
          <p:cNvCxnSpPr/>
          <p:nvPr/>
        </p:nvCxnSpPr>
        <p:spPr>
          <a:xfrm>
            <a:off x="9403787" y="6038165"/>
            <a:ext cx="281280" cy="6303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8307705" y="5753561"/>
            <a:ext cx="576510" cy="141124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8711999" y="7164806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8" name="直線單箭頭接點 47"/>
          <p:cNvCxnSpPr/>
          <p:nvPr/>
        </p:nvCxnSpPr>
        <p:spPr>
          <a:xfrm flipH="1">
            <a:off x="8639807" y="7596806"/>
            <a:ext cx="506111" cy="5051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>
            <a:off x="7628777" y="7591536"/>
            <a:ext cx="1179528" cy="111389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 52"/>
          <p:cNvSpPr/>
          <p:nvPr/>
        </p:nvSpPr>
        <p:spPr>
          <a:xfrm>
            <a:off x="7225361" y="8563445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橢圓 53"/>
          <p:cNvSpPr/>
          <p:nvPr/>
        </p:nvSpPr>
        <p:spPr>
          <a:xfrm>
            <a:off x="6729102" y="8739935"/>
            <a:ext cx="540000" cy="540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文字方塊 54"/>
          <p:cNvSpPr txBox="1"/>
          <p:nvPr/>
        </p:nvSpPr>
        <p:spPr>
          <a:xfrm>
            <a:off x="161437" y="5069185"/>
            <a:ext cx="38345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network with real value weights</a:t>
            </a:r>
            <a:endParaRPr lang="zh-TW" altLang="en-US" sz="3600" dirty="0"/>
          </a:p>
        </p:txBody>
      </p:sp>
      <p:cxnSp>
        <p:nvCxnSpPr>
          <p:cNvPr id="56" name="直線單箭頭接點 55"/>
          <p:cNvCxnSpPr>
            <a:endCxn id="55" idx="3"/>
          </p:cNvCxnSpPr>
          <p:nvPr/>
        </p:nvCxnSpPr>
        <p:spPr>
          <a:xfrm flipH="1">
            <a:off x="3996055" y="4754245"/>
            <a:ext cx="2110105" cy="9144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10907858" y="5514309"/>
            <a:ext cx="73792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10907858" y="7402053"/>
            <a:ext cx="737925" cy="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11837163" y="5159345"/>
            <a:ext cx="5283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Negative gradient </a:t>
            </a:r>
            <a:endParaRPr lang="zh-TW" altLang="en-US" sz="36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11837162" y="7081231"/>
            <a:ext cx="5283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Update direction</a:t>
            </a:r>
            <a:endParaRPr lang="zh-TW" altLang="en-US" sz="36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1837162" y="5717215"/>
            <a:ext cx="365386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(compute on binary weights)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1837162" y="7678466"/>
            <a:ext cx="365386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(compute on real  weights)</a:t>
            </a:r>
            <a:endParaRPr lang="zh-TW" altLang="en-US" sz="3600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1098550" y="3284289"/>
            <a:ext cx="74104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Your weights are always +1 or -1</a:t>
            </a:r>
            <a:endParaRPr lang="zh-TW" altLang="en-US" sz="3600" dirty="0"/>
          </a:p>
        </p:txBody>
      </p:sp>
      <p:sp>
        <p:nvSpPr>
          <p:cNvPr id="8" name="Text Box 7"/>
          <p:cNvSpPr txBox="1"/>
          <p:nvPr/>
        </p:nvSpPr>
        <p:spPr>
          <a:xfrm>
            <a:off x="10476865" y="9639935"/>
            <a:ext cx="3429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dirty="0">
                <a:sym typeface="+mn-ea"/>
              </a:rPr>
              <a:t>https://arxiv.org/abs/1602.02830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Weights </a:t>
            </a:r>
            <a:endParaRPr lang="zh-TW" alt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10677525" y="7395845"/>
            <a:ext cx="34124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dirty="0">
                <a:sym typeface="+mn-ea"/>
              </a:rPr>
              <a:t>https://arxiv.org/abs/1511.00363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377055" y="5006975"/>
            <a:ext cx="9712960" cy="238887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218940" y="2594610"/>
            <a:ext cx="9843135" cy="241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555874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7200" dirty="0">
                <a:sym typeface="+mn-ea"/>
              </a:rPr>
              <a:t>Architecture Design</a:t>
            </a:r>
            <a:br>
              <a:rPr lang="en-US" dirty="0"/>
            </a:b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5FD37-8101-AC7B-6639-2ED249AAF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55875" y="4189730"/>
          <a:ext cx="2884170" cy="290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0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401050" y="192976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11906145" y="2630009"/>
                <a:ext cx="3775075" cy="11074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×3×2×4=72</m:t>
                      </m:r>
                    </m:oMath>
                  </m:oMathPara>
                </a14:m>
                <a:endParaRPr lang="en-US" altLang="zh-TW" sz="3600" dirty="0"/>
              </a:p>
              <a:p>
                <a:pPr algn="ctr"/>
                <a:r>
                  <a:rPr lang="zh-TW" altLang="en-US" sz="3600" dirty="0"/>
                  <a:t> </a:t>
                </a:r>
                <a:r>
                  <a:rPr lang="en-US" altLang="zh-TW" sz="3600" dirty="0"/>
                  <a:t>parameters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6145" y="2630009"/>
                <a:ext cx="3775075" cy="1107440"/>
              </a:xfrm>
              <a:prstGeom prst="rect">
                <a:avLst/>
              </a:prstGeom>
              <a:blipFill rotWithShape="1">
                <a:blip r:embed="rId3"/>
                <a:stretch>
                  <a:fillRect l="-14" t="-43" r="-1853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>
            <a:off x="2083353" y="3289665"/>
            <a:ext cx="4083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 feature map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085507" y="7347508"/>
            <a:ext cx="4083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 channels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7933055" y="1544320"/>
            <a:ext cx="2653030" cy="8489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3" name="表格 4"/>
          <p:cNvGraphicFramePr>
            <a:graphicFrameLocks noGrp="1"/>
          </p:cNvGraphicFramePr>
          <p:nvPr/>
        </p:nvGraphicFramePr>
        <p:xfrm>
          <a:off x="2682875" y="4316730"/>
          <a:ext cx="2884170" cy="290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0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表格 9"/>
          <p:cNvGraphicFramePr>
            <a:graphicFrameLocks noGrp="1"/>
          </p:cNvGraphicFramePr>
          <p:nvPr/>
        </p:nvGraphicFramePr>
        <p:xfrm>
          <a:off x="8528050" y="205676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表格 9"/>
          <p:cNvGraphicFramePr>
            <a:graphicFrameLocks noGrp="1"/>
          </p:cNvGraphicFramePr>
          <p:nvPr/>
        </p:nvGraphicFramePr>
        <p:xfrm>
          <a:off x="8401050" y="398843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 9"/>
          <p:cNvGraphicFramePr>
            <a:graphicFrameLocks noGrp="1"/>
          </p:cNvGraphicFramePr>
          <p:nvPr/>
        </p:nvGraphicFramePr>
        <p:xfrm>
          <a:off x="8528050" y="411543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表格 9"/>
          <p:cNvGraphicFramePr>
            <a:graphicFrameLocks noGrp="1"/>
          </p:cNvGraphicFramePr>
          <p:nvPr/>
        </p:nvGraphicFramePr>
        <p:xfrm>
          <a:off x="8401050" y="617410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表格 9"/>
          <p:cNvGraphicFramePr>
            <a:graphicFrameLocks noGrp="1"/>
          </p:cNvGraphicFramePr>
          <p:nvPr/>
        </p:nvGraphicFramePr>
        <p:xfrm>
          <a:off x="8528050" y="630110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9"/>
          <p:cNvGraphicFramePr>
            <a:graphicFrameLocks noGrp="1"/>
          </p:cNvGraphicFramePr>
          <p:nvPr/>
        </p:nvGraphicFramePr>
        <p:xfrm>
          <a:off x="8401050" y="810577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表格 9"/>
          <p:cNvGraphicFramePr>
            <a:graphicFrameLocks noGrp="1"/>
          </p:cNvGraphicFramePr>
          <p:nvPr/>
        </p:nvGraphicFramePr>
        <p:xfrm>
          <a:off x="8528050" y="823277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標題 1"/>
          <p:cNvSpPr>
            <a:spLocks noGrp="1"/>
          </p:cNvSpPr>
          <p:nvPr/>
        </p:nvSpPr>
        <p:spPr>
          <a:xfrm>
            <a:off x="1101725" y="-2056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TW" dirty="0">
                <a:sym typeface="+mn-ea"/>
              </a:rPr>
              <a:t>Review: Standard CNN </a:t>
            </a:r>
            <a:endParaRPr lang="zh-TW" altLang="en-US" dirty="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12350115" y="4115435"/>
          <a:ext cx="2632710" cy="253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" name="表格 4"/>
          <p:cNvGraphicFramePr>
            <a:graphicFrameLocks noGrp="1"/>
          </p:cNvGraphicFramePr>
          <p:nvPr/>
        </p:nvGraphicFramePr>
        <p:xfrm>
          <a:off x="12477115" y="4242435"/>
          <a:ext cx="2632710" cy="253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4" name="表格 4"/>
          <p:cNvGraphicFramePr>
            <a:graphicFrameLocks noGrp="1"/>
          </p:cNvGraphicFramePr>
          <p:nvPr/>
        </p:nvGraphicFramePr>
        <p:xfrm>
          <a:off x="12604115" y="4369435"/>
          <a:ext cx="2632710" cy="253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" name="表格 4"/>
          <p:cNvGraphicFramePr>
            <a:graphicFrameLocks noGrp="1"/>
          </p:cNvGraphicFramePr>
          <p:nvPr/>
        </p:nvGraphicFramePr>
        <p:xfrm>
          <a:off x="12731115" y="4496435"/>
          <a:ext cx="2632710" cy="2583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8" grpId="0" animBg="1"/>
      <p:bldP spid="2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23385" y="2388235"/>
          <a:ext cx="3326130" cy="368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468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895715" y="2082800"/>
          <a:ext cx="1610360" cy="1609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11944350" y="3323590"/>
          <a:ext cx="216662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8895715" y="4266565"/>
          <a:ext cx="1642110" cy="18040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345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2327255" y="3757295"/>
          <a:ext cx="1981200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文字方塊 46"/>
          <p:cNvSpPr txBox="1"/>
          <p:nvPr/>
        </p:nvSpPr>
        <p:spPr>
          <a:xfrm>
            <a:off x="4003598" y="7719222"/>
            <a:ext cx="9272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Each filter only considers one channel.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4003599" y="6859572"/>
            <a:ext cx="9272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Filter number = Input channel number  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4003598" y="8578872"/>
                <a:ext cx="9272846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3600" dirty="0"/>
                  <a:t>The filters are </a:t>
                </a:r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matrices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8" y="8578872"/>
                <a:ext cx="9272846" cy="645160"/>
              </a:xfrm>
              <a:prstGeom prst="rect">
                <a:avLst/>
              </a:prstGeom>
              <a:blipFill rotWithShape="1">
                <a:blip r:embed="rId3"/>
                <a:stretch>
                  <a:fillRect l="-6" t="-3" r="5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4223385" y="2388235"/>
          <a:ext cx="1666875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436745" y="2751455"/>
          <a:ext cx="3242310" cy="3870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516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4411980" y="2790825"/>
          <a:ext cx="1668780" cy="195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4467225" y="3397885"/>
          <a:ext cx="1613535" cy="1800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4465320" y="4059555"/>
          <a:ext cx="1615440" cy="1914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4436745" y="4662170"/>
          <a:ext cx="1626870" cy="1960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41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" name="文字方塊 61"/>
          <p:cNvSpPr txBox="1"/>
          <p:nvPr/>
        </p:nvSpPr>
        <p:spPr>
          <a:xfrm>
            <a:off x="3974414" y="9446892"/>
            <a:ext cx="9272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There is no interaction between channels.</a:t>
            </a:r>
            <a:endParaRPr lang="zh-TW" altLang="en-US" sz="3600" dirty="0"/>
          </a:p>
        </p:txBody>
      </p:sp>
      <p:cxnSp>
        <p:nvCxnSpPr>
          <p:cNvPr id="8" name="直線單箭頭接點 7"/>
          <p:cNvCxnSpPr/>
          <p:nvPr/>
        </p:nvCxnSpPr>
        <p:spPr>
          <a:xfrm flipH="1" flipV="1">
            <a:off x="7795131" y="4836318"/>
            <a:ext cx="1100799" cy="3614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手繪多邊形: 圖案 8"/>
          <p:cNvSpPr/>
          <p:nvPr/>
        </p:nvSpPr>
        <p:spPr>
          <a:xfrm>
            <a:off x="7509753" y="2100684"/>
            <a:ext cx="1342418" cy="321503"/>
          </a:xfrm>
          <a:custGeom>
            <a:avLst/>
            <a:gdLst>
              <a:gd name="connsiteX0" fmla="*/ 894945 w 894945"/>
              <a:gd name="connsiteY0" fmla="*/ 214335 h 214335"/>
              <a:gd name="connsiteX1" fmla="*/ 389107 w 894945"/>
              <a:gd name="connsiteY1" fmla="*/ 327 h 214335"/>
              <a:gd name="connsiteX2" fmla="*/ 0 w 894945"/>
              <a:gd name="connsiteY2" fmla="*/ 175425 h 21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4945" h="214335">
                <a:moveTo>
                  <a:pt x="894945" y="214335"/>
                </a:moveTo>
                <a:cubicBezTo>
                  <a:pt x="716604" y="110573"/>
                  <a:pt x="538264" y="6812"/>
                  <a:pt x="389107" y="327"/>
                </a:cubicBezTo>
                <a:cubicBezTo>
                  <a:pt x="239949" y="-6158"/>
                  <a:pt x="119974" y="84633"/>
                  <a:pt x="0" y="175425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725" y="1364615"/>
            <a:ext cx="16084550" cy="1034415"/>
          </a:xfrm>
        </p:spPr>
        <p:txBody>
          <a:bodyPr/>
          <a:lstStyle/>
          <a:p>
            <a:r>
              <a:rPr lang="en-US" altLang="zh-TW" dirty="0" err="1">
                <a:sym typeface="+mn-ea"/>
              </a:rPr>
              <a:t>Depthwise</a:t>
            </a:r>
            <a:r>
              <a:rPr lang="en-US" altLang="zh-TW" dirty="0">
                <a:sym typeface="+mn-ea"/>
              </a:rPr>
              <a:t> Convolution </a:t>
            </a:r>
            <a:endParaRPr lang="zh-TW" altLang="en-US" b="1" dirty="0"/>
          </a:p>
          <a:p>
            <a:endParaRPr lang="en-US" b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01725" y="-337110"/>
            <a:ext cx="16084552" cy="1551434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Depthwise Separable Convolution </a:t>
            </a:r>
            <a:endParaRPr lang="en-US" altLang="zh-TW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96296E-6 L 0.11806 -0.0002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L 0.11806 -0.0002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11111E-6 L 0.11806 -0.0002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07407E-6 L 0.11805 -0.00024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96296E-6 L 0.11806 -0.00023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1" grpId="0"/>
      <p:bldP spid="52" grpId="0"/>
      <p:bldP spid="62" grpId="0"/>
      <p:bldP spid="9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23385" y="2388235"/>
          <a:ext cx="3303270" cy="3364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70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895715" y="2396490"/>
          <a:ext cx="1621155" cy="16478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11885930" y="3162300"/>
          <a:ext cx="2237740" cy="2273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8895715" y="4329430"/>
          <a:ext cx="1661160" cy="177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2177395" y="3474085"/>
          <a:ext cx="2164080" cy="2278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565015" y="2696210"/>
          <a:ext cx="3128010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3486785" y="7012305"/>
          <a:ext cx="2331720" cy="238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63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7091045" y="6625590"/>
          <a:ext cx="555625" cy="50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7240270" y="6775450"/>
          <a:ext cx="600710" cy="530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7073265" y="7488555"/>
          <a:ext cx="569595" cy="507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736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7089140" y="8402955"/>
          <a:ext cx="533400" cy="490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85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089140" y="9154160"/>
          <a:ext cx="567055" cy="518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879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7283450" y="7680960"/>
          <a:ext cx="558165" cy="523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7301230" y="8592185"/>
          <a:ext cx="539750" cy="498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7289165" y="9404985"/>
          <a:ext cx="523875" cy="50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/>
        </p:nvGraphicFramePr>
        <p:xfrm>
          <a:off x="3486785" y="7026910"/>
          <a:ext cx="570865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3454400" y="7610475"/>
          <a:ext cx="603250" cy="567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769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3488055" y="8132445"/>
          <a:ext cx="569595" cy="5924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2455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3485515" y="8724900"/>
          <a:ext cx="615950" cy="6699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992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3789045" y="7232650"/>
          <a:ext cx="2235200" cy="239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17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3783965" y="7232650"/>
          <a:ext cx="553085" cy="617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3766185" y="7833995"/>
          <a:ext cx="574040" cy="576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3801110" y="8430895"/>
          <a:ext cx="546735" cy="638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3803650" y="9069070"/>
          <a:ext cx="554355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10058400" y="6605270"/>
          <a:ext cx="2369820" cy="239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10287000" y="6833870"/>
          <a:ext cx="2402840" cy="2623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95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95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95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95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9" name="表格 68"/>
          <p:cNvGraphicFramePr>
            <a:graphicFrameLocks noGrp="1"/>
          </p:cNvGraphicFramePr>
          <p:nvPr/>
        </p:nvGraphicFramePr>
        <p:xfrm>
          <a:off x="10515600" y="7062470"/>
          <a:ext cx="2326640" cy="282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0" name="表格 69"/>
          <p:cNvGraphicFramePr>
            <a:graphicFrameLocks noGrp="1"/>
          </p:cNvGraphicFramePr>
          <p:nvPr/>
        </p:nvGraphicFramePr>
        <p:xfrm>
          <a:off x="10744200" y="7291070"/>
          <a:ext cx="2377440" cy="2801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40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8206220" y="1803947"/>
                <a:ext cx="298767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3×2=18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220" y="1803947"/>
                <a:ext cx="2987675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4" t="-99" r="-2398" b="9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8073844" y="9425922"/>
                <a:ext cx="1639570" cy="4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altLang="zh-TW" sz="2800" b="0" i="1" dirty="0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44" y="9425922"/>
                <a:ext cx="1639570" cy="430530"/>
              </a:xfrm>
              <a:prstGeom prst="rect">
                <a:avLst/>
              </a:prstGeom>
              <a:blipFill rotWithShape="1">
                <a:blip r:embed="rId4"/>
                <a:stretch>
                  <a:fillRect l="-28" t="-143" r="-786" b="1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8147197" y="6346223"/>
                <a:ext cx="906780" cy="861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2800" dirty="0"/>
                  <a:t> </a:t>
                </a:r>
                <a:endParaRPr lang="en-US" altLang="zh-TW" sz="2800" dirty="0"/>
              </a:p>
              <a:p>
                <a:pPr algn="ctr"/>
                <a:r>
                  <a:rPr lang="en-US" altLang="zh-TW" sz="2800" dirty="0"/>
                  <a:t>filter</a:t>
                </a:r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197" y="6346223"/>
                <a:ext cx="906780" cy="861695"/>
              </a:xfrm>
              <a:prstGeom prst="rect">
                <a:avLst/>
              </a:prstGeom>
              <a:blipFill rotWithShape="1">
                <a:blip r:embed="rId5"/>
                <a:stretch>
                  <a:fillRect l="-16" t="-4" r="-19592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01725" y="-337110"/>
            <a:ext cx="16084552" cy="1551434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Depthwise Separable Convolution </a:t>
            </a:r>
            <a:endParaRPr lang="en-US" altLang="zh-TW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725" y="1364615"/>
            <a:ext cx="16084550" cy="1034415"/>
          </a:xfrm>
        </p:spPr>
        <p:txBody>
          <a:bodyPr/>
          <a:lstStyle/>
          <a:p>
            <a:r>
              <a:rPr lang="en-US" altLang="zh-TW" dirty="0" err="1">
                <a:sym typeface="+mn-ea"/>
              </a:rPr>
              <a:t>Depthwise</a:t>
            </a:r>
            <a:r>
              <a:rPr lang="en-US" altLang="zh-TW" dirty="0">
                <a:sym typeface="+mn-ea"/>
              </a:rPr>
              <a:t> Convolution </a:t>
            </a:r>
            <a:endParaRPr lang="zh-TW" altLang="en-US" b="1" dirty="0"/>
          </a:p>
          <a:p>
            <a:endParaRPr lang="en-US" b="1"/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101725" y="6141720"/>
            <a:ext cx="16084550" cy="10344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5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ym typeface="+mn-ea"/>
              </a:rPr>
              <a:t>Pointwise Convolution 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33333E-6 L 0.11753 -0.004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8" y="-231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0.11719 0.00301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 L 0.11753 -0.0044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8" y="-231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22222E-6 L 0.11719 0.0030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7037E-7 L 0.11753 -0.0044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8" y="-231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59259E-6 L 0.11719 0.00301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1111E-6 L 0.11754 -0.0044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8" y="-231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33333E-6 L 0.11719 0.00301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2364105" y="2853690"/>
                <a:ext cx="597344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TW" sz="3600" dirty="0"/>
                  <a:t>: number of input channels</a:t>
                </a: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105" y="2853690"/>
                <a:ext cx="5973445" cy="553998"/>
              </a:xfrm>
              <a:prstGeom prst="rect">
                <a:avLst/>
              </a:prstGeom>
              <a:blipFill>
                <a:blip r:embed="rId2"/>
                <a:stretch>
                  <a:fillRect t="-24444" r="-1274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2364105" y="3777615"/>
                <a:ext cx="630618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TW" sz="3600" dirty="0"/>
                  <a:t>: number of output channels</a:t>
                </a: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105" y="3777615"/>
                <a:ext cx="6306185" cy="553998"/>
              </a:xfrm>
              <a:prstGeom prst="rect">
                <a:avLst/>
              </a:prstGeom>
              <a:blipFill>
                <a:blip r:embed="rId3"/>
                <a:stretch>
                  <a:fillRect t="-24444" r="-1811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2794635" y="4701540"/>
                <a:ext cx="3474720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3600" dirty="0"/>
                  <a:t>: kernel size</a:t>
                </a: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635" y="4701540"/>
                <a:ext cx="3474720" cy="5537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3950335" y="6158865"/>
                <a:ext cx="3400425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TW" sz="36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35" y="6158865"/>
                <a:ext cx="3400425" cy="5537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4315460" y="6910070"/>
                <a:ext cx="2670175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TW" sz="36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60" y="6910070"/>
                <a:ext cx="2670175" cy="5537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4243705" y="8158480"/>
                <a:ext cx="2440305" cy="10312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705" y="8158480"/>
                <a:ext cx="2440305" cy="10312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接點 30"/>
          <p:cNvCxnSpPr/>
          <p:nvPr/>
        </p:nvCxnSpPr>
        <p:spPr>
          <a:xfrm>
            <a:off x="3441672" y="6805197"/>
            <a:ext cx="42284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554345" y="8108315"/>
            <a:ext cx="1242695" cy="12172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2" name="表格 9"/>
          <p:cNvGraphicFramePr>
            <a:graphicFrameLocks noGrp="1"/>
          </p:cNvGraphicFramePr>
          <p:nvPr/>
        </p:nvGraphicFramePr>
        <p:xfrm>
          <a:off x="10155555" y="66802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表格 9"/>
          <p:cNvGraphicFramePr>
            <a:graphicFrameLocks noGrp="1"/>
          </p:cNvGraphicFramePr>
          <p:nvPr/>
        </p:nvGraphicFramePr>
        <p:xfrm>
          <a:off x="10282555" y="79502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9"/>
          <p:cNvGraphicFramePr>
            <a:graphicFrameLocks noGrp="1"/>
          </p:cNvGraphicFramePr>
          <p:nvPr/>
        </p:nvGraphicFramePr>
        <p:xfrm>
          <a:off x="10155555" y="272669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9"/>
          <p:cNvGraphicFramePr>
            <a:graphicFrameLocks noGrp="1"/>
          </p:cNvGraphicFramePr>
          <p:nvPr/>
        </p:nvGraphicFramePr>
        <p:xfrm>
          <a:off x="10282555" y="285369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表格 9"/>
          <p:cNvGraphicFramePr>
            <a:graphicFrameLocks noGrp="1"/>
          </p:cNvGraphicFramePr>
          <p:nvPr/>
        </p:nvGraphicFramePr>
        <p:xfrm>
          <a:off x="10155555" y="491236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表格 9"/>
          <p:cNvGraphicFramePr>
            <a:graphicFrameLocks noGrp="1"/>
          </p:cNvGraphicFramePr>
          <p:nvPr/>
        </p:nvGraphicFramePr>
        <p:xfrm>
          <a:off x="10282555" y="503936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表格 9"/>
          <p:cNvGraphicFramePr>
            <a:graphicFrameLocks noGrp="1"/>
          </p:cNvGraphicFramePr>
          <p:nvPr/>
        </p:nvGraphicFramePr>
        <p:xfrm>
          <a:off x="10155555" y="684403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表格 9"/>
          <p:cNvGraphicFramePr>
            <a:graphicFrameLocks noGrp="1"/>
          </p:cNvGraphicFramePr>
          <p:nvPr/>
        </p:nvGraphicFramePr>
        <p:xfrm>
          <a:off x="10282555" y="697103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31"/>
              <p:cNvSpPr/>
              <p:nvPr/>
            </p:nvSpPr>
            <p:spPr>
              <a:xfrm>
                <a:off x="10072370" y="1301750"/>
                <a:ext cx="203962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4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370" y="1301750"/>
                <a:ext cx="2039620" cy="460375"/>
              </a:xfrm>
              <a:prstGeom prst="rect">
                <a:avLst/>
              </a:prstGeom>
              <a:blipFill rotWithShape="1">
                <a:blip r:embed="rId8"/>
                <a:stretch>
                  <a:fillRect l="-311" t="-1379" r="-311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31"/>
              <p:cNvSpPr/>
              <p:nvPr/>
            </p:nvSpPr>
            <p:spPr>
              <a:xfrm>
                <a:off x="9945370" y="3360420"/>
                <a:ext cx="203962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5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370" y="3360420"/>
                <a:ext cx="2039620" cy="460375"/>
              </a:xfrm>
              <a:prstGeom prst="rect">
                <a:avLst/>
              </a:prstGeom>
              <a:blipFill rotWithShape="1">
                <a:blip r:embed="rId8"/>
                <a:stretch>
                  <a:fillRect l="-311" t="-1379" r="-311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31"/>
              <p:cNvSpPr/>
              <p:nvPr/>
            </p:nvSpPr>
            <p:spPr>
              <a:xfrm>
                <a:off x="9945370" y="5552440"/>
                <a:ext cx="203962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370" y="5552440"/>
                <a:ext cx="2039620" cy="460375"/>
              </a:xfrm>
              <a:prstGeom prst="rect">
                <a:avLst/>
              </a:prstGeom>
              <a:blipFill rotWithShape="1">
                <a:blip r:embed="rId8"/>
                <a:stretch>
                  <a:fillRect l="-311" t="-1379" r="-311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31"/>
              <p:cNvSpPr/>
              <p:nvPr/>
            </p:nvSpPr>
            <p:spPr>
              <a:xfrm>
                <a:off x="9945370" y="7478395"/>
                <a:ext cx="203962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370" y="7478395"/>
                <a:ext cx="2039620" cy="460375"/>
              </a:xfrm>
              <a:prstGeom prst="rect">
                <a:avLst/>
              </a:prstGeom>
              <a:blipFill rotWithShape="1">
                <a:blip r:embed="rId8"/>
                <a:stretch>
                  <a:fillRect l="-311" t="-1379" r="-311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表格 25"/>
          <p:cNvGraphicFramePr>
            <a:graphicFrameLocks noGrp="1"/>
          </p:cNvGraphicFramePr>
          <p:nvPr/>
        </p:nvGraphicFramePr>
        <p:xfrm>
          <a:off x="13754735" y="817880"/>
          <a:ext cx="1610360" cy="1609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" name="表格 25"/>
          <p:cNvGraphicFramePr>
            <a:graphicFrameLocks noGrp="1"/>
          </p:cNvGraphicFramePr>
          <p:nvPr/>
        </p:nvGraphicFramePr>
        <p:xfrm>
          <a:off x="14022070" y="1213485"/>
          <a:ext cx="1610360" cy="1609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35"/>
              <p:cNvSpPr/>
              <p:nvPr/>
            </p:nvSpPr>
            <p:spPr>
              <a:xfrm>
                <a:off x="13754735" y="3054985"/>
                <a:ext cx="202946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2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4735" y="3054985"/>
                <a:ext cx="2029460" cy="460375"/>
              </a:xfrm>
              <a:prstGeom prst="rect">
                <a:avLst/>
              </a:prstGeom>
              <a:blipFill rotWithShape="1">
                <a:blip r:embed="rId9"/>
                <a:stretch>
                  <a:fillRect l="-313" t="-1379" r="-313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3" name="表格 24"/>
          <p:cNvGraphicFramePr>
            <a:graphicFrameLocks noGrp="1"/>
          </p:cNvGraphicFramePr>
          <p:nvPr/>
        </p:nvGraphicFramePr>
        <p:xfrm>
          <a:off x="14079855" y="4745990"/>
          <a:ext cx="555625" cy="50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26"/>
          <p:cNvGraphicFramePr>
            <a:graphicFrameLocks noGrp="1"/>
          </p:cNvGraphicFramePr>
          <p:nvPr/>
        </p:nvGraphicFramePr>
        <p:xfrm>
          <a:off x="14229080" y="4895850"/>
          <a:ext cx="600710" cy="530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表格 30"/>
          <p:cNvGraphicFramePr>
            <a:graphicFrameLocks noGrp="1"/>
          </p:cNvGraphicFramePr>
          <p:nvPr/>
        </p:nvGraphicFramePr>
        <p:xfrm>
          <a:off x="14062075" y="5608955"/>
          <a:ext cx="569595" cy="507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736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表格 31"/>
          <p:cNvGraphicFramePr>
            <a:graphicFrameLocks noGrp="1"/>
          </p:cNvGraphicFramePr>
          <p:nvPr/>
        </p:nvGraphicFramePr>
        <p:xfrm>
          <a:off x="14077950" y="6523355"/>
          <a:ext cx="533400" cy="490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85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表格 32"/>
          <p:cNvGraphicFramePr>
            <a:graphicFrameLocks noGrp="1"/>
          </p:cNvGraphicFramePr>
          <p:nvPr/>
        </p:nvGraphicFramePr>
        <p:xfrm>
          <a:off x="14077950" y="7274560"/>
          <a:ext cx="567055" cy="518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879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表格 33"/>
          <p:cNvGraphicFramePr>
            <a:graphicFrameLocks noGrp="1"/>
          </p:cNvGraphicFramePr>
          <p:nvPr/>
        </p:nvGraphicFramePr>
        <p:xfrm>
          <a:off x="14272260" y="5801360"/>
          <a:ext cx="558165" cy="523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34"/>
          <p:cNvGraphicFramePr>
            <a:graphicFrameLocks noGrp="1"/>
          </p:cNvGraphicFramePr>
          <p:nvPr/>
        </p:nvGraphicFramePr>
        <p:xfrm>
          <a:off x="14290040" y="6712585"/>
          <a:ext cx="539750" cy="498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35"/>
          <p:cNvGraphicFramePr>
            <a:graphicFrameLocks noGrp="1"/>
          </p:cNvGraphicFramePr>
          <p:nvPr/>
        </p:nvGraphicFramePr>
        <p:xfrm>
          <a:off x="14277975" y="7525385"/>
          <a:ext cx="523875" cy="50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36"/>
              <p:cNvSpPr/>
              <p:nvPr/>
            </p:nvSpPr>
            <p:spPr>
              <a:xfrm>
                <a:off x="15408275" y="6971030"/>
                <a:ext cx="1252855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1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8275" y="6971030"/>
                <a:ext cx="1252855" cy="460375"/>
              </a:xfrm>
              <a:prstGeom prst="rect">
                <a:avLst/>
              </a:prstGeom>
              <a:blipFill rotWithShape="1">
                <a:blip r:embed="rId10"/>
                <a:stretch>
                  <a:fillRect l="-507" t="-1379" r="-507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22"/>
              <p:cNvSpPr txBox="1"/>
              <p:nvPr/>
            </p:nvSpPr>
            <p:spPr>
              <a:xfrm>
                <a:off x="13661390" y="8345170"/>
                <a:ext cx="2961640" cy="43053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TW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1390" y="8345170"/>
                <a:ext cx="2961640" cy="430530"/>
              </a:xfrm>
              <a:prstGeom prst="rect">
                <a:avLst/>
              </a:prstGeom>
              <a:blipFill rotWithShape="1">
                <a:blip r:embed="rId11"/>
                <a:stretch>
                  <a:fillRect l="-214" t="-1475" r="-214" b="-1475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21"/>
              <p:cNvSpPr txBox="1"/>
              <p:nvPr/>
            </p:nvSpPr>
            <p:spPr>
              <a:xfrm>
                <a:off x="9622155" y="8902700"/>
                <a:ext cx="2940685" cy="43053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TW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155" y="8902700"/>
                <a:ext cx="2940685" cy="430530"/>
              </a:xfrm>
              <a:prstGeom prst="rect">
                <a:avLst/>
              </a:prstGeom>
              <a:blipFill rotWithShape="1">
                <a:blip r:embed="rId12"/>
                <a:stretch>
                  <a:fillRect l="-216" t="-1475" r="-216" b="-1475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itle 65"/>
          <p:cNvSpPr>
            <a:spLocks noGrp="1"/>
          </p:cNvSpPr>
          <p:nvPr>
            <p:ph type="title"/>
          </p:nvPr>
        </p:nvSpPr>
        <p:spPr>
          <a:xfrm>
            <a:off x="910590" y="639520"/>
            <a:ext cx="16084552" cy="1551434"/>
          </a:xfrm>
        </p:spPr>
        <p:txBody>
          <a:bodyPr/>
          <a:lstStyle/>
          <a:p>
            <a:pPr algn="l"/>
            <a:r>
              <a:rPr lang="en-US" altLang="zh-TW" dirty="0">
                <a:sym typeface="+mn-ea"/>
              </a:rPr>
              <a:t>Depthwise Separable </a:t>
            </a:r>
            <a:br>
              <a:rPr lang="en-US" altLang="zh-TW" dirty="0">
                <a:sym typeface="+mn-ea"/>
              </a:rPr>
            </a:br>
            <a:r>
              <a:rPr lang="en-US" altLang="zh-TW" dirty="0">
                <a:sym typeface="+mn-ea"/>
              </a:rPr>
              <a:t>Convolution </a:t>
            </a:r>
            <a:endParaRPr lang="en-US" altLang="zh-TW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8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 rank approximation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901348" y="2723196"/>
            <a:ext cx="5353670" cy="3181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4333014" y="5156840"/>
            <a:ext cx="2425328" cy="3097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向右箭號 12"/>
          <p:cNvSpPr/>
          <p:nvPr/>
        </p:nvSpPr>
        <p:spPr>
          <a:xfrm rot="16200000">
            <a:off x="4659461" y="3775862"/>
            <a:ext cx="1772439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文字方塊 13"/>
          <p:cNvSpPr txBox="1"/>
          <p:nvPr/>
        </p:nvSpPr>
        <p:spPr>
          <a:xfrm>
            <a:off x="5775867" y="3728802"/>
            <a:ext cx="13052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W</a:t>
            </a:r>
            <a:endParaRPr lang="zh-TW" altLang="en-US" sz="4200" dirty="0"/>
          </a:p>
        </p:txBody>
      </p:sp>
      <p:sp>
        <p:nvSpPr>
          <p:cNvPr id="15" name="矩形 14"/>
          <p:cNvSpPr/>
          <p:nvPr/>
        </p:nvSpPr>
        <p:spPr>
          <a:xfrm>
            <a:off x="10835124" y="5090469"/>
            <a:ext cx="2425328" cy="3097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11410313" y="3944297"/>
            <a:ext cx="1324128" cy="32198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矩形 16"/>
          <p:cNvSpPr/>
          <p:nvPr/>
        </p:nvSpPr>
        <p:spPr>
          <a:xfrm>
            <a:off x="9512832" y="2705432"/>
            <a:ext cx="5353670" cy="3181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文字方塊 17"/>
          <p:cNvSpPr txBox="1"/>
          <p:nvPr/>
        </p:nvSpPr>
        <p:spPr>
          <a:xfrm>
            <a:off x="9950363" y="3710789"/>
            <a:ext cx="1478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linear</a:t>
            </a:r>
            <a:endParaRPr lang="zh-TW" altLang="en-US" sz="3600" dirty="0"/>
          </a:p>
        </p:txBody>
      </p:sp>
      <p:sp>
        <p:nvSpPr>
          <p:cNvPr id="29" name="向右箭號 28"/>
          <p:cNvSpPr/>
          <p:nvPr/>
        </p:nvSpPr>
        <p:spPr>
          <a:xfrm rot="16200000">
            <a:off x="11797527" y="4394562"/>
            <a:ext cx="545673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12445149" y="3070338"/>
            <a:ext cx="13052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U</a:t>
            </a:r>
            <a:endParaRPr lang="zh-TW" altLang="en-US" sz="4200" dirty="0"/>
          </a:p>
        </p:txBody>
      </p:sp>
      <p:sp>
        <p:nvSpPr>
          <p:cNvPr id="31" name="向右箭號 30"/>
          <p:cNvSpPr/>
          <p:nvPr/>
        </p:nvSpPr>
        <p:spPr>
          <a:xfrm rot="16200000">
            <a:off x="11798378" y="3136902"/>
            <a:ext cx="545673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文字方塊 31"/>
          <p:cNvSpPr txBox="1"/>
          <p:nvPr/>
        </p:nvSpPr>
        <p:spPr>
          <a:xfrm>
            <a:off x="12436152" y="4356333"/>
            <a:ext cx="13052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V</a:t>
            </a:r>
            <a:endParaRPr lang="zh-TW" altLang="en-US" sz="42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8259902" y="2536033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</a:t>
            </a:r>
            <a:endParaRPr lang="zh-TW" altLang="en-US" sz="36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6890185" y="4976949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</a:t>
            </a:r>
            <a:endParaRPr lang="zh-TW" altLang="en-US" sz="36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4910978" y="2546815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</a:t>
            </a:r>
            <a:endParaRPr lang="zh-TW" altLang="en-US" sz="36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3387025" y="4922199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</a:t>
            </a:r>
            <a:endParaRPr lang="zh-TW" altLang="en-US" sz="36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12857286" y="3763562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K</a:t>
            </a:r>
            <a:endParaRPr lang="zh-TW" altLang="en-US" sz="3600" dirty="0"/>
          </a:p>
        </p:txBody>
      </p:sp>
      <p:grpSp>
        <p:nvGrpSpPr>
          <p:cNvPr id="3" name="群組 2"/>
          <p:cNvGrpSpPr/>
          <p:nvPr/>
        </p:nvGrpSpPr>
        <p:grpSpPr>
          <a:xfrm>
            <a:off x="3647315" y="6016203"/>
            <a:ext cx="9718722" cy="3593555"/>
            <a:chOff x="1153351" y="1442404"/>
            <a:chExt cx="6479148" cy="2395703"/>
          </a:xfrm>
        </p:grpSpPr>
        <p:sp>
          <p:nvSpPr>
            <p:cNvPr id="8" name="矩形 7"/>
            <p:cNvSpPr/>
            <p:nvPr/>
          </p:nvSpPr>
          <p:spPr>
            <a:xfrm>
              <a:off x="1792754" y="1876571"/>
              <a:ext cx="1740309" cy="196153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/>
                <a:t>W</a:t>
              </a:r>
              <a:endParaRPr lang="zh-TW" altLang="en-US" sz="48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536261" y="1913442"/>
              <a:ext cx="985684" cy="188779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/>
                <a:t>U</a:t>
              </a:r>
              <a:endParaRPr lang="zh-TW" altLang="en-US" sz="48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892190" y="1880128"/>
              <a:ext cx="1740309" cy="8259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/>
                <a:t>V</a:t>
              </a:r>
              <a:endParaRPr lang="zh-TW" altLang="en-US" sz="4800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513186" y="2592967"/>
              <a:ext cx="659280" cy="55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800" b="1" dirty="0"/>
                <a:t>≈</a:t>
              </a:r>
              <a:endParaRPr lang="zh-TW" altLang="en-US" sz="4800" b="1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1153351" y="2626505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M</a:t>
              </a:r>
              <a:endParaRPr lang="zh-TW" altLang="en-US" sz="3600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3972753" y="2706038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M</a:t>
              </a:r>
              <a:endParaRPr lang="zh-TW" altLang="en-US" sz="3600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2350274" y="1484000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N</a:t>
              </a:r>
              <a:endParaRPr lang="zh-TW" altLang="en-US" sz="3600" dirty="0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6385494" y="1450686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N</a:t>
              </a:r>
              <a:endParaRPr lang="zh-TW" altLang="en-US" sz="3600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747963" y="1442404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K</a:t>
              </a:r>
              <a:endParaRPr lang="zh-TW" altLang="en-US" sz="3600" dirty="0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429301" y="2078737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K</a:t>
              </a:r>
              <a:endParaRPr lang="zh-TW" altLang="en-US" sz="3600" dirty="0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142692" y="2892924"/>
              <a:ext cx="145240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K &lt; M,N</a:t>
              </a:r>
              <a:endParaRPr lang="zh-TW" altLang="en-US" sz="3600" dirty="0"/>
            </a:p>
          </p:txBody>
        </p:sp>
      </p:grpSp>
      <p:sp>
        <p:nvSpPr>
          <p:cNvPr id="40" name="文字方塊 39"/>
          <p:cNvSpPr txBox="1"/>
          <p:nvPr/>
        </p:nvSpPr>
        <p:spPr>
          <a:xfrm>
            <a:off x="9902825" y="9490710"/>
            <a:ext cx="63715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chemeClr val="accent1"/>
                </a:solidFill>
                <a:latin typeface="+mj-lt"/>
                <a:cs typeface="+mj-cs"/>
              </a:rPr>
              <a:t>Less parameters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4" grpId="0"/>
      <p:bldP spid="15" grpId="0" bldLvl="0" animBg="1"/>
      <p:bldP spid="16" grpId="0" bldLvl="0" animBg="1"/>
      <p:bldP spid="17" grpId="0" bldLvl="0" animBg="1"/>
      <p:bldP spid="18" grpId="0"/>
      <p:bldP spid="29" grpId="0" bldLvl="0" animBg="1"/>
      <p:bldP spid="30" grpId="0"/>
      <p:bldP spid="31" grpId="0" bldLvl="0" animBg="1"/>
      <p:bldP spid="32" grpId="0"/>
      <p:bldP spid="34" grpId="0"/>
      <p:bldP spid="35" grpId="0"/>
      <p:bldP spid="36" grpId="0"/>
      <p:bldP spid="37" grpId="0"/>
      <p:bldP spid="38" grpId="0"/>
      <p:bldP spid="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399790" y="5984875"/>
          <a:ext cx="3268980" cy="336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3" name="表格 82"/>
          <p:cNvGraphicFramePr>
            <a:graphicFrameLocks noGrp="1"/>
          </p:cNvGraphicFramePr>
          <p:nvPr/>
        </p:nvGraphicFramePr>
        <p:xfrm>
          <a:off x="3399790" y="7685405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7857490" y="6826250"/>
          <a:ext cx="2204720" cy="2466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58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/>
        </p:nvGraphicFramePr>
        <p:xfrm>
          <a:off x="7857490" y="8641080"/>
          <a:ext cx="539750" cy="6597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976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399790" y="659130"/>
          <a:ext cx="3268980" cy="336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399790" y="659130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628390" y="6240780"/>
          <a:ext cx="3268980" cy="336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399790" y="6012180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628390" y="6240780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8124190" y="7103745"/>
          <a:ext cx="2166620" cy="2542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6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857490" y="6826250"/>
          <a:ext cx="539750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124190" y="7103745"/>
          <a:ext cx="539750" cy="59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10285998" y="614922"/>
            <a:ext cx="819150" cy="80458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橢圓 18"/>
          <p:cNvSpPr/>
          <p:nvPr/>
        </p:nvSpPr>
        <p:spPr>
          <a:xfrm>
            <a:off x="13651998" y="4214619"/>
            <a:ext cx="819150" cy="80458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橢圓 19"/>
          <p:cNvSpPr/>
          <p:nvPr/>
        </p:nvSpPr>
        <p:spPr>
          <a:xfrm>
            <a:off x="12226425" y="3691752"/>
            <a:ext cx="819150" cy="80458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12226425" y="4884282"/>
            <a:ext cx="819150" cy="80458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3" name="直線單箭頭接點 22"/>
          <p:cNvCxnSpPr/>
          <p:nvPr/>
        </p:nvCxnSpPr>
        <p:spPr>
          <a:xfrm>
            <a:off x="11105148" y="1022592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4471148" y="4656356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9581148" y="1017213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11521575" y="4091130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11521575" y="5286573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19" idx="2"/>
          </p:cNvCxnSpPr>
          <p:nvPr/>
        </p:nvCxnSpPr>
        <p:spPr>
          <a:xfrm>
            <a:off x="12947148" y="4133040"/>
            <a:ext cx="704850" cy="4838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19" idx="2"/>
          </p:cNvCxnSpPr>
          <p:nvPr/>
        </p:nvCxnSpPr>
        <p:spPr>
          <a:xfrm flipV="1">
            <a:off x="13045575" y="4616910"/>
            <a:ext cx="606423" cy="6596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7555998" y="670964"/>
            <a:ext cx="250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18 inputs</a:t>
            </a:r>
            <a:endParaRPr lang="zh-TW" altLang="en-US" sz="36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9026529" y="3762723"/>
            <a:ext cx="250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9 inputs</a:t>
            </a:r>
            <a:endParaRPr lang="zh-TW" altLang="en-US" sz="36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9020175" y="4884282"/>
            <a:ext cx="250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9 inputs</a:t>
            </a:r>
            <a:endParaRPr lang="zh-TW" altLang="en-US" sz="3600" dirty="0"/>
          </a:p>
        </p:txBody>
      </p:sp>
      <p:sp>
        <p:nvSpPr>
          <p:cNvPr id="40" name="橢圓 39"/>
          <p:cNvSpPr/>
          <p:nvPr/>
        </p:nvSpPr>
        <p:spPr>
          <a:xfrm>
            <a:off x="10285998" y="1644404"/>
            <a:ext cx="819150" cy="804582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1" name="直線單箭頭接點 40"/>
          <p:cNvCxnSpPr/>
          <p:nvPr/>
        </p:nvCxnSpPr>
        <p:spPr>
          <a:xfrm>
            <a:off x="11105148" y="2052074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9581148" y="2046695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7555998" y="1700445"/>
            <a:ext cx="250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18 inputs</a:t>
            </a:r>
            <a:endParaRPr lang="zh-TW" altLang="en-US" sz="3600" dirty="0"/>
          </a:p>
        </p:txBody>
      </p:sp>
      <p:sp>
        <p:nvSpPr>
          <p:cNvPr id="44" name="橢圓 43"/>
          <p:cNvSpPr/>
          <p:nvPr/>
        </p:nvSpPr>
        <p:spPr>
          <a:xfrm>
            <a:off x="13651998" y="5440776"/>
            <a:ext cx="819150" cy="804582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5" name="直線單箭頭接點 44"/>
          <p:cNvCxnSpPr/>
          <p:nvPr/>
        </p:nvCxnSpPr>
        <p:spPr>
          <a:xfrm>
            <a:off x="14471148" y="5882513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20" idx="6"/>
            <a:endCxn id="44" idx="2"/>
          </p:cNvCxnSpPr>
          <p:nvPr/>
        </p:nvCxnSpPr>
        <p:spPr>
          <a:xfrm>
            <a:off x="13045575" y="4094043"/>
            <a:ext cx="606423" cy="1749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21" idx="6"/>
            <a:endCxn id="44" idx="2"/>
          </p:cNvCxnSpPr>
          <p:nvPr/>
        </p:nvCxnSpPr>
        <p:spPr>
          <a:xfrm>
            <a:off x="13045575" y="5286573"/>
            <a:ext cx="606423" cy="5564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428365" y="680720"/>
            <a:ext cx="1614805" cy="163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/>
          </a:p>
        </p:txBody>
      </p:sp>
      <p:cxnSp>
        <p:nvCxnSpPr>
          <p:cNvPr id="56" name="直線接點 55"/>
          <p:cNvCxnSpPr>
            <a:endCxn id="5" idx="1"/>
          </p:cNvCxnSpPr>
          <p:nvPr/>
        </p:nvCxnSpPr>
        <p:spPr>
          <a:xfrm>
            <a:off x="3467735" y="3564255"/>
            <a:ext cx="173990" cy="149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3472332" y="684692"/>
            <a:ext cx="170180" cy="147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41898" y="698364"/>
            <a:ext cx="170180" cy="147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12359640" y="490855"/>
          <a:ext cx="2387600" cy="2405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34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矩形 63"/>
          <p:cNvSpPr/>
          <p:nvPr/>
        </p:nvSpPr>
        <p:spPr>
          <a:xfrm>
            <a:off x="12359775" y="490683"/>
            <a:ext cx="527967" cy="50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12588240" y="719455"/>
          <a:ext cx="2392680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5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5" name="矩形 64"/>
          <p:cNvSpPr/>
          <p:nvPr/>
        </p:nvSpPr>
        <p:spPr>
          <a:xfrm>
            <a:off x="12588240" y="2556510"/>
            <a:ext cx="527685" cy="677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12816840" y="948055"/>
          <a:ext cx="2379980" cy="261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4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13045440" y="1176655"/>
          <a:ext cx="2405380" cy="2687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183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3413125" y="2315845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" name="矩形 66"/>
          <p:cNvSpPr/>
          <p:nvPr/>
        </p:nvSpPr>
        <p:spPr>
          <a:xfrm>
            <a:off x="3441700" y="2337435"/>
            <a:ext cx="1614805" cy="1624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/>
          </a:p>
        </p:txBody>
      </p:sp>
      <p:cxnSp>
        <p:nvCxnSpPr>
          <p:cNvPr id="70" name="直線接點 69"/>
          <p:cNvCxnSpPr/>
          <p:nvPr/>
        </p:nvCxnSpPr>
        <p:spPr>
          <a:xfrm>
            <a:off x="3468984" y="3961619"/>
            <a:ext cx="170180" cy="147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3485412" y="2341260"/>
            <a:ext cx="170180" cy="147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640455" y="939800"/>
          <a:ext cx="3268980" cy="336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628390" y="887730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矩形 52"/>
          <p:cNvSpPr/>
          <p:nvPr/>
        </p:nvSpPr>
        <p:spPr>
          <a:xfrm>
            <a:off x="3644900" y="940435"/>
            <a:ext cx="1614805" cy="1547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/>
          </a:p>
        </p:txBody>
      </p:sp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3641725" y="2544445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矩形 68"/>
          <p:cNvSpPr/>
          <p:nvPr/>
        </p:nvSpPr>
        <p:spPr>
          <a:xfrm>
            <a:off x="3658235" y="2597150"/>
            <a:ext cx="1614805" cy="1666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/>
          </a:p>
        </p:txBody>
      </p:sp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11279505" y="6597650"/>
          <a:ext cx="216408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5" name="矩形 74"/>
          <p:cNvSpPr/>
          <p:nvPr/>
        </p:nvSpPr>
        <p:spPr>
          <a:xfrm>
            <a:off x="11282315" y="6597782"/>
            <a:ext cx="527967" cy="50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76" name="表格 75"/>
          <p:cNvGraphicFramePr>
            <a:graphicFrameLocks noGrp="1"/>
          </p:cNvGraphicFramePr>
          <p:nvPr/>
        </p:nvGraphicFramePr>
        <p:xfrm>
          <a:off x="11508105" y="6826250"/>
          <a:ext cx="2143760" cy="2410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261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" name="矩形 76"/>
          <p:cNvSpPr/>
          <p:nvPr/>
        </p:nvSpPr>
        <p:spPr>
          <a:xfrm>
            <a:off x="11521440" y="8677275"/>
            <a:ext cx="534035" cy="559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78" name="表格 77"/>
          <p:cNvGraphicFramePr>
            <a:graphicFrameLocks noGrp="1"/>
          </p:cNvGraphicFramePr>
          <p:nvPr/>
        </p:nvGraphicFramePr>
        <p:xfrm>
          <a:off x="11736705" y="7054850"/>
          <a:ext cx="220726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/>
        </p:nvGraphicFramePr>
        <p:xfrm>
          <a:off x="11965305" y="7283450"/>
          <a:ext cx="224282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9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2" name="表格 81"/>
          <p:cNvGraphicFramePr>
            <a:graphicFrameLocks noGrp="1"/>
          </p:cNvGraphicFramePr>
          <p:nvPr/>
        </p:nvGraphicFramePr>
        <p:xfrm>
          <a:off x="8124190" y="8999220"/>
          <a:ext cx="539750" cy="646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643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3628390" y="7914005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  <p:bldP spid="20" grpId="0" bldLvl="0" animBg="1"/>
      <p:bldP spid="21" grpId="0" bldLvl="0" animBg="1"/>
      <p:bldP spid="33" grpId="0"/>
      <p:bldP spid="34" grpId="0"/>
      <p:bldP spid="35" grpId="0"/>
      <p:bldP spid="40" grpId="0" bldLvl="0" animBg="1"/>
      <p:bldP spid="43" grpId="0"/>
      <p:bldP spid="44" grpId="0" bldLvl="0" animBg="1"/>
      <p:bldP spid="54" grpId="0" bldLvl="0" animBg="1"/>
      <p:bldP spid="64" grpId="0" bldLvl="0" animBg="1"/>
      <p:bldP spid="65" grpId="0" bldLvl="0" animBg="1"/>
      <p:bldP spid="67" grpId="0" bldLvl="0" animBg="1"/>
      <p:bldP spid="53" grpId="0" bldLvl="0" animBg="1"/>
      <p:bldP spid="69" grpId="0" bldLvl="0" animBg="1"/>
      <p:bldP spid="75" grpId="0" bldLvl="0" animBg="1"/>
      <p:bldP spid="77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3007744"/>
            <a:ext cx="12998450" cy="152657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Dynamic 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Computation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network adjusts the computation it need.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Why don’t we prepare a set of models? </a:t>
            </a:r>
            <a:endParaRPr lang="zh-TW" altLang="en-US" dirty="0"/>
          </a:p>
        </p:txBody>
      </p:sp>
      <p:pic>
        <p:nvPicPr>
          <p:cNvPr id="4098" name="Picture 2" descr="ãææ©ãæ²é»ãæé»ãçåçæå°çµ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1648" y="4373321"/>
            <a:ext cx="6257924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群組 12"/>
          <p:cNvGrpSpPr/>
          <p:nvPr/>
        </p:nvGrpSpPr>
        <p:grpSpPr>
          <a:xfrm>
            <a:off x="3228975" y="3831429"/>
            <a:ext cx="6236642" cy="4028042"/>
            <a:chOff x="431799" y="3576685"/>
            <a:chExt cx="4157761" cy="2685361"/>
          </a:xfrm>
        </p:grpSpPr>
        <p:pic>
          <p:nvPicPr>
            <p:cNvPr id="1026" name="Picture 2" descr="iPhone 12 128GB 藍色- Apple (台灣)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9435" y="3576685"/>
              <a:ext cx="2270125" cy="2685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Recon Instruments is finally shipping the Recon Jet Smart Glass | Smart  glasses, Wearable device, Smart glas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99" y="3682362"/>
              <a:ext cx="2330452" cy="1553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ãsmart watchãçåçæå°çµæ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378238" y="5024379"/>
              <a:ext cx="1237667" cy="1237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文字方塊 13"/>
          <p:cNvSpPr txBox="1"/>
          <p:nvPr/>
        </p:nvSpPr>
        <p:spPr>
          <a:xfrm>
            <a:off x="4257864" y="3786188"/>
            <a:ext cx="382886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Different devices </a:t>
            </a:r>
            <a:endParaRPr lang="zh-TW" altLang="en-US" sz="36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339394" y="3680823"/>
            <a:ext cx="41241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high/low battery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圖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508" y="3333822"/>
            <a:ext cx="1868139" cy="1988345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Depth 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58339" y="3406451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 rot="5400000">
            <a:off x="6098982" y="3933776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78092" y="3388593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2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rot="5400000">
            <a:off x="8899685" y="3944493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18571" y="5493954"/>
            <a:ext cx="1809750" cy="11784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Extra Layer 1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>
            <a:off x="4294833" y="413392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6081246" y="413392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7019459" y="415297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8934929" y="4150005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9861710" y="413453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6843660" y="4882541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1544941" y="3416580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33" name="直線單箭頭接點 32"/>
          <p:cNvCxnSpPr/>
          <p:nvPr/>
        </p:nvCxnSpPr>
        <p:spPr>
          <a:xfrm>
            <a:off x="11004710" y="413453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0174740" y="3628888"/>
            <a:ext cx="105828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34" name="直線單箭頭接點 33"/>
          <p:cNvCxnSpPr/>
          <p:nvPr/>
        </p:nvCxnSpPr>
        <p:spPr>
          <a:xfrm>
            <a:off x="12901778" y="4121430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13573923" y="3759560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3923" y="3759560"/>
                <a:ext cx="425406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38" t="-56" r="28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14537067" y="3787365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7067" y="3787365"/>
                <a:ext cx="1263498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1" t="-35" r="39" b="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/>
          <p:cNvCxnSpPr/>
          <p:nvPr/>
        </p:nvCxnSpPr>
        <p:spPr>
          <a:xfrm>
            <a:off x="14086694" y="4150005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6663939" y="7317387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939" y="7317387"/>
                <a:ext cx="425406" cy="645795"/>
              </a:xfrm>
              <a:prstGeom prst="rect">
                <a:avLst/>
              </a:prstGeom>
              <a:blipFill rotWithShape="1">
                <a:blip r:embed="rId6"/>
                <a:stretch>
                  <a:fillRect l="-59" t="-44" r="-7266" b="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單箭頭接點 38"/>
          <p:cNvCxnSpPr/>
          <p:nvPr/>
        </p:nvCxnSpPr>
        <p:spPr>
          <a:xfrm>
            <a:off x="6857534" y="6805962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8715729" y="5492417"/>
            <a:ext cx="1809750" cy="11784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Extra Layer 2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>
            <a:off x="9640818" y="4881003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9461097" y="7315850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097" y="7315850"/>
                <a:ext cx="425406" cy="645795"/>
              </a:xfrm>
              <a:prstGeom prst="rect">
                <a:avLst/>
              </a:prstGeom>
              <a:blipFill rotWithShape="1">
                <a:blip r:embed="rId7"/>
                <a:stretch>
                  <a:fillRect l="-55" t="-2" r="-39661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單箭頭接點 42"/>
          <p:cNvCxnSpPr/>
          <p:nvPr/>
        </p:nvCxnSpPr>
        <p:spPr>
          <a:xfrm>
            <a:off x="9654692" y="6804425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rot="5400000">
            <a:off x="6501231" y="8421984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6254359" y="8835806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359" y="8835806"/>
                <a:ext cx="1263498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19" t="-64" r="7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單箭頭接點 45"/>
          <p:cNvCxnSpPr/>
          <p:nvPr/>
        </p:nvCxnSpPr>
        <p:spPr>
          <a:xfrm rot="5400000">
            <a:off x="9267644" y="8421984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9020772" y="8835806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772" y="8835806"/>
                <a:ext cx="1263498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47" t="-64" r="35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 47"/>
          <p:cNvSpPr/>
          <p:nvPr/>
        </p:nvSpPr>
        <p:spPr>
          <a:xfrm>
            <a:off x="11137172" y="8091807"/>
            <a:ext cx="4179482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https://arxiv.org/abs/1703.09844</a:t>
            </a:r>
          </a:p>
        </p:txBody>
      </p:sp>
      <p:sp>
        <p:nvSpPr>
          <p:cNvPr id="49" name="文字方塊 48"/>
          <p:cNvSpPr txBox="1"/>
          <p:nvPr/>
        </p:nvSpPr>
        <p:spPr>
          <a:xfrm>
            <a:off x="11098547" y="5733042"/>
            <a:ext cx="443929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Does it work well?</a:t>
            </a:r>
            <a:endParaRPr lang="zh-TW" altLang="en-US" sz="4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1137172" y="6852659"/>
            <a:ext cx="44466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Multi-Scale Dense Network (</a:t>
            </a:r>
            <a:r>
              <a:rPr lang="en-US" altLang="zh-TW" sz="3600" dirty="0" err="1"/>
              <a:t>MSDNet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2020448" y="2375920"/>
            <a:ext cx="35323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high battery</a:t>
            </a:r>
          </a:p>
        </p:txBody>
      </p:sp>
      <p:sp>
        <p:nvSpPr>
          <p:cNvPr id="52" name="文字方塊 51"/>
          <p:cNvSpPr txBox="1"/>
          <p:nvPr/>
        </p:nvSpPr>
        <p:spPr>
          <a:xfrm>
            <a:off x="3438280" y="7361015"/>
            <a:ext cx="35323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low battery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7082543" y="8082087"/>
                <a:ext cx="4781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543" y="8082087"/>
                <a:ext cx="478155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81" t="-80" r="-16652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9829139" y="8117097"/>
                <a:ext cx="48387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139" y="8117097"/>
                <a:ext cx="483870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126" t="-95" r="-15885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4172258" y="4342652"/>
                <a:ext cx="4781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2258" y="4342652"/>
                <a:ext cx="478155" cy="553720"/>
              </a:xfrm>
              <a:prstGeom prst="rect">
                <a:avLst/>
              </a:prstGeom>
              <a:blipFill rotWithShape="1">
                <a:blip r:embed="rId10"/>
                <a:stretch>
                  <a:fillRect l="-69" t="-94" r="-15602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10525518" y="1767021"/>
                <a:ext cx="418465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5518" y="1767021"/>
                <a:ext cx="4184650" cy="553720"/>
              </a:xfrm>
              <a:prstGeom prst="rect">
                <a:avLst/>
              </a:prstGeom>
              <a:blipFill rotWithShape="1">
                <a:blip r:embed="rId11"/>
                <a:stretch>
                  <a:fillRect l="-9" t="-81" r="-1660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36" grpId="0"/>
      <p:bldP spid="37" grpId="0"/>
      <p:bldP spid="40" grpId="0" bldLvl="0" animBg="1"/>
      <p:bldP spid="42" grpId="0"/>
      <p:bldP spid="45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Width 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692435" y="8807511"/>
            <a:ext cx="101193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i="0" dirty="0" err="1">
                <a:solidFill>
                  <a:srgbClr val="000000"/>
                </a:solidFill>
                <a:effectLst/>
              </a:rPr>
              <a:t>Slimmable</a:t>
            </a:r>
            <a:r>
              <a:rPr lang="en-US" altLang="zh-TW" sz="1800" i="0" dirty="0">
                <a:solidFill>
                  <a:srgbClr val="000000"/>
                </a:solidFill>
                <a:effectLst/>
              </a:rPr>
              <a:t> Neural Networks https://arxiv.org/abs/1812.08928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867" y="2536034"/>
            <a:ext cx="13703133" cy="4477082"/>
          </a:xfrm>
          <a:prstGeom prst="rect">
            <a:avLst/>
          </a:prstGeom>
        </p:spPr>
      </p:pic>
      <p:cxnSp>
        <p:nvCxnSpPr>
          <p:cNvPr id="10" name="直線單箭頭接點 9"/>
          <p:cNvCxnSpPr/>
          <p:nvPr/>
        </p:nvCxnSpPr>
        <p:spPr>
          <a:xfrm rot="5400000">
            <a:off x="4015206" y="7406339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768335" y="7820160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335" y="7820160"/>
                <a:ext cx="1263498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19" t="-21" r="7" b="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單箭頭接點 11"/>
          <p:cNvCxnSpPr/>
          <p:nvPr/>
        </p:nvCxnSpPr>
        <p:spPr>
          <a:xfrm rot="5400000">
            <a:off x="8722202" y="7406340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8475330" y="7820162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5330" y="7820162"/>
                <a:ext cx="1263498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49" t="-21" r="37" b="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/>
          <p:cNvCxnSpPr/>
          <p:nvPr/>
        </p:nvCxnSpPr>
        <p:spPr>
          <a:xfrm rot="5400000">
            <a:off x="13429196" y="7357745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3182324" y="7771566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324" y="7771566"/>
                <a:ext cx="1263498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28" t="-68" r="16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0471543" y="1847031"/>
                <a:ext cx="3350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1543" y="1847031"/>
                <a:ext cx="335089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12" t="-81" r="-1372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682243" y="7053387"/>
                <a:ext cx="4781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243" y="7053387"/>
                <a:ext cx="47815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81" t="-80" r="-16652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9372600" y="7023336"/>
                <a:ext cx="48387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0" y="7023336"/>
                <a:ext cx="483870" cy="553720"/>
              </a:xfrm>
              <a:prstGeom prst="rect">
                <a:avLst/>
              </a:prstGeom>
              <a:blipFill rotWithShape="1">
                <a:blip r:embed="rId7"/>
                <a:stretch>
                  <a:fillRect t="-43" r="-16010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14179740" y="7053387"/>
                <a:ext cx="48387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9740" y="7053387"/>
                <a:ext cx="483870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39" t="-80" r="-15971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接點 20"/>
          <p:cNvCxnSpPr/>
          <p:nvPr/>
        </p:nvCxnSpPr>
        <p:spPr>
          <a:xfrm>
            <a:off x="2628900" y="3143250"/>
            <a:ext cx="0" cy="68580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7364187" y="3143250"/>
            <a:ext cx="0" cy="68580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12034158" y="3143250"/>
            <a:ext cx="0" cy="68580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628900" y="4457700"/>
            <a:ext cx="0" cy="685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7364187" y="4457700"/>
            <a:ext cx="0" cy="685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12034158" y="4457700"/>
            <a:ext cx="0" cy="685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2764971" y="5600700"/>
            <a:ext cx="1262744" cy="80010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7402290" y="5600700"/>
            <a:ext cx="1349825" cy="80010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12126690" y="5600700"/>
            <a:ext cx="1349825" cy="80010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 descr="你從未見過的墨西哥貓肉卷！ - 每日頭條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709" y="4795683"/>
            <a:ext cx="2028825" cy="1909766"/>
          </a:xfrm>
          <a:prstGeom prst="rect">
            <a:avLst/>
          </a:prstGeom>
          <a:noFill/>
          <a:scene3d>
            <a:camera prst="isometricRight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091" y="1729308"/>
            <a:ext cx="1868139" cy="1988345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6" name="矩形 5"/>
          <p:cNvSpPr/>
          <p:nvPr/>
        </p:nvSpPr>
        <p:spPr>
          <a:xfrm>
            <a:off x="5548922" y="1801937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 rot="5400000">
            <a:off x="6889565" y="2329262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68674" y="1784079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2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 rot="5400000">
            <a:off x="9690267" y="2339979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5085416" y="252941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871829" y="252941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7810041" y="254846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9725511" y="2545491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0652292" y="253002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2335523" y="1812066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>
            <a:off x="11795292" y="253002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0965323" y="2024375"/>
            <a:ext cx="105828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13692360" y="2516916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14364506" y="2155046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4506" y="2155046"/>
                <a:ext cx="425406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40" t="-76" r="30" b="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7454522" y="3797808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522" y="3797808"/>
                <a:ext cx="425406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60" t="-79" r="-7264" b="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單箭頭接點 22"/>
          <p:cNvCxnSpPr/>
          <p:nvPr/>
        </p:nvCxnSpPr>
        <p:spPr>
          <a:xfrm>
            <a:off x="7648116" y="3286383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10251680" y="3796271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1680" y="3796271"/>
                <a:ext cx="425406" cy="645795"/>
              </a:xfrm>
              <a:prstGeom prst="rect">
                <a:avLst/>
              </a:prstGeom>
              <a:blipFill rotWithShape="1">
                <a:blip r:embed="rId6"/>
                <a:stretch>
                  <a:fillRect l="-56" t="-37" r="-39660" b="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單箭頭接點 26"/>
          <p:cNvCxnSpPr/>
          <p:nvPr/>
        </p:nvCxnSpPr>
        <p:spPr>
          <a:xfrm>
            <a:off x="10445274" y="3284846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3095937" y="3644877"/>
            <a:ext cx="2578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Simple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989321" y="3824411"/>
            <a:ext cx="2578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34" name="矩形 33"/>
          <p:cNvSpPr/>
          <p:nvPr/>
        </p:nvSpPr>
        <p:spPr>
          <a:xfrm>
            <a:off x="5574801" y="4801527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 rot="5400000">
            <a:off x="6915444" y="5328852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394554" y="4783670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2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 rot="5400000">
            <a:off x="9716147" y="5339570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38" name="直線單箭頭接點 37"/>
          <p:cNvCxnSpPr/>
          <p:nvPr/>
        </p:nvCxnSpPr>
        <p:spPr>
          <a:xfrm>
            <a:off x="5111295" y="552900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6897708" y="552900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7835921" y="554805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9751391" y="5545082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10678172" y="5529614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2361403" y="4811657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11821172" y="5529614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10991202" y="5023965"/>
            <a:ext cx="105828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46" name="直線單箭頭接點 45"/>
          <p:cNvCxnSpPr/>
          <p:nvPr/>
        </p:nvCxnSpPr>
        <p:spPr>
          <a:xfrm>
            <a:off x="13718240" y="551650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4390385" y="5154636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0385" y="5154636"/>
                <a:ext cx="425406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4" t="-53" r="142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7480401" y="6797399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401" y="6797399"/>
                <a:ext cx="425406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24" t="-56" r="-7301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單箭頭接點 48"/>
          <p:cNvCxnSpPr/>
          <p:nvPr/>
        </p:nvCxnSpPr>
        <p:spPr>
          <a:xfrm>
            <a:off x="7673996" y="6285974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10277559" y="6795861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559" y="6795861"/>
                <a:ext cx="425406" cy="645795"/>
              </a:xfrm>
              <a:prstGeom prst="rect">
                <a:avLst/>
              </a:prstGeom>
              <a:blipFill rotWithShape="1">
                <a:blip r:embed="rId7"/>
                <a:stretch>
                  <a:fillRect l="-20" t="-14" r="-39696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線單箭頭接點 50"/>
          <p:cNvCxnSpPr/>
          <p:nvPr/>
        </p:nvCxnSpPr>
        <p:spPr>
          <a:xfrm>
            <a:off x="10471154" y="6284436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3251832" y="6658865"/>
            <a:ext cx="2578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Difficult</a:t>
            </a:r>
            <a:endParaRPr lang="zh-TW" altLang="en-US" sz="36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8015525" y="6510066"/>
            <a:ext cx="193293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Mexican rolls</a:t>
            </a:r>
            <a:endParaRPr lang="zh-TW" altLang="en-US" sz="36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14247725" y="5686419"/>
            <a:ext cx="2578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933688" y="8289396"/>
            <a:ext cx="12690279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sz="3200" i="0" dirty="0" err="1">
                <a:solidFill>
                  <a:srgbClr val="000000"/>
                </a:solidFill>
                <a:effectLst/>
              </a:rPr>
              <a:t>SkipNet</a:t>
            </a:r>
            <a:r>
              <a:rPr lang="en-US" altLang="zh-TW" sz="3200" i="0" dirty="0">
                <a:solidFill>
                  <a:srgbClr val="000000"/>
                </a:solidFill>
                <a:effectLst/>
              </a:rPr>
              <a:t>: Learning Dynamic Routing in Convolutional Networks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sz="3200" i="0" dirty="0">
                <a:solidFill>
                  <a:srgbClr val="000000"/>
                </a:solidFill>
                <a:effectLst/>
              </a:rPr>
              <a:t>Runtime Neural </a:t>
            </a:r>
            <a:r>
              <a:rPr lang="en-US" altLang="zh-TW" sz="3200" dirty="0">
                <a:solidFill>
                  <a:srgbClr val="000000"/>
                </a:solidFill>
              </a:rPr>
              <a:t>P</a:t>
            </a:r>
            <a:r>
              <a:rPr lang="en-US" altLang="zh-TW" sz="3200" i="0" dirty="0">
                <a:solidFill>
                  <a:srgbClr val="000000"/>
                </a:solidFill>
                <a:effectLst/>
              </a:rPr>
              <a:t>runing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200" dirty="0" err="1">
                <a:solidFill>
                  <a:srgbClr val="000000"/>
                </a:solidFill>
              </a:rPr>
              <a:t>BlockDrop</a:t>
            </a:r>
            <a:r>
              <a:rPr lang="en-US" altLang="zh-TW" sz="3200" dirty="0">
                <a:solidFill>
                  <a:srgbClr val="000000"/>
                </a:solidFill>
              </a:rPr>
              <a:t>: Dynamic Inference Paths in Residual Networks</a:t>
            </a:r>
          </a:p>
        </p:txBody>
      </p:sp>
      <p:sp>
        <p:nvSpPr>
          <p:cNvPr id="59" name="文字方塊 58"/>
          <p:cNvSpPr txBox="1"/>
          <p:nvPr/>
        </p:nvSpPr>
        <p:spPr>
          <a:xfrm>
            <a:off x="6041175" y="3768483"/>
            <a:ext cx="15786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Stop!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834013" y="6551774"/>
            <a:ext cx="15786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Don’t Stop!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0965323" y="6455143"/>
            <a:ext cx="193293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Mexican rolls</a:t>
            </a:r>
            <a:endParaRPr lang="zh-TW" altLang="en-US" sz="36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1826413" y="6937728"/>
            <a:ext cx="15786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Don’t Stop!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01725" y="-234875"/>
            <a:ext cx="16084552" cy="1551434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Computation based on Sample Difficulty </a:t>
            </a:r>
            <a:endParaRPr lang="en-US" altLang="zh-TW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4" grpId="0" bldLvl="0" animBg="1"/>
      <p:bldP spid="35" grpId="0" bldLvl="0" animBg="1"/>
      <p:bldP spid="36" grpId="0" bldLvl="0" animBg="1"/>
      <p:bldP spid="37" grpId="0" bldLvl="0" animBg="1"/>
      <p:bldP spid="43" grpId="0" bldLvl="0" animBg="1"/>
      <p:bldP spid="45" grpId="0"/>
      <p:bldP spid="47" grpId="0"/>
      <p:bldP spid="48" grpId="0"/>
      <p:bldP spid="50" grpId="0"/>
      <p:bldP spid="52" grpId="0"/>
      <p:bldP spid="53" grpId="0"/>
      <p:bldP spid="54" grpId="0"/>
      <p:bldP spid="59" grpId="0"/>
      <p:bldP spid="60" grpId="0"/>
      <p:bldP spid="61" grpId="0"/>
      <p:bldP spid="6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Concluding Remarks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Network Pruning </a:t>
            </a:r>
          </a:p>
          <a:p>
            <a:r>
              <a:rPr lang="en-US" altLang="zh-TW" sz="3600" dirty="0"/>
              <a:t>Knowledge Distillation </a:t>
            </a:r>
          </a:p>
          <a:p>
            <a:r>
              <a:rPr lang="en-US" altLang="zh-TW" sz="3600" dirty="0"/>
              <a:t>Parameter Quantization </a:t>
            </a:r>
          </a:p>
          <a:p>
            <a:r>
              <a:rPr lang="en-US" altLang="zh-TW" sz="3600" dirty="0"/>
              <a:t>Architecture Design</a:t>
            </a:r>
          </a:p>
          <a:p>
            <a:r>
              <a:rPr lang="en-US" altLang="zh-TW" sz="3600" dirty="0"/>
              <a:t>Dynamic Computation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Reference</a:t>
            </a:r>
          </a:p>
        </p:txBody>
      </p:sp>
      <p:sp>
        <p:nvSpPr>
          <p:cNvPr id="6146" name="Content Placeholder 2"/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zh-TW" sz="2000" dirty="0">
                <a:sym typeface="+mn-ea"/>
              </a:rPr>
              <a:t>Binary Connect: https://arxiv.org/abs/1511.00363 </a:t>
            </a:r>
            <a:endParaRPr lang="en-US" altLang="zh-TW" sz="2000" dirty="0"/>
          </a:p>
          <a:p>
            <a:r>
              <a:rPr lang="en-US" altLang="zh-TW" sz="2000" dirty="0">
                <a:sym typeface="+mn-ea"/>
              </a:rPr>
              <a:t>Binary Network:https://arxiv.org/abs/1602.02830</a:t>
            </a:r>
            <a:endParaRPr lang="en-US" altLang="zh-TW" sz="2000" dirty="0"/>
          </a:p>
          <a:p>
            <a:r>
              <a:rPr lang="en-US" altLang="zh-TW" sz="2000" dirty="0">
                <a:sym typeface="+mn-ea"/>
              </a:rPr>
              <a:t>XNOR-net: https://arxiv.org/abs/1603.05279</a:t>
            </a:r>
          </a:p>
          <a:p>
            <a:r>
              <a:rPr lang="en-US" altLang="zh-TW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Knowledge Distillation https://arxiv.org/pdf/1503.02531.pdf </a:t>
            </a:r>
          </a:p>
          <a:p>
            <a:r>
              <a:rPr lang="en-US" altLang="zh-TW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Do Deep Nets Really Need to be Deep? </a:t>
            </a:r>
            <a:r>
              <a:rPr lang="zh-TW" alt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https://arxiv.org/pdf/1312.6184.pdf</a:t>
            </a:r>
          </a:p>
          <a:p>
            <a:r>
              <a:rPr lang="en-US" altLang="zh-TW" sz="2000" dirty="0" err="1">
                <a:sym typeface="+mn-ea"/>
              </a:rPr>
              <a:t>SqueezeNet: </a:t>
            </a:r>
            <a:r>
              <a:rPr lang="en-US" altLang="zh-TW" sz="2000" dirty="0">
                <a:sym typeface="+mn-ea"/>
              </a:rPr>
              <a:t>https://arxiv.org/abs/1602.07360</a:t>
            </a:r>
            <a:endParaRPr lang="en-US" altLang="zh-TW" sz="2000" dirty="0"/>
          </a:p>
          <a:p>
            <a:r>
              <a:rPr lang="en-US" altLang="zh-TW" sz="2000" dirty="0" err="1">
                <a:sym typeface="+mn-ea"/>
              </a:rPr>
              <a:t>MobileNet: </a:t>
            </a:r>
            <a:r>
              <a:rPr lang="en-US" altLang="zh-TW" sz="2000" dirty="0">
                <a:sym typeface="+mn-ea"/>
              </a:rPr>
              <a:t>https://arxiv.org/abs/1704.04861</a:t>
            </a:r>
            <a:endParaRPr lang="en-US" altLang="zh-TW" sz="2000" dirty="0"/>
          </a:p>
          <a:p>
            <a:r>
              <a:rPr lang="en-US" altLang="zh-TW" sz="2000" dirty="0" err="1">
                <a:sym typeface="+mn-ea"/>
              </a:rPr>
              <a:t>ShuffleNet: </a:t>
            </a:r>
            <a:r>
              <a:rPr lang="en-US" altLang="zh-TW" sz="2000" dirty="0">
                <a:sym typeface="+mn-ea"/>
              </a:rPr>
              <a:t>https://arxiv.org/abs/1707.01083</a:t>
            </a:r>
            <a:endParaRPr lang="en-US" altLang="zh-TW" sz="2000" dirty="0"/>
          </a:p>
          <a:p>
            <a:r>
              <a:rPr lang="en-US" altLang="zh-TW" sz="2000" dirty="0" err="1">
                <a:sym typeface="+mn-ea"/>
              </a:rPr>
              <a:t>Xception: </a:t>
            </a:r>
            <a:r>
              <a:rPr lang="en-US" altLang="zh-TW" sz="2000" dirty="0">
                <a:sym typeface="+mn-ea"/>
              </a:rPr>
              <a:t>https://arxiv.org/abs/1610.02357</a:t>
            </a:r>
            <a:endParaRPr lang="en-US" altLang="zh-TW" sz="2000" dirty="0"/>
          </a:p>
          <a:p>
            <a:r>
              <a:rPr lang="en-US" altLang="zh-TW" sz="2000" dirty="0" err="1">
                <a:sym typeface="+mn-ea"/>
              </a:rPr>
              <a:t>GhostNet: </a:t>
            </a:r>
            <a:r>
              <a:rPr lang="en-US" altLang="zh-TW" sz="2000" dirty="0">
                <a:sym typeface="+mn-ea"/>
              </a:rPr>
              <a:t>https://arxiv.org/abs/1911.11907</a:t>
            </a:r>
            <a:endParaRPr lang="zh-TW" altLang="en-US" sz="2000" dirty="0"/>
          </a:p>
          <a:p>
            <a:pPr marL="0" indent="0">
              <a:buNone/>
            </a:pP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  <a:p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EF9413-A290-47B2-9E76-F04AE13F7C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C5EF73-5EFC-47C1-88EA-D453906DDA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1444</Words>
  <Application>Microsoft Office PowerPoint</Application>
  <PresentationFormat>Custom</PresentationFormat>
  <Paragraphs>364</Paragraphs>
  <Slides>36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Helvetica Bold Oblique</vt:lpstr>
      <vt:lpstr>Lucida Grande</vt:lpstr>
      <vt:lpstr>Microsoft JhengHei</vt:lpstr>
      <vt:lpstr>Arial</vt:lpstr>
      <vt:lpstr>Calibri</vt:lpstr>
      <vt:lpstr>Cambria Math</vt:lpstr>
      <vt:lpstr>Wingdings 2</vt:lpstr>
      <vt:lpstr>Breeze</vt:lpstr>
      <vt:lpstr>Network Compression</vt:lpstr>
      <vt:lpstr>Overview</vt:lpstr>
      <vt:lpstr>Overview</vt:lpstr>
      <vt:lpstr>Network Pruning </vt:lpstr>
      <vt:lpstr>Network can be pruned</vt:lpstr>
      <vt:lpstr>Network Pruning </vt:lpstr>
      <vt:lpstr>Network Pruning - Practical Issue </vt:lpstr>
      <vt:lpstr>Network Pruning - Practical Issue </vt:lpstr>
      <vt:lpstr>Network Pruning - Practical Issue </vt:lpstr>
      <vt:lpstr>Why Pruning? </vt:lpstr>
      <vt:lpstr>Why Pruning? </vt:lpstr>
      <vt:lpstr>Why Pruning? </vt:lpstr>
      <vt:lpstr>Why Pruning? </vt:lpstr>
      <vt:lpstr>Knowledge Distillation </vt:lpstr>
      <vt:lpstr>Knowledge Distillation</vt:lpstr>
      <vt:lpstr>Knowledge Distillation</vt:lpstr>
      <vt:lpstr>Knowledge Distillation </vt:lpstr>
      <vt:lpstr>Parameter Quantization</vt:lpstr>
      <vt:lpstr>Parameter Quantization </vt:lpstr>
      <vt:lpstr>Parameter Quantization </vt:lpstr>
      <vt:lpstr>Binary Weights </vt:lpstr>
      <vt:lpstr>Binary Weights </vt:lpstr>
      <vt:lpstr>Architecture Design </vt:lpstr>
      <vt:lpstr>PowerPoint Presentation</vt:lpstr>
      <vt:lpstr>Depthwise Separable Convolution </vt:lpstr>
      <vt:lpstr>Depthwise Separable Convolution </vt:lpstr>
      <vt:lpstr>Depthwise Separable  Convolution </vt:lpstr>
      <vt:lpstr>Low rank approximation</vt:lpstr>
      <vt:lpstr>PowerPoint Presentation</vt:lpstr>
      <vt:lpstr>Dynamic Computation</vt:lpstr>
      <vt:lpstr>Dynamic Computation </vt:lpstr>
      <vt:lpstr>Dynamic Depth </vt:lpstr>
      <vt:lpstr>Dynamic Width </vt:lpstr>
      <vt:lpstr>Computation based on Sample Difficulty </vt:lpstr>
      <vt:lpstr>Concluding Remarks</vt:lpstr>
      <vt:lpstr>Reference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Zehui Bai</cp:lastModifiedBy>
  <cp:revision>36</cp:revision>
  <dcterms:created xsi:type="dcterms:W3CDTF">2019-02-13T16:04:00Z</dcterms:created>
  <dcterms:modified xsi:type="dcterms:W3CDTF">2025-12-01T13:29:02Z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6C5E8AC3588247708D265E8177A4AA55</vt:lpwstr>
  </property>
  <property fmtid="{D5CDD505-2E9C-101B-9397-08002B2CF9AE}" pid="5" name="KSOProductBuildVer">
    <vt:lpwstr>1033-11.2.0.11225</vt:lpwstr>
  </property>
</Properties>
</file>