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45"/>
  </p:notesMasterIdLst>
  <p:sldIdLst>
    <p:sldId id="259" r:id="rId4"/>
    <p:sldId id="304" r:id="rId5"/>
    <p:sldId id="262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6" r:id="rId16"/>
    <p:sldId id="275" r:id="rId17"/>
    <p:sldId id="277" r:id="rId18"/>
    <p:sldId id="278" r:id="rId19"/>
    <p:sldId id="279" r:id="rId20"/>
    <p:sldId id="280" r:id="rId21"/>
    <p:sldId id="281" r:id="rId22"/>
    <p:sldId id="305" r:id="rId23"/>
    <p:sldId id="282" r:id="rId24"/>
    <p:sldId id="284" r:id="rId25"/>
    <p:sldId id="285" r:id="rId26"/>
    <p:sldId id="286" r:id="rId27"/>
    <p:sldId id="287" r:id="rId28"/>
    <p:sldId id="288" r:id="rId29"/>
    <p:sldId id="289" r:id="rId30"/>
    <p:sldId id="283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7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86"/>
  </p:normalViewPr>
  <p:slideViewPr>
    <p:cSldViewPr snapToGrid="0" snapToObjects="1">
      <p:cViewPr varScale="1">
        <p:scale>
          <a:sx n="70" d="100"/>
          <a:sy n="70" d="100"/>
        </p:scale>
        <p:origin x="774" y="66"/>
      </p:cViewPr>
      <p:guideLst>
        <p:guide orient="horz" pos="3110"/>
        <p:guide pos="5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gong\Documents\My%20Documents\I-created\Results\2013%20resul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'DNN multi-lingual'!$B$1</c:f>
              <c:strCache>
                <c:ptCount val="1"/>
                <c:pt idx="0">
                  <c:v>Baseline - CHN only</c:v>
                </c:pt>
              </c:strCache>
            </c:strRef>
          </c:tx>
          <c:xVal>
            <c:numRef>
              <c:f>'DNN multi-lingual'!$A$2:$A$5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36</c:v>
                </c:pt>
                <c:pt idx="3">
                  <c:v>139</c:v>
                </c:pt>
              </c:numCache>
            </c:numRef>
          </c:xVal>
          <c:yVal>
            <c:numRef>
              <c:f>'DNN multi-lingual'!$B$2:$B$5</c:f>
              <c:numCache>
                <c:formatCode>General</c:formatCode>
                <c:ptCount val="4"/>
                <c:pt idx="0">
                  <c:v>45.1</c:v>
                </c:pt>
                <c:pt idx="1">
                  <c:v>40.299999999999997</c:v>
                </c:pt>
                <c:pt idx="2">
                  <c:v>31.7</c:v>
                </c:pt>
                <c:pt idx="3">
                  <c:v>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2B4-904C-99AE-65C9809CF062}"/>
            </c:ext>
          </c:extLst>
        </c:ser>
        <c:ser>
          <c:idx val="1"/>
          <c:order val="1"/>
          <c:tx>
            <c:strRef>
              <c:f>'DNN multi-lingual'!$C$1</c:f>
              <c:strCache>
                <c:ptCount val="1"/>
                <c:pt idx="0">
                  <c:v>SHL-MDNN Model Transfer</c:v>
                </c:pt>
              </c:strCache>
            </c:strRef>
          </c:tx>
          <c:xVal>
            <c:numRef>
              <c:f>'DNN multi-lingual'!$A$2:$A$5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36</c:v>
                </c:pt>
                <c:pt idx="3">
                  <c:v>139</c:v>
                </c:pt>
              </c:numCache>
            </c:numRef>
          </c:xVal>
          <c:yVal>
            <c:numRef>
              <c:f>'DNN multi-lingual'!$C$2:$C$5</c:f>
              <c:numCache>
                <c:formatCode>General</c:formatCode>
                <c:ptCount val="4"/>
                <c:pt idx="0">
                  <c:v>35.6</c:v>
                </c:pt>
                <c:pt idx="1">
                  <c:v>33.9</c:v>
                </c:pt>
                <c:pt idx="2">
                  <c:v>28.4</c:v>
                </c:pt>
                <c:pt idx="3">
                  <c:v>26.6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2B4-904C-99AE-65C9809CF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602688"/>
        <c:axId val="648876096"/>
      </c:scatterChart>
      <c:valAx>
        <c:axId val="137602688"/>
        <c:scaling>
          <c:logBase val="10"/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876096"/>
        <c:crosses val="autoZero"/>
        <c:crossBetween val="midCat"/>
      </c:valAx>
      <c:valAx>
        <c:axId val="648876096"/>
        <c:scaling>
          <c:orientation val="minMax"/>
          <c:min val="25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0268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19D3E-A1AF-407B-AE78-3EE7497D6478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B19D3E-A1AF-407B-AE78-3EE7497D6478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08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B813-8075-40D9-91A0-5550FC56F0A4}" type="slidenum">
              <a:rPr lang="zh-TW" altLang="en-US" smtClean="0"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3.png"/><Relationship Id="rId5" Type="http://schemas.openxmlformats.org/officeDocument/2006/relationships/image" Target="../media/image4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21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image" Target="../media/image19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jpeg"/><Relationship Id="rId10" Type="http://schemas.openxmlformats.org/officeDocument/2006/relationships/image" Target="../media/image18.png"/><Relationship Id="rId4" Type="http://schemas.openxmlformats.org/officeDocument/2006/relationships/image" Target="../media/image14.wmf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jpeg"/><Relationship Id="rId9" Type="http://schemas.openxmlformats.org/officeDocument/2006/relationships/image" Target="../media/image4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11" Type="http://schemas.openxmlformats.org/officeDocument/2006/relationships/image" Target="../media/image5.jpe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0.png"/><Relationship Id="rId7" Type="http://schemas.openxmlformats.org/officeDocument/2006/relationships/image" Target="../media/image5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.jpeg"/><Relationship Id="rId4" Type="http://schemas.openxmlformats.org/officeDocument/2006/relationships/image" Target="../media/image51.png"/><Relationship Id="rId9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Transfer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13374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9303" y="212980"/>
            <a:ext cx="16084552" cy="1086814"/>
          </a:xfrm>
        </p:spPr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4680359" y="2012159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2394020" y="3724736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273296" y="6067016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80359" y="2012158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3432764" y="6331388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680359" y="2864288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9250686" y="2864288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432764" y="3700662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394020" y="9299738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646821" y="294826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2894186" y="4669440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103760" y="2966973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2876040" y="737161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4874355" y="5110910"/>
            <a:ext cx="4169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74355" y="4263624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425305" y="4389577"/>
            <a:ext cx="4809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874355" y="6496451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906396" y="8037119"/>
            <a:ext cx="4169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Zero-shot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425305" y="7064650"/>
            <a:ext cx="478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Clustering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110740" y="4554855"/>
            <a:ext cx="401320" cy="96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TW" altLang="zh-TW" sz="2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表格 2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058116"/>
              </p:ext>
            </p:extLst>
          </p:nvPr>
        </p:nvGraphicFramePr>
        <p:xfrm>
          <a:off x="9457594" y="5128925"/>
          <a:ext cx="5770880" cy="986155"/>
        </p:xfrm>
        <a:graphic>
          <a:graphicData uri="http://schemas.openxmlformats.org/drawingml/2006/table">
            <a:tbl>
              <a:tblPr/>
              <a:tblGrid>
                <a:gridCol w="577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61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Rajat Raina , Alexis Battle , </a:t>
                      </a: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Honglak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 , Benjamin Packer , Andrew Y. Ng,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Self-taught learning: transfer learning from unlabeled data, ICML, 2007</a:t>
                      </a:r>
                    </a:p>
                  </a:txBody>
                  <a:tcPr marL="80545" marR="83901" marT="16780" marB="16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9425305" y="7859614"/>
            <a:ext cx="5313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 dirty="0">
                <a:sym typeface="+mn-ea"/>
              </a:rPr>
              <a:t>Wenyuan Dai, Qiang Yang, Gui-Rong Xue, Yong Yu, "Self-taught clustering", ICML 2008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1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Transfer Learning Introduction and Fine-tuning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413374"/>
            <a:ext cx="12863195" cy="885826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Dr. Yan Yan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78608" y="6194687"/>
            <a:ext cx="5433000" cy="26955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10347875" y="2478954"/>
            <a:ext cx="3077834" cy="25350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7152956" y="2478954"/>
            <a:ext cx="2069870" cy="2535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00" y="2667489"/>
            <a:ext cx="1326108" cy="1726377"/>
          </a:xfrm>
          <a:prstGeom prst="rect">
            <a:avLst/>
          </a:prstGeom>
        </p:spPr>
      </p:pic>
      <p:pic>
        <p:nvPicPr>
          <p:cNvPr id="9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234" y="2726862"/>
            <a:ext cx="2412047" cy="160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/>
          <p:cNvSpPr txBox="1"/>
          <p:nvPr/>
        </p:nvSpPr>
        <p:spPr>
          <a:xfrm>
            <a:off x="4212284" y="3154623"/>
            <a:ext cx="209480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Dog/Cat</a:t>
            </a:r>
          </a:p>
          <a:p>
            <a:pPr algn="ctr"/>
            <a:r>
              <a:rPr lang="en-US" altLang="zh-TW" sz="3600" dirty="0"/>
              <a:t>Classifier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589374" y="4274958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1382810" y="4274502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212284" y="5407236"/>
            <a:ext cx="10233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Data </a:t>
            </a:r>
            <a:r>
              <a:rPr lang="en-US" altLang="zh-TW" sz="3600" b="1" i="1" u="sng" dirty="0"/>
              <a:t>not directly related to </a:t>
            </a:r>
            <a:r>
              <a:rPr lang="en-US" altLang="zh-TW" sz="3600" dirty="0"/>
              <a:t>the task considered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845859" y="8118015"/>
            <a:ext cx="241999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Lion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6082967" y="8117640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Wolf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177485" y="9061176"/>
            <a:ext cx="60352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Similar domain, different tasks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308425" y="9031902"/>
            <a:ext cx="596945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Different domains, same task</a:t>
            </a:r>
          </a:p>
        </p:txBody>
      </p:sp>
      <p:sp>
        <p:nvSpPr>
          <p:cNvPr id="8" name="矩形 7"/>
          <p:cNvSpPr/>
          <p:nvPr/>
        </p:nvSpPr>
        <p:spPr>
          <a:xfrm>
            <a:off x="10318170" y="62940"/>
            <a:ext cx="5402348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0" dirty="0"/>
              <a:t>http://weebly110810.weebly.com/396403913129399.html</a:t>
            </a:r>
          </a:p>
        </p:txBody>
      </p:sp>
      <p:sp>
        <p:nvSpPr>
          <p:cNvPr id="10" name="矩形 9"/>
          <p:cNvSpPr/>
          <p:nvPr/>
        </p:nvSpPr>
        <p:spPr>
          <a:xfrm>
            <a:off x="10365539" y="1000051"/>
            <a:ext cx="5354979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0" dirty="0"/>
              <a:t>http://www.sucaitianxia.com/png/cartoon/200811/4261.html</a:t>
            </a:r>
          </a:p>
        </p:txBody>
      </p:sp>
      <p:sp>
        <p:nvSpPr>
          <p:cNvPr id="27" name="矩形 26"/>
          <p:cNvSpPr/>
          <p:nvPr/>
        </p:nvSpPr>
        <p:spPr>
          <a:xfrm>
            <a:off x="8565576" y="6194687"/>
            <a:ext cx="5433000" cy="26955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11332803" y="8101796"/>
            <a:ext cx="241999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</a:t>
            </a:r>
            <a:endParaRPr lang="zh-TW" altLang="en-US" sz="3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9403526" y="8102191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pic>
        <p:nvPicPr>
          <p:cNvPr id="103" name="Content Placeholder 102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5629275" y="6504940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2981960" y="6555105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Picture 104"/>
          <p:cNvPicPr/>
          <p:nvPr/>
        </p:nvPicPr>
        <p:blipFill>
          <a:blip r:embed="rId6"/>
          <a:stretch>
            <a:fillRect/>
          </a:stretch>
        </p:blipFill>
        <p:spPr>
          <a:xfrm>
            <a:off x="9037320" y="6586220"/>
            <a:ext cx="1964055" cy="1327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Picture 105"/>
          <p:cNvPicPr/>
          <p:nvPr/>
        </p:nvPicPr>
        <p:blipFill>
          <a:blip r:embed="rId7"/>
          <a:stretch>
            <a:fillRect/>
          </a:stretch>
        </p:blipFill>
        <p:spPr>
          <a:xfrm>
            <a:off x="11746865" y="6283960"/>
            <a:ext cx="1592580" cy="1836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7" grpId="0"/>
      <p:bldP spid="23" grpId="0"/>
      <p:bldP spid="23" grpId="1"/>
      <p:bldP spid="26" grpId="0"/>
      <p:bldP spid="26" grpId="1"/>
      <p:bldP spid="21" grpId="0"/>
      <p:bldP spid="21" grpId="1"/>
      <p:bldP spid="22" grpId="0"/>
      <p:bldP spid="22" grpId="1"/>
      <p:bldP spid="27" grpId="0" animBg="1"/>
      <p:bldP spid="27" grpId="1" animBg="1"/>
      <p:bldP spid="30" grpId="0"/>
      <p:bldP spid="30" grpId="1"/>
      <p:bldP spid="31" grpId="0"/>
      <p:bldP spid="3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Content Placeholder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935" y="5763895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887585" y="5796280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Why?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134802" y="2536033"/>
            <a:ext cx="38073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Considered</a:t>
            </a:r>
            <a:endParaRPr lang="zh-TW" altLang="en-US" sz="3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480316" y="5918625"/>
            <a:ext cx="271682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Image Recognition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0146423" y="2536033"/>
            <a:ext cx="51082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Data not directly related</a:t>
            </a:r>
            <a:endParaRPr lang="zh-TW" altLang="en-US" sz="36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480316" y="3832550"/>
            <a:ext cx="271682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Speech</a:t>
            </a:r>
          </a:p>
          <a:p>
            <a:pPr algn="ctr"/>
            <a:r>
              <a:rPr lang="en-US" altLang="zh-TW" sz="3600" dirty="0"/>
              <a:t>Recognition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7214066" y="8267602"/>
            <a:ext cx="273782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Specific domain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12721754" y="3792048"/>
            <a:ext cx="1681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English</a:t>
            </a:r>
          </a:p>
        </p:txBody>
      </p:sp>
      <p:sp>
        <p:nvSpPr>
          <p:cNvPr id="29" name="矩形 28"/>
          <p:cNvSpPr/>
          <p:nvPr/>
        </p:nvSpPr>
        <p:spPr>
          <a:xfrm>
            <a:off x="12681578" y="4321572"/>
            <a:ext cx="1859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Chinese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3218160" y="8484870"/>
            <a:ext cx="2854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Webpages</a:t>
            </a:r>
            <a:endParaRPr lang="zh-TW" altLang="en-US" sz="3600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2567351" y="5501039"/>
            <a:ext cx="127931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2628155" y="7561995"/>
            <a:ext cx="127931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9887603" y="2363216"/>
            <a:ext cx="0" cy="73082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13013853" y="4636907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……</a:t>
            </a:r>
          </a:p>
        </p:txBody>
      </p:sp>
      <p:cxnSp>
        <p:nvCxnSpPr>
          <p:cNvPr id="30" name="直線接點 29"/>
          <p:cNvCxnSpPr/>
          <p:nvPr/>
        </p:nvCxnSpPr>
        <p:spPr>
          <a:xfrm>
            <a:off x="2720315" y="3486611"/>
            <a:ext cx="127931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8174036" y="6231343"/>
            <a:ext cx="817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car</a:t>
            </a:r>
          </a:p>
        </p:txBody>
      </p:sp>
      <p:pic>
        <p:nvPicPr>
          <p:cNvPr id="42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0272" y="5977214"/>
            <a:ext cx="1965452" cy="130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6614" y="5944760"/>
            <a:ext cx="1099623" cy="1431531"/>
          </a:xfrm>
          <a:prstGeom prst="rect">
            <a:avLst/>
          </a:prstGeom>
        </p:spPr>
      </p:pic>
      <p:sp>
        <p:nvSpPr>
          <p:cNvPr id="45" name="文字方塊 44"/>
          <p:cNvSpPr txBox="1"/>
          <p:nvPr/>
        </p:nvSpPr>
        <p:spPr>
          <a:xfrm>
            <a:off x="2563839" y="8004701"/>
            <a:ext cx="273782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Text</a:t>
            </a:r>
          </a:p>
          <a:p>
            <a:pPr algn="ctr"/>
            <a:r>
              <a:rPr lang="en-US" altLang="zh-TW" sz="3600" dirty="0"/>
              <a:t>Analysis</a:t>
            </a:r>
            <a:endParaRPr lang="zh-TW" altLang="en-US" sz="3600" dirty="0"/>
          </a:p>
        </p:txBody>
      </p:sp>
      <p:pic>
        <p:nvPicPr>
          <p:cNvPr id="107" name="Content Placeholder 106"/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5499735" y="3716655"/>
            <a:ext cx="1553845" cy="15538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27"/>
          <p:cNvSpPr/>
          <p:nvPr/>
        </p:nvSpPr>
        <p:spPr>
          <a:xfrm>
            <a:off x="7356639" y="4171143"/>
            <a:ext cx="1681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3600" dirty="0"/>
              <a:t>English</a:t>
            </a:r>
          </a:p>
        </p:txBody>
      </p:sp>
      <p:pic>
        <p:nvPicPr>
          <p:cNvPr id="108" name="Picture 107"/>
          <p:cNvPicPr/>
          <p:nvPr/>
        </p:nvPicPr>
        <p:blipFill>
          <a:blip r:embed="rId8"/>
          <a:stretch>
            <a:fillRect/>
          </a:stretch>
        </p:blipFill>
        <p:spPr>
          <a:xfrm>
            <a:off x="10699750" y="3793490"/>
            <a:ext cx="1496060" cy="1400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Picture 109"/>
          <p:cNvPicPr/>
          <p:nvPr/>
        </p:nvPicPr>
        <p:blipFill>
          <a:blip r:embed="rId9"/>
          <a:stretch>
            <a:fillRect/>
          </a:stretch>
        </p:blipFill>
        <p:spPr>
          <a:xfrm>
            <a:off x="5394960" y="5854700"/>
            <a:ext cx="2308860" cy="12649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Picture 110"/>
          <p:cNvPicPr/>
          <p:nvPr/>
        </p:nvPicPr>
        <p:blipFill>
          <a:blip r:embed="rId10"/>
          <a:stretch>
            <a:fillRect/>
          </a:stretch>
        </p:blipFill>
        <p:spPr>
          <a:xfrm>
            <a:off x="5501640" y="7964170"/>
            <a:ext cx="209550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Picture 112"/>
          <p:cNvPicPr/>
          <p:nvPr/>
        </p:nvPicPr>
        <p:blipFill>
          <a:blip r:embed="rId11"/>
          <a:stretch>
            <a:fillRect/>
          </a:stretch>
        </p:blipFill>
        <p:spPr>
          <a:xfrm>
            <a:off x="10156190" y="7868285"/>
            <a:ext cx="2857500" cy="1600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  <p:bldP spid="16" grpId="0"/>
      <p:bldP spid="16" grpId="1"/>
      <p:bldP spid="28" grpId="0"/>
      <p:bldP spid="28" grpId="1"/>
      <p:bldP spid="29" grpId="0"/>
      <p:bldP spid="29" grpId="1"/>
      <p:bldP spid="33" grpId="0"/>
      <p:bldP spid="33" grpId="1"/>
      <p:bldP spid="41" grpId="0"/>
      <p:bldP spid="41" grpId="1"/>
      <p:bldP spid="37" grpId="0"/>
      <p:bldP spid="37" grpId="1"/>
      <p:bldP spid="45" grpId="0"/>
      <p:bldP spid="45" grpId="1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479415" y="2536190"/>
            <a:ext cx="10313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Source Data (not directly related to the task) </a:t>
            </a:r>
            <a:endParaRPr lang="zh-TW" altLang="en-US" sz="3600" dirty="0"/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992590" y="4787499"/>
            <a:ext cx="409878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Model Fine-tuning 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045428" y="6196880"/>
            <a:ext cx="6646984" cy="1198880"/>
          </a:xfrm>
          <a:prstGeom prst="rect">
            <a:avLst/>
          </a:prstGeom>
          <a:gradFill>
            <a:gsLst>
              <a:gs pos="0">
                <a:schemeClr val="accent2">
                  <a:shade val="100000"/>
                  <a:satMod val="120000"/>
                </a:schemeClr>
              </a:gs>
              <a:gs pos="69000">
                <a:schemeClr val="accent2">
                  <a:tint val="80000"/>
                  <a:shade val="100000"/>
                  <a:satMod val="150000"/>
                </a:schemeClr>
              </a:gs>
              <a:gs pos="100000">
                <a:schemeClr val="accent2">
                  <a:tint val="50000"/>
                  <a:shade val="100000"/>
                  <a:satMod val="150000"/>
                </a:schemeClr>
              </a:gs>
              <a:gs pos="0">
                <a:srgbClr val="FECF40"/>
              </a:gs>
              <a:gs pos="100000">
                <a:srgbClr val="846C21"/>
              </a:gs>
            </a:gsLst>
            <a:lin scaled="0"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Warning: different terminology in different literature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8" grpId="0" bldLvl="0" animBg="1"/>
      <p:bldP spid="8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 Fine-tuning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228975" y="2738436"/>
                <a:ext cx="11830050" cy="7262813"/>
              </a:xfrm>
            </p:spPr>
            <p:txBody>
              <a:bodyPr>
                <a:normAutofit fontScale="90000" lnSpcReduction="20000"/>
              </a:bodyPr>
              <a:lstStyle/>
              <a:p>
                <a:r>
                  <a:rPr lang="en-US" altLang="zh-TW" dirty="0"/>
                  <a:t>Task description</a:t>
                </a:r>
              </a:p>
              <a:p>
                <a:pPr lvl="1"/>
                <a:r>
                  <a:rPr lang="en-US" altLang="zh-TW" dirty="0"/>
                  <a:t>Source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Target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Example: (supervised) speaker adaption</a:t>
                </a:r>
              </a:p>
              <a:p>
                <a:pPr lvl="1"/>
                <a:r>
                  <a:rPr lang="en-US" altLang="zh-TW" dirty="0"/>
                  <a:t>Source data: audio data and transcriptions from many speakers</a:t>
                </a:r>
              </a:p>
              <a:p>
                <a:pPr lvl="1"/>
                <a:r>
                  <a:rPr lang="en-US" altLang="zh-TW" dirty="0"/>
                  <a:t>Target data: audio data and its transcriptions of specific user</a:t>
                </a:r>
                <a:endParaRPr lang="zh-TW" altLang="en-US" dirty="0"/>
              </a:p>
              <a:p>
                <a:r>
                  <a:rPr lang="en-US" altLang="zh-TW" dirty="0"/>
                  <a:t>Idea: training a model by source data, then fine-tune the model by target data</a:t>
                </a:r>
              </a:p>
              <a:p>
                <a:pPr lvl="1"/>
                <a:r>
                  <a:rPr lang="en-US" altLang="zh-TW" dirty="0"/>
                  <a:t>Challenge: only limited target data, so be careful about overfitting</a:t>
                </a:r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28975" y="2738436"/>
                <a:ext cx="11830050" cy="7262813"/>
              </a:xfrm>
              <a:blipFill rotWithShape="1">
                <a:blip r:embed="rId2"/>
                <a:stretch>
                  <a:fillRect t="-363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號: 向右 3"/>
          <p:cNvSpPr/>
          <p:nvPr/>
        </p:nvSpPr>
        <p:spPr>
          <a:xfrm flipH="1">
            <a:off x="8453144" y="4050318"/>
            <a:ext cx="590844" cy="44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箭號: 向右 4"/>
          <p:cNvSpPr/>
          <p:nvPr/>
        </p:nvSpPr>
        <p:spPr>
          <a:xfrm flipH="1">
            <a:off x="8453144" y="3455357"/>
            <a:ext cx="590844" cy="4431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文字方塊 5"/>
          <p:cNvSpPr txBox="1"/>
          <p:nvPr/>
        </p:nvSpPr>
        <p:spPr>
          <a:xfrm>
            <a:off x="9229725" y="3899967"/>
            <a:ext cx="23002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Very little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356725" y="3346450"/>
            <a:ext cx="5544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 large amount </a:t>
            </a:r>
            <a:endParaRPr lang="zh-TW" altLang="en-US" sz="3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356215" y="1593488"/>
            <a:ext cx="5886450" cy="175323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One-shot learning: only a few examples in target domain</a:t>
            </a:r>
            <a:endParaRPr lang="zh-TW" altLang="en-US" sz="3600" dirty="0"/>
          </a:p>
        </p:txBody>
      </p:sp>
      <p:sp>
        <p:nvSpPr>
          <p:cNvPr id="9" name="標題 1"/>
          <p:cNvSpPr>
            <a:spLocks noGrp="1"/>
          </p:cNvSpPr>
          <p:nvPr/>
        </p:nvSpPr>
        <p:spPr>
          <a:xfrm>
            <a:off x="1101725" y="13850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TW" dirty="0"/>
              <a:t>Model Fine-tuning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ldLvl="0" animBg="1"/>
      <p:bldP spid="5" grpId="0" bldLvl="0" animBg="1"/>
      <p:bldP spid="6" grpId="0"/>
      <p:bldP spid="7" grpId="0"/>
      <p:bldP spid="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Conservative Training</a:t>
            </a:r>
            <a:endParaRPr lang="zh-TW" altLang="en-US" dirty="0"/>
          </a:p>
        </p:txBody>
      </p:sp>
      <p:sp>
        <p:nvSpPr>
          <p:cNvPr id="4" name="流程圖: 磁碟 3"/>
          <p:cNvSpPr/>
          <p:nvPr/>
        </p:nvSpPr>
        <p:spPr>
          <a:xfrm>
            <a:off x="4443239" y="7151196"/>
            <a:ext cx="3699000" cy="2699753"/>
          </a:xfrm>
          <a:prstGeom prst="flowChartMagneticDisk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Source data </a:t>
            </a:r>
          </a:p>
          <a:p>
            <a:pPr algn="ctr"/>
            <a:r>
              <a:rPr lang="en-US" altLang="zh-TW" sz="3200" dirty="0"/>
              <a:t>(e.g. Audio data of </a:t>
            </a:r>
          </a:p>
          <a:p>
            <a:pPr algn="ctr"/>
            <a:r>
              <a:rPr lang="en-US" altLang="zh-TW" sz="3200" dirty="0"/>
              <a:t>Many speakers)</a:t>
            </a:r>
          </a:p>
        </p:txBody>
      </p:sp>
      <p:sp>
        <p:nvSpPr>
          <p:cNvPr id="5" name="流程圖: 磁碟 4"/>
          <p:cNvSpPr/>
          <p:nvPr/>
        </p:nvSpPr>
        <p:spPr>
          <a:xfrm>
            <a:off x="10792361" y="7829201"/>
            <a:ext cx="1008090" cy="1075629"/>
          </a:xfrm>
          <a:prstGeom prst="flowChartMagneticDisk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11800451" y="7541966"/>
            <a:ext cx="3461321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Target data (e.g. A little data from target speaker)</a:t>
            </a:r>
          </a:p>
        </p:txBody>
      </p:sp>
      <p:sp>
        <p:nvSpPr>
          <p:cNvPr id="7" name="矩形 6"/>
          <p:cNvSpPr/>
          <p:nvPr/>
        </p:nvSpPr>
        <p:spPr>
          <a:xfrm>
            <a:off x="5327339" y="4017053"/>
            <a:ext cx="1977095" cy="20567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 rot="16200000">
            <a:off x="6135611" y="5740191"/>
            <a:ext cx="324000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 8"/>
          <p:cNvSpPr/>
          <p:nvPr/>
        </p:nvSpPr>
        <p:spPr>
          <a:xfrm>
            <a:off x="4611191" y="3282090"/>
            <a:ext cx="3240000" cy="324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2880402" y="6385005"/>
            <a:ext cx="2410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layer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48421" y="2558835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layer</a:t>
            </a:r>
            <a:endParaRPr lang="zh-TW" altLang="en-US" sz="3600" dirty="0"/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6307944" y="6073820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V="1">
            <a:off x="6231191" y="3505859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向右箭號 14"/>
          <p:cNvSpPr/>
          <p:nvPr/>
        </p:nvSpPr>
        <p:spPr>
          <a:xfrm>
            <a:off x="8359701" y="4973865"/>
            <a:ext cx="2148116" cy="86469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8113961" y="5734487"/>
            <a:ext cx="27141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initialization</a:t>
            </a:r>
            <a:endParaRPr lang="zh-TW" altLang="en-US" sz="3600" dirty="0"/>
          </a:p>
        </p:txBody>
      </p:sp>
      <p:sp>
        <p:nvSpPr>
          <p:cNvPr id="17" name="矩形 16"/>
          <p:cNvSpPr/>
          <p:nvPr/>
        </p:nvSpPr>
        <p:spPr>
          <a:xfrm>
            <a:off x="11499086" y="4055447"/>
            <a:ext cx="1977095" cy="2056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矩形 17"/>
          <p:cNvSpPr/>
          <p:nvPr/>
        </p:nvSpPr>
        <p:spPr>
          <a:xfrm rot="16200000">
            <a:off x="12307358" y="5778585"/>
            <a:ext cx="324000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矩形 18"/>
          <p:cNvSpPr/>
          <p:nvPr/>
        </p:nvSpPr>
        <p:spPr>
          <a:xfrm>
            <a:off x="10782938" y="3320484"/>
            <a:ext cx="3240000" cy="324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文字方塊 19"/>
          <p:cNvSpPr txBox="1"/>
          <p:nvPr/>
        </p:nvSpPr>
        <p:spPr>
          <a:xfrm>
            <a:off x="9078534" y="6428126"/>
            <a:ext cx="2410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layer</a:t>
            </a:r>
            <a:endParaRPr lang="zh-TW" altLang="en-US" sz="36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20167" y="2597229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layer</a:t>
            </a:r>
            <a:endParaRPr lang="zh-TW" altLang="en-US" sz="3600" dirty="0"/>
          </a:p>
        </p:txBody>
      </p:sp>
      <p:cxnSp>
        <p:nvCxnSpPr>
          <p:cNvPr id="22" name="直線單箭頭接點 21"/>
          <p:cNvCxnSpPr/>
          <p:nvPr/>
        </p:nvCxnSpPr>
        <p:spPr>
          <a:xfrm flipV="1">
            <a:off x="12479691" y="6112214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12402938" y="3544253"/>
            <a:ext cx="0" cy="5111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-右雙向箭號 25"/>
          <p:cNvSpPr/>
          <p:nvPr/>
        </p:nvSpPr>
        <p:spPr>
          <a:xfrm>
            <a:off x="8069453" y="3194865"/>
            <a:ext cx="2510861" cy="3931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左-右雙向箭號 26"/>
          <p:cNvSpPr/>
          <p:nvPr/>
        </p:nvSpPr>
        <p:spPr>
          <a:xfrm>
            <a:off x="6336837" y="4420994"/>
            <a:ext cx="5885855" cy="38360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文字方塊 27"/>
          <p:cNvSpPr txBox="1"/>
          <p:nvPr/>
        </p:nvSpPr>
        <p:spPr>
          <a:xfrm>
            <a:off x="8001603" y="2476867"/>
            <a:ext cx="27648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output close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721286" y="3818213"/>
            <a:ext cx="3679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parameter close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15" grpId="0" bldLvl="0" animBg="1"/>
      <p:bldP spid="16" grpId="0"/>
      <p:bldP spid="17" grpId="0" bldLvl="0" animBg="1"/>
      <p:bldP spid="18" grpId="0" bldLvl="0" animBg="1"/>
      <p:bldP spid="19" grpId="0" bldLvl="0" animBg="1"/>
      <p:bldP spid="20" grpId="0"/>
      <p:bldP spid="21" grpId="0"/>
      <p:bldP spid="26" grpId="0" bldLvl="0" animBg="1"/>
      <p:bldP spid="27" grpId="0" bldLvl="0" animBg="1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079877" y="2046936"/>
            <a:ext cx="4144310" cy="6378930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</a:t>
            </a:r>
          </a:p>
        </p:txBody>
      </p:sp>
      <p:sp>
        <p:nvSpPr>
          <p:cNvPr id="4" name="矩形 3"/>
          <p:cNvSpPr/>
          <p:nvPr/>
        </p:nvSpPr>
        <p:spPr>
          <a:xfrm rot="16200000">
            <a:off x="6015768" y="6202617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4521143" y="2745921"/>
            <a:ext cx="3240000" cy="346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4914791" y="3807686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4934808" y="4879737"/>
            <a:ext cx="2425328" cy="3097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4956930" y="5979443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4308945" y="7437224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 layer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244682" y="2046936"/>
            <a:ext cx="3765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Output layer</a:t>
            </a:r>
            <a:endParaRPr lang="zh-TW" altLang="en-US" sz="3600" dirty="0"/>
          </a:p>
        </p:txBody>
      </p:sp>
      <p:sp>
        <p:nvSpPr>
          <p:cNvPr id="13" name="向右箭號 12"/>
          <p:cNvSpPr/>
          <p:nvPr/>
        </p:nvSpPr>
        <p:spPr>
          <a:xfrm rot="16200000">
            <a:off x="5877854" y="4188854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向右箭號 13"/>
          <p:cNvSpPr/>
          <p:nvPr/>
        </p:nvSpPr>
        <p:spPr>
          <a:xfrm rot="16200000">
            <a:off x="5879957" y="5282123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右箭號 14"/>
          <p:cNvSpPr/>
          <p:nvPr/>
        </p:nvSpPr>
        <p:spPr>
          <a:xfrm rot="16200000">
            <a:off x="5877855" y="636704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向右箭號 17"/>
          <p:cNvSpPr/>
          <p:nvPr/>
        </p:nvSpPr>
        <p:spPr>
          <a:xfrm rot="16200000">
            <a:off x="5857833" y="3140075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文字方塊 41"/>
          <p:cNvSpPr txBox="1"/>
          <p:nvPr/>
        </p:nvSpPr>
        <p:spPr>
          <a:xfrm>
            <a:off x="10369082" y="1894708"/>
            <a:ext cx="53547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Copy some parameters</a:t>
            </a:r>
            <a:endParaRPr lang="zh-TW" altLang="en-US" sz="4200" dirty="0"/>
          </a:p>
        </p:txBody>
      </p:sp>
      <p:cxnSp>
        <p:nvCxnSpPr>
          <p:cNvPr id="45" name="直線單箭頭接點 44"/>
          <p:cNvCxnSpPr/>
          <p:nvPr/>
        </p:nvCxnSpPr>
        <p:spPr>
          <a:xfrm flipH="1">
            <a:off x="10979834" y="5591015"/>
            <a:ext cx="203344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流程圖: 磁碟 43"/>
          <p:cNvSpPr/>
          <p:nvPr/>
        </p:nvSpPr>
        <p:spPr>
          <a:xfrm>
            <a:off x="13187388" y="5142318"/>
            <a:ext cx="1008090" cy="1075629"/>
          </a:xfrm>
          <a:prstGeom prst="flowChartMagneticDisk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dirty="0"/>
          </a:p>
        </p:txBody>
      </p:sp>
      <p:sp>
        <p:nvSpPr>
          <p:cNvPr id="46" name="矩形 45"/>
          <p:cNvSpPr/>
          <p:nvPr/>
        </p:nvSpPr>
        <p:spPr>
          <a:xfrm>
            <a:off x="12369164" y="6252462"/>
            <a:ext cx="302878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/>
              <a:t>Target </a:t>
            </a:r>
            <a:r>
              <a:rPr lang="en-US" altLang="zh-TW" sz="3600" dirty="0"/>
              <a:t>data</a:t>
            </a:r>
            <a:endParaRPr lang="zh-TW" altLang="en-US" sz="3600" dirty="0"/>
          </a:p>
        </p:txBody>
      </p:sp>
      <p:sp>
        <p:nvSpPr>
          <p:cNvPr id="43" name="流程圖: 磁碟 42"/>
          <p:cNvSpPr/>
          <p:nvPr/>
        </p:nvSpPr>
        <p:spPr>
          <a:xfrm>
            <a:off x="2460906" y="7132790"/>
            <a:ext cx="2443880" cy="2023250"/>
          </a:xfrm>
          <a:prstGeom prst="flowChartMagneticDisk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Source data </a:t>
            </a:r>
          </a:p>
        </p:txBody>
      </p:sp>
      <p:sp>
        <p:nvSpPr>
          <p:cNvPr id="47" name="矩形 46"/>
          <p:cNvSpPr/>
          <p:nvPr/>
        </p:nvSpPr>
        <p:spPr>
          <a:xfrm rot="16200000">
            <a:off x="10313243" y="6202617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8" name="矩形 47"/>
          <p:cNvSpPr/>
          <p:nvPr/>
        </p:nvSpPr>
        <p:spPr>
          <a:xfrm>
            <a:off x="8818617" y="2745921"/>
            <a:ext cx="3240000" cy="346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矩形 48"/>
          <p:cNvSpPr/>
          <p:nvPr/>
        </p:nvSpPr>
        <p:spPr>
          <a:xfrm>
            <a:off x="9212265" y="3807686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矩形 49"/>
          <p:cNvSpPr/>
          <p:nvPr/>
        </p:nvSpPr>
        <p:spPr>
          <a:xfrm>
            <a:off x="9232283" y="4879737"/>
            <a:ext cx="2425328" cy="3097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1" name="矩形 50"/>
          <p:cNvSpPr/>
          <p:nvPr/>
        </p:nvSpPr>
        <p:spPr>
          <a:xfrm>
            <a:off x="9254405" y="5979443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向右箭號 12"/>
          <p:cNvSpPr/>
          <p:nvPr/>
        </p:nvSpPr>
        <p:spPr>
          <a:xfrm rot="16200000">
            <a:off x="10175328" y="4188854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向右箭號 13"/>
          <p:cNvSpPr/>
          <p:nvPr/>
        </p:nvSpPr>
        <p:spPr>
          <a:xfrm rot="16200000">
            <a:off x="10177431" y="5282123"/>
            <a:ext cx="539238" cy="61943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7" name="向右箭號 14"/>
          <p:cNvSpPr/>
          <p:nvPr/>
        </p:nvSpPr>
        <p:spPr>
          <a:xfrm rot="16200000">
            <a:off x="10175330" y="636704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8" name="向右箭號 17"/>
          <p:cNvSpPr/>
          <p:nvPr/>
        </p:nvSpPr>
        <p:spPr>
          <a:xfrm rot="16200000">
            <a:off x="10155308" y="3140075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6610899" y="3449790"/>
            <a:ext cx="33136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6589892" y="4542111"/>
            <a:ext cx="33136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589892" y="6698532"/>
            <a:ext cx="33136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8419772" y="7477011"/>
            <a:ext cx="758222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1. Only train the rest layers (prevent overfitting)</a:t>
            </a:r>
          </a:p>
        </p:txBody>
      </p:sp>
      <p:sp>
        <p:nvSpPr>
          <p:cNvPr id="63" name="文字方塊 62"/>
          <p:cNvSpPr txBox="1"/>
          <p:nvPr/>
        </p:nvSpPr>
        <p:spPr>
          <a:xfrm>
            <a:off x="8377260" y="8762378"/>
            <a:ext cx="7135413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2. fine-tune the whole network (if there is sufficient data)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 bldLvl="0" animBg="1"/>
      <p:bldP spid="46" grpId="0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62" grpId="0"/>
      <p:bldP spid="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Which layer can be transferred (copied)?</a:t>
            </a:r>
          </a:p>
          <a:p>
            <a:pPr lvl="1"/>
            <a:r>
              <a:rPr lang="en-US" altLang="zh-TW" sz="4200" dirty="0"/>
              <a:t>Speech: usually copy the last few layers</a:t>
            </a:r>
          </a:p>
          <a:p>
            <a:pPr lvl="1"/>
            <a:r>
              <a:rPr lang="en-US" altLang="zh-TW" sz="4200" dirty="0"/>
              <a:t>Image: usually copy the first few layers</a:t>
            </a:r>
            <a:endParaRPr lang="zh-TW" altLang="en-US" sz="4200" dirty="0"/>
          </a:p>
          <a:p>
            <a:pPr lvl="1"/>
            <a:endParaRPr lang="zh-TW" altLang="en-US" sz="4200" dirty="0"/>
          </a:p>
        </p:txBody>
      </p:sp>
      <p:grpSp>
        <p:nvGrpSpPr>
          <p:cNvPr id="100" name="群組 99"/>
          <p:cNvGrpSpPr/>
          <p:nvPr/>
        </p:nvGrpSpPr>
        <p:grpSpPr>
          <a:xfrm>
            <a:off x="4656422" y="5199183"/>
            <a:ext cx="11259422" cy="4106775"/>
            <a:chOff x="1738315" y="2789954"/>
            <a:chExt cx="7506281" cy="2737850"/>
          </a:xfrm>
        </p:grpSpPr>
        <p:grpSp>
          <p:nvGrpSpPr>
            <p:cNvPr id="21" name="群組 20"/>
            <p:cNvGrpSpPr/>
            <p:nvPr/>
          </p:nvGrpSpPr>
          <p:grpSpPr>
            <a:xfrm>
              <a:off x="2200488" y="2789954"/>
              <a:ext cx="7044108" cy="2737850"/>
              <a:chOff x="2588425" y="2840376"/>
              <a:chExt cx="7044108" cy="2737850"/>
            </a:xfrm>
          </p:grpSpPr>
          <p:sp>
            <p:nvSpPr>
              <p:cNvPr id="22" name="文字方塊 21"/>
              <p:cNvSpPr txBox="1"/>
              <p:nvPr/>
            </p:nvSpPr>
            <p:spPr>
              <a:xfrm>
                <a:off x="3742311" y="2840447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Layer 1</a:t>
                </a:r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4877179" y="2842906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Layer 2</a:t>
                </a:r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6852222" y="2842972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Layer L</a:t>
                </a: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994986" y="3340430"/>
                <a:ext cx="629298" cy="22190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5129092" y="3359141"/>
                <a:ext cx="629298" cy="22190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7104351" y="3354936"/>
                <a:ext cx="629298" cy="22190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2957483" y="3382571"/>
                <a:ext cx="420703" cy="21769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cxnSp>
            <p:nvCxnSpPr>
              <p:cNvPr id="29" name="直線單箭頭接點 28"/>
              <p:cNvCxnSpPr/>
              <p:nvPr/>
            </p:nvCxnSpPr>
            <p:spPr>
              <a:xfrm>
                <a:off x="7431641" y="4273249"/>
                <a:ext cx="85885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/>
              <p:cNvCxnSpPr/>
              <p:nvPr/>
            </p:nvCxnSpPr>
            <p:spPr>
              <a:xfrm>
                <a:off x="7523814" y="5306460"/>
                <a:ext cx="76370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單箭頭接點 30"/>
              <p:cNvCxnSpPr/>
              <p:nvPr/>
            </p:nvCxnSpPr>
            <p:spPr>
              <a:xfrm>
                <a:off x="7411503" y="3627392"/>
                <a:ext cx="88564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矩形 31"/>
              <p:cNvSpPr/>
              <p:nvPr/>
            </p:nvSpPr>
            <p:spPr>
              <a:xfrm>
                <a:off x="3017562" y="4007396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022467" y="3534424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graphicFrame>
            <p:nvGraphicFramePr>
              <p:cNvPr id="34" name="Object 12"/>
              <p:cNvGraphicFramePr>
                <a:graphicFrameLocks noChangeAspect="1"/>
              </p:cNvGraphicFramePr>
              <p:nvPr/>
            </p:nvGraphicFramePr>
            <p:xfrm>
              <a:off x="3033175" y="3455434"/>
              <a:ext cx="274401" cy="383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3" imgW="3657600" imgH="5181600" progId="Equation.3">
                      <p:embed/>
                    </p:oleObj>
                  </mc:Choice>
                  <mc:Fallback>
                    <p:oleObj name="方程式" r:id="rId3" imgW="3657600" imgH="5181600" progId="Equation.3">
                      <p:embed/>
                      <p:pic>
                        <p:nvPicPr>
                          <p:cNvPr id="34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3175" y="3455434"/>
                            <a:ext cx="274401" cy="383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12"/>
              <p:cNvGraphicFramePr>
                <a:graphicFrameLocks noChangeAspect="1"/>
              </p:cNvGraphicFramePr>
              <p:nvPr/>
            </p:nvGraphicFramePr>
            <p:xfrm>
              <a:off x="3037640" y="3938688"/>
              <a:ext cx="297156" cy="383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5" imgW="3962400" imgH="5181600" progId="Equation.3">
                      <p:embed/>
                    </p:oleObj>
                  </mc:Choice>
                  <mc:Fallback>
                    <p:oleObj name="方程式" r:id="rId5" imgW="3962400" imgH="5181600" progId="Equation.3">
                      <p:embed/>
                      <p:pic>
                        <p:nvPicPr>
                          <p:cNvPr id="35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7640" y="3938688"/>
                            <a:ext cx="297156" cy="3831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橢圓 35"/>
              <p:cNvSpPr/>
              <p:nvPr/>
            </p:nvSpPr>
            <p:spPr>
              <a:xfrm>
                <a:off x="4094415" y="339841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7" name="橢圓 36"/>
              <p:cNvSpPr/>
              <p:nvPr/>
            </p:nvSpPr>
            <p:spPr>
              <a:xfrm>
                <a:off x="4096390" y="4044082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8" name="橢圓 37"/>
              <p:cNvSpPr/>
              <p:nvPr/>
            </p:nvSpPr>
            <p:spPr>
              <a:xfrm>
                <a:off x="4086581" y="506246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 rot="5400000">
                <a:off x="3925896" y="4538719"/>
                <a:ext cx="993736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3011470" y="5190728"/>
                <a:ext cx="289125" cy="28436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 rot="5400000">
                <a:off x="2741626" y="4541508"/>
                <a:ext cx="1061391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5203665" y="3398418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3" name="橢圓 42"/>
              <p:cNvSpPr/>
              <p:nvPr/>
            </p:nvSpPr>
            <p:spPr>
              <a:xfrm>
                <a:off x="5205640" y="4044082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5195831" y="506246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5" name="文字方塊 44"/>
              <p:cNvSpPr txBox="1"/>
              <p:nvPr/>
            </p:nvSpPr>
            <p:spPr>
              <a:xfrm rot="5400000">
                <a:off x="5078862" y="4531204"/>
                <a:ext cx="927498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46" name="橢圓 45"/>
              <p:cNvSpPr/>
              <p:nvPr/>
            </p:nvSpPr>
            <p:spPr>
              <a:xfrm>
                <a:off x="7169445" y="3397077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7171420" y="402726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8" name="橢圓 47"/>
              <p:cNvSpPr/>
              <p:nvPr/>
            </p:nvSpPr>
            <p:spPr>
              <a:xfrm>
                <a:off x="7177345" y="5061126"/>
                <a:ext cx="484116" cy="47614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9" name="文字方塊 48"/>
              <p:cNvSpPr txBox="1"/>
              <p:nvPr/>
            </p:nvSpPr>
            <p:spPr>
              <a:xfrm rot="5400000">
                <a:off x="7076005" y="4512423"/>
                <a:ext cx="895618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50" name="文字方塊 49"/>
              <p:cNvSpPr txBox="1"/>
              <p:nvPr/>
            </p:nvSpPr>
            <p:spPr>
              <a:xfrm>
                <a:off x="8160011" y="3283441"/>
                <a:ext cx="999205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sp>
            <p:nvSpPr>
              <p:cNvPr id="51" name="文字方塊 50"/>
              <p:cNvSpPr txBox="1"/>
              <p:nvPr/>
            </p:nvSpPr>
            <p:spPr>
              <a:xfrm>
                <a:off x="8160011" y="4035522"/>
                <a:ext cx="1472522" cy="430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600" dirty="0"/>
                  <a:t>Lion</a:t>
                </a:r>
              </a:p>
            </p:txBody>
          </p:sp>
          <p:sp>
            <p:nvSpPr>
              <p:cNvPr id="52" name="文字方塊 51"/>
              <p:cNvSpPr txBox="1"/>
              <p:nvPr/>
            </p:nvSpPr>
            <p:spPr>
              <a:xfrm>
                <a:off x="8197061" y="4960232"/>
                <a:ext cx="925102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……</a:t>
                </a:r>
                <a:endParaRPr lang="zh-TW" altLang="en-US" sz="4200" dirty="0"/>
              </a:p>
            </p:txBody>
          </p:sp>
          <p:cxnSp>
            <p:nvCxnSpPr>
              <p:cNvPr id="53" name="直線單箭頭接點 52"/>
              <p:cNvCxnSpPr>
                <a:stCxn id="36" idx="6"/>
                <a:endCxn id="42" idx="2"/>
              </p:cNvCxnSpPr>
              <p:nvPr/>
            </p:nvCxnSpPr>
            <p:spPr>
              <a:xfrm>
                <a:off x="4578532" y="3636491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單箭頭接點 53"/>
              <p:cNvCxnSpPr/>
              <p:nvPr/>
            </p:nvCxnSpPr>
            <p:spPr>
              <a:xfrm>
                <a:off x="4578532" y="4293087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單箭頭接點 54"/>
              <p:cNvCxnSpPr/>
              <p:nvPr/>
            </p:nvCxnSpPr>
            <p:spPr>
              <a:xfrm>
                <a:off x="4570698" y="5306460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單箭頭接點 55"/>
              <p:cNvCxnSpPr>
                <a:stCxn id="37" idx="6"/>
                <a:endCxn id="42" idx="2"/>
              </p:cNvCxnSpPr>
              <p:nvPr/>
            </p:nvCxnSpPr>
            <p:spPr>
              <a:xfrm flipV="1">
                <a:off x="4580506" y="3636491"/>
                <a:ext cx="62315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56"/>
              <p:cNvCxnSpPr>
                <a:stCxn id="36" idx="6"/>
                <a:endCxn id="43" idx="2"/>
              </p:cNvCxnSpPr>
              <p:nvPr/>
            </p:nvCxnSpPr>
            <p:spPr>
              <a:xfrm>
                <a:off x="4578532" y="3636491"/>
                <a:ext cx="62710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單箭頭接點 57"/>
              <p:cNvCxnSpPr>
                <a:stCxn id="36" idx="6"/>
                <a:endCxn id="44" idx="2"/>
              </p:cNvCxnSpPr>
              <p:nvPr/>
            </p:nvCxnSpPr>
            <p:spPr>
              <a:xfrm>
                <a:off x="4578532" y="3636491"/>
                <a:ext cx="617300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單箭頭接點 58"/>
              <p:cNvCxnSpPr>
                <a:stCxn id="37" idx="6"/>
                <a:endCxn id="44" idx="2"/>
              </p:cNvCxnSpPr>
              <p:nvPr/>
            </p:nvCxnSpPr>
            <p:spPr>
              <a:xfrm>
                <a:off x="4580506" y="4282155"/>
                <a:ext cx="615325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單箭頭接點 59"/>
              <p:cNvCxnSpPr>
                <a:stCxn id="38" idx="6"/>
                <a:endCxn id="42" idx="2"/>
              </p:cNvCxnSpPr>
              <p:nvPr/>
            </p:nvCxnSpPr>
            <p:spPr>
              <a:xfrm flipV="1">
                <a:off x="4570698" y="3636491"/>
                <a:ext cx="632968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單箭頭接點 60"/>
              <p:cNvCxnSpPr>
                <a:stCxn id="38" idx="6"/>
                <a:endCxn id="43" idx="2"/>
              </p:cNvCxnSpPr>
              <p:nvPr/>
            </p:nvCxnSpPr>
            <p:spPr>
              <a:xfrm flipV="1">
                <a:off x="4570698" y="4282155"/>
                <a:ext cx="634943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單箭頭接點 61"/>
              <p:cNvCxnSpPr>
                <a:endCxn id="36" idx="2"/>
              </p:cNvCxnSpPr>
              <p:nvPr/>
            </p:nvCxnSpPr>
            <p:spPr>
              <a:xfrm flipV="1">
                <a:off x="3369790" y="3636491"/>
                <a:ext cx="724625" cy="2487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單箭頭接點 62"/>
              <p:cNvCxnSpPr>
                <a:stCxn id="33" idx="3"/>
                <a:endCxn id="37" idx="2"/>
              </p:cNvCxnSpPr>
              <p:nvPr/>
            </p:nvCxnSpPr>
            <p:spPr>
              <a:xfrm>
                <a:off x="3311592" y="3676607"/>
                <a:ext cx="784798" cy="60554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單箭頭接點 63"/>
              <p:cNvCxnSpPr>
                <a:stCxn id="33" idx="3"/>
                <a:endCxn id="38" idx="1"/>
              </p:cNvCxnSpPr>
              <p:nvPr/>
            </p:nvCxnSpPr>
            <p:spPr>
              <a:xfrm>
                <a:off x="3311592" y="3676607"/>
                <a:ext cx="845886" cy="145558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單箭頭接點 64"/>
              <p:cNvCxnSpPr>
                <a:stCxn id="35" idx="3"/>
                <a:endCxn id="36" idx="2"/>
              </p:cNvCxnSpPr>
              <p:nvPr/>
            </p:nvCxnSpPr>
            <p:spPr>
              <a:xfrm flipV="1">
                <a:off x="3334797" y="3636491"/>
                <a:ext cx="759619" cy="4937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單箭頭接點 65"/>
              <p:cNvCxnSpPr>
                <a:stCxn id="32" idx="3"/>
                <a:endCxn id="37" idx="2"/>
              </p:cNvCxnSpPr>
              <p:nvPr/>
            </p:nvCxnSpPr>
            <p:spPr>
              <a:xfrm>
                <a:off x="3306687" y="4149578"/>
                <a:ext cx="789703" cy="1325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單箭頭接點 66"/>
              <p:cNvCxnSpPr>
                <a:stCxn id="32" idx="3"/>
                <a:endCxn id="38" idx="1"/>
              </p:cNvCxnSpPr>
              <p:nvPr/>
            </p:nvCxnSpPr>
            <p:spPr>
              <a:xfrm>
                <a:off x="3306687" y="4149578"/>
                <a:ext cx="850791" cy="9826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/>
              <p:cNvCxnSpPr>
                <a:stCxn id="71" idx="3"/>
                <a:endCxn id="36" idx="2"/>
              </p:cNvCxnSpPr>
              <p:nvPr/>
            </p:nvCxnSpPr>
            <p:spPr>
              <a:xfrm flipV="1">
                <a:off x="3363189" y="3636491"/>
                <a:ext cx="731227" cy="167573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單箭頭接點 68"/>
              <p:cNvCxnSpPr>
                <a:stCxn id="71" idx="3"/>
                <a:endCxn id="37" idx="2"/>
              </p:cNvCxnSpPr>
              <p:nvPr/>
            </p:nvCxnSpPr>
            <p:spPr>
              <a:xfrm flipV="1">
                <a:off x="3363189" y="4282155"/>
                <a:ext cx="733201" cy="10300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單箭頭接點 69"/>
              <p:cNvCxnSpPr>
                <a:stCxn id="71" idx="3"/>
                <a:endCxn id="38" idx="1"/>
              </p:cNvCxnSpPr>
              <p:nvPr/>
            </p:nvCxnSpPr>
            <p:spPr>
              <a:xfrm flipV="1">
                <a:off x="3363189" y="5132196"/>
                <a:ext cx="794289" cy="18002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1" name="Object 12"/>
              <p:cNvGraphicFramePr>
                <a:graphicFrameLocks noChangeAspect="1"/>
              </p:cNvGraphicFramePr>
              <p:nvPr/>
            </p:nvGraphicFramePr>
            <p:xfrm>
              <a:off x="3020522" y="5109482"/>
              <a:ext cx="342667" cy="4054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方程式" r:id="rId7" imgW="4572000" imgH="5486400" progId="Equation.3">
                      <p:embed/>
                    </p:oleObj>
                  </mc:Choice>
                  <mc:Fallback>
                    <p:oleObj name="方程式" r:id="rId7" imgW="4572000" imgH="5486400" progId="Equation.3">
                      <p:embed/>
                      <p:pic>
                        <p:nvPicPr>
                          <p:cNvPr id="71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0522" y="5109482"/>
                            <a:ext cx="342667" cy="4054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2" name="直線單箭頭接點 71"/>
              <p:cNvCxnSpPr/>
              <p:nvPr/>
            </p:nvCxnSpPr>
            <p:spPr>
              <a:xfrm>
                <a:off x="6512640" y="3656983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單箭頭接點 72"/>
              <p:cNvCxnSpPr/>
              <p:nvPr/>
            </p:nvCxnSpPr>
            <p:spPr>
              <a:xfrm>
                <a:off x="6512640" y="4313580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單箭頭接點 73"/>
              <p:cNvCxnSpPr/>
              <p:nvPr/>
            </p:nvCxnSpPr>
            <p:spPr>
              <a:xfrm>
                <a:off x="6504806" y="5326953"/>
                <a:ext cx="62513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單箭頭接點 74"/>
              <p:cNvCxnSpPr/>
              <p:nvPr/>
            </p:nvCxnSpPr>
            <p:spPr>
              <a:xfrm flipV="1">
                <a:off x="6514615" y="3656983"/>
                <a:ext cx="62315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單箭頭接點 75"/>
              <p:cNvCxnSpPr/>
              <p:nvPr/>
            </p:nvCxnSpPr>
            <p:spPr>
              <a:xfrm>
                <a:off x="6512640" y="3656983"/>
                <a:ext cx="627109" cy="6456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單箭頭接點 76"/>
              <p:cNvCxnSpPr/>
              <p:nvPr/>
            </p:nvCxnSpPr>
            <p:spPr>
              <a:xfrm>
                <a:off x="6512640" y="3656983"/>
                <a:ext cx="617300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單箭頭接點 77"/>
              <p:cNvCxnSpPr/>
              <p:nvPr/>
            </p:nvCxnSpPr>
            <p:spPr>
              <a:xfrm>
                <a:off x="6514615" y="4302648"/>
                <a:ext cx="615325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單箭頭接點 78"/>
              <p:cNvCxnSpPr/>
              <p:nvPr/>
            </p:nvCxnSpPr>
            <p:spPr>
              <a:xfrm flipV="1">
                <a:off x="6504806" y="3656983"/>
                <a:ext cx="632968" cy="16640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單箭頭接點 79"/>
              <p:cNvCxnSpPr/>
              <p:nvPr/>
            </p:nvCxnSpPr>
            <p:spPr>
              <a:xfrm flipV="1">
                <a:off x="6504806" y="4302648"/>
                <a:ext cx="634943" cy="101838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字方塊 81"/>
              <p:cNvSpPr txBox="1"/>
              <p:nvPr/>
            </p:nvSpPr>
            <p:spPr>
              <a:xfrm>
                <a:off x="2588425" y="2840376"/>
                <a:ext cx="1134648" cy="38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200" dirty="0"/>
                  <a:t>Pixels</a:t>
                </a:r>
              </a:p>
            </p:txBody>
          </p:sp>
        </p:grpSp>
        <p:sp>
          <p:nvSpPr>
            <p:cNvPr id="90" name="文字方塊 89"/>
            <p:cNvSpPr txBox="1"/>
            <p:nvPr/>
          </p:nvSpPr>
          <p:spPr>
            <a:xfrm>
              <a:off x="5267534" y="4901451"/>
              <a:ext cx="92510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5269305" y="3871516"/>
              <a:ext cx="92510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5242090" y="3260491"/>
              <a:ext cx="925102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200" dirty="0"/>
                <a:t>……</a:t>
              </a:r>
              <a:endParaRPr lang="zh-TW" altLang="en-US" sz="4200" dirty="0"/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1738315" y="4099324"/>
              <a:ext cx="831003" cy="466937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pic>
        <p:nvPicPr>
          <p:cNvPr id="94" name="圖片 9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3652" y="6012432"/>
            <a:ext cx="564213" cy="564213"/>
          </a:xfrm>
          <a:prstGeom prst="rect">
            <a:avLst/>
          </a:prstGeom>
        </p:spPr>
      </p:pic>
      <p:pic>
        <p:nvPicPr>
          <p:cNvPr id="95" name="圖片 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8664" y="7013632"/>
            <a:ext cx="595031" cy="545418"/>
          </a:xfrm>
          <a:prstGeom prst="rect">
            <a:avLst/>
          </a:prstGeom>
        </p:spPr>
      </p:pic>
      <p:pic>
        <p:nvPicPr>
          <p:cNvPr id="96" name="圖片 9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2897" y="8526207"/>
            <a:ext cx="565694" cy="577007"/>
          </a:xfrm>
          <a:prstGeom prst="rect">
            <a:avLst/>
          </a:prstGeom>
        </p:spPr>
      </p:pic>
      <p:pic>
        <p:nvPicPr>
          <p:cNvPr id="97" name="圖片 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6144" y="6038450"/>
            <a:ext cx="628650" cy="628650"/>
          </a:xfrm>
          <a:prstGeom prst="rect">
            <a:avLst/>
          </a:prstGeom>
        </p:spPr>
      </p:pic>
      <p:pic>
        <p:nvPicPr>
          <p:cNvPr id="98" name="圖片 9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6015" y="7019301"/>
            <a:ext cx="614363" cy="685800"/>
          </a:xfrm>
          <a:prstGeom prst="rect">
            <a:avLst/>
          </a:prstGeom>
        </p:spPr>
      </p:pic>
      <p:pic>
        <p:nvPicPr>
          <p:cNvPr id="99" name="圖片 9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6288" y="8525957"/>
            <a:ext cx="671513" cy="614363"/>
          </a:xfrm>
          <a:prstGeom prst="rect">
            <a:avLst/>
          </a:prstGeom>
        </p:spPr>
      </p:pic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15"/>
          <a:stretch>
            <a:fillRect/>
          </a:stretch>
        </p:blipFill>
        <p:spPr>
          <a:xfrm>
            <a:off x="2004695" y="6534785"/>
            <a:ext cx="2997835" cy="1903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 - Image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26" y="2259465"/>
            <a:ext cx="12773025" cy="68449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73284" y="9104454"/>
            <a:ext cx="10693855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Lucida Grande"/>
              </a:rPr>
              <a:t>Jason </a:t>
            </a:r>
            <a:r>
              <a:rPr lang="en-US" altLang="zh-TW" sz="100" dirty="0" err="1">
                <a:latin typeface="Lucida Grande"/>
              </a:rPr>
              <a:t>Yosinski</a:t>
            </a:r>
            <a:r>
              <a:rPr lang="en-US" altLang="zh-TW" sz="100" dirty="0">
                <a:latin typeface="Lucida Grande"/>
              </a:rPr>
              <a:t>, Jeff </a:t>
            </a:r>
            <a:r>
              <a:rPr lang="en-US" altLang="zh-TW" sz="100" dirty="0" err="1">
                <a:latin typeface="Lucida Grande"/>
              </a:rPr>
              <a:t>Clune</a:t>
            </a:r>
            <a:r>
              <a:rPr lang="en-US" altLang="zh-TW" sz="100" dirty="0">
                <a:latin typeface="Lucida Grande"/>
              </a:rPr>
              <a:t>, Yoshua </a:t>
            </a:r>
            <a:r>
              <a:rPr lang="en-US" altLang="zh-TW" sz="100" dirty="0" err="1">
                <a:latin typeface="Lucida Grande"/>
              </a:rPr>
              <a:t>Bengio</a:t>
            </a:r>
            <a:r>
              <a:rPr lang="en-US" altLang="zh-TW" sz="100" dirty="0"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Hod</a:t>
            </a:r>
            <a:r>
              <a:rPr lang="en-US" altLang="zh-TW" sz="100" dirty="0">
                <a:latin typeface="Lucida Grande"/>
              </a:rPr>
              <a:t> Lipson, “</a:t>
            </a:r>
            <a:r>
              <a:rPr lang="en-US" altLang="zh-TW" sz="100" dirty="0"/>
              <a:t>How transferable are features in deep neural networks?</a:t>
            </a:r>
            <a:r>
              <a:rPr lang="en-US" altLang="zh-TW" sz="100" dirty="0">
                <a:latin typeface="Lucida Grande"/>
              </a:rPr>
              <a:t>”, NIPS, 2014</a:t>
            </a:r>
            <a:endParaRPr lang="zh-TW" altLang="en-US" sz="1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713741" y="6644982"/>
            <a:ext cx="3123027" cy="11988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Only train the rest layers</a:t>
            </a:r>
            <a:endParaRPr lang="zh-TW" altLang="en-US" sz="36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783509" y="4372875"/>
            <a:ext cx="3515591" cy="11988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fine-tune the whole network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73284" y="5865134"/>
            <a:ext cx="476894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Source: 500 classes from ImageNet 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3955062" y="7015716"/>
            <a:ext cx="4768949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Target: another 500 classes from ImageNet 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12836768" y="6644982"/>
            <a:ext cx="844064" cy="4666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6713804" y="3283664"/>
            <a:ext cx="742074" cy="10767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763109" y="8262212"/>
            <a:ext cx="11479236" cy="8422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3867777" y="3581019"/>
            <a:ext cx="401768" cy="4915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/>
      <p:bldP spid="10" grpId="0"/>
      <p:bldP spid="15" grpId="0" bldLvl="0" animBg="1"/>
      <p:bldP spid="1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Layer Transfer - Image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517" y="2536034"/>
            <a:ext cx="13467483" cy="638778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73284" y="9104454"/>
            <a:ext cx="10693855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Lucida Grande"/>
              </a:rPr>
              <a:t>Jason </a:t>
            </a:r>
            <a:r>
              <a:rPr lang="en-US" altLang="zh-TW" sz="100" dirty="0" err="1">
                <a:latin typeface="Lucida Grande"/>
              </a:rPr>
              <a:t>Yosinski</a:t>
            </a:r>
            <a:r>
              <a:rPr lang="en-US" altLang="zh-TW" sz="100" dirty="0">
                <a:latin typeface="Lucida Grande"/>
              </a:rPr>
              <a:t>, Jeff </a:t>
            </a:r>
            <a:r>
              <a:rPr lang="en-US" altLang="zh-TW" sz="100" dirty="0" err="1">
                <a:latin typeface="Lucida Grande"/>
              </a:rPr>
              <a:t>Clune</a:t>
            </a:r>
            <a:r>
              <a:rPr lang="en-US" altLang="zh-TW" sz="100" dirty="0">
                <a:latin typeface="Lucida Grande"/>
              </a:rPr>
              <a:t>, Yoshua </a:t>
            </a:r>
            <a:r>
              <a:rPr lang="en-US" altLang="zh-TW" sz="100" dirty="0" err="1">
                <a:latin typeface="Lucida Grande"/>
              </a:rPr>
              <a:t>Bengio</a:t>
            </a:r>
            <a:r>
              <a:rPr lang="en-US" altLang="zh-TW" sz="100" dirty="0"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Hod</a:t>
            </a:r>
            <a:r>
              <a:rPr lang="en-US" altLang="zh-TW" sz="100" dirty="0">
                <a:latin typeface="Lucida Grande"/>
              </a:rPr>
              <a:t> Lipson, “</a:t>
            </a:r>
            <a:r>
              <a:rPr lang="en-US" altLang="zh-TW" sz="100" dirty="0"/>
              <a:t>How transferable are features in deep neural networks?</a:t>
            </a:r>
            <a:r>
              <a:rPr lang="en-US" altLang="zh-TW" sz="100" dirty="0">
                <a:latin typeface="Lucida Grande"/>
              </a:rPr>
              <a:t>”, NIPS, 2014</a:t>
            </a:r>
            <a:endParaRPr lang="zh-TW" altLang="en-US" sz="1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2407486" y="2003103"/>
            <a:ext cx="3123027" cy="11988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Only train the rest layers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Multitask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325534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Dr. Yan Yan</a:t>
            </a:r>
            <a:endParaRPr lang="en-US" altLang="zh-TW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98594" y="2536033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992590" y="5634785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92590" y="4787499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Multitask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multi-layer structure makes NN suitable for multitask learning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 rot="16200000">
            <a:off x="4995980" y="7578675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3048959" y="4306491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2855471" y="5345533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3892538" y="6632500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3895000" y="7532086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右箭號 8"/>
          <p:cNvSpPr/>
          <p:nvPr/>
        </p:nvSpPr>
        <p:spPr>
          <a:xfrm rot="16200000">
            <a:off x="3560096" y="4644028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文字方塊 10"/>
          <p:cNvSpPr txBox="1"/>
          <p:nvPr/>
        </p:nvSpPr>
        <p:spPr>
          <a:xfrm>
            <a:off x="5783224" y="7973083"/>
            <a:ext cx="245567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 feature</a:t>
            </a:r>
          </a:p>
        </p:txBody>
      </p:sp>
      <p:sp>
        <p:nvSpPr>
          <p:cNvPr id="13" name="向右箭號 12"/>
          <p:cNvSpPr/>
          <p:nvPr/>
        </p:nvSpPr>
        <p:spPr>
          <a:xfrm rot="13253207">
            <a:off x="4047356" y="5876158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向右箭號 13"/>
          <p:cNvSpPr/>
          <p:nvPr/>
        </p:nvSpPr>
        <p:spPr>
          <a:xfrm rot="16200000">
            <a:off x="4838044" y="691692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向右箭號 14"/>
          <p:cNvSpPr/>
          <p:nvPr/>
        </p:nvSpPr>
        <p:spPr>
          <a:xfrm rot="16200000">
            <a:off x="4858067" y="7809469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矩形 19"/>
          <p:cNvSpPr/>
          <p:nvPr/>
        </p:nvSpPr>
        <p:spPr>
          <a:xfrm>
            <a:off x="5582806" y="5359917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矩形 20"/>
          <p:cNvSpPr/>
          <p:nvPr/>
        </p:nvSpPr>
        <p:spPr>
          <a:xfrm>
            <a:off x="5721923" y="4337599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2649527" y="3588783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A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304085" y="3630297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B</a:t>
            </a:r>
            <a:endParaRPr lang="zh-TW" altLang="en-US" sz="3600" dirty="0"/>
          </a:p>
        </p:txBody>
      </p:sp>
      <p:sp>
        <p:nvSpPr>
          <p:cNvPr id="24" name="向右箭號 23"/>
          <p:cNvSpPr/>
          <p:nvPr/>
        </p:nvSpPr>
        <p:spPr>
          <a:xfrm rot="18653207">
            <a:off x="5723818" y="583914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向右箭號 24"/>
          <p:cNvSpPr/>
          <p:nvPr/>
        </p:nvSpPr>
        <p:spPr>
          <a:xfrm rot="16200000">
            <a:off x="6258754" y="4696212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矩形 26"/>
          <p:cNvSpPr/>
          <p:nvPr/>
        </p:nvSpPr>
        <p:spPr>
          <a:xfrm>
            <a:off x="9093976" y="3656181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矩形 27"/>
          <p:cNvSpPr/>
          <p:nvPr/>
        </p:nvSpPr>
        <p:spPr>
          <a:xfrm>
            <a:off x="8900488" y="4695223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矩形 28"/>
          <p:cNvSpPr/>
          <p:nvPr/>
        </p:nvSpPr>
        <p:spPr>
          <a:xfrm>
            <a:off x="9937555" y="5982190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向右箭號 30"/>
          <p:cNvSpPr/>
          <p:nvPr/>
        </p:nvSpPr>
        <p:spPr>
          <a:xfrm rot="16200000">
            <a:off x="9605113" y="3993718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向右箭號 32"/>
          <p:cNvSpPr/>
          <p:nvPr/>
        </p:nvSpPr>
        <p:spPr>
          <a:xfrm rot="13253207">
            <a:off x="10092373" y="5225848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11627822" y="4709607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/>
          <p:cNvSpPr/>
          <p:nvPr/>
        </p:nvSpPr>
        <p:spPr>
          <a:xfrm>
            <a:off x="11766940" y="3687289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文字方塊 37"/>
          <p:cNvSpPr txBox="1"/>
          <p:nvPr/>
        </p:nvSpPr>
        <p:spPr>
          <a:xfrm>
            <a:off x="9391139" y="2984827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A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2045696" y="3026342"/>
            <a:ext cx="24556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Task B</a:t>
            </a:r>
            <a:endParaRPr lang="zh-TW" altLang="en-US" sz="3600" dirty="0"/>
          </a:p>
        </p:txBody>
      </p:sp>
      <p:sp>
        <p:nvSpPr>
          <p:cNvPr id="40" name="向右箭號 39"/>
          <p:cNvSpPr/>
          <p:nvPr/>
        </p:nvSpPr>
        <p:spPr>
          <a:xfrm rot="18653207">
            <a:off x="11768834" y="518883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1" name="向右箭號 40"/>
          <p:cNvSpPr/>
          <p:nvPr/>
        </p:nvSpPr>
        <p:spPr>
          <a:xfrm rot="16200000">
            <a:off x="12303770" y="4045902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2" name="矩形 41"/>
          <p:cNvSpPr/>
          <p:nvPr/>
        </p:nvSpPr>
        <p:spPr>
          <a:xfrm>
            <a:off x="9177677" y="7001518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3" name="矩形 42"/>
          <p:cNvSpPr/>
          <p:nvPr/>
        </p:nvSpPr>
        <p:spPr>
          <a:xfrm>
            <a:off x="8984189" y="8040561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4" name="向右箭號 43"/>
          <p:cNvSpPr/>
          <p:nvPr/>
        </p:nvSpPr>
        <p:spPr>
          <a:xfrm rot="16200000">
            <a:off x="9688814" y="7339056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5" name="矩形 44"/>
          <p:cNvSpPr/>
          <p:nvPr/>
        </p:nvSpPr>
        <p:spPr>
          <a:xfrm>
            <a:off x="11730815" y="7966942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6" name="矩形 45"/>
          <p:cNvSpPr/>
          <p:nvPr/>
        </p:nvSpPr>
        <p:spPr>
          <a:xfrm>
            <a:off x="11869933" y="6944625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向右箭號 46"/>
          <p:cNvSpPr/>
          <p:nvPr/>
        </p:nvSpPr>
        <p:spPr>
          <a:xfrm rot="16200000">
            <a:off x="12406763" y="730323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8" name="向右箭號 47"/>
          <p:cNvSpPr/>
          <p:nvPr/>
        </p:nvSpPr>
        <p:spPr>
          <a:xfrm rot="19046201">
            <a:off x="10126135" y="6346092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向右箭號 48"/>
          <p:cNvSpPr/>
          <p:nvPr/>
        </p:nvSpPr>
        <p:spPr>
          <a:xfrm rot="13149418">
            <a:off x="11894008" y="6323734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文字方塊 49"/>
          <p:cNvSpPr txBox="1"/>
          <p:nvPr/>
        </p:nvSpPr>
        <p:spPr>
          <a:xfrm>
            <a:off x="8469938" y="8218984"/>
            <a:ext cx="29709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 feature for task A</a:t>
            </a:r>
          </a:p>
        </p:txBody>
      </p:sp>
      <p:sp>
        <p:nvSpPr>
          <p:cNvPr id="51" name="文字方塊 50"/>
          <p:cNvSpPr txBox="1"/>
          <p:nvPr/>
        </p:nvSpPr>
        <p:spPr>
          <a:xfrm>
            <a:off x="11334070" y="8233368"/>
            <a:ext cx="29709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Input feature for task 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1" grpId="0"/>
      <p:bldP spid="13" grpId="0" bldLvl="0" animBg="1"/>
      <p:bldP spid="14" grpId="0" bldLvl="0" animBg="1"/>
      <p:bldP spid="15" grpId="0" bldLvl="0" animBg="1"/>
      <p:bldP spid="20" grpId="0" bldLvl="0" animBg="1"/>
      <p:bldP spid="21" grpId="0" bldLvl="0" animBg="1"/>
      <p:bldP spid="22" grpId="0"/>
      <p:bldP spid="23" grpId="0"/>
      <p:bldP spid="24" grpId="0" bldLvl="0" animBg="1"/>
      <p:bldP spid="25" grpId="0" bldLvl="0" animBg="1"/>
      <p:bldP spid="27" grpId="0" bldLvl="0" animBg="1"/>
      <p:bldP spid="28" grpId="0" bldLvl="0" animBg="1"/>
      <p:bldP spid="29" grpId="0" bldLvl="0" animBg="1"/>
      <p:bldP spid="31" grpId="0" bldLvl="0" animBg="1"/>
      <p:bldP spid="33" grpId="0" bldLvl="0" animBg="1"/>
      <p:bldP spid="36" grpId="0" bldLvl="0" animBg="1"/>
      <p:bldP spid="37" grpId="0" bldLvl="0" animBg="1"/>
      <p:bldP spid="38" grpId="0"/>
      <p:bldP spid="39" grpId="0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/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圓角矩形 19"/>
          <p:cNvSpPr/>
          <p:nvPr/>
        </p:nvSpPr>
        <p:spPr>
          <a:xfrm>
            <a:off x="7329015" y="6230444"/>
            <a:ext cx="3150837" cy="15762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Multitask Learning </a:t>
            </a:r>
            <a:br>
              <a:rPr lang="en-US" altLang="zh-TW" dirty="0"/>
            </a:br>
            <a:r>
              <a:rPr lang="en-US" altLang="zh-TW" dirty="0"/>
              <a:t>- Multilingual Speech Recognition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 rot="16200000">
            <a:off x="8754702" y="7361012"/>
            <a:ext cx="307649" cy="201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3144146" y="3978998"/>
            <a:ext cx="1620000" cy="3305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2950658" y="5018040"/>
            <a:ext cx="1942475" cy="3162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7651260" y="6414837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7653722" y="7314423"/>
            <a:ext cx="2425328" cy="3097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向右箭號 8"/>
          <p:cNvSpPr/>
          <p:nvPr/>
        </p:nvSpPr>
        <p:spPr>
          <a:xfrm rot="16200000">
            <a:off x="3655283" y="4316535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4422549" y="8021585"/>
            <a:ext cx="345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acoustic features</a:t>
            </a:r>
          </a:p>
        </p:txBody>
      </p:sp>
      <p:sp>
        <p:nvSpPr>
          <p:cNvPr id="12" name="向右箭號 11"/>
          <p:cNvSpPr/>
          <p:nvPr/>
        </p:nvSpPr>
        <p:spPr>
          <a:xfrm rot="16200000">
            <a:off x="8596766" y="6699263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向右箭號 12"/>
          <p:cNvSpPr/>
          <p:nvPr/>
        </p:nvSpPr>
        <p:spPr>
          <a:xfrm rot="16200000">
            <a:off x="8616789" y="7591806"/>
            <a:ext cx="539238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5539845" y="4988679"/>
            <a:ext cx="1942475" cy="3162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矩形 14"/>
          <p:cNvSpPr/>
          <p:nvPr/>
        </p:nvSpPr>
        <p:spPr>
          <a:xfrm>
            <a:off x="5678963" y="3966362"/>
            <a:ext cx="1620000" cy="3305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2733522" y="2648661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French 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267541" y="2658204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German </a:t>
            </a:r>
            <a:endParaRPr lang="zh-TW" altLang="en-US" sz="3600" dirty="0"/>
          </a:p>
        </p:txBody>
      </p:sp>
      <p:sp>
        <p:nvSpPr>
          <p:cNvPr id="19" name="向右箭號 18"/>
          <p:cNvSpPr/>
          <p:nvPr/>
        </p:nvSpPr>
        <p:spPr>
          <a:xfrm rot="16200000">
            <a:off x="6215793" y="4324974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10802097" y="6230444"/>
            <a:ext cx="463336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Human languages share some common characteristics.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7827135" y="2669973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Spanish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0386729" y="2648659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Italian</a:t>
            </a:r>
            <a:endParaRPr lang="zh-TW" altLang="en-US" sz="3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2842403" y="2648658"/>
            <a:ext cx="245567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states of Mandarin</a:t>
            </a:r>
            <a:endParaRPr lang="zh-TW" altLang="en-US" sz="3600" dirty="0"/>
          </a:p>
        </p:txBody>
      </p:sp>
      <p:sp>
        <p:nvSpPr>
          <p:cNvPr id="30" name="矩形 29"/>
          <p:cNvSpPr/>
          <p:nvPr/>
        </p:nvSpPr>
        <p:spPr>
          <a:xfrm>
            <a:off x="8093769" y="5008932"/>
            <a:ext cx="1942475" cy="31628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矩形 30"/>
          <p:cNvSpPr/>
          <p:nvPr/>
        </p:nvSpPr>
        <p:spPr>
          <a:xfrm>
            <a:off x="8232887" y="3986615"/>
            <a:ext cx="1620000" cy="33059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向右箭號 31"/>
          <p:cNvSpPr/>
          <p:nvPr/>
        </p:nvSpPr>
        <p:spPr>
          <a:xfrm rot="16200000">
            <a:off x="8769717" y="434522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矩形 32"/>
          <p:cNvSpPr/>
          <p:nvPr/>
        </p:nvSpPr>
        <p:spPr>
          <a:xfrm>
            <a:off x="10680047" y="5008932"/>
            <a:ext cx="1942475" cy="3162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矩形 33"/>
          <p:cNvSpPr/>
          <p:nvPr/>
        </p:nvSpPr>
        <p:spPr>
          <a:xfrm>
            <a:off x="10819164" y="3986615"/>
            <a:ext cx="1620000" cy="3305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向右箭號 34"/>
          <p:cNvSpPr/>
          <p:nvPr/>
        </p:nvSpPr>
        <p:spPr>
          <a:xfrm rot="16200000">
            <a:off x="11355995" y="434522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6" name="矩形 35"/>
          <p:cNvSpPr/>
          <p:nvPr/>
        </p:nvSpPr>
        <p:spPr>
          <a:xfrm>
            <a:off x="13187342" y="5008932"/>
            <a:ext cx="1942475" cy="3162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7" name="矩形 36"/>
          <p:cNvSpPr/>
          <p:nvPr/>
        </p:nvSpPr>
        <p:spPr>
          <a:xfrm>
            <a:off x="13326459" y="3986615"/>
            <a:ext cx="1620000" cy="3305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8" name="向右箭號 37"/>
          <p:cNvSpPr/>
          <p:nvPr/>
        </p:nvSpPr>
        <p:spPr>
          <a:xfrm rot="16200000">
            <a:off x="13863290" y="4345227"/>
            <a:ext cx="546335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9" name="直線單箭頭接點 38"/>
          <p:cNvCxnSpPr>
            <a:endCxn id="6" idx="2"/>
          </p:cNvCxnSpPr>
          <p:nvPr/>
        </p:nvCxnSpPr>
        <p:spPr>
          <a:xfrm flipH="1" flipV="1">
            <a:off x="3921896" y="5334323"/>
            <a:ext cx="3847676" cy="106571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7" idx="0"/>
            <a:endCxn id="30" idx="2"/>
          </p:cNvCxnSpPr>
          <p:nvPr/>
        </p:nvCxnSpPr>
        <p:spPr>
          <a:xfrm flipV="1">
            <a:off x="8863925" y="5325215"/>
            <a:ext cx="201083" cy="108962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endCxn id="14" idx="2"/>
          </p:cNvCxnSpPr>
          <p:nvPr/>
        </p:nvCxnSpPr>
        <p:spPr>
          <a:xfrm flipH="1" flipV="1">
            <a:off x="6511083" y="5304962"/>
            <a:ext cx="1798599" cy="109498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33" idx="2"/>
          </p:cNvCxnSpPr>
          <p:nvPr/>
        </p:nvCxnSpPr>
        <p:spPr>
          <a:xfrm flipV="1">
            <a:off x="9352601" y="5325215"/>
            <a:ext cx="2298684" cy="107473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endCxn id="36" idx="2"/>
          </p:cNvCxnSpPr>
          <p:nvPr/>
        </p:nvCxnSpPr>
        <p:spPr>
          <a:xfrm flipV="1">
            <a:off x="10036244" y="5325215"/>
            <a:ext cx="4122336" cy="107473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026007" y="9111290"/>
            <a:ext cx="127689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Similar idea in translation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Daxiang</a:t>
            </a:r>
            <a:r>
              <a:rPr lang="en-US" altLang="zh-TW" sz="2800" dirty="0"/>
              <a:t> Dong, Hua Wu, Wei He, </a:t>
            </a:r>
            <a:r>
              <a:rPr lang="en-US" altLang="zh-TW" sz="2800" dirty="0" err="1"/>
              <a:t>Dianhai</a:t>
            </a:r>
            <a:r>
              <a:rPr lang="en-US" altLang="zh-TW" sz="2800" dirty="0"/>
              <a:t> Yu and </a:t>
            </a:r>
            <a:r>
              <a:rPr lang="en-US" altLang="zh-TW" sz="2800" dirty="0" err="1"/>
              <a:t>Haifeng</a:t>
            </a:r>
            <a:r>
              <a:rPr lang="en-US" altLang="zh-TW" sz="2800" dirty="0"/>
              <a:t> Wang, "Multi-task learning for multiple language translation.“, ACL 2015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Multitask Learning - Multilingual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157538" y="8947172"/>
            <a:ext cx="12506325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Arial" panose="020B0604020202020204" pitchFamily="34" charset="0"/>
              </a:rPr>
              <a:t>Huang, </a:t>
            </a:r>
            <a:r>
              <a:rPr lang="en-US" altLang="zh-TW" sz="100" dirty="0" err="1">
                <a:latin typeface="Arial" panose="020B0604020202020204" pitchFamily="34" charset="0"/>
              </a:rPr>
              <a:t>Jui</a:t>
            </a:r>
            <a:r>
              <a:rPr lang="en-US" altLang="zh-TW" sz="100" dirty="0">
                <a:latin typeface="Arial" panose="020B0604020202020204" pitchFamily="34" charset="0"/>
              </a:rPr>
              <a:t>-Ting, et al. "Cross-language knowledge transfer using multilingual deep neural network with shared hidden layers." </a:t>
            </a:r>
            <a:r>
              <a:rPr lang="en-US" altLang="zh-TW" sz="100" i="1" dirty="0">
                <a:latin typeface="Arial" panose="020B0604020202020204" pitchFamily="34" charset="0"/>
              </a:rPr>
              <a:t>ICASSP, 2013</a:t>
            </a:r>
            <a:endParaRPr lang="zh-TW" altLang="en-US" sz="100" dirty="0"/>
          </a:p>
        </p:txBody>
      </p:sp>
      <p:graphicFrame>
        <p:nvGraphicFramePr>
          <p:cNvPr id="5" name="Chart 3"/>
          <p:cNvGraphicFramePr/>
          <p:nvPr/>
        </p:nvGraphicFramePr>
        <p:xfrm>
          <a:off x="4229100" y="2356755"/>
          <a:ext cx="10243947" cy="5867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/>
          <p:cNvSpPr/>
          <p:nvPr/>
        </p:nvSpPr>
        <p:spPr>
          <a:xfrm rot="16200000">
            <a:off x="1909704" y="4633647"/>
            <a:ext cx="4424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Character Error Rate</a:t>
            </a:r>
          </a:p>
        </p:txBody>
      </p:sp>
      <p:sp>
        <p:nvSpPr>
          <p:cNvPr id="7" name="矩形 6"/>
          <p:cNvSpPr/>
          <p:nvPr/>
        </p:nvSpPr>
        <p:spPr>
          <a:xfrm>
            <a:off x="5948454" y="8083628"/>
            <a:ext cx="7244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Hours of training data for Mandarin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936115" y="9777095"/>
            <a:ext cx="144164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dirty="0">
                <a:sym typeface="+mn-ea"/>
              </a:rPr>
              <a:t>Huang, </a:t>
            </a:r>
            <a:r>
              <a:rPr lang="en-US" altLang="zh-TW" dirty="0" err="1">
                <a:sym typeface="+mn-ea"/>
              </a:rPr>
              <a:t>Jui</a:t>
            </a:r>
            <a:r>
              <a:rPr lang="en-US" altLang="zh-TW" dirty="0">
                <a:sym typeface="+mn-ea"/>
              </a:rPr>
              <a:t>-Ting, et al. "Cross-language knowledge transfer using multilingual deep neural network with shared hidden layers." </a:t>
            </a:r>
            <a:r>
              <a:rPr lang="en-US" altLang="zh-TW" i="1" dirty="0">
                <a:sym typeface="+mn-ea"/>
              </a:rPr>
              <a:t>ICASSP, 2013</a:t>
            </a:r>
            <a:endParaRPr lang="en-US"/>
          </a:p>
        </p:txBody>
      </p:sp>
      <p:sp>
        <p:nvSpPr>
          <p:cNvPr id="10" name="文字方塊 8"/>
          <p:cNvSpPr txBox="1"/>
          <p:nvPr/>
        </p:nvSpPr>
        <p:spPr>
          <a:xfrm>
            <a:off x="5318760" y="6215380"/>
            <a:ext cx="2658745" cy="9531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With European Language</a:t>
            </a:r>
          </a:p>
        </p:txBody>
      </p:sp>
      <p:sp>
        <p:nvSpPr>
          <p:cNvPr id="11" name="文字方塊 7"/>
          <p:cNvSpPr txBox="1"/>
          <p:nvPr/>
        </p:nvSpPr>
        <p:spPr>
          <a:xfrm>
            <a:off x="8262620" y="3635375"/>
            <a:ext cx="1764030" cy="9531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Mandarin only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Progressive Neural Networks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175453" y="7535367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5280960" y="6145508"/>
            <a:ext cx="1983546" cy="358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5280960" y="4675158"/>
            <a:ext cx="1983546" cy="358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矩形 8"/>
          <p:cNvSpPr/>
          <p:nvPr/>
        </p:nvSpPr>
        <p:spPr>
          <a:xfrm>
            <a:off x="5280960" y="2898809"/>
            <a:ext cx="1983546" cy="650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Task 1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017733" y="7535367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8123240" y="6145508"/>
            <a:ext cx="1983546" cy="3587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8123240" y="4675158"/>
            <a:ext cx="1983546" cy="3587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8123240" y="2898809"/>
            <a:ext cx="1983546" cy="650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Task 2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10862924" y="7535367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  <a:endParaRPr lang="zh-TW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10968431" y="6145508"/>
            <a:ext cx="1983546" cy="358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10968431" y="4675158"/>
            <a:ext cx="1983546" cy="358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矩形 16"/>
          <p:cNvSpPr/>
          <p:nvPr/>
        </p:nvSpPr>
        <p:spPr>
          <a:xfrm>
            <a:off x="10968431" y="2898809"/>
            <a:ext cx="1983546" cy="650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Task 3</a:t>
            </a:r>
          </a:p>
        </p:txBody>
      </p:sp>
      <p:sp>
        <p:nvSpPr>
          <p:cNvPr id="18" name="箭號: 向右 17"/>
          <p:cNvSpPr/>
          <p:nvPr/>
        </p:nvSpPr>
        <p:spPr>
          <a:xfrm rot="16200000">
            <a:off x="5856437" y="6673551"/>
            <a:ext cx="832592" cy="692498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箭號: 向右 18"/>
          <p:cNvSpPr/>
          <p:nvPr/>
        </p:nvSpPr>
        <p:spPr>
          <a:xfrm rot="16200000">
            <a:off x="5856437" y="5196003"/>
            <a:ext cx="832592" cy="692498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箭號: 向右 19"/>
          <p:cNvSpPr/>
          <p:nvPr/>
        </p:nvSpPr>
        <p:spPr>
          <a:xfrm rot="16200000">
            <a:off x="5856435" y="3698987"/>
            <a:ext cx="832592" cy="692498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箭號: 向右 20"/>
          <p:cNvSpPr/>
          <p:nvPr/>
        </p:nvSpPr>
        <p:spPr>
          <a:xfrm rot="16200000">
            <a:off x="8702538" y="6673550"/>
            <a:ext cx="832592" cy="69249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箭號: 向右 21"/>
          <p:cNvSpPr/>
          <p:nvPr/>
        </p:nvSpPr>
        <p:spPr>
          <a:xfrm rot="16200000">
            <a:off x="8702538" y="5196002"/>
            <a:ext cx="832592" cy="69249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箭號: 向右 22"/>
          <p:cNvSpPr/>
          <p:nvPr/>
        </p:nvSpPr>
        <p:spPr>
          <a:xfrm rot="16200000">
            <a:off x="8702537" y="3698985"/>
            <a:ext cx="832592" cy="69249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箭號: 向右 23"/>
          <p:cNvSpPr/>
          <p:nvPr/>
        </p:nvSpPr>
        <p:spPr>
          <a:xfrm rot="16200000">
            <a:off x="11548637" y="6704538"/>
            <a:ext cx="832592" cy="692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箭號: 向右 24"/>
          <p:cNvSpPr/>
          <p:nvPr/>
        </p:nvSpPr>
        <p:spPr>
          <a:xfrm rot="16200000">
            <a:off x="11548637" y="5226990"/>
            <a:ext cx="832592" cy="692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箭號: 向右 25"/>
          <p:cNvSpPr/>
          <p:nvPr/>
        </p:nvSpPr>
        <p:spPr>
          <a:xfrm rot="16200000">
            <a:off x="11548635" y="3729974"/>
            <a:ext cx="832592" cy="692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6665913" y="5156943"/>
            <a:ext cx="2106671" cy="8936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6712847" y="3659927"/>
            <a:ext cx="2012804" cy="91596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V="1">
            <a:off x="6712847" y="5152118"/>
            <a:ext cx="4567067" cy="8862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6737297" y="3613037"/>
            <a:ext cx="4542617" cy="970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9607845" y="5156942"/>
            <a:ext cx="1916969" cy="8734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9607845" y="3605067"/>
            <a:ext cx="1916969" cy="9731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238674" y="8447762"/>
            <a:ext cx="11992268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>
                <a:latin typeface="Lucida Grande"/>
              </a:rPr>
              <a:t>Andrei A. </a:t>
            </a:r>
            <a:r>
              <a:rPr lang="en-US" altLang="zh-TW" sz="100" dirty="0" err="1">
                <a:latin typeface="Lucida Grande"/>
              </a:rPr>
              <a:t>Rusu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Neil C. Rabinowitz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Guillaume Desjardins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Hubert </a:t>
            </a:r>
            <a:r>
              <a:rPr lang="en-US" altLang="zh-TW" sz="100" dirty="0" err="1">
                <a:latin typeface="Lucida Grande"/>
              </a:rPr>
              <a:t>Soyer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James Kirkpatrick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Koray</a:t>
            </a:r>
            <a:r>
              <a:rPr lang="en-US" altLang="zh-TW" sz="100" dirty="0">
                <a:latin typeface="Lucida Grande"/>
              </a:rPr>
              <a:t> Kavukcuoglu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Razvan </a:t>
            </a:r>
            <a:r>
              <a:rPr lang="en-US" altLang="zh-TW" sz="100" dirty="0" err="1">
                <a:latin typeface="Lucida Grande"/>
              </a:rPr>
              <a:t>Pascanu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 </a:t>
            </a:r>
            <a:r>
              <a:rPr lang="en-US" altLang="zh-TW" sz="100" dirty="0" err="1">
                <a:latin typeface="Lucida Grande"/>
              </a:rPr>
              <a:t>Raia</a:t>
            </a:r>
            <a:r>
              <a:rPr lang="en-US" altLang="zh-TW" sz="100" dirty="0">
                <a:latin typeface="Lucida Grande"/>
              </a:rPr>
              <a:t> Hadsell, “Progressive Neural Networks”, </a:t>
            </a:r>
            <a:r>
              <a:rPr lang="en-US" altLang="zh-TW" sz="100" dirty="0" err="1">
                <a:latin typeface="Lucida Grande"/>
              </a:rPr>
              <a:t>arXiv</a:t>
            </a:r>
            <a:r>
              <a:rPr lang="en-US" altLang="zh-TW" sz="100" dirty="0">
                <a:latin typeface="Lucida Grande"/>
              </a:rPr>
              <a:t> preprint 2016</a:t>
            </a:r>
            <a:endParaRPr lang="zh-TW" altLang="en-US" sz="100" dirty="0">
              <a:latin typeface="Lucida Grande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69235" y="9566910"/>
            <a:ext cx="126911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dirty="0">
                <a:latin typeface="Lucida Grande"/>
                <a:sym typeface="+mn-ea"/>
              </a:rPr>
              <a:t>Andrei A. </a:t>
            </a:r>
            <a:r>
              <a:rPr lang="en-US" altLang="zh-TW" dirty="0" err="1">
                <a:latin typeface="Lucida Grande"/>
                <a:sym typeface="+mn-ea"/>
              </a:rPr>
              <a:t>Rusu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Neil C. Rabinowitz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Guillaume Desjardins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Hubert </a:t>
            </a:r>
            <a:r>
              <a:rPr lang="en-US" altLang="zh-TW" dirty="0" err="1">
                <a:latin typeface="Lucida Grande"/>
                <a:sym typeface="+mn-ea"/>
              </a:rPr>
              <a:t>Soyer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James Kirkpatrick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 err="1">
                <a:latin typeface="Lucida Grande"/>
                <a:sym typeface="+mn-ea"/>
              </a:rPr>
              <a:t>Koray</a:t>
            </a:r>
            <a:r>
              <a:rPr lang="en-US" altLang="zh-TW" dirty="0">
                <a:latin typeface="Lucida Grande"/>
                <a:sym typeface="+mn-ea"/>
              </a:rPr>
              <a:t> Kavukcuoglu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Razvan </a:t>
            </a:r>
            <a:r>
              <a:rPr lang="en-US" altLang="zh-TW" dirty="0" err="1">
                <a:latin typeface="Lucida Grande"/>
                <a:sym typeface="+mn-ea"/>
              </a:rPr>
              <a:t>Pascanu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 </a:t>
            </a:r>
            <a:r>
              <a:rPr lang="en-US" altLang="zh-TW" dirty="0" err="1">
                <a:latin typeface="Lucida Grande"/>
                <a:sym typeface="+mn-ea"/>
              </a:rPr>
              <a:t>Raia</a:t>
            </a:r>
            <a:r>
              <a:rPr lang="en-US" altLang="zh-TW" dirty="0">
                <a:latin typeface="Lucida Grande"/>
                <a:sym typeface="+mn-ea"/>
              </a:rPr>
              <a:t> Hadsell, “Progressive Neural Networks”, </a:t>
            </a:r>
            <a:r>
              <a:rPr lang="en-US" altLang="zh-TW" dirty="0" err="1">
                <a:latin typeface="Lucida Grande"/>
                <a:sym typeface="+mn-ea"/>
              </a:rPr>
              <a:t>arXiv</a:t>
            </a:r>
            <a:r>
              <a:rPr lang="en-US" altLang="zh-TW" dirty="0">
                <a:latin typeface="Lucida Grande"/>
                <a:sym typeface="+mn-ea"/>
              </a:rPr>
              <a:t> preprint 2016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8" grpId="0" bldLvl="0" animBg="1"/>
      <p:bldP spid="9" grpId="0" bldLvl="0" animBg="1"/>
      <p:bldP spid="10" grpId="0"/>
      <p:bldP spid="11" grpId="0" bldLvl="0" animBg="1"/>
      <p:bldP spid="12" grpId="0" bldLvl="0" animBg="1"/>
      <p:bldP spid="13" grpId="0" bldLvl="0" animBg="1"/>
      <p:bldP spid="14" grpId="0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52558" y="8632443"/>
            <a:ext cx="11046656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 err="1">
                <a:latin typeface="Lucida Grande"/>
              </a:rPr>
              <a:t>Chrisantha</a:t>
            </a:r>
            <a:r>
              <a:rPr lang="en-US" altLang="zh-TW" sz="100" dirty="0">
                <a:latin typeface="Lucida Grande"/>
              </a:rPr>
              <a:t> Fernando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Dylan </a:t>
            </a:r>
            <a:r>
              <a:rPr lang="en-US" altLang="zh-TW" sz="100" dirty="0" err="1">
                <a:latin typeface="Lucida Grande"/>
              </a:rPr>
              <a:t>Banarse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Charles Blundell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Yori </a:t>
            </a:r>
            <a:r>
              <a:rPr lang="en-US" altLang="zh-TW" sz="100" dirty="0" err="1">
                <a:latin typeface="Lucida Grande"/>
              </a:rPr>
              <a:t>Zwols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David Ha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Andrei A. </a:t>
            </a:r>
            <a:r>
              <a:rPr lang="en-US" altLang="zh-TW" sz="100" dirty="0" err="1">
                <a:latin typeface="Lucida Grande"/>
              </a:rPr>
              <a:t>Rusu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>
                <a:latin typeface="Lucida Grande"/>
              </a:rPr>
              <a:t>Alexander </a:t>
            </a:r>
            <a:r>
              <a:rPr lang="en-US" altLang="zh-TW" sz="100" dirty="0" err="1">
                <a:latin typeface="Lucida Grande"/>
              </a:rPr>
              <a:t>Pritzel</a:t>
            </a:r>
            <a:r>
              <a:rPr lang="en-US" altLang="zh-TW" sz="1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00" dirty="0" err="1">
                <a:latin typeface="Lucida Grande"/>
              </a:rPr>
              <a:t>Daan</a:t>
            </a:r>
            <a:r>
              <a:rPr lang="en-US" altLang="zh-TW" sz="100" dirty="0">
                <a:latin typeface="Lucida Grande"/>
              </a:rPr>
              <a:t> Wierstra, “</a:t>
            </a:r>
            <a:r>
              <a:rPr lang="en-US" altLang="zh-TW" sz="100" dirty="0" err="1"/>
              <a:t>PathNet</a:t>
            </a:r>
            <a:r>
              <a:rPr lang="en-US" altLang="zh-TW" sz="100" dirty="0"/>
              <a:t>: Evolution Channels Gradient Descent in Super Neural Networks</a:t>
            </a:r>
            <a:r>
              <a:rPr lang="en-US" altLang="zh-TW" sz="100" dirty="0">
                <a:latin typeface="Lucida Grande"/>
              </a:rPr>
              <a:t>”, </a:t>
            </a:r>
            <a:r>
              <a:rPr lang="en-US" altLang="zh-TW" sz="100" dirty="0" err="1">
                <a:latin typeface="Lucida Grande"/>
              </a:rPr>
              <a:t>arXiv</a:t>
            </a:r>
            <a:r>
              <a:rPr lang="en-US" altLang="zh-TW" sz="100" dirty="0">
                <a:latin typeface="Lucida Grande"/>
              </a:rPr>
              <a:t> preprint, 2017</a:t>
            </a:r>
            <a:endParaRPr lang="zh-TW" altLang="en-US" sz="100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2850" y="594360"/>
            <a:ext cx="11226165" cy="80060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0520" y="9526905"/>
            <a:ext cx="13568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dirty="0" err="1">
                <a:latin typeface="Lucida Grande"/>
                <a:sym typeface="+mn-ea"/>
              </a:rPr>
              <a:t>Chrisantha</a:t>
            </a:r>
            <a:r>
              <a:rPr lang="en-US" altLang="zh-TW" dirty="0">
                <a:latin typeface="Lucida Grande"/>
                <a:sym typeface="+mn-ea"/>
              </a:rPr>
              <a:t> Fernando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Dylan </a:t>
            </a:r>
            <a:r>
              <a:rPr lang="en-US" altLang="zh-TW" dirty="0" err="1">
                <a:latin typeface="Lucida Grande"/>
                <a:sym typeface="+mn-ea"/>
              </a:rPr>
              <a:t>Banarse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Charles Blundell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Yori </a:t>
            </a:r>
            <a:r>
              <a:rPr lang="en-US" altLang="zh-TW" dirty="0" err="1">
                <a:latin typeface="Lucida Grande"/>
                <a:sym typeface="+mn-ea"/>
              </a:rPr>
              <a:t>Zwols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David Ha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Andrei A. </a:t>
            </a:r>
            <a:r>
              <a:rPr lang="en-US" altLang="zh-TW" dirty="0" err="1">
                <a:latin typeface="Lucida Grande"/>
                <a:sym typeface="+mn-ea"/>
              </a:rPr>
              <a:t>Rusu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>
                <a:latin typeface="Lucida Grande"/>
                <a:sym typeface="+mn-ea"/>
              </a:rPr>
              <a:t>Alexander </a:t>
            </a:r>
            <a:r>
              <a:rPr lang="en-US" altLang="zh-TW" dirty="0" err="1">
                <a:latin typeface="Lucida Grande"/>
                <a:sym typeface="+mn-ea"/>
              </a:rPr>
              <a:t>Pritzel</a:t>
            </a:r>
            <a:r>
              <a:rPr lang="en-US" altLang="zh-TW" dirty="0">
                <a:solidFill>
                  <a:srgbClr val="000000"/>
                </a:solidFill>
                <a:latin typeface="Lucida Grande"/>
                <a:sym typeface="+mn-ea"/>
              </a:rPr>
              <a:t>, </a:t>
            </a:r>
            <a:r>
              <a:rPr lang="en-US" altLang="zh-TW" dirty="0" err="1">
                <a:latin typeface="Lucida Grande"/>
                <a:sym typeface="+mn-ea"/>
              </a:rPr>
              <a:t>Daan</a:t>
            </a:r>
            <a:r>
              <a:rPr lang="en-US" altLang="zh-TW" dirty="0">
                <a:latin typeface="Lucida Grande"/>
                <a:sym typeface="+mn-ea"/>
              </a:rPr>
              <a:t> Wierstra, “</a:t>
            </a:r>
            <a:r>
              <a:rPr lang="en-US" altLang="zh-TW" dirty="0" err="1">
                <a:sym typeface="+mn-ea"/>
              </a:rPr>
              <a:t>PathNet</a:t>
            </a:r>
            <a:r>
              <a:rPr lang="en-US" altLang="zh-TW" dirty="0">
                <a:sym typeface="+mn-ea"/>
              </a:rPr>
              <a:t>: Evolution Channels Gradient Descent in Super Neural Networks</a:t>
            </a:r>
            <a:r>
              <a:rPr lang="en-US" altLang="zh-TW" dirty="0">
                <a:latin typeface="Lucida Grande"/>
                <a:sym typeface="+mn-ea"/>
              </a:rPr>
              <a:t>”, </a:t>
            </a:r>
            <a:r>
              <a:rPr lang="en-US" altLang="zh-TW" dirty="0" err="1">
                <a:latin typeface="Lucida Grande"/>
                <a:sym typeface="+mn-ea"/>
              </a:rPr>
              <a:t>arXiv</a:t>
            </a:r>
            <a:r>
              <a:rPr lang="en-US" altLang="zh-TW" dirty="0">
                <a:latin typeface="Lucida Grande"/>
                <a:sym typeface="+mn-ea"/>
              </a:rPr>
              <a:t> preprint, 2017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1913467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Domain-adversarial Training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3500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98594" y="2536033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992590" y="5634785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92590" y="4787499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92590" y="7020326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Task description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Source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dirty="0"/>
              </a:p>
              <a:p>
                <a:r>
                  <a:rPr lang="en-US" altLang="zh-TW" dirty="0"/>
                  <a:t>Target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t="-4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8401685" y="2060570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Training data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8401958" y="3263581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Testing data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12802188" y="2275328"/>
            <a:ext cx="2698163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FF0000"/>
                </a:solidFill>
              </a:rPr>
              <a:t>Same task, mismatch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220" y="5080635"/>
            <a:ext cx="7609840" cy="438721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1539389" y="6128229"/>
            <a:ext cx="265313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with label</a:t>
            </a:r>
            <a:endParaRPr lang="zh-TW" altLang="en-US" sz="4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539389" y="7654347"/>
            <a:ext cx="351963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without label</a:t>
            </a:r>
            <a:endParaRPr lang="zh-TW" altLang="en-US" sz="42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6703060" y="2413635"/>
            <a:ext cx="169862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6694310" y="3507378"/>
            <a:ext cx="170737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右大括弧 13"/>
          <p:cNvSpPr/>
          <p:nvPr/>
        </p:nvSpPr>
        <p:spPr>
          <a:xfrm>
            <a:off x="11949703" y="2274888"/>
            <a:ext cx="482099" cy="1537304"/>
          </a:xfrm>
          <a:prstGeom prst="rightBrace">
            <a:avLst>
              <a:gd name="adj1" fmla="val 47848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53931"/>
            <a:ext cx="13716000" cy="328053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5590540"/>
            <a:ext cx="7368540" cy="43561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660" y="6326744"/>
            <a:ext cx="3112532" cy="104943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2949" y="4897749"/>
            <a:ext cx="3398949" cy="1137291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 flipV="1">
            <a:off x="11369721" y="6035040"/>
            <a:ext cx="1932623" cy="12210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6" idx="3"/>
          </p:cNvCxnSpPr>
          <p:nvPr/>
        </p:nvCxnSpPr>
        <p:spPr>
          <a:xfrm flipH="1" flipV="1">
            <a:off x="6219192" y="6851462"/>
            <a:ext cx="1605437" cy="401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6005222" y="7668416"/>
            <a:ext cx="1179350" cy="7723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 flipV="1">
            <a:off x="6800852" y="7616106"/>
            <a:ext cx="2571750" cy="1064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724" y="7210935"/>
            <a:ext cx="4542272" cy="272838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463" y="2758679"/>
            <a:ext cx="7458075" cy="32432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09" y="5428754"/>
            <a:ext cx="4291965" cy="253737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085" y="5030225"/>
            <a:ext cx="5080016" cy="1943432"/>
          </a:xfrm>
          <a:prstGeom prst="rect">
            <a:avLst/>
          </a:prstGeom>
        </p:spPr>
      </p:pic>
      <p:sp>
        <p:nvSpPr>
          <p:cNvPr id="8" name="箭號: 向右 7"/>
          <p:cNvSpPr/>
          <p:nvPr/>
        </p:nvSpPr>
        <p:spPr>
          <a:xfrm rot="2380629">
            <a:off x="9710571" y="5025014"/>
            <a:ext cx="822116" cy="80748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文字方塊 8"/>
          <p:cNvSpPr txBox="1"/>
          <p:nvPr/>
        </p:nvSpPr>
        <p:spPr>
          <a:xfrm>
            <a:off x="10695774" y="2235554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Similar to GAN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077175" y="3041843"/>
            <a:ext cx="42005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Too easy to feature extractor ……</a:t>
            </a:r>
            <a:endParaRPr lang="zh-TW" altLang="en-US" sz="3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495" y="7787328"/>
            <a:ext cx="1680519" cy="168051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705" y="6253619"/>
            <a:ext cx="1460835" cy="146083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4261611" y="2441462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feature extractor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1077175" y="4639232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Domain classifier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0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872498"/>
            <a:ext cx="7458075" cy="32432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0" y="6022779"/>
            <a:ext cx="5080016" cy="1943432"/>
          </a:xfrm>
          <a:prstGeom prst="rect">
            <a:avLst/>
          </a:prstGeom>
        </p:spPr>
      </p:pic>
      <p:sp>
        <p:nvSpPr>
          <p:cNvPr id="6" name="箭號: 向右 5"/>
          <p:cNvSpPr/>
          <p:nvPr/>
        </p:nvSpPr>
        <p:spPr>
          <a:xfrm rot="2380629">
            <a:off x="9752330" y="6033770"/>
            <a:ext cx="711835" cy="5594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758" y="3882188"/>
            <a:ext cx="6186488" cy="162877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3516651" y="6611557"/>
            <a:ext cx="5815743" cy="1568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200" dirty="0"/>
              <a:t>Not only cheat the domain classifier, but satisfying label classifier at the same time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609467" y="9275202"/>
            <a:ext cx="120831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This is a big network, but different parts have different goals.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10687050" y="2083934"/>
            <a:ext cx="449852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Maximize label classification accuracy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10560504" y="7966211"/>
            <a:ext cx="449852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Maximize domain classification accuracy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2244882" y="2259035"/>
            <a:ext cx="8315622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Maximize label classification accuracy + minimize domain classification accuracy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3914775" y="3526248"/>
            <a:ext cx="4200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00B050"/>
                </a:solidFill>
              </a:rPr>
              <a:t>feature extractor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1126795" y="5871051"/>
            <a:ext cx="420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Domain classifier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1173150" y="3447850"/>
            <a:ext cx="4200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0000FF"/>
                </a:solidFill>
              </a:rPr>
              <a:t>Label predictor</a:t>
            </a:r>
          </a:p>
        </p:txBody>
      </p:sp>
      <p:sp>
        <p:nvSpPr>
          <p:cNvPr id="11" name="矩形 10"/>
          <p:cNvSpPr/>
          <p:nvPr/>
        </p:nvSpPr>
        <p:spPr>
          <a:xfrm>
            <a:off x="10560504" y="5848124"/>
            <a:ext cx="5206562" cy="2118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矩形 16"/>
          <p:cNvSpPr/>
          <p:nvPr/>
        </p:nvSpPr>
        <p:spPr>
          <a:xfrm>
            <a:off x="10560504" y="3452246"/>
            <a:ext cx="5308616" cy="2220776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矩形 17"/>
          <p:cNvSpPr/>
          <p:nvPr/>
        </p:nvSpPr>
        <p:spPr>
          <a:xfrm>
            <a:off x="3228975" y="3591548"/>
            <a:ext cx="6515100" cy="2602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/>
      <p:bldP spid="10" grpId="0"/>
      <p:bldP spid="12" grpId="0"/>
      <p:bldP spid="13" grpId="0"/>
      <p:bldP spid="16" grpId="0"/>
      <p:bldP spid="11" grpId="0" bldLvl="0" animBg="1"/>
      <p:bldP spid="17" grpId="0" bldLvl="0" animBg="1"/>
      <p:bldP spid="1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31234"/>
            <a:ext cx="13716000" cy="5811578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452370" y="6966585"/>
            <a:ext cx="69392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Domain classifier fails in the end</a:t>
            </a:r>
          </a:p>
          <a:p>
            <a:r>
              <a:rPr lang="en-US" altLang="zh-TW" sz="3200" dirty="0">
                <a:sym typeface="+mn-ea"/>
              </a:rPr>
              <a:t>It should struggle ……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8700866" y="5465300"/>
            <a:ext cx="1456007" cy="12129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Text Box 10"/>
          <p:cNvSpPr txBox="1"/>
          <p:nvPr/>
        </p:nvSpPr>
        <p:spPr>
          <a:xfrm>
            <a:off x="1557020" y="9641840"/>
            <a:ext cx="154120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TW" dirty="0">
                <a:sym typeface="+mn-ea"/>
              </a:rPr>
              <a:t>Yaroslav </a:t>
            </a:r>
            <a:r>
              <a:rPr lang="en-US" altLang="zh-TW" dirty="0" err="1">
                <a:sym typeface="+mn-ea"/>
              </a:rPr>
              <a:t>Ganin</a:t>
            </a:r>
            <a:r>
              <a:rPr lang="en-US" altLang="zh-TW" dirty="0">
                <a:sym typeface="+mn-ea"/>
              </a:rPr>
              <a:t>, Victor </a:t>
            </a:r>
            <a:r>
              <a:rPr lang="en-US" altLang="zh-TW" dirty="0" err="1">
                <a:sym typeface="+mn-ea"/>
              </a:rPr>
              <a:t>Lempitsky</a:t>
            </a:r>
            <a:r>
              <a:rPr lang="en-US" altLang="zh-TW" dirty="0">
                <a:sym typeface="+mn-ea"/>
              </a:rPr>
              <a:t>, Unsupervised Domain Adaptation by Backpropagation, ICML, 2015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Hana </a:t>
            </a:r>
            <a:r>
              <a:rPr lang="en-US" altLang="zh-TW" dirty="0" err="1">
                <a:sym typeface="+mn-ea"/>
              </a:rPr>
              <a:t>Ajakan</a:t>
            </a:r>
            <a:r>
              <a:rPr lang="en-US" altLang="zh-TW" dirty="0">
                <a:sym typeface="+mn-ea"/>
              </a:rPr>
              <a:t>, Pascal Germain, Hugo </a:t>
            </a:r>
            <a:r>
              <a:rPr lang="en-US" altLang="zh-TW" dirty="0" err="1">
                <a:sym typeface="+mn-ea"/>
              </a:rPr>
              <a:t>Larochelle</a:t>
            </a:r>
            <a:r>
              <a:rPr lang="en-US" altLang="zh-TW" dirty="0">
                <a:sym typeface="+mn-ea"/>
              </a:rPr>
              <a:t>, François </a:t>
            </a:r>
            <a:r>
              <a:rPr lang="en-US" altLang="zh-TW" dirty="0" err="1">
                <a:sym typeface="+mn-ea"/>
              </a:rPr>
              <a:t>Laviolette</a:t>
            </a:r>
            <a:r>
              <a:rPr lang="en-US" altLang="zh-TW" dirty="0">
                <a:sym typeface="+mn-ea"/>
              </a:rPr>
              <a:t>, Mario Marchand, Domain-Adversarial Training of Neural Networks, JMLR, 2016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Domain-adversarial training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25" y="2708439"/>
            <a:ext cx="13411200" cy="266394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121" y="5372379"/>
            <a:ext cx="13229408" cy="307898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153920" y="9641840"/>
            <a:ext cx="1529524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TW" dirty="0">
                <a:sym typeface="+mn-ea"/>
              </a:rPr>
              <a:t>Yaroslav </a:t>
            </a:r>
            <a:r>
              <a:rPr lang="en-US" altLang="zh-TW" dirty="0" err="1">
                <a:sym typeface="+mn-ea"/>
              </a:rPr>
              <a:t>Ganin</a:t>
            </a:r>
            <a:r>
              <a:rPr lang="en-US" altLang="zh-TW" dirty="0">
                <a:sym typeface="+mn-ea"/>
              </a:rPr>
              <a:t>, Victor </a:t>
            </a:r>
            <a:r>
              <a:rPr lang="en-US" altLang="zh-TW" dirty="0" err="1">
                <a:sym typeface="+mn-ea"/>
              </a:rPr>
              <a:t>Lempitsky</a:t>
            </a:r>
            <a:r>
              <a:rPr lang="en-US" altLang="zh-TW" dirty="0">
                <a:sym typeface="+mn-ea"/>
              </a:rPr>
              <a:t>, Unsupervised Domain Adaptation by Backpropagation, ICML, 2015</a:t>
            </a:r>
          </a:p>
          <a:p>
            <a:pPr algn="l"/>
            <a:r>
              <a:rPr lang="en-US" altLang="zh-TW" dirty="0">
                <a:sym typeface="+mn-ea"/>
              </a:rPr>
              <a:t>Hana </a:t>
            </a:r>
            <a:r>
              <a:rPr lang="en-US" altLang="zh-TW" dirty="0" err="1">
                <a:sym typeface="+mn-ea"/>
              </a:rPr>
              <a:t>Ajakan</a:t>
            </a:r>
            <a:r>
              <a:rPr lang="en-US" altLang="zh-TW" dirty="0">
                <a:sym typeface="+mn-ea"/>
              </a:rPr>
              <a:t>, Pascal Germain, Hugo </a:t>
            </a:r>
            <a:r>
              <a:rPr lang="en-US" altLang="zh-TW" dirty="0" err="1">
                <a:sym typeface="+mn-ea"/>
              </a:rPr>
              <a:t>Larochelle</a:t>
            </a:r>
            <a:r>
              <a:rPr lang="en-US" altLang="zh-TW" dirty="0">
                <a:sym typeface="+mn-ea"/>
              </a:rPr>
              <a:t>, François </a:t>
            </a:r>
            <a:r>
              <a:rPr lang="en-US" altLang="zh-TW" dirty="0" err="1">
                <a:sym typeface="+mn-ea"/>
              </a:rPr>
              <a:t>Laviolette</a:t>
            </a:r>
            <a:r>
              <a:rPr lang="en-US" altLang="zh-TW" dirty="0">
                <a:sym typeface="+mn-ea"/>
              </a:rPr>
              <a:t>, Mario Marchand, Domain-Adversarial Training of Neural Networks, JMLR, 2016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Zero-shot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413374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sym typeface="+mn-ea"/>
              </a:rPr>
              <a:t>Dr. Yan Yan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5798594" y="2536034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512255" y="4248611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1391531" y="6590891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98594" y="2536033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4550999" y="6855263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798594" y="3388163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0368921" y="3388163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50999" y="4224537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512255" y="9823613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65056" y="347213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4012421" y="5193315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1221995" y="3490848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3994275" y="7895489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992590" y="5634785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992590" y="4787499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992590" y="7020326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024631" y="8560994"/>
            <a:ext cx="4169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Zero-shot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101725" y="2419634"/>
                <a:ext cx="16084552" cy="6888006"/>
              </a:xfrm>
            </p:spPr>
            <p:txBody>
              <a:bodyPr/>
              <a:lstStyle/>
              <a:p>
                <a:r>
                  <a:rPr lang="en-US" altLang="zh-TW" dirty="0"/>
                  <a:t>Source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dirty="0"/>
              </a:p>
              <a:p>
                <a:r>
                  <a:rPr lang="en-US" altLang="zh-TW" dirty="0"/>
                  <a:t>Target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1725" y="2419634"/>
                <a:ext cx="16084552" cy="6888006"/>
              </a:xfrm>
              <a:blipFill rotWithShape="1">
                <a:blip r:embed="rId2"/>
                <a:stretch>
                  <a:fillRect t="-4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大括弧 3"/>
          <p:cNvSpPr/>
          <p:nvPr/>
        </p:nvSpPr>
        <p:spPr>
          <a:xfrm>
            <a:off x="12275780" y="2813524"/>
            <a:ext cx="611945" cy="137636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文字方塊 4"/>
          <p:cNvSpPr txBox="1"/>
          <p:nvPr/>
        </p:nvSpPr>
        <p:spPr>
          <a:xfrm>
            <a:off x="13145603" y="2813428"/>
            <a:ext cx="2270174" cy="13220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Different tasks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9015730" y="2419345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Training data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9016003" y="3625531"/>
            <a:ext cx="31775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/>
              <a:t>Testing data</a:t>
            </a:r>
          </a:p>
        </p:txBody>
      </p:sp>
      <p:cxnSp>
        <p:nvCxnSpPr>
          <p:cNvPr id="9" name="直線單箭頭接點 8"/>
          <p:cNvCxnSpPr/>
          <p:nvPr/>
        </p:nvCxnSpPr>
        <p:spPr>
          <a:xfrm>
            <a:off x="7072630" y="2813685"/>
            <a:ext cx="19431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7072770" y="3993788"/>
            <a:ext cx="170737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389" y="5227670"/>
            <a:ext cx="1303644" cy="1697132"/>
          </a:xfrm>
          <a:prstGeom prst="rect">
            <a:avLst/>
          </a:prstGeom>
        </p:spPr>
      </p:pic>
      <p:pic>
        <p:nvPicPr>
          <p:cNvPr id="12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984" y="5468472"/>
            <a:ext cx="2196776" cy="146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/>
          <p:cNvSpPr txBox="1"/>
          <p:nvPr/>
        </p:nvSpPr>
        <p:spPr>
          <a:xfrm>
            <a:off x="4563000" y="7127205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cat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545854" y="7127204"/>
            <a:ext cx="11970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dog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586054" y="5771202"/>
                <a:ext cx="730885" cy="645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altLang="zh-TW" sz="3600" dirty="0"/>
                  <a:t>: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054" y="5771202"/>
                <a:ext cx="730885" cy="645160"/>
              </a:xfrm>
              <a:prstGeom prst="rect">
                <a:avLst/>
              </a:prstGeom>
              <a:blipFill rotWithShape="1">
                <a:blip r:embed="rId5"/>
                <a:stretch>
                  <a:fillRect l="-29" t="-50" r="-1362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579816" y="7083402"/>
                <a:ext cx="743585" cy="645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altLang="zh-TW" sz="3600" dirty="0"/>
                  <a:t>: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816" y="7083402"/>
                <a:ext cx="743585" cy="645160"/>
              </a:xfrm>
              <a:prstGeom prst="rect">
                <a:avLst/>
              </a:prstGeom>
              <a:blipFill rotWithShape="1">
                <a:blip r:embed="rId6"/>
                <a:stretch>
                  <a:fillRect l="-43" t="-95" r="-1323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/>
          <p:cNvSpPr txBox="1"/>
          <p:nvPr/>
        </p:nvSpPr>
        <p:spPr>
          <a:xfrm>
            <a:off x="8208151" y="5718303"/>
            <a:ext cx="1371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8201556" y="6962733"/>
            <a:ext cx="1371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9812914" y="5810636"/>
                <a:ext cx="834369" cy="6610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TW" sz="3600" dirty="0"/>
                  <a:t>: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914" y="5810636"/>
                <a:ext cx="834369" cy="661035"/>
              </a:xfrm>
              <a:prstGeom prst="rect">
                <a:avLst/>
              </a:prstGeom>
              <a:blipFill rotWithShape="1">
                <a:blip r:embed="rId7"/>
                <a:stretch>
                  <a:fillRect l="-31" t="-58" r="29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「草泥馬」的圖片搜尋結果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155" y="5142609"/>
            <a:ext cx="1560593" cy="193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mycoupon.com.tw/files/blog/227615/doc_1292379718484641763.jpe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617" y="5053089"/>
            <a:ext cx="2074115" cy="207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/>
          <p:cNvSpPr/>
          <p:nvPr/>
        </p:nvSpPr>
        <p:spPr>
          <a:xfrm>
            <a:off x="10332434" y="988982"/>
            <a:ext cx="5400402" cy="10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" dirty="0"/>
              <a:t>http://evchk.wikia.com/wiki/%E8%8D%89%E6%B3%A5%E9%A6%AC</a:t>
            </a:r>
            <a:endParaRPr lang="zh-TW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3" grpId="0"/>
      <p:bldP spid="14" grpId="0"/>
      <p:bldP spid="16" grpId="0"/>
      <p:bldP spid="17" grpId="0"/>
      <p:bldP spid="18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Representing each class by its attributes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654911" y="4399084"/>
          <a:ext cx="6303010" cy="426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bg2"/>
                        </a:solidFill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furry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4 legs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tail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Dog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Fish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Chimp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371330" y="8938895"/>
            <a:ext cx="44107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sufficient attributes for one to one mapping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9073614" y="6506572"/>
            <a:ext cx="13736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class</a:t>
            </a:r>
            <a:endParaRPr lang="zh-TW" altLang="en-US" sz="36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2070764" y="3701270"/>
            <a:ext cx="21856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attributes</a:t>
            </a:r>
            <a:endParaRPr lang="zh-TW" altLang="en-US" sz="3600" dirty="0"/>
          </a:p>
        </p:txBody>
      </p:sp>
      <p:sp>
        <p:nvSpPr>
          <p:cNvPr id="8" name="矩形 7"/>
          <p:cNvSpPr/>
          <p:nvPr/>
        </p:nvSpPr>
        <p:spPr>
          <a:xfrm>
            <a:off x="5833257" y="6256691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12" name="箭號: 向下 11"/>
          <p:cNvSpPr/>
          <p:nvPr/>
        </p:nvSpPr>
        <p:spPr>
          <a:xfrm flipH="1" flipV="1">
            <a:off x="6432708" y="7480343"/>
            <a:ext cx="838200" cy="669600"/>
          </a:xfrm>
          <a:prstGeom prst="downArrow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文字方塊 15"/>
          <p:cNvSpPr txBox="1"/>
          <p:nvPr/>
        </p:nvSpPr>
        <p:spPr>
          <a:xfrm>
            <a:off x="2885691" y="3521246"/>
            <a:ext cx="2181609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Training</a:t>
            </a:r>
            <a:endParaRPr lang="zh-TW" altLang="en-US" sz="4200" b="1" i="1" u="sng" dirty="0"/>
          </a:p>
        </p:txBody>
      </p:sp>
      <p:pic>
        <p:nvPicPr>
          <p:cNvPr id="17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257" y="8286488"/>
            <a:ext cx="1977407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/>
          <p:cNvSpPr/>
          <p:nvPr/>
        </p:nvSpPr>
        <p:spPr>
          <a:xfrm>
            <a:off x="3269184" y="6247854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20" name="箭號: 向下 19"/>
          <p:cNvSpPr/>
          <p:nvPr/>
        </p:nvSpPr>
        <p:spPr>
          <a:xfrm flipH="1" flipV="1">
            <a:off x="3868635" y="7471506"/>
            <a:ext cx="838200" cy="669600"/>
          </a:xfrm>
          <a:prstGeom prst="downArrow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3074" name="Picture 2" descr="圖片搜尋結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134" y="8286488"/>
            <a:ext cx="1849202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線單箭頭接點 22"/>
          <p:cNvCxnSpPr/>
          <p:nvPr/>
        </p:nvCxnSpPr>
        <p:spPr>
          <a:xfrm flipV="1">
            <a:off x="3382184" y="5486400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V="1">
            <a:off x="4268685" y="5486400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5125935" y="5486400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2839936" y="4955885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furry</a:t>
            </a:r>
            <a:endParaRPr lang="zh-TW" altLang="en-US" sz="1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3725757" y="4952547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4 legs</a:t>
            </a:r>
            <a:endParaRPr lang="zh-TW" altLang="en-US" sz="1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514882" y="4961417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tail</a:t>
            </a:r>
            <a:endParaRPr lang="zh-TW" altLang="en-US" sz="100" dirty="0"/>
          </a:p>
        </p:txBody>
      </p:sp>
      <p:cxnSp>
        <p:nvCxnSpPr>
          <p:cNvPr id="30" name="直線單箭頭接點 29"/>
          <p:cNvCxnSpPr/>
          <p:nvPr/>
        </p:nvCxnSpPr>
        <p:spPr>
          <a:xfrm flipV="1">
            <a:off x="5983371" y="545919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6869873" y="545919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7727123" y="545919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5441124" y="4928684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furry</a:t>
            </a:r>
            <a:endParaRPr lang="zh-TW" altLang="en-US" sz="1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326944" y="4925346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4 legs</a:t>
            </a:r>
            <a:endParaRPr lang="zh-TW" altLang="en-US" sz="1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116069" y="4934216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tail</a:t>
            </a:r>
            <a:endParaRPr lang="zh-TW" altLang="en-US" sz="100" dirty="0"/>
          </a:p>
        </p:txBody>
      </p:sp>
      <p:sp>
        <p:nvSpPr>
          <p:cNvPr id="27" name="矩形 26"/>
          <p:cNvSpPr/>
          <p:nvPr/>
        </p:nvSpPr>
        <p:spPr>
          <a:xfrm>
            <a:off x="5687319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7" name="矩形 36"/>
          <p:cNvSpPr/>
          <p:nvPr/>
        </p:nvSpPr>
        <p:spPr>
          <a:xfrm>
            <a:off x="6618492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8" name="矩形 37"/>
          <p:cNvSpPr/>
          <p:nvPr/>
        </p:nvSpPr>
        <p:spPr>
          <a:xfrm>
            <a:off x="7475742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39" name="矩形 38"/>
          <p:cNvSpPr/>
          <p:nvPr/>
        </p:nvSpPr>
        <p:spPr>
          <a:xfrm>
            <a:off x="3038748" y="4399440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40" name="矩形 39"/>
          <p:cNvSpPr/>
          <p:nvPr/>
        </p:nvSpPr>
        <p:spPr>
          <a:xfrm>
            <a:off x="3969921" y="4399440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41" name="矩形 40"/>
          <p:cNvSpPr/>
          <p:nvPr/>
        </p:nvSpPr>
        <p:spPr>
          <a:xfrm>
            <a:off x="4827171" y="4399440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11447904" y="2911351"/>
            <a:ext cx="35433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Database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ldLvl="0" animBg="1"/>
      <p:bldP spid="12" grpId="0" bldLvl="0" animBg="1"/>
      <p:bldP spid="16" grpId="0"/>
      <p:bldP spid="18" grpId="0" bldLvl="0" animBg="1"/>
      <p:bldP spid="20" grpId="0" bldLvl="0" animBg="1"/>
      <p:bldP spid="24" grpId="0"/>
      <p:bldP spid="28" grpId="0"/>
      <p:bldP spid="29" grpId="0"/>
      <p:bldP spid="33" grpId="0"/>
      <p:bldP spid="34" grpId="0"/>
      <p:bldP spid="35" grpId="0"/>
      <p:bldP spid="27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14" name="手繪多邊形: 圖案 13"/>
          <p:cNvSpPr/>
          <p:nvPr/>
        </p:nvSpPr>
        <p:spPr>
          <a:xfrm>
            <a:off x="5676900" y="4306074"/>
            <a:ext cx="2876550" cy="2924681"/>
          </a:xfrm>
          <a:custGeom>
            <a:avLst/>
            <a:gdLst>
              <a:gd name="connsiteX0" fmla="*/ 0 w 1917700"/>
              <a:gd name="connsiteY0" fmla="*/ 197164 h 1657664"/>
              <a:gd name="connsiteX1" fmla="*/ 1231900 w 1917700"/>
              <a:gd name="connsiteY1" fmla="*/ 95564 h 1657664"/>
              <a:gd name="connsiteX2" fmla="*/ 1562100 w 1917700"/>
              <a:gd name="connsiteY2" fmla="*/ 1390964 h 1657664"/>
              <a:gd name="connsiteX3" fmla="*/ 1917700 w 1917700"/>
              <a:gd name="connsiteY3" fmla="*/ 1657664 h 165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7700" h="1657664">
                <a:moveTo>
                  <a:pt x="0" y="197164"/>
                </a:moveTo>
                <a:cubicBezTo>
                  <a:pt x="485775" y="46880"/>
                  <a:pt x="971550" y="-103403"/>
                  <a:pt x="1231900" y="95564"/>
                </a:cubicBezTo>
                <a:cubicBezTo>
                  <a:pt x="1492250" y="294531"/>
                  <a:pt x="1447800" y="1130614"/>
                  <a:pt x="1562100" y="1390964"/>
                </a:cubicBezTo>
                <a:cubicBezTo>
                  <a:pt x="1676400" y="1651314"/>
                  <a:pt x="1797050" y="1654489"/>
                  <a:pt x="1917700" y="1657664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文字方塊 14"/>
          <p:cNvSpPr txBox="1"/>
          <p:nvPr/>
        </p:nvSpPr>
        <p:spPr>
          <a:xfrm>
            <a:off x="8007985" y="3059302"/>
            <a:ext cx="5467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Find the class with the most similar attributes</a:t>
            </a:r>
            <a:endParaRPr lang="zh-TW" altLang="en-US" sz="36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551430" y="3521075"/>
            <a:ext cx="23539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Testing</a:t>
            </a:r>
            <a:endParaRPr lang="zh-TW" altLang="en-US" sz="4200" b="1" i="1" u="sng" dirty="0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4737341" y="5828993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5623842" y="5828993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6481092" y="5828993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195094" y="5298477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furry</a:t>
            </a:r>
            <a:endParaRPr lang="zh-TW" altLang="en-US" sz="1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080914" y="5295140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4 legs</a:t>
            </a:r>
            <a:endParaRPr lang="zh-TW" altLang="en-US" sz="1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870039" y="5304009"/>
            <a:ext cx="1143000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" dirty="0"/>
              <a:t>tail</a:t>
            </a:r>
            <a:endParaRPr lang="zh-TW" altLang="en-US" sz="100" dirty="0"/>
          </a:p>
        </p:txBody>
      </p:sp>
      <p:sp>
        <p:nvSpPr>
          <p:cNvPr id="25" name="矩形 24"/>
          <p:cNvSpPr/>
          <p:nvPr/>
        </p:nvSpPr>
        <p:spPr>
          <a:xfrm>
            <a:off x="4441289" y="4769234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6" name="矩形 25"/>
          <p:cNvSpPr/>
          <p:nvPr/>
        </p:nvSpPr>
        <p:spPr>
          <a:xfrm>
            <a:off x="5372462" y="4769234"/>
            <a:ext cx="571500" cy="571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27" name="矩形 26"/>
          <p:cNvSpPr/>
          <p:nvPr/>
        </p:nvSpPr>
        <p:spPr>
          <a:xfrm>
            <a:off x="6229712" y="4769234"/>
            <a:ext cx="571500" cy="5715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7" name="矩形 16"/>
          <p:cNvSpPr/>
          <p:nvPr/>
        </p:nvSpPr>
        <p:spPr>
          <a:xfrm>
            <a:off x="4605290" y="6256217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cxnSp>
        <p:nvCxnSpPr>
          <p:cNvPr id="28" name="直線單箭頭接點 27"/>
          <p:cNvCxnSpPr/>
          <p:nvPr/>
        </p:nvCxnSpPr>
        <p:spPr>
          <a:xfrm flipV="1">
            <a:off x="5614010" y="7476989"/>
            <a:ext cx="0" cy="7614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「fish」的圖片搜尋結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457" y="7968335"/>
            <a:ext cx="2037105" cy="190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3"/>
          <p:cNvGraphicFramePr>
            <a:graphicFrameLocks noGrp="1"/>
          </p:cNvGraphicFramePr>
          <p:nvPr/>
        </p:nvGraphicFramePr>
        <p:xfrm>
          <a:off x="10348206" y="4769289"/>
          <a:ext cx="6303010" cy="4260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bg2"/>
                        </a:solidFill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furry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4 legs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bg2"/>
                          </a:solidFill>
                          <a:cs typeface="+mn-lt"/>
                        </a:rPr>
                        <a:t>tail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Dog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8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Fish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Chimp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X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cs typeface="+mn-lt"/>
                        </a:rPr>
                        <a:t>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cs typeface="+mn-lt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字方塊 4"/>
          <p:cNvSpPr txBox="1"/>
          <p:nvPr/>
        </p:nvSpPr>
        <p:spPr>
          <a:xfrm>
            <a:off x="9064625" y="9169400"/>
            <a:ext cx="44107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sufficient attributes for one to one mapping</a:t>
            </a:r>
          </a:p>
        </p:txBody>
      </p:sp>
      <p:sp>
        <p:nvSpPr>
          <p:cNvPr id="9" name="文字方塊 5"/>
          <p:cNvSpPr txBox="1"/>
          <p:nvPr/>
        </p:nvSpPr>
        <p:spPr>
          <a:xfrm>
            <a:off x="8766909" y="6876777"/>
            <a:ext cx="13736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class</a:t>
            </a:r>
            <a:endParaRPr lang="zh-TW" altLang="en-US" sz="3600" dirty="0"/>
          </a:p>
        </p:txBody>
      </p:sp>
      <p:sp>
        <p:nvSpPr>
          <p:cNvPr id="10" name="文字方塊 6"/>
          <p:cNvSpPr txBox="1"/>
          <p:nvPr/>
        </p:nvSpPr>
        <p:spPr>
          <a:xfrm>
            <a:off x="12406679" y="4099415"/>
            <a:ext cx="218562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attributes</a:t>
            </a:r>
            <a:endParaRPr lang="zh-TW" altLang="en-US" sz="3600" dirty="0"/>
          </a:p>
        </p:txBody>
      </p:sp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1098550" y="2050415"/>
            <a:ext cx="16084550" cy="1475105"/>
          </a:xfrm>
        </p:spPr>
        <p:txBody>
          <a:bodyPr/>
          <a:lstStyle/>
          <a:p>
            <a:r>
              <a:rPr lang="en-US" altLang="zh-TW" dirty="0"/>
              <a:t>Representing each class by its attributes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/>
      <p:bldP spid="22" grpId="0"/>
      <p:bldP spid="23" grpId="0"/>
      <p:bldP spid="24" grpId="0"/>
      <p:bldP spid="25" grpId="0" bldLvl="0" animBg="1"/>
      <p:bldP spid="26" grpId="0" bldLvl="0" animBg="1"/>
      <p:bldP spid="27" grpId="0" bldLvl="0" animBg="1"/>
      <p:bldP spid="17" grpId="0" bldLvl="0" animBg="1"/>
      <p:bldP spid="8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Attribute embedding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933950" y="5010150"/>
            <a:ext cx="8496300" cy="382085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080" y="3692208"/>
            <a:ext cx="1977407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6581775" y="8919195"/>
            <a:ext cx="5124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Embedding Space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241721" y="4497219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2 </a:t>
            </a:r>
            <a:r>
              <a:rPr lang="en-US" altLang="zh-TW" sz="3600" dirty="0"/>
              <a:t>(attribute of dog)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618586" y="5105863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953125" y="3962400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4444036" y="8211968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424416" y="3803517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1 </a:t>
            </a:r>
            <a:r>
              <a:rPr lang="en-US" altLang="zh-TW" sz="3600" dirty="0"/>
              <a:t>(attribute of chimp)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016013" y="8127558"/>
            <a:ext cx="343707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30000" dirty="0"/>
              <a:t>3 </a:t>
            </a:r>
            <a:r>
              <a:rPr lang="en-US" altLang="zh-TW" sz="2800" dirty="0"/>
              <a:t>(attribute of Grass-mud horse)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blipFill rotWithShape="1">
                <a:blip r:embed="rId3"/>
                <a:stretch>
                  <a:fillRect l="-30" t="-31" r="-5574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blipFill rotWithShape="1">
                <a:blip r:embed="rId4"/>
                <a:stretch>
                  <a:fillRect l="-41" t="-7" r="-5563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7015692" y="6544374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10929891" y="5991852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10221854" y="6001758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7838076" y="6544374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blipFill rotWithShape="1">
                <a:blip r:embed="rId5"/>
                <a:stretch>
                  <a:fillRect l="-24" t="-76" r="-5623" b="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blipFill rotWithShape="1">
                <a:blip r:embed="rId6"/>
                <a:stretch>
                  <a:fillRect l="-31" t="-27" r="-5616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單箭頭接點 24"/>
          <p:cNvCxnSpPr/>
          <p:nvPr/>
        </p:nvCxnSpPr>
        <p:spPr>
          <a:xfrm>
            <a:off x="5570166" y="5786090"/>
            <a:ext cx="1457855" cy="883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19" idx="1"/>
          </p:cNvCxnSpPr>
          <p:nvPr/>
        </p:nvCxnSpPr>
        <p:spPr>
          <a:xfrm>
            <a:off x="8300763" y="4811277"/>
            <a:ext cx="1965650" cy="1235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H="1">
            <a:off x="8021217" y="4934424"/>
            <a:ext cx="1690313" cy="1690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18" idx="7"/>
          </p:cNvCxnSpPr>
          <p:nvPr/>
        </p:nvCxnSpPr>
        <p:spPr>
          <a:xfrm flipH="1">
            <a:off x="11189603" y="4968870"/>
            <a:ext cx="1066637" cy="1067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2583524" y="1833564"/>
                <a:ext cx="4904376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</m:oMath>
                </a14:m>
                <a:r>
                  <a:rPr lang="en-US" altLang="zh-TW" sz="2800" dirty="0"/>
                  <a:t> can be NN. </a:t>
                </a:r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524" y="1833564"/>
                <a:ext cx="4904376" cy="521970"/>
              </a:xfrm>
              <a:prstGeom prst="rect">
                <a:avLst/>
              </a:prstGeom>
              <a:blipFill rotWithShape="1">
                <a:blip r:embed="rId7"/>
                <a:stretch>
                  <a:fillRect l="-7" t="-61" b="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12583524" y="2520515"/>
            <a:ext cx="49043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Training target: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13491142" y="3252966"/>
                <a:ext cx="4036967" cy="95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800" dirty="0"/>
                  <a:t> as close as possible </a:t>
                </a:r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142" y="3252966"/>
                <a:ext cx="4036967" cy="953135"/>
              </a:xfrm>
              <a:prstGeom prst="rect">
                <a:avLst/>
              </a:prstGeom>
              <a:blipFill rotWithShape="1">
                <a:blip r:embed="rId8"/>
                <a:stretch>
                  <a:fillRect l="-14" t="-52" r="5" b="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橢圓 34"/>
          <p:cNvSpPr/>
          <p:nvPr/>
        </p:nvSpPr>
        <p:spPr>
          <a:xfrm>
            <a:off x="8790807" y="7602605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6360318" y="7754739"/>
            <a:ext cx="2391911" cy="750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9745938" y="7602605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9555225" y="7960555"/>
                <a:ext cx="1170940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225" y="7960555"/>
                <a:ext cx="1170940" cy="539750"/>
              </a:xfrm>
              <a:prstGeom prst="rect">
                <a:avLst/>
              </a:prstGeom>
              <a:blipFill rotWithShape="1">
                <a:blip r:embed="rId9"/>
                <a:stretch>
                  <a:fillRect l="-32" t="-36" r="-4848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/>
          <p:cNvCxnSpPr>
            <a:endCxn id="38" idx="6"/>
          </p:cNvCxnSpPr>
          <p:nvPr/>
        </p:nvCxnSpPr>
        <p:spPr>
          <a:xfrm flipH="1" flipV="1">
            <a:off x="10050209" y="7754741"/>
            <a:ext cx="2533875" cy="7126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7197957" y="6669635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10365395" y="6153893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blipFill rotWithShape="1">
                <a:blip r:embed="rId10"/>
                <a:stretch>
                  <a:fillRect l="-9" t="-48" r="-5638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" name="Content Placeholder 102"/>
          <p:cNvPicPr>
            <a:picLocks noGrp="1" noChangeAspect="1"/>
          </p:cNvPicPr>
          <p:nvPr>
            <p:ph sz="half" idx="2"/>
          </p:nvPr>
        </p:nvPicPr>
        <p:blipFill>
          <a:blip r:embed="rId11"/>
          <a:stretch>
            <a:fillRect/>
          </a:stretch>
        </p:blipFill>
        <p:spPr>
          <a:xfrm>
            <a:off x="12504420" y="7686040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Content Placeholder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3445" y="4789805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 bldLvl="0" animBg="1"/>
      <p:bldP spid="18" grpId="0" bldLvl="0" animBg="1"/>
      <p:bldP spid="19" grpId="0" bldLvl="0" animBg="1"/>
      <p:bldP spid="21" grpId="0" bldLvl="0" animBg="1"/>
      <p:bldP spid="22" grpId="0"/>
      <p:bldP spid="23" grpId="0"/>
      <p:bldP spid="32" grpId="0"/>
      <p:bldP spid="33" grpId="0"/>
      <p:bldP spid="34" grpId="0"/>
      <p:bldP spid="35" grpId="0" bldLvl="0" animBg="1"/>
      <p:bldP spid="38" grpId="0" bldLvl="0" animBg="1"/>
      <p:bldP spid="39" grpId="0"/>
      <p:bldP spid="4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Attribute embedding + word embedding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933950" y="5010150"/>
            <a:ext cx="8496300" cy="382085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5" name="Picture 6" descr="http://thenypost.files.wordpress.com/2014/01/dogs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080" y="3692208"/>
            <a:ext cx="1977407" cy="131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6581775" y="8919195"/>
            <a:ext cx="5124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Embedding Space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2241721" y="4497219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2 </a:t>
            </a:r>
            <a:r>
              <a:rPr lang="en-US" altLang="zh-TW" sz="3600" dirty="0"/>
              <a:t>(attribute of dog)</a:t>
            </a:r>
            <a:endParaRPr lang="zh-TW" altLang="en-US" sz="36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395701" y="4938858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1</a:t>
            </a:r>
            <a:endParaRPr lang="zh-TW" altLang="en-US" sz="3600" baseline="30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953125" y="3962400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2</a:t>
            </a:r>
            <a:endParaRPr lang="zh-TW" altLang="en-US" sz="3600" baseline="30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4444036" y="8211968"/>
            <a:ext cx="8143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x</a:t>
            </a:r>
            <a:r>
              <a:rPr lang="en-US" altLang="zh-TW" sz="3600" baseline="30000" dirty="0"/>
              <a:t>3</a:t>
            </a:r>
            <a:endParaRPr lang="zh-TW" altLang="en-US" sz="3600" baseline="30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424416" y="3803517"/>
            <a:ext cx="2628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</a:t>
            </a:r>
            <a:r>
              <a:rPr lang="en-US" altLang="zh-TW" sz="3600" baseline="30000" dirty="0"/>
              <a:t>1 </a:t>
            </a:r>
            <a:r>
              <a:rPr lang="en-US" altLang="zh-TW" sz="3600" dirty="0"/>
              <a:t>(attribute of chimp)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921635" y="8282305"/>
            <a:ext cx="37598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y</a:t>
            </a:r>
            <a:r>
              <a:rPr lang="en-US" altLang="zh-TW" sz="2800" baseline="30000" dirty="0"/>
              <a:t>3 </a:t>
            </a:r>
            <a:r>
              <a:rPr lang="en-US" altLang="zh-TW" sz="2800" dirty="0"/>
              <a:t>(attribute of Grass-mud horse)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177" y="6900711"/>
                <a:ext cx="1155700" cy="538480"/>
              </a:xfrm>
              <a:prstGeom prst="rect">
                <a:avLst/>
              </a:prstGeom>
              <a:blipFill rotWithShape="1">
                <a:blip r:embed="rId3"/>
                <a:stretch>
                  <a:fillRect l="-30" t="-31" r="-5574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014" y="6353214"/>
                <a:ext cx="1155700" cy="539115"/>
              </a:xfrm>
              <a:prstGeom prst="rect">
                <a:avLst/>
              </a:prstGeom>
              <a:blipFill rotWithShape="1">
                <a:blip r:embed="rId4"/>
                <a:stretch>
                  <a:fillRect l="-41" t="-7" r="-5563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橢圓 16"/>
          <p:cNvSpPr/>
          <p:nvPr/>
        </p:nvSpPr>
        <p:spPr>
          <a:xfrm>
            <a:off x="7015692" y="6544374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10929891" y="5991852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10221854" y="6001758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7838076" y="6544374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002" y="7966485"/>
                <a:ext cx="1191895" cy="539750"/>
              </a:xfrm>
              <a:prstGeom prst="rect">
                <a:avLst/>
              </a:prstGeom>
              <a:blipFill rotWithShape="1">
                <a:blip r:embed="rId5"/>
                <a:stretch>
                  <a:fillRect l="-24" t="-76" r="-5623" b="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3000" y="6282836"/>
                <a:ext cx="1191895" cy="539115"/>
              </a:xfrm>
              <a:prstGeom prst="rect">
                <a:avLst/>
              </a:prstGeom>
              <a:blipFill rotWithShape="1">
                <a:blip r:embed="rId6"/>
                <a:stretch>
                  <a:fillRect l="-31" t="-27" r="-5616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單箭頭接點 24"/>
          <p:cNvCxnSpPr/>
          <p:nvPr/>
        </p:nvCxnSpPr>
        <p:spPr>
          <a:xfrm>
            <a:off x="5570166" y="5786090"/>
            <a:ext cx="1457855" cy="883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19" idx="1"/>
          </p:cNvCxnSpPr>
          <p:nvPr/>
        </p:nvCxnSpPr>
        <p:spPr>
          <a:xfrm>
            <a:off x="8300763" y="4811277"/>
            <a:ext cx="1965650" cy="1235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H="1">
            <a:off x="8021217" y="4934424"/>
            <a:ext cx="1690313" cy="1690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18" idx="7"/>
          </p:cNvCxnSpPr>
          <p:nvPr/>
        </p:nvCxnSpPr>
        <p:spPr>
          <a:xfrm flipH="1">
            <a:off x="11189603" y="4968870"/>
            <a:ext cx="1066637" cy="1067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8790807" y="7602605"/>
            <a:ext cx="304271" cy="30427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6360318" y="7754739"/>
            <a:ext cx="2391911" cy="7500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橢圓 37"/>
          <p:cNvSpPr/>
          <p:nvPr/>
        </p:nvSpPr>
        <p:spPr>
          <a:xfrm>
            <a:off x="9745938" y="7602605"/>
            <a:ext cx="304271" cy="3042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9555225" y="7960555"/>
                <a:ext cx="1160780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225" y="7960555"/>
                <a:ext cx="1160780" cy="539750"/>
              </a:xfrm>
              <a:prstGeom prst="rect">
                <a:avLst/>
              </a:prstGeom>
              <a:blipFill rotWithShape="1">
                <a:blip r:embed="rId7"/>
                <a:stretch>
                  <a:fillRect l="-33" t="-36" r="-5328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/>
          <p:cNvCxnSpPr>
            <a:endCxn id="38" idx="6"/>
          </p:cNvCxnSpPr>
          <p:nvPr/>
        </p:nvCxnSpPr>
        <p:spPr>
          <a:xfrm flipH="1" flipV="1">
            <a:off x="10050209" y="7754741"/>
            <a:ext cx="2533875" cy="7126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7197957" y="6669635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10365395" y="6153893"/>
            <a:ext cx="71663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11" y="6905886"/>
                <a:ext cx="1191895" cy="538480"/>
              </a:xfrm>
              <a:prstGeom prst="rect">
                <a:avLst/>
              </a:prstGeom>
              <a:blipFill rotWithShape="1">
                <a:blip r:embed="rId8"/>
                <a:stretch>
                  <a:fillRect l="-9" t="-48" r="-5638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/>
          <p:cNvSpPr txBox="1"/>
          <p:nvPr/>
        </p:nvSpPr>
        <p:spPr>
          <a:xfrm>
            <a:off x="12947065" y="2309069"/>
            <a:ext cx="4443045" cy="1383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/>
              <a:t>What if we don’t have database</a:t>
            </a:r>
            <a:endParaRPr lang="zh-TW" altLang="en-US" sz="4200" dirty="0"/>
          </a:p>
        </p:txBody>
      </p:sp>
      <p:sp>
        <p:nvSpPr>
          <p:cNvPr id="42" name="矩形 41"/>
          <p:cNvSpPr/>
          <p:nvPr/>
        </p:nvSpPr>
        <p:spPr>
          <a:xfrm>
            <a:off x="9330381" y="3883988"/>
            <a:ext cx="2600715" cy="1055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V(chimp)</a:t>
            </a:r>
          </a:p>
        </p:txBody>
      </p:sp>
      <p:sp>
        <p:nvSpPr>
          <p:cNvPr id="46" name="矩形 45"/>
          <p:cNvSpPr/>
          <p:nvPr/>
        </p:nvSpPr>
        <p:spPr>
          <a:xfrm>
            <a:off x="12281498" y="4575714"/>
            <a:ext cx="2600715" cy="1055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V(dog)</a:t>
            </a:r>
          </a:p>
        </p:txBody>
      </p:sp>
      <p:sp>
        <p:nvSpPr>
          <p:cNvPr id="47" name="矩形 46"/>
          <p:cNvSpPr/>
          <p:nvPr/>
        </p:nvSpPr>
        <p:spPr>
          <a:xfrm>
            <a:off x="2921700" y="8180301"/>
            <a:ext cx="3586004" cy="10550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V(Grass-</a:t>
            </a:r>
            <a:r>
              <a:rPr lang="en-US" altLang="zh-TW" sz="3200" dirty="0" err="1">
                <a:solidFill>
                  <a:schemeClr val="tx1"/>
                </a:solidFill>
              </a:rPr>
              <a:t>mud_horse</a:t>
            </a:r>
            <a:r>
              <a:rPr lang="en-US" altLang="zh-TW" sz="32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3433445" y="4789805"/>
            <a:ext cx="2148840" cy="13639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Content Placeholder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4420" y="7686040"/>
            <a:ext cx="2103120" cy="13944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42" grpId="0" bldLvl="0" animBg="1"/>
      <p:bldP spid="46" grpId="0" bldLvl="0" animBg="1"/>
      <p:bldP spid="4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168999" y="2001852"/>
                <a:ext cx="7567295" cy="1167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999" y="2001852"/>
                <a:ext cx="7567295" cy="1167765"/>
              </a:xfrm>
              <a:prstGeom prst="rect">
                <a:avLst/>
              </a:prstGeom>
              <a:blipFill rotWithShape="1">
                <a:blip r:embed="rId2"/>
                <a:stretch>
                  <a:fillRect l="-5" t="-28" r="-356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1449050" y="2282086"/>
            <a:ext cx="25288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Problem?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112135" y="3458210"/>
                <a:ext cx="13656310" cy="1167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d>
                                <m:dPr>
                                  <m:ctrlP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TW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3600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altLang="zh-TW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3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36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135" y="3458210"/>
                <a:ext cx="13656310" cy="11677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3313333" y="6029809"/>
            <a:ext cx="4705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Zero loss: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666009" y="6108418"/>
                <a:ext cx="8559800" cy="693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009" y="6108418"/>
                <a:ext cx="8559800" cy="693420"/>
              </a:xfrm>
              <a:prstGeom prst="rect">
                <a:avLst/>
              </a:prstGeom>
              <a:blipFill rotWithShape="1">
                <a:blip r:embed="rId4"/>
                <a:stretch>
                  <a:fillRect l="-6" t="-51" r="6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6690918" y="4940529"/>
            <a:ext cx="400960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Margin you defined</a:t>
            </a:r>
            <a:endParaRPr lang="zh-TW" altLang="en-US" sz="3600" dirty="0"/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9086850" y="4295698"/>
            <a:ext cx="0" cy="644831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666009" y="7170930"/>
                <a:ext cx="7757795" cy="693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TW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009" y="7170930"/>
                <a:ext cx="7757795" cy="693420"/>
              </a:xfrm>
              <a:prstGeom prst="rect">
                <a:avLst/>
              </a:prstGeom>
              <a:blipFill rotWithShape="1">
                <a:blip r:embed="rId5"/>
                <a:stretch>
                  <a:fillRect l="-7" t="-74" r="7" b="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3313333" y="8365143"/>
                <a:ext cx="5144867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 as close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333" y="8365143"/>
                <a:ext cx="5144867" cy="1198880"/>
              </a:xfrm>
              <a:prstGeom prst="rect">
                <a:avLst/>
              </a:prstGeom>
              <a:blipFill rotWithShape="1">
                <a:blip r:embed="rId6"/>
                <a:stretch>
                  <a:fillRect l="-10" t="-24"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9086850" y="8365143"/>
                <a:ext cx="6358554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 not as close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850" y="8365143"/>
                <a:ext cx="6358554" cy="645160"/>
              </a:xfrm>
              <a:prstGeom prst="rect">
                <a:avLst/>
              </a:prstGeom>
              <a:blipFill rotWithShape="1">
                <a:blip r:embed="rId7"/>
                <a:stretch>
                  <a:fillRect t="-45" r="5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單箭頭接點 21"/>
          <p:cNvCxnSpPr/>
          <p:nvPr/>
        </p:nvCxnSpPr>
        <p:spPr>
          <a:xfrm flipV="1">
            <a:off x="5353050" y="7895743"/>
            <a:ext cx="1485900" cy="58032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10553700" y="7895743"/>
            <a:ext cx="331451" cy="64483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5750580" y="7755468"/>
            <a:ext cx="2707623" cy="0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9032088" y="7755468"/>
            <a:ext cx="3706125" cy="0"/>
          </a:xfrm>
          <a:prstGeom prst="straightConnector1">
            <a:avLst/>
          </a:prstGeom>
          <a:ln w="381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/>
      <p:bldP spid="14" grpId="0"/>
      <p:bldP spid="15" grpId="0"/>
      <p:bldP spid="19" grpId="0"/>
      <p:bldP spid="20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接點 18"/>
          <p:cNvCxnSpPr/>
          <p:nvPr/>
        </p:nvCxnSpPr>
        <p:spPr>
          <a:xfrm flipV="1">
            <a:off x="9868578" y="4863908"/>
            <a:ext cx="2410517" cy="33152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Zero-shot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Convex Combination of Semantic Embedding</a:t>
            </a:r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>
          <a:xfrm flipH="1" flipV="1">
            <a:off x="5092506" y="5085471"/>
            <a:ext cx="0" cy="1025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6174363" y="5085471"/>
            <a:ext cx="0" cy="1025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608909" y="5836610"/>
            <a:ext cx="2037105" cy="116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NN</a:t>
            </a:r>
          </a:p>
        </p:txBody>
      </p:sp>
      <p:cxnSp>
        <p:nvCxnSpPr>
          <p:cNvPr id="9" name="直線單箭頭接點 8"/>
          <p:cNvCxnSpPr/>
          <p:nvPr/>
        </p:nvCxnSpPr>
        <p:spPr>
          <a:xfrm flipH="1" flipV="1">
            <a:off x="5627462" y="7002330"/>
            <a:ext cx="0" cy="1025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498821" y="3839972"/>
            <a:ext cx="101855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lion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588097" y="3825311"/>
            <a:ext cx="12558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tiger</a:t>
            </a:r>
            <a:endParaRPr lang="zh-TW" altLang="en-US" sz="36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464588" y="4378580"/>
            <a:ext cx="12558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0.5</a:t>
            </a:r>
            <a:endParaRPr lang="zh-TW" altLang="en-US" sz="3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546447" y="4376418"/>
            <a:ext cx="12558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0.5</a:t>
            </a:r>
            <a:endParaRPr lang="zh-TW" altLang="en-US" sz="36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8401352" y="7453252"/>
            <a:ext cx="14672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V(lion)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1891535" y="4026033"/>
            <a:ext cx="24036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V(tiger)</a:t>
            </a:r>
          </a:p>
        </p:txBody>
      </p:sp>
      <p:sp>
        <p:nvSpPr>
          <p:cNvPr id="10" name="橢圓 9"/>
          <p:cNvSpPr/>
          <p:nvPr/>
        </p:nvSpPr>
        <p:spPr>
          <a:xfrm>
            <a:off x="9774738" y="7985018"/>
            <a:ext cx="321465" cy="321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橢圓 16"/>
          <p:cNvSpPr/>
          <p:nvPr/>
        </p:nvSpPr>
        <p:spPr>
          <a:xfrm>
            <a:off x="12155694" y="4770299"/>
            <a:ext cx="321465" cy="321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10565664" y="5912160"/>
            <a:ext cx="321465" cy="321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8910245" y="5332269"/>
            <a:ext cx="181547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V(liger)</a:t>
            </a:r>
          </a:p>
        </p:txBody>
      </p:sp>
      <p:sp>
        <p:nvSpPr>
          <p:cNvPr id="21" name="橢圓 20"/>
          <p:cNvSpPr/>
          <p:nvPr/>
        </p:nvSpPr>
        <p:spPr>
          <a:xfrm>
            <a:off x="10980969" y="6306608"/>
            <a:ext cx="301326" cy="2879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文字方塊 23"/>
          <p:cNvSpPr txBox="1"/>
          <p:nvPr/>
        </p:nvSpPr>
        <p:spPr>
          <a:xfrm>
            <a:off x="11027319" y="7241637"/>
            <a:ext cx="4294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0.5V(tiger)+0.5V(lion)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118907" y="4213976"/>
            <a:ext cx="340550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Find the closest word vector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8401352" y="8630463"/>
            <a:ext cx="665767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Only need off-the-shelf NN for ImageNet and word vector</a:t>
            </a:r>
          </a:p>
        </p:txBody>
      </p:sp>
      <p:pic>
        <p:nvPicPr>
          <p:cNvPr id="104" name="Content Placeholder 10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49725" y="7816215"/>
            <a:ext cx="2954655" cy="18757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11" grpId="0"/>
      <p:bldP spid="12" grpId="0"/>
      <p:bldP spid="13" grpId="0"/>
      <p:bldP spid="14" grpId="0"/>
      <p:bldP spid="15" grpId="0"/>
      <p:bldP spid="10" grpId="0" bldLvl="0" animBg="1"/>
      <p:bldP spid="17" grpId="0" bldLvl="0" animBg="1"/>
      <p:bldP spid="18" grpId="0" bldLvl="0" animBg="1"/>
      <p:bldP spid="22" grpId="0"/>
      <p:bldP spid="21" grpId="0" bldLvl="0" animBg="1"/>
      <p:bldP spid="24" grpId="0"/>
      <p:bldP spid="25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02247"/>
            <a:ext cx="13716000" cy="893960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304424" y="9441852"/>
            <a:ext cx="391160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00" dirty="0"/>
              <a:t>https://arxiv.org/pdf/1312.5650v3.pdf</a:t>
            </a:r>
          </a:p>
        </p:txBody>
      </p:sp>
      <p:sp>
        <p:nvSpPr>
          <p:cNvPr id="2" name="矩形 1"/>
          <p:cNvSpPr/>
          <p:nvPr/>
        </p:nvSpPr>
        <p:spPr>
          <a:xfrm>
            <a:off x="2328204" y="1912328"/>
            <a:ext cx="3228536" cy="30887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矩形 4"/>
          <p:cNvSpPr/>
          <p:nvPr/>
        </p:nvSpPr>
        <p:spPr>
          <a:xfrm>
            <a:off x="2328204" y="5085746"/>
            <a:ext cx="3228536" cy="4428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矩形 5"/>
          <p:cNvSpPr/>
          <p:nvPr/>
        </p:nvSpPr>
        <p:spPr>
          <a:xfrm>
            <a:off x="5598795" y="1917700"/>
            <a:ext cx="2839720" cy="36112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8570595" y="2016760"/>
            <a:ext cx="3375660" cy="35121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矩形 7"/>
          <p:cNvSpPr/>
          <p:nvPr/>
        </p:nvSpPr>
        <p:spPr>
          <a:xfrm>
            <a:off x="11983575" y="2016557"/>
            <a:ext cx="4018425" cy="35107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2327909" y="5613284"/>
            <a:ext cx="3153266" cy="31649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2365838" y="8778240"/>
            <a:ext cx="3153266" cy="4607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矩形 12"/>
          <p:cNvSpPr/>
          <p:nvPr/>
        </p:nvSpPr>
        <p:spPr>
          <a:xfrm>
            <a:off x="5674360" y="5613400"/>
            <a:ext cx="2740025" cy="36696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矩形 13"/>
          <p:cNvSpPr/>
          <p:nvPr/>
        </p:nvSpPr>
        <p:spPr>
          <a:xfrm>
            <a:off x="8485505" y="5612765"/>
            <a:ext cx="3472180" cy="3622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" name="矩形 14"/>
          <p:cNvSpPr/>
          <p:nvPr/>
        </p:nvSpPr>
        <p:spPr>
          <a:xfrm>
            <a:off x="12005945" y="5728970"/>
            <a:ext cx="4036695" cy="3510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Zero-shot Learning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3184" y="2046179"/>
            <a:ext cx="12132926" cy="6415284"/>
          </a:xfrm>
        </p:spPr>
      </p:pic>
      <p:sp>
        <p:nvSpPr>
          <p:cNvPr id="5" name="Text Box 4"/>
          <p:cNvSpPr txBox="1"/>
          <p:nvPr/>
        </p:nvSpPr>
        <p:spPr>
          <a:xfrm>
            <a:off x="2025650" y="9641840"/>
            <a:ext cx="120021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TW" dirty="0">
                <a:sym typeface="+mn-ea"/>
              </a:rPr>
              <a:t>Melvin Johnson, Mike Schuster, Quoc V. Le, Maxim </a:t>
            </a:r>
            <a:r>
              <a:rPr lang="en-US" altLang="zh-TW" dirty="0" err="1">
                <a:sym typeface="+mn-ea"/>
              </a:rPr>
              <a:t>Krikun</a:t>
            </a:r>
            <a:r>
              <a:rPr lang="en-US" altLang="zh-TW" dirty="0">
                <a:sym typeface="+mn-ea"/>
              </a:rPr>
              <a:t>, </a:t>
            </a:r>
            <a:r>
              <a:rPr lang="en-US" altLang="zh-TW" dirty="0" err="1">
                <a:sym typeface="+mn-ea"/>
              </a:rPr>
              <a:t>Yonghui</a:t>
            </a:r>
            <a:r>
              <a:rPr lang="en-US" altLang="zh-TW" dirty="0">
                <a:sym typeface="+mn-ea"/>
              </a:rPr>
              <a:t> Wu, </a:t>
            </a:r>
            <a:r>
              <a:rPr lang="en-US" altLang="zh-TW" dirty="0" err="1">
                <a:sym typeface="+mn-ea"/>
              </a:rPr>
              <a:t>Zhifeng</a:t>
            </a:r>
            <a:r>
              <a:rPr lang="en-US" altLang="zh-TW" dirty="0">
                <a:sym typeface="+mn-ea"/>
              </a:rPr>
              <a:t> Chen, Nikhil </a:t>
            </a:r>
            <a:r>
              <a:rPr lang="en-US" altLang="zh-TW" dirty="0" err="1">
                <a:sym typeface="+mn-ea"/>
              </a:rPr>
              <a:t>Thorat</a:t>
            </a:r>
            <a:r>
              <a:rPr lang="en-US" altLang="zh-TW" dirty="0">
                <a:sym typeface="+mn-ea"/>
              </a:rPr>
              <a:t>. Google’s Multilingual Neural Machine Translation System: Enabling Zero-Shot Translation, </a:t>
            </a:r>
            <a:r>
              <a:rPr lang="en-US" altLang="zh-TW" dirty="0" err="1">
                <a:sym typeface="+mn-ea"/>
              </a:rPr>
              <a:t>arXiv</a:t>
            </a:r>
            <a:r>
              <a:rPr lang="en-US" altLang="zh-TW" dirty="0">
                <a:sym typeface="+mn-ea"/>
              </a:rPr>
              <a:t> preprint 2016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Zero-shot Learning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0" y="1854200"/>
            <a:ext cx="12712700" cy="6955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Transfer Learning - Overview</a:t>
            </a:r>
            <a:endParaRPr lang="zh-TW" altLang="en-US" dirty="0"/>
          </a:p>
        </p:txBody>
      </p:sp>
      <p:cxnSp>
        <p:nvCxnSpPr>
          <p:cNvPr id="4" name="直線接點 3"/>
          <p:cNvCxnSpPr/>
          <p:nvPr/>
        </p:nvCxnSpPr>
        <p:spPr>
          <a:xfrm flipV="1">
            <a:off x="4680359" y="2012159"/>
            <a:ext cx="0" cy="7287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2394020" y="3724736"/>
            <a:ext cx="110973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 rot="16200000">
            <a:off x="273296" y="6067016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Target Data 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80359" y="2012158"/>
            <a:ext cx="89198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Source Data (not directly related to the task) </a:t>
            </a:r>
          </a:p>
        </p:txBody>
      </p:sp>
      <p:cxnSp>
        <p:nvCxnSpPr>
          <p:cNvPr id="12" name="直線接點 11"/>
          <p:cNvCxnSpPr/>
          <p:nvPr/>
        </p:nvCxnSpPr>
        <p:spPr>
          <a:xfrm>
            <a:off x="3432764" y="6331388"/>
            <a:ext cx="10058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680359" y="2864288"/>
            <a:ext cx="87909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9250686" y="2864288"/>
            <a:ext cx="0" cy="64354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432764" y="3700662"/>
            <a:ext cx="0" cy="55990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394020" y="9299738"/>
            <a:ext cx="112061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646821" y="294826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2894186" y="4669440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labelled</a:t>
            </a:r>
            <a:endParaRPr lang="zh-TW" altLang="en-US" sz="36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103760" y="2966973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25" name="文字方塊 24"/>
          <p:cNvSpPr txBox="1"/>
          <p:nvPr/>
        </p:nvSpPr>
        <p:spPr>
          <a:xfrm rot="16200000">
            <a:off x="2876040" y="7371614"/>
            <a:ext cx="23247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unlabeled</a:t>
            </a:r>
            <a:endParaRPr lang="zh-TW" altLang="en-US" sz="3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4874355" y="5110910"/>
            <a:ext cx="386967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Multitask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74355" y="4263624"/>
            <a:ext cx="38696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Fine-tuning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293843" y="3769193"/>
            <a:ext cx="4809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874355" y="6496451"/>
            <a:ext cx="41694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Domain-adversarial training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906396" y="8037119"/>
            <a:ext cx="416942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Zero-shot learning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293860" y="7216140"/>
            <a:ext cx="4782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Self-taught Clustering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110740" y="4554855"/>
            <a:ext cx="401320" cy="96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TW" altLang="zh-TW" sz="2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2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06774" y="5652337"/>
            <a:ext cx="4207256" cy="1198880"/>
          </a:xfrm>
          <a:prstGeom prst="rect">
            <a:avLst/>
          </a:prstGeom>
          <a:gradFill>
            <a:gsLst>
              <a:gs pos="31000">
                <a:schemeClr val="accent2"/>
              </a:gs>
              <a:gs pos="100000">
                <a:schemeClr val="accent1">
                  <a:tint val="50000"/>
                  <a:satMod val="1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TW" sz="3600" dirty="0">
                <a:solidFill>
                  <a:schemeClr val="tx1"/>
                </a:solidFill>
              </a:rPr>
              <a:t>Different from semi-supervised learning</a:t>
            </a:r>
          </a:p>
        </p:txBody>
      </p:sp>
      <p:graphicFrame>
        <p:nvGraphicFramePr>
          <p:cNvPr id="8" name="表格 27"/>
          <p:cNvGraphicFramePr>
            <a:graphicFrameLocks noGrp="1"/>
          </p:cNvGraphicFramePr>
          <p:nvPr>
            <p:ph idx="1"/>
          </p:nvPr>
        </p:nvGraphicFramePr>
        <p:xfrm>
          <a:off x="9425305" y="4540250"/>
          <a:ext cx="5770880" cy="986155"/>
        </p:xfrm>
        <a:graphic>
          <a:graphicData uri="http://schemas.openxmlformats.org/drawingml/2006/table">
            <a:tbl>
              <a:tblPr/>
              <a:tblGrid>
                <a:gridCol w="577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615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Rajat Raina , Alexis Battle , </a:t>
                      </a: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Honglak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 , Benjamin Packer , Andrew Y. Ng,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Self-taught learning: transfer learning from unlabeled data, ICML, 2007</a:t>
                      </a:r>
                    </a:p>
                  </a:txBody>
                  <a:tcPr marL="80545" marR="83901" marT="16780" marB="16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9425305" y="7949565"/>
            <a:ext cx="5313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TW" altLang="en-US" dirty="0">
                <a:sym typeface="+mn-ea"/>
              </a:rPr>
              <a:t>Wenyuan Dai, Qiang Yang, Gui-Rong Xue, Yong Yu, "Self-taught clustering", ICML 2008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Self-taught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Learning to extract better representation from the source data (unsupervised approach)</a:t>
            </a:r>
          </a:p>
          <a:p>
            <a:r>
              <a:rPr lang="en-US" altLang="zh-TW" sz="3600" dirty="0"/>
              <a:t>Extracting better representation for target data</a:t>
            </a:r>
            <a:endParaRPr lang="zh-TW" altLang="en-US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750505"/>
            <a:ext cx="13716000" cy="3892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765F25-85E7-432D-8E61-AB58BFBBF4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59F6D0-BB20-4F05-A184-A5571BFE98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1868</Words>
  <Application>Microsoft Office PowerPoint</Application>
  <PresentationFormat>Custom</PresentationFormat>
  <Paragraphs>401</Paragraphs>
  <Slides>41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Lucida Grande</vt:lpstr>
      <vt:lpstr>Arial</vt:lpstr>
      <vt:lpstr>Calibri</vt:lpstr>
      <vt:lpstr>Cambria Math</vt:lpstr>
      <vt:lpstr>Wingdings 2</vt:lpstr>
      <vt:lpstr>Breeze</vt:lpstr>
      <vt:lpstr>方程式</vt:lpstr>
      <vt:lpstr>Transfer Learning</vt:lpstr>
      <vt:lpstr>Overview</vt:lpstr>
      <vt:lpstr>Transfer Learning Introduction and Fine-tuning</vt:lpstr>
      <vt:lpstr>Transfer Learning</vt:lpstr>
      <vt:lpstr>Why?</vt:lpstr>
      <vt:lpstr>Transfer Learning - Overview</vt:lpstr>
      <vt:lpstr>Model Fine-tuning</vt:lpstr>
      <vt:lpstr>Conservative Training</vt:lpstr>
      <vt:lpstr>Layer Transfer</vt:lpstr>
      <vt:lpstr>Layer Transfer</vt:lpstr>
      <vt:lpstr>Layer Transfer - Image</vt:lpstr>
      <vt:lpstr>Layer Transfer - Image</vt:lpstr>
      <vt:lpstr>Multitask Learning</vt:lpstr>
      <vt:lpstr>Transfer Learning - Overview</vt:lpstr>
      <vt:lpstr>Multitask Learning</vt:lpstr>
      <vt:lpstr>Multitask Learning  - Multilingual Speech Recognition</vt:lpstr>
      <vt:lpstr>Multitask Learning - Multilingual</vt:lpstr>
      <vt:lpstr>Progressive Neural Networks</vt:lpstr>
      <vt:lpstr>PowerPoint Presentation</vt:lpstr>
      <vt:lpstr>Domain-adversarial Training </vt:lpstr>
      <vt:lpstr>Transfer Learning - Overview</vt:lpstr>
      <vt:lpstr>Task description</vt:lpstr>
      <vt:lpstr>Domain-adversarial training</vt:lpstr>
      <vt:lpstr>Domain-adversarial training</vt:lpstr>
      <vt:lpstr>Domain-adversarial training</vt:lpstr>
      <vt:lpstr>Domain-adversarial training</vt:lpstr>
      <vt:lpstr>Domain-adversarial training</vt:lpstr>
      <vt:lpstr>Zero-shot Learning</vt:lpstr>
      <vt:lpstr>Transfer Learning - Overview</vt:lpstr>
      <vt:lpstr>Zero-shot Learning</vt:lpstr>
      <vt:lpstr>Zero-shot Learning</vt:lpstr>
      <vt:lpstr>Zero-shot Learning</vt:lpstr>
      <vt:lpstr>Zero-shot Learning</vt:lpstr>
      <vt:lpstr>Zero-shot Learning</vt:lpstr>
      <vt:lpstr>Zero-shot Learning</vt:lpstr>
      <vt:lpstr>Zero-shot Learning</vt:lpstr>
      <vt:lpstr>PowerPoint Presentation</vt:lpstr>
      <vt:lpstr>Example of Zero-shot Learning</vt:lpstr>
      <vt:lpstr>Example of Zero-shot Learning</vt:lpstr>
      <vt:lpstr>Transfer Learning - Overview</vt:lpstr>
      <vt:lpstr>Self-taught learning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Zehui Bai</cp:lastModifiedBy>
  <cp:revision>29</cp:revision>
  <dcterms:created xsi:type="dcterms:W3CDTF">2019-02-13T16:04:00Z</dcterms:created>
  <dcterms:modified xsi:type="dcterms:W3CDTF">2025-12-01T16:16:18Z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119EDA08B5DA43C580E5C828C24DFABD</vt:lpwstr>
  </property>
  <property fmtid="{D5CDD505-2E9C-101B-9397-08002B2CF9AE}" pid="5" name="KSOProductBuildVer">
    <vt:lpwstr>1033-11.2.0.11225</vt:lpwstr>
  </property>
</Properties>
</file>